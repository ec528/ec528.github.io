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media/image102.jpg" ContentType="image/jpg"/>
  <Override PartName="/ppt/media/image104.jpg" ContentType="image/jpg"/>
  <Override PartName="/ppt/media/image105.jpg" ContentType="image/jpg"/>
  <Override PartName="/ppt/notesSlides/notesSlide5.xml" ContentType="application/vnd.openxmlformats-officedocument.presentationml.notesSlide+xml"/>
  <Override PartName="/ppt/media/image106.jpg" ContentType="image/jp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422" r:id="rId2"/>
    <p:sldId id="577" r:id="rId3"/>
    <p:sldId id="37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578" r:id="rId27"/>
    <p:sldId id="579" r:id="rId28"/>
    <p:sldId id="580" r:id="rId29"/>
    <p:sldId id="582" r:id="rId30"/>
    <p:sldId id="600" r:id="rId31"/>
    <p:sldId id="602" r:id="rId32"/>
    <p:sldId id="603" r:id="rId33"/>
    <p:sldId id="601" r:id="rId34"/>
    <p:sldId id="599" r:id="rId35"/>
    <p:sldId id="581" r:id="rId36"/>
    <p:sldId id="583" r:id="rId37"/>
    <p:sldId id="584" r:id="rId38"/>
    <p:sldId id="585" r:id="rId39"/>
    <p:sldId id="586" r:id="rId40"/>
    <p:sldId id="587" r:id="rId41"/>
    <p:sldId id="588" r:id="rId42"/>
    <p:sldId id="589" r:id="rId43"/>
    <p:sldId id="590" r:id="rId44"/>
    <p:sldId id="591" r:id="rId45"/>
    <p:sldId id="592" r:id="rId46"/>
    <p:sldId id="593" r:id="rId47"/>
    <p:sldId id="594" r:id="rId48"/>
    <p:sldId id="595" r:id="rId49"/>
    <p:sldId id="596" r:id="rId50"/>
    <p:sldId id="597" r:id="rId51"/>
    <p:sldId id="604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4EB72F-52DF-3C48-8998-2EAEF59086BC}" v="309" dt="2026-01-28T22:15:26.0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07"/>
    <p:restoredTop sz="88947"/>
  </p:normalViewPr>
  <p:slideViewPr>
    <p:cSldViewPr snapToGrid="0">
      <p:cViewPr varScale="1">
        <p:scale>
          <a:sx n="113" d="100"/>
          <a:sy n="113" d="100"/>
        </p:scale>
        <p:origin x="8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8T23:05:52.3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E8DB5D-249C-074D-86A5-C2349DCA0CAB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73F62-9286-4A4C-A9FD-1CFF83AFE7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385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BCA3-A9CF-B7F8-9D46-89DE25703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C58D5-8FB2-83AE-BE48-7F301BA21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4EEB12-94CF-2099-95BB-F8F99E02E9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AB7C6A-36E9-5C23-5BE4-853D3626ED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6C4B67-53EF-164D-AE78-2A15C544BE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76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5E266-BD25-9D48-3883-693867231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85AC6-CC49-2648-7344-83365E352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C0E43C-FEC0-51B9-989F-EB3BEB2DD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6B066-1EB6-A9E5-089F-9F9E453F7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84DC-3658-4054-9DA4-7B68A1D8CC6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01604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4A88-B158-8628-AF47-02AAE9155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12D1BB-C6E3-77C4-0590-67AD6F411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49BAA-11F8-EDFE-AD34-5F055C5CC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 course, I won’t be running this course alone. We have a great set of staff to help you with projects, grading, and questions.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C2F3-470D-D517-E06E-39618874B0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9584DC-3658-4054-9DA4-7B68A1D8C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33625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73F62-9286-4A4C-A9FD-1CFF83AFE7C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91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Agile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Agile is about how software is developed.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Agile focuses on the </a:t>
            </a:r>
            <a:r>
              <a:rPr lang="en-US" b="1" dirty="0"/>
              <a:t>process of building software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 is done in short iterations.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Requirements can change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Teams get feedback early and often.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goal is to deliver working software quickly and improve it step by step.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Agile mainly concerns </a:t>
            </a:r>
            <a:r>
              <a:rPr lang="en-US" b="1" dirty="0"/>
              <a:t>planning, collaboration, and development workflow</a:t>
            </a:r>
            <a:r>
              <a:rPr lang="en-US" dirty="0"/>
              <a:t>.</a:t>
            </a:r>
          </a:p>
          <a:p>
            <a:r>
              <a:rPr lang="en-US" dirty="0"/>
              <a:t>It says little about deployment, infrastructure, or system operation.</a:t>
            </a:r>
          </a:p>
          <a:p>
            <a:endParaRPr lang="en-US" dirty="0"/>
          </a:p>
          <a:p>
            <a:r>
              <a:rPr lang="en-US" b="1" dirty="0"/>
              <a:t>DevOps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DevOps is about how software is delivered and operated.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DevOps connects </a:t>
            </a:r>
            <a:r>
              <a:rPr lang="en-US" b="1" dirty="0"/>
              <a:t>development (Dev)</a:t>
            </a:r>
            <a:r>
              <a:rPr lang="en-US" dirty="0"/>
              <a:t> and </a:t>
            </a:r>
            <a:r>
              <a:rPr lang="en-US" b="1" dirty="0"/>
              <a:t>operations (Ops)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Developers and operators work as one team.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Code changes are tested, deployed, and monitored automatically.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Infrastructure is treated as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goal is fast, reliable, and repeatable deployment.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DevOps focuses on </a:t>
            </a:r>
            <a:r>
              <a:rPr lang="en-US" b="1" dirty="0"/>
              <a:t>pipelines, automation, monitoring, and reliability</a:t>
            </a:r>
            <a:r>
              <a:rPr lang="en-US" dirty="0"/>
              <a:t>.</a:t>
            </a:r>
          </a:p>
          <a:p>
            <a:r>
              <a:rPr lang="en-US" dirty="0"/>
              <a:t>It answers the question: </a:t>
            </a:r>
            <a:r>
              <a:rPr lang="en-US" i="1" dirty="0"/>
              <a:t>How do we run software safely and continuously in production?</a:t>
            </a:r>
            <a:endParaRPr lang="en-US" dirty="0"/>
          </a:p>
          <a:p>
            <a:r>
              <a:rPr lang="en-US" b="1" dirty="0"/>
              <a:t>AIOps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AIOps is about using machine learning to run systems at scale.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AIOps applies data analysis and machine learning to </a:t>
            </a:r>
            <a:r>
              <a:rPr lang="en-US" b="1" dirty="0"/>
              <a:t>operational data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analyzes logs, metrics, and traces.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detects anomalies and failures.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helps with root-cause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can suggest or trigger automated actions.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AIOps exists because modern cloud systems are too large and complex to manage fully by hand.</a:t>
            </a:r>
          </a:p>
          <a:p>
            <a:r>
              <a:rPr lang="en-US" dirty="0"/>
              <a:t>It answers the question: </a:t>
            </a:r>
            <a:r>
              <a:rPr lang="en-US" i="1" dirty="0"/>
              <a:t>How do we understand and operate large systems when humans cannot keep up?</a:t>
            </a:r>
            <a:endParaRPr lang="en-US" dirty="0"/>
          </a:p>
          <a:p>
            <a:r>
              <a:rPr lang="en-US" b="1" dirty="0"/>
              <a:t>Relationship Summary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Agile</a:t>
            </a:r>
            <a:r>
              <a:rPr lang="en-US" dirty="0"/>
              <a:t> → How we </a:t>
            </a:r>
            <a:r>
              <a:rPr lang="en-US" i="1" dirty="0"/>
              <a:t>develop</a:t>
            </a:r>
            <a:r>
              <a:rPr lang="en-US" dirty="0"/>
              <a:t>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DevOps</a:t>
            </a:r>
            <a:r>
              <a:rPr lang="en-US" dirty="0"/>
              <a:t> → How we </a:t>
            </a:r>
            <a:r>
              <a:rPr lang="en-US" i="1" dirty="0"/>
              <a:t>deploy and operate</a:t>
            </a:r>
            <a:r>
              <a:rPr lang="en-US" dirty="0"/>
              <a:t>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AIOps</a:t>
            </a:r>
            <a:r>
              <a:rPr lang="en-US" dirty="0"/>
              <a:t> → How we </a:t>
            </a:r>
            <a:r>
              <a:rPr lang="en-US" i="1" dirty="0"/>
              <a:t>analyze and manage operations using data and learning</a:t>
            </a:r>
            <a:endParaRPr lang="en-US" dirty="0"/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 simple way to think about it: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Agile builds faster.</a:t>
            </a:r>
          </a:p>
          <a:p>
            <a:r>
              <a:rPr lang="en-US" dirty="0"/>
              <a:t>DevOps ships faster and safer.</a:t>
            </a:r>
          </a:p>
          <a:p>
            <a:r>
              <a:rPr lang="en-US" dirty="0"/>
              <a:t>AIOps keeps large systems running when they become too complex for manual control.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73F62-9286-4A4C-A9FD-1CFF83AFE7C3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989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</a:t>
            </a:r>
            <a:r>
              <a:rPr lang="en-US" b="1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The illustrated guide to a </a:t>
            </a:r>
            <a:r>
              <a:rPr lang="en-US" b="1" i="0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Ph.D</a:t>
            </a:r>
            <a:endParaRPr lang="en-US" b="1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73F62-9286-4A4C-A9FD-1CFF83AFE7C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63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73F62-9286-4A4C-A9FD-1CFF83AFE7C3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58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B99C4-6EC3-F5E1-013A-247AFD731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8CC257-3585-C567-A8E2-AA415596CD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4A813-EF91-3C41-774C-FC731156F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BBF743-911D-1BCB-E2FC-71826BDD7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8D8C7-BF0A-65A5-2529-4418F0239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383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7140-E070-C417-214D-1440424AC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87FCC-AD4C-091C-4CE8-220E4CA09D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6C637-EE71-A1B8-9DC7-1DCFE0C04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9E3358-3667-1E9C-027A-E43335CC3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CD849-6E42-D874-9312-634D2AA6A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332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441DA-ED56-FD25-E788-EFFAB0684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25ED8-81E7-054A-0C02-2E5C26E32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23E9F-6060-B3CB-3EC6-36ED19C5C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EF339-3A6A-0777-D56C-8F1DE0600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DACE7-B563-E226-21F8-F40F6EF21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6525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F09E3-F88B-1F77-6B15-2E0A34366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CDC96-D456-4F11-96F3-29027DCE19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B38BE-C451-3B23-667C-936D5293C5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C4209A-B6AC-F9C4-B430-EC56257B0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0C5C7-041D-AC54-2429-33238710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14998-BA5B-2DE5-443F-0BB1B6DB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56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443CB-837E-67A5-DB15-09D17DC9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B04AF-3A49-5059-4803-FBDF221F1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071168-FD68-B7EE-9714-72C65732BC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395ABC-4B35-58D8-CC3D-74F8E619A8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E3EF6-631B-9AD4-3CD9-38017C3E98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6D799B-E6F6-5BDB-C977-8D172B848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4A208A-2B46-F28D-3842-42F1E196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2FB5A9-1F60-657A-68BB-EC63B9172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60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3F019-FF10-59F4-AB36-6530BD46F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2AF128-6756-681B-D3B0-7EF4DDF2C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D33777-F228-5E36-F387-D55F245F6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9604B3-0D28-F4D3-D8A5-41ED4F24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90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6D165A-FAAA-A770-98AB-47CF28B63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425F9D-41E2-3912-9C9B-8A0CFC916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DE70EB-B6D5-8C44-C0E9-4FC52CE7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63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9262F-81F0-1C5A-3D58-6589C89C5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4AC06F-5240-963A-89E7-1186C6E8F8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7E16E-3086-D8A7-7ADA-3F51F810C7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2814F-B6A6-0745-19FB-2773A6EEE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CBD48-A97A-B658-60F5-10B9709A7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AC92C-8B3E-C5BB-1CFF-5B3FF43BB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03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1A2D1-36B0-894B-6D67-566C712D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D1AA29-0B5A-F939-3056-DA74215D0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E6074-EB72-B7C2-939B-E5DC7BAEBC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ECD4C8-A742-DEAE-032E-FFC1D9143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EF08B0-9CE7-41A9-FCF8-0FC5ACC75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6A8DE-2EC6-A246-686D-BDDE8C655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918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A3BF-A5BE-3628-172E-1DBCB91F6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4541F-F597-DE38-6846-D50BB07A3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E0DA4-F44D-E463-07FD-103A691AFC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2FE89-ECDD-6922-4612-FCC2CCE14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72A43-18AB-F7AD-6CEB-DE53B7A41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4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3672D-E82E-76B6-6AFF-3864BD065D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AB03AD-58CF-93AD-62D1-3B0CADBE0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F46EB-6A47-A822-1824-06616182F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8ED759-49BE-A8BF-EC01-62A4A3443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FDFD7-61EF-8EC0-89D2-8B308D58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207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47D823-4F32-9575-F5BB-9C390B3C9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4EC155-A23A-FCEC-88FD-D4673A4A8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FA202B-88B5-5731-E700-48F1AD6E6B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22CEB2-2DDB-6C40-8CF7-6686C5648D71}" type="datetimeFigureOut">
              <a:rPr lang="en-US" smtClean="0"/>
              <a:t>8/30/26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07EAEA-B154-3158-A157-345DDBDAC5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970A2-8391-488C-0E4C-943E69854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89322B-B501-1A49-83AD-9EC4AE3DBE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85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g"/><Relationship Id="rId5" Type="http://schemas.openxmlformats.org/officeDocument/2006/relationships/hyperlink" Target="https://yigonghu.github.io/" TargetMode="External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528.github.io/ec528/fall26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azure.microsoft.com/en-gb/overview/what-is-cloud-computing/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26.png"/><Relationship Id="rId12" Type="http://schemas.openxmlformats.org/officeDocument/2006/relationships/image" Target="../media/image2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2.png"/><Relationship Id="rId1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29.png"/><Relationship Id="rId2" Type="http://schemas.openxmlformats.org/officeDocument/2006/relationships/image" Target="../media/image13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5" Type="http://schemas.openxmlformats.org/officeDocument/2006/relationships/image" Target="../media/image36.png"/><Relationship Id="rId10" Type="http://schemas.openxmlformats.org/officeDocument/2006/relationships/image" Target="../media/image35.png"/><Relationship Id="rId4" Type="http://schemas.openxmlformats.org/officeDocument/2006/relationships/image" Target="../media/image4.png"/><Relationship Id="rId9" Type="http://schemas.openxmlformats.org/officeDocument/2006/relationships/image" Target="../media/image34.png"/><Relationship Id="rId1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39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12" Type="http://schemas.openxmlformats.org/officeDocument/2006/relationships/image" Target="../media/image38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2.png"/><Relationship Id="rId5" Type="http://schemas.openxmlformats.org/officeDocument/2006/relationships/image" Target="../media/image4.pn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Relationship Id="rId14" Type="http://schemas.openxmlformats.org/officeDocument/2006/relationships/image" Target="../media/image4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3.png"/><Relationship Id="rId3" Type="http://schemas.openxmlformats.org/officeDocument/2006/relationships/image" Target="../media/image41.png"/><Relationship Id="rId7" Type="http://schemas.openxmlformats.org/officeDocument/2006/relationships/image" Target="../media/image12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32.png"/><Relationship Id="rId5" Type="http://schemas.openxmlformats.org/officeDocument/2006/relationships/image" Target="../media/image13.png"/><Relationship Id="rId10" Type="http://schemas.openxmlformats.org/officeDocument/2006/relationships/image" Target="../media/image29.png"/><Relationship Id="rId4" Type="http://schemas.openxmlformats.org/officeDocument/2006/relationships/image" Target="../media/image31.png"/><Relationship Id="rId9" Type="http://schemas.openxmlformats.org/officeDocument/2006/relationships/image" Target="../media/image28.png"/><Relationship Id="rId1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32.png"/><Relationship Id="rId3" Type="http://schemas.openxmlformats.org/officeDocument/2006/relationships/image" Target="../media/image31.png"/><Relationship Id="rId7" Type="http://schemas.openxmlformats.org/officeDocument/2006/relationships/image" Target="../media/image12.png"/><Relationship Id="rId12" Type="http://schemas.openxmlformats.org/officeDocument/2006/relationships/image" Target="../media/image2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28.png"/><Relationship Id="rId5" Type="http://schemas.openxmlformats.org/officeDocument/2006/relationships/image" Target="../media/image11.png"/><Relationship Id="rId10" Type="http://schemas.openxmlformats.org/officeDocument/2006/relationships/image" Target="../media/image47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12" Type="http://schemas.openxmlformats.org/officeDocument/2006/relationships/image" Target="../media/image49.png"/><Relationship Id="rId2" Type="http://schemas.openxmlformats.org/officeDocument/2006/relationships/image" Target="../media/image41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29.png"/><Relationship Id="rId10" Type="http://schemas.openxmlformats.org/officeDocument/2006/relationships/image" Target="../media/image47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3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" Type="http://schemas.openxmlformats.org/officeDocument/2006/relationships/image" Target="../media/image41.png"/><Relationship Id="rId16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29.png"/><Relationship Id="rId10" Type="http://schemas.openxmlformats.org/officeDocument/2006/relationships/image" Target="../media/image47.png"/><Relationship Id="rId19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Relationship Id="rId1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3.png"/><Relationship Id="rId3" Type="http://schemas.openxmlformats.org/officeDocument/2006/relationships/image" Target="../media/image31.png"/><Relationship Id="rId21" Type="http://schemas.openxmlformats.org/officeDocument/2006/relationships/image" Target="../media/image55.png"/><Relationship Id="rId7" Type="http://schemas.openxmlformats.org/officeDocument/2006/relationships/image" Target="../media/image14.png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" Type="http://schemas.openxmlformats.org/officeDocument/2006/relationships/image" Target="../media/image41.png"/><Relationship Id="rId16" Type="http://schemas.openxmlformats.org/officeDocument/2006/relationships/image" Target="../media/image51.png"/><Relationship Id="rId20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48.png"/><Relationship Id="rId5" Type="http://schemas.openxmlformats.org/officeDocument/2006/relationships/image" Target="../media/image11.png"/><Relationship Id="rId15" Type="http://schemas.openxmlformats.org/officeDocument/2006/relationships/image" Target="../media/image29.png"/><Relationship Id="rId10" Type="http://schemas.openxmlformats.org/officeDocument/2006/relationships/image" Target="../media/image47.png"/><Relationship Id="rId19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Relationship Id="rId14" Type="http://schemas.openxmlformats.org/officeDocument/2006/relationships/image" Target="../media/image28.png"/><Relationship Id="rId22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18" Type="http://schemas.openxmlformats.org/officeDocument/2006/relationships/image" Target="../media/image52.png"/><Relationship Id="rId3" Type="http://schemas.openxmlformats.org/officeDocument/2006/relationships/image" Target="../media/image31.png"/><Relationship Id="rId21" Type="http://schemas.openxmlformats.org/officeDocument/2006/relationships/image" Target="../media/image54.png"/><Relationship Id="rId7" Type="http://schemas.openxmlformats.org/officeDocument/2006/relationships/image" Target="../media/image14.png"/><Relationship Id="rId12" Type="http://schemas.openxmlformats.org/officeDocument/2006/relationships/image" Target="../media/image49.png"/><Relationship Id="rId17" Type="http://schemas.openxmlformats.org/officeDocument/2006/relationships/image" Target="../media/image51.png"/><Relationship Id="rId2" Type="http://schemas.openxmlformats.org/officeDocument/2006/relationships/image" Target="../media/image41.png"/><Relationship Id="rId16" Type="http://schemas.openxmlformats.org/officeDocument/2006/relationships/image" Target="../media/image29.png"/><Relationship Id="rId20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48.png"/><Relationship Id="rId24" Type="http://schemas.openxmlformats.org/officeDocument/2006/relationships/image" Target="../media/image58.png"/><Relationship Id="rId5" Type="http://schemas.openxmlformats.org/officeDocument/2006/relationships/image" Target="../media/image11.png"/><Relationship Id="rId15" Type="http://schemas.openxmlformats.org/officeDocument/2006/relationships/image" Target="../media/image28.png"/><Relationship Id="rId23" Type="http://schemas.openxmlformats.org/officeDocument/2006/relationships/image" Target="../media/image56.png"/><Relationship Id="rId10" Type="http://schemas.openxmlformats.org/officeDocument/2006/relationships/image" Target="../media/image47.png"/><Relationship Id="rId19" Type="http://schemas.openxmlformats.org/officeDocument/2006/relationships/image" Target="../media/image53.png"/><Relationship Id="rId4" Type="http://schemas.openxmlformats.org/officeDocument/2006/relationships/image" Target="../media/image13.png"/><Relationship Id="rId9" Type="http://schemas.openxmlformats.org/officeDocument/2006/relationships/image" Target="../media/image46.png"/><Relationship Id="rId14" Type="http://schemas.openxmlformats.org/officeDocument/2006/relationships/image" Target="../media/image57.png"/><Relationship Id="rId22" Type="http://schemas.openxmlformats.org/officeDocument/2006/relationships/image" Target="../media/image5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29.png"/><Relationship Id="rId18" Type="http://schemas.openxmlformats.org/officeDocument/2006/relationships/image" Target="../media/image54.png"/><Relationship Id="rId3" Type="http://schemas.openxmlformats.org/officeDocument/2006/relationships/image" Target="../media/image31.png"/><Relationship Id="rId21" Type="http://schemas.openxmlformats.org/officeDocument/2006/relationships/image" Target="../media/image60.png"/><Relationship Id="rId7" Type="http://schemas.openxmlformats.org/officeDocument/2006/relationships/image" Target="../media/image49.png"/><Relationship Id="rId12" Type="http://schemas.openxmlformats.org/officeDocument/2006/relationships/image" Target="../media/image28.png"/><Relationship Id="rId17" Type="http://schemas.openxmlformats.org/officeDocument/2006/relationships/image" Target="../media/image32.png"/><Relationship Id="rId2" Type="http://schemas.openxmlformats.org/officeDocument/2006/relationships/image" Target="../media/image41.png"/><Relationship Id="rId16" Type="http://schemas.openxmlformats.org/officeDocument/2006/relationships/image" Target="../media/image53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12.png"/><Relationship Id="rId5" Type="http://schemas.openxmlformats.org/officeDocument/2006/relationships/image" Target="../media/image14.png"/><Relationship Id="rId15" Type="http://schemas.openxmlformats.org/officeDocument/2006/relationships/image" Target="../media/image52.png"/><Relationship Id="rId10" Type="http://schemas.openxmlformats.org/officeDocument/2006/relationships/image" Target="../media/image11.png"/><Relationship Id="rId19" Type="http://schemas.openxmlformats.org/officeDocument/2006/relationships/image" Target="../media/image55.png"/><Relationship Id="rId4" Type="http://schemas.openxmlformats.org/officeDocument/2006/relationships/image" Target="../media/image13.png"/><Relationship Id="rId9" Type="http://schemas.openxmlformats.org/officeDocument/2006/relationships/image" Target="../media/image59.png"/><Relationship Id="rId1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61.png"/><Relationship Id="rId18" Type="http://schemas.openxmlformats.org/officeDocument/2006/relationships/image" Target="../media/image62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17" Type="http://schemas.openxmlformats.org/officeDocument/2006/relationships/image" Target="../media/image56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2.png"/><Relationship Id="rId5" Type="http://schemas.openxmlformats.org/officeDocument/2006/relationships/image" Target="../media/image11.png"/><Relationship Id="rId15" Type="http://schemas.openxmlformats.org/officeDocument/2006/relationships/image" Target="../media/image54.png"/><Relationship Id="rId10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56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12" Type="http://schemas.openxmlformats.org/officeDocument/2006/relationships/image" Target="../media/image5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4.png"/><Relationship Id="rId5" Type="http://schemas.openxmlformats.org/officeDocument/2006/relationships/image" Target="../media/image11.png"/><Relationship Id="rId10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2.png"/><Relationship Id="rId3" Type="http://schemas.openxmlformats.org/officeDocument/2006/relationships/image" Target="../media/image31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17" Type="http://schemas.openxmlformats.org/officeDocument/2006/relationships/image" Target="../media/image63.png"/><Relationship Id="rId2" Type="http://schemas.openxmlformats.org/officeDocument/2006/relationships/image" Target="../media/image41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2.png"/><Relationship Id="rId5" Type="http://schemas.openxmlformats.org/officeDocument/2006/relationships/image" Target="../media/image11.png"/><Relationship Id="rId15" Type="http://schemas.openxmlformats.org/officeDocument/2006/relationships/image" Target="../media/image55.png"/><Relationship Id="rId10" Type="http://schemas.openxmlformats.org/officeDocument/2006/relationships/image" Target="../media/image51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73.png"/><Relationship Id="rId3" Type="http://schemas.openxmlformats.org/officeDocument/2006/relationships/image" Target="../media/image31.png"/><Relationship Id="rId21" Type="http://schemas.openxmlformats.org/officeDocument/2006/relationships/image" Target="../media/image55.png"/><Relationship Id="rId7" Type="http://schemas.openxmlformats.org/officeDocument/2006/relationships/image" Target="../media/image14.png"/><Relationship Id="rId12" Type="http://schemas.openxmlformats.org/officeDocument/2006/relationships/image" Target="../media/image53.png"/><Relationship Id="rId17" Type="http://schemas.openxmlformats.org/officeDocument/2006/relationships/image" Target="../media/image68.png"/><Relationship Id="rId25" Type="http://schemas.openxmlformats.org/officeDocument/2006/relationships/image" Target="../media/image72.png"/><Relationship Id="rId2" Type="http://schemas.openxmlformats.org/officeDocument/2006/relationships/image" Target="../media/image41.png"/><Relationship Id="rId16" Type="http://schemas.openxmlformats.org/officeDocument/2006/relationships/image" Target="../media/image67.pn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52.png"/><Relationship Id="rId24" Type="http://schemas.openxmlformats.org/officeDocument/2006/relationships/image" Target="../media/image71.png"/><Relationship Id="rId5" Type="http://schemas.openxmlformats.org/officeDocument/2006/relationships/image" Target="../media/image11.png"/><Relationship Id="rId15" Type="http://schemas.openxmlformats.org/officeDocument/2006/relationships/image" Target="../media/image66.png"/><Relationship Id="rId23" Type="http://schemas.openxmlformats.org/officeDocument/2006/relationships/image" Target="../media/image70.png"/><Relationship Id="rId28" Type="http://schemas.openxmlformats.org/officeDocument/2006/relationships/image" Target="../media/image75.png"/><Relationship Id="rId10" Type="http://schemas.openxmlformats.org/officeDocument/2006/relationships/image" Target="../media/image51.png"/><Relationship Id="rId19" Type="http://schemas.openxmlformats.org/officeDocument/2006/relationships/image" Target="../media/image32.png"/><Relationship Id="rId4" Type="http://schemas.openxmlformats.org/officeDocument/2006/relationships/image" Target="../media/image13.png"/><Relationship Id="rId9" Type="http://schemas.openxmlformats.org/officeDocument/2006/relationships/image" Target="../media/image29.png"/><Relationship Id="rId14" Type="http://schemas.openxmlformats.org/officeDocument/2006/relationships/image" Target="../media/image65.png"/><Relationship Id="rId22" Type="http://schemas.openxmlformats.org/officeDocument/2006/relationships/image" Target="../media/image56.png"/><Relationship Id="rId27" Type="http://schemas.openxmlformats.org/officeDocument/2006/relationships/image" Target="../media/image74.png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1.png"/><Relationship Id="rId18" Type="http://schemas.openxmlformats.org/officeDocument/2006/relationships/image" Target="../media/image86.png"/><Relationship Id="rId26" Type="http://schemas.openxmlformats.org/officeDocument/2006/relationships/image" Target="../media/image28.png"/><Relationship Id="rId39" Type="http://schemas.openxmlformats.org/officeDocument/2006/relationships/image" Target="../media/image55.png"/><Relationship Id="rId21" Type="http://schemas.openxmlformats.org/officeDocument/2006/relationships/image" Target="../media/image89.png"/><Relationship Id="rId34" Type="http://schemas.openxmlformats.org/officeDocument/2006/relationships/image" Target="../media/image67.png"/><Relationship Id="rId42" Type="http://schemas.openxmlformats.org/officeDocument/2006/relationships/image" Target="../media/image71.png"/><Relationship Id="rId47" Type="http://schemas.openxmlformats.org/officeDocument/2006/relationships/image" Target="../media/image63.png"/><Relationship Id="rId7" Type="http://schemas.openxmlformats.org/officeDocument/2006/relationships/image" Target="../media/image14.png"/><Relationship Id="rId2" Type="http://schemas.openxmlformats.org/officeDocument/2006/relationships/image" Target="../media/image41.png"/><Relationship Id="rId16" Type="http://schemas.openxmlformats.org/officeDocument/2006/relationships/image" Target="../media/image84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79.png"/><Relationship Id="rId24" Type="http://schemas.openxmlformats.org/officeDocument/2006/relationships/image" Target="../media/image92.png"/><Relationship Id="rId32" Type="http://schemas.openxmlformats.org/officeDocument/2006/relationships/image" Target="../media/image65.png"/><Relationship Id="rId37" Type="http://schemas.openxmlformats.org/officeDocument/2006/relationships/image" Target="../media/image32.png"/><Relationship Id="rId40" Type="http://schemas.openxmlformats.org/officeDocument/2006/relationships/image" Target="../media/image56.png"/><Relationship Id="rId45" Type="http://schemas.openxmlformats.org/officeDocument/2006/relationships/image" Target="../media/image74.png"/><Relationship Id="rId5" Type="http://schemas.openxmlformats.org/officeDocument/2006/relationships/image" Target="../media/image11.png"/><Relationship Id="rId15" Type="http://schemas.openxmlformats.org/officeDocument/2006/relationships/image" Target="../media/image83.png"/><Relationship Id="rId23" Type="http://schemas.openxmlformats.org/officeDocument/2006/relationships/image" Target="../media/image91.png"/><Relationship Id="rId28" Type="http://schemas.openxmlformats.org/officeDocument/2006/relationships/image" Target="../media/image51.png"/><Relationship Id="rId36" Type="http://schemas.openxmlformats.org/officeDocument/2006/relationships/image" Target="../media/image69.png"/><Relationship Id="rId10" Type="http://schemas.openxmlformats.org/officeDocument/2006/relationships/image" Target="../media/image78.png"/><Relationship Id="rId19" Type="http://schemas.openxmlformats.org/officeDocument/2006/relationships/image" Target="../media/image87.png"/><Relationship Id="rId31" Type="http://schemas.openxmlformats.org/officeDocument/2006/relationships/image" Target="../media/image64.png"/><Relationship Id="rId44" Type="http://schemas.openxmlformats.org/officeDocument/2006/relationships/image" Target="../media/image73.png"/><Relationship Id="rId4" Type="http://schemas.openxmlformats.org/officeDocument/2006/relationships/image" Target="../media/image13.png"/><Relationship Id="rId9" Type="http://schemas.openxmlformats.org/officeDocument/2006/relationships/image" Target="../media/image77.png"/><Relationship Id="rId14" Type="http://schemas.openxmlformats.org/officeDocument/2006/relationships/image" Target="../media/image82.png"/><Relationship Id="rId22" Type="http://schemas.openxmlformats.org/officeDocument/2006/relationships/image" Target="../media/image90.png"/><Relationship Id="rId27" Type="http://schemas.openxmlformats.org/officeDocument/2006/relationships/image" Target="../media/image29.png"/><Relationship Id="rId30" Type="http://schemas.openxmlformats.org/officeDocument/2006/relationships/image" Target="../media/image53.png"/><Relationship Id="rId35" Type="http://schemas.openxmlformats.org/officeDocument/2006/relationships/image" Target="../media/image68.png"/><Relationship Id="rId43" Type="http://schemas.openxmlformats.org/officeDocument/2006/relationships/image" Target="../media/image72.png"/><Relationship Id="rId8" Type="http://schemas.openxmlformats.org/officeDocument/2006/relationships/image" Target="../media/image76.png"/><Relationship Id="rId3" Type="http://schemas.openxmlformats.org/officeDocument/2006/relationships/image" Target="../media/image31.png"/><Relationship Id="rId12" Type="http://schemas.openxmlformats.org/officeDocument/2006/relationships/image" Target="../media/image80.png"/><Relationship Id="rId17" Type="http://schemas.openxmlformats.org/officeDocument/2006/relationships/image" Target="../media/image85.png"/><Relationship Id="rId25" Type="http://schemas.openxmlformats.org/officeDocument/2006/relationships/image" Target="../media/image93.png"/><Relationship Id="rId33" Type="http://schemas.openxmlformats.org/officeDocument/2006/relationships/image" Target="../media/image66.png"/><Relationship Id="rId38" Type="http://schemas.openxmlformats.org/officeDocument/2006/relationships/image" Target="../media/image54.png"/><Relationship Id="rId46" Type="http://schemas.openxmlformats.org/officeDocument/2006/relationships/image" Target="../media/image75.png"/><Relationship Id="rId20" Type="http://schemas.openxmlformats.org/officeDocument/2006/relationships/image" Target="../media/image88.png"/><Relationship Id="rId41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9.png"/><Relationship Id="rId18" Type="http://schemas.openxmlformats.org/officeDocument/2006/relationships/image" Target="../media/image78.png"/><Relationship Id="rId26" Type="http://schemas.openxmlformats.org/officeDocument/2006/relationships/image" Target="../media/image29.png"/><Relationship Id="rId39" Type="http://schemas.openxmlformats.org/officeDocument/2006/relationships/image" Target="../media/image56.png"/><Relationship Id="rId21" Type="http://schemas.openxmlformats.org/officeDocument/2006/relationships/image" Target="../media/image87.png"/><Relationship Id="rId34" Type="http://schemas.openxmlformats.org/officeDocument/2006/relationships/image" Target="../media/image68.png"/><Relationship Id="rId42" Type="http://schemas.openxmlformats.org/officeDocument/2006/relationships/image" Target="../media/image72.png"/><Relationship Id="rId7" Type="http://schemas.openxmlformats.org/officeDocument/2006/relationships/image" Target="../media/image80.png"/><Relationship Id="rId2" Type="http://schemas.openxmlformats.org/officeDocument/2006/relationships/image" Target="../media/image31.png"/><Relationship Id="rId16" Type="http://schemas.openxmlformats.org/officeDocument/2006/relationships/image" Target="../media/image76.png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24" Type="http://schemas.openxmlformats.org/officeDocument/2006/relationships/image" Target="../media/image93.png"/><Relationship Id="rId32" Type="http://schemas.openxmlformats.org/officeDocument/2006/relationships/image" Target="../media/image66.png"/><Relationship Id="rId37" Type="http://schemas.openxmlformats.org/officeDocument/2006/relationships/image" Target="../media/image54.png"/><Relationship Id="rId40" Type="http://schemas.openxmlformats.org/officeDocument/2006/relationships/image" Target="../media/image70.png"/><Relationship Id="rId45" Type="http://schemas.openxmlformats.org/officeDocument/2006/relationships/image" Target="../media/image75.png"/><Relationship Id="rId5" Type="http://schemas.openxmlformats.org/officeDocument/2006/relationships/image" Target="../media/image12.png"/><Relationship Id="rId15" Type="http://schemas.openxmlformats.org/officeDocument/2006/relationships/image" Target="../media/image14.png"/><Relationship Id="rId23" Type="http://schemas.openxmlformats.org/officeDocument/2006/relationships/image" Target="../media/image92.png"/><Relationship Id="rId28" Type="http://schemas.openxmlformats.org/officeDocument/2006/relationships/image" Target="../media/image52.png"/><Relationship Id="rId36" Type="http://schemas.openxmlformats.org/officeDocument/2006/relationships/image" Target="../media/image32.png"/><Relationship Id="rId10" Type="http://schemas.openxmlformats.org/officeDocument/2006/relationships/image" Target="../media/image83.png"/><Relationship Id="rId19" Type="http://schemas.openxmlformats.org/officeDocument/2006/relationships/image" Target="../media/image85.png"/><Relationship Id="rId31" Type="http://schemas.openxmlformats.org/officeDocument/2006/relationships/image" Target="../media/image65.png"/><Relationship Id="rId44" Type="http://schemas.openxmlformats.org/officeDocument/2006/relationships/image" Target="../media/image74.png"/><Relationship Id="rId4" Type="http://schemas.openxmlformats.org/officeDocument/2006/relationships/image" Target="../media/image11.png"/><Relationship Id="rId9" Type="http://schemas.openxmlformats.org/officeDocument/2006/relationships/image" Target="../media/image82.png"/><Relationship Id="rId14" Type="http://schemas.openxmlformats.org/officeDocument/2006/relationships/image" Target="../media/image90.png"/><Relationship Id="rId22" Type="http://schemas.openxmlformats.org/officeDocument/2006/relationships/image" Target="../media/image91.png"/><Relationship Id="rId27" Type="http://schemas.openxmlformats.org/officeDocument/2006/relationships/image" Target="../media/image5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43" Type="http://schemas.openxmlformats.org/officeDocument/2006/relationships/image" Target="../media/image73.png"/><Relationship Id="rId8" Type="http://schemas.openxmlformats.org/officeDocument/2006/relationships/image" Target="../media/image81.png"/><Relationship Id="rId3" Type="http://schemas.openxmlformats.org/officeDocument/2006/relationships/image" Target="../media/image13.png"/><Relationship Id="rId12" Type="http://schemas.openxmlformats.org/officeDocument/2006/relationships/image" Target="../media/image88.png"/><Relationship Id="rId17" Type="http://schemas.openxmlformats.org/officeDocument/2006/relationships/image" Target="../media/image77.png"/><Relationship Id="rId25" Type="http://schemas.openxmlformats.org/officeDocument/2006/relationships/image" Target="../media/image28.png"/><Relationship Id="rId33" Type="http://schemas.openxmlformats.org/officeDocument/2006/relationships/image" Target="../media/image67.png"/><Relationship Id="rId38" Type="http://schemas.openxmlformats.org/officeDocument/2006/relationships/image" Target="../media/image55.png"/><Relationship Id="rId46" Type="http://schemas.openxmlformats.org/officeDocument/2006/relationships/image" Target="../media/image94.png"/><Relationship Id="rId20" Type="http://schemas.openxmlformats.org/officeDocument/2006/relationships/image" Target="../media/image86.png"/><Relationship Id="rId41" Type="http://schemas.openxmlformats.org/officeDocument/2006/relationships/image" Target="../media/image7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3.png"/><Relationship Id="rId4" Type="http://schemas.openxmlformats.org/officeDocument/2006/relationships/image" Target="../media/image102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piazza.com/bu/spring2026/ec528" TargetMode="External"/><Relationship Id="rId2" Type="http://schemas.openxmlformats.org/officeDocument/2006/relationships/hyperlink" Target="https://bu-ec528.github.io/ec528/spring26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web.eecs.umich.edu/~manosk/eecs591-f21.html" TargetMode="External"/><Relationship Id="rId4" Type="http://schemas.openxmlformats.org/officeDocument/2006/relationships/hyperlink" Target="http://nil.csail.mit.edu/6.824/2020/schedule.html" TargetMode="Externa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ec528.github.io/ec528/fall26/projects/" TargetMode="Externa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A850B-404C-F9A6-0EEB-60ED8F2BC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96CCFB-2739-B9C3-25E4-F83CCCC7D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239794"/>
            <a:ext cx="12192000" cy="143304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br>
              <a:rPr lang="en-US" sz="4000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4000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Lecture 1: Course Introduction</a:t>
            </a:r>
            <a:br>
              <a:rPr lang="en-US" sz="4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4000" b="0" i="0" u="none" strike="noStrike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Fall 2026</a:t>
            </a:r>
            <a:endParaRPr lang="zh-CN" altLang="en-US" sz="4000" dirty="0">
              <a:solidFill>
                <a:srgbClr val="000000"/>
              </a:solidFill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E14E69-6BD7-C52A-EB3E-F381AEF7CB4A}"/>
              </a:ext>
            </a:extLst>
          </p:cNvPr>
          <p:cNvSpPr txBox="1"/>
          <p:nvPr/>
        </p:nvSpPr>
        <p:spPr>
          <a:xfrm>
            <a:off x="1" y="653143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CE 528 </a:t>
            </a:r>
            <a:r>
              <a:rPr lang="en-US" sz="4800" b="1">
                <a:solidFill>
                  <a:schemeClr val="tx2">
                    <a:lumMod val="75000"/>
                    <a:lumOff val="25000"/>
                  </a:schemeClr>
                </a:solidFill>
                <a:latin typeface="Helvetica" pitchFamily="2" charset="0"/>
              </a:rPr>
              <a:t>Cloud Computing</a:t>
            </a:r>
            <a:endParaRPr lang="en-US" sz="4800" b="1" dirty="0">
              <a:solidFill>
                <a:schemeClr val="tx2">
                  <a:lumMod val="75000"/>
                  <a:lumOff val="25000"/>
                </a:schemeClr>
              </a:solidFill>
              <a:latin typeface="Helvetica" pitchFamily="2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3BDC3145-A181-687D-BD4A-904B04ED2006}"/>
              </a:ext>
            </a:extLst>
          </p:cNvPr>
          <p:cNvSpPr txBox="1">
            <a:spLocks/>
          </p:cNvSpPr>
          <p:nvPr/>
        </p:nvSpPr>
        <p:spPr>
          <a:xfrm>
            <a:off x="1237543" y="3672840"/>
            <a:ext cx="9499200" cy="91462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000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Prof. Yigong Hu</a:t>
            </a:r>
            <a:endParaRPr lang="zh-CN" altLang="en-US" sz="3200" b="1" dirty="0">
              <a:latin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E111180-ABF3-5E9E-B47F-CE63C0162A7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8887" y="5247828"/>
            <a:ext cx="2875237" cy="12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2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45F6-A5DC-C842-D012-8AF0EF096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FCA3DDD-0E00-8309-3C3A-B87E1FFE0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About Me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1CD38679-E781-DE58-B0A2-DBB5487C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6AE1A4C-9BE1-1631-CCA2-50E06D9BE7AE}"/>
                  </a:ext>
                </a:extLst>
              </p14:cNvPr>
              <p14:cNvContentPartPr/>
              <p14:nvPr/>
            </p14:nvContentPartPr>
            <p14:xfrm>
              <a:off x="6666463" y="1636354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6AE1A4C-9BE1-1631-CCA2-50E06D9BE7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60343" y="163023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D3E9C42-F584-9A19-EFA8-8BAE14C0B591}"/>
              </a:ext>
            </a:extLst>
          </p:cNvPr>
          <p:cNvSpPr txBox="1"/>
          <p:nvPr/>
        </p:nvSpPr>
        <p:spPr>
          <a:xfrm>
            <a:off x="131707" y="914401"/>
            <a:ext cx="8594282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Prof. Yigong Hu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PhD in Computer Science from Johns Hopkins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Postdoc at University of Washington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  <a:hlinkClick r:id="rId5"/>
              </a:rPr>
              <a:t>https://yigonghu.github.io/</a:t>
            </a:r>
            <a:endParaRPr lang="en-US" altLang="zh-CN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pPr marL="914400" lvl="1" indent="-457200">
              <a:buFont typeface="Courier New" panose="02070309020205020404" pitchFamily="49" charset="0"/>
              <a:buChar char="o"/>
            </a:pPr>
            <a:endParaRPr lang="en-US" altLang="zh-CN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Research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Building reliable and fast systems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Principled techniques for system performance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From cloud platforms to ML systems</a:t>
            </a:r>
          </a:p>
          <a:p>
            <a:pPr lvl="1"/>
            <a:endParaRPr lang="en-US" altLang="zh-CN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Office Hours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Office: PHO335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Mon/Wed: 4:00-5:00PM (or by appointment)</a:t>
            </a:r>
          </a:p>
        </p:txBody>
      </p:sp>
      <p:pic>
        <p:nvPicPr>
          <p:cNvPr id="2" name="Picture 1" descr="A person sitting at a table&#10;&#10;Description automatically generated">
            <a:extLst>
              <a:ext uri="{FF2B5EF4-FFF2-40B4-BE49-F238E27FC236}">
                <a16:creationId xmlns:a16="http://schemas.microsoft.com/office/drawing/2014/main" id="{D90F02FB-1789-8849-474C-810ECB956A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5989" y="802574"/>
            <a:ext cx="2798501" cy="279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395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B0A9B-EC4F-028E-CC78-2E9E09E03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B710B7D-2CB5-AE6F-C599-E04B4818B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1999" cy="914400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Course Staff</a:t>
            </a:r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265BBA62-505D-7DEB-D9B3-BCA90F7E7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36D9D4-175F-0664-926C-A5F1BE85E0B1}"/>
              </a:ext>
            </a:extLst>
          </p:cNvPr>
          <p:cNvSpPr txBox="1"/>
          <p:nvPr/>
        </p:nvSpPr>
        <p:spPr>
          <a:xfrm>
            <a:off x="0" y="898726"/>
            <a:ext cx="1219199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3200" b="1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Wenbo Qian (TA)</a:t>
            </a:r>
          </a:p>
          <a:p>
            <a:pPr marL="688975" lvl="1" indent="-231775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Office Hours: check on course website</a:t>
            </a:r>
          </a:p>
          <a:p>
            <a:pPr marL="688975" lvl="1" indent="-231775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Location: PHO 305/307</a:t>
            </a:r>
          </a:p>
          <a:p>
            <a:pPr lvl="1"/>
            <a:endParaRPr lang="en-US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Zhakhangir Mamayev (grader)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Office Hours: check on course website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Location: PHO 305/307</a:t>
            </a:r>
            <a:endParaRPr lang="en-US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</a:rPr>
              <a:t>Course Website: </a:t>
            </a:r>
            <a:r>
              <a:rPr lang="en-US" sz="2800" dirty="0">
                <a:latin typeface="Arial" panose="020B0604020202020204" pitchFamily="34" charset="0"/>
                <a:ea typeface="Arial" panose="02000503000000020004" pitchFamily="2" charset="0"/>
                <a:cs typeface="Arial" panose="020B0604020202020204" pitchFamily="34" charset="0"/>
                <a:hlinkClick r:id="rId3"/>
              </a:rPr>
              <a:t>https://ec528.github.io/ec528/fall26/</a:t>
            </a:r>
            <a:endParaRPr lang="en-US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  <a:p>
            <a:endParaRPr lang="en-US" sz="2800" dirty="0">
              <a:latin typeface="Arial" panose="020B0604020202020204" pitchFamily="34" charset="0"/>
              <a:ea typeface="Arial" panose="0200050300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6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6732" y="1102442"/>
            <a:ext cx="11858534" cy="3810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800" dirty="0">
                <a:latin typeface="Arial"/>
                <a:cs typeface="Arial"/>
              </a:rPr>
              <a:t>What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think?</a:t>
            </a:r>
            <a:endParaRPr sz="2800" dirty="0">
              <a:latin typeface="Arial"/>
              <a:cs typeface="Arial"/>
            </a:endParaRPr>
          </a:p>
          <a:p>
            <a:pPr>
              <a:buClr>
                <a:schemeClr val="tx1"/>
              </a:buClr>
              <a:buSzPct val="100000"/>
            </a:pPr>
            <a:endParaRPr sz="2800" dirty="0">
              <a:latin typeface="Arial"/>
              <a:cs typeface="Arial"/>
            </a:endParaRPr>
          </a:p>
          <a:p>
            <a:pPr marR="305435" indent="0" marL="0">
              <a:lnSpc>
                <a:spcPct val="99400"/>
              </a:lnSpc>
              <a:buClr>
                <a:schemeClr val="tx1"/>
              </a:buClr>
              <a:buSzPct val="100000"/>
              <a:buFont typeface="Arial" panose="020B0604020202020204" pitchFamily="34" charset="0"/>
              <a:buNone/>
              <a:tabLst>
                <a:tab pos="355600" algn="l"/>
              </a:tabLst>
            </a:pPr>
            <a:r>
              <a:rPr sz="3200" i="1" dirty="0" b="1">
                <a:latin typeface="Arial"/>
                <a:cs typeface="Arial"/>
              </a:rPr>
              <a:t>“</a:t>
            </a:r>
            <a:r>
              <a:rPr sz="3200" b="1" i="1" dirty="0">
                <a:latin typeface="Arial"/>
                <a:cs typeface="Arial"/>
              </a:rPr>
              <a:t>Cloud</a:t>
            </a:r>
            <a:r>
              <a:rPr sz="3200" b="1" i="1" spc="-35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computing</a:t>
            </a:r>
            <a:r>
              <a:rPr sz="3200" b="1" i="1" spc="-35" dirty="0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is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the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delivery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of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computing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services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–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servers,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spc="-10" dirty="0" b="1">
                <a:latin typeface="Arial"/>
                <a:cs typeface="Arial"/>
              </a:rPr>
              <a:t>storage, </a:t>
            </a:r>
            <a:r>
              <a:rPr sz="3200" i="1" dirty="0" b="1">
                <a:latin typeface="Arial"/>
                <a:cs typeface="Arial"/>
              </a:rPr>
              <a:t>databases,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networking,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software,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analytics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and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more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–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over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the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Internet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spc="-10" dirty="0" b="1">
                <a:latin typeface="Arial"/>
                <a:cs typeface="Arial"/>
              </a:rPr>
              <a:t>(“the </a:t>
            </a:r>
            <a:r>
              <a:rPr sz="3200" i="1" dirty="0" b="1">
                <a:latin typeface="Arial"/>
                <a:cs typeface="Arial"/>
              </a:rPr>
              <a:t>cloud”).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Companies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offering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these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computing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services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are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called</a:t>
            </a:r>
            <a:r>
              <a:rPr sz="3200" i="1" spc="-40" dirty="0" b="1">
                <a:latin typeface="Arial"/>
                <a:cs typeface="Arial"/>
              </a:rPr>
              <a:t> </a:t>
            </a:r>
            <a:r>
              <a:rPr sz="3200" i="1" spc="-10" dirty="0" b="1">
                <a:latin typeface="Arial"/>
                <a:cs typeface="Arial"/>
              </a:rPr>
              <a:t>cloud </a:t>
            </a:r>
            <a:r>
              <a:rPr sz="3200" i="1" dirty="0" b="1">
                <a:latin typeface="Arial"/>
                <a:cs typeface="Arial"/>
              </a:rPr>
              <a:t>providers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and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typically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charge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for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cloud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computing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services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based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on</a:t>
            </a:r>
            <a:r>
              <a:rPr sz="3200" i="1" spc="-35" dirty="0" b="1">
                <a:latin typeface="Arial"/>
                <a:cs typeface="Arial"/>
              </a:rPr>
              <a:t> </a:t>
            </a:r>
            <a:r>
              <a:rPr sz="3200" i="1" spc="-10" dirty="0" b="1">
                <a:latin typeface="Arial"/>
                <a:cs typeface="Arial"/>
              </a:rPr>
              <a:t>usage, </a:t>
            </a:r>
            <a:r>
              <a:rPr sz="3200" i="1" dirty="0" b="1">
                <a:latin typeface="Arial"/>
                <a:cs typeface="Arial"/>
              </a:rPr>
              <a:t>similar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to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how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you’re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billed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for</a:t>
            </a:r>
            <a:r>
              <a:rPr sz="3200" i="1" spc="-20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gas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or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electricity</a:t>
            </a:r>
            <a:r>
              <a:rPr sz="3200" i="1" spc="-25" dirty="0" b="1">
                <a:latin typeface="Arial"/>
                <a:cs typeface="Arial"/>
              </a:rPr>
              <a:t> </a:t>
            </a:r>
            <a:r>
              <a:rPr sz="3200" i="1" dirty="0" b="1">
                <a:latin typeface="Arial"/>
                <a:cs typeface="Arial"/>
              </a:rPr>
              <a:t>at</a:t>
            </a:r>
            <a:r>
              <a:rPr sz="3200" i="1" spc="-30" dirty="0" b="1">
                <a:latin typeface="Arial"/>
                <a:cs typeface="Arial"/>
              </a:rPr>
              <a:t> </a:t>
            </a:r>
            <a:r>
              <a:rPr sz="3200" i="1" spc="-10" dirty="0" b="1">
                <a:latin typeface="Arial"/>
                <a:cs typeface="Arial"/>
              </a:rPr>
              <a:t>home.”</a:t>
            </a:r>
            <a:endParaRPr sz="3200" dirty="0" b="1">
              <a:latin typeface="Arial"/>
              <a:cs typeface="Arial"/>
            </a:endParaRPr>
          </a:p>
          <a:p>
            <a:pPr marL="801688" lvl="1" indent="-344488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r>
              <a:rPr sz="2800" i="1" spc="-10" dirty="0">
                <a:latin typeface="Arial"/>
                <a:cs typeface="Arial"/>
                <a:hlinkClick r:id="rId2"/>
              </a:rPr>
              <a:t>https://azure.microsoft.com/en-gb/overview/what-is-cloud-computing/</a:t>
            </a:r>
            <a:endParaRPr lang="en-US" sz="2800" i="1" spc="-10" dirty="0">
              <a:latin typeface="Arial"/>
              <a:cs typeface="Arial"/>
            </a:endParaRPr>
          </a:p>
          <a:p>
            <a:pPr marL="801688" lvl="1" indent="-344488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endParaRPr lang="en-US" sz="2400" i="1" spc="-10" dirty="0">
              <a:latin typeface="Arial"/>
              <a:cs typeface="Arial"/>
            </a:endParaRPr>
          </a:p>
          <a:p>
            <a:pPr marL="801688" lvl="1" indent="-344488">
              <a:buClr>
                <a:schemeClr val="tx1"/>
              </a:buClr>
              <a:buSzPct val="100000"/>
              <a:buFont typeface="Courier New" panose="02070309020205020404" pitchFamily="49" charset="0"/>
              <a:buChar char="o"/>
            </a:pPr>
            <a:endParaRPr sz="2400" dirty="0">
              <a:latin typeface="Arial"/>
              <a:cs typeface="Arial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13485E-CB44-5AF2-9BEB-EF78482FF45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What is Cloud Computing?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24FCA6A0-353C-4EE8-68A4-F42C631D5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455" y="3828288"/>
            <a:ext cx="1917192" cy="1255776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7162928" y="4054006"/>
            <a:ext cx="307975" cy="233045"/>
          </a:xfrm>
          <a:custGeom>
            <a:avLst/>
            <a:gdLst/>
            <a:ahLst/>
            <a:cxnLst/>
            <a:rect l="l" t="t" r="r" b="b"/>
            <a:pathLst>
              <a:path w="307975" h="233045">
                <a:moveTo>
                  <a:pt x="38087" y="156260"/>
                </a:moveTo>
                <a:lnTo>
                  <a:pt x="0" y="232473"/>
                </a:lnTo>
                <a:lnTo>
                  <a:pt x="83820" y="217208"/>
                </a:lnTo>
                <a:lnTo>
                  <a:pt x="69535" y="198170"/>
                </a:lnTo>
                <a:lnTo>
                  <a:pt x="53657" y="198170"/>
                </a:lnTo>
                <a:lnTo>
                  <a:pt x="47942" y="190550"/>
                </a:lnTo>
                <a:lnTo>
                  <a:pt x="58098" y="182929"/>
                </a:lnTo>
                <a:lnTo>
                  <a:pt x="38087" y="156260"/>
                </a:lnTo>
                <a:close/>
              </a:path>
              <a:path w="307975" h="233045">
                <a:moveTo>
                  <a:pt x="58098" y="182929"/>
                </a:moveTo>
                <a:lnTo>
                  <a:pt x="47942" y="190550"/>
                </a:lnTo>
                <a:lnTo>
                  <a:pt x="53657" y="198170"/>
                </a:lnTo>
                <a:lnTo>
                  <a:pt x="63812" y="190550"/>
                </a:lnTo>
                <a:lnTo>
                  <a:pt x="58098" y="182929"/>
                </a:lnTo>
                <a:close/>
              </a:path>
              <a:path w="307975" h="233045">
                <a:moveTo>
                  <a:pt x="63817" y="190550"/>
                </a:moveTo>
                <a:lnTo>
                  <a:pt x="53657" y="198170"/>
                </a:lnTo>
                <a:lnTo>
                  <a:pt x="69535" y="198170"/>
                </a:lnTo>
                <a:lnTo>
                  <a:pt x="63817" y="190550"/>
                </a:lnTo>
                <a:close/>
              </a:path>
              <a:path w="307975" h="233045">
                <a:moveTo>
                  <a:pt x="301878" y="0"/>
                </a:moveTo>
                <a:lnTo>
                  <a:pt x="58098" y="182929"/>
                </a:lnTo>
                <a:lnTo>
                  <a:pt x="63817" y="190550"/>
                </a:lnTo>
                <a:lnTo>
                  <a:pt x="307594" y="7620"/>
                </a:lnTo>
                <a:lnTo>
                  <a:pt x="30187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80085" y="3907028"/>
            <a:ext cx="7969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6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dept.</a:t>
            </a:r>
            <a:endParaRPr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76634" y="4995164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6629400" y="4343401"/>
            <a:ext cx="631190" cy="466725"/>
            <a:chOff x="5105400" y="4343400"/>
            <a:chExt cx="631190" cy="46672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343400"/>
              <a:ext cx="630936" cy="46634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79720" y="4407407"/>
              <a:ext cx="152400" cy="2103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46775" y="4477512"/>
              <a:ext cx="152400" cy="207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13831" y="4544568"/>
              <a:ext cx="152400" cy="210312"/>
            </a:xfrm>
            <a:prstGeom prst="rect">
              <a:avLst/>
            </a:prstGeom>
          </p:spPr>
        </p:pic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EEEF9B2B-AA80-6084-534D-31369A6DCA2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EEAFA8F2-DB1F-9203-23A0-573259BA7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1455" y="3828288"/>
            <a:ext cx="1917192" cy="1255776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376634" y="4995164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 dirty="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453149" y="3657664"/>
            <a:ext cx="807720" cy="1152525"/>
            <a:chOff x="4929149" y="3657663"/>
            <a:chExt cx="807720" cy="115252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05400" y="4343400"/>
              <a:ext cx="630936" cy="4663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929149" y="3657663"/>
              <a:ext cx="638810" cy="572135"/>
            </a:xfrm>
            <a:custGeom>
              <a:avLst/>
              <a:gdLst/>
              <a:ahLst/>
              <a:cxnLst/>
              <a:rect l="l" t="t" r="r" b="b"/>
              <a:pathLst>
                <a:path w="638810" h="572135">
                  <a:moveTo>
                    <a:pt x="42593" y="74031"/>
                  </a:moveTo>
                  <a:lnTo>
                    <a:pt x="33216" y="75738"/>
                  </a:lnTo>
                  <a:lnTo>
                    <a:pt x="34239" y="80454"/>
                  </a:lnTo>
                  <a:lnTo>
                    <a:pt x="34302" y="80759"/>
                  </a:lnTo>
                  <a:lnTo>
                    <a:pt x="59905" y="132321"/>
                  </a:lnTo>
                  <a:lnTo>
                    <a:pt x="95186" y="178930"/>
                  </a:lnTo>
                  <a:lnTo>
                    <a:pt x="138582" y="219582"/>
                  </a:lnTo>
                  <a:lnTo>
                    <a:pt x="188315" y="252590"/>
                  </a:lnTo>
                  <a:lnTo>
                    <a:pt x="242658" y="276275"/>
                  </a:lnTo>
                  <a:lnTo>
                    <a:pt x="299847" y="288937"/>
                  </a:lnTo>
                  <a:lnTo>
                    <a:pt x="356412" y="292150"/>
                  </a:lnTo>
                  <a:lnTo>
                    <a:pt x="384251" y="296824"/>
                  </a:lnTo>
                  <a:lnTo>
                    <a:pt x="438492" y="314655"/>
                  </a:lnTo>
                  <a:lnTo>
                    <a:pt x="489305" y="342430"/>
                  </a:lnTo>
                  <a:lnTo>
                    <a:pt x="534847" y="378472"/>
                  </a:lnTo>
                  <a:lnTo>
                    <a:pt x="573316" y="421106"/>
                  </a:lnTo>
                  <a:lnTo>
                    <a:pt x="602945" y="468604"/>
                  </a:lnTo>
                  <a:lnTo>
                    <a:pt x="621982" y="519226"/>
                  </a:lnTo>
                  <a:lnTo>
                    <a:pt x="626891" y="544576"/>
                  </a:lnTo>
                  <a:lnTo>
                    <a:pt x="627011" y="545198"/>
                  </a:lnTo>
                  <a:lnTo>
                    <a:pt x="628711" y="571334"/>
                  </a:lnTo>
                  <a:lnTo>
                    <a:pt x="628751" y="571957"/>
                  </a:lnTo>
                  <a:lnTo>
                    <a:pt x="638263" y="571334"/>
                  </a:lnTo>
                  <a:lnTo>
                    <a:pt x="636552" y="545198"/>
                  </a:lnTo>
                  <a:lnTo>
                    <a:pt x="636511" y="544576"/>
                  </a:lnTo>
                  <a:lnTo>
                    <a:pt x="622985" y="490766"/>
                  </a:lnTo>
                  <a:lnTo>
                    <a:pt x="597662" y="439699"/>
                  </a:lnTo>
                  <a:lnTo>
                    <a:pt x="562419" y="393001"/>
                  </a:lnTo>
                  <a:lnTo>
                    <a:pt x="519061" y="352310"/>
                  </a:lnTo>
                  <a:lnTo>
                    <a:pt x="469379" y="319252"/>
                  </a:lnTo>
                  <a:lnTo>
                    <a:pt x="415099" y="295503"/>
                  </a:lnTo>
                  <a:lnTo>
                    <a:pt x="358000" y="282765"/>
                  </a:lnTo>
                  <a:lnTo>
                    <a:pt x="300393" y="279425"/>
                  </a:lnTo>
                  <a:lnTo>
                    <a:pt x="272592" y="274700"/>
                  </a:lnTo>
                  <a:lnTo>
                    <a:pt x="218439" y="256806"/>
                  </a:lnTo>
                  <a:lnTo>
                    <a:pt x="167690" y="228993"/>
                  </a:lnTo>
                  <a:lnTo>
                    <a:pt x="122199" y="192900"/>
                  </a:lnTo>
                  <a:lnTo>
                    <a:pt x="83756" y="150202"/>
                  </a:lnTo>
                  <a:lnTo>
                    <a:pt x="54178" y="102616"/>
                  </a:lnTo>
                  <a:lnTo>
                    <a:pt x="43648" y="78435"/>
                  </a:lnTo>
                  <a:lnTo>
                    <a:pt x="43399" y="77975"/>
                  </a:lnTo>
                  <a:lnTo>
                    <a:pt x="43256" y="77533"/>
                  </a:lnTo>
                  <a:lnTo>
                    <a:pt x="42963" y="75738"/>
                  </a:lnTo>
                  <a:lnTo>
                    <a:pt x="42593" y="74031"/>
                  </a:lnTo>
                  <a:close/>
                </a:path>
                <a:path w="638810" h="572135">
                  <a:moveTo>
                    <a:pt x="23825" y="0"/>
                  </a:moveTo>
                  <a:lnTo>
                    <a:pt x="0" y="81787"/>
                  </a:lnTo>
                  <a:lnTo>
                    <a:pt x="33216" y="75738"/>
                  </a:lnTo>
                  <a:lnTo>
                    <a:pt x="30556" y="63474"/>
                  </a:lnTo>
                  <a:lnTo>
                    <a:pt x="39865" y="61455"/>
                  </a:lnTo>
                  <a:lnTo>
                    <a:pt x="69953" y="61455"/>
                  </a:lnTo>
                  <a:lnTo>
                    <a:pt x="23825" y="0"/>
                  </a:lnTo>
                  <a:close/>
                </a:path>
                <a:path w="638810" h="572135">
                  <a:moveTo>
                    <a:pt x="39865" y="61455"/>
                  </a:moveTo>
                  <a:lnTo>
                    <a:pt x="30556" y="63474"/>
                  </a:lnTo>
                  <a:lnTo>
                    <a:pt x="33216" y="75738"/>
                  </a:lnTo>
                  <a:lnTo>
                    <a:pt x="42593" y="74031"/>
                  </a:lnTo>
                  <a:lnTo>
                    <a:pt x="39865" y="61455"/>
                  </a:lnTo>
                  <a:close/>
                </a:path>
                <a:path w="638810" h="572135">
                  <a:moveTo>
                    <a:pt x="69953" y="61455"/>
                  </a:moveTo>
                  <a:lnTo>
                    <a:pt x="39865" y="61455"/>
                  </a:lnTo>
                  <a:lnTo>
                    <a:pt x="42593" y="74031"/>
                  </a:lnTo>
                  <a:lnTo>
                    <a:pt x="74968" y="68135"/>
                  </a:lnTo>
                  <a:lnTo>
                    <a:pt x="69953" y="6145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6324600" y="3197351"/>
            <a:ext cx="287020" cy="347980"/>
            <a:chOff x="4800600" y="3197351"/>
            <a:chExt cx="287020" cy="347980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00600" y="3197351"/>
              <a:ext cx="152400" cy="21031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67656" y="3267455"/>
              <a:ext cx="152400" cy="207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934712" y="3334511"/>
              <a:ext cx="152400" cy="210312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562601" y="2592755"/>
            <a:ext cx="688975" cy="739140"/>
            <a:chOff x="4038600" y="2592755"/>
            <a:chExt cx="688975" cy="739140"/>
          </a:xfrm>
        </p:grpSpPr>
        <p:sp>
          <p:nvSpPr>
            <p:cNvPr id="18" name="object 18"/>
            <p:cNvSpPr/>
            <p:nvPr/>
          </p:nvSpPr>
          <p:spPr>
            <a:xfrm>
              <a:off x="4038688" y="2592755"/>
              <a:ext cx="688975" cy="497205"/>
            </a:xfrm>
            <a:custGeom>
              <a:avLst/>
              <a:gdLst/>
              <a:ahLst/>
              <a:cxnLst/>
              <a:rect l="l" t="t" r="r" b="b"/>
              <a:pathLst>
                <a:path w="688975" h="497205">
                  <a:moveTo>
                    <a:pt x="76300" y="33657"/>
                  </a:moveTo>
                  <a:lnTo>
                    <a:pt x="76048" y="42519"/>
                  </a:lnTo>
                  <a:lnTo>
                    <a:pt x="76030" y="43180"/>
                  </a:lnTo>
                  <a:lnTo>
                    <a:pt x="124180" y="45808"/>
                  </a:lnTo>
                  <a:lnTo>
                    <a:pt x="185102" y="51955"/>
                  </a:lnTo>
                  <a:lnTo>
                    <a:pt x="244551" y="60274"/>
                  </a:lnTo>
                  <a:lnTo>
                    <a:pt x="302044" y="70599"/>
                  </a:lnTo>
                  <a:lnTo>
                    <a:pt x="357073" y="82740"/>
                  </a:lnTo>
                  <a:lnTo>
                    <a:pt x="409168" y="96558"/>
                  </a:lnTo>
                  <a:lnTo>
                    <a:pt x="457796" y="111861"/>
                  </a:lnTo>
                  <a:lnTo>
                    <a:pt x="502792" y="128600"/>
                  </a:lnTo>
                  <a:lnTo>
                    <a:pt x="542810" y="146253"/>
                  </a:lnTo>
                  <a:lnTo>
                    <a:pt x="578103" y="164947"/>
                  </a:lnTo>
                  <a:lnTo>
                    <a:pt x="620649" y="194310"/>
                  </a:lnTo>
                  <a:lnTo>
                    <a:pt x="649224" y="224434"/>
                  </a:lnTo>
                  <a:lnTo>
                    <a:pt x="658410" y="241261"/>
                  </a:lnTo>
                  <a:lnTo>
                    <a:pt x="659866" y="244424"/>
                  </a:lnTo>
                  <a:lnTo>
                    <a:pt x="662218" y="253187"/>
                  </a:lnTo>
                  <a:lnTo>
                    <a:pt x="662584" y="254304"/>
                  </a:lnTo>
                  <a:lnTo>
                    <a:pt x="663536" y="264642"/>
                  </a:lnTo>
                  <a:lnTo>
                    <a:pt x="663928" y="307124"/>
                  </a:lnTo>
                  <a:lnTo>
                    <a:pt x="665036" y="348348"/>
                  </a:lnTo>
                  <a:lnTo>
                    <a:pt x="666737" y="386905"/>
                  </a:lnTo>
                  <a:lnTo>
                    <a:pt x="670216" y="436714"/>
                  </a:lnTo>
                  <a:lnTo>
                    <a:pt x="676300" y="483146"/>
                  </a:lnTo>
                  <a:lnTo>
                    <a:pt x="682777" y="496976"/>
                  </a:lnTo>
                  <a:lnTo>
                    <a:pt x="688317" y="490080"/>
                  </a:lnTo>
                  <a:lnTo>
                    <a:pt x="688505" y="490080"/>
                  </a:lnTo>
                  <a:lnTo>
                    <a:pt x="688371" y="489762"/>
                  </a:lnTo>
                  <a:lnTo>
                    <a:pt x="688103" y="489546"/>
                  </a:lnTo>
                  <a:lnTo>
                    <a:pt x="687108" y="488226"/>
                  </a:lnTo>
                  <a:lnTo>
                    <a:pt x="687722" y="488226"/>
                  </a:lnTo>
                  <a:lnTo>
                    <a:pt x="687001" y="486517"/>
                  </a:lnTo>
                  <a:lnTo>
                    <a:pt x="686892" y="486257"/>
                  </a:lnTo>
                  <a:lnTo>
                    <a:pt x="686134" y="483146"/>
                  </a:lnTo>
                  <a:lnTo>
                    <a:pt x="679858" y="437641"/>
                  </a:lnTo>
                  <a:lnTo>
                    <a:pt x="676308" y="387464"/>
                  </a:lnTo>
                  <a:lnTo>
                    <a:pt x="674579" y="348767"/>
                  </a:lnTo>
                  <a:lnTo>
                    <a:pt x="673462" y="307378"/>
                  </a:lnTo>
                  <a:lnTo>
                    <a:pt x="673062" y="264642"/>
                  </a:lnTo>
                  <a:lnTo>
                    <a:pt x="672218" y="255117"/>
                  </a:lnTo>
                  <a:lnTo>
                    <a:pt x="672145" y="254304"/>
                  </a:lnTo>
                  <a:lnTo>
                    <a:pt x="672045" y="253187"/>
                  </a:lnTo>
                  <a:lnTo>
                    <a:pt x="671931" y="252653"/>
                  </a:lnTo>
                  <a:lnTo>
                    <a:pt x="648855" y="208508"/>
                  </a:lnTo>
                  <a:lnTo>
                    <a:pt x="613803" y="176885"/>
                  </a:lnTo>
                  <a:lnTo>
                    <a:pt x="565734" y="147180"/>
                  </a:lnTo>
                  <a:lnTo>
                    <a:pt x="527253" y="128600"/>
                  </a:lnTo>
                  <a:lnTo>
                    <a:pt x="461124" y="102933"/>
                  </a:lnTo>
                  <a:lnTo>
                    <a:pt x="412026" y="87464"/>
                  </a:lnTo>
                  <a:lnTo>
                    <a:pt x="359524" y="73533"/>
                  </a:lnTo>
                  <a:lnTo>
                    <a:pt x="304101" y="61290"/>
                  </a:lnTo>
                  <a:lnTo>
                    <a:pt x="246240" y="50901"/>
                  </a:lnTo>
                  <a:lnTo>
                    <a:pt x="186423" y="42519"/>
                  </a:lnTo>
                  <a:lnTo>
                    <a:pt x="125133" y="36334"/>
                  </a:lnTo>
                  <a:lnTo>
                    <a:pt x="76300" y="33657"/>
                  </a:lnTo>
                  <a:close/>
                </a:path>
                <a:path w="688975" h="497205">
                  <a:moveTo>
                    <a:pt x="688039" y="488977"/>
                  </a:moveTo>
                  <a:lnTo>
                    <a:pt x="688280" y="489546"/>
                  </a:lnTo>
                  <a:lnTo>
                    <a:pt x="688265" y="489762"/>
                  </a:lnTo>
                  <a:lnTo>
                    <a:pt x="688505" y="490080"/>
                  </a:lnTo>
                  <a:lnTo>
                    <a:pt x="688317" y="490080"/>
                  </a:lnTo>
                  <a:lnTo>
                    <a:pt x="688746" y="489546"/>
                  </a:lnTo>
                  <a:lnTo>
                    <a:pt x="688039" y="488977"/>
                  </a:lnTo>
                  <a:close/>
                </a:path>
                <a:path w="688975" h="497205">
                  <a:moveTo>
                    <a:pt x="687108" y="488226"/>
                  </a:moveTo>
                  <a:lnTo>
                    <a:pt x="688265" y="489762"/>
                  </a:lnTo>
                  <a:lnTo>
                    <a:pt x="688280" y="489546"/>
                  </a:lnTo>
                  <a:lnTo>
                    <a:pt x="688039" y="488977"/>
                  </a:lnTo>
                  <a:lnTo>
                    <a:pt x="687108" y="488226"/>
                  </a:lnTo>
                  <a:close/>
                </a:path>
                <a:path w="688975" h="497205">
                  <a:moveTo>
                    <a:pt x="687722" y="488226"/>
                  </a:moveTo>
                  <a:lnTo>
                    <a:pt x="687108" y="488226"/>
                  </a:lnTo>
                  <a:lnTo>
                    <a:pt x="688039" y="488977"/>
                  </a:lnTo>
                  <a:lnTo>
                    <a:pt x="687722" y="488226"/>
                  </a:lnTo>
                  <a:close/>
                </a:path>
                <a:path w="688975" h="497205">
                  <a:moveTo>
                    <a:pt x="77254" y="0"/>
                  </a:moveTo>
                  <a:lnTo>
                    <a:pt x="0" y="35940"/>
                  </a:lnTo>
                  <a:lnTo>
                    <a:pt x="75095" y="76174"/>
                  </a:lnTo>
                  <a:lnTo>
                    <a:pt x="75955" y="45808"/>
                  </a:lnTo>
                  <a:lnTo>
                    <a:pt x="76030" y="43180"/>
                  </a:lnTo>
                  <a:lnTo>
                    <a:pt x="63918" y="42519"/>
                  </a:lnTo>
                  <a:lnTo>
                    <a:pt x="63218" y="42519"/>
                  </a:lnTo>
                  <a:lnTo>
                    <a:pt x="63557" y="36334"/>
                  </a:lnTo>
                  <a:lnTo>
                    <a:pt x="63578" y="35940"/>
                  </a:lnTo>
                  <a:lnTo>
                    <a:pt x="63703" y="33657"/>
                  </a:lnTo>
                  <a:lnTo>
                    <a:pt x="63741" y="32969"/>
                  </a:lnTo>
                  <a:lnTo>
                    <a:pt x="76319" y="32969"/>
                  </a:lnTo>
                  <a:lnTo>
                    <a:pt x="77254" y="0"/>
                  </a:lnTo>
                  <a:close/>
                </a:path>
                <a:path w="688975" h="497205">
                  <a:moveTo>
                    <a:pt x="63741" y="32969"/>
                  </a:moveTo>
                  <a:lnTo>
                    <a:pt x="63218" y="42519"/>
                  </a:lnTo>
                  <a:lnTo>
                    <a:pt x="63918" y="42519"/>
                  </a:lnTo>
                  <a:lnTo>
                    <a:pt x="76030" y="43180"/>
                  </a:lnTo>
                  <a:lnTo>
                    <a:pt x="76224" y="36334"/>
                  </a:lnTo>
                  <a:lnTo>
                    <a:pt x="76300" y="33657"/>
                  </a:lnTo>
                  <a:lnTo>
                    <a:pt x="63741" y="32969"/>
                  </a:lnTo>
                  <a:close/>
                </a:path>
                <a:path w="688975" h="497205">
                  <a:moveTo>
                    <a:pt x="76319" y="32969"/>
                  </a:moveTo>
                  <a:lnTo>
                    <a:pt x="63741" y="32969"/>
                  </a:lnTo>
                  <a:lnTo>
                    <a:pt x="76300" y="33657"/>
                  </a:lnTo>
                  <a:lnTo>
                    <a:pt x="76319" y="3296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038600" y="3084576"/>
              <a:ext cx="688848" cy="246887"/>
            </a:xfrm>
            <a:prstGeom prst="rect">
              <a:avLst/>
            </a:prstGeom>
          </p:spPr>
        </p:pic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D8E9D644-9839-5918-A39D-09B56593428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CB536959-1382-C319-D62D-A9299D37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48200" y="2350007"/>
            <a:ext cx="323088" cy="554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455" y="3837432"/>
            <a:ext cx="1917192" cy="1255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6634" y="5004308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400" y="4352544"/>
            <a:ext cx="630936" cy="46939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96896" y="1780032"/>
            <a:ext cx="1993900" cy="1325880"/>
            <a:chOff x="1072896" y="1780032"/>
            <a:chExt cx="199390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896" y="1780032"/>
              <a:ext cx="1978152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50008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29200" y="2350007"/>
            <a:ext cx="323088" cy="55473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4648200" y="2465833"/>
            <a:ext cx="287020" cy="344805"/>
            <a:chOff x="3124200" y="2465832"/>
            <a:chExt cx="287020" cy="34480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24200" y="2465832"/>
              <a:ext cx="152400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191256" y="2532888"/>
              <a:ext cx="152399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58312" y="2602992"/>
              <a:ext cx="152400" cy="207263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7C0677FA-F7B0-0A90-EC7E-6D5C2B67ABC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097D2FB-7E95-D9FE-A6C7-DD3250898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455" y="3828288"/>
            <a:ext cx="1917192" cy="1255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6634" y="5004308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72512" y="1770888"/>
            <a:ext cx="4688205" cy="3039110"/>
            <a:chOff x="1048511" y="1770888"/>
            <a:chExt cx="4688205" cy="303911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05400" y="4343400"/>
              <a:ext cx="630936" cy="4663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648200" y="2456689"/>
            <a:ext cx="287020" cy="344805"/>
            <a:chOff x="3124200" y="2456688"/>
            <a:chExt cx="287020" cy="344805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4200" y="2456688"/>
              <a:ext cx="152400" cy="207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91256" y="2523744"/>
              <a:ext cx="152399" cy="2103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58312" y="2593848"/>
              <a:ext cx="152400" cy="207263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4033863" y="1652130"/>
            <a:ext cx="4961255" cy="2684780"/>
            <a:chOff x="2509862" y="1652130"/>
            <a:chExt cx="4961255" cy="2684780"/>
          </a:xfrm>
        </p:grpSpPr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743199" y="2340864"/>
              <a:ext cx="323088" cy="5547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433800" y="2914510"/>
              <a:ext cx="1992630" cy="1417320"/>
            </a:xfrm>
            <a:custGeom>
              <a:avLst/>
              <a:gdLst/>
              <a:ahLst/>
              <a:cxnLst/>
              <a:rect l="l" t="t" r="r" b="b"/>
              <a:pathLst>
                <a:path w="1992629" h="1417320">
                  <a:moveTo>
                    <a:pt x="1992331" y="1417210"/>
                  </a:moveTo>
                  <a:lnTo>
                    <a:pt x="1984609" y="1387212"/>
                  </a:lnTo>
                  <a:lnTo>
                    <a:pt x="1976770" y="1347205"/>
                  </a:lnTo>
                  <a:lnTo>
                    <a:pt x="1967990" y="1299533"/>
                  </a:lnTo>
                  <a:lnTo>
                    <a:pt x="1957446" y="1246537"/>
                  </a:lnTo>
                  <a:lnTo>
                    <a:pt x="1944315" y="1190562"/>
                  </a:lnTo>
                  <a:lnTo>
                    <a:pt x="1927774" y="1133949"/>
                  </a:lnTo>
                  <a:lnTo>
                    <a:pt x="1907000" y="1079041"/>
                  </a:lnTo>
                  <a:lnTo>
                    <a:pt x="1881170" y="1028182"/>
                  </a:lnTo>
                  <a:lnTo>
                    <a:pt x="1849461" y="983713"/>
                  </a:lnTo>
                  <a:lnTo>
                    <a:pt x="1817860" y="950821"/>
                  </a:lnTo>
                  <a:lnTo>
                    <a:pt x="1780863" y="918531"/>
                  </a:lnTo>
                  <a:lnTo>
                    <a:pt x="1739451" y="887029"/>
                  </a:lnTo>
                  <a:lnTo>
                    <a:pt x="1694605" y="856505"/>
                  </a:lnTo>
                  <a:lnTo>
                    <a:pt x="1647304" y="827146"/>
                  </a:lnTo>
                  <a:lnTo>
                    <a:pt x="1598529" y="799140"/>
                  </a:lnTo>
                  <a:lnTo>
                    <a:pt x="1549259" y="772674"/>
                  </a:lnTo>
                  <a:lnTo>
                    <a:pt x="1500477" y="747938"/>
                  </a:lnTo>
                  <a:lnTo>
                    <a:pt x="1453161" y="725118"/>
                  </a:lnTo>
                  <a:lnTo>
                    <a:pt x="1408292" y="704402"/>
                  </a:lnTo>
                  <a:lnTo>
                    <a:pt x="1366850" y="685979"/>
                  </a:lnTo>
                  <a:lnTo>
                    <a:pt x="1314212" y="665447"/>
                  </a:lnTo>
                  <a:lnTo>
                    <a:pt x="1264234" y="650344"/>
                  </a:lnTo>
                  <a:lnTo>
                    <a:pt x="1216302" y="639400"/>
                  </a:lnTo>
                  <a:lnTo>
                    <a:pt x="1169802" y="631344"/>
                  </a:lnTo>
                  <a:lnTo>
                    <a:pt x="1124121" y="624908"/>
                  </a:lnTo>
                  <a:lnTo>
                    <a:pt x="1078644" y="618821"/>
                  </a:lnTo>
                  <a:lnTo>
                    <a:pt x="1032758" y="611813"/>
                  </a:lnTo>
                  <a:lnTo>
                    <a:pt x="985848" y="602613"/>
                  </a:lnTo>
                  <a:lnTo>
                    <a:pt x="937702" y="591988"/>
                  </a:lnTo>
                  <a:lnTo>
                    <a:pt x="888811" y="581474"/>
                  </a:lnTo>
                  <a:lnTo>
                    <a:pt x="839623" y="570960"/>
                  </a:lnTo>
                  <a:lnTo>
                    <a:pt x="790583" y="560335"/>
                  </a:lnTo>
                  <a:lnTo>
                    <a:pt x="742139" y="549486"/>
                  </a:lnTo>
                  <a:lnTo>
                    <a:pt x="694737" y="538302"/>
                  </a:lnTo>
                  <a:lnTo>
                    <a:pt x="648823" y="526672"/>
                  </a:lnTo>
                  <a:lnTo>
                    <a:pt x="604844" y="514484"/>
                  </a:lnTo>
                  <a:lnTo>
                    <a:pt x="548752" y="497745"/>
                  </a:lnTo>
                  <a:lnTo>
                    <a:pt x="494776" y="480608"/>
                  </a:lnTo>
                  <a:lnTo>
                    <a:pt x="442917" y="462678"/>
                  </a:lnTo>
                  <a:lnTo>
                    <a:pt x="393175" y="443557"/>
                  </a:lnTo>
                  <a:lnTo>
                    <a:pt x="345550" y="422848"/>
                  </a:lnTo>
                  <a:lnTo>
                    <a:pt x="300041" y="400154"/>
                  </a:lnTo>
                  <a:lnTo>
                    <a:pt x="255656" y="375541"/>
                  </a:lnTo>
                  <a:lnTo>
                    <a:pt x="212198" y="349341"/>
                  </a:lnTo>
                  <a:lnTo>
                    <a:pt x="170856" y="321552"/>
                  </a:lnTo>
                  <a:lnTo>
                    <a:pt x="132822" y="292176"/>
                  </a:lnTo>
                  <a:lnTo>
                    <a:pt x="99285" y="261212"/>
                  </a:lnTo>
                  <a:lnTo>
                    <a:pt x="71438" y="228660"/>
                  </a:lnTo>
                  <a:lnTo>
                    <a:pt x="46482" y="183842"/>
                  </a:lnTo>
                  <a:lnTo>
                    <a:pt x="29146" y="133079"/>
                  </a:lnTo>
                  <a:lnTo>
                    <a:pt x="17145" y="81860"/>
                  </a:lnTo>
                  <a:lnTo>
                    <a:pt x="8191" y="35670"/>
                  </a:lnTo>
                  <a:lnTo>
                    <a:pt x="0" y="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2600" y="1655064"/>
              <a:ext cx="1908048" cy="1392936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514625" y="1656892"/>
              <a:ext cx="762635" cy="473075"/>
            </a:xfrm>
            <a:custGeom>
              <a:avLst/>
              <a:gdLst/>
              <a:ahLst/>
              <a:cxnLst/>
              <a:rect l="l" t="t" r="r" b="b"/>
              <a:pathLst>
                <a:path w="762635" h="473075">
                  <a:moveTo>
                    <a:pt x="762050" y="0"/>
                  </a:moveTo>
                  <a:lnTo>
                    <a:pt x="0" y="0"/>
                  </a:lnTo>
                  <a:lnTo>
                    <a:pt x="0" y="285826"/>
                  </a:lnTo>
                  <a:lnTo>
                    <a:pt x="127012" y="285826"/>
                  </a:lnTo>
                  <a:lnTo>
                    <a:pt x="80962" y="472795"/>
                  </a:lnTo>
                  <a:lnTo>
                    <a:pt x="317525" y="285826"/>
                  </a:lnTo>
                  <a:lnTo>
                    <a:pt x="762050" y="285826"/>
                  </a:lnTo>
                  <a:lnTo>
                    <a:pt x="76205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14625" y="1656892"/>
              <a:ext cx="762635" cy="473075"/>
            </a:xfrm>
            <a:custGeom>
              <a:avLst/>
              <a:gdLst/>
              <a:ahLst/>
              <a:cxnLst/>
              <a:rect l="l" t="t" r="r" b="b"/>
              <a:pathLst>
                <a:path w="762635" h="473075">
                  <a:moveTo>
                    <a:pt x="0" y="0"/>
                  </a:moveTo>
                  <a:lnTo>
                    <a:pt x="127008" y="0"/>
                  </a:lnTo>
                  <a:lnTo>
                    <a:pt x="317520" y="0"/>
                  </a:lnTo>
                  <a:lnTo>
                    <a:pt x="762048" y="0"/>
                  </a:lnTo>
                  <a:lnTo>
                    <a:pt x="762048" y="166731"/>
                  </a:lnTo>
                  <a:lnTo>
                    <a:pt x="762048" y="238187"/>
                  </a:lnTo>
                  <a:lnTo>
                    <a:pt x="762048" y="285824"/>
                  </a:lnTo>
                  <a:lnTo>
                    <a:pt x="317520" y="285824"/>
                  </a:lnTo>
                  <a:lnTo>
                    <a:pt x="80967" y="472802"/>
                  </a:lnTo>
                  <a:lnTo>
                    <a:pt x="127008" y="285824"/>
                  </a:lnTo>
                  <a:lnTo>
                    <a:pt x="0" y="285824"/>
                  </a:lnTo>
                  <a:lnTo>
                    <a:pt x="0" y="238187"/>
                  </a:lnTo>
                  <a:lnTo>
                    <a:pt x="0" y="1667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892377" y="3117596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06126" y="1667257"/>
            <a:ext cx="4273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spc="-20" dirty="0">
                <a:solidFill>
                  <a:srgbClr val="0095D3"/>
                </a:solidFill>
                <a:latin typeface="Arial"/>
                <a:cs typeface="Arial"/>
              </a:rPr>
              <a:t>$5/day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96089" y="1594967"/>
            <a:ext cx="827405" cy="487680"/>
            <a:chOff x="4872088" y="1594967"/>
            <a:chExt cx="827405" cy="487680"/>
          </a:xfrm>
        </p:grpSpPr>
        <p:sp>
          <p:nvSpPr>
            <p:cNvPr id="26" name="object 26"/>
            <p:cNvSpPr/>
            <p:nvPr/>
          </p:nvSpPr>
          <p:spPr>
            <a:xfrm>
              <a:off x="4876850" y="1599730"/>
              <a:ext cx="817880" cy="478155"/>
            </a:xfrm>
            <a:custGeom>
              <a:avLst/>
              <a:gdLst/>
              <a:ahLst/>
              <a:cxnLst/>
              <a:rect l="l" t="t" r="r" b="b"/>
              <a:pathLst>
                <a:path w="817879" h="478155">
                  <a:moveTo>
                    <a:pt x="762050" y="0"/>
                  </a:moveTo>
                  <a:lnTo>
                    <a:pt x="0" y="0"/>
                  </a:lnTo>
                  <a:lnTo>
                    <a:pt x="0" y="285813"/>
                  </a:lnTo>
                  <a:lnTo>
                    <a:pt x="444525" y="285813"/>
                  </a:lnTo>
                  <a:lnTo>
                    <a:pt x="817613" y="477558"/>
                  </a:lnTo>
                  <a:lnTo>
                    <a:pt x="635038" y="285813"/>
                  </a:lnTo>
                  <a:lnTo>
                    <a:pt x="762050" y="285813"/>
                  </a:lnTo>
                  <a:lnTo>
                    <a:pt x="762050" y="0"/>
                  </a:lnTo>
                  <a:close/>
                </a:path>
              </a:pathLst>
            </a:custGeom>
            <a:solidFill>
              <a:srgbClr val="CC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876850" y="1599730"/>
              <a:ext cx="817880" cy="478155"/>
            </a:xfrm>
            <a:custGeom>
              <a:avLst/>
              <a:gdLst/>
              <a:ahLst/>
              <a:cxnLst/>
              <a:rect l="l" t="t" r="r" b="b"/>
              <a:pathLst>
                <a:path w="817879" h="478155">
                  <a:moveTo>
                    <a:pt x="0" y="0"/>
                  </a:moveTo>
                  <a:lnTo>
                    <a:pt x="444528" y="0"/>
                  </a:lnTo>
                  <a:lnTo>
                    <a:pt x="635040" y="0"/>
                  </a:lnTo>
                  <a:lnTo>
                    <a:pt x="762048" y="0"/>
                  </a:lnTo>
                  <a:lnTo>
                    <a:pt x="762048" y="166731"/>
                  </a:lnTo>
                  <a:lnTo>
                    <a:pt x="762048" y="238187"/>
                  </a:lnTo>
                  <a:lnTo>
                    <a:pt x="762048" y="285824"/>
                  </a:lnTo>
                  <a:lnTo>
                    <a:pt x="635040" y="285824"/>
                  </a:lnTo>
                  <a:lnTo>
                    <a:pt x="817616" y="477564"/>
                  </a:lnTo>
                  <a:lnTo>
                    <a:pt x="444528" y="285824"/>
                  </a:lnTo>
                  <a:lnTo>
                    <a:pt x="0" y="285824"/>
                  </a:lnTo>
                  <a:lnTo>
                    <a:pt x="0" y="238187"/>
                  </a:lnTo>
                  <a:lnTo>
                    <a:pt x="0" y="166731"/>
                  </a:lnTo>
                  <a:lnTo>
                    <a:pt x="0" y="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68352" y="1609345"/>
            <a:ext cx="4273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100" spc="-20" dirty="0">
                <a:solidFill>
                  <a:srgbClr val="0095D3"/>
                </a:solidFill>
                <a:latin typeface="Arial"/>
                <a:cs typeface="Arial"/>
              </a:rPr>
              <a:t>$3/day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1532FF96-70B2-DC09-184B-040D80268E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9E37832E-E774-F971-E021-608D14D4E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91455" y="3828288"/>
            <a:ext cx="1917192" cy="125577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376634" y="4995164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29400" y="4343400"/>
            <a:ext cx="630936" cy="46634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5791200" y="2685289"/>
            <a:ext cx="287020" cy="344805"/>
            <a:chOff x="4267200" y="2685288"/>
            <a:chExt cx="287020" cy="344805"/>
          </a:xfrm>
        </p:grpSpPr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67200" y="2685288"/>
              <a:ext cx="152400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334256" y="2752344"/>
              <a:ext cx="152400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401312" y="2822448"/>
              <a:ext cx="152400" cy="207263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7086601" y="1655064"/>
            <a:ext cx="1908175" cy="1393190"/>
            <a:chOff x="5562600" y="1655064"/>
            <a:chExt cx="1908175" cy="1393190"/>
          </a:xfrm>
        </p:grpSpPr>
        <p:pic>
          <p:nvPicPr>
            <p:cNvPr id="16" name="object 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62600" y="1655064"/>
              <a:ext cx="1908048" cy="139293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5638863" y="2819247"/>
              <a:ext cx="304800" cy="76200"/>
            </a:xfrm>
            <a:custGeom>
              <a:avLst/>
              <a:gdLst/>
              <a:ahLst/>
              <a:cxnLst/>
              <a:rect l="l" t="t" r="r" b="b"/>
              <a:pathLst>
                <a:path w="304800" h="76200">
                  <a:moveTo>
                    <a:pt x="228523" y="0"/>
                  </a:moveTo>
                  <a:lnTo>
                    <a:pt x="228523" y="76200"/>
                  </a:lnTo>
                  <a:lnTo>
                    <a:pt x="295198" y="42862"/>
                  </a:lnTo>
                  <a:lnTo>
                    <a:pt x="241223" y="42862"/>
                  </a:lnTo>
                  <a:lnTo>
                    <a:pt x="241223" y="33337"/>
                  </a:lnTo>
                  <a:lnTo>
                    <a:pt x="295198" y="33337"/>
                  </a:lnTo>
                  <a:lnTo>
                    <a:pt x="228523" y="0"/>
                  </a:lnTo>
                  <a:close/>
                </a:path>
                <a:path w="304800" h="76200">
                  <a:moveTo>
                    <a:pt x="228523" y="33337"/>
                  </a:moveTo>
                  <a:lnTo>
                    <a:pt x="0" y="33337"/>
                  </a:lnTo>
                  <a:lnTo>
                    <a:pt x="0" y="42862"/>
                  </a:lnTo>
                  <a:lnTo>
                    <a:pt x="228523" y="42862"/>
                  </a:lnTo>
                  <a:lnTo>
                    <a:pt x="228523" y="33337"/>
                  </a:lnTo>
                  <a:close/>
                </a:path>
                <a:path w="304800" h="76200">
                  <a:moveTo>
                    <a:pt x="295198" y="33337"/>
                  </a:moveTo>
                  <a:lnTo>
                    <a:pt x="241223" y="33337"/>
                  </a:lnTo>
                  <a:lnTo>
                    <a:pt x="241223" y="42862"/>
                  </a:lnTo>
                  <a:lnTo>
                    <a:pt x="295198" y="42862"/>
                  </a:lnTo>
                  <a:lnTo>
                    <a:pt x="304723" y="38100"/>
                  </a:lnTo>
                  <a:lnTo>
                    <a:pt x="295198" y="3333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8" name="object 1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248400" y="2740151"/>
            <a:ext cx="765048" cy="23164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86438" y="2762084"/>
            <a:ext cx="228663" cy="762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0CAA26F-49CC-2936-39D5-A36E456BF1F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C3C6867D-8D98-0017-8C23-F211EC218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91455" y="3828288"/>
            <a:ext cx="1917192" cy="12557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6634" y="5004308"/>
            <a:ext cx="17487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Joe’s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Widget</a:t>
            </a:r>
            <a:r>
              <a:rPr spc="-5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Co.</a:t>
            </a:r>
            <a:endParaRPr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29400" y="4343400"/>
            <a:ext cx="630936" cy="466344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892377" y="3117596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448800" y="2456689"/>
            <a:ext cx="287020" cy="344805"/>
            <a:chOff x="7924800" y="2456688"/>
            <a:chExt cx="287020" cy="344805"/>
          </a:xfrm>
        </p:grpSpPr>
        <p:pic>
          <p:nvPicPr>
            <p:cNvPr id="17" name="object 1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24800" y="2456688"/>
              <a:ext cx="152400" cy="2072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991856" y="2523744"/>
              <a:ext cx="152400" cy="2103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0589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7620063" y="2993434"/>
            <a:ext cx="1976120" cy="1579245"/>
          </a:xfrm>
          <a:custGeom>
            <a:avLst/>
            <a:gdLst/>
            <a:ahLst/>
            <a:cxnLst/>
            <a:rect l="l" t="t" r="r" b="b"/>
            <a:pathLst>
              <a:path w="1976120" h="1579245">
                <a:moveTo>
                  <a:pt x="0" y="1578873"/>
                </a:moveTo>
                <a:lnTo>
                  <a:pt x="52167" y="1576578"/>
                </a:lnTo>
                <a:lnTo>
                  <a:pt x="103995" y="1574241"/>
                </a:lnTo>
                <a:lnTo>
                  <a:pt x="155472" y="1571773"/>
                </a:lnTo>
                <a:lnTo>
                  <a:pt x="206587" y="1569088"/>
                </a:lnTo>
                <a:lnTo>
                  <a:pt x="257329" y="1566098"/>
                </a:lnTo>
                <a:lnTo>
                  <a:pt x="307685" y="1562714"/>
                </a:lnTo>
                <a:lnTo>
                  <a:pt x="357644" y="1558850"/>
                </a:lnTo>
                <a:lnTo>
                  <a:pt x="407195" y="1554417"/>
                </a:lnTo>
                <a:lnTo>
                  <a:pt x="456326" y="1549329"/>
                </a:lnTo>
                <a:lnTo>
                  <a:pt x="505026" y="1543496"/>
                </a:lnTo>
                <a:lnTo>
                  <a:pt x="553282" y="1536833"/>
                </a:lnTo>
                <a:lnTo>
                  <a:pt x="601084" y="1529250"/>
                </a:lnTo>
                <a:lnTo>
                  <a:pt x="648420" y="1520660"/>
                </a:lnTo>
                <a:lnTo>
                  <a:pt x="695278" y="1510977"/>
                </a:lnTo>
                <a:lnTo>
                  <a:pt x="741646" y="1500111"/>
                </a:lnTo>
                <a:lnTo>
                  <a:pt x="787514" y="1487976"/>
                </a:lnTo>
                <a:lnTo>
                  <a:pt x="832869" y="1474483"/>
                </a:lnTo>
                <a:lnTo>
                  <a:pt x="880923" y="1458680"/>
                </a:lnTo>
                <a:lnTo>
                  <a:pt x="929153" y="1441495"/>
                </a:lnTo>
                <a:lnTo>
                  <a:pt x="977400" y="1422998"/>
                </a:lnTo>
                <a:lnTo>
                  <a:pt x="1025510" y="1403258"/>
                </a:lnTo>
                <a:lnTo>
                  <a:pt x="1073323" y="1382347"/>
                </a:lnTo>
                <a:lnTo>
                  <a:pt x="1120683" y="1360333"/>
                </a:lnTo>
                <a:lnTo>
                  <a:pt x="1167433" y="1337287"/>
                </a:lnTo>
                <a:lnTo>
                  <a:pt x="1213416" y="1313279"/>
                </a:lnTo>
                <a:lnTo>
                  <a:pt x="1258475" y="1288379"/>
                </a:lnTo>
                <a:lnTo>
                  <a:pt x="1302453" y="1262658"/>
                </a:lnTo>
                <a:lnTo>
                  <a:pt x="1345191" y="1236184"/>
                </a:lnTo>
                <a:lnTo>
                  <a:pt x="1386535" y="1209029"/>
                </a:lnTo>
                <a:lnTo>
                  <a:pt x="1426325" y="1181262"/>
                </a:lnTo>
                <a:lnTo>
                  <a:pt x="1464406" y="1152954"/>
                </a:lnTo>
                <a:lnTo>
                  <a:pt x="1500620" y="1124174"/>
                </a:lnTo>
                <a:lnTo>
                  <a:pt x="1534810" y="1094993"/>
                </a:lnTo>
                <a:lnTo>
                  <a:pt x="1574391" y="1057587"/>
                </a:lnTo>
                <a:lnTo>
                  <a:pt x="1611649" y="1017885"/>
                </a:lnTo>
                <a:lnTo>
                  <a:pt x="1646671" y="976257"/>
                </a:lnTo>
                <a:lnTo>
                  <a:pt x="1679544" y="933070"/>
                </a:lnTo>
                <a:lnTo>
                  <a:pt x="1710353" y="888692"/>
                </a:lnTo>
                <a:lnTo>
                  <a:pt x="1739185" y="843491"/>
                </a:lnTo>
                <a:lnTo>
                  <a:pt x="1766126" y="797837"/>
                </a:lnTo>
                <a:lnTo>
                  <a:pt x="1791262" y="752096"/>
                </a:lnTo>
                <a:lnTo>
                  <a:pt x="1814679" y="706637"/>
                </a:lnTo>
                <a:lnTo>
                  <a:pt x="1836463" y="661829"/>
                </a:lnTo>
                <a:lnTo>
                  <a:pt x="1856700" y="618040"/>
                </a:lnTo>
                <a:lnTo>
                  <a:pt x="1875478" y="575637"/>
                </a:lnTo>
                <a:lnTo>
                  <a:pt x="1892881" y="534989"/>
                </a:lnTo>
                <a:lnTo>
                  <a:pt x="1912295" y="482436"/>
                </a:lnTo>
                <a:lnTo>
                  <a:pt x="1927411" y="428513"/>
                </a:lnTo>
                <a:lnTo>
                  <a:pt x="1938854" y="374199"/>
                </a:lnTo>
                <a:lnTo>
                  <a:pt x="1947250" y="320471"/>
                </a:lnTo>
                <a:lnTo>
                  <a:pt x="1953222" y="268310"/>
                </a:lnTo>
                <a:lnTo>
                  <a:pt x="1957395" y="218693"/>
                </a:lnTo>
                <a:lnTo>
                  <a:pt x="1960395" y="172599"/>
                </a:lnTo>
                <a:lnTo>
                  <a:pt x="1962846" y="131007"/>
                </a:lnTo>
                <a:lnTo>
                  <a:pt x="1965373" y="94895"/>
                </a:lnTo>
                <a:lnTo>
                  <a:pt x="1968601" y="65242"/>
                </a:lnTo>
                <a:lnTo>
                  <a:pt x="1974812" y="17941"/>
                </a:lnTo>
                <a:lnTo>
                  <a:pt x="1975699" y="0"/>
                </a:lnTo>
                <a:lnTo>
                  <a:pt x="1973037" y="1631"/>
                </a:lnTo>
                <a:lnTo>
                  <a:pt x="1968601" y="13048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6AB28A9-1429-7F1D-CA25-F790E5A5204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DF86B306-541E-A0DF-AEF1-C108670DA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072" y="4995164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19800" y="4572001"/>
            <a:ext cx="287020" cy="344805"/>
            <a:chOff x="4495800" y="4572000"/>
            <a:chExt cx="287020" cy="344805"/>
          </a:xfrm>
        </p:grpSpPr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95800" y="4572000"/>
              <a:ext cx="152400" cy="207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62856" y="4639056"/>
              <a:ext cx="152400" cy="2103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629912" y="4709160"/>
              <a:ext cx="152400" cy="207263"/>
            </a:xfrm>
            <a:prstGeom prst="rect">
              <a:avLst/>
            </a:prstGeom>
          </p:spPr>
        </p:pic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9D21E07D-6947-01C7-FD86-5DD78272C61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1" name="Slide Number Placeholder 4">
            <a:extLst>
              <a:ext uri="{FF2B5EF4-FFF2-40B4-BE49-F238E27FC236}">
                <a16:creationId xmlns:a16="http://schemas.microsoft.com/office/drawing/2014/main" id="{79AD6195-4F90-FAB2-28E2-75BAC743C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399030" cy="1325880"/>
            <a:chOff x="1048511" y="1770888"/>
            <a:chExt cx="2399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1072" y="5004308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grpSp>
        <p:nvGrpSpPr>
          <p:cNvPr id="10" name="object 10"/>
          <p:cNvGrpSpPr/>
          <p:nvPr/>
        </p:nvGrpSpPr>
        <p:grpSpPr>
          <a:xfrm>
            <a:off x="4267200" y="2340864"/>
            <a:ext cx="1527810" cy="1834514"/>
            <a:chOff x="2743200" y="2340864"/>
            <a:chExt cx="1527810" cy="1834514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2456688"/>
              <a:ext cx="152400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2656" y="2523744"/>
              <a:ext cx="152400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9711" y="2593848"/>
              <a:ext cx="152400" cy="20726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76536" y="2971685"/>
              <a:ext cx="994410" cy="1203960"/>
            </a:xfrm>
            <a:custGeom>
              <a:avLst/>
              <a:gdLst/>
              <a:ahLst/>
              <a:cxnLst/>
              <a:rect l="l" t="t" r="r" b="b"/>
              <a:pathLst>
                <a:path w="994410" h="1203960">
                  <a:moveTo>
                    <a:pt x="52180" y="55733"/>
                  </a:moveTo>
                  <a:lnTo>
                    <a:pt x="44825" y="61802"/>
                  </a:lnTo>
                  <a:lnTo>
                    <a:pt x="987031" y="1203490"/>
                  </a:lnTo>
                  <a:lnTo>
                    <a:pt x="994384" y="1197432"/>
                  </a:lnTo>
                  <a:lnTo>
                    <a:pt x="52180" y="55733"/>
                  </a:lnTo>
                  <a:close/>
                </a:path>
                <a:path w="994410" h="1203960">
                  <a:moveTo>
                    <a:pt x="0" y="0"/>
                  </a:moveTo>
                  <a:lnTo>
                    <a:pt x="19113" y="83019"/>
                  </a:lnTo>
                  <a:lnTo>
                    <a:pt x="44825" y="61802"/>
                  </a:lnTo>
                  <a:lnTo>
                    <a:pt x="36741" y="52006"/>
                  </a:lnTo>
                  <a:lnTo>
                    <a:pt x="44094" y="45935"/>
                  </a:lnTo>
                  <a:lnTo>
                    <a:pt x="64053" y="45935"/>
                  </a:lnTo>
                  <a:lnTo>
                    <a:pt x="77889" y="34518"/>
                  </a:lnTo>
                  <a:lnTo>
                    <a:pt x="0" y="0"/>
                  </a:lnTo>
                  <a:close/>
                </a:path>
                <a:path w="994410" h="1203960">
                  <a:moveTo>
                    <a:pt x="44094" y="45935"/>
                  </a:moveTo>
                  <a:lnTo>
                    <a:pt x="36741" y="52006"/>
                  </a:lnTo>
                  <a:lnTo>
                    <a:pt x="44825" y="61802"/>
                  </a:lnTo>
                  <a:lnTo>
                    <a:pt x="52180" y="55733"/>
                  </a:lnTo>
                  <a:lnTo>
                    <a:pt x="44094" y="45935"/>
                  </a:lnTo>
                  <a:close/>
                </a:path>
                <a:path w="994410" h="1203960">
                  <a:moveTo>
                    <a:pt x="64053" y="45935"/>
                  </a:moveTo>
                  <a:lnTo>
                    <a:pt x="44094" y="45935"/>
                  </a:lnTo>
                  <a:lnTo>
                    <a:pt x="52180" y="55733"/>
                  </a:lnTo>
                  <a:lnTo>
                    <a:pt x="64053" y="4593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7892377" y="3117596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317264" y="4180332"/>
            <a:ext cx="771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Dogspace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A23AEFA1-5E78-20B0-397C-C4A76869E85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3" name="Slide Number Placeholder 4">
            <a:extLst>
              <a:ext uri="{FF2B5EF4-FFF2-40B4-BE49-F238E27FC236}">
                <a16:creationId xmlns:a16="http://schemas.microsoft.com/office/drawing/2014/main" id="{F4C1809B-66D3-9EDA-AE31-53456C0ED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399030" cy="1325880"/>
            <a:chOff x="1048511" y="1770888"/>
            <a:chExt cx="2399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1072" y="5004308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7201" y="2340864"/>
            <a:ext cx="1757045" cy="1833880"/>
            <a:chOff x="2743200" y="2340864"/>
            <a:chExt cx="1757045" cy="183388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2456688"/>
              <a:ext cx="152400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2656" y="2523744"/>
              <a:ext cx="152400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9711" y="2593848"/>
              <a:ext cx="152400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2511552"/>
              <a:ext cx="152400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9855" y="2581656"/>
              <a:ext cx="152400" cy="207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6912" y="2648712"/>
              <a:ext cx="152400" cy="21031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733800" y="2971685"/>
              <a:ext cx="766445" cy="1203325"/>
            </a:xfrm>
            <a:custGeom>
              <a:avLst/>
              <a:gdLst/>
              <a:ahLst/>
              <a:cxnLst/>
              <a:rect l="l" t="t" r="r" b="b"/>
              <a:pathLst>
                <a:path w="766445" h="1203325">
                  <a:moveTo>
                    <a:pt x="44854" y="61774"/>
                  </a:moveTo>
                  <a:lnTo>
                    <a:pt x="36814" y="66879"/>
                  </a:lnTo>
                  <a:lnTo>
                    <a:pt x="758024" y="1203007"/>
                  </a:lnTo>
                  <a:lnTo>
                    <a:pt x="766063" y="1197902"/>
                  </a:lnTo>
                  <a:lnTo>
                    <a:pt x="44854" y="61774"/>
                  </a:lnTo>
                  <a:close/>
                </a:path>
                <a:path w="766445" h="1203325">
                  <a:moveTo>
                    <a:pt x="0" y="0"/>
                  </a:moveTo>
                  <a:lnTo>
                    <a:pt x="8674" y="84747"/>
                  </a:lnTo>
                  <a:lnTo>
                    <a:pt x="36814" y="66879"/>
                  </a:lnTo>
                  <a:lnTo>
                    <a:pt x="30010" y="56159"/>
                  </a:lnTo>
                  <a:lnTo>
                    <a:pt x="38049" y="51054"/>
                  </a:lnTo>
                  <a:lnTo>
                    <a:pt x="61738" y="51054"/>
                  </a:lnTo>
                  <a:lnTo>
                    <a:pt x="72999" y="43903"/>
                  </a:lnTo>
                  <a:lnTo>
                    <a:pt x="0" y="0"/>
                  </a:lnTo>
                  <a:close/>
                </a:path>
                <a:path w="766445" h="1203325">
                  <a:moveTo>
                    <a:pt x="38049" y="51054"/>
                  </a:moveTo>
                  <a:lnTo>
                    <a:pt x="30010" y="56159"/>
                  </a:lnTo>
                  <a:lnTo>
                    <a:pt x="36814" y="66879"/>
                  </a:lnTo>
                  <a:lnTo>
                    <a:pt x="44854" y="61774"/>
                  </a:lnTo>
                  <a:lnTo>
                    <a:pt x="38049" y="51054"/>
                  </a:lnTo>
                  <a:close/>
                </a:path>
                <a:path w="766445" h="1203325">
                  <a:moveTo>
                    <a:pt x="61738" y="51054"/>
                  </a:moveTo>
                  <a:lnTo>
                    <a:pt x="38049" y="51054"/>
                  </a:lnTo>
                  <a:lnTo>
                    <a:pt x="44854" y="61774"/>
                  </a:lnTo>
                  <a:lnTo>
                    <a:pt x="61738" y="5105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7892377" y="3117596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01440" y="4180332"/>
            <a:ext cx="771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Dogspace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59687" y="4180332"/>
            <a:ext cx="736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4F393307-D6B5-CC74-40FD-3C54B8EAF04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393194C6-B465-BBFF-4BFC-A99792C0F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780030" cy="1325880"/>
            <a:chOff x="1048511" y="1770888"/>
            <a:chExt cx="2780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2456688"/>
              <a:ext cx="152400" cy="207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2655" y="2523744"/>
              <a:ext cx="152400" cy="2103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9711" y="2593848"/>
              <a:ext cx="152400" cy="2072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2511552"/>
              <a:ext cx="152400" cy="2103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9855" y="2581656"/>
              <a:ext cx="152400" cy="207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6911" y="2648712"/>
              <a:ext cx="152400" cy="2103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4371264" y="4525320"/>
            <a:ext cx="2761615" cy="7696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12700">
              <a:spcBef>
                <a:spcPts val="980"/>
              </a:spcBef>
            </a:pPr>
            <a:r>
              <a:rPr sz="1400" spc="-10" dirty="0">
                <a:solidFill>
                  <a:srgbClr val="0095D3"/>
                </a:solidFill>
                <a:latin typeface="Book Antiqua"/>
                <a:cs typeface="Book Antiqua"/>
              </a:rPr>
              <a:t>DogFlix</a:t>
            </a:r>
            <a:endParaRPr sz="1400">
              <a:latin typeface="Book Antiqua"/>
              <a:cs typeface="Book Antiqua"/>
            </a:endParaRPr>
          </a:p>
          <a:p>
            <a:pPr marL="1012190">
              <a:spcBef>
                <a:spcPts val="114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9076944" y="2340864"/>
            <a:ext cx="429895" cy="554990"/>
            <a:chOff x="7552943" y="2340864"/>
            <a:chExt cx="429895" cy="554990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9838943" y="2340864"/>
            <a:ext cx="313944" cy="554736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01440" y="4180332"/>
            <a:ext cx="771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Dogspace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359687" y="4180332"/>
            <a:ext cx="736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551321" y="3425050"/>
            <a:ext cx="1678939" cy="751840"/>
          </a:xfrm>
          <a:custGeom>
            <a:avLst/>
            <a:gdLst/>
            <a:ahLst/>
            <a:cxnLst/>
            <a:rect l="l" t="t" r="r" b="b"/>
            <a:pathLst>
              <a:path w="1678940" h="751839">
                <a:moveTo>
                  <a:pt x="1606806" y="30480"/>
                </a:moveTo>
                <a:lnTo>
                  <a:pt x="0" y="742734"/>
                </a:lnTo>
                <a:lnTo>
                  <a:pt x="3860" y="751446"/>
                </a:lnTo>
                <a:lnTo>
                  <a:pt x="1610664" y="39181"/>
                </a:lnTo>
                <a:lnTo>
                  <a:pt x="1606806" y="30480"/>
                </a:lnTo>
                <a:close/>
              </a:path>
              <a:path w="1678940" h="751839">
                <a:moveTo>
                  <a:pt x="1660747" y="25336"/>
                </a:moveTo>
                <a:lnTo>
                  <a:pt x="1618411" y="25336"/>
                </a:lnTo>
                <a:lnTo>
                  <a:pt x="1622272" y="34036"/>
                </a:lnTo>
                <a:lnTo>
                  <a:pt x="1610664" y="39181"/>
                </a:lnTo>
                <a:lnTo>
                  <a:pt x="1624177" y="69659"/>
                </a:lnTo>
                <a:lnTo>
                  <a:pt x="1660747" y="25336"/>
                </a:lnTo>
                <a:close/>
              </a:path>
              <a:path w="1678940" h="751839">
                <a:moveTo>
                  <a:pt x="1618411" y="25336"/>
                </a:moveTo>
                <a:lnTo>
                  <a:pt x="1606806" y="30480"/>
                </a:lnTo>
                <a:lnTo>
                  <a:pt x="1610664" y="39181"/>
                </a:lnTo>
                <a:lnTo>
                  <a:pt x="1622272" y="34036"/>
                </a:lnTo>
                <a:lnTo>
                  <a:pt x="1618411" y="25336"/>
                </a:lnTo>
                <a:close/>
              </a:path>
              <a:path w="1678940" h="751839">
                <a:moveTo>
                  <a:pt x="1593291" y="0"/>
                </a:moveTo>
                <a:lnTo>
                  <a:pt x="1606806" y="30480"/>
                </a:lnTo>
                <a:lnTo>
                  <a:pt x="1618411" y="25336"/>
                </a:lnTo>
                <a:lnTo>
                  <a:pt x="1660747" y="25336"/>
                </a:lnTo>
                <a:lnTo>
                  <a:pt x="1678393" y="3949"/>
                </a:lnTo>
                <a:lnTo>
                  <a:pt x="15932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3E2074F1-7953-7CC6-5F05-F2ABAF76B00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0" name="Slide Number Placeholder 4">
            <a:extLst>
              <a:ext uri="{FF2B5EF4-FFF2-40B4-BE49-F238E27FC236}">
                <a16:creationId xmlns:a16="http://schemas.microsoft.com/office/drawing/2014/main" id="{5341C47F-6FE0-3700-9D9C-6BECFB58C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780030" cy="1325880"/>
            <a:chOff x="1048511" y="1770888"/>
            <a:chExt cx="2780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2456688"/>
              <a:ext cx="152400" cy="207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2655" y="2523744"/>
              <a:ext cx="152400" cy="2103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9711" y="2593848"/>
              <a:ext cx="152400" cy="2072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2511552"/>
              <a:ext cx="152400" cy="2103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9855" y="2581656"/>
              <a:ext cx="152400" cy="207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6911" y="2648712"/>
              <a:ext cx="152400" cy="2103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5371072" y="4995164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9076944" y="2340864"/>
            <a:ext cx="429895" cy="554990"/>
            <a:chOff x="7552943" y="2340864"/>
            <a:chExt cx="429895" cy="554990"/>
          </a:xfrm>
        </p:grpSpPr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58120" y="4180332"/>
            <a:ext cx="771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Dogspace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359687" y="4180332"/>
            <a:ext cx="736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71263" y="4637532"/>
            <a:ext cx="6337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DogFlix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51953" y="4637532"/>
            <a:ext cx="4197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627965" y="3416566"/>
            <a:ext cx="2440305" cy="817880"/>
          </a:xfrm>
          <a:custGeom>
            <a:avLst/>
            <a:gdLst/>
            <a:ahLst/>
            <a:cxnLst/>
            <a:rect l="l" t="t" r="r" b="b"/>
            <a:pathLst>
              <a:path w="2440304" h="817879">
                <a:moveTo>
                  <a:pt x="2366106" y="31672"/>
                </a:moveTo>
                <a:lnTo>
                  <a:pt x="0" y="808215"/>
                </a:lnTo>
                <a:lnTo>
                  <a:pt x="2971" y="817270"/>
                </a:lnTo>
                <a:lnTo>
                  <a:pt x="2369078" y="40727"/>
                </a:lnTo>
                <a:lnTo>
                  <a:pt x="2366106" y="31672"/>
                </a:lnTo>
                <a:close/>
              </a:path>
              <a:path w="2440304" h="817879">
                <a:moveTo>
                  <a:pt x="2424576" y="27711"/>
                </a:moveTo>
                <a:lnTo>
                  <a:pt x="2378176" y="27711"/>
                </a:lnTo>
                <a:lnTo>
                  <a:pt x="2381148" y="36766"/>
                </a:lnTo>
                <a:lnTo>
                  <a:pt x="2369078" y="40727"/>
                </a:lnTo>
                <a:lnTo>
                  <a:pt x="2379471" y="72389"/>
                </a:lnTo>
                <a:lnTo>
                  <a:pt x="2424576" y="27711"/>
                </a:lnTo>
                <a:close/>
              </a:path>
              <a:path w="2440304" h="817879">
                <a:moveTo>
                  <a:pt x="2378176" y="27711"/>
                </a:moveTo>
                <a:lnTo>
                  <a:pt x="2366106" y="31672"/>
                </a:lnTo>
                <a:lnTo>
                  <a:pt x="2369078" y="40727"/>
                </a:lnTo>
                <a:lnTo>
                  <a:pt x="2381148" y="36766"/>
                </a:lnTo>
                <a:lnTo>
                  <a:pt x="2378176" y="27711"/>
                </a:lnTo>
                <a:close/>
              </a:path>
              <a:path w="2440304" h="817879">
                <a:moveTo>
                  <a:pt x="2355710" y="0"/>
                </a:moveTo>
                <a:lnTo>
                  <a:pt x="2366106" y="31672"/>
                </a:lnTo>
                <a:lnTo>
                  <a:pt x="2378176" y="27711"/>
                </a:lnTo>
                <a:lnTo>
                  <a:pt x="2424576" y="27711"/>
                </a:lnTo>
                <a:lnTo>
                  <a:pt x="2440000" y="12433"/>
                </a:lnTo>
                <a:lnTo>
                  <a:pt x="235571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Title 1">
            <a:extLst>
              <a:ext uri="{FF2B5EF4-FFF2-40B4-BE49-F238E27FC236}">
                <a16:creationId xmlns:a16="http://schemas.microsoft.com/office/drawing/2014/main" id="{53E6C21A-0CB4-6B7F-9224-2647859A9C7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6" name="Slide Number Placeholder 4">
            <a:extLst>
              <a:ext uri="{FF2B5EF4-FFF2-40B4-BE49-F238E27FC236}">
                <a16:creationId xmlns:a16="http://schemas.microsoft.com/office/drawing/2014/main" id="{018B3F1B-EDAD-B200-C51A-14503D35D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780030" cy="1325880"/>
            <a:chOff x="1048511" y="1770888"/>
            <a:chExt cx="2780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95600" y="2456688"/>
              <a:ext cx="152400" cy="20726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62655" y="2523744"/>
              <a:ext cx="152400" cy="21031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029711" y="2593848"/>
              <a:ext cx="152400" cy="20726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352800" y="2511552"/>
              <a:ext cx="152400" cy="2103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419855" y="2581656"/>
              <a:ext cx="152400" cy="20726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486911" y="2648712"/>
              <a:ext cx="152400" cy="21031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19400" y="2456688"/>
              <a:ext cx="612648" cy="46024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371072" y="4995164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9076944" y="2340864"/>
            <a:ext cx="429895" cy="554990"/>
            <a:chOff x="7552943" y="2340864"/>
            <a:chExt cx="429895" cy="554990"/>
          </a:xfrm>
        </p:grpSpPr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17264" y="4180332"/>
            <a:ext cx="77152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Dogspace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359687" y="4180332"/>
            <a:ext cx="736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371263" y="4637532"/>
            <a:ext cx="6337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DogFlix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62088" y="4637532"/>
            <a:ext cx="4197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</p:txBody>
      </p:sp>
      <p:pic>
        <p:nvPicPr>
          <p:cNvPr id="34" name="object 34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419600" y="4114800"/>
            <a:ext cx="612648" cy="460248"/>
          </a:xfrm>
          <a:prstGeom prst="rect">
            <a:avLst/>
          </a:prstGeom>
        </p:spPr>
      </p:pic>
      <p:sp>
        <p:nvSpPr>
          <p:cNvPr id="36" name="Title 1">
            <a:extLst>
              <a:ext uri="{FF2B5EF4-FFF2-40B4-BE49-F238E27FC236}">
                <a16:creationId xmlns:a16="http://schemas.microsoft.com/office/drawing/2014/main" id="{31AE2702-C446-6EC9-0BC4-82B472AAE2C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7" name="Slide Number Placeholder 4">
            <a:extLst>
              <a:ext uri="{FF2B5EF4-FFF2-40B4-BE49-F238E27FC236}">
                <a16:creationId xmlns:a16="http://schemas.microsoft.com/office/drawing/2014/main" id="{D4CC457D-9F11-3696-1CD1-98C76284E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4657345" y="2340864"/>
            <a:ext cx="832485" cy="631190"/>
            <a:chOff x="3133344" y="2340864"/>
            <a:chExt cx="832485" cy="63119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352800" y="2511552"/>
              <a:ext cx="152400" cy="2103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19856" y="2581656"/>
              <a:ext cx="152400" cy="207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86912" y="2648712"/>
              <a:ext cx="152400" cy="2103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52800" y="2511552"/>
              <a:ext cx="612648" cy="460248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371072" y="4995164"/>
            <a:ext cx="176148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9076944" y="2340864"/>
            <a:ext cx="429895" cy="554990"/>
            <a:chOff x="7552943" y="2340864"/>
            <a:chExt cx="429895" cy="55499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59687" y="4180332"/>
            <a:ext cx="7366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71263" y="4637532"/>
            <a:ext cx="63373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DogFlix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51953" y="4637532"/>
            <a:ext cx="419734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419600" y="4572000"/>
            <a:ext cx="612648" cy="460248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07433E3B-46B1-0F52-3634-A55A4B28E31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E3219317-0081-D01F-64AC-DED0C030D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072" y="4180332"/>
            <a:ext cx="2724785" cy="112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0885">
              <a:spcBef>
                <a:spcPts val="100"/>
              </a:spcBef>
            </a:pPr>
            <a:r>
              <a:rPr sz="1400" spc="-25" dirty="0">
                <a:solidFill>
                  <a:srgbClr val="0095D3"/>
                </a:solidFill>
                <a:latin typeface="Book Antiqua"/>
                <a:cs typeface="Book Antiqua"/>
              </a:rPr>
              <a:t>DogTube</a:t>
            </a:r>
            <a:endParaRPr sz="1400">
              <a:latin typeface="Book Antiqua"/>
              <a:cs typeface="Book Antiqua"/>
            </a:endParaRPr>
          </a:p>
          <a:p>
            <a:pPr>
              <a:spcBef>
                <a:spcPts val="180"/>
              </a:spcBef>
            </a:pPr>
            <a:endParaRPr sz="1400">
              <a:latin typeface="Book Antiqua"/>
              <a:cs typeface="Book Antiqua"/>
            </a:endParaRPr>
          </a:p>
          <a:p>
            <a:pPr marL="2091689"/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  <a:p>
            <a:pPr marL="12700">
              <a:spcBef>
                <a:spcPts val="1205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17596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067801" y="2340864"/>
            <a:ext cx="612775" cy="576580"/>
            <a:chOff x="7543800" y="2340864"/>
            <a:chExt cx="612775" cy="57658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2944" y="2340864"/>
              <a:ext cx="313944" cy="5547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6200" y="2456688"/>
              <a:ext cx="152400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3256" y="2523744"/>
              <a:ext cx="152400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543800" y="2456688"/>
              <a:ext cx="612648" cy="460248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7892377" y="3117596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467600" y="4114800"/>
            <a:ext cx="612648" cy="460248"/>
          </a:xfrm>
          <a:prstGeom prst="rect">
            <a:avLst/>
          </a:prstGeom>
        </p:spPr>
      </p:pic>
      <p:sp>
        <p:nvSpPr>
          <p:cNvPr id="26" name="Title 1">
            <a:extLst>
              <a:ext uri="{FF2B5EF4-FFF2-40B4-BE49-F238E27FC236}">
                <a16:creationId xmlns:a16="http://schemas.microsoft.com/office/drawing/2014/main" id="{A510AB78-1276-70DD-E2F8-C807B5914A8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D0D86B96-CD61-4B4D-1308-83A6098C5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072" y="4525320"/>
            <a:ext cx="2460625" cy="7696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R="5080" algn="r">
              <a:spcBef>
                <a:spcPts val="98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  <a:p>
            <a:pPr marL="12700">
              <a:spcBef>
                <a:spcPts val="114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076943" y="2340864"/>
            <a:ext cx="313944" cy="554736"/>
          </a:xfrm>
          <a:prstGeom prst="rect">
            <a:avLst/>
          </a:prstGeom>
        </p:spPr>
      </p:pic>
      <p:grpSp>
        <p:nvGrpSpPr>
          <p:cNvPr id="13" name="object 13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001000" y="4456176"/>
            <a:ext cx="694944" cy="551688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FC1EC4D3-6AD2-9FCA-FAF6-A4260B1A6F4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8B41FC30-F47F-D8DC-5B20-E6DE0F99D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072" y="4525320"/>
            <a:ext cx="2460625" cy="7696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R="5080" algn="r">
              <a:spcBef>
                <a:spcPts val="98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  <a:p>
            <a:pPr marL="12700">
              <a:spcBef>
                <a:spcPts val="114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076944" y="2340864"/>
            <a:ext cx="429895" cy="554990"/>
            <a:chOff x="7552943" y="2340864"/>
            <a:chExt cx="429895" cy="554990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9753601" y="2340864"/>
            <a:ext cx="399415" cy="554990"/>
            <a:chOff x="8229600" y="2340864"/>
            <a:chExt cx="399415" cy="554990"/>
          </a:xfrm>
        </p:grpSpPr>
        <p:pic>
          <p:nvPicPr>
            <p:cNvPr id="18" name="object 1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23" name="object 2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001000" y="4456176"/>
            <a:ext cx="694944" cy="551688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18E3A0F-70EA-01EF-7271-3A293662F25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26" name="Slide Number Placeholder 4">
            <a:extLst>
              <a:ext uri="{FF2B5EF4-FFF2-40B4-BE49-F238E27FC236}">
                <a16:creationId xmlns:a16="http://schemas.microsoft.com/office/drawing/2014/main" id="{7089393C-276C-9BED-AD6C-DC2EEF3F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71071" y="4525320"/>
            <a:ext cx="2495550" cy="7696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R="5080" algn="r">
              <a:spcBef>
                <a:spcPts val="98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  <a:p>
            <a:pPr marL="12700">
              <a:spcBef>
                <a:spcPts val="114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572511" y="1770888"/>
            <a:ext cx="2018030" cy="1325880"/>
            <a:chOff x="1048511" y="1770888"/>
            <a:chExt cx="2018030" cy="1325880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038345" y="2340864"/>
            <a:ext cx="313943" cy="55473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9076944" y="1999489"/>
            <a:ext cx="429895" cy="1146175"/>
            <a:chOff x="7552943" y="1999488"/>
            <a:chExt cx="429895" cy="1146175"/>
          </a:xfrm>
        </p:grpSpPr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696199" y="2798064"/>
              <a:ext cx="152400" cy="2103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763255" y="2868168"/>
              <a:ext cx="152400" cy="20726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30311" y="2935224"/>
              <a:ext cx="152400" cy="21031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696199" y="1999488"/>
              <a:ext cx="152400" cy="2072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63255" y="2066544"/>
              <a:ext cx="152400" cy="21031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830311" y="2136648"/>
              <a:ext cx="152400" cy="207263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9753601" y="1999488"/>
            <a:ext cx="399415" cy="1201420"/>
            <a:chOff x="8229600" y="1999488"/>
            <a:chExt cx="399415" cy="1201420"/>
          </a:xfrm>
        </p:grpSpPr>
        <p:pic>
          <p:nvPicPr>
            <p:cNvPr id="24" name="object 2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29600" y="2855976"/>
              <a:ext cx="152400" cy="20726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8296656" y="2923032"/>
              <a:ext cx="152400" cy="2103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63712" y="2993136"/>
              <a:ext cx="152400" cy="20726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229600" y="1999488"/>
              <a:ext cx="152400" cy="2072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296656" y="2066544"/>
              <a:ext cx="152400" cy="2103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63712" y="2136648"/>
              <a:ext cx="152400" cy="207263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8001000" y="4456176"/>
            <a:ext cx="694944" cy="551688"/>
          </a:xfrm>
          <a:prstGeom prst="rect">
            <a:avLst/>
          </a:prstGeom>
        </p:spPr>
      </p:pic>
      <p:sp>
        <p:nvSpPr>
          <p:cNvPr id="37" name="Title 1">
            <a:extLst>
              <a:ext uri="{FF2B5EF4-FFF2-40B4-BE49-F238E27FC236}">
                <a16:creationId xmlns:a16="http://schemas.microsoft.com/office/drawing/2014/main" id="{73242986-D3AB-274C-5BF6-7FFEFC9B252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3C3C4D47-6802-C312-74F4-D1BD22DA1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5000" y="4315967"/>
            <a:ext cx="993648" cy="64008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72511" y="1770888"/>
            <a:ext cx="2399030" cy="1325880"/>
            <a:chOff x="1048511" y="1770888"/>
            <a:chExt cx="2399030" cy="1325880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33344" y="2340864"/>
              <a:ext cx="313944" cy="55473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8511" y="1770888"/>
              <a:ext cx="2002536" cy="1325880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71071" y="4525320"/>
            <a:ext cx="2542540" cy="769620"/>
          </a:xfrm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R="5080" algn="r">
              <a:spcBef>
                <a:spcPts val="980"/>
              </a:spcBef>
            </a:pPr>
            <a:r>
              <a:rPr sz="1400" spc="-20" dirty="0">
                <a:solidFill>
                  <a:srgbClr val="0095D3"/>
                </a:solidFill>
                <a:latin typeface="Book Antiqua"/>
                <a:cs typeface="Book Antiqua"/>
              </a:rPr>
              <a:t>dBay</a:t>
            </a:r>
            <a:endParaRPr sz="1400">
              <a:latin typeface="Book Antiqua"/>
              <a:cs typeface="Book Antiqua"/>
            </a:endParaRPr>
          </a:p>
          <a:p>
            <a:pPr marL="12700">
              <a:spcBef>
                <a:spcPts val="114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Snoopy’s</a:t>
            </a:r>
            <a:r>
              <a:rPr spc="-10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Startup</a:t>
            </a:r>
            <a:endParaRPr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67201" y="1984248"/>
            <a:ext cx="1085215" cy="1201420"/>
            <a:chOff x="2743200" y="1984248"/>
            <a:chExt cx="1085215" cy="1201420"/>
          </a:xfrm>
        </p:grpSpPr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14344" y="2340864"/>
              <a:ext cx="313943" cy="55473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401568" y="2441448"/>
              <a:ext cx="155448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468623" y="2508504"/>
              <a:ext cx="155448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38727" y="2578608"/>
              <a:ext cx="152400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68168" y="2441448"/>
              <a:ext cx="155448" cy="20726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5223" y="2508504"/>
              <a:ext cx="155448" cy="21031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05327" y="2578608"/>
              <a:ext cx="152400" cy="207263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68168" y="2782824"/>
              <a:ext cx="155448" cy="21031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935223" y="2852928"/>
              <a:ext cx="155448" cy="207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05327" y="2919984"/>
              <a:ext cx="152400" cy="2103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01568" y="2840736"/>
              <a:ext cx="155448" cy="2072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68623" y="2907792"/>
              <a:ext cx="155448" cy="210312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38727" y="2977896"/>
              <a:ext cx="152400" cy="2072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68168" y="1984248"/>
              <a:ext cx="155448" cy="2072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935223" y="2051304"/>
              <a:ext cx="155448" cy="21031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05327" y="2121408"/>
              <a:ext cx="152400" cy="2072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01568" y="1984248"/>
              <a:ext cx="155448" cy="20726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468623" y="2051304"/>
              <a:ext cx="155448" cy="2103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538727" y="2121408"/>
              <a:ext cx="152400" cy="207263"/>
            </a:xfrm>
            <a:prstGeom prst="rect">
              <a:avLst/>
            </a:prstGeom>
          </p:spPr>
        </p:pic>
      </p:grpSp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9076944" y="1999489"/>
            <a:ext cx="429895" cy="1146175"/>
            <a:chOff x="7552943" y="1999488"/>
            <a:chExt cx="429895" cy="1146175"/>
          </a:xfrm>
        </p:grpSpPr>
        <p:pic>
          <p:nvPicPr>
            <p:cNvPr id="32" name="object 3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696199" y="2798064"/>
              <a:ext cx="152400" cy="2103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763255" y="2868168"/>
              <a:ext cx="152400" cy="20726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830311" y="2935224"/>
              <a:ext cx="152400" cy="2103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696199" y="1999488"/>
              <a:ext cx="152400" cy="207263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763255" y="2066544"/>
              <a:ext cx="152400" cy="210312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830311" y="2136648"/>
              <a:ext cx="152400" cy="207263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9753601" y="1999488"/>
            <a:ext cx="399415" cy="1201420"/>
            <a:chOff x="8229600" y="1999488"/>
            <a:chExt cx="399415" cy="1201420"/>
          </a:xfrm>
        </p:grpSpPr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229600" y="2855976"/>
              <a:ext cx="152400" cy="20726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296656" y="2923032"/>
              <a:ext cx="152400" cy="21031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363712" y="2993136"/>
              <a:ext cx="152400" cy="207263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229600" y="1999488"/>
              <a:ext cx="152400" cy="20726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296656" y="2066544"/>
              <a:ext cx="152400" cy="21031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8363712" y="2136648"/>
              <a:ext cx="152400" cy="207263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8001000" y="4456176"/>
            <a:ext cx="694944" cy="551688"/>
          </a:xfrm>
          <a:prstGeom prst="rect">
            <a:avLst/>
          </a:prstGeom>
        </p:spPr>
      </p:pic>
      <p:sp>
        <p:nvSpPr>
          <p:cNvPr id="56" name="Title 1">
            <a:extLst>
              <a:ext uri="{FF2B5EF4-FFF2-40B4-BE49-F238E27FC236}">
                <a16:creationId xmlns:a16="http://schemas.microsoft.com/office/drawing/2014/main" id="{81002032-B714-5C8E-1E37-FA16BC16D1C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57" name="Slide Number Placeholder 4">
            <a:extLst>
              <a:ext uri="{FF2B5EF4-FFF2-40B4-BE49-F238E27FC236}">
                <a16:creationId xmlns:a16="http://schemas.microsoft.com/office/drawing/2014/main" id="{CDAFE803-9A83-C139-19E7-33374F891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57943" y="2340864"/>
            <a:ext cx="313944" cy="55473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7344" y="2340864"/>
            <a:ext cx="313944" cy="55473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572511" y="1770888"/>
            <a:ext cx="2002536" cy="132588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267215" y="3108452"/>
            <a:ext cx="12706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it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R</a:t>
            </a:r>
            <a:r>
              <a:rPr spc="-10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5" dirty="0">
                <a:solidFill>
                  <a:srgbClr val="0095D3"/>
                </a:solidFill>
                <a:latin typeface="Arial"/>
                <a:cs typeface="Arial"/>
              </a:rPr>
              <a:t>us.</a:t>
            </a:r>
            <a:endParaRPr>
              <a:latin typeface="Arial"/>
              <a:cs typeface="Arial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67201" y="1984249"/>
            <a:ext cx="414655" cy="1146175"/>
            <a:chOff x="2743200" y="1984248"/>
            <a:chExt cx="414655" cy="1146175"/>
          </a:xfrm>
        </p:grpSpPr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43200" y="2340864"/>
              <a:ext cx="323088" cy="55473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8168" y="2441448"/>
              <a:ext cx="155448" cy="20726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35223" y="2508504"/>
              <a:ext cx="155448" cy="21031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05327" y="2578608"/>
              <a:ext cx="152400" cy="20726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68168" y="2782824"/>
              <a:ext cx="155448" cy="21031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35223" y="2852928"/>
              <a:ext cx="155448" cy="2072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005327" y="2919984"/>
              <a:ext cx="152400" cy="21031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68168" y="1984248"/>
              <a:ext cx="155448" cy="207263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935223" y="2051304"/>
              <a:ext cx="155448" cy="2103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05327" y="2121408"/>
              <a:ext cx="152400" cy="207263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4925567" y="1984248"/>
            <a:ext cx="426720" cy="1201420"/>
            <a:chOff x="3401567" y="1984248"/>
            <a:chExt cx="426720" cy="1201420"/>
          </a:xfrm>
        </p:grpSpPr>
        <p:pic>
          <p:nvPicPr>
            <p:cNvPr id="18" name="object 1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14343" y="2340864"/>
              <a:ext cx="313943" cy="554736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401567" y="2441448"/>
              <a:ext cx="155448" cy="20726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468623" y="2508504"/>
              <a:ext cx="155448" cy="210312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538727" y="2578608"/>
              <a:ext cx="152400" cy="20726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401567" y="2840736"/>
              <a:ext cx="155448" cy="2072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468623" y="2907792"/>
              <a:ext cx="155448" cy="2103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538727" y="2977896"/>
              <a:ext cx="152400" cy="207263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401567" y="1984248"/>
              <a:ext cx="155448" cy="207263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68623" y="2051304"/>
              <a:ext cx="155448" cy="2103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538727" y="2121408"/>
              <a:ext cx="152400" cy="207263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086600" y="1655064"/>
            <a:ext cx="1908048" cy="1392936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9076944" y="1999489"/>
            <a:ext cx="429895" cy="1146175"/>
            <a:chOff x="7552943" y="1999488"/>
            <a:chExt cx="429895" cy="1146175"/>
          </a:xfrm>
        </p:grpSpPr>
        <p:pic>
          <p:nvPicPr>
            <p:cNvPr id="30" name="object 3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552943" y="2340864"/>
              <a:ext cx="313944" cy="55473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696199" y="2456688"/>
              <a:ext cx="152400" cy="20726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763255" y="2523744"/>
              <a:ext cx="152400" cy="21031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830311" y="2593848"/>
              <a:ext cx="152400" cy="20726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696199" y="2798064"/>
              <a:ext cx="152400" cy="210312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763255" y="2868168"/>
              <a:ext cx="152400" cy="20726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830311" y="2935224"/>
              <a:ext cx="152400" cy="21031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696199" y="1999488"/>
              <a:ext cx="152400" cy="20726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763255" y="2066544"/>
              <a:ext cx="152400" cy="210312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830311" y="2136648"/>
              <a:ext cx="152400" cy="207263"/>
            </a:xfrm>
            <a:prstGeom prst="rect">
              <a:avLst/>
            </a:prstGeom>
          </p:spPr>
        </p:pic>
      </p:grpSp>
      <p:grpSp>
        <p:nvGrpSpPr>
          <p:cNvPr id="40" name="object 40"/>
          <p:cNvGrpSpPr/>
          <p:nvPr/>
        </p:nvGrpSpPr>
        <p:grpSpPr>
          <a:xfrm>
            <a:off x="9753601" y="1999488"/>
            <a:ext cx="399415" cy="1201420"/>
            <a:chOff x="8229600" y="1999488"/>
            <a:chExt cx="399415" cy="1201420"/>
          </a:xfrm>
        </p:grpSpPr>
        <p:pic>
          <p:nvPicPr>
            <p:cNvPr id="41" name="object 4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314943" y="2340864"/>
              <a:ext cx="313944" cy="554736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229600" y="2456688"/>
              <a:ext cx="152400" cy="207263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8296656" y="2523744"/>
              <a:ext cx="152400" cy="21031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363712" y="2593848"/>
              <a:ext cx="152400" cy="20726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229600" y="2855976"/>
              <a:ext cx="152400" cy="20726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8296656" y="2923032"/>
              <a:ext cx="152400" cy="210312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8363712" y="2993136"/>
              <a:ext cx="152400" cy="20726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229600" y="1999488"/>
              <a:ext cx="152400" cy="20726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8296656" y="2066544"/>
              <a:ext cx="152400" cy="21031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363712" y="2136648"/>
              <a:ext cx="152400" cy="207263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7892377" y="3108452"/>
            <a:ext cx="1232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Host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dirty="0">
                <a:solidFill>
                  <a:srgbClr val="0095D3"/>
                </a:solidFill>
                <a:latin typeface="Arial"/>
                <a:cs typeface="Arial"/>
              </a:rPr>
              <a:t>4</a:t>
            </a:r>
            <a:r>
              <a:rPr spc="-15" dirty="0">
                <a:solidFill>
                  <a:srgbClr val="0095D3"/>
                </a:solidFill>
                <a:latin typeface="Arial"/>
                <a:cs typeface="Arial"/>
              </a:rPr>
              <a:t> </a:t>
            </a:r>
            <a:r>
              <a:rPr spc="-20" dirty="0">
                <a:solidFill>
                  <a:srgbClr val="0095D3"/>
                </a:solidFill>
                <a:latin typeface="Arial"/>
                <a:cs typeface="Arial"/>
              </a:rPr>
              <a:t>Less</a:t>
            </a:r>
            <a:endParaRPr>
              <a:latin typeface="Arial"/>
              <a:cs typeface="Arial"/>
            </a:endParaRPr>
          </a:p>
        </p:txBody>
      </p:sp>
      <p:pic>
        <p:nvPicPr>
          <p:cNvPr id="52" name="object 52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5736336" y="4285488"/>
            <a:ext cx="752855" cy="874776"/>
          </a:xfrm>
          <a:prstGeom prst="rect">
            <a:avLst/>
          </a:prstGeom>
        </p:spPr>
      </p:pic>
      <p:sp>
        <p:nvSpPr>
          <p:cNvPr id="54" name="Title 1">
            <a:extLst>
              <a:ext uri="{FF2B5EF4-FFF2-40B4-BE49-F238E27FC236}">
                <a16:creationId xmlns:a16="http://schemas.microsoft.com/office/drawing/2014/main" id="{3861D0AA-D447-9ED9-4751-087A6784CC2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Computing: A Case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55" name="Slide Number Placeholder 4">
            <a:extLst>
              <a:ext uri="{FF2B5EF4-FFF2-40B4-BE49-F238E27FC236}">
                <a16:creationId xmlns:a16="http://schemas.microsoft.com/office/drawing/2014/main" id="{48D9A2DB-86D2-B406-6339-F95B61A2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144512" y="2194561"/>
            <a:ext cx="2304415" cy="3020695"/>
            <a:chOff x="5620511" y="2194560"/>
            <a:chExt cx="2304415" cy="30206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46063" y="2194560"/>
              <a:ext cx="2078736" cy="156667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0511" y="3764280"/>
              <a:ext cx="752856" cy="75895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9943" y="3648456"/>
              <a:ext cx="804672" cy="81076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75959" y="4273295"/>
              <a:ext cx="1066799" cy="941832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33016" y="1923288"/>
            <a:ext cx="3285744" cy="3340608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804383" y="3501124"/>
            <a:ext cx="1078865" cy="422275"/>
          </a:xfrm>
          <a:custGeom>
            <a:avLst/>
            <a:gdLst/>
            <a:ahLst/>
            <a:cxnLst/>
            <a:rect l="l" t="t" r="r" b="b"/>
            <a:pathLst>
              <a:path w="1078864" h="422275">
                <a:moveTo>
                  <a:pt x="772299" y="0"/>
                </a:moveTo>
                <a:lnTo>
                  <a:pt x="775677" y="127381"/>
                </a:lnTo>
                <a:lnTo>
                  <a:pt x="0" y="147980"/>
                </a:lnTo>
                <a:lnTo>
                  <a:pt x="4444" y="315175"/>
                </a:lnTo>
                <a:lnTo>
                  <a:pt x="780122" y="294576"/>
                </a:lnTo>
                <a:lnTo>
                  <a:pt x="783501" y="421957"/>
                </a:lnTo>
                <a:lnTo>
                  <a:pt x="1078674" y="202996"/>
                </a:lnTo>
                <a:lnTo>
                  <a:pt x="772299" y="0"/>
                </a:lnTo>
                <a:close/>
              </a:path>
            </a:pathLst>
          </a:custGeom>
          <a:solidFill>
            <a:srgbClr val="D6D5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F383421-FCA2-1CF1-DB80-1C312562BC6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What We Want?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BAC97432-25BB-DB18-4149-DBB332624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88077" y="1438933"/>
            <a:ext cx="2838450" cy="1725295"/>
            <a:chOff x="764077" y="1438932"/>
            <a:chExt cx="2838450" cy="1725295"/>
          </a:xfrm>
        </p:grpSpPr>
        <p:sp>
          <p:nvSpPr>
            <p:cNvPr id="3" name="object 3"/>
            <p:cNvSpPr/>
            <p:nvPr/>
          </p:nvSpPr>
          <p:spPr>
            <a:xfrm>
              <a:off x="765663" y="1440497"/>
              <a:ext cx="2835275" cy="1722120"/>
            </a:xfrm>
            <a:custGeom>
              <a:avLst/>
              <a:gdLst/>
              <a:ahLst/>
              <a:cxnLst/>
              <a:rect l="l" t="t" r="r" b="b"/>
              <a:pathLst>
                <a:path w="2835275" h="1722120">
                  <a:moveTo>
                    <a:pt x="1417364" y="0"/>
                  </a:moveTo>
                  <a:lnTo>
                    <a:pt x="1357452" y="764"/>
                  </a:lnTo>
                  <a:lnTo>
                    <a:pt x="1298173" y="3019"/>
                  </a:lnTo>
                  <a:lnTo>
                    <a:pt x="1239578" y="6734"/>
                  </a:lnTo>
                  <a:lnTo>
                    <a:pt x="1181714" y="11879"/>
                  </a:lnTo>
                  <a:lnTo>
                    <a:pt x="1124632" y="18424"/>
                  </a:lnTo>
                  <a:lnTo>
                    <a:pt x="1068380" y="26340"/>
                  </a:lnTo>
                  <a:lnTo>
                    <a:pt x="1013008" y="35596"/>
                  </a:lnTo>
                  <a:lnTo>
                    <a:pt x="958565" y="46164"/>
                  </a:lnTo>
                  <a:lnTo>
                    <a:pt x="905099" y="58012"/>
                  </a:lnTo>
                  <a:lnTo>
                    <a:pt x="852662" y="71111"/>
                  </a:lnTo>
                  <a:lnTo>
                    <a:pt x="801300" y="85431"/>
                  </a:lnTo>
                  <a:lnTo>
                    <a:pt x="751065" y="100943"/>
                  </a:lnTo>
                  <a:lnTo>
                    <a:pt x="702004" y="117616"/>
                  </a:lnTo>
                  <a:lnTo>
                    <a:pt x="654167" y="135421"/>
                  </a:lnTo>
                  <a:lnTo>
                    <a:pt x="607604" y="154327"/>
                  </a:lnTo>
                  <a:lnTo>
                    <a:pt x="562363" y="174305"/>
                  </a:lnTo>
                  <a:lnTo>
                    <a:pt x="518494" y="195325"/>
                  </a:lnTo>
                  <a:lnTo>
                    <a:pt x="476046" y="217357"/>
                  </a:lnTo>
                  <a:lnTo>
                    <a:pt x="435067" y="240371"/>
                  </a:lnTo>
                  <a:lnTo>
                    <a:pt x="395609" y="264338"/>
                  </a:lnTo>
                  <a:lnTo>
                    <a:pt x="357718" y="289227"/>
                  </a:lnTo>
                  <a:lnTo>
                    <a:pt x="321446" y="315009"/>
                  </a:lnTo>
                  <a:lnTo>
                    <a:pt x="286840" y="341653"/>
                  </a:lnTo>
                  <a:lnTo>
                    <a:pt x="253951" y="369130"/>
                  </a:lnTo>
                  <a:lnTo>
                    <a:pt x="222826" y="397410"/>
                  </a:lnTo>
                  <a:lnTo>
                    <a:pt x="193517" y="426464"/>
                  </a:lnTo>
                  <a:lnTo>
                    <a:pt x="166071" y="456260"/>
                  </a:lnTo>
                  <a:lnTo>
                    <a:pt x="140538" y="486770"/>
                  </a:lnTo>
                  <a:lnTo>
                    <a:pt x="116967" y="517964"/>
                  </a:lnTo>
                  <a:lnTo>
                    <a:pt x="95407" y="549811"/>
                  </a:lnTo>
                  <a:lnTo>
                    <a:pt x="58519" y="615346"/>
                  </a:lnTo>
                  <a:lnTo>
                    <a:pt x="30266" y="683138"/>
                  </a:lnTo>
                  <a:lnTo>
                    <a:pt x="11043" y="752947"/>
                  </a:lnTo>
                  <a:lnTo>
                    <a:pt x="1243" y="824534"/>
                  </a:lnTo>
                  <a:lnTo>
                    <a:pt x="0" y="860920"/>
                  </a:lnTo>
                  <a:lnTo>
                    <a:pt x="1243" y="897306"/>
                  </a:lnTo>
                  <a:lnTo>
                    <a:pt x="11043" y="968892"/>
                  </a:lnTo>
                  <a:lnTo>
                    <a:pt x="30267" y="1038701"/>
                  </a:lnTo>
                  <a:lnTo>
                    <a:pt x="58520" y="1106492"/>
                  </a:lnTo>
                  <a:lnTo>
                    <a:pt x="95409" y="1172026"/>
                  </a:lnTo>
                  <a:lnTo>
                    <a:pt x="116969" y="1203872"/>
                  </a:lnTo>
                  <a:lnTo>
                    <a:pt x="140541" y="1235064"/>
                  </a:lnTo>
                  <a:lnTo>
                    <a:pt x="166075" y="1265573"/>
                  </a:lnTo>
                  <a:lnTo>
                    <a:pt x="193522" y="1295368"/>
                  </a:lnTo>
                  <a:lnTo>
                    <a:pt x="222833" y="1324420"/>
                  </a:lnTo>
                  <a:lnTo>
                    <a:pt x="253959" y="1352698"/>
                  </a:lnTo>
                  <a:lnTo>
                    <a:pt x="286850" y="1380173"/>
                  </a:lnTo>
                  <a:lnTo>
                    <a:pt x="321457" y="1406815"/>
                  </a:lnTo>
                  <a:lnTo>
                    <a:pt x="357732" y="1432595"/>
                  </a:lnTo>
                  <a:lnTo>
                    <a:pt x="395625" y="1457481"/>
                  </a:lnTo>
                  <a:lnTo>
                    <a:pt x="435086" y="1481445"/>
                  </a:lnTo>
                  <a:lnTo>
                    <a:pt x="476067" y="1504456"/>
                  </a:lnTo>
                  <a:lnTo>
                    <a:pt x="518519" y="1526484"/>
                  </a:lnTo>
                  <a:lnTo>
                    <a:pt x="562392" y="1547501"/>
                  </a:lnTo>
                  <a:lnTo>
                    <a:pt x="607636" y="1567475"/>
                  </a:lnTo>
                  <a:lnTo>
                    <a:pt x="654204" y="1586377"/>
                  </a:lnTo>
                  <a:lnTo>
                    <a:pt x="702045" y="1604176"/>
                  </a:lnTo>
                  <a:lnTo>
                    <a:pt x="751111" y="1620845"/>
                  </a:lnTo>
                  <a:lnTo>
                    <a:pt x="801352" y="1636351"/>
                  </a:lnTo>
                  <a:lnTo>
                    <a:pt x="852719" y="1650666"/>
                  </a:lnTo>
                  <a:lnTo>
                    <a:pt x="905163" y="1663759"/>
                  </a:lnTo>
                  <a:lnTo>
                    <a:pt x="958635" y="1675601"/>
                  </a:lnTo>
                  <a:lnTo>
                    <a:pt x="1013085" y="1686161"/>
                  </a:lnTo>
                  <a:lnTo>
                    <a:pt x="1068464" y="1695411"/>
                  </a:lnTo>
                  <a:lnTo>
                    <a:pt x="1124724" y="1703319"/>
                  </a:lnTo>
                  <a:lnTo>
                    <a:pt x="1181815" y="1709857"/>
                  </a:lnTo>
                  <a:lnTo>
                    <a:pt x="1239687" y="1714994"/>
                  </a:lnTo>
                  <a:lnTo>
                    <a:pt x="1298292" y="1718700"/>
                  </a:lnTo>
                  <a:lnTo>
                    <a:pt x="1357581" y="1720945"/>
                  </a:lnTo>
                  <a:lnTo>
                    <a:pt x="1417504" y="1721700"/>
                  </a:lnTo>
                  <a:lnTo>
                    <a:pt x="1477414" y="1720945"/>
                  </a:lnTo>
                  <a:lnTo>
                    <a:pt x="1536691" y="1718700"/>
                  </a:lnTo>
                  <a:lnTo>
                    <a:pt x="1595286" y="1714994"/>
                  </a:lnTo>
                  <a:lnTo>
                    <a:pt x="1653149" y="1709857"/>
                  </a:lnTo>
                  <a:lnTo>
                    <a:pt x="1710232" y="1703319"/>
                  </a:lnTo>
                  <a:lnTo>
                    <a:pt x="1766484" y="1695411"/>
                  </a:lnTo>
                  <a:lnTo>
                    <a:pt x="1821857" y="1686161"/>
                  </a:lnTo>
                  <a:lnTo>
                    <a:pt x="1876301" y="1675601"/>
                  </a:lnTo>
                  <a:lnTo>
                    <a:pt x="1929767" y="1663759"/>
                  </a:lnTo>
                  <a:lnTo>
                    <a:pt x="1982207" y="1650666"/>
                  </a:lnTo>
                  <a:lnTo>
                    <a:pt x="2033570" y="1636351"/>
                  </a:lnTo>
                  <a:lnTo>
                    <a:pt x="2083808" y="1620845"/>
                  </a:lnTo>
                  <a:lnTo>
                    <a:pt x="2132871" y="1604176"/>
                  </a:lnTo>
                  <a:lnTo>
                    <a:pt x="2180710" y="1586377"/>
                  </a:lnTo>
                  <a:lnTo>
                    <a:pt x="2227276" y="1567475"/>
                  </a:lnTo>
                  <a:lnTo>
                    <a:pt x="2272519" y="1547501"/>
                  </a:lnTo>
                  <a:lnTo>
                    <a:pt x="2316392" y="1526484"/>
                  </a:lnTo>
                  <a:lnTo>
                    <a:pt x="2358843" y="1504456"/>
                  </a:lnTo>
                  <a:lnTo>
                    <a:pt x="2399824" y="1481445"/>
                  </a:lnTo>
                  <a:lnTo>
                    <a:pt x="2439286" y="1457481"/>
                  </a:lnTo>
                  <a:lnTo>
                    <a:pt x="2477179" y="1432595"/>
                  </a:lnTo>
                  <a:lnTo>
                    <a:pt x="2513455" y="1406815"/>
                  </a:lnTo>
                  <a:lnTo>
                    <a:pt x="2548064" y="1380173"/>
                  </a:lnTo>
                  <a:lnTo>
                    <a:pt x="2580957" y="1352698"/>
                  </a:lnTo>
                  <a:lnTo>
                    <a:pt x="2612084" y="1324420"/>
                  </a:lnTo>
                  <a:lnTo>
                    <a:pt x="2641397" y="1295368"/>
                  </a:lnTo>
                  <a:lnTo>
                    <a:pt x="2668846" y="1265573"/>
                  </a:lnTo>
                  <a:lnTo>
                    <a:pt x="2694382" y="1235064"/>
                  </a:lnTo>
                  <a:lnTo>
                    <a:pt x="2717955" y="1203872"/>
                  </a:lnTo>
                  <a:lnTo>
                    <a:pt x="2739518" y="1172026"/>
                  </a:lnTo>
                  <a:lnTo>
                    <a:pt x="2776411" y="1106492"/>
                  </a:lnTo>
                  <a:lnTo>
                    <a:pt x="2804667" y="1038701"/>
                  </a:lnTo>
                  <a:lnTo>
                    <a:pt x="2823893" y="968892"/>
                  </a:lnTo>
                  <a:lnTo>
                    <a:pt x="2833694" y="897306"/>
                  </a:lnTo>
                  <a:lnTo>
                    <a:pt x="2834938" y="860920"/>
                  </a:lnTo>
                  <a:lnTo>
                    <a:pt x="2833685" y="824534"/>
                  </a:lnTo>
                  <a:lnTo>
                    <a:pt x="2823868" y="752947"/>
                  </a:lnTo>
                  <a:lnTo>
                    <a:pt x="2804631" y="683138"/>
                  </a:lnTo>
                  <a:lnTo>
                    <a:pt x="2776368" y="615346"/>
                  </a:lnTo>
                  <a:lnTo>
                    <a:pt x="2739473" y="549811"/>
                  </a:lnTo>
                  <a:lnTo>
                    <a:pt x="2717912" y="517964"/>
                  </a:lnTo>
                  <a:lnTo>
                    <a:pt x="2694340" y="486770"/>
                  </a:lnTo>
                  <a:lnTo>
                    <a:pt x="2668807" y="456260"/>
                  </a:lnTo>
                  <a:lnTo>
                    <a:pt x="2641361" y="426464"/>
                  </a:lnTo>
                  <a:lnTo>
                    <a:pt x="2612053" y="397410"/>
                  </a:lnTo>
                  <a:lnTo>
                    <a:pt x="2580932" y="369130"/>
                  </a:lnTo>
                  <a:lnTo>
                    <a:pt x="2548045" y="341653"/>
                  </a:lnTo>
                  <a:lnTo>
                    <a:pt x="2513444" y="315009"/>
                  </a:lnTo>
                  <a:lnTo>
                    <a:pt x="2477176" y="289227"/>
                  </a:lnTo>
                  <a:lnTo>
                    <a:pt x="2439292" y="264338"/>
                  </a:lnTo>
                  <a:lnTo>
                    <a:pt x="2399839" y="240371"/>
                  </a:lnTo>
                  <a:lnTo>
                    <a:pt x="2358868" y="217357"/>
                  </a:lnTo>
                  <a:lnTo>
                    <a:pt x="2316427" y="195325"/>
                  </a:lnTo>
                  <a:lnTo>
                    <a:pt x="2272566" y="174305"/>
                  </a:lnTo>
                  <a:lnTo>
                    <a:pt x="2227334" y="154327"/>
                  </a:lnTo>
                  <a:lnTo>
                    <a:pt x="2180780" y="135421"/>
                  </a:lnTo>
                  <a:lnTo>
                    <a:pt x="2132953" y="117616"/>
                  </a:lnTo>
                  <a:lnTo>
                    <a:pt x="2083902" y="100943"/>
                  </a:lnTo>
                  <a:lnTo>
                    <a:pt x="2033676" y="85431"/>
                  </a:lnTo>
                  <a:lnTo>
                    <a:pt x="1982324" y="71111"/>
                  </a:lnTo>
                  <a:lnTo>
                    <a:pt x="1929896" y="58012"/>
                  </a:lnTo>
                  <a:lnTo>
                    <a:pt x="1876441" y="46164"/>
                  </a:lnTo>
                  <a:lnTo>
                    <a:pt x="1822007" y="35596"/>
                  </a:lnTo>
                  <a:lnTo>
                    <a:pt x="1766643" y="26340"/>
                  </a:lnTo>
                  <a:lnTo>
                    <a:pt x="1710398" y="18424"/>
                  </a:lnTo>
                  <a:lnTo>
                    <a:pt x="1653320" y="11879"/>
                  </a:lnTo>
                  <a:lnTo>
                    <a:pt x="1595456" y="6734"/>
                  </a:lnTo>
                  <a:lnTo>
                    <a:pt x="1536849" y="3019"/>
                  </a:lnTo>
                  <a:lnTo>
                    <a:pt x="1537035" y="3019"/>
                  </a:lnTo>
                  <a:lnTo>
                    <a:pt x="1477529" y="764"/>
                  </a:lnTo>
                  <a:lnTo>
                    <a:pt x="1478020" y="764"/>
                  </a:lnTo>
                  <a:lnTo>
                    <a:pt x="141736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5664" y="1440519"/>
              <a:ext cx="2835275" cy="1722120"/>
            </a:xfrm>
            <a:custGeom>
              <a:avLst/>
              <a:gdLst/>
              <a:ahLst/>
              <a:cxnLst/>
              <a:rect l="l" t="t" r="r" b="b"/>
              <a:pathLst>
                <a:path w="2835275" h="1722120">
                  <a:moveTo>
                    <a:pt x="0" y="860914"/>
                  </a:moveTo>
                  <a:lnTo>
                    <a:pt x="4941" y="788528"/>
                  </a:lnTo>
                  <a:lnTo>
                    <a:pt x="19502" y="717800"/>
                  </a:lnTo>
                  <a:lnTo>
                    <a:pt x="43289" y="648970"/>
                  </a:lnTo>
                  <a:lnTo>
                    <a:pt x="75909" y="582277"/>
                  </a:lnTo>
                  <a:lnTo>
                    <a:pt x="116968" y="517960"/>
                  </a:lnTo>
                  <a:lnTo>
                    <a:pt x="140539" y="486767"/>
                  </a:lnTo>
                  <a:lnTo>
                    <a:pt x="166072" y="456257"/>
                  </a:lnTo>
                  <a:lnTo>
                    <a:pt x="193518" y="426461"/>
                  </a:lnTo>
                  <a:lnTo>
                    <a:pt x="222828" y="397408"/>
                  </a:lnTo>
                  <a:lnTo>
                    <a:pt x="253953" y="369128"/>
                  </a:lnTo>
                  <a:lnTo>
                    <a:pt x="286842" y="341651"/>
                  </a:lnTo>
                  <a:lnTo>
                    <a:pt x="321448" y="315007"/>
                  </a:lnTo>
                  <a:lnTo>
                    <a:pt x="357721" y="289226"/>
                  </a:lnTo>
                  <a:lnTo>
                    <a:pt x="395612" y="264337"/>
                  </a:lnTo>
                  <a:lnTo>
                    <a:pt x="435071" y="240371"/>
                  </a:lnTo>
                  <a:lnTo>
                    <a:pt x="476049" y="217357"/>
                  </a:lnTo>
                  <a:lnTo>
                    <a:pt x="518498" y="195325"/>
                  </a:lnTo>
                  <a:lnTo>
                    <a:pt x="562367" y="174305"/>
                  </a:lnTo>
                  <a:lnTo>
                    <a:pt x="607608" y="154327"/>
                  </a:lnTo>
                  <a:lnTo>
                    <a:pt x="654172" y="135421"/>
                  </a:lnTo>
                  <a:lnTo>
                    <a:pt x="702009" y="117617"/>
                  </a:lnTo>
                  <a:lnTo>
                    <a:pt x="751070" y="100944"/>
                  </a:lnTo>
                  <a:lnTo>
                    <a:pt x="801306" y="85432"/>
                  </a:lnTo>
                  <a:lnTo>
                    <a:pt x="852668" y="71112"/>
                  </a:lnTo>
                  <a:lnTo>
                    <a:pt x="905106" y="58013"/>
                  </a:lnTo>
                  <a:lnTo>
                    <a:pt x="958571" y="46165"/>
                  </a:lnTo>
                  <a:lnTo>
                    <a:pt x="1013015" y="35598"/>
                  </a:lnTo>
                  <a:lnTo>
                    <a:pt x="1068387" y="26341"/>
                  </a:lnTo>
                  <a:lnTo>
                    <a:pt x="1124639" y="18425"/>
                  </a:lnTo>
                  <a:lnTo>
                    <a:pt x="1181722" y="11880"/>
                  </a:lnTo>
                  <a:lnTo>
                    <a:pt x="1239586" y="6734"/>
                  </a:lnTo>
                  <a:lnTo>
                    <a:pt x="1298181" y="3019"/>
                  </a:lnTo>
                  <a:lnTo>
                    <a:pt x="1357460" y="765"/>
                  </a:lnTo>
                  <a:lnTo>
                    <a:pt x="1417373" y="0"/>
                  </a:lnTo>
                  <a:lnTo>
                    <a:pt x="1477293" y="755"/>
                  </a:lnTo>
                  <a:lnTo>
                    <a:pt x="1536579" y="3001"/>
                  </a:lnTo>
                  <a:lnTo>
                    <a:pt x="1595182" y="6709"/>
                  </a:lnTo>
                  <a:lnTo>
                    <a:pt x="1653052" y="11847"/>
                  </a:lnTo>
                  <a:lnTo>
                    <a:pt x="1710140" y="18387"/>
                  </a:lnTo>
                  <a:lnTo>
                    <a:pt x="1766398" y="26298"/>
                  </a:lnTo>
                  <a:lnTo>
                    <a:pt x="1821775" y="35550"/>
                  </a:lnTo>
                  <a:lnTo>
                    <a:pt x="1876223" y="46114"/>
                  </a:lnTo>
                  <a:lnTo>
                    <a:pt x="1929693" y="57959"/>
                  </a:lnTo>
                  <a:lnTo>
                    <a:pt x="1982135" y="71056"/>
                  </a:lnTo>
                  <a:lnTo>
                    <a:pt x="2033501" y="85375"/>
                  </a:lnTo>
                  <a:lnTo>
                    <a:pt x="2083741" y="100886"/>
                  </a:lnTo>
                  <a:lnTo>
                    <a:pt x="2132805" y="117558"/>
                  </a:lnTo>
                  <a:lnTo>
                    <a:pt x="2180645" y="135363"/>
                  </a:lnTo>
                  <a:lnTo>
                    <a:pt x="2227212" y="154270"/>
                  </a:lnTo>
                  <a:lnTo>
                    <a:pt x="2272456" y="174249"/>
                  </a:lnTo>
                  <a:lnTo>
                    <a:pt x="2316329" y="195270"/>
                  </a:lnTo>
                  <a:lnTo>
                    <a:pt x="2358780" y="217304"/>
                  </a:lnTo>
                  <a:lnTo>
                    <a:pt x="2399762" y="240320"/>
                  </a:lnTo>
                  <a:lnTo>
                    <a:pt x="2439224" y="264289"/>
                  </a:lnTo>
                  <a:lnTo>
                    <a:pt x="2477117" y="289180"/>
                  </a:lnTo>
                  <a:lnTo>
                    <a:pt x="2513393" y="314965"/>
                  </a:lnTo>
                  <a:lnTo>
                    <a:pt x="2548003" y="341612"/>
                  </a:lnTo>
                  <a:lnTo>
                    <a:pt x="2580896" y="369092"/>
                  </a:lnTo>
                  <a:lnTo>
                    <a:pt x="2612024" y="397375"/>
                  </a:lnTo>
                  <a:lnTo>
                    <a:pt x="2641338" y="426432"/>
                  </a:lnTo>
                  <a:lnTo>
                    <a:pt x="2668788" y="456231"/>
                  </a:lnTo>
                  <a:lnTo>
                    <a:pt x="2694326" y="486744"/>
                  </a:lnTo>
                  <a:lnTo>
                    <a:pt x="2717902" y="517941"/>
                  </a:lnTo>
                  <a:lnTo>
                    <a:pt x="2739467" y="549791"/>
                  </a:lnTo>
                  <a:lnTo>
                    <a:pt x="2776367" y="615331"/>
                  </a:lnTo>
                  <a:lnTo>
                    <a:pt x="2804633" y="683128"/>
                  </a:lnTo>
                  <a:lnTo>
                    <a:pt x="2823872" y="752940"/>
                  </a:lnTo>
                  <a:lnTo>
                    <a:pt x="2833690" y="824528"/>
                  </a:lnTo>
                  <a:lnTo>
                    <a:pt x="2834943" y="860914"/>
                  </a:lnTo>
                  <a:lnTo>
                    <a:pt x="2833699" y="897300"/>
                  </a:lnTo>
                  <a:lnTo>
                    <a:pt x="2830001" y="933301"/>
                  </a:lnTo>
                  <a:lnTo>
                    <a:pt x="2815438" y="1004028"/>
                  </a:lnTo>
                  <a:lnTo>
                    <a:pt x="2791648" y="1072858"/>
                  </a:lnTo>
                  <a:lnTo>
                    <a:pt x="2759024" y="1139550"/>
                  </a:lnTo>
                  <a:lnTo>
                    <a:pt x="2717960" y="1203866"/>
                  </a:lnTo>
                  <a:lnTo>
                    <a:pt x="2694386" y="1235059"/>
                  </a:lnTo>
                  <a:lnTo>
                    <a:pt x="2668850" y="1265568"/>
                  </a:lnTo>
                  <a:lnTo>
                    <a:pt x="2641401" y="1295363"/>
                  </a:lnTo>
                  <a:lnTo>
                    <a:pt x="2612088" y="1324415"/>
                  </a:lnTo>
                  <a:lnTo>
                    <a:pt x="2580961" y="1352693"/>
                  </a:lnTo>
                  <a:lnTo>
                    <a:pt x="2548068" y="1380169"/>
                  </a:lnTo>
                  <a:lnTo>
                    <a:pt x="2513459" y="1406811"/>
                  </a:lnTo>
                  <a:lnTo>
                    <a:pt x="2477183" y="1432590"/>
                  </a:lnTo>
                  <a:lnTo>
                    <a:pt x="2439289" y="1457477"/>
                  </a:lnTo>
                  <a:lnTo>
                    <a:pt x="2399827" y="1481440"/>
                  </a:lnTo>
                  <a:lnTo>
                    <a:pt x="2358846" y="1504452"/>
                  </a:lnTo>
                  <a:lnTo>
                    <a:pt x="2316395" y="1526480"/>
                  </a:lnTo>
                  <a:lnTo>
                    <a:pt x="2272522" y="1547497"/>
                  </a:lnTo>
                  <a:lnTo>
                    <a:pt x="2227279" y="1567471"/>
                  </a:lnTo>
                  <a:lnTo>
                    <a:pt x="2180712" y="1586373"/>
                  </a:lnTo>
                  <a:lnTo>
                    <a:pt x="2132873" y="1604173"/>
                  </a:lnTo>
                  <a:lnTo>
                    <a:pt x="2083810" y="1620841"/>
                  </a:lnTo>
                  <a:lnTo>
                    <a:pt x="2033572" y="1636348"/>
                  </a:lnTo>
                  <a:lnTo>
                    <a:pt x="1982209" y="1650663"/>
                  </a:lnTo>
                  <a:lnTo>
                    <a:pt x="1929769" y="1663756"/>
                  </a:lnTo>
                  <a:lnTo>
                    <a:pt x="1876302" y="1675598"/>
                  </a:lnTo>
                  <a:lnTo>
                    <a:pt x="1821858" y="1686159"/>
                  </a:lnTo>
                  <a:lnTo>
                    <a:pt x="1766485" y="1695408"/>
                  </a:lnTo>
                  <a:lnTo>
                    <a:pt x="1710233" y="1703317"/>
                  </a:lnTo>
                  <a:lnTo>
                    <a:pt x="1653150" y="1709854"/>
                  </a:lnTo>
                  <a:lnTo>
                    <a:pt x="1595287" y="1714991"/>
                  </a:lnTo>
                  <a:lnTo>
                    <a:pt x="1536692" y="1718697"/>
                  </a:lnTo>
                  <a:lnTo>
                    <a:pt x="1477415" y="1720943"/>
                  </a:lnTo>
                  <a:lnTo>
                    <a:pt x="1417504" y="1721698"/>
                  </a:lnTo>
                  <a:lnTo>
                    <a:pt x="1357582" y="1720943"/>
                  </a:lnTo>
                  <a:lnTo>
                    <a:pt x="1298294" y="1718697"/>
                  </a:lnTo>
                  <a:lnTo>
                    <a:pt x="1239689" y="1714991"/>
                  </a:lnTo>
                  <a:lnTo>
                    <a:pt x="1181817" y="1709854"/>
                  </a:lnTo>
                  <a:lnTo>
                    <a:pt x="1124726" y="1703317"/>
                  </a:lnTo>
                  <a:lnTo>
                    <a:pt x="1068467" y="1695408"/>
                  </a:lnTo>
                  <a:lnTo>
                    <a:pt x="1013087" y="1686159"/>
                  </a:lnTo>
                  <a:lnTo>
                    <a:pt x="958637" y="1675598"/>
                  </a:lnTo>
                  <a:lnTo>
                    <a:pt x="905165" y="1663756"/>
                  </a:lnTo>
                  <a:lnTo>
                    <a:pt x="852722" y="1650663"/>
                  </a:lnTo>
                  <a:lnTo>
                    <a:pt x="801355" y="1636348"/>
                  </a:lnTo>
                  <a:lnTo>
                    <a:pt x="751114" y="1620841"/>
                  </a:lnTo>
                  <a:lnTo>
                    <a:pt x="702048" y="1604173"/>
                  </a:lnTo>
                  <a:lnTo>
                    <a:pt x="654207" y="1586373"/>
                  </a:lnTo>
                  <a:lnTo>
                    <a:pt x="607639" y="1567471"/>
                  </a:lnTo>
                  <a:lnTo>
                    <a:pt x="562394" y="1547497"/>
                  </a:lnTo>
                  <a:lnTo>
                    <a:pt x="518521" y="1526480"/>
                  </a:lnTo>
                  <a:lnTo>
                    <a:pt x="476070" y="1504452"/>
                  </a:lnTo>
                  <a:lnTo>
                    <a:pt x="435089" y="1481440"/>
                  </a:lnTo>
                  <a:lnTo>
                    <a:pt x="395627" y="1457477"/>
                  </a:lnTo>
                  <a:lnTo>
                    <a:pt x="357734" y="1432590"/>
                  </a:lnTo>
                  <a:lnTo>
                    <a:pt x="321459" y="1406811"/>
                  </a:lnTo>
                  <a:lnTo>
                    <a:pt x="286852" y="1380169"/>
                  </a:lnTo>
                  <a:lnTo>
                    <a:pt x="253960" y="1352693"/>
                  </a:lnTo>
                  <a:lnTo>
                    <a:pt x="222834" y="1324415"/>
                  </a:lnTo>
                  <a:lnTo>
                    <a:pt x="193523" y="1295363"/>
                  </a:lnTo>
                  <a:lnTo>
                    <a:pt x="166076" y="1265568"/>
                  </a:lnTo>
                  <a:lnTo>
                    <a:pt x="140542" y="1235059"/>
                  </a:lnTo>
                  <a:lnTo>
                    <a:pt x="116970" y="1203866"/>
                  </a:lnTo>
                  <a:lnTo>
                    <a:pt x="95410" y="1172020"/>
                  </a:lnTo>
                  <a:lnTo>
                    <a:pt x="58520" y="1106486"/>
                  </a:lnTo>
                  <a:lnTo>
                    <a:pt x="30267" y="1038695"/>
                  </a:lnTo>
                  <a:lnTo>
                    <a:pt x="11043" y="968887"/>
                  </a:lnTo>
                  <a:lnTo>
                    <a:pt x="1243" y="897300"/>
                  </a:lnTo>
                  <a:lnTo>
                    <a:pt x="0" y="860914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040912" y="1569626"/>
            <a:ext cx="1332865" cy="235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4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Delivery</a:t>
            </a:r>
            <a:r>
              <a:rPr sz="1450" u="heavy" spc="-7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1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30929" y="2483356"/>
            <a:ext cx="2416810" cy="197490"/>
          </a:xfrm>
          <a:prstGeom prst="rect">
            <a:avLst/>
          </a:prstGeom>
          <a:solidFill>
            <a:srgbClr val="E8EEF7"/>
          </a:solidFill>
        </p:spPr>
        <p:txBody>
          <a:bodyPr vert="horz" wrap="square" lIns="0" tIns="12700" rIns="0" bIns="0" rtlCol="0">
            <a:spAutoFit/>
          </a:bodyPr>
          <a:lstStyle/>
          <a:p>
            <a:pPr marL="52705"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Infrastructure</a:t>
            </a:r>
            <a:r>
              <a:rPr sz="1200" spc="114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</a:t>
            </a:r>
            <a:r>
              <a:rPr sz="1200" spc="1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(IaaS)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28541" y="1863545"/>
            <a:ext cx="2352675" cy="197490"/>
          </a:xfrm>
          <a:prstGeom prst="rect">
            <a:avLst/>
          </a:prstGeom>
          <a:solidFill>
            <a:srgbClr val="E8EEF7"/>
          </a:solidFill>
        </p:spPr>
        <p:txBody>
          <a:bodyPr vert="horz" wrap="square" lIns="0" tIns="12700" rIns="0" bIns="0" rtlCol="0">
            <a:spAutoFit/>
          </a:bodyPr>
          <a:lstStyle/>
          <a:p>
            <a:pPr marL="142875"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Software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(SaaS)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544657" y="2188208"/>
            <a:ext cx="2325370" cy="197490"/>
          </a:xfrm>
          <a:prstGeom prst="rect">
            <a:avLst/>
          </a:prstGeom>
          <a:solidFill>
            <a:srgbClr val="E8EEF7"/>
          </a:solidFill>
        </p:spPr>
        <p:txBody>
          <a:bodyPr vert="horz" wrap="square" lIns="0" tIns="12700" rIns="0" bIns="0" rtlCol="0">
            <a:spAutoFit/>
          </a:bodyPr>
          <a:lstStyle/>
          <a:p>
            <a:pPr marL="146685">
              <a:spcBef>
                <a:spcPts val="100"/>
              </a:spcBef>
            </a:pPr>
            <a:r>
              <a:rPr sz="1200" dirty="0">
                <a:latin typeface="Arial"/>
                <a:cs typeface="Arial"/>
              </a:rPr>
              <a:t>Platform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as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Service</a:t>
            </a:r>
            <a:r>
              <a:rPr sz="1200" spc="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(PaaS)</a:t>
            </a:r>
            <a:endParaRPr sz="12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413809" y="1712306"/>
            <a:ext cx="2506345" cy="1683385"/>
            <a:chOff x="4889808" y="1712305"/>
            <a:chExt cx="2506345" cy="1683385"/>
          </a:xfrm>
        </p:grpSpPr>
        <p:sp>
          <p:nvSpPr>
            <p:cNvPr id="10" name="object 10"/>
            <p:cNvSpPr/>
            <p:nvPr/>
          </p:nvSpPr>
          <p:spPr>
            <a:xfrm>
              <a:off x="4891392" y="1713864"/>
              <a:ext cx="2503170" cy="1680210"/>
            </a:xfrm>
            <a:custGeom>
              <a:avLst/>
              <a:gdLst/>
              <a:ahLst/>
              <a:cxnLst/>
              <a:rect l="l" t="t" r="r" b="b"/>
              <a:pathLst>
                <a:path w="2503170" h="1680210">
                  <a:moveTo>
                    <a:pt x="1251534" y="0"/>
                  </a:moveTo>
                  <a:lnTo>
                    <a:pt x="1194241" y="864"/>
                  </a:lnTo>
                  <a:lnTo>
                    <a:pt x="1137610" y="3432"/>
                  </a:lnTo>
                  <a:lnTo>
                    <a:pt x="1081696" y="7668"/>
                  </a:lnTo>
                  <a:lnTo>
                    <a:pt x="1026554" y="13534"/>
                  </a:lnTo>
                  <a:lnTo>
                    <a:pt x="972239" y="20992"/>
                  </a:lnTo>
                  <a:lnTo>
                    <a:pt x="918806" y="30007"/>
                  </a:lnTo>
                  <a:lnTo>
                    <a:pt x="866311" y="40540"/>
                  </a:lnTo>
                  <a:lnTo>
                    <a:pt x="814810" y="52555"/>
                  </a:lnTo>
                  <a:lnTo>
                    <a:pt x="764356" y="66014"/>
                  </a:lnTo>
                  <a:lnTo>
                    <a:pt x="715005" y="80881"/>
                  </a:lnTo>
                  <a:lnTo>
                    <a:pt x="666813" y="97119"/>
                  </a:lnTo>
                  <a:lnTo>
                    <a:pt x="619835" y="114690"/>
                  </a:lnTo>
                  <a:lnTo>
                    <a:pt x="574125" y="133558"/>
                  </a:lnTo>
                  <a:lnTo>
                    <a:pt x="529740" y="153685"/>
                  </a:lnTo>
                  <a:lnTo>
                    <a:pt x="486734" y="175034"/>
                  </a:lnTo>
                  <a:lnTo>
                    <a:pt x="445162" y="197568"/>
                  </a:lnTo>
                  <a:lnTo>
                    <a:pt x="405081" y="221251"/>
                  </a:lnTo>
                  <a:lnTo>
                    <a:pt x="366544" y="246045"/>
                  </a:lnTo>
                  <a:lnTo>
                    <a:pt x="329607" y="271912"/>
                  </a:lnTo>
                  <a:lnTo>
                    <a:pt x="294326" y="298817"/>
                  </a:lnTo>
                  <a:lnTo>
                    <a:pt x="260755" y="326721"/>
                  </a:lnTo>
                  <a:lnTo>
                    <a:pt x="228950" y="355588"/>
                  </a:lnTo>
                  <a:lnTo>
                    <a:pt x="198966" y="385381"/>
                  </a:lnTo>
                  <a:lnTo>
                    <a:pt x="170858" y="416063"/>
                  </a:lnTo>
                  <a:lnTo>
                    <a:pt x="144681" y="447596"/>
                  </a:lnTo>
                  <a:lnTo>
                    <a:pt x="120491" y="479944"/>
                  </a:lnTo>
                  <a:lnTo>
                    <a:pt x="98343" y="513069"/>
                  </a:lnTo>
                  <a:lnTo>
                    <a:pt x="78292" y="546935"/>
                  </a:lnTo>
                  <a:lnTo>
                    <a:pt x="60393" y="581504"/>
                  </a:lnTo>
                  <a:lnTo>
                    <a:pt x="44702" y="616739"/>
                  </a:lnTo>
                  <a:lnTo>
                    <a:pt x="31273" y="652603"/>
                  </a:lnTo>
                  <a:lnTo>
                    <a:pt x="20161" y="689060"/>
                  </a:lnTo>
                  <a:lnTo>
                    <a:pt x="5114" y="763601"/>
                  </a:lnTo>
                  <a:lnTo>
                    <a:pt x="1287" y="801612"/>
                  </a:lnTo>
                  <a:lnTo>
                    <a:pt x="0" y="840066"/>
                  </a:lnTo>
                  <a:lnTo>
                    <a:pt x="1288" y="878522"/>
                  </a:lnTo>
                  <a:lnTo>
                    <a:pt x="5115" y="916533"/>
                  </a:lnTo>
                  <a:lnTo>
                    <a:pt x="20166" y="991076"/>
                  </a:lnTo>
                  <a:lnTo>
                    <a:pt x="31279" y="1027533"/>
                  </a:lnTo>
                  <a:lnTo>
                    <a:pt x="44710" y="1063398"/>
                  </a:lnTo>
                  <a:lnTo>
                    <a:pt x="60405" y="1098634"/>
                  </a:lnTo>
                  <a:lnTo>
                    <a:pt x="78307" y="1133203"/>
                  </a:lnTo>
                  <a:lnTo>
                    <a:pt x="98361" y="1167069"/>
                  </a:lnTo>
                  <a:lnTo>
                    <a:pt x="120513" y="1200195"/>
                  </a:lnTo>
                  <a:lnTo>
                    <a:pt x="144706" y="1232542"/>
                  </a:lnTo>
                  <a:lnTo>
                    <a:pt x="170886" y="1264076"/>
                  </a:lnTo>
                  <a:lnTo>
                    <a:pt x="198997" y="1294757"/>
                  </a:lnTo>
                  <a:lnTo>
                    <a:pt x="228985" y="1324550"/>
                  </a:lnTo>
                  <a:lnTo>
                    <a:pt x="260793" y="1353417"/>
                  </a:lnTo>
                  <a:lnTo>
                    <a:pt x="294367" y="1381321"/>
                  </a:lnTo>
                  <a:lnTo>
                    <a:pt x="329652" y="1408226"/>
                  </a:lnTo>
                  <a:lnTo>
                    <a:pt x="366591" y="1434093"/>
                  </a:lnTo>
                  <a:lnTo>
                    <a:pt x="405131" y="1458886"/>
                  </a:lnTo>
                  <a:lnTo>
                    <a:pt x="445215" y="1482569"/>
                  </a:lnTo>
                  <a:lnTo>
                    <a:pt x="486788" y="1505103"/>
                  </a:lnTo>
                  <a:lnTo>
                    <a:pt x="529795" y="1526451"/>
                  </a:lnTo>
                  <a:lnTo>
                    <a:pt x="574181" y="1546578"/>
                  </a:lnTo>
                  <a:lnTo>
                    <a:pt x="619891" y="1565445"/>
                  </a:lnTo>
                  <a:lnTo>
                    <a:pt x="666869" y="1583016"/>
                  </a:lnTo>
                  <a:lnTo>
                    <a:pt x="715060" y="1599253"/>
                  </a:lnTo>
                  <a:lnTo>
                    <a:pt x="764409" y="1614120"/>
                  </a:lnTo>
                  <a:lnTo>
                    <a:pt x="814861" y="1627580"/>
                  </a:lnTo>
                  <a:lnTo>
                    <a:pt x="866360" y="1639594"/>
                  </a:lnTo>
                  <a:lnTo>
                    <a:pt x="918850" y="1650127"/>
                  </a:lnTo>
                  <a:lnTo>
                    <a:pt x="972278" y="1659141"/>
                  </a:lnTo>
                  <a:lnTo>
                    <a:pt x="1026587" y="1666600"/>
                  </a:lnTo>
                  <a:lnTo>
                    <a:pt x="1081722" y="1672465"/>
                  </a:lnTo>
                  <a:lnTo>
                    <a:pt x="1137629" y="1676700"/>
                  </a:lnTo>
                  <a:lnTo>
                    <a:pt x="1194251" y="1679269"/>
                  </a:lnTo>
                  <a:lnTo>
                    <a:pt x="1251534" y="1680133"/>
                  </a:lnTo>
                  <a:lnTo>
                    <a:pt x="1308816" y="1679269"/>
                  </a:lnTo>
                  <a:lnTo>
                    <a:pt x="1365439" y="1676700"/>
                  </a:lnTo>
                  <a:lnTo>
                    <a:pt x="1421345" y="1672465"/>
                  </a:lnTo>
                  <a:lnTo>
                    <a:pt x="1476481" y="1666600"/>
                  </a:lnTo>
                  <a:lnTo>
                    <a:pt x="1530790" y="1659141"/>
                  </a:lnTo>
                  <a:lnTo>
                    <a:pt x="1584218" y="1650127"/>
                  </a:lnTo>
                  <a:lnTo>
                    <a:pt x="1636709" y="1639594"/>
                  </a:lnTo>
                  <a:lnTo>
                    <a:pt x="1688208" y="1627580"/>
                  </a:lnTo>
                  <a:lnTo>
                    <a:pt x="1738660" y="1614120"/>
                  </a:lnTo>
                  <a:lnTo>
                    <a:pt x="1788009" y="1599253"/>
                  </a:lnTo>
                  <a:lnTo>
                    <a:pt x="1836201" y="1583016"/>
                  </a:lnTo>
                  <a:lnTo>
                    <a:pt x="1883179" y="1565445"/>
                  </a:lnTo>
                  <a:lnTo>
                    <a:pt x="1928890" y="1546578"/>
                  </a:lnTo>
                  <a:lnTo>
                    <a:pt x="1973276" y="1526451"/>
                  </a:lnTo>
                  <a:lnTo>
                    <a:pt x="2016284" y="1505103"/>
                  </a:lnTo>
                  <a:lnTo>
                    <a:pt x="2057858" y="1482569"/>
                  </a:lnTo>
                  <a:lnTo>
                    <a:pt x="2097943" y="1458886"/>
                  </a:lnTo>
                  <a:lnTo>
                    <a:pt x="2136482" y="1434093"/>
                  </a:lnTo>
                  <a:lnTo>
                    <a:pt x="2173422" y="1408226"/>
                  </a:lnTo>
                  <a:lnTo>
                    <a:pt x="2208707" y="1381321"/>
                  </a:lnTo>
                  <a:lnTo>
                    <a:pt x="2242282" y="1353417"/>
                  </a:lnTo>
                  <a:lnTo>
                    <a:pt x="2274091" y="1324550"/>
                  </a:lnTo>
                  <a:lnTo>
                    <a:pt x="2304079" y="1294757"/>
                  </a:lnTo>
                  <a:lnTo>
                    <a:pt x="2332191" y="1264076"/>
                  </a:lnTo>
                  <a:lnTo>
                    <a:pt x="2358371" y="1232542"/>
                  </a:lnTo>
                  <a:lnTo>
                    <a:pt x="2382565" y="1200195"/>
                  </a:lnTo>
                  <a:lnTo>
                    <a:pt x="2404717" y="1167069"/>
                  </a:lnTo>
                  <a:lnTo>
                    <a:pt x="2424772" y="1133203"/>
                  </a:lnTo>
                  <a:lnTo>
                    <a:pt x="2442674" y="1098634"/>
                  </a:lnTo>
                  <a:lnTo>
                    <a:pt x="2458369" y="1063398"/>
                  </a:lnTo>
                  <a:lnTo>
                    <a:pt x="2471801" y="1027533"/>
                  </a:lnTo>
                  <a:lnTo>
                    <a:pt x="2482914" y="991076"/>
                  </a:lnTo>
                  <a:lnTo>
                    <a:pt x="2497965" y="916533"/>
                  </a:lnTo>
                  <a:lnTo>
                    <a:pt x="2501793" y="878522"/>
                  </a:lnTo>
                  <a:lnTo>
                    <a:pt x="2503081" y="840066"/>
                  </a:lnTo>
                  <a:lnTo>
                    <a:pt x="2501793" y="801612"/>
                  </a:lnTo>
                  <a:lnTo>
                    <a:pt x="2497965" y="763601"/>
                  </a:lnTo>
                  <a:lnTo>
                    <a:pt x="2482914" y="689060"/>
                  </a:lnTo>
                  <a:lnTo>
                    <a:pt x="2471801" y="652603"/>
                  </a:lnTo>
                  <a:lnTo>
                    <a:pt x="2458369" y="616739"/>
                  </a:lnTo>
                  <a:lnTo>
                    <a:pt x="2442674" y="581504"/>
                  </a:lnTo>
                  <a:lnTo>
                    <a:pt x="2424772" y="546935"/>
                  </a:lnTo>
                  <a:lnTo>
                    <a:pt x="2404717" y="513069"/>
                  </a:lnTo>
                  <a:lnTo>
                    <a:pt x="2382565" y="479944"/>
                  </a:lnTo>
                  <a:lnTo>
                    <a:pt x="2358371" y="447596"/>
                  </a:lnTo>
                  <a:lnTo>
                    <a:pt x="2332191" y="416063"/>
                  </a:lnTo>
                  <a:lnTo>
                    <a:pt x="2304079" y="385381"/>
                  </a:lnTo>
                  <a:lnTo>
                    <a:pt x="2274091" y="355588"/>
                  </a:lnTo>
                  <a:lnTo>
                    <a:pt x="2242282" y="326721"/>
                  </a:lnTo>
                  <a:lnTo>
                    <a:pt x="2208707" y="298817"/>
                  </a:lnTo>
                  <a:lnTo>
                    <a:pt x="2173422" y="271912"/>
                  </a:lnTo>
                  <a:lnTo>
                    <a:pt x="2136482" y="246045"/>
                  </a:lnTo>
                  <a:lnTo>
                    <a:pt x="2097943" y="221251"/>
                  </a:lnTo>
                  <a:lnTo>
                    <a:pt x="2057858" y="197568"/>
                  </a:lnTo>
                  <a:lnTo>
                    <a:pt x="2016284" y="175034"/>
                  </a:lnTo>
                  <a:lnTo>
                    <a:pt x="1973276" y="153685"/>
                  </a:lnTo>
                  <a:lnTo>
                    <a:pt x="1928890" y="133558"/>
                  </a:lnTo>
                  <a:lnTo>
                    <a:pt x="1883179" y="114690"/>
                  </a:lnTo>
                  <a:lnTo>
                    <a:pt x="1836201" y="97119"/>
                  </a:lnTo>
                  <a:lnTo>
                    <a:pt x="1788009" y="80881"/>
                  </a:lnTo>
                  <a:lnTo>
                    <a:pt x="1738660" y="66014"/>
                  </a:lnTo>
                  <a:lnTo>
                    <a:pt x="1688208" y="52555"/>
                  </a:lnTo>
                  <a:lnTo>
                    <a:pt x="1636709" y="40540"/>
                  </a:lnTo>
                  <a:lnTo>
                    <a:pt x="1584218" y="30007"/>
                  </a:lnTo>
                  <a:lnTo>
                    <a:pt x="1530790" y="20992"/>
                  </a:lnTo>
                  <a:lnTo>
                    <a:pt x="1476481" y="13534"/>
                  </a:lnTo>
                  <a:lnTo>
                    <a:pt x="1421345" y="7668"/>
                  </a:lnTo>
                  <a:lnTo>
                    <a:pt x="1365439" y="3432"/>
                  </a:lnTo>
                  <a:lnTo>
                    <a:pt x="1308816" y="864"/>
                  </a:lnTo>
                  <a:lnTo>
                    <a:pt x="1251534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891395" y="1713892"/>
              <a:ext cx="2503170" cy="1680210"/>
            </a:xfrm>
            <a:custGeom>
              <a:avLst/>
              <a:gdLst/>
              <a:ahLst/>
              <a:cxnLst/>
              <a:rect l="l" t="t" r="r" b="b"/>
              <a:pathLst>
                <a:path w="2503170" h="1680210">
                  <a:moveTo>
                    <a:pt x="0" y="840057"/>
                  </a:moveTo>
                  <a:lnTo>
                    <a:pt x="1287" y="801602"/>
                  </a:lnTo>
                  <a:lnTo>
                    <a:pt x="5114" y="763592"/>
                  </a:lnTo>
                  <a:lnTo>
                    <a:pt x="20162" y="689050"/>
                  </a:lnTo>
                  <a:lnTo>
                    <a:pt x="31273" y="652593"/>
                  </a:lnTo>
                  <a:lnTo>
                    <a:pt x="44702" y="616729"/>
                  </a:lnTo>
                  <a:lnTo>
                    <a:pt x="60394" y="581494"/>
                  </a:lnTo>
                  <a:lnTo>
                    <a:pt x="78293" y="546925"/>
                  </a:lnTo>
                  <a:lnTo>
                    <a:pt x="98345" y="513059"/>
                  </a:lnTo>
                  <a:lnTo>
                    <a:pt x="120493" y="479935"/>
                  </a:lnTo>
                  <a:lnTo>
                    <a:pt x="144683" y="447587"/>
                  </a:lnTo>
                  <a:lnTo>
                    <a:pt x="170860" y="416054"/>
                  </a:lnTo>
                  <a:lnTo>
                    <a:pt x="198968" y="385373"/>
                  </a:lnTo>
                  <a:lnTo>
                    <a:pt x="228953" y="355580"/>
                  </a:lnTo>
                  <a:lnTo>
                    <a:pt x="260758" y="326714"/>
                  </a:lnTo>
                  <a:lnTo>
                    <a:pt x="294330" y="298810"/>
                  </a:lnTo>
                  <a:lnTo>
                    <a:pt x="329611" y="271906"/>
                  </a:lnTo>
                  <a:lnTo>
                    <a:pt x="366549" y="246038"/>
                  </a:lnTo>
                  <a:lnTo>
                    <a:pt x="405086" y="221245"/>
                  </a:lnTo>
                  <a:lnTo>
                    <a:pt x="445168" y="197563"/>
                  </a:lnTo>
                  <a:lnTo>
                    <a:pt x="486740" y="175029"/>
                  </a:lnTo>
                  <a:lnTo>
                    <a:pt x="529746" y="153681"/>
                  </a:lnTo>
                  <a:lnTo>
                    <a:pt x="574132" y="133554"/>
                  </a:lnTo>
                  <a:lnTo>
                    <a:pt x="619842" y="114687"/>
                  </a:lnTo>
                  <a:lnTo>
                    <a:pt x="666821" y="97116"/>
                  </a:lnTo>
                  <a:lnTo>
                    <a:pt x="715013" y="80879"/>
                  </a:lnTo>
                  <a:lnTo>
                    <a:pt x="764364" y="66012"/>
                  </a:lnTo>
                  <a:lnTo>
                    <a:pt x="814819" y="52553"/>
                  </a:lnTo>
                  <a:lnTo>
                    <a:pt x="866321" y="40539"/>
                  </a:lnTo>
                  <a:lnTo>
                    <a:pt x="918816" y="30006"/>
                  </a:lnTo>
                  <a:lnTo>
                    <a:pt x="972249" y="20992"/>
                  </a:lnTo>
                  <a:lnTo>
                    <a:pt x="1026564" y="13533"/>
                  </a:lnTo>
                  <a:lnTo>
                    <a:pt x="1081707" y="7668"/>
                  </a:lnTo>
                  <a:lnTo>
                    <a:pt x="1137621" y="3432"/>
                  </a:lnTo>
                  <a:lnTo>
                    <a:pt x="1194253" y="864"/>
                  </a:lnTo>
                  <a:lnTo>
                    <a:pt x="1251545" y="0"/>
                  </a:lnTo>
                  <a:lnTo>
                    <a:pt x="1308828" y="864"/>
                  </a:lnTo>
                  <a:lnTo>
                    <a:pt x="1365450" y="3432"/>
                  </a:lnTo>
                  <a:lnTo>
                    <a:pt x="1421357" y="7668"/>
                  </a:lnTo>
                  <a:lnTo>
                    <a:pt x="1476492" y="13533"/>
                  </a:lnTo>
                  <a:lnTo>
                    <a:pt x="1530801" y="20992"/>
                  </a:lnTo>
                  <a:lnTo>
                    <a:pt x="1584229" y="30006"/>
                  </a:lnTo>
                  <a:lnTo>
                    <a:pt x="1636720" y="40539"/>
                  </a:lnTo>
                  <a:lnTo>
                    <a:pt x="1688219" y="52553"/>
                  </a:lnTo>
                  <a:lnTo>
                    <a:pt x="1738671" y="66012"/>
                  </a:lnTo>
                  <a:lnTo>
                    <a:pt x="1788020" y="80879"/>
                  </a:lnTo>
                  <a:lnTo>
                    <a:pt x="1836212" y="97116"/>
                  </a:lnTo>
                  <a:lnTo>
                    <a:pt x="1883190" y="114687"/>
                  </a:lnTo>
                  <a:lnTo>
                    <a:pt x="1928901" y="133554"/>
                  </a:lnTo>
                  <a:lnTo>
                    <a:pt x="1973287" y="153681"/>
                  </a:lnTo>
                  <a:lnTo>
                    <a:pt x="2016295" y="175029"/>
                  </a:lnTo>
                  <a:lnTo>
                    <a:pt x="2057869" y="197563"/>
                  </a:lnTo>
                  <a:lnTo>
                    <a:pt x="2097953" y="221245"/>
                  </a:lnTo>
                  <a:lnTo>
                    <a:pt x="2136493" y="246038"/>
                  </a:lnTo>
                  <a:lnTo>
                    <a:pt x="2173433" y="271906"/>
                  </a:lnTo>
                  <a:lnTo>
                    <a:pt x="2208718" y="298810"/>
                  </a:lnTo>
                  <a:lnTo>
                    <a:pt x="2242293" y="326714"/>
                  </a:lnTo>
                  <a:lnTo>
                    <a:pt x="2274102" y="355580"/>
                  </a:lnTo>
                  <a:lnTo>
                    <a:pt x="2304090" y="385373"/>
                  </a:lnTo>
                  <a:lnTo>
                    <a:pt x="2332202" y="416054"/>
                  </a:lnTo>
                  <a:lnTo>
                    <a:pt x="2358382" y="447587"/>
                  </a:lnTo>
                  <a:lnTo>
                    <a:pt x="2382576" y="479935"/>
                  </a:lnTo>
                  <a:lnTo>
                    <a:pt x="2404728" y="513059"/>
                  </a:lnTo>
                  <a:lnTo>
                    <a:pt x="2424783" y="546925"/>
                  </a:lnTo>
                  <a:lnTo>
                    <a:pt x="2442685" y="581494"/>
                  </a:lnTo>
                  <a:lnTo>
                    <a:pt x="2458380" y="616729"/>
                  </a:lnTo>
                  <a:lnTo>
                    <a:pt x="2471811" y="652593"/>
                  </a:lnTo>
                  <a:lnTo>
                    <a:pt x="2482925" y="689050"/>
                  </a:lnTo>
                  <a:lnTo>
                    <a:pt x="2497976" y="763592"/>
                  </a:lnTo>
                  <a:lnTo>
                    <a:pt x="2501803" y="801602"/>
                  </a:lnTo>
                  <a:lnTo>
                    <a:pt x="2503091" y="840057"/>
                  </a:lnTo>
                  <a:lnTo>
                    <a:pt x="2501803" y="878512"/>
                  </a:lnTo>
                  <a:lnTo>
                    <a:pt x="2497976" y="916523"/>
                  </a:lnTo>
                  <a:lnTo>
                    <a:pt x="2482925" y="991064"/>
                  </a:lnTo>
                  <a:lnTo>
                    <a:pt x="2471811" y="1027521"/>
                  </a:lnTo>
                  <a:lnTo>
                    <a:pt x="2458380" y="1063385"/>
                  </a:lnTo>
                  <a:lnTo>
                    <a:pt x="2442685" y="1098621"/>
                  </a:lnTo>
                  <a:lnTo>
                    <a:pt x="2424783" y="1133189"/>
                  </a:lnTo>
                  <a:lnTo>
                    <a:pt x="2404728" y="1167055"/>
                  </a:lnTo>
                  <a:lnTo>
                    <a:pt x="2382576" y="1200180"/>
                  </a:lnTo>
                  <a:lnTo>
                    <a:pt x="2358382" y="1232527"/>
                  </a:lnTo>
                  <a:lnTo>
                    <a:pt x="2332202" y="1264060"/>
                  </a:lnTo>
                  <a:lnTo>
                    <a:pt x="2304090" y="1294741"/>
                  </a:lnTo>
                  <a:lnTo>
                    <a:pt x="2274102" y="1324534"/>
                  </a:lnTo>
                  <a:lnTo>
                    <a:pt x="2242293" y="1353401"/>
                  </a:lnTo>
                  <a:lnTo>
                    <a:pt x="2208718" y="1381305"/>
                  </a:lnTo>
                  <a:lnTo>
                    <a:pt x="2173433" y="1408209"/>
                  </a:lnTo>
                  <a:lnTo>
                    <a:pt x="2136493" y="1434076"/>
                  </a:lnTo>
                  <a:lnTo>
                    <a:pt x="2097953" y="1458869"/>
                  </a:lnTo>
                  <a:lnTo>
                    <a:pt x="2057869" y="1482551"/>
                  </a:lnTo>
                  <a:lnTo>
                    <a:pt x="2016295" y="1505085"/>
                  </a:lnTo>
                  <a:lnTo>
                    <a:pt x="1973287" y="1526434"/>
                  </a:lnTo>
                  <a:lnTo>
                    <a:pt x="1928901" y="1546560"/>
                  </a:lnTo>
                  <a:lnTo>
                    <a:pt x="1883190" y="1565427"/>
                  </a:lnTo>
                  <a:lnTo>
                    <a:pt x="1836212" y="1582998"/>
                  </a:lnTo>
                  <a:lnTo>
                    <a:pt x="1788020" y="1599235"/>
                  </a:lnTo>
                  <a:lnTo>
                    <a:pt x="1738671" y="1614102"/>
                  </a:lnTo>
                  <a:lnTo>
                    <a:pt x="1688219" y="1627561"/>
                  </a:lnTo>
                  <a:lnTo>
                    <a:pt x="1636720" y="1639576"/>
                  </a:lnTo>
                  <a:lnTo>
                    <a:pt x="1584229" y="1650109"/>
                  </a:lnTo>
                  <a:lnTo>
                    <a:pt x="1530801" y="1659123"/>
                  </a:lnTo>
                  <a:lnTo>
                    <a:pt x="1476492" y="1666581"/>
                  </a:lnTo>
                  <a:lnTo>
                    <a:pt x="1421357" y="1672447"/>
                  </a:lnTo>
                  <a:lnTo>
                    <a:pt x="1365450" y="1676682"/>
                  </a:lnTo>
                  <a:lnTo>
                    <a:pt x="1308828" y="1679250"/>
                  </a:lnTo>
                  <a:lnTo>
                    <a:pt x="1251545" y="1680115"/>
                  </a:lnTo>
                  <a:lnTo>
                    <a:pt x="1194263" y="1679250"/>
                  </a:lnTo>
                  <a:lnTo>
                    <a:pt x="1137641" y="1676682"/>
                  </a:lnTo>
                  <a:lnTo>
                    <a:pt x="1081734" y="1672447"/>
                  </a:lnTo>
                  <a:lnTo>
                    <a:pt x="1026599" y="1666581"/>
                  </a:lnTo>
                  <a:lnTo>
                    <a:pt x="972290" y="1659123"/>
                  </a:lnTo>
                  <a:lnTo>
                    <a:pt x="918862" y="1650109"/>
                  </a:lnTo>
                  <a:lnTo>
                    <a:pt x="866371" y="1639576"/>
                  </a:lnTo>
                  <a:lnTo>
                    <a:pt x="814872" y="1627561"/>
                  </a:lnTo>
                  <a:lnTo>
                    <a:pt x="764420" y="1614102"/>
                  </a:lnTo>
                  <a:lnTo>
                    <a:pt x="715071" y="1599235"/>
                  </a:lnTo>
                  <a:lnTo>
                    <a:pt x="666879" y="1582998"/>
                  </a:lnTo>
                  <a:lnTo>
                    <a:pt x="619901" y="1565427"/>
                  </a:lnTo>
                  <a:lnTo>
                    <a:pt x="574190" y="1546560"/>
                  </a:lnTo>
                  <a:lnTo>
                    <a:pt x="529804" y="1526434"/>
                  </a:lnTo>
                  <a:lnTo>
                    <a:pt x="486796" y="1505085"/>
                  </a:lnTo>
                  <a:lnTo>
                    <a:pt x="445222" y="1482551"/>
                  </a:lnTo>
                  <a:lnTo>
                    <a:pt x="405138" y="1458869"/>
                  </a:lnTo>
                  <a:lnTo>
                    <a:pt x="366598" y="1434076"/>
                  </a:lnTo>
                  <a:lnTo>
                    <a:pt x="329658" y="1408209"/>
                  </a:lnTo>
                  <a:lnTo>
                    <a:pt x="294373" y="1381305"/>
                  </a:lnTo>
                  <a:lnTo>
                    <a:pt x="260798" y="1353401"/>
                  </a:lnTo>
                  <a:lnTo>
                    <a:pt x="228989" y="1324534"/>
                  </a:lnTo>
                  <a:lnTo>
                    <a:pt x="199001" y="1294741"/>
                  </a:lnTo>
                  <a:lnTo>
                    <a:pt x="170889" y="1264060"/>
                  </a:lnTo>
                  <a:lnTo>
                    <a:pt x="144709" y="1232527"/>
                  </a:lnTo>
                  <a:lnTo>
                    <a:pt x="120515" y="1200180"/>
                  </a:lnTo>
                  <a:lnTo>
                    <a:pt x="98363" y="1167055"/>
                  </a:lnTo>
                  <a:lnTo>
                    <a:pt x="78308" y="1133189"/>
                  </a:lnTo>
                  <a:lnTo>
                    <a:pt x="60406" y="1098621"/>
                  </a:lnTo>
                  <a:lnTo>
                    <a:pt x="44711" y="1063385"/>
                  </a:lnTo>
                  <a:lnTo>
                    <a:pt x="31280" y="1027521"/>
                  </a:lnTo>
                  <a:lnTo>
                    <a:pt x="20166" y="991064"/>
                  </a:lnTo>
                  <a:lnTo>
                    <a:pt x="5115" y="916523"/>
                  </a:lnTo>
                  <a:lnTo>
                    <a:pt x="1288" y="878512"/>
                  </a:lnTo>
                  <a:lnTo>
                    <a:pt x="0" y="840057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842364" y="1840245"/>
            <a:ext cx="1649730" cy="2353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sz="145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Deployment</a:t>
            </a:r>
            <a:r>
              <a:rPr sz="1450" u="heavy" spc="-9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45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models</a:t>
            </a:r>
            <a:endParaRPr sz="1450" dirty="0">
              <a:latin typeface="Arial"/>
              <a:cs typeface="Arial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7080796" y="2140572"/>
          <a:ext cx="1395094" cy="1138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6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7335">
                <a:tc gridSpan="2">
                  <a:txBody>
                    <a:bodyPr/>
                    <a:lstStyle/>
                    <a:p>
                      <a:pPr marL="16891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Public</a:t>
                      </a:r>
                      <a:r>
                        <a:rPr sz="12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cloud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18415" marB="0"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165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Private</a:t>
                      </a:r>
                      <a:r>
                        <a:rPr sz="1200" spc="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cloud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  <a:lnB w="7620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545">
                <a:tc gridSpan="3"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Community</a:t>
                      </a:r>
                      <a:r>
                        <a:rPr sz="1200" spc="2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20" dirty="0">
                          <a:latin typeface="Arial"/>
                          <a:cs typeface="Arial"/>
                        </a:rPr>
                        <a:t>cloud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9530" marB="0">
                    <a:lnT w="7620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E8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0510">
                <a:tc gridSpan="2"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sz="1200" dirty="0">
                          <a:latin typeface="Arial"/>
                          <a:cs typeface="Arial"/>
                        </a:rPr>
                        <a:t>Hybrid</a:t>
                      </a:r>
                      <a:r>
                        <a:rPr sz="1200" spc="1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200" spc="-10" dirty="0">
                          <a:latin typeface="Arial"/>
                          <a:cs typeface="Arial"/>
                        </a:rPr>
                        <a:t>cloud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42544" marB="0">
                    <a:lnT w="57150">
                      <a:solidFill>
                        <a:srgbClr val="FFFFFF"/>
                      </a:solidFill>
                      <a:prstDash val="solid"/>
                    </a:lnT>
                    <a:solidFill>
                      <a:srgbClr val="E8EE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7150">
                      <a:solidFill>
                        <a:srgbClr val="FFFFF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a16:creationId xmlns:a16="http://schemas.microsoft.com/office/drawing/2014/main" id="{9BF2A0D4-AFB3-E42F-6F38-C8A77873D2B9}"/>
              </a:ext>
            </a:extLst>
          </p:cNvPr>
          <p:cNvGrpSpPr/>
          <p:nvPr/>
        </p:nvGrpSpPr>
        <p:grpSpPr>
          <a:xfrm>
            <a:off x="6835627" y="4272356"/>
            <a:ext cx="2720340" cy="1725295"/>
            <a:chOff x="6835627" y="4272356"/>
            <a:chExt cx="2720340" cy="1725295"/>
          </a:xfrm>
        </p:grpSpPr>
        <p:grpSp>
          <p:nvGrpSpPr>
            <p:cNvPr id="14" name="object 14"/>
            <p:cNvGrpSpPr/>
            <p:nvPr/>
          </p:nvGrpSpPr>
          <p:grpSpPr>
            <a:xfrm>
              <a:off x="6835627" y="4272356"/>
              <a:ext cx="2720340" cy="1725295"/>
              <a:chOff x="5311627" y="4272355"/>
              <a:chExt cx="2720340" cy="1725295"/>
            </a:xfrm>
          </p:grpSpPr>
          <p:sp>
            <p:nvSpPr>
              <p:cNvPr id="15" name="object 15"/>
              <p:cNvSpPr/>
              <p:nvPr/>
            </p:nvSpPr>
            <p:spPr>
              <a:xfrm>
                <a:off x="5313210" y="4273930"/>
                <a:ext cx="2717165" cy="1722120"/>
              </a:xfrm>
              <a:custGeom>
                <a:avLst/>
                <a:gdLst/>
                <a:ahLst/>
                <a:cxnLst/>
                <a:rect l="l" t="t" r="r" b="b"/>
                <a:pathLst>
                  <a:path w="2717165" h="1722120">
                    <a:moveTo>
                      <a:pt x="1358366" y="0"/>
                    </a:moveTo>
                    <a:lnTo>
                      <a:pt x="1299444" y="806"/>
                    </a:lnTo>
                    <a:lnTo>
                      <a:pt x="1241163" y="3180"/>
                    </a:lnTo>
                    <a:lnTo>
                      <a:pt x="1183574" y="7091"/>
                    </a:lnTo>
                    <a:lnTo>
                      <a:pt x="1126729" y="12505"/>
                    </a:lnTo>
                    <a:lnTo>
                      <a:pt x="1070677" y="19392"/>
                    </a:lnTo>
                    <a:lnTo>
                      <a:pt x="1015470" y="27717"/>
                    </a:lnTo>
                    <a:lnTo>
                      <a:pt x="961159" y="37450"/>
                    </a:lnTo>
                    <a:lnTo>
                      <a:pt x="907795" y="48558"/>
                    </a:lnTo>
                    <a:lnTo>
                      <a:pt x="855428" y="61008"/>
                    </a:lnTo>
                    <a:lnTo>
                      <a:pt x="804111" y="74768"/>
                    </a:lnTo>
                    <a:lnTo>
                      <a:pt x="753893" y="89806"/>
                    </a:lnTo>
                    <a:lnTo>
                      <a:pt x="704826" y="106090"/>
                    </a:lnTo>
                    <a:lnTo>
                      <a:pt x="656961" y="123587"/>
                    </a:lnTo>
                    <a:lnTo>
                      <a:pt x="610349" y="142265"/>
                    </a:lnTo>
                    <a:lnTo>
                      <a:pt x="565040" y="162092"/>
                    </a:lnTo>
                    <a:lnTo>
                      <a:pt x="521086" y="183036"/>
                    </a:lnTo>
                    <a:lnTo>
                      <a:pt x="478538" y="205063"/>
                    </a:lnTo>
                    <a:lnTo>
                      <a:pt x="437446" y="228143"/>
                    </a:lnTo>
                    <a:lnTo>
                      <a:pt x="397862" y="252242"/>
                    </a:lnTo>
                    <a:lnTo>
                      <a:pt x="359836" y="277329"/>
                    </a:lnTo>
                    <a:lnTo>
                      <a:pt x="323420" y="303370"/>
                    </a:lnTo>
                    <a:lnTo>
                      <a:pt x="288665" y="330335"/>
                    </a:lnTo>
                    <a:lnTo>
                      <a:pt x="255621" y="358190"/>
                    </a:lnTo>
                    <a:lnTo>
                      <a:pt x="224339" y="386903"/>
                    </a:lnTo>
                    <a:lnTo>
                      <a:pt x="194871" y="416442"/>
                    </a:lnTo>
                    <a:lnTo>
                      <a:pt x="167267" y="446775"/>
                    </a:lnTo>
                    <a:lnTo>
                      <a:pt x="141579" y="477869"/>
                    </a:lnTo>
                    <a:lnTo>
                      <a:pt x="117857" y="509692"/>
                    </a:lnTo>
                    <a:lnTo>
                      <a:pt x="96152" y="542212"/>
                    </a:lnTo>
                    <a:lnTo>
                      <a:pt x="76516" y="575397"/>
                    </a:lnTo>
                    <a:lnTo>
                      <a:pt x="43651" y="643630"/>
                    </a:lnTo>
                    <a:lnTo>
                      <a:pt x="19672" y="714134"/>
                    </a:lnTo>
                    <a:lnTo>
                      <a:pt x="4986" y="786650"/>
                    </a:lnTo>
                    <a:lnTo>
                      <a:pt x="0" y="860920"/>
                    </a:lnTo>
                    <a:lnTo>
                      <a:pt x="1264" y="898262"/>
                    </a:lnTo>
                    <a:lnTo>
                      <a:pt x="11167" y="971696"/>
                    </a:lnTo>
                    <a:lnTo>
                      <a:pt x="30564" y="1043245"/>
                    </a:lnTo>
                    <a:lnTo>
                      <a:pt x="59046" y="1112652"/>
                    </a:lnTo>
                    <a:lnTo>
                      <a:pt x="96206" y="1179659"/>
                    </a:lnTo>
                    <a:lnTo>
                      <a:pt x="117914" y="1212181"/>
                    </a:lnTo>
                    <a:lnTo>
                      <a:pt x="141638" y="1244006"/>
                    </a:lnTo>
                    <a:lnTo>
                      <a:pt x="167328" y="1275102"/>
                    </a:lnTo>
                    <a:lnTo>
                      <a:pt x="194933" y="1305436"/>
                    </a:lnTo>
                    <a:lnTo>
                      <a:pt x="224402" y="1334976"/>
                    </a:lnTo>
                    <a:lnTo>
                      <a:pt x="255684" y="1363690"/>
                    </a:lnTo>
                    <a:lnTo>
                      <a:pt x="288729" y="1391546"/>
                    </a:lnTo>
                    <a:lnTo>
                      <a:pt x="323485" y="1418510"/>
                    </a:lnTo>
                    <a:lnTo>
                      <a:pt x="359901" y="1444551"/>
                    </a:lnTo>
                    <a:lnTo>
                      <a:pt x="397927" y="1469637"/>
                    </a:lnTo>
                    <a:lnTo>
                      <a:pt x="437511" y="1493735"/>
                    </a:lnTo>
                    <a:lnTo>
                      <a:pt x="478604" y="1516813"/>
                    </a:lnTo>
                    <a:lnTo>
                      <a:pt x="521152" y="1538839"/>
                    </a:lnTo>
                    <a:lnTo>
                      <a:pt x="565107" y="1559780"/>
                    </a:lnTo>
                    <a:lnTo>
                      <a:pt x="610417" y="1579604"/>
                    </a:lnTo>
                    <a:lnTo>
                      <a:pt x="657030" y="1598279"/>
                    </a:lnTo>
                    <a:lnTo>
                      <a:pt x="704897" y="1615772"/>
                    </a:lnTo>
                    <a:lnTo>
                      <a:pt x="753966" y="1632052"/>
                    </a:lnTo>
                    <a:lnTo>
                      <a:pt x="804186" y="1647085"/>
                    </a:lnTo>
                    <a:lnTo>
                      <a:pt x="855507" y="1660840"/>
                    </a:lnTo>
                    <a:lnTo>
                      <a:pt x="907877" y="1673284"/>
                    </a:lnTo>
                    <a:lnTo>
                      <a:pt x="961245" y="1684385"/>
                    </a:lnTo>
                    <a:lnTo>
                      <a:pt x="1015561" y="1694111"/>
                    </a:lnTo>
                    <a:lnTo>
                      <a:pt x="1070774" y="1702429"/>
                    </a:lnTo>
                    <a:lnTo>
                      <a:pt x="1126832" y="1709307"/>
                    </a:lnTo>
                    <a:lnTo>
                      <a:pt x="1183686" y="1714713"/>
                    </a:lnTo>
                    <a:lnTo>
                      <a:pt x="1241283" y="1718614"/>
                    </a:lnTo>
                    <a:lnTo>
                      <a:pt x="1299573" y="1720979"/>
                    </a:lnTo>
                    <a:lnTo>
                      <a:pt x="1358506" y="1721774"/>
                    </a:lnTo>
                    <a:lnTo>
                      <a:pt x="1417427" y="1720979"/>
                    </a:lnTo>
                    <a:lnTo>
                      <a:pt x="1475708" y="1718614"/>
                    </a:lnTo>
                    <a:lnTo>
                      <a:pt x="1533295" y="1714713"/>
                    </a:lnTo>
                    <a:lnTo>
                      <a:pt x="1590139" y="1709307"/>
                    </a:lnTo>
                    <a:lnTo>
                      <a:pt x="1646189" y="1702429"/>
                    </a:lnTo>
                    <a:lnTo>
                      <a:pt x="1701394" y="1694111"/>
                    </a:lnTo>
                    <a:lnTo>
                      <a:pt x="1755702" y="1684385"/>
                    </a:lnTo>
                    <a:lnTo>
                      <a:pt x="1809063" y="1673284"/>
                    </a:lnTo>
                    <a:lnTo>
                      <a:pt x="1861426" y="1660840"/>
                    </a:lnTo>
                    <a:lnTo>
                      <a:pt x="1912739" y="1647085"/>
                    </a:lnTo>
                    <a:lnTo>
                      <a:pt x="1962953" y="1632052"/>
                    </a:lnTo>
                    <a:lnTo>
                      <a:pt x="2012016" y="1615772"/>
                    </a:lnTo>
                    <a:lnTo>
                      <a:pt x="2059876" y="1598279"/>
                    </a:lnTo>
                    <a:lnTo>
                      <a:pt x="2106484" y="1579604"/>
                    </a:lnTo>
                    <a:lnTo>
                      <a:pt x="2151788" y="1559780"/>
                    </a:lnTo>
                    <a:lnTo>
                      <a:pt x="2195737" y="1538839"/>
                    </a:lnTo>
                    <a:lnTo>
                      <a:pt x="2238281" y="1516813"/>
                    </a:lnTo>
                    <a:lnTo>
                      <a:pt x="2279367" y="1493735"/>
                    </a:lnTo>
                    <a:lnTo>
                      <a:pt x="2318946" y="1469637"/>
                    </a:lnTo>
                    <a:lnTo>
                      <a:pt x="2356967" y="1444551"/>
                    </a:lnTo>
                    <a:lnTo>
                      <a:pt x="2393378" y="1418510"/>
                    </a:lnTo>
                    <a:lnTo>
                      <a:pt x="2428129" y="1391546"/>
                    </a:lnTo>
                    <a:lnTo>
                      <a:pt x="2461168" y="1363690"/>
                    </a:lnTo>
                    <a:lnTo>
                      <a:pt x="2492445" y="1334976"/>
                    </a:lnTo>
                    <a:lnTo>
                      <a:pt x="2521908" y="1305436"/>
                    </a:lnTo>
                    <a:lnTo>
                      <a:pt x="2549508" y="1275102"/>
                    </a:lnTo>
                    <a:lnTo>
                      <a:pt x="2575192" y="1244006"/>
                    </a:lnTo>
                    <a:lnTo>
                      <a:pt x="2598910" y="1212181"/>
                    </a:lnTo>
                    <a:lnTo>
                      <a:pt x="2620611" y="1179659"/>
                    </a:lnTo>
                    <a:lnTo>
                      <a:pt x="2640244" y="1146472"/>
                    </a:lnTo>
                    <a:lnTo>
                      <a:pt x="2673102" y="1078233"/>
                    </a:lnTo>
                    <a:lnTo>
                      <a:pt x="2697077" y="1007722"/>
                    </a:lnTo>
                    <a:lnTo>
                      <a:pt x="2711760" y="935198"/>
                    </a:lnTo>
                    <a:lnTo>
                      <a:pt x="2716745" y="860920"/>
                    </a:lnTo>
                    <a:lnTo>
                      <a:pt x="2715491" y="823582"/>
                    </a:lnTo>
                    <a:lnTo>
                      <a:pt x="2705606" y="750156"/>
                    </a:lnTo>
                    <a:lnTo>
                      <a:pt x="2686227" y="678614"/>
                    </a:lnTo>
                    <a:lnTo>
                      <a:pt x="2657762" y="609213"/>
                    </a:lnTo>
                    <a:lnTo>
                      <a:pt x="2620620" y="542212"/>
                    </a:lnTo>
                    <a:lnTo>
                      <a:pt x="2598922" y="509692"/>
                    </a:lnTo>
                    <a:lnTo>
                      <a:pt x="2575207" y="477869"/>
                    </a:lnTo>
                    <a:lnTo>
                      <a:pt x="2549527" y="446775"/>
                    </a:lnTo>
                    <a:lnTo>
                      <a:pt x="2521932" y="416442"/>
                    </a:lnTo>
                    <a:lnTo>
                      <a:pt x="2492474" y="386903"/>
                    </a:lnTo>
                    <a:lnTo>
                      <a:pt x="2461202" y="358190"/>
                    </a:lnTo>
                    <a:lnTo>
                      <a:pt x="2428169" y="330335"/>
                    </a:lnTo>
                    <a:lnTo>
                      <a:pt x="2393425" y="303370"/>
                    </a:lnTo>
                    <a:lnTo>
                      <a:pt x="2357021" y="277329"/>
                    </a:lnTo>
                    <a:lnTo>
                      <a:pt x="2319008" y="252242"/>
                    </a:lnTo>
                    <a:lnTo>
                      <a:pt x="2279437" y="228143"/>
                    </a:lnTo>
                    <a:lnTo>
                      <a:pt x="2238359" y="205063"/>
                    </a:lnTo>
                    <a:lnTo>
                      <a:pt x="2195824" y="183036"/>
                    </a:lnTo>
                    <a:lnTo>
                      <a:pt x="2151884" y="162092"/>
                    </a:lnTo>
                    <a:lnTo>
                      <a:pt x="2106590" y="142265"/>
                    </a:lnTo>
                    <a:lnTo>
                      <a:pt x="2059991" y="123587"/>
                    </a:lnTo>
                    <a:lnTo>
                      <a:pt x="2012140" y="106090"/>
                    </a:lnTo>
                    <a:lnTo>
                      <a:pt x="1963087" y="89806"/>
                    </a:lnTo>
                    <a:lnTo>
                      <a:pt x="1912883" y="74768"/>
                    </a:lnTo>
                    <a:lnTo>
                      <a:pt x="1861579" y="61008"/>
                    </a:lnTo>
                    <a:lnTo>
                      <a:pt x="1809225" y="48558"/>
                    </a:lnTo>
                    <a:lnTo>
                      <a:pt x="1755873" y="37450"/>
                    </a:lnTo>
                    <a:lnTo>
                      <a:pt x="1701572" y="27717"/>
                    </a:lnTo>
                    <a:lnTo>
                      <a:pt x="1646374" y="19392"/>
                    </a:lnTo>
                    <a:lnTo>
                      <a:pt x="1590327" y="12505"/>
                    </a:lnTo>
                    <a:lnTo>
                      <a:pt x="1533481" y="7091"/>
                    </a:lnTo>
                    <a:lnTo>
                      <a:pt x="1475881" y="3180"/>
                    </a:lnTo>
                    <a:lnTo>
                      <a:pt x="1476077" y="3180"/>
                    </a:lnTo>
                    <a:lnTo>
                      <a:pt x="1417556" y="806"/>
                    </a:lnTo>
                    <a:lnTo>
                      <a:pt x="1418073" y="806"/>
                    </a:lnTo>
                    <a:lnTo>
                      <a:pt x="1358366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6"/>
              <p:cNvSpPr/>
              <p:nvPr/>
            </p:nvSpPr>
            <p:spPr>
              <a:xfrm>
                <a:off x="5313215" y="4273943"/>
                <a:ext cx="2717165" cy="1722120"/>
              </a:xfrm>
              <a:custGeom>
                <a:avLst/>
                <a:gdLst/>
                <a:ahLst/>
                <a:cxnLst/>
                <a:rect l="l" t="t" r="r" b="b"/>
                <a:pathLst>
                  <a:path w="2717165" h="1722120">
                    <a:moveTo>
                      <a:pt x="0" y="860914"/>
                    </a:moveTo>
                    <a:lnTo>
                      <a:pt x="4986" y="786644"/>
                    </a:lnTo>
                    <a:lnTo>
                      <a:pt x="19672" y="714128"/>
                    </a:lnTo>
                    <a:lnTo>
                      <a:pt x="43652" y="643624"/>
                    </a:lnTo>
                    <a:lnTo>
                      <a:pt x="76517" y="575391"/>
                    </a:lnTo>
                    <a:lnTo>
                      <a:pt x="96153" y="542207"/>
                    </a:lnTo>
                    <a:lnTo>
                      <a:pt x="117858" y="509687"/>
                    </a:lnTo>
                    <a:lnTo>
                      <a:pt x="141581" y="477863"/>
                    </a:lnTo>
                    <a:lnTo>
                      <a:pt x="167269" y="446769"/>
                    </a:lnTo>
                    <a:lnTo>
                      <a:pt x="194873" y="416437"/>
                    </a:lnTo>
                    <a:lnTo>
                      <a:pt x="224342" y="386897"/>
                    </a:lnTo>
                    <a:lnTo>
                      <a:pt x="255624" y="358184"/>
                    </a:lnTo>
                    <a:lnTo>
                      <a:pt x="288668" y="330329"/>
                    </a:lnTo>
                    <a:lnTo>
                      <a:pt x="323424" y="303365"/>
                    </a:lnTo>
                    <a:lnTo>
                      <a:pt x="359841" y="277323"/>
                    </a:lnTo>
                    <a:lnTo>
                      <a:pt x="397867" y="252237"/>
                    </a:lnTo>
                    <a:lnTo>
                      <a:pt x="437451" y="228137"/>
                    </a:lnTo>
                    <a:lnTo>
                      <a:pt x="478543" y="205058"/>
                    </a:lnTo>
                    <a:lnTo>
                      <a:pt x="521092" y="183030"/>
                    </a:lnTo>
                    <a:lnTo>
                      <a:pt x="565047" y="162087"/>
                    </a:lnTo>
                    <a:lnTo>
                      <a:pt x="610356" y="142260"/>
                    </a:lnTo>
                    <a:lnTo>
                      <a:pt x="656969" y="123582"/>
                    </a:lnTo>
                    <a:lnTo>
                      <a:pt x="704834" y="106085"/>
                    </a:lnTo>
                    <a:lnTo>
                      <a:pt x="753901" y="89801"/>
                    </a:lnTo>
                    <a:lnTo>
                      <a:pt x="804120" y="74763"/>
                    </a:lnTo>
                    <a:lnTo>
                      <a:pt x="855437" y="61003"/>
                    </a:lnTo>
                    <a:lnTo>
                      <a:pt x="907804" y="48554"/>
                    </a:lnTo>
                    <a:lnTo>
                      <a:pt x="961169" y="37447"/>
                    </a:lnTo>
                    <a:lnTo>
                      <a:pt x="1015480" y="27714"/>
                    </a:lnTo>
                    <a:lnTo>
                      <a:pt x="1070687" y="19389"/>
                    </a:lnTo>
                    <a:lnTo>
                      <a:pt x="1126740" y="12503"/>
                    </a:lnTo>
                    <a:lnTo>
                      <a:pt x="1183586" y="7089"/>
                    </a:lnTo>
                    <a:lnTo>
                      <a:pt x="1241175" y="3179"/>
                    </a:lnTo>
                    <a:lnTo>
                      <a:pt x="1299456" y="805"/>
                    </a:lnTo>
                    <a:lnTo>
                      <a:pt x="1358378" y="0"/>
                    </a:lnTo>
                    <a:lnTo>
                      <a:pt x="1417310" y="795"/>
                    </a:lnTo>
                    <a:lnTo>
                      <a:pt x="1475600" y="3160"/>
                    </a:lnTo>
                    <a:lnTo>
                      <a:pt x="1533197" y="7063"/>
                    </a:lnTo>
                    <a:lnTo>
                      <a:pt x="1590050" y="12470"/>
                    </a:lnTo>
                    <a:lnTo>
                      <a:pt x="1646108" y="19350"/>
                    </a:lnTo>
                    <a:lnTo>
                      <a:pt x="1701321" y="27670"/>
                    </a:lnTo>
                    <a:lnTo>
                      <a:pt x="1755636" y="37398"/>
                    </a:lnTo>
                    <a:lnTo>
                      <a:pt x="1809004" y="48502"/>
                    </a:lnTo>
                    <a:lnTo>
                      <a:pt x="1861374" y="60949"/>
                    </a:lnTo>
                    <a:lnTo>
                      <a:pt x="1912693" y="74707"/>
                    </a:lnTo>
                    <a:lnTo>
                      <a:pt x="1962913" y="89744"/>
                    </a:lnTo>
                    <a:lnTo>
                      <a:pt x="2011981" y="106027"/>
                    </a:lnTo>
                    <a:lnTo>
                      <a:pt x="2059846" y="123524"/>
                    </a:lnTo>
                    <a:lnTo>
                      <a:pt x="2106459" y="142202"/>
                    </a:lnTo>
                    <a:lnTo>
                      <a:pt x="2151767" y="162030"/>
                    </a:lnTo>
                    <a:lnTo>
                      <a:pt x="2195720" y="182975"/>
                    </a:lnTo>
                    <a:lnTo>
                      <a:pt x="2238267" y="205004"/>
                    </a:lnTo>
                    <a:lnTo>
                      <a:pt x="2279357" y="228086"/>
                    </a:lnTo>
                    <a:lnTo>
                      <a:pt x="2318939" y="252187"/>
                    </a:lnTo>
                    <a:lnTo>
                      <a:pt x="2356963" y="277277"/>
                    </a:lnTo>
                    <a:lnTo>
                      <a:pt x="2393376" y="303321"/>
                    </a:lnTo>
                    <a:lnTo>
                      <a:pt x="2428129" y="330289"/>
                    </a:lnTo>
                    <a:lnTo>
                      <a:pt x="2461170" y="358147"/>
                    </a:lnTo>
                    <a:lnTo>
                      <a:pt x="2492449" y="386864"/>
                    </a:lnTo>
                    <a:lnTo>
                      <a:pt x="2521914" y="416406"/>
                    </a:lnTo>
                    <a:lnTo>
                      <a:pt x="2549514" y="446742"/>
                    </a:lnTo>
                    <a:lnTo>
                      <a:pt x="2575200" y="477840"/>
                    </a:lnTo>
                    <a:lnTo>
                      <a:pt x="2598919" y="509667"/>
                    </a:lnTo>
                    <a:lnTo>
                      <a:pt x="2620620" y="542190"/>
                    </a:lnTo>
                    <a:lnTo>
                      <a:pt x="2640254" y="575377"/>
                    </a:lnTo>
                    <a:lnTo>
                      <a:pt x="2673113" y="643616"/>
                    </a:lnTo>
                    <a:lnTo>
                      <a:pt x="2697088" y="714124"/>
                    </a:lnTo>
                    <a:lnTo>
                      <a:pt x="2711772" y="786643"/>
                    </a:lnTo>
                    <a:lnTo>
                      <a:pt x="2716757" y="860914"/>
                    </a:lnTo>
                    <a:lnTo>
                      <a:pt x="2715502" y="898256"/>
                    </a:lnTo>
                    <a:lnTo>
                      <a:pt x="2711772" y="935192"/>
                    </a:lnTo>
                    <a:lnTo>
                      <a:pt x="2697088" y="1007716"/>
                    </a:lnTo>
                    <a:lnTo>
                      <a:pt x="2673114" y="1078226"/>
                    </a:lnTo>
                    <a:lnTo>
                      <a:pt x="2640255" y="1146464"/>
                    </a:lnTo>
                    <a:lnTo>
                      <a:pt x="2620622" y="1179651"/>
                    </a:lnTo>
                    <a:lnTo>
                      <a:pt x="2598921" y="1212173"/>
                    </a:lnTo>
                    <a:lnTo>
                      <a:pt x="2575203" y="1243998"/>
                    </a:lnTo>
                    <a:lnTo>
                      <a:pt x="2549518" y="1275094"/>
                    </a:lnTo>
                    <a:lnTo>
                      <a:pt x="2521919" y="1305428"/>
                    </a:lnTo>
                    <a:lnTo>
                      <a:pt x="2492455" y="1334968"/>
                    </a:lnTo>
                    <a:lnTo>
                      <a:pt x="2461178" y="1363682"/>
                    </a:lnTo>
                    <a:lnTo>
                      <a:pt x="2428139" y="1391537"/>
                    </a:lnTo>
                    <a:lnTo>
                      <a:pt x="2393388" y="1418501"/>
                    </a:lnTo>
                    <a:lnTo>
                      <a:pt x="2356976" y="1444542"/>
                    </a:lnTo>
                    <a:lnTo>
                      <a:pt x="2318956" y="1469628"/>
                    </a:lnTo>
                    <a:lnTo>
                      <a:pt x="2279376" y="1493726"/>
                    </a:lnTo>
                    <a:lnTo>
                      <a:pt x="2238289" y="1516804"/>
                    </a:lnTo>
                    <a:lnTo>
                      <a:pt x="2195746" y="1538830"/>
                    </a:lnTo>
                    <a:lnTo>
                      <a:pt x="2151796" y="1559771"/>
                    </a:lnTo>
                    <a:lnTo>
                      <a:pt x="2106492" y="1579595"/>
                    </a:lnTo>
                    <a:lnTo>
                      <a:pt x="2059884" y="1598269"/>
                    </a:lnTo>
                    <a:lnTo>
                      <a:pt x="2012023" y="1615763"/>
                    </a:lnTo>
                    <a:lnTo>
                      <a:pt x="1962960" y="1632042"/>
                    </a:lnTo>
                    <a:lnTo>
                      <a:pt x="1912746" y="1647075"/>
                    </a:lnTo>
                    <a:lnTo>
                      <a:pt x="1861432" y="1660830"/>
                    </a:lnTo>
                    <a:lnTo>
                      <a:pt x="1809069" y="1673274"/>
                    </a:lnTo>
                    <a:lnTo>
                      <a:pt x="1755708" y="1684375"/>
                    </a:lnTo>
                    <a:lnTo>
                      <a:pt x="1701399" y="1694101"/>
                    </a:lnTo>
                    <a:lnTo>
                      <a:pt x="1646194" y="1702419"/>
                    </a:lnTo>
                    <a:lnTo>
                      <a:pt x="1590144" y="1709297"/>
                    </a:lnTo>
                    <a:lnTo>
                      <a:pt x="1533300" y="1714702"/>
                    </a:lnTo>
                    <a:lnTo>
                      <a:pt x="1475712" y="1718604"/>
                    </a:lnTo>
                    <a:lnTo>
                      <a:pt x="1417432" y="1720968"/>
                    </a:lnTo>
                    <a:lnTo>
                      <a:pt x="1358510" y="1721764"/>
                    </a:lnTo>
                    <a:lnTo>
                      <a:pt x="1299578" y="1720968"/>
                    </a:lnTo>
                    <a:lnTo>
                      <a:pt x="1241288" y="1718604"/>
                    </a:lnTo>
                    <a:lnTo>
                      <a:pt x="1183691" y="1714702"/>
                    </a:lnTo>
                    <a:lnTo>
                      <a:pt x="1126838" y="1709297"/>
                    </a:lnTo>
                    <a:lnTo>
                      <a:pt x="1070779" y="1702419"/>
                    </a:lnTo>
                    <a:lnTo>
                      <a:pt x="1015567" y="1694101"/>
                    </a:lnTo>
                    <a:lnTo>
                      <a:pt x="961251" y="1684375"/>
                    </a:lnTo>
                    <a:lnTo>
                      <a:pt x="907882" y="1673274"/>
                    </a:lnTo>
                    <a:lnTo>
                      <a:pt x="855513" y="1660830"/>
                    </a:lnTo>
                    <a:lnTo>
                      <a:pt x="804192" y="1647075"/>
                    </a:lnTo>
                    <a:lnTo>
                      <a:pt x="753972" y="1632042"/>
                    </a:lnTo>
                    <a:lnTo>
                      <a:pt x="704903" y="1615763"/>
                    </a:lnTo>
                    <a:lnTo>
                      <a:pt x="657036" y="1598269"/>
                    </a:lnTo>
                    <a:lnTo>
                      <a:pt x="610423" y="1579595"/>
                    </a:lnTo>
                    <a:lnTo>
                      <a:pt x="565113" y="1559771"/>
                    </a:lnTo>
                    <a:lnTo>
                      <a:pt x="521158" y="1538830"/>
                    </a:lnTo>
                    <a:lnTo>
                      <a:pt x="478609" y="1516804"/>
                    </a:lnTo>
                    <a:lnTo>
                      <a:pt x="437517" y="1493726"/>
                    </a:lnTo>
                    <a:lnTo>
                      <a:pt x="397932" y="1469628"/>
                    </a:lnTo>
                    <a:lnTo>
                      <a:pt x="359906" y="1444542"/>
                    </a:lnTo>
                    <a:lnTo>
                      <a:pt x="323490" y="1418501"/>
                    </a:lnTo>
                    <a:lnTo>
                      <a:pt x="288734" y="1391537"/>
                    </a:lnTo>
                    <a:lnTo>
                      <a:pt x="255689" y="1363682"/>
                    </a:lnTo>
                    <a:lnTo>
                      <a:pt x="224406" y="1334968"/>
                    </a:lnTo>
                    <a:lnTo>
                      <a:pt x="194937" y="1305428"/>
                    </a:lnTo>
                    <a:lnTo>
                      <a:pt x="167332" y="1275094"/>
                    </a:lnTo>
                    <a:lnTo>
                      <a:pt x="141641" y="1243998"/>
                    </a:lnTo>
                    <a:lnTo>
                      <a:pt x="117917" y="1212173"/>
                    </a:lnTo>
                    <a:lnTo>
                      <a:pt x="96209" y="1179651"/>
                    </a:lnTo>
                    <a:lnTo>
                      <a:pt x="76569" y="1146464"/>
                    </a:lnTo>
                    <a:lnTo>
                      <a:pt x="43697" y="1078226"/>
                    </a:lnTo>
                    <a:lnTo>
                      <a:pt x="19706" y="1007716"/>
                    </a:lnTo>
                    <a:lnTo>
                      <a:pt x="5004" y="935192"/>
                    </a:lnTo>
                    <a:lnTo>
                      <a:pt x="1264" y="898256"/>
                    </a:lnTo>
                    <a:lnTo>
                      <a:pt x="0" y="860914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7" name="object 17"/>
            <p:cNvSpPr txBox="1"/>
            <p:nvPr/>
          </p:nvSpPr>
          <p:spPr>
            <a:xfrm>
              <a:off x="7442545" y="4403050"/>
              <a:ext cx="1506855" cy="23532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450" u="heavy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Defining</a:t>
              </a:r>
              <a:r>
                <a:rPr sz="1450" u="heavy" spc="-65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 </a:t>
              </a:r>
              <a:r>
                <a:rPr sz="1450" u="heavy" spc="-1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attributes</a:t>
              </a:r>
              <a:endParaRPr sz="1450" dirty="0">
                <a:latin typeface="Arial"/>
                <a:cs typeface="Arial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7250621" y="4701658"/>
              <a:ext cx="1831339" cy="209673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24765" rIns="0" bIns="0" rtlCol="0">
              <a:spAutoFit/>
            </a:bodyPr>
            <a:lstStyle/>
            <a:p>
              <a:pPr marL="144780">
                <a:spcBef>
                  <a:spcPts val="195"/>
                </a:spcBef>
              </a:pPr>
              <a:r>
                <a:rPr sz="1200" dirty="0">
                  <a:latin typeface="Arial"/>
                  <a:cs typeface="Arial"/>
                </a:rPr>
                <a:t>Massive</a:t>
              </a:r>
              <a:r>
                <a:rPr sz="1200" spc="155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infrastructure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7121220" y="5304374"/>
              <a:ext cx="2090420" cy="210314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25400" rIns="0" bIns="0" rtlCol="0">
              <a:spAutoFit/>
            </a:bodyPr>
            <a:lstStyle/>
            <a:p>
              <a:pPr marL="125730">
                <a:spcBef>
                  <a:spcPts val="200"/>
                </a:spcBef>
              </a:pPr>
              <a:r>
                <a:rPr sz="1200" dirty="0">
                  <a:latin typeface="Arial"/>
                  <a:cs typeface="Arial"/>
                </a:rPr>
                <a:t>Accessible</a:t>
              </a:r>
              <a:r>
                <a:rPr sz="1200" spc="110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via</a:t>
              </a:r>
              <a:r>
                <a:rPr sz="1200" spc="110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the</a:t>
              </a:r>
              <a:r>
                <a:rPr sz="1200" spc="114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Internet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6955321" y="5009226"/>
              <a:ext cx="2385695" cy="210314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25400" rIns="0" bIns="0" rtlCol="0">
              <a:spAutoFit/>
            </a:bodyPr>
            <a:lstStyle/>
            <a:p>
              <a:pPr marL="54610">
                <a:spcBef>
                  <a:spcPts val="200"/>
                </a:spcBef>
              </a:pPr>
              <a:r>
                <a:rPr sz="1200" dirty="0">
                  <a:latin typeface="Arial"/>
                  <a:cs typeface="Arial"/>
                </a:rPr>
                <a:t>Utility</a:t>
              </a:r>
              <a:r>
                <a:rPr sz="1200" spc="229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computing.</a:t>
              </a:r>
              <a:r>
                <a:rPr sz="1200" spc="229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Pay-per-</a:t>
              </a:r>
              <a:r>
                <a:rPr sz="1200" spc="-20" dirty="0">
                  <a:latin typeface="Arial"/>
                  <a:cs typeface="Arial"/>
                </a:rPr>
                <a:t>usage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7575449" y="5629038"/>
              <a:ext cx="1181735" cy="210314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25400" rIns="0" bIns="0" rtlCol="0">
              <a:spAutoFit/>
            </a:bodyPr>
            <a:lstStyle/>
            <a:p>
              <a:pPr marL="279400">
                <a:spcBef>
                  <a:spcPts val="200"/>
                </a:spcBef>
              </a:pPr>
              <a:r>
                <a:rPr sz="1200" spc="-10" dirty="0">
                  <a:latin typeface="Arial"/>
                  <a:cs typeface="Arial"/>
                </a:rPr>
                <a:t>Elasticity</a:t>
              </a: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471524" y="3160630"/>
            <a:ext cx="2605405" cy="1537970"/>
            <a:chOff x="2947523" y="3160630"/>
            <a:chExt cx="2605405" cy="1537970"/>
          </a:xfrm>
        </p:grpSpPr>
        <p:sp>
          <p:nvSpPr>
            <p:cNvPr id="23" name="object 23"/>
            <p:cNvSpPr/>
            <p:nvPr/>
          </p:nvSpPr>
          <p:spPr>
            <a:xfrm>
              <a:off x="3067227" y="3280257"/>
              <a:ext cx="2484120" cy="1417320"/>
            </a:xfrm>
            <a:custGeom>
              <a:avLst/>
              <a:gdLst/>
              <a:ahLst/>
              <a:cxnLst/>
              <a:rect l="l" t="t" r="r" b="b"/>
              <a:pathLst>
                <a:path w="2484120" h="1417320">
                  <a:moveTo>
                    <a:pt x="1241958" y="0"/>
                  </a:moveTo>
                  <a:lnTo>
                    <a:pt x="0" y="541248"/>
                  </a:lnTo>
                  <a:lnTo>
                    <a:pt x="474446" y="1416723"/>
                  </a:lnTo>
                  <a:lnTo>
                    <a:pt x="2009609" y="1416723"/>
                  </a:lnTo>
                  <a:lnTo>
                    <a:pt x="2484056" y="541248"/>
                  </a:lnTo>
                  <a:lnTo>
                    <a:pt x="1241958" y="0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067230" y="3280277"/>
              <a:ext cx="2484120" cy="1417320"/>
            </a:xfrm>
            <a:custGeom>
              <a:avLst/>
              <a:gdLst/>
              <a:ahLst/>
              <a:cxnLst/>
              <a:rect l="l" t="t" r="r" b="b"/>
              <a:pathLst>
                <a:path w="2484120" h="1417320">
                  <a:moveTo>
                    <a:pt x="1241965" y="0"/>
                  </a:moveTo>
                  <a:lnTo>
                    <a:pt x="0" y="541236"/>
                  </a:lnTo>
                  <a:lnTo>
                    <a:pt x="474448" y="1416711"/>
                  </a:lnTo>
                  <a:lnTo>
                    <a:pt x="2009613" y="1416711"/>
                  </a:lnTo>
                  <a:lnTo>
                    <a:pt x="2484061" y="541236"/>
                  </a:lnTo>
                  <a:lnTo>
                    <a:pt x="1241965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49105" y="3162198"/>
              <a:ext cx="2484120" cy="1417320"/>
            </a:xfrm>
            <a:custGeom>
              <a:avLst/>
              <a:gdLst/>
              <a:ahLst/>
              <a:cxnLst/>
              <a:rect l="l" t="t" r="r" b="b"/>
              <a:pathLst>
                <a:path w="2484120" h="1417320">
                  <a:moveTo>
                    <a:pt x="1241958" y="0"/>
                  </a:moveTo>
                  <a:lnTo>
                    <a:pt x="0" y="541248"/>
                  </a:lnTo>
                  <a:lnTo>
                    <a:pt x="474446" y="1416723"/>
                  </a:lnTo>
                  <a:lnTo>
                    <a:pt x="2009609" y="1416723"/>
                  </a:lnTo>
                  <a:lnTo>
                    <a:pt x="2484056" y="541248"/>
                  </a:lnTo>
                  <a:lnTo>
                    <a:pt x="1241958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49110" y="3162218"/>
              <a:ext cx="2484120" cy="1417320"/>
            </a:xfrm>
            <a:custGeom>
              <a:avLst/>
              <a:gdLst/>
              <a:ahLst/>
              <a:cxnLst/>
              <a:rect l="l" t="t" r="r" b="b"/>
              <a:pathLst>
                <a:path w="2484120" h="1417320">
                  <a:moveTo>
                    <a:pt x="1241965" y="0"/>
                  </a:moveTo>
                  <a:lnTo>
                    <a:pt x="0" y="541236"/>
                  </a:lnTo>
                  <a:lnTo>
                    <a:pt x="474448" y="1416711"/>
                  </a:lnTo>
                  <a:lnTo>
                    <a:pt x="2009613" y="1416711"/>
                  </a:lnTo>
                  <a:lnTo>
                    <a:pt x="2484061" y="541236"/>
                  </a:lnTo>
                  <a:lnTo>
                    <a:pt x="1241965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14516" y="3711089"/>
            <a:ext cx="1601470" cy="26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50" dirty="0">
                <a:latin typeface="Arial"/>
                <a:cs typeface="Arial"/>
              </a:rPr>
              <a:t>Cloud</a:t>
            </a:r>
            <a:r>
              <a:rPr sz="1650" spc="-5" dirty="0">
                <a:latin typeface="Arial"/>
                <a:cs typeface="Arial"/>
              </a:rPr>
              <a:t> </a:t>
            </a:r>
            <a:r>
              <a:rPr sz="1650" spc="-10" dirty="0">
                <a:latin typeface="Arial"/>
                <a:cs typeface="Arial"/>
              </a:rPr>
              <a:t>computing</a:t>
            </a:r>
            <a:endParaRPr sz="165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3707168" y="3106458"/>
            <a:ext cx="1290955" cy="541020"/>
          </a:xfrm>
          <a:custGeom>
            <a:avLst/>
            <a:gdLst/>
            <a:ahLst/>
            <a:cxnLst/>
            <a:rect l="l" t="t" r="r" b="b"/>
            <a:pathLst>
              <a:path w="1290954" h="541020">
                <a:moveTo>
                  <a:pt x="285191" y="0"/>
                </a:moveTo>
                <a:lnTo>
                  <a:pt x="0" y="173799"/>
                </a:lnTo>
                <a:lnTo>
                  <a:pt x="173901" y="458990"/>
                </a:lnTo>
                <a:lnTo>
                  <a:pt x="245160" y="415569"/>
                </a:lnTo>
                <a:lnTo>
                  <a:pt x="158153" y="272973"/>
                </a:lnTo>
                <a:lnTo>
                  <a:pt x="1262824" y="540702"/>
                </a:lnTo>
                <a:lnTo>
                  <a:pt x="1290650" y="426059"/>
                </a:lnTo>
                <a:lnTo>
                  <a:pt x="186105" y="158191"/>
                </a:lnTo>
                <a:lnTo>
                  <a:pt x="328637" y="71361"/>
                </a:lnTo>
                <a:lnTo>
                  <a:pt x="285191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707168" y="3106468"/>
            <a:ext cx="1290955" cy="541020"/>
          </a:xfrm>
          <a:custGeom>
            <a:avLst/>
            <a:gdLst/>
            <a:ahLst/>
            <a:cxnLst/>
            <a:rect l="l" t="t" r="r" b="b"/>
            <a:pathLst>
              <a:path w="1290954" h="541020">
                <a:moveTo>
                  <a:pt x="0" y="173809"/>
                </a:moveTo>
                <a:lnTo>
                  <a:pt x="173898" y="458988"/>
                </a:lnTo>
                <a:lnTo>
                  <a:pt x="245164" y="415568"/>
                </a:lnTo>
                <a:lnTo>
                  <a:pt x="158149" y="272979"/>
                </a:lnTo>
                <a:lnTo>
                  <a:pt x="1262832" y="540711"/>
                </a:lnTo>
                <a:lnTo>
                  <a:pt x="1290656" y="426062"/>
                </a:lnTo>
                <a:lnTo>
                  <a:pt x="186104" y="158199"/>
                </a:lnTo>
                <a:lnTo>
                  <a:pt x="328635" y="71360"/>
                </a:lnTo>
                <a:lnTo>
                  <a:pt x="285193" y="0"/>
                </a:lnTo>
                <a:lnTo>
                  <a:pt x="0" y="173809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200533" y="2888957"/>
            <a:ext cx="585470" cy="664845"/>
          </a:xfrm>
          <a:custGeom>
            <a:avLst/>
            <a:gdLst/>
            <a:ahLst/>
            <a:cxnLst/>
            <a:rect l="l" t="t" r="r" b="b"/>
            <a:pathLst>
              <a:path w="585470" h="664845">
                <a:moveTo>
                  <a:pt x="548081" y="0"/>
                </a:moveTo>
                <a:lnTo>
                  <a:pt x="216166" y="36995"/>
                </a:lnTo>
                <a:lnTo>
                  <a:pt x="225348" y="119900"/>
                </a:lnTo>
                <a:lnTo>
                  <a:pt x="391375" y="101409"/>
                </a:lnTo>
                <a:lnTo>
                  <a:pt x="0" y="590562"/>
                </a:lnTo>
                <a:lnTo>
                  <a:pt x="92265" y="664413"/>
                </a:lnTo>
                <a:lnTo>
                  <a:pt x="483641" y="175120"/>
                </a:lnTo>
                <a:lnTo>
                  <a:pt x="502145" y="341058"/>
                </a:lnTo>
                <a:lnTo>
                  <a:pt x="585088" y="331876"/>
                </a:lnTo>
                <a:lnTo>
                  <a:pt x="548081" y="0"/>
                </a:lnTo>
                <a:close/>
              </a:path>
            </a:pathLst>
          </a:custGeom>
          <a:solidFill>
            <a:srgbClr val="A5A5A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200548" y="2888976"/>
            <a:ext cx="585470" cy="664845"/>
          </a:xfrm>
          <a:custGeom>
            <a:avLst/>
            <a:gdLst/>
            <a:ahLst/>
            <a:cxnLst/>
            <a:rect l="l" t="t" r="r" b="b"/>
            <a:pathLst>
              <a:path w="585470" h="664845">
                <a:moveTo>
                  <a:pt x="548076" y="0"/>
                </a:moveTo>
                <a:lnTo>
                  <a:pt x="216159" y="36991"/>
                </a:lnTo>
                <a:lnTo>
                  <a:pt x="225346" y="119895"/>
                </a:lnTo>
                <a:lnTo>
                  <a:pt x="391370" y="101399"/>
                </a:lnTo>
                <a:lnTo>
                  <a:pt x="0" y="590558"/>
                </a:lnTo>
                <a:lnTo>
                  <a:pt x="92264" y="664411"/>
                </a:lnTo>
                <a:lnTo>
                  <a:pt x="483635" y="175121"/>
                </a:lnTo>
                <a:lnTo>
                  <a:pt x="502140" y="341060"/>
                </a:lnTo>
                <a:lnTo>
                  <a:pt x="585087" y="331877"/>
                </a:lnTo>
                <a:lnTo>
                  <a:pt x="548076" y="0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55295" y="4013022"/>
            <a:ext cx="814069" cy="592455"/>
          </a:xfrm>
          <a:custGeom>
            <a:avLst/>
            <a:gdLst/>
            <a:ahLst/>
            <a:cxnLst/>
            <a:rect l="l" t="t" r="r" b="b"/>
            <a:pathLst>
              <a:path w="814070" h="592454">
                <a:moveTo>
                  <a:pt x="59321" y="0"/>
                </a:moveTo>
                <a:lnTo>
                  <a:pt x="0" y="102057"/>
                </a:lnTo>
                <a:lnTo>
                  <a:pt x="630618" y="468833"/>
                </a:lnTo>
                <a:lnTo>
                  <a:pt x="469201" y="511594"/>
                </a:lnTo>
                <a:lnTo>
                  <a:pt x="490461" y="592264"/>
                </a:lnTo>
                <a:lnTo>
                  <a:pt x="813447" y="506869"/>
                </a:lnTo>
                <a:lnTo>
                  <a:pt x="728141" y="184048"/>
                </a:lnTo>
                <a:lnTo>
                  <a:pt x="647420" y="205422"/>
                </a:lnTo>
                <a:lnTo>
                  <a:pt x="690079" y="366903"/>
                </a:lnTo>
                <a:lnTo>
                  <a:pt x="59321" y="0"/>
                </a:lnTo>
                <a:close/>
              </a:path>
            </a:pathLst>
          </a:custGeom>
          <a:solidFill>
            <a:srgbClr val="7F7F7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555302" y="4013032"/>
            <a:ext cx="814069" cy="592455"/>
          </a:xfrm>
          <a:custGeom>
            <a:avLst/>
            <a:gdLst/>
            <a:ahLst/>
            <a:cxnLst/>
            <a:rect l="l" t="t" r="r" b="b"/>
            <a:pathLst>
              <a:path w="814070" h="592454">
                <a:moveTo>
                  <a:pt x="813452" y="506868"/>
                </a:moveTo>
                <a:lnTo>
                  <a:pt x="728143" y="184041"/>
                </a:lnTo>
                <a:lnTo>
                  <a:pt x="647428" y="205423"/>
                </a:lnTo>
                <a:lnTo>
                  <a:pt x="690082" y="366902"/>
                </a:lnTo>
                <a:lnTo>
                  <a:pt x="59322" y="0"/>
                </a:lnTo>
                <a:lnTo>
                  <a:pt x="0" y="102055"/>
                </a:lnTo>
                <a:lnTo>
                  <a:pt x="630629" y="468826"/>
                </a:lnTo>
                <a:lnTo>
                  <a:pt x="469198" y="511590"/>
                </a:lnTo>
                <a:lnTo>
                  <a:pt x="490460" y="592264"/>
                </a:lnTo>
                <a:lnTo>
                  <a:pt x="813452" y="506868"/>
                </a:lnTo>
                <a:close/>
              </a:path>
            </a:pathLst>
          </a:custGeom>
          <a:ln w="3175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139E198-4B49-B99E-2C16-D6D7324F0C93}"/>
              </a:ext>
            </a:extLst>
          </p:cNvPr>
          <p:cNvGrpSpPr/>
          <p:nvPr/>
        </p:nvGrpSpPr>
        <p:grpSpPr>
          <a:xfrm>
            <a:off x="4504474" y="4977434"/>
            <a:ext cx="2392049" cy="1446541"/>
            <a:chOff x="4504474" y="4977434"/>
            <a:chExt cx="2392049" cy="1446541"/>
          </a:xfrm>
        </p:grpSpPr>
        <p:sp>
          <p:nvSpPr>
            <p:cNvPr id="35" name="object 35"/>
            <p:cNvSpPr/>
            <p:nvPr/>
          </p:nvSpPr>
          <p:spPr>
            <a:xfrm>
              <a:off x="4504474" y="4977434"/>
              <a:ext cx="2392045" cy="1446530"/>
            </a:xfrm>
            <a:custGeom>
              <a:avLst/>
              <a:gdLst/>
              <a:ahLst/>
              <a:cxnLst/>
              <a:rect l="l" t="t" r="r" b="b"/>
              <a:pathLst>
                <a:path w="2392045" h="1446529">
                  <a:moveTo>
                    <a:pt x="1195895" y="0"/>
                  </a:moveTo>
                  <a:lnTo>
                    <a:pt x="1136201" y="884"/>
                  </a:lnTo>
                  <a:lnTo>
                    <a:pt x="1077264" y="3512"/>
                  </a:lnTo>
                  <a:lnTo>
                    <a:pt x="1019154" y="7840"/>
                  </a:lnTo>
                  <a:lnTo>
                    <a:pt x="961938" y="13828"/>
                  </a:lnTo>
                  <a:lnTo>
                    <a:pt x="905686" y="21433"/>
                  </a:lnTo>
                  <a:lnTo>
                    <a:pt x="850466" y="30615"/>
                  </a:lnTo>
                  <a:lnTo>
                    <a:pt x="796346" y="41333"/>
                  </a:lnTo>
                  <a:lnTo>
                    <a:pt x="743395" y="53544"/>
                  </a:lnTo>
                  <a:lnTo>
                    <a:pt x="691681" y="67208"/>
                  </a:lnTo>
                  <a:lnTo>
                    <a:pt x="641274" y="82282"/>
                  </a:lnTo>
                  <a:lnTo>
                    <a:pt x="592241" y="98726"/>
                  </a:lnTo>
                  <a:lnTo>
                    <a:pt x="544651" y="116498"/>
                  </a:lnTo>
                  <a:lnTo>
                    <a:pt x="498573" y="135556"/>
                  </a:lnTo>
                  <a:lnTo>
                    <a:pt x="454075" y="155860"/>
                  </a:lnTo>
                  <a:lnTo>
                    <a:pt x="411225" y="177368"/>
                  </a:lnTo>
                  <a:lnTo>
                    <a:pt x="370093" y="200037"/>
                  </a:lnTo>
                  <a:lnTo>
                    <a:pt x="330747" y="223828"/>
                  </a:lnTo>
                  <a:lnTo>
                    <a:pt x="293255" y="248699"/>
                  </a:lnTo>
                  <a:lnTo>
                    <a:pt x="257686" y="274607"/>
                  </a:lnTo>
                  <a:lnTo>
                    <a:pt x="224108" y="301512"/>
                  </a:lnTo>
                  <a:lnTo>
                    <a:pt x="192590" y="329372"/>
                  </a:lnTo>
                  <a:lnTo>
                    <a:pt x="163201" y="358146"/>
                  </a:lnTo>
                  <a:lnTo>
                    <a:pt x="136008" y="387792"/>
                  </a:lnTo>
                  <a:lnTo>
                    <a:pt x="111081" y="418269"/>
                  </a:lnTo>
                  <a:lnTo>
                    <a:pt x="88489" y="449536"/>
                  </a:lnTo>
                  <a:lnTo>
                    <a:pt x="50580" y="514272"/>
                  </a:lnTo>
                  <a:lnTo>
                    <a:pt x="22830" y="581670"/>
                  </a:lnTo>
                  <a:lnTo>
                    <a:pt x="5787" y="651396"/>
                  </a:lnTo>
                  <a:lnTo>
                    <a:pt x="0" y="723121"/>
                  </a:lnTo>
                  <a:lnTo>
                    <a:pt x="1463" y="759212"/>
                  </a:lnTo>
                  <a:lnTo>
                    <a:pt x="12964" y="829979"/>
                  </a:lnTo>
                  <a:lnTo>
                    <a:pt x="35442" y="898582"/>
                  </a:lnTo>
                  <a:lnTo>
                    <a:pt x="68349" y="964689"/>
                  </a:lnTo>
                  <a:lnTo>
                    <a:pt x="111136" y="1027971"/>
                  </a:lnTo>
                  <a:lnTo>
                    <a:pt x="136064" y="1058448"/>
                  </a:lnTo>
                  <a:lnTo>
                    <a:pt x="163257" y="1088094"/>
                  </a:lnTo>
                  <a:lnTo>
                    <a:pt x="192646" y="1116867"/>
                  </a:lnTo>
                  <a:lnTo>
                    <a:pt x="224163" y="1144727"/>
                  </a:lnTo>
                  <a:lnTo>
                    <a:pt x="257739" y="1171632"/>
                  </a:lnTo>
                  <a:lnTo>
                    <a:pt x="293306" y="1197540"/>
                  </a:lnTo>
                  <a:lnTo>
                    <a:pt x="330796" y="1222410"/>
                  </a:lnTo>
                  <a:lnTo>
                    <a:pt x="370139" y="1246201"/>
                  </a:lnTo>
                  <a:lnTo>
                    <a:pt x="411268" y="1268871"/>
                  </a:lnTo>
                  <a:lnTo>
                    <a:pt x="454114" y="1290378"/>
                  </a:lnTo>
                  <a:lnTo>
                    <a:pt x="498609" y="1310682"/>
                  </a:lnTo>
                  <a:lnTo>
                    <a:pt x="544683" y="1329740"/>
                  </a:lnTo>
                  <a:lnTo>
                    <a:pt x="592269" y="1347512"/>
                  </a:lnTo>
                  <a:lnTo>
                    <a:pt x="641298" y="1363956"/>
                  </a:lnTo>
                  <a:lnTo>
                    <a:pt x="691702" y="1379030"/>
                  </a:lnTo>
                  <a:lnTo>
                    <a:pt x="743412" y="1392693"/>
                  </a:lnTo>
                  <a:lnTo>
                    <a:pt x="796360" y="1404904"/>
                  </a:lnTo>
                  <a:lnTo>
                    <a:pt x="850476" y="1415622"/>
                  </a:lnTo>
                  <a:lnTo>
                    <a:pt x="905694" y="1424804"/>
                  </a:lnTo>
                  <a:lnTo>
                    <a:pt x="961943" y="1432409"/>
                  </a:lnTo>
                  <a:lnTo>
                    <a:pt x="1019157" y="1438397"/>
                  </a:lnTo>
                  <a:lnTo>
                    <a:pt x="1077266" y="1442725"/>
                  </a:lnTo>
                  <a:lnTo>
                    <a:pt x="1136201" y="1445352"/>
                  </a:lnTo>
                  <a:lnTo>
                    <a:pt x="1195895" y="1446237"/>
                  </a:lnTo>
                  <a:lnTo>
                    <a:pt x="1255589" y="1445352"/>
                  </a:lnTo>
                  <a:lnTo>
                    <a:pt x="1314524" y="1442725"/>
                  </a:lnTo>
                  <a:lnTo>
                    <a:pt x="1372633" y="1438397"/>
                  </a:lnTo>
                  <a:lnTo>
                    <a:pt x="1429847" y="1432409"/>
                  </a:lnTo>
                  <a:lnTo>
                    <a:pt x="1486096" y="1424804"/>
                  </a:lnTo>
                  <a:lnTo>
                    <a:pt x="1541314" y="1415622"/>
                  </a:lnTo>
                  <a:lnTo>
                    <a:pt x="1595430" y="1404904"/>
                  </a:lnTo>
                  <a:lnTo>
                    <a:pt x="1648378" y="1392693"/>
                  </a:lnTo>
                  <a:lnTo>
                    <a:pt x="1700088" y="1379030"/>
                  </a:lnTo>
                  <a:lnTo>
                    <a:pt x="1750492" y="1363956"/>
                  </a:lnTo>
                  <a:lnTo>
                    <a:pt x="1799521" y="1347512"/>
                  </a:lnTo>
                  <a:lnTo>
                    <a:pt x="1847107" y="1329740"/>
                  </a:lnTo>
                  <a:lnTo>
                    <a:pt x="1893181" y="1310682"/>
                  </a:lnTo>
                  <a:lnTo>
                    <a:pt x="1937676" y="1290378"/>
                  </a:lnTo>
                  <a:lnTo>
                    <a:pt x="1980522" y="1268871"/>
                  </a:lnTo>
                  <a:lnTo>
                    <a:pt x="2021651" y="1246201"/>
                  </a:lnTo>
                  <a:lnTo>
                    <a:pt x="2060994" y="1222410"/>
                  </a:lnTo>
                  <a:lnTo>
                    <a:pt x="2098484" y="1197540"/>
                  </a:lnTo>
                  <a:lnTo>
                    <a:pt x="2134051" y="1171632"/>
                  </a:lnTo>
                  <a:lnTo>
                    <a:pt x="2167627" y="1144727"/>
                  </a:lnTo>
                  <a:lnTo>
                    <a:pt x="2199144" y="1116867"/>
                  </a:lnTo>
                  <a:lnTo>
                    <a:pt x="2228533" y="1088094"/>
                  </a:lnTo>
                  <a:lnTo>
                    <a:pt x="2255726" y="1058448"/>
                  </a:lnTo>
                  <a:lnTo>
                    <a:pt x="2280654" y="1027971"/>
                  </a:lnTo>
                  <a:lnTo>
                    <a:pt x="2303248" y="996704"/>
                  </a:lnTo>
                  <a:lnTo>
                    <a:pt x="2341164" y="931968"/>
                  </a:lnTo>
                  <a:lnTo>
                    <a:pt x="2368925" y="864571"/>
                  </a:lnTo>
                  <a:lnTo>
                    <a:pt x="2385983" y="794845"/>
                  </a:lnTo>
                  <a:lnTo>
                    <a:pt x="2391791" y="723121"/>
                  </a:lnTo>
                  <a:lnTo>
                    <a:pt x="2390327" y="687030"/>
                  </a:lnTo>
                  <a:lnTo>
                    <a:pt x="2378826" y="616262"/>
                  </a:lnTo>
                  <a:lnTo>
                    <a:pt x="2356348" y="547659"/>
                  </a:lnTo>
                  <a:lnTo>
                    <a:pt x="2323441" y="481551"/>
                  </a:lnTo>
                  <a:lnTo>
                    <a:pt x="2280654" y="418269"/>
                  </a:lnTo>
                  <a:lnTo>
                    <a:pt x="2255726" y="387792"/>
                  </a:lnTo>
                  <a:lnTo>
                    <a:pt x="2228533" y="358146"/>
                  </a:lnTo>
                  <a:lnTo>
                    <a:pt x="2199144" y="329372"/>
                  </a:lnTo>
                  <a:lnTo>
                    <a:pt x="2167627" y="301512"/>
                  </a:lnTo>
                  <a:lnTo>
                    <a:pt x="2134051" y="274607"/>
                  </a:lnTo>
                  <a:lnTo>
                    <a:pt x="2098484" y="248699"/>
                  </a:lnTo>
                  <a:lnTo>
                    <a:pt x="2060994" y="223828"/>
                  </a:lnTo>
                  <a:lnTo>
                    <a:pt x="2021651" y="200037"/>
                  </a:lnTo>
                  <a:lnTo>
                    <a:pt x="1980522" y="177368"/>
                  </a:lnTo>
                  <a:lnTo>
                    <a:pt x="1937676" y="155860"/>
                  </a:lnTo>
                  <a:lnTo>
                    <a:pt x="1893181" y="135556"/>
                  </a:lnTo>
                  <a:lnTo>
                    <a:pt x="1847107" y="116498"/>
                  </a:lnTo>
                  <a:lnTo>
                    <a:pt x="1799521" y="98726"/>
                  </a:lnTo>
                  <a:lnTo>
                    <a:pt x="1750492" y="82282"/>
                  </a:lnTo>
                  <a:lnTo>
                    <a:pt x="1700088" y="67208"/>
                  </a:lnTo>
                  <a:lnTo>
                    <a:pt x="1648378" y="53544"/>
                  </a:lnTo>
                  <a:lnTo>
                    <a:pt x="1595430" y="41333"/>
                  </a:lnTo>
                  <a:lnTo>
                    <a:pt x="1541314" y="30615"/>
                  </a:lnTo>
                  <a:lnTo>
                    <a:pt x="1486096" y="21433"/>
                  </a:lnTo>
                  <a:lnTo>
                    <a:pt x="1429847" y="13828"/>
                  </a:lnTo>
                  <a:lnTo>
                    <a:pt x="1372633" y="7840"/>
                  </a:lnTo>
                  <a:lnTo>
                    <a:pt x="1314524" y="3512"/>
                  </a:lnTo>
                  <a:lnTo>
                    <a:pt x="1255589" y="884"/>
                  </a:lnTo>
                  <a:lnTo>
                    <a:pt x="1195895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04478" y="4977445"/>
              <a:ext cx="2392045" cy="1446530"/>
            </a:xfrm>
            <a:custGeom>
              <a:avLst/>
              <a:gdLst/>
              <a:ahLst/>
              <a:cxnLst/>
              <a:rect l="l" t="t" r="r" b="b"/>
              <a:pathLst>
                <a:path w="2392045" h="1446529">
                  <a:moveTo>
                    <a:pt x="0" y="723113"/>
                  </a:moveTo>
                  <a:lnTo>
                    <a:pt x="5786" y="651389"/>
                  </a:lnTo>
                  <a:lnTo>
                    <a:pt x="22829" y="581663"/>
                  </a:lnTo>
                  <a:lnTo>
                    <a:pt x="50579" y="514267"/>
                  </a:lnTo>
                  <a:lnTo>
                    <a:pt x="88487" y="449531"/>
                  </a:lnTo>
                  <a:lnTo>
                    <a:pt x="111080" y="418265"/>
                  </a:lnTo>
                  <a:lnTo>
                    <a:pt x="136007" y="387788"/>
                  </a:lnTo>
                  <a:lnTo>
                    <a:pt x="163199" y="358142"/>
                  </a:lnTo>
                  <a:lnTo>
                    <a:pt x="192589" y="329368"/>
                  </a:lnTo>
                  <a:lnTo>
                    <a:pt x="224107" y="301508"/>
                  </a:lnTo>
                  <a:lnTo>
                    <a:pt x="257685" y="274604"/>
                  </a:lnTo>
                  <a:lnTo>
                    <a:pt x="293254" y="248696"/>
                  </a:lnTo>
                  <a:lnTo>
                    <a:pt x="330746" y="223826"/>
                  </a:lnTo>
                  <a:lnTo>
                    <a:pt x="370093" y="200035"/>
                  </a:lnTo>
                  <a:lnTo>
                    <a:pt x="411225" y="177366"/>
                  </a:lnTo>
                  <a:lnTo>
                    <a:pt x="454075" y="155858"/>
                  </a:lnTo>
                  <a:lnTo>
                    <a:pt x="498573" y="135555"/>
                  </a:lnTo>
                  <a:lnTo>
                    <a:pt x="544652" y="116497"/>
                  </a:lnTo>
                  <a:lnTo>
                    <a:pt x="592242" y="98725"/>
                  </a:lnTo>
                  <a:lnTo>
                    <a:pt x="641275" y="82281"/>
                  </a:lnTo>
                  <a:lnTo>
                    <a:pt x="691683" y="67207"/>
                  </a:lnTo>
                  <a:lnTo>
                    <a:pt x="743397" y="53543"/>
                  </a:lnTo>
                  <a:lnTo>
                    <a:pt x="796348" y="41332"/>
                  </a:lnTo>
                  <a:lnTo>
                    <a:pt x="850468" y="30615"/>
                  </a:lnTo>
                  <a:lnTo>
                    <a:pt x="905689" y="21433"/>
                  </a:lnTo>
                  <a:lnTo>
                    <a:pt x="961941" y="13827"/>
                  </a:lnTo>
                  <a:lnTo>
                    <a:pt x="1019157" y="7840"/>
                  </a:lnTo>
                  <a:lnTo>
                    <a:pt x="1077267" y="3512"/>
                  </a:lnTo>
                  <a:lnTo>
                    <a:pt x="1136204" y="884"/>
                  </a:lnTo>
                  <a:lnTo>
                    <a:pt x="1195898" y="0"/>
                  </a:lnTo>
                  <a:lnTo>
                    <a:pt x="1255592" y="884"/>
                  </a:lnTo>
                  <a:lnTo>
                    <a:pt x="1314527" y="3512"/>
                  </a:lnTo>
                  <a:lnTo>
                    <a:pt x="1372636" y="7840"/>
                  </a:lnTo>
                  <a:lnTo>
                    <a:pt x="1429850" y="13827"/>
                  </a:lnTo>
                  <a:lnTo>
                    <a:pt x="1486099" y="21433"/>
                  </a:lnTo>
                  <a:lnTo>
                    <a:pt x="1541317" y="30615"/>
                  </a:lnTo>
                  <a:lnTo>
                    <a:pt x="1595434" y="41332"/>
                  </a:lnTo>
                  <a:lnTo>
                    <a:pt x="1648381" y="53543"/>
                  </a:lnTo>
                  <a:lnTo>
                    <a:pt x="1700091" y="67207"/>
                  </a:lnTo>
                  <a:lnTo>
                    <a:pt x="1750495" y="82281"/>
                  </a:lnTo>
                  <a:lnTo>
                    <a:pt x="1799525" y="98725"/>
                  </a:lnTo>
                  <a:lnTo>
                    <a:pt x="1847111" y="116497"/>
                  </a:lnTo>
                  <a:lnTo>
                    <a:pt x="1893185" y="135555"/>
                  </a:lnTo>
                  <a:lnTo>
                    <a:pt x="1937680" y="155858"/>
                  </a:lnTo>
                  <a:lnTo>
                    <a:pt x="1980526" y="177366"/>
                  </a:lnTo>
                  <a:lnTo>
                    <a:pt x="2021655" y="200035"/>
                  </a:lnTo>
                  <a:lnTo>
                    <a:pt x="2060999" y="223826"/>
                  </a:lnTo>
                  <a:lnTo>
                    <a:pt x="2098488" y="248696"/>
                  </a:lnTo>
                  <a:lnTo>
                    <a:pt x="2134056" y="274604"/>
                  </a:lnTo>
                  <a:lnTo>
                    <a:pt x="2167632" y="301508"/>
                  </a:lnTo>
                  <a:lnTo>
                    <a:pt x="2199149" y="329368"/>
                  </a:lnTo>
                  <a:lnTo>
                    <a:pt x="2228538" y="358142"/>
                  </a:lnTo>
                  <a:lnTo>
                    <a:pt x="2255731" y="387788"/>
                  </a:lnTo>
                  <a:lnTo>
                    <a:pt x="2280659" y="418265"/>
                  </a:lnTo>
                  <a:lnTo>
                    <a:pt x="2303254" y="449531"/>
                  </a:lnTo>
                  <a:lnTo>
                    <a:pt x="2341169" y="514267"/>
                  </a:lnTo>
                  <a:lnTo>
                    <a:pt x="2368930" y="581663"/>
                  </a:lnTo>
                  <a:lnTo>
                    <a:pt x="2385988" y="651389"/>
                  </a:lnTo>
                  <a:lnTo>
                    <a:pt x="2391796" y="723113"/>
                  </a:lnTo>
                  <a:lnTo>
                    <a:pt x="2390333" y="759204"/>
                  </a:lnTo>
                  <a:lnTo>
                    <a:pt x="2385988" y="794837"/>
                  </a:lnTo>
                  <a:lnTo>
                    <a:pt x="2368930" y="864563"/>
                  </a:lnTo>
                  <a:lnTo>
                    <a:pt x="2341169" y="931959"/>
                  </a:lnTo>
                  <a:lnTo>
                    <a:pt x="2303254" y="996695"/>
                  </a:lnTo>
                  <a:lnTo>
                    <a:pt x="2280659" y="1027961"/>
                  </a:lnTo>
                  <a:lnTo>
                    <a:pt x="2255731" y="1058438"/>
                  </a:lnTo>
                  <a:lnTo>
                    <a:pt x="2228538" y="1088084"/>
                  </a:lnTo>
                  <a:lnTo>
                    <a:pt x="2199149" y="1116857"/>
                  </a:lnTo>
                  <a:lnTo>
                    <a:pt x="2167632" y="1144717"/>
                  </a:lnTo>
                  <a:lnTo>
                    <a:pt x="2134056" y="1171622"/>
                  </a:lnTo>
                  <a:lnTo>
                    <a:pt x="2098488" y="1197530"/>
                  </a:lnTo>
                  <a:lnTo>
                    <a:pt x="2060999" y="1222400"/>
                  </a:lnTo>
                  <a:lnTo>
                    <a:pt x="2021655" y="1246190"/>
                  </a:lnTo>
                  <a:lnTo>
                    <a:pt x="1980526" y="1268860"/>
                  </a:lnTo>
                  <a:lnTo>
                    <a:pt x="1937680" y="1290367"/>
                  </a:lnTo>
                  <a:lnTo>
                    <a:pt x="1893185" y="1310671"/>
                  </a:lnTo>
                  <a:lnTo>
                    <a:pt x="1847111" y="1329729"/>
                  </a:lnTo>
                  <a:lnTo>
                    <a:pt x="1799525" y="1347501"/>
                  </a:lnTo>
                  <a:lnTo>
                    <a:pt x="1750495" y="1363945"/>
                  </a:lnTo>
                  <a:lnTo>
                    <a:pt x="1700091" y="1379019"/>
                  </a:lnTo>
                  <a:lnTo>
                    <a:pt x="1648381" y="1392682"/>
                  </a:lnTo>
                  <a:lnTo>
                    <a:pt x="1595434" y="1404893"/>
                  </a:lnTo>
                  <a:lnTo>
                    <a:pt x="1541317" y="1415611"/>
                  </a:lnTo>
                  <a:lnTo>
                    <a:pt x="1486099" y="1424793"/>
                  </a:lnTo>
                  <a:lnTo>
                    <a:pt x="1429850" y="1432398"/>
                  </a:lnTo>
                  <a:lnTo>
                    <a:pt x="1372636" y="1438386"/>
                  </a:lnTo>
                  <a:lnTo>
                    <a:pt x="1314527" y="1442714"/>
                  </a:lnTo>
                  <a:lnTo>
                    <a:pt x="1255592" y="1445341"/>
                  </a:lnTo>
                  <a:lnTo>
                    <a:pt x="1195898" y="1446226"/>
                  </a:lnTo>
                  <a:lnTo>
                    <a:pt x="1136204" y="1445341"/>
                  </a:lnTo>
                  <a:lnTo>
                    <a:pt x="1077268" y="1442714"/>
                  </a:lnTo>
                  <a:lnTo>
                    <a:pt x="1019160" y="1438386"/>
                  </a:lnTo>
                  <a:lnTo>
                    <a:pt x="961946" y="1432398"/>
                  </a:lnTo>
                  <a:lnTo>
                    <a:pt x="905696" y="1424793"/>
                  </a:lnTo>
                  <a:lnTo>
                    <a:pt x="850479" y="1415611"/>
                  </a:lnTo>
                  <a:lnTo>
                    <a:pt x="796362" y="1404893"/>
                  </a:lnTo>
                  <a:lnTo>
                    <a:pt x="743414" y="1392682"/>
                  </a:lnTo>
                  <a:lnTo>
                    <a:pt x="691704" y="1379019"/>
                  </a:lnTo>
                  <a:lnTo>
                    <a:pt x="641300" y="1363945"/>
                  </a:lnTo>
                  <a:lnTo>
                    <a:pt x="592271" y="1347501"/>
                  </a:lnTo>
                  <a:lnTo>
                    <a:pt x="544685" y="1329729"/>
                  </a:lnTo>
                  <a:lnTo>
                    <a:pt x="498610" y="1310671"/>
                  </a:lnTo>
                  <a:lnTo>
                    <a:pt x="454116" y="1290367"/>
                  </a:lnTo>
                  <a:lnTo>
                    <a:pt x="411270" y="1268860"/>
                  </a:lnTo>
                  <a:lnTo>
                    <a:pt x="370141" y="1246190"/>
                  </a:lnTo>
                  <a:lnTo>
                    <a:pt x="330797" y="1222400"/>
                  </a:lnTo>
                  <a:lnTo>
                    <a:pt x="293307" y="1197530"/>
                  </a:lnTo>
                  <a:lnTo>
                    <a:pt x="257740" y="1171622"/>
                  </a:lnTo>
                  <a:lnTo>
                    <a:pt x="224164" y="1144717"/>
                  </a:lnTo>
                  <a:lnTo>
                    <a:pt x="192647" y="1116857"/>
                  </a:lnTo>
                  <a:lnTo>
                    <a:pt x="163258" y="1088084"/>
                  </a:lnTo>
                  <a:lnTo>
                    <a:pt x="136065" y="1058438"/>
                  </a:lnTo>
                  <a:lnTo>
                    <a:pt x="111137" y="1027961"/>
                  </a:lnTo>
                  <a:lnTo>
                    <a:pt x="88542" y="996695"/>
                  </a:lnTo>
                  <a:lnTo>
                    <a:pt x="50626" y="931959"/>
                  </a:lnTo>
                  <a:lnTo>
                    <a:pt x="22866" y="864563"/>
                  </a:lnTo>
                  <a:lnTo>
                    <a:pt x="5807" y="794837"/>
                  </a:lnTo>
                  <a:lnTo>
                    <a:pt x="1463" y="759204"/>
                  </a:lnTo>
                  <a:lnTo>
                    <a:pt x="0" y="723113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5248533" y="5089250"/>
              <a:ext cx="904240" cy="23532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450" u="heavy" spc="-1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Resources</a:t>
              </a:r>
              <a:endParaRPr sz="1450" dirty="0">
                <a:latin typeface="Arial"/>
                <a:cs typeface="Arial"/>
              </a:endParaRPr>
            </a:p>
          </p:txBody>
        </p:sp>
        <p:sp>
          <p:nvSpPr>
            <p:cNvPr id="38" name="object 38"/>
            <p:cNvSpPr txBox="1"/>
            <p:nvPr/>
          </p:nvSpPr>
          <p:spPr>
            <a:xfrm>
              <a:off x="4656583" y="5714381"/>
              <a:ext cx="852169" cy="195566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10795" rIns="0" bIns="0" rtlCol="0">
              <a:spAutoFit/>
            </a:bodyPr>
            <a:lstStyle/>
            <a:p>
              <a:pPr marL="97155">
                <a:spcBef>
                  <a:spcPts val="85"/>
                </a:spcBef>
              </a:pPr>
              <a:r>
                <a:rPr sz="1200" spc="-10" dirty="0">
                  <a:latin typeface="Arial"/>
                  <a:cs typeface="Arial"/>
                </a:rPr>
                <a:t>Networks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4654486" y="5421081"/>
              <a:ext cx="2062480" cy="195566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10795" rIns="0" bIns="0" rtlCol="0">
              <a:spAutoFit/>
            </a:bodyPr>
            <a:lstStyle/>
            <a:p>
              <a:pPr marL="72390">
                <a:spcBef>
                  <a:spcPts val="85"/>
                </a:spcBef>
              </a:pPr>
              <a:r>
                <a:rPr sz="1200" dirty="0">
                  <a:latin typeface="Arial"/>
                  <a:cs typeface="Arial"/>
                </a:rPr>
                <a:t>Compute</a:t>
              </a:r>
              <a:r>
                <a:rPr sz="1200" spc="120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&amp;</a:t>
              </a:r>
              <a:r>
                <a:rPr sz="1200" spc="120" dirty="0">
                  <a:latin typeface="Arial"/>
                  <a:cs typeface="Arial"/>
                </a:rPr>
                <a:t> </a:t>
              </a:r>
              <a:r>
                <a:rPr sz="1200" dirty="0">
                  <a:latin typeface="Arial"/>
                  <a:cs typeface="Arial"/>
                </a:rPr>
                <a:t>storage</a:t>
              </a:r>
              <a:r>
                <a:rPr sz="1200" spc="125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servers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643411" y="5729153"/>
              <a:ext cx="1076325" cy="207010"/>
            </a:xfrm>
            <a:custGeom>
              <a:avLst/>
              <a:gdLst/>
              <a:ahLst/>
              <a:cxnLst/>
              <a:rect l="l" t="t" r="r" b="b"/>
              <a:pathLst>
                <a:path w="1076325" h="207010">
                  <a:moveTo>
                    <a:pt x="1075729" y="0"/>
                  </a:moveTo>
                  <a:lnTo>
                    <a:pt x="0" y="0"/>
                  </a:lnTo>
                  <a:lnTo>
                    <a:pt x="0" y="206604"/>
                  </a:lnTo>
                  <a:lnTo>
                    <a:pt x="1075729" y="206604"/>
                  </a:lnTo>
                  <a:lnTo>
                    <a:pt x="1075729" y="0"/>
                  </a:lnTo>
                  <a:close/>
                </a:path>
              </a:pathLst>
            </a:custGeom>
            <a:solidFill>
              <a:srgbClr val="E8EE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 txBox="1"/>
            <p:nvPr/>
          </p:nvSpPr>
          <p:spPr>
            <a:xfrm>
              <a:off x="5866694" y="5709566"/>
              <a:ext cx="629920" cy="202620"/>
            </a:xfrm>
            <a:prstGeom prst="rect">
              <a:avLst/>
            </a:prstGeom>
          </p:spPr>
          <p:txBody>
            <a:bodyPr vert="horz" wrap="square" lIns="0" tIns="17780" rIns="0" bIns="0" rtlCol="0">
              <a:spAutoFit/>
            </a:bodyPr>
            <a:lstStyle/>
            <a:p>
              <a:pPr marL="12700">
                <a:spcBef>
                  <a:spcPts val="140"/>
                </a:spcBef>
              </a:pPr>
              <a:r>
                <a:rPr sz="1200" spc="-10" dirty="0">
                  <a:latin typeface="Arial"/>
                  <a:cs typeface="Arial"/>
                </a:rPr>
                <a:t>Services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2" name="object 42"/>
            <p:cNvSpPr txBox="1"/>
            <p:nvPr/>
          </p:nvSpPr>
          <p:spPr>
            <a:xfrm>
              <a:off x="5141405" y="6039059"/>
              <a:ext cx="1076325" cy="179536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13030">
                <a:lnSpc>
                  <a:spcPts val="1425"/>
                </a:lnSpc>
              </a:pPr>
              <a:r>
                <a:rPr sz="1200" spc="-10" dirty="0">
                  <a:latin typeface="Arial"/>
                  <a:cs typeface="Arial"/>
                </a:rPr>
                <a:t>Applications</a:t>
              </a: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308598E-8F76-9853-CDA2-9BCC70FA7AE8}"/>
              </a:ext>
            </a:extLst>
          </p:cNvPr>
          <p:cNvGrpSpPr/>
          <p:nvPr/>
        </p:nvGrpSpPr>
        <p:grpSpPr>
          <a:xfrm>
            <a:off x="1845127" y="3942839"/>
            <a:ext cx="2720340" cy="1464310"/>
            <a:chOff x="1845127" y="3942839"/>
            <a:chExt cx="2720340" cy="1464310"/>
          </a:xfrm>
        </p:grpSpPr>
        <p:grpSp>
          <p:nvGrpSpPr>
            <p:cNvPr id="43" name="object 43"/>
            <p:cNvGrpSpPr/>
            <p:nvPr/>
          </p:nvGrpSpPr>
          <p:grpSpPr>
            <a:xfrm>
              <a:off x="1845127" y="3942839"/>
              <a:ext cx="2720340" cy="1464310"/>
              <a:chOff x="321127" y="3942839"/>
              <a:chExt cx="2720340" cy="1464310"/>
            </a:xfrm>
          </p:grpSpPr>
          <p:sp>
            <p:nvSpPr>
              <p:cNvPr id="44" name="object 44"/>
              <p:cNvSpPr/>
              <p:nvPr/>
            </p:nvSpPr>
            <p:spPr>
              <a:xfrm>
                <a:off x="1681159" y="4533936"/>
                <a:ext cx="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h="259079">
                    <a:moveTo>
                      <a:pt x="0" y="0"/>
                    </a:moveTo>
                    <a:lnTo>
                      <a:pt x="0" y="259074"/>
                    </a:lnTo>
                    <a:lnTo>
                      <a:pt x="0" y="141015"/>
                    </a:lnTo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5" name="object 45"/>
              <p:cNvSpPr/>
              <p:nvPr/>
            </p:nvSpPr>
            <p:spPr>
              <a:xfrm>
                <a:off x="322714" y="3944416"/>
                <a:ext cx="2717165" cy="1461135"/>
              </a:xfrm>
              <a:custGeom>
                <a:avLst/>
                <a:gdLst/>
                <a:ahLst/>
                <a:cxnLst/>
                <a:rect l="l" t="t" r="r" b="b"/>
                <a:pathLst>
                  <a:path w="2717165" h="1461135">
                    <a:moveTo>
                      <a:pt x="1358308" y="0"/>
                    </a:moveTo>
                    <a:lnTo>
                      <a:pt x="1296134" y="751"/>
                    </a:lnTo>
                    <a:lnTo>
                      <a:pt x="1234677" y="2985"/>
                    </a:lnTo>
                    <a:lnTo>
                      <a:pt x="1173998" y="6668"/>
                    </a:lnTo>
                    <a:lnTo>
                      <a:pt x="1114156" y="11768"/>
                    </a:lnTo>
                    <a:lnTo>
                      <a:pt x="1055211" y="18253"/>
                    </a:lnTo>
                    <a:lnTo>
                      <a:pt x="997224" y="26092"/>
                    </a:lnTo>
                    <a:lnTo>
                      <a:pt x="940253" y="35251"/>
                    </a:lnTo>
                    <a:lnTo>
                      <a:pt x="884359" y="45698"/>
                    </a:lnTo>
                    <a:lnTo>
                      <a:pt x="829602" y="57402"/>
                    </a:lnTo>
                    <a:lnTo>
                      <a:pt x="776043" y="70330"/>
                    </a:lnTo>
                    <a:lnTo>
                      <a:pt x="723740" y="84449"/>
                    </a:lnTo>
                    <a:lnTo>
                      <a:pt x="672754" y="99728"/>
                    </a:lnTo>
                    <a:lnTo>
                      <a:pt x="623144" y="116135"/>
                    </a:lnTo>
                    <a:lnTo>
                      <a:pt x="574972" y="133637"/>
                    </a:lnTo>
                    <a:lnTo>
                      <a:pt x="528296" y="152201"/>
                    </a:lnTo>
                    <a:lnTo>
                      <a:pt x="483176" y="171796"/>
                    </a:lnTo>
                    <a:lnTo>
                      <a:pt x="439673" y="192390"/>
                    </a:lnTo>
                    <a:lnTo>
                      <a:pt x="397847" y="213950"/>
                    </a:lnTo>
                    <a:lnTo>
                      <a:pt x="357757" y="236444"/>
                    </a:lnTo>
                    <a:lnTo>
                      <a:pt x="319464" y="259840"/>
                    </a:lnTo>
                    <a:lnTo>
                      <a:pt x="283027" y="284105"/>
                    </a:lnTo>
                    <a:lnTo>
                      <a:pt x="248506" y="309208"/>
                    </a:lnTo>
                    <a:lnTo>
                      <a:pt x="215961" y="335116"/>
                    </a:lnTo>
                    <a:lnTo>
                      <a:pt x="185453" y="361797"/>
                    </a:lnTo>
                    <a:lnTo>
                      <a:pt x="157041" y="389219"/>
                    </a:lnTo>
                    <a:lnTo>
                      <a:pt x="130785" y="417349"/>
                    </a:lnTo>
                    <a:lnTo>
                      <a:pt x="84981" y="475606"/>
                    </a:lnTo>
                    <a:lnTo>
                      <a:pt x="48521" y="536310"/>
                    </a:lnTo>
                    <a:lnTo>
                      <a:pt x="21884" y="599204"/>
                    </a:lnTo>
                    <a:lnTo>
                      <a:pt x="5550" y="664029"/>
                    </a:lnTo>
                    <a:lnTo>
                      <a:pt x="0" y="730529"/>
                    </a:lnTo>
                    <a:lnTo>
                      <a:pt x="1397" y="763961"/>
                    </a:lnTo>
                    <a:lnTo>
                      <a:pt x="12400" y="829636"/>
                    </a:lnTo>
                    <a:lnTo>
                      <a:pt x="33946" y="893512"/>
                    </a:lnTo>
                    <a:lnTo>
                      <a:pt x="65556" y="955331"/>
                    </a:lnTo>
                    <a:lnTo>
                      <a:pt x="106749" y="1014834"/>
                    </a:lnTo>
                    <a:lnTo>
                      <a:pt x="157048" y="1071763"/>
                    </a:lnTo>
                    <a:lnTo>
                      <a:pt x="185461" y="1099182"/>
                    </a:lnTo>
                    <a:lnTo>
                      <a:pt x="215971" y="1125861"/>
                    </a:lnTo>
                    <a:lnTo>
                      <a:pt x="248518" y="1151767"/>
                    </a:lnTo>
                    <a:lnTo>
                      <a:pt x="283041" y="1176869"/>
                    </a:lnTo>
                    <a:lnTo>
                      <a:pt x="319480" y="1201134"/>
                    </a:lnTo>
                    <a:lnTo>
                      <a:pt x="357776" y="1224529"/>
                    </a:lnTo>
                    <a:lnTo>
                      <a:pt x="397869" y="1247024"/>
                    </a:lnTo>
                    <a:lnTo>
                      <a:pt x="439698" y="1268584"/>
                    </a:lnTo>
                    <a:lnTo>
                      <a:pt x="483204" y="1289178"/>
                    </a:lnTo>
                    <a:lnTo>
                      <a:pt x="528327" y="1308775"/>
                    </a:lnTo>
                    <a:lnTo>
                      <a:pt x="575007" y="1327340"/>
                    </a:lnTo>
                    <a:lnTo>
                      <a:pt x="623184" y="1344843"/>
                    </a:lnTo>
                    <a:lnTo>
                      <a:pt x="672798" y="1361251"/>
                    </a:lnTo>
                    <a:lnTo>
                      <a:pt x="723789" y="1376532"/>
                    </a:lnTo>
                    <a:lnTo>
                      <a:pt x="776097" y="1390653"/>
                    </a:lnTo>
                    <a:lnTo>
                      <a:pt x="829662" y="1403583"/>
                    </a:lnTo>
                    <a:lnTo>
                      <a:pt x="884425" y="1415288"/>
                    </a:lnTo>
                    <a:lnTo>
                      <a:pt x="940325" y="1425737"/>
                    </a:lnTo>
                    <a:lnTo>
                      <a:pt x="997302" y="1434898"/>
                    </a:lnTo>
                    <a:lnTo>
                      <a:pt x="1055297" y="1442737"/>
                    </a:lnTo>
                    <a:lnTo>
                      <a:pt x="1114249" y="1449224"/>
                    </a:lnTo>
                    <a:lnTo>
                      <a:pt x="1174099" y="1454325"/>
                    </a:lnTo>
                    <a:lnTo>
                      <a:pt x="1234786" y="1458009"/>
                    </a:lnTo>
                    <a:lnTo>
                      <a:pt x="1296252" y="1460243"/>
                    </a:lnTo>
                    <a:lnTo>
                      <a:pt x="1358435" y="1460995"/>
                    </a:lnTo>
                    <a:lnTo>
                      <a:pt x="1420613" y="1460243"/>
                    </a:lnTo>
                    <a:lnTo>
                      <a:pt x="1482073" y="1458009"/>
                    </a:lnTo>
                    <a:lnTo>
                      <a:pt x="1542757" y="1454325"/>
                    </a:lnTo>
                    <a:lnTo>
                      <a:pt x="1602602" y="1449224"/>
                    </a:lnTo>
                    <a:lnTo>
                      <a:pt x="1661551" y="1442737"/>
                    </a:lnTo>
                    <a:lnTo>
                      <a:pt x="1719542" y="1434898"/>
                    </a:lnTo>
                    <a:lnTo>
                      <a:pt x="1776516" y="1425737"/>
                    </a:lnTo>
                    <a:lnTo>
                      <a:pt x="1832413" y="1415288"/>
                    </a:lnTo>
                    <a:lnTo>
                      <a:pt x="1887173" y="1403583"/>
                    </a:lnTo>
                    <a:lnTo>
                      <a:pt x="1940736" y="1390653"/>
                    </a:lnTo>
                    <a:lnTo>
                      <a:pt x="1993041" y="1376532"/>
                    </a:lnTo>
                    <a:lnTo>
                      <a:pt x="2044030" y="1361251"/>
                    </a:lnTo>
                    <a:lnTo>
                      <a:pt x="2093642" y="1344843"/>
                    </a:lnTo>
                    <a:lnTo>
                      <a:pt x="2141817" y="1327340"/>
                    </a:lnTo>
                    <a:lnTo>
                      <a:pt x="2188495" y="1308775"/>
                    </a:lnTo>
                    <a:lnTo>
                      <a:pt x="2233617" y="1289178"/>
                    </a:lnTo>
                    <a:lnTo>
                      <a:pt x="2277122" y="1268584"/>
                    </a:lnTo>
                    <a:lnTo>
                      <a:pt x="2318950" y="1247024"/>
                    </a:lnTo>
                    <a:lnTo>
                      <a:pt x="2359042" y="1224529"/>
                    </a:lnTo>
                    <a:lnTo>
                      <a:pt x="2397337" y="1201134"/>
                    </a:lnTo>
                    <a:lnTo>
                      <a:pt x="2433775" y="1176869"/>
                    </a:lnTo>
                    <a:lnTo>
                      <a:pt x="2468298" y="1151767"/>
                    </a:lnTo>
                    <a:lnTo>
                      <a:pt x="2500844" y="1125861"/>
                    </a:lnTo>
                    <a:lnTo>
                      <a:pt x="2531353" y="1099182"/>
                    </a:lnTo>
                    <a:lnTo>
                      <a:pt x="2559766" y="1071763"/>
                    </a:lnTo>
                    <a:lnTo>
                      <a:pt x="2586023" y="1043636"/>
                    </a:lnTo>
                    <a:lnTo>
                      <a:pt x="2631829" y="985388"/>
                    </a:lnTo>
                    <a:lnTo>
                      <a:pt x="2668291" y="924695"/>
                    </a:lnTo>
                    <a:lnTo>
                      <a:pt x="2694928" y="861815"/>
                    </a:lnTo>
                    <a:lnTo>
                      <a:pt x="2711263" y="797007"/>
                    </a:lnTo>
                    <a:lnTo>
                      <a:pt x="2716814" y="730529"/>
                    </a:lnTo>
                    <a:lnTo>
                      <a:pt x="2715406" y="697086"/>
                    </a:lnTo>
                    <a:lnTo>
                      <a:pt x="2704387" y="631391"/>
                    </a:lnTo>
                    <a:lnTo>
                      <a:pt x="2682828" y="567499"/>
                    </a:lnTo>
                    <a:lnTo>
                      <a:pt x="2651209" y="505668"/>
                    </a:lnTo>
                    <a:lnTo>
                      <a:pt x="2610009" y="446155"/>
                    </a:lnTo>
                    <a:lnTo>
                      <a:pt x="2559707" y="389219"/>
                    </a:lnTo>
                    <a:lnTo>
                      <a:pt x="2531292" y="361797"/>
                    </a:lnTo>
                    <a:lnTo>
                      <a:pt x="2500781" y="335116"/>
                    </a:lnTo>
                    <a:lnTo>
                      <a:pt x="2468235" y="309208"/>
                    </a:lnTo>
                    <a:lnTo>
                      <a:pt x="2433712" y="284105"/>
                    </a:lnTo>
                    <a:lnTo>
                      <a:pt x="2397273" y="259840"/>
                    </a:lnTo>
                    <a:lnTo>
                      <a:pt x="2358978" y="236444"/>
                    </a:lnTo>
                    <a:lnTo>
                      <a:pt x="2318886" y="213950"/>
                    </a:lnTo>
                    <a:lnTo>
                      <a:pt x="2277058" y="192390"/>
                    </a:lnTo>
                    <a:lnTo>
                      <a:pt x="2233553" y="171796"/>
                    </a:lnTo>
                    <a:lnTo>
                      <a:pt x="2188432" y="152201"/>
                    </a:lnTo>
                    <a:lnTo>
                      <a:pt x="2141753" y="133637"/>
                    </a:lnTo>
                    <a:lnTo>
                      <a:pt x="2093577" y="116135"/>
                    </a:lnTo>
                    <a:lnTo>
                      <a:pt x="2043964" y="99728"/>
                    </a:lnTo>
                    <a:lnTo>
                      <a:pt x="1992974" y="84449"/>
                    </a:lnTo>
                    <a:lnTo>
                      <a:pt x="1940666" y="70330"/>
                    </a:lnTo>
                    <a:lnTo>
                      <a:pt x="1887101" y="57402"/>
                    </a:lnTo>
                    <a:lnTo>
                      <a:pt x="1832339" y="45698"/>
                    </a:lnTo>
                    <a:lnTo>
                      <a:pt x="1776438" y="35251"/>
                    </a:lnTo>
                    <a:lnTo>
                      <a:pt x="1719460" y="26092"/>
                    </a:lnTo>
                    <a:lnTo>
                      <a:pt x="1661463" y="18253"/>
                    </a:lnTo>
                    <a:lnTo>
                      <a:pt x="1602509" y="11768"/>
                    </a:lnTo>
                    <a:lnTo>
                      <a:pt x="1542656" y="6668"/>
                    </a:lnTo>
                    <a:lnTo>
                      <a:pt x="1481965" y="2985"/>
                    </a:lnTo>
                    <a:lnTo>
                      <a:pt x="1420496" y="751"/>
                    </a:lnTo>
                    <a:lnTo>
                      <a:pt x="1358308" y="0"/>
                    </a:lnTo>
                    <a:close/>
                  </a:path>
                </a:pathLst>
              </a:custGeom>
              <a:solidFill>
                <a:srgbClr val="D8D8D8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46" name="object 46"/>
              <p:cNvSpPr/>
              <p:nvPr/>
            </p:nvSpPr>
            <p:spPr>
              <a:xfrm>
                <a:off x="322714" y="3944427"/>
                <a:ext cx="2717165" cy="1461135"/>
              </a:xfrm>
              <a:custGeom>
                <a:avLst/>
                <a:gdLst/>
                <a:ahLst/>
                <a:cxnLst/>
                <a:rect l="l" t="t" r="r" b="b"/>
                <a:pathLst>
                  <a:path w="2717165" h="1461135">
                    <a:moveTo>
                      <a:pt x="0" y="730524"/>
                    </a:moveTo>
                    <a:lnTo>
                      <a:pt x="5550" y="664025"/>
                    </a:lnTo>
                    <a:lnTo>
                      <a:pt x="21884" y="599200"/>
                    </a:lnTo>
                    <a:lnTo>
                      <a:pt x="48521" y="536307"/>
                    </a:lnTo>
                    <a:lnTo>
                      <a:pt x="84981" y="475603"/>
                    </a:lnTo>
                    <a:lnTo>
                      <a:pt x="130785" y="417347"/>
                    </a:lnTo>
                    <a:lnTo>
                      <a:pt x="157041" y="389217"/>
                    </a:lnTo>
                    <a:lnTo>
                      <a:pt x="185453" y="361795"/>
                    </a:lnTo>
                    <a:lnTo>
                      <a:pt x="215962" y="335115"/>
                    </a:lnTo>
                    <a:lnTo>
                      <a:pt x="248507" y="309207"/>
                    </a:lnTo>
                    <a:lnTo>
                      <a:pt x="283027" y="284104"/>
                    </a:lnTo>
                    <a:lnTo>
                      <a:pt x="319465" y="259839"/>
                    </a:lnTo>
                    <a:lnTo>
                      <a:pt x="357758" y="236443"/>
                    </a:lnTo>
                    <a:lnTo>
                      <a:pt x="397848" y="213949"/>
                    </a:lnTo>
                    <a:lnTo>
                      <a:pt x="439675" y="192389"/>
                    </a:lnTo>
                    <a:lnTo>
                      <a:pt x="483178" y="171796"/>
                    </a:lnTo>
                    <a:lnTo>
                      <a:pt x="528297" y="152201"/>
                    </a:lnTo>
                    <a:lnTo>
                      <a:pt x="574973" y="133636"/>
                    </a:lnTo>
                    <a:lnTo>
                      <a:pt x="623146" y="116134"/>
                    </a:lnTo>
                    <a:lnTo>
                      <a:pt x="672756" y="99728"/>
                    </a:lnTo>
                    <a:lnTo>
                      <a:pt x="723742" y="84449"/>
                    </a:lnTo>
                    <a:lnTo>
                      <a:pt x="776045" y="70329"/>
                    </a:lnTo>
                    <a:lnTo>
                      <a:pt x="829605" y="57402"/>
                    </a:lnTo>
                    <a:lnTo>
                      <a:pt x="884362" y="45698"/>
                    </a:lnTo>
                    <a:lnTo>
                      <a:pt x="940256" y="35251"/>
                    </a:lnTo>
                    <a:lnTo>
                      <a:pt x="997227" y="26092"/>
                    </a:lnTo>
                    <a:lnTo>
                      <a:pt x="1055215" y="18253"/>
                    </a:lnTo>
                    <a:lnTo>
                      <a:pt x="1114160" y="11768"/>
                    </a:lnTo>
                    <a:lnTo>
                      <a:pt x="1174002" y="6668"/>
                    </a:lnTo>
                    <a:lnTo>
                      <a:pt x="1234682" y="2985"/>
                    </a:lnTo>
                    <a:lnTo>
                      <a:pt x="1296139" y="751"/>
                    </a:lnTo>
                    <a:lnTo>
                      <a:pt x="1358313" y="0"/>
                    </a:lnTo>
                    <a:lnTo>
                      <a:pt x="1420500" y="751"/>
                    </a:lnTo>
                    <a:lnTo>
                      <a:pt x="1481970" y="2985"/>
                    </a:lnTo>
                    <a:lnTo>
                      <a:pt x="1542660" y="6668"/>
                    </a:lnTo>
                    <a:lnTo>
                      <a:pt x="1602513" y="11768"/>
                    </a:lnTo>
                    <a:lnTo>
                      <a:pt x="1661467" y="18253"/>
                    </a:lnTo>
                    <a:lnTo>
                      <a:pt x="1719463" y="26092"/>
                    </a:lnTo>
                    <a:lnTo>
                      <a:pt x="1776441" y="35251"/>
                    </a:lnTo>
                    <a:lnTo>
                      <a:pt x="1832342" y="45698"/>
                    </a:lnTo>
                    <a:lnTo>
                      <a:pt x="1887104" y="57402"/>
                    </a:lnTo>
                    <a:lnTo>
                      <a:pt x="1940669" y="70329"/>
                    </a:lnTo>
                    <a:lnTo>
                      <a:pt x="1992977" y="84449"/>
                    </a:lnTo>
                    <a:lnTo>
                      <a:pt x="2043967" y="99728"/>
                    </a:lnTo>
                    <a:lnTo>
                      <a:pt x="2093580" y="116134"/>
                    </a:lnTo>
                    <a:lnTo>
                      <a:pt x="2141756" y="133636"/>
                    </a:lnTo>
                    <a:lnTo>
                      <a:pt x="2188435" y="152201"/>
                    </a:lnTo>
                    <a:lnTo>
                      <a:pt x="2233557" y="171796"/>
                    </a:lnTo>
                    <a:lnTo>
                      <a:pt x="2277062" y="192389"/>
                    </a:lnTo>
                    <a:lnTo>
                      <a:pt x="2318890" y="213949"/>
                    </a:lnTo>
                    <a:lnTo>
                      <a:pt x="2358982" y="236443"/>
                    </a:lnTo>
                    <a:lnTo>
                      <a:pt x="2397277" y="259839"/>
                    </a:lnTo>
                    <a:lnTo>
                      <a:pt x="2433716" y="284104"/>
                    </a:lnTo>
                    <a:lnTo>
                      <a:pt x="2468239" y="309207"/>
                    </a:lnTo>
                    <a:lnTo>
                      <a:pt x="2500786" y="335115"/>
                    </a:lnTo>
                    <a:lnTo>
                      <a:pt x="2531297" y="361795"/>
                    </a:lnTo>
                    <a:lnTo>
                      <a:pt x="2559712" y="389217"/>
                    </a:lnTo>
                    <a:lnTo>
                      <a:pt x="2585971" y="417347"/>
                    </a:lnTo>
                    <a:lnTo>
                      <a:pt x="2631783" y="475603"/>
                    </a:lnTo>
                    <a:lnTo>
                      <a:pt x="2668253" y="536307"/>
                    </a:lnTo>
                    <a:lnTo>
                      <a:pt x="2694902" y="599200"/>
                    </a:lnTo>
                    <a:lnTo>
                      <a:pt x="2711252" y="664025"/>
                    </a:lnTo>
                    <a:lnTo>
                      <a:pt x="2716823" y="730524"/>
                    </a:lnTo>
                    <a:lnTo>
                      <a:pt x="2715425" y="763957"/>
                    </a:lnTo>
                    <a:lnTo>
                      <a:pt x="2711271" y="797003"/>
                    </a:lnTo>
                    <a:lnTo>
                      <a:pt x="2694937" y="861812"/>
                    </a:lnTo>
                    <a:lnTo>
                      <a:pt x="2668299" y="924691"/>
                    </a:lnTo>
                    <a:lnTo>
                      <a:pt x="2631837" y="985384"/>
                    </a:lnTo>
                    <a:lnTo>
                      <a:pt x="2586031" y="1043632"/>
                    </a:lnTo>
                    <a:lnTo>
                      <a:pt x="2559774" y="1071759"/>
                    </a:lnTo>
                    <a:lnTo>
                      <a:pt x="2531360" y="1099178"/>
                    </a:lnTo>
                    <a:lnTo>
                      <a:pt x="2500850" y="1125857"/>
                    </a:lnTo>
                    <a:lnTo>
                      <a:pt x="2468304" y="1151763"/>
                    </a:lnTo>
                    <a:lnTo>
                      <a:pt x="2433782" y="1176864"/>
                    </a:lnTo>
                    <a:lnTo>
                      <a:pt x="2397343" y="1201128"/>
                    </a:lnTo>
                    <a:lnTo>
                      <a:pt x="2359048" y="1224524"/>
                    </a:lnTo>
                    <a:lnTo>
                      <a:pt x="2318956" y="1247017"/>
                    </a:lnTo>
                    <a:lnTo>
                      <a:pt x="2277127" y="1268578"/>
                    </a:lnTo>
                    <a:lnTo>
                      <a:pt x="2233622" y="1289172"/>
                    </a:lnTo>
                    <a:lnTo>
                      <a:pt x="2188501" y="1308767"/>
                    </a:lnTo>
                    <a:lnTo>
                      <a:pt x="2141822" y="1327333"/>
                    </a:lnTo>
                    <a:lnTo>
                      <a:pt x="2093647" y="1344835"/>
                    </a:lnTo>
                    <a:lnTo>
                      <a:pt x="2044035" y="1361243"/>
                    </a:lnTo>
                    <a:lnTo>
                      <a:pt x="1993046" y="1376523"/>
                    </a:lnTo>
                    <a:lnTo>
                      <a:pt x="1940741" y="1390644"/>
                    </a:lnTo>
                    <a:lnTo>
                      <a:pt x="1887178" y="1403573"/>
                    </a:lnTo>
                    <a:lnTo>
                      <a:pt x="1832419" y="1415278"/>
                    </a:lnTo>
                    <a:lnTo>
                      <a:pt x="1776522" y="1425727"/>
                    </a:lnTo>
                    <a:lnTo>
                      <a:pt x="1719548" y="1434887"/>
                    </a:lnTo>
                    <a:lnTo>
                      <a:pt x="1661557" y="1442727"/>
                    </a:lnTo>
                    <a:lnTo>
                      <a:pt x="1602609" y="1449213"/>
                    </a:lnTo>
                    <a:lnTo>
                      <a:pt x="1542764" y="1454314"/>
                    </a:lnTo>
                    <a:lnTo>
                      <a:pt x="1482081" y="1457998"/>
                    </a:lnTo>
                    <a:lnTo>
                      <a:pt x="1420621" y="1460232"/>
                    </a:lnTo>
                    <a:lnTo>
                      <a:pt x="1358444" y="1460984"/>
                    </a:lnTo>
                    <a:lnTo>
                      <a:pt x="1296260" y="1460232"/>
                    </a:lnTo>
                    <a:lnTo>
                      <a:pt x="1234794" y="1457998"/>
                    </a:lnTo>
                    <a:lnTo>
                      <a:pt x="1174106" y="1454314"/>
                    </a:lnTo>
                    <a:lnTo>
                      <a:pt x="1114256" y="1449213"/>
                    </a:lnTo>
                    <a:lnTo>
                      <a:pt x="1055303" y="1442727"/>
                    </a:lnTo>
                    <a:lnTo>
                      <a:pt x="997308" y="1434887"/>
                    </a:lnTo>
                    <a:lnTo>
                      <a:pt x="940330" y="1425727"/>
                    </a:lnTo>
                    <a:lnTo>
                      <a:pt x="884429" y="1415278"/>
                    </a:lnTo>
                    <a:lnTo>
                      <a:pt x="829666" y="1403573"/>
                    </a:lnTo>
                    <a:lnTo>
                      <a:pt x="776101" y="1390644"/>
                    </a:lnTo>
                    <a:lnTo>
                      <a:pt x="723792" y="1376523"/>
                    </a:lnTo>
                    <a:lnTo>
                      <a:pt x="672801" y="1361243"/>
                    </a:lnTo>
                    <a:lnTo>
                      <a:pt x="623187" y="1344835"/>
                    </a:lnTo>
                    <a:lnTo>
                      <a:pt x="575009" y="1327333"/>
                    </a:lnTo>
                    <a:lnTo>
                      <a:pt x="528329" y="1308767"/>
                    </a:lnTo>
                    <a:lnTo>
                      <a:pt x="483206" y="1289172"/>
                    </a:lnTo>
                    <a:lnTo>
                      <a:pt x="439700" y="1268578"/>
                    </a:lnTo>
                    <a:lnTo>
                      <a:pt x="397870" y="1247017"/>
                    </a:lnTo>
                    <a:lnTo>
                      <a:pt x="357777" y="1224524"/>
                    </a:lnTo>
                    <a:lnTo>
                      <a:pt x="319481" y="1201128"/>
                    </a:lnTo>
                    <a:lnTo>
                      <a:pt x="283041" y="1176864"/>
                    </a:lnTo>
                    <a:lnTo>
                      <a:pt x="248518" y="1151763"/>
                    </a:lnTo>
                    <a:lnTo>
                      <a:pt x="215972" y="1125857"/>
                    </a:lnTo>
                    <a:lnTo>
                      <a:pt x="185462" y="1099178"/>
                    </a:lnTo>
                    <a:lnTo>
                      <a:pt x="157048" y="1071759"/>
                    </a:lnTo>
                    <a:lnTo>
                      <a:pt x="130791" y="1043632"/>
                    </a:lnTo>
                    <a:lnTo>
                      <a:pt x="84985" y="985384"/>
                    </a:lnTo>
                    <a:lnTo>
                      <a:pt x="48523" y="924691"/>
                    </a:lnTo>
                    <a:lnTo>
                      <a:pt x="21885" y="861812"/>
                    </a:lnTo>
                    <a:lnTo>
                      <a:pt x="5551" y="797003"/>
                    </a:lnTo>
                    <a:lnTo>
                      <a:pt x="1397" y="763957"/>
                    </a:lnTo>
                    <a:lnTo>
                      <a:pt x="0" y="730524"/>
                    </a:lnTo>
                    <a:close/>
                  </a:path>
                </a:pathLst>
              </a:custGeom>
              <a:ln w="3175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47" name="object 47"/>
            <p:cNvSpPr txBox="1"/>
            <p:nvPr/>
          </p:nvSpPr>
          <p:spPr>
            <a:xfrm>
              <a:off x="2651182" y="4057137"/>
              <a:ext cx="1108075" cy="235321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450" u="heavy" spc="-10" dirty="0">
                  <a:uFill>
                    <a:solidFill>
                      <a:srgbClr val="000000"/>
                    </a:solidFill>
                  </a:uFill>
                  <a:latin typeface="Arial"/>
                  <a:cs typeface="Arial"/>
                </a:rPr>
                <a:t>Infrastructure</a:t>
              </a:r>
              <a:endParaRPr sz="1450">
                <a:latin typeface="Arial"/>
                <a:cs typeface="Arial"/>
              </a:endParaRPr>
            </a:p>
          </p:txBody>
        </p:sp>
        <p:sp>
          <p:nvSpPr>
            <p:cNvPr id="48" name="object 48"/>
            <p:cNvSpPr txBox="1"/>
            <p:nvPr/>
          </p:nvSpPr>
          <p:spPr>
            <a:xfrm>
              <a:off x="2289664" y="4309651"/>
              <a:ext cx="1831339" cy="191719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6985" rIns="0" bIns="0" rtlCol="0">
              <a:spAutoFit/>
            </a:bodyPr>
            <a:lstStyle/>
            <a:p>
              <a:pPr marL="57150">
                <a:spcBef>
                  <a:spcPts val="55"/>
                </a:spcBef>
              </a:pPr>
              <a:r>
                <a:rPr sz="1200" dirty="0">
                  <a:latin typeface="Arial"/>
                  <a:cs typeface="Arial"/>
                </a:rPr>
                <a:t>Distributed</a:t>
              </a:r>
              <a:r>
                <a:rPr sz="1200" spc="204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infrastructure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49" name="object 49"/>
            <p:cNvSpPr txBox="1"/>
            <p:nvPr/>
          </p:nvSpPr>
          <p:spPr>
            <a:xfrm>
              <a:off x="2289664" y="4574964"/>
              <a:ext cx="1831339" cy="179536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0" rIns="0" bIns="0" rtlCol="0">
              <a:spAutoFit/>
            </a:bodyPr>
            <a:lstStyle/>
            <a:p>
              <a:pPr marL="118745">
                <a:lnSpc>
                  <a:spcPts val="1410"/>
                </a:lnSpc>
              </a:pPr>
              <a:r>
                <a:rPr sz="1200" dirty="0">
                  <a:latin typeface="Arial"/>
                  <a:cs typeface="Arial"/>
                </a:rPr>
                <a:t>Resource</a:t>
              </a:r>
              <a:r>
                <a:rPr sz="1200" spc="185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virtualization</a:t>
              </a:r>
              <a:endParaRPr sz="1200">
                <a:latin typeface="Arial"/>
                <a:cs typeface="Arial"/>
              </a:endParaRPr>
            </a:p>
          </p:txBody>
        </p:sp>
        <p:sp>
          <p:nvSpPr>
            <p:cNvPr id="50" name="object 50"/>
            <p:cNvSpPr txBox="1"/>
            <p:nvPr/>
          </p:nvSpPr>
          <p:spPr>
            <a:xfrm>
              <a:off x="2289664" y="4815885"/>
              <a:ext cx="1831339" cy="194925"/>
            </a:xfrm>
            <a:prstGeom prst="rect">
              <a:avLst/>
            </a:prstGeom>
            <a:solidFill>
              <a:srgbClr val="E8EEF7"/>
            </a:solidFill>
          </p:spPr>
          <p:txBody>
            <a:bodyPr vert="horz" wrap="square" lIns="0" tIns="10160" rIns="0" bIns="0" rtlCol="0">
              <a:spAutoFit/>
            </a:bodyPr>
            <a:lstStyle/>
            <a:p>
              <a:pPr marL="162560">
                <a:spcBef>
                  <a:spcPts val="80"/>
                </a:spcBef>
              </a:pPr>
              <a:r>
                <a:rPr sz="1200" dirty="0">
                  <a:latin typeface="Arial"/>
                  <a:cs typeface="Arial"/>
                </a:rPr>
                <a:t>Autonomous</a:t>
              </a:r>
              <a:r>
                <a:rPr sz="1200" spc="245" dirty="0">
                  <a:latin typeface="Arial"/>
                  <a:cs typeface="Arial"/>
                </a:rPr>
                <a:t> </a:t>
              </a:r>
              <a:r>
                <a:rPr sz="1200" spc="-10" dirty="0">
                  <a:latin typeface="Arial"/>
                  <a:cs typeface="Arial"/>
                </a:rPr>
                <a:t>systems</a:t>
              </a:r>
              <a:endParaRPr sz="1200">
                <a:latin typeface="Arial"/>
                <a:cs typeface="Arial"/>
              </a:endParaRPr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119014" y="3914650"/>
            <a:ext cx="1833880" cy="1167765"/>
            <a:chOff x="2595014" y="3914649"/>
            <a:chExt cx="1833880" cy="1167765"/>
          </a:xfrm>
        </p:grpSpPr>
        <p:sp>
          <p:nvSpPr>
            <p:cNvPr id="52" name="object 52"/>
            <p:cNvSpPr/>
            <p:nvPr/>
          </p:nvSpPr>
          <p:spPr>
            <a:xfrm>
              <a:off x="2596578" y="3916210"/>
              <a:ext cx="711835" cy="569595"/>
            </a:xfrm>
            <a:custGeom>
              <a:avLst/>
              <a:gdLst/>
              <a:ahLst/>
              <a:cxnLst/>
              <a:rect l="l" t="t" r="r" b="b"/>
              <a:pathLst>
                <a:path w="711835" h="569595">
                  <a:moveTo>
                    <a:pt x="645337" y="0"/>
                  </a:moveTo>
                  <a:lnTo>
                    <a:pt x="113918" y="357720"/>
                  </a:lnTo>
                  <a:lnTo>
                    <a:pt x="145948" y="193878"/>
                  </a:lnTo>
                  <a:lnTo>
                    <a:pt x="63919" y="177876"/>
                  </a:lnTo>
                  <a:lnTo>
                    <a:pt x="0" y="505561"/>
                  </a:lnTo>
                  <a:lnTo>
                    <a:pt x="327850" y="569569"/>
                  </a:lnTo>
                  <a:lnTo>
                    <a:pt x="343865" y="487591"/>
                  </a:lnTo>
                  <a:lnTo>
                    <a:pt x="179946" y="455714"/>
                  </a:lnTo>
                  <a:lnTo>
                    <a:pt x="711352" y="97993"/>
                  </a:lnTo>
                  <a:lnTo>
                    <a:pt x="645337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596588" y="3916223"/>
              <a:ext cx="711835" cy="569595"/>
            </a:xfrm>
            <a:custGeom>
              <a:avLst/>
              <a:gdLst/>
              <a:ahLst/>
              <a:cxnLst/>
              <a:rect l="l" t="t" r="r" b="b"/>
              <a:pathLst>
                <a:path w="711835" h="569595">
                  <a:moveTo>
                    <a:pt x="0" y="505556"/>
                  </a:moveTo>
                  <a:lnTo>
                    <a:pt x="327848" y="569570"/>
                  </a:lnTo>
                  <a:lnTo>
                    <a:pt x="343860" y="487585"/>
                  </a:lnTo>
                  <a:lnTo>
                    <a:pt x="179935" y="455708"/>
                  </a:lnTo>
                  <a:lnTo>
                    <a:pt x="711344" y="97989"/>
                  </a:lnTo>
                  <a:lnTo>
                    <a:pt x="645328" y="0"/>
                  </a:lnTo>
                  <a:lnTo>
                    <a:pt x="113920" y="357719"/>
                  </a:lnTo>
                  <a:lnTo>
                    <a:pt x="145943" y="193879"/>
                  </a:lnTo>
                  <a:lnTo>
                    <a:pt x="63915" y="177876"/>
                  </a:lnTo>
                  <a:lnTo>
                    <a:pt x="0" y="50555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954830" y="4254258"/>
              <a:ext cx="473075" cy="826769"/>
            </a:xfrm>
            <a:custGeom>
              <a:avLst/>
              <a:gdLst/>
              <a:ahLst/>
              <a:cxnLst/>
              <a:rect l="l" t="t" r="r" b="b"/>
              <a:pathLst>
                <a:path w="473075" h="826770">
                  <a:moveTo>
                    <a:pt x="295300" y="0"/>
                  </a:moveTo>
                  <a:lnTo>
                    <a:pt x="177177" y="0"/>
                  </a:lnTo>
                  <a:lnTo>
                    <a:pt x="177177" y="649452"/>
                  </a:lnTo>
                  <a:lnTo>
                    <a:pt x="59054" y="531393"/>
                  </a:lnTo>
                  <a:lnTo>
                    <a:pt x="0" y="590423"/>
                  </a:lnTo>
                  <a:lnTo>
                    <a:pt x="236232" y="826554"/>
                  </a:lnTo>
                  <a:lnTo>
                    <a:pt x="472478" y="590423"/>
                  </a:lnTo>
                  <a:lnTo>
                    <a:pt x="413410" y="531393"/>
                  </a:lnTo>
                  <a:lnTo>
                    <a:pt x="295300" y="649452"/>
                  </a:lnTo>
                  <a:lnTo>
                    <a:pt x="295300" y="0"/>
                  </a:lnTo>
                  <a:close/>
                </a:path>
              </a:pathLst>
            </a:custGeom>
            <a:solidFill>
              <a:srgbClr val="A5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954836" y="4254267"/>
              <a:ext cx="473075" cy="826769"/>
            </a:xfrm>
            <a:custGeom>
              <a:avLst/>
              <a:gdLst/>
              <a:ahLst/>
              <a:cxnLst/>
              <a:rect l="l" t="t" r="r" b="b"/>
              <a:pathLst>
                <a:path w="473075" h="826770">
                  <a:moveTo>
                    <a:pt x="236239" y="826546"/>
                  </a:moveTo>
                  <a:lnTo>
                    <a:pt x="472479" y="590427"/>
                  </a:lnTo>
                  <a:lnTo>
                    <a:pt x="413419" y="531398"/>
                  </a:lnTo>
                  <a:lnTo>
                    <a:pt x="295299" y="649457"/>
                  </a:lnTo>
                  <a:lnTo>
                    <a:pt x="295299" y="0"/>
                  </a:lnTo>
                  <a:lnTo>
                    <a:pt x="177179" y="0"/>
                  </a:lnTo>
                  <a:lnTo>
                    <a:pt x="177179" y="649457"/>
                  </a:lnTo>
                  <a:lnTo>
                    <a:pt x="59059" y="531398"/>
                  </a:lnTo>
                  <a:lnTo>
                    <a:pt x="0" y="590427"/>
                  </a:lnTo>
                  <a:lnTo>
                    <a:pt x="236239" y="82654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Title 1">
            <a:extLst>
              <a:ext uri="{FF2B5EF4-FFF2-40B4-BE49-F238E27FC236}">
                <a16:creationId xmlns:a16="http://schemas.microsoft.com/office/drawing/2014/main" id="{A9832365-F7C6-FD2B-6CAB-D9E5315B3E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 Models, Resource, Attributes 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56" name="Slide Number Placeholder 4">
            <a:extLst>
              <a:ext uri="{FF2B5EF4-FFF2-40B4-BE49-F238E27FC236}">
                <a16:creationId xmlns:a16="http://schemas.microsoft.com/office/drawing/2014/main" id="{B72D56F3-128F-8204-A13D-56E939A0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1" grpId="0" animBg="1"/>
      <p:bldP spid="32" grpId="0" animBg="1"/>
      <p:bldP spid="33" grpId="0" animBg="1"/>
      <p:bldP spid="3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DF69A-02C2-C509-B067-48242CD6D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CDFC5BC-4EA5-6AE1-0080-C8BD633C6A7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Types of Clouds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427A5D0-EFFF-ED82-43A1-C0702A8C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26</a:t>
            </a:fld>
            <a:endParaRPr lang="en-US" dirty="0"/>
          </a:p>
        </p:txBody>
      </p:sp>
      <p:sp>
        <p:nvSpPr>
          <p:cNvPr id="9" name="object 3">
            <a:extLst>
              <a:ext uri="{FF2B5EF4-FFF2-40B4-BE49-F238E27FC236}">
                <a16:creationId xmlns:a16="http://schemas.microsoft.com/office/drawing/2014/main" id="{E44FEDA4-BCF4-1A32-4831-0DD6EFD9AC35}"/>
              </a:ext>
            </a:extLst>
          </p:cNvPr>
          <p:cNvSpPr txBox="1"/>
          <p:nvPr/>
        </p:nvSpPr>
        <p:spPr>
          <a:xfrm>
            <a:off x="196760" y="833675"/>
            <a:ext cx="11315971" cy="76559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457200" marR="5080" indent="-457200">
              <a:buFont typeface="+mj-lt"/>
              <a:buAutoNum type="arabicPeriod"/>
              <a:tabLst>
                <a:tab pos="469265" algn="l"/>
              </a:tabLst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ublic Cloud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the infrastructure is made available to the general public or a large industry group and is owned by the organization selling cloud services.</a:t>
            </a:r>
          </a:p>
        </p:txBody>
      </p:sp>
      <p:sp>
        <p:nvSpPr>
          <p:cNvPr id="10" name="object 4">
            <a:extLst>
              <a:ext uri="{FF2B5EF4-FFF2-40B4-BE49-F238E27FC236}">
                <a16:creationId xmlns:a16="http://schemas.microsoft.com/office/drawing/2014/main" id="{A0443691-3644-07CE-122C-DDAC39502555}"/>
              </a:ext>
            </a:extLst>
          </p:cNvPr>
          <p:cNvSpPr txBox="1"/>
          <p:nvPr/>
        </p:nvSpPr>
        <p:spPr>
          <a:xfrm>
            <a:off x="202882" y="2473749"/>
            <a:ext cx="11786233" cy="32675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AutoNum type="arabicPeriod" startAt="2"/>
              <a:tabLst>
                <a:tab pos="469265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Private Cloud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– the infrastructure is operated solely for an organization.</a:t>
            </a: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77933C"/>
              </a:buClr>
              <a:buFont typeface="Arial"/>
              <a:buAutoNum type="arabicPeriod" startAt="2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385445" indent="-457200">
              <a:lnSpc>
                <a:spcPct val="99400"/>
              </a:lnSpc>
              <a:buClr>
                <a:schemeClr val="tx1"/>
              </a:buClr>
              <a:buAutoNum type="arabicPeriod" startAt="2"/>
              <a:tabLst>
                <a:tab pos="469900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Hybrid Cloud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composition of two or more Clouds (public, private, or community) as unique entities but bound by a standardized technology that enables data and application portability.</a:t>
            </a:r>
          </a:p>
          <a:p>
            <a:pPr>
              <a:lnSpc>
                <a:spcPct val="100000"/>
              </a:lnSpc>
              <a:spcBef>
                <a:spcPts val="1220"/>
              </a:spcBef>
              <a:buClr>
                <a:srgbClr val="77933C"/>
              </a:buClr>
              <a:buFont typeface="Arial"/>
              <a:buAutoNum type="arabicPeriod" startAt="2"/>
            </a:pP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69900" marR="5080" indent="-457200">
              <a:lnSpc>
                <a:spcPct val="102200"/>
              </a:lnSpc>
              <a:buClr>
                <a:schemeClr val="tx1"/>
              </a:buClr>
              <a:buAutoNum type="arabicPeriod" startAt="2"/>
              <a:tabLst>
                <a:tab pos="469900" algn="l"/>
              </a:tabLst>
            </a:pPr>
            <a:r>
              <a:rPr sz="2400" b="1" dirty="0">
                <a:latin typeface="Arial" panose="020B0604020202020204" pitchFamily="34" charset="0"/>
                <a:cs typeface="Arial" panose="020B0604020202020204" pitchFamily="34" charset="0"/>
              </a:rPr>
              <a:t>Other types: e.g., Community/Federated Cloud </a:t>
            </a: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- the infrastructure is shared by several organizations and supports a community that has shared concerns.</a:t>
            </a:r>
          </a:p>
        </p:txBody>
      </p:sp>
      <p:pic>
        <p:nvPicPr>
          <p:cNvPr id="12" name="object 5">
            <a:extLst>
              <a:ext uri="{FF2B5EF4-FFF2-40B4-BE49-F238E27FC236}">
                <a16:creationId xmlns:a16="http://schemas.microsoft.com/office/drawing/2014/main" id="{6C62AB46-81BF-EF56-7448-BF3EF324A52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1414" y="1459359"/>
            <a:ext cx="1357858" cy="1018387"/>
          </a:xfrm>
          <a:prstGeom prst="rect">
            <a:avLst/>
          </a:prstGeom>
        </p:spPr>
      </p:pic>
      <p:pic>
        <p:nvPicPr>
          <p:cNvPr id="13" name="object 6">
            <a:extLst>
              <a:ext uri="{FF2B5EF4-FFF2-40B4-BE49-F238E27FC236}">
                <a16:creationId xmlns:a16="http://schemas.microsoft.com/office/drawing/2014/main" id="{CCACE344-99C8-9C08-D46E-950D68A9271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98814" y="1687962"/>
            <a:ext cx="1850097" cy="534793"/>
          </a:xfrm>
          <a:prstGeom prst="rect">
            <a:avLst/>
          </a:prstGeom>
        </p:spPr>
      </p:pic>
      <p:pic>
        <p:nvPicPr>
          <p:cNvPr id="15" name="object 7">
            <a:extLst>
              <a:ext uri="{FF2B5EF4-FFF2-40B4-BE49-F238E27FC236}">
                <a16:creationId xmlns:a16="http://schemas.microsoft.com/office/drawing/2014/main" id="{412A58DF-5D8C-0193-BB89-96677C990859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37214" y="1549452"/>
            <a:ext cx="1590509" cy="838200"/>
          </a:xfrm>
          <a:prstGeom prst="rect">
            <a:avLst/>
          </a:prstGeom>
        </p:spPr>
      </p:pic>
      <p:pic>
        <p:nvPicPr>
          <p:cNvPr id="16" name="object 8">
            <a:extLst>
              <a:ext uri="{FF2B5EF4-FFF2-40B4-BE49-F238E27FC236}">
                <a16:creationId xmlns:a16="http://schemas.microsoft.com/office/drawing/2014/main" id="{37FD38C4-24D7-7EBF-2F1C-0ECE1059FF2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23862" y="5743579"/>
            <a:ext cx="1292352" cy="926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07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6FA3-BA22-7DA2-310B-471A0B174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5A0085B-542E-22B1-2F36-DD4FD396142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Course Structure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2A40BB1C-D6E1-8B88-A6B7-4CCDF93EB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27</a:t>
            </a:fld>
            <a:endParaRPr lang="en-US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6CCF7A55-8926-9828-BA7D-F24BCFEDDEFC}"/>
              </a:ext>
            </a:extLst>
          </p:cNvPr>
          <p:cNvSpPr txBox="1"/>
          <p:nvPr/>
        </p:nvSpPr>
        <p:spPr>
          <a:xfrm>
            <a:off x="309242" y="998670"/>
            <a:ext cx="11174162" cy="5383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ct val="100000"/>
              </a:lnSpc>
              <a:buSzPct val="130434"/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latin typeface="Arial"/>
                <a:cs typeface="Arial"/>
              </a:rPr>
              <a:t>Distributed Systems Foundation</a:t>
            </a:r>
            <a:endParaRPr sz="28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SzPct val="130434"/>
              <a:buFont typeface="Arial" panose="020B0604020202020204" pitchFamily="34" charset="0"/>
              <a:buChar char="•"/>
              <a:tabLst>
                <a:tab pos="364490" algn="l"/>
              </a:tabLst>
            </a:pPr>
            <a:r>
              <a:rPr sz="2800" dirty="0">
                <a:latin typeface="Arial"/>
                <a:cs typeface="Arial"/>
              </a:rPr>
              <a:t>Cloud Computing</a:t>
            </a:r>
            <a:r>
              <a:rPr lang="en-US" sz="2800" dirty="0">
                <a:latin typeface="Arial"/>
                <a:cs typeface="Arial"/>
              </a:rPr>
              <a:t> Foundation</a:t>
            </a:r>
            <a:endParaRPr sz="28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SzPct val="130434"/>
              <a:buFont typeface="Arial" panose="020B0604020202020204" pitchFamily="34" charset="0"/>
              <a:buChar char="•"/>
              <a:tabLst>
                <a:tab pos="359410" algn="l"/>
              </a:tabLst>
            </a:pPr>
            <a:r>
              <a:rPr lang="en-US" sz="2800" dirty="0">
                <a:latin typeface="Arial"/>
                <a:cs typeface="Arial"/>
              </a:rPr>
              <a:t>Advance topic on Cloud Computing</a:t>
            </a:r>
            <a:endParaRPr sz="28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buSzPct val="130434"/>
              <a:buFont typeface="Arial" panose="020B0604020202020204" pitchFamily="34" charset="0"/>
              <a:buChar char="•"/>
              <a:tabLst>
                <a:tab pos="364490" algn="l"/>
              </a:tabLst>
            </a:pPr>
            <a:r>
              <a:rPr sz="2800" dirty="0">
                <a:latin typeface="Arial"/>
                <a:cs typeface="Arial"/>
              </a:rPr>
              <a:t>Projects mentored by the industry</a:t>
            </a: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 marR="5080">
              <a:lnSpc>
                <a:spcPts val="2710"/>
              </a:lnSpc>
            </a:pPr>
            <a:r>
              <a:rPr sz="2400" dirty="0">
                <a:latin typeface="Arial"/>
                <a:cs typeface="Arial"/>
              </a:rPr>
              <a:t>You can get to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lang="en-US" sz="240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course website</a:t>
            </a:r>
            <a:r>
              <a:rPr lang="en-US" sz="24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 </a:t>
            </a:r>
            <a:r>
              <a:rPr sz="2400" dirty="0">
                <a:latin typeface="Arial"/>
                <a:cs typeface="Arial"/>
              </a:rPr>
              <a:t>This will be kept up to date, has all deadlines, demos…</a:t>
            </a:r>
          </a:p>
          <a:p>
            <a:pPr>
              <a:lnSpc>
                <a:spcPct val="100000"/>
              </a:lnSpc>
            </a:pP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  <a:hlinkClick r:id="rId3"/>
              </a:rPr>
              <a:t>Piazza</a:t>
            </a:r>
            <a:r>
              <a:rPr lang="en-US" sz="2400" dirty="0">
                <a:latin typeface="Arial"/>
                <a:cs typeface="Arial"/>
              </a:rPr>
              <a:t> i</a:t>
            </a:r>
            <a:r>
              <a:rPr sz="2400" dirty="0">
                <a:latin typeface="Arial"/>
                <a:cs typeface="Arial"/>
              </a:rPr>
              <a:t>s the source of truth.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Useful Link: </a:t>
            </a:r>
            <a:r>
              <a:rPr lang="en-US" sz="2400" dirty="0">
                <a:latin typeface="Arial"/>
                <a:cs typeface="Arial"/>
                <a:hlinkClick r:id="rId4"/>
              </a:rPr>
              <a:t>http://nil.csail.mit.edu/6.824/2020/schedule.html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                    </a:t>
            </a:r>
            <a:r>
              <a:rPr lang="en-US" sz="2400" dirty="0">
                <a:latin typeface="Arial"/>
                <a:cs typeface="Arial"/>
                <a:hlinkClick r:id="rId5"/>
              </a:rPr>
              <a:t>https://web.eecs.umich.edu/~manosk/eecs591-f21.html</a:t>
            </a:r>
            <a:endParaRPr lang="en-US"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503261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9A18A-6848-0B47-961A-DE7DE9BF4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090378A-4755-7179-1A33-44220268B88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Course Logistics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10B9F8C-07CF-640C-77D2-AE660B9BF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28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2FA12186-0A3D-3CE5-171A-DE6C90E531E2}"/>
              </a:ext>
            </a:extLst>
          </p:cNvPr>
          <p:cNvSpPr txBox="1"/>
          <p:nvPr/>
        </p:nvSpPr>
        <p:spPr>
          <a:xfrm>
            <a:off x="392248" y="882043"/>
            <a:ext cx="11145327" cy="4222951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7937">
              <a:lnSpc>
                <a:spcPct val="100000"/>
              </a:lnSpc>
              <a:buClr>
                <a:schemeClr val="tx1"/>
              </a:buClr>
            </a:pPr>
            <a:r>
              <a:rPr lang="en-US" sz="3200" b="1" dirty="0">
                <a:latin typeface="Arial"/>
                <a:cs typeface="Arial"/>
              </a:rPr>
              <a:t>Good News</a:t>
            </a:r>
            <a:r>
              <a:rPr lang="en-US" sz="3200" b="1" spc="-10" dirty="0">
                <a:latin typeface="Arial"/>
                <a:cs typeface="Arial"/>
              </a:rPr>
              <a:t>:</a:t>
            </a:r>
            <a:r>
              <a:rPr lang="en-US" sz="3200" b="1" dirty="0">
                <a:latin typeface="Arial"/>
                <a:cs typeface="Arial"/>
              </a:rPr>
              <a:t> no exam in this class</a:t>
            </a:r>
          </a:p>
          <a:p>
            <a:pPr marL="465138" indent="-4572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3200" b="1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buClr>
                <a:schemeClr val="tx1"/>
              </a:buClr>
              <a:buNone/>
            </a:pPr>
            <a:r>
              <a:rPr lang="en-US" sz="3200" b="1" dirty="0">
                <a:latin typeface="Arial"/>
                <a:cs typeface="Arial"/>
              </a:rPr>
              <a:t>Paper</a:t>
            </a:r>
            <a:r>
              <a:rPr lang="en-US" sz="3200" b="1" spc="-75" dirty="0">
                <a:latin typeface="Arial"/>
                <a:cs typeface="Arial"/>
              </a:rPr>
              <a:t> </a:t>
            </a:r>
            <a:r>
              <a:rPr lang="en-US" sz="3200" b="1" spc="-10" dirty="0">
                <a:latin typeface="Arial"/>
                <a:cs typeface="Arial"/>
              </a:rPr>
              <a:t>readings</a:t>
            </a:r>
            <a:endParaRPr lang="en-US" sz="3200" b="1" dirty="0">
              <a:latin typeface="Arial"/>
              <a:cs typeface="Arial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1–2 papers per week.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/>
              <a:t>You do not need to write reviews, but you are expected to read them.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marL="465138" indent="-45720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3061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FAABA-5649-27DA-9FB0-0C3D56E2E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F3700AB-F7AC-BCF3-E3C1-47E997705217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How You Are Evaluated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B1037F32-57A0-27D5-FCC1-F1E498BA8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903B6D-7231-C120-6F3D-FAC961C11997}"/>
              </a:ext>
            </a:extLst>
          </p:cNvPr>
          <p:cNvSpPr txBox="1"/>
          <p:nvPr/>
        </p:nvSpPr>
        <p:spPr>
          <a:xfrm>
            <a:off x="148045" y="819220"/>
            <a:ext cx="11895908" cy="643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30000"/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Project: 50% (team)</a:t>
            </a:r>
          </a:p>
          <a:p>
            <a:pPr marL="800100" lvl="2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489584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Demo 1 - design proposal: 5%</a:t>
            </a:r>
          </a:p>
          <a:p>
            <a:pPr marL="800100" lvl="2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489584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Demo 2 - working prototype: 10%</a:t>
            </a:r>
          </a:p>
          <a:p>
            <a:pPr marL="800100" lvl="2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489584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Demo 3 - optimized system: 10%</a:t>
            </a:r>
          </a:p>
          <a:p>
            <a:pPr marL="800100" lvl="2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489584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Final project result and report: 20%</a:t>
            </a:r>
          </a:p>
          <a:p>
            <a:pPr marL="800100" lvl="2" indent="-342900"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>
                <a:tab pos="489584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Presentation quizzes: 5%</a:t>
            </a:r>
          </a:p>
          <a:p>
            <a:pPr marL="457200" lvl="2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tabLst>
                <a:tab pos="489584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3000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Presentation: 10% (per presenter)</a:t>
            </a: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30000"/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30000"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Individual contribution: 10% (peer + mentor)</a:t>
            </a:r>
          </a:p>
          <a:p>
            <a:pPr marL="0" lvl="1">
              <a:lnSpc>
                <a:spcPct val="100000"/>
              </a:lnSpc>
              <a:spcBef>
                <a:spcPts val="0"/>
              </a:spcBef>
              <a:buClr>
                <a:srgbClr val="2675B4"/>
              </a:buClr>
              <a:buSzPct val="130000"/>
              <a:tabLst>
                <a:tab pos="489584" algn="l"/>
              </a:tabLst>
            </a:pP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Pct val="100000"/>
              <a:buNone/>
              <a:tabLst>
                <a:tab pos="260985" algn="l"/>
              </a:tabLst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Paper quizzes: 30%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are 18 quizzes in class: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MS/Ph.D. students: your highest 14 scores count.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Undergraduate students: your highest 12 scores count.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834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1D248-7C90-52C4-CE22-62399B4D0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9340837-9BEC-D0EB-7209-5A0BCAE04D5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How You Are Evaluated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E123E55-9494-6D12-B8CD-31C2222A5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0F3A64-25F2-E6C0-4CF3-5F35C744D9DC}"/>
              </a:ext>
            </a:extLst>
          </p:cNvPr>
          <p:cNvSpPr txBox="1"/>
          <p:nvPr/>
        </p:nvSpPr>
        <p:spPr>
          <a:xfrm>
            <a:off x="148045" y="819220"/>
            <a:ext cx="11895908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In-class Questions: Bonus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 correct answer receives 0.5 bonus point, and an insightful answer receives 1 bonus point.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wrong answer does not incur any penalty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student may receive at most one bonus per class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Bonus points are capped at 3 points toward your final grade.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If no one volunteers to answer, </a:t>
            </a:r>
            <a:r>
              <a:rPr lang="en-US" sz="2800" dirty="0"/>
              <a:t>a student will be selected at random.</a:t>
            </a:r>
          </a:p>
        </p:txBody>
      </p:sp>
    </p:spTree>
    <p:extLst>
      <p:ext uri="{BB962C8B-B14F-4D97-AF65-F5344CB8AC3E}">
        <p14:creationId xmlns:p14="http://schemas.microsoft.com/office/powerpoint/2010/main" val="427261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05003-1617-372C-5A69-34A43367E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4ECB3F3-4EAD-A891-1993-8A3B97D431A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Peer Scoring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BAD5B9C-6097-93BF-FDA8-D34D75FD7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31</a:t>
            </a:fld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8B8BE85-1EA7-8323-44AB-3905CD91CC5D}"/>
              </a:ext>
            </a:extLst>
          </p:cNvPr>
          <p:cNvSpPr txBox="1"/>
          <p:nvPr/>
        </p:nvSpPr>
        <p:spPr>
          <a:xfrm>
            <a:off x="181861" y="788895"/>
            <a:ext cx="11577265" cy="49988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There will be an </a:t>
            </a:r>
            <a:r>
              <a:rPr lang="en-US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anonymous peer scoring </a:t>
            </a: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process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Individual contribution: 10% = 5% peer + 5% mentor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Each team member rates every teammate on a scale of 1 to 10.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How it is scored</a:t>
            </a:r>
            <a:endParaRPr lang="en-US" sz="3200" dirty="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10 = carried their full share; 1 = contributed nothing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Your score is the average of what teammates give you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Peer points = 5 x min(average, 9) / 9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 average of 9 or above earns full marks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Your mentor also rates engagement and reliability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Ratings are anonymous - nobody sees who gave what</a:t>
            </a:r>
          </a:p>
        </p:txBody>
      </p:sp>
    </p:spTree>
    <p:extLst>
      <p:ext uri="{BB962C8B-B14F-4D97-AF65-F5344CB8AC3E}">
        <p14:creationId xmlns:p14="http://schemas.microsoft.com/office/powerpoint/2010/main" val="3316692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334D-2C10-F20E-261A-0DB0C0CC4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0A159855-1743-DDDB-590F-E92E7C6C78A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Course Project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FE6528A-3402-4FF3-F80D-564B35F2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32</a:t>
            </a:fld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0F01EB24-D0B7-7FBF-DC1C-7CD1A1E79923}"/>
              </a:ext>
            </a:extLst>
          </p:cNvPr>
          <p:cNvSpPr txBox="1"/>
          <p:nvPr/>
        </p:nvSpPr>
        <p:spPr>
          <a:xfrm>
            <a:off x="226684" y="914401"/>
            <a:ext cx="11577265" cy="4321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is a capstone project in the course.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Each team will be assigned a mentor from industry or a senior graduate student.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 teams will consist of </a:t>
            </a:r>
            <a:r>
              <a:rPr lang="en-US" sz="28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4–5 students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Projects are proposed by mentors, and you may indicate your preferences among them.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915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E44A8-F692-827D-7B7F-EC7800F8E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5B60EF58-647F-AE4C-B53C-5FA01D352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EAD3DA-8DFA-3ADB-FA36-DC1F7981E67D}"/>
              </a:ext>
            </a:extLst>
          </p:cNvPr>
          <p:cNvSpPr txBox="1"/>
          <p:nvPr/>
        </p:nvSpPr>
        <p:spPr>
          <a:xfrm>
            <a:off x="2859740" y="2621742"/>
            <a:ext cx="64725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Lets look at the </a:t>
            </a:r>
            <a:r>
              <a:rPr lang="en-US" sz="4000" dirty="0">
                <a:hlinkClick r:id="rId2"/>
              </a:rPr>
              <a:t>projects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8640521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04243A-AE89-DA14-06D7-DDD480816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213CD7D-1276-DE92-F2AC-96C1881D72FA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Project Match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C847DA1-22EF-3C1B-A32B-A275E1CF4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34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8632B4F-FB1A-D785-0F4C-8C4A5237BC1F}"/>
              </a:ext>
            </a:extLst>
          </p:cNvPr>
          <p:cNvSpPr txBox="1"/>
          <p:nvPr/>
        </p:nvSpPr>
        <p:spPr>
          <a:xfrm>
            <a:off x="392248" y="882043"/>
            <a:ext cx="11566669" cy="4653838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0" indent="0">
              <a:lnSpc>
                <a:spcPct val="100000"/>
              </a:lnSpc>
              <a:buClr>
                <a:schemeClr val="tx1"/>
              </a:buClr>
              <a:buNone/>
              <a:tabLst>
                <a:tab pos="354965" algn="l"/>
              </a:tabLst>
            </a:pPr>
            <a:r>
              <a:rPr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</a:t>
            </a:r>
            <a:r>
              <a:rPr sz="3200" b="1" spc="-6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3200" b="1" spc="-10" dirty="0">
                <a:latin typeface="Arial" panose="020B0604020202020204" pitchFamily="34" charset="0"/>
                <a:cs typeface="Arial" panose="020B0604020202020204" pitchFamily="34" charset="0"/>
              </a:rPr>
              <a:t>matching</a:t>
            </a:r>
          </a:p>
          <a:p>
            <a:pPr marL="514985" lvl="2" indent="-34290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post a project preference form on the course website.</a:t>
            </a: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985" lvl="2" indent="-34290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Fill out the form by 11:59 PM on 09/06.</a:t>
            </a:r>
          </a:p>
          <a:p>
            <a:pPr marL="514985" lvl="2" indent="-342900"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 will assign project teams and please reach out to your team member asap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object 5">
            <a:extLst>
              <a:ext uri="{FF2B5EF4-FFF2-40B4-BE49-F238E27FC236}">
                <a16:creationId xmlns:a16="http://schemas.microsoft.com/office/drawing/2014/main" id="{01B03DC4-FA5F-FA65-36D2-64DED145B10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088" y="1910124"/>
            <a:ext cx="6002388" cy="2464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4376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730C5-3622-3946-35C9-817EEB1AC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D5E437A-D6AD-3B28-C2F6-CA5D7A0A20C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Project Presentation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A5837576-C1D2-C0F6-C36F-8926CF8F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35</a:t>
            </a:fld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E1D7D27-2720-7BEB-4C2D-DB17997D9944}"/>
              </a:ext>
            </a:extLst>
          </p:cNvPr>
          <p:cNvSpPr txBox="1"/>
          <p:nvPr/>
        </p:nvSpPr>
        <p:spPr>
          <a:xfrm>
            <a:off x="226684" y="914401"/>
            <a:ext cx="11577265" cy="43627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SzPct val="136842"/>
              <a:buFont typeface="Times New Roman"/>
              <a:buChar char="•"/>
              <a:tabLst>
                <a:tab pos="354965" algn="l"/>
              </a:tabLst>
            </a:pPr>
            <a:r>
              <a:rPr lang="en-US" altLang="zh-CN" sz="2400" dirty="0">
                <a:latin typeface="Arial"/>
                <a:cs typeface="Arial"/>
              </a:rPr>
              <a:t>3 in-class demos plus a final presentation; all groups present.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95"/>
              </a:spcBef>
              <a:buFont typeface="Times New Roman"/>
              <a:buChar char="•"/>
            </a:pPr>
            <a:endParaRPr sz="2000" dirty="0">
              <a:latin typeface="Arial"/>
              <a:cs typeface="Arial"/>
            </a:endParaRPr>
          </a:p>
          <a:p>
            <a:pPr marL="0" marR="5080" indent="0" lvl="0">
              <a:buSzPct val="136842"/>
              <a:buFont typeface="Times New Roman"/>
              <a:buNone/>
              <a:tabLst>
                <a:tab pos="355600" algn="l"/>
              </a:tabLst>
            </a:pPr>
            <a:r>
              <a:rPr sz="3200" dirty="0" b="1">
                <a:latin typeface="Arial"/>
                <a:cs typeface="Arial"/>
              </a:rPr>
              <a:t>Before the demo</a:t>
            </a:r>
          </a:p>
          <a:p>
            <a:pPr marR="5080" lvl="1">
              <a:buSzPct val="136842"/>
              <a:buFont typeface="Times New Roman"/>
              <a:tabLst>
                <a:tab pos="355600" algn="l"/>
              </a:tabLst>
            </a:pPr>
            <a:r>
              <a:rPr sz="2800" dirty="0" b="0">
                <a:latin typeface="Arial"/>
                <a:cs typeface="Arial"/>
              </a:rPr>
              <a:t>Push slides and code to the demo branch by 12:00 noon</a:t>
            </a:r>
          </a:p>
          <a:p>
            <a:pPr marL="698500" lvl="1" indent="-342900">
              <a:lnSpc>
                <a:spcPts val="2435"/>
              </a:lnSpc>
              <a:buSzPct val="136842"/>
              <a:buFont typeface="Courier New" panose="02070309020205020404" pitchFamily="49" charset="0"/>
              <a:buChar char="o"/>
              <a:tabLst>
                <a:tab pos="698500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Email me two multiple-choice questions by 5:30 PM</a:t>
            </a:r>
          </a:p>
          <a:p>
            <a:pPr marL="698500" lvl="1" indent="-342900">
              <a:lnSpc>
                <a:spcPts val="2435"/>
              </a:lnSpc>
              <a:buSzPct val="136842"/>
              <a:buFont typeface="Courier New" panose="02070309020205020404" pitchFamily="49" charset="0"/>
              <a:buChar char="o"/>
              <a:tabLst>
                <a:tab pos="698500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are teaching us - minimize acronyms</a:t>
            </a:r>
          </a:p>
          <a:p>
            <a:pPr marL="698500" lvl="1" indent="-342900">
              <a:lnSpc>
                <a:spcPts val="2435"/>
              </a:lnSpc>
              <a:buSzPct val="136842"/>
              <a:buFont typeface="Courier New" panose="02070309020205020404" pitchFamily="49" charset="0"/>
              <a:buChar char="o"/>
              <a:tabLst>
                <a:tab pos="698500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Review your slides with your mentor first</a:t>
            </a:r>
          </a:p>
          <a:p>
            <a:pPr marL="698500" lvl="1" indent="-342900">
              <a:lnSpc>
                <a:spcPts val="2435"/>
              </a:lnSpc>
              <a:buSzPct val="136842"/>
              <a:buFont typeface="Courier New" panose="02070309020205020404" pitchFamily="49" charset="0"/>
              <a:buChar char="o"/>
              <a:tabLst>
                <a:tab pos="698500" algn="l"/>
              </a:tabLst>
            </a:pPr>
            <a:endParaRPr lang="en-US" sz="2000" dirty="0">
              <a:latin typeface="Arial"/>
              <a:cs typeface="Arial"/>
            </a:endParaRPr>
          </a:p>
          <a:p>
            <a:pPr marL="0" marR="340995" indent="0">
              <a:buSzPct val="136842"/>
              <a:buFont typeface="Times New Roman"/>
              <a:buNone/>
            </a:pPr>
            <a:r>
              <a:rPr lang="en-US" sz="3200" dirty="0" b="1">
                <a:latin typeface="Arial"/>
                <a:cs typeface="Arial"/>
              </a:rPr>
              <a:t>Presenting</a:t>
            </a:r>
          </a:p>
          <a:p>
            <a:pPr marL="812800" marR="340995" lvl="1" indent="-342900">
              <a:buSzPct val="136842"/>
              <a:buFont typeface="Courier New" panose="02070309020205020404" pitchFamily="49" charset="0"/>
              <a:buChar char="o"/>
              <a:tabLst>
                <a:tab pos="355600" algn="l"/>
              </a:tabLst>
            </a:pPr>
            <a:r>
              <a:rPr lang="en-US" sz="2800" dirty="0">
                <a:latin typeface="Arial"/>
                <a:cs typeface="Arial"/>
              </a:rPr>
              <a:t>10 minutes to present, 5 minutes for questions</a:t>
            </a:r>
            <a:endParaRPr sz="2800" dirty="0">
              <a:latin typeface="Arial"/>
              <a:cs typeface="Arial"/>
            </a:endParaRPr>
          </a:p>
          <a:p>
            <a:pPr marL="812800" marR="340995" lvl="1" indent="-342900">
              <a:buSzPct val="136842"/>
              <a:buFont typeface="Courier New" panose="02070309020205020404" pitchFamily="49" charset="0"/>
              <a:buChar char="o"/>
              <a:tabLst>
                <a:tab pos="355600" algn="l"/>
              </a:tabLst>
            </a:pPr>
            <a:r>
              <a:rPr lang="en-US" sz="2800" dirty="0">
                <a:latin typeface="Arial"/>
                <a:cs typeface="Arial"/>
              </a:rPr>
              <a:t>At most two members per demo; everyone presents once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0"/>
              </a:spcBef>
            </a:pP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7052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4882B-DD0D-2C78-A02E-C3B44FE3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2687512-FAEB-2036-5022-572D351CA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36</a:t>
            </a:fld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D9F7B21A-79C2-0FF8-9A23-ABF599900A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50622" y="2613226"/>
            <a:ext cx="7308215" cy="100711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2270760" marR="5080" indent="-2258060">
              <a:lnSpc>
                <a:spcPct val="101200"/>
              </a:lnSpc>
              <a:spcBef>
                <a:spcPts val="50"/>
              </a:spcBef>
            </a:pP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But,</a:t>
            </a:r>
            <a:r>
              <a:rPr sz="32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Why</a:t>
            </a:r>
            <a:r>
              <a:rPr sz="32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Should</a:t>
            </a:r>
            <a:r>
              <a:rPr sz="3200"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55" dirty="0">
                <a:solidFill>
                  <a:srgbClr val="000000"/>
                </a:solidFill>
                <a:latin typeface="Arial"/>
                <a:cs typeface="Arial"/>
              </a:rPr>
              <a:t>You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Stay</a:t>
            </a:r>
            <a:r>
              <a:rPr sz="32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sz="3200" b="0" spc="-10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sz="3200" b="0" spc="-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"/>
                <a:cs typeface="Arial"/>
              </a:rPr>
              <a:t>Class,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sz="3200" b="0" spc="-8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dirty="0">
                <a:solidFill>
                  <a:srgbClr val="000000"/>
                </a:solidFill>
                <a:latin typeface="Arial"/>
                <a:cs typeface="Arial"/>
              </a:rPr>
              <a:t>This</a:t>
            </a:r>
            <a:r>
              <a:rPr sz="3200" b="0" spc="-2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200" b="0" spc="-10" dirty="0">
                <a:solidFill>
                  <a:srgbClr val="000000"/>
                </a:solidFill>
                <a:latin typeface="Arial"/>
                <a:cs typeface="Arial"/>
              </a:rPr>
              <a:t>Field?</a:t>
            </a:r>
            <a:endParaRPr sz="32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25016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A1D90-95E9-CB5C-C658-C8A42F2A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AAD9395-7DC3-0CD7-BD4E-6D3F205306F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latin typeface="Helvetica" pitchFamily="2" charset="0"/>
                <a:cs typeface="Consolas" panose="020B0609020204030204" pitchFamily="49" charset="0"/>
              </a:rPr>
              <a:t>We Will Discuss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9221846D-810A-B433-45DC-231A6FAD6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37</a:t>
            </a:fld>
            <a:endParaRPr lang="en-US"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6DD141D-9E5D-21FD-7E0F-6B824D9CCD42}"/>
              </a:ext>
            </a:extLst>
          </p:cNvPr>
          <p:cNvSpPr txBox="1"/>
          <p:nvPr/>
        </p:nvSpPr>
        <p:spPr>
          <a:xfrm>
            <a:off x="279528" y="914401"/>
            <a:ext cx="9308609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buClr>
                <a:schemeClr val="tx1"/>
              </a:buClr>
              <a:buSzPct val="133333"/>
              <a:buFont typeface="Arial" panose="020B0604020202020204" pitchFamily="34" charset="0"/>
              <a:buChar char="•"/>
              <a:tabLst>
                <a:tab pos="33591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This is the future of all computing</a:t>
            </a:r>
          </a:p>
          <a:p>
            <a:pPr marL="457200" indent="-457200">
              <a:lnSpc>
                <a:spcPct val="100000"/>
              </a:lnSpc>
              <a:buClr>
                <a:schemeClr val="tx1"/>
              </a:buClr>
              <a:buSzPct val="133333"/>
              <a:buFont typeface="Arial" panose="020B0604020202020204" pitchFamily="34" charset="0"/>
              <a:buChar char="•"/>
              <a:tabLst>
                <a:tab pos="335915" algn="l"/>
              </a:tabLst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0000"/>
              </a:lnSpc>
              <a:buClr>
                <a:schemeClr val="tx1"/>
              </a:buClr>
              <a:buSzPct val="133333"/>
              <a:buFont typeface="Arial" panose="020B0604020202020204" pitchFamily="34" charset="0"/>
              <a:buNone/>
              <a:tabLst>
                <a:tab pos="335915" algn="l"/>
              </a:tabLst>
            </a:pPr>
            <a:r>
              <a:rPr lang="en-US" sz="3200" dirty="0" b="1">
                <a:latin typeface="Arial" panose="020B0604020202020204" pitchFamily="34" charset="0"/>
                <a:cs typeface="Arial" panose="020B0604020202020204" pitchFamily="34" charset="0"/>
              </a:rPr>
              <a:t>It has profound impact on: </a:t>
            </a:r>
          </a:p>
          <a:p>
            <a:pPr marL="914400" lvl="1" indent="-457200">
              <a:buClr>
                <a:schemeClr val="tx1"/>
              </a:buClr>
              <a:buSzPct val="133333"/>
              <a:buFont typeface="Courier New" panose="02070309020205020404" pitchFamily="49" charset="0"/>
              <a:buChar char="o"/>
              <a:tabLst>
                <a:tab pos="33591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hardware is developed </a:t>
            </a:r>
          </a:p>
          <a:p>
            <a:pPr marL="914400" lvl="1" indent="-457200">
              <a:buClr>
                <a:schemeClr val="tx1"/>
              </a:buClr>
              <a:buSzPct val="133333"/>
              <a:buFont typeface="Courier New" panose="02070309020205020404" pitchFamily="49" charset="0"/>
              <a:buChar char="o"/>
              <a:tabLst>
                <a:tab pos="33591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how software is developed </a:t>
            </a:r>
          </a:p>
          <a:p>
            <a:pPr marL="914400" lvl="1" indent="-457200">
              <a:buClr>
                <a:schemeClr val="tx1"/>
              </a:buClr>
              <a:buSzPct val="133333"/>
              <a:buFont typeface="Courier New" panose="02070309020205020404" pitchFamily="49" charset="0"/>
              <a:buChar char="o"/>
              <a:tabLst>
                <a:tab pos="33591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computer industry </a:t>
            </a:r>
          </a:p>
          <a:p>
            <a:pPr marL="914400" lvl="1" indent="-457200">
              <a:buClr>
                <a:schemeClr val="tx1"/>
              </a:buClr>
              <a:buSzPct val="133333"/>
              <a:buFont typeface="Courier New" panose="02070309020205020404" pitchFamily="49" charset="0"/>
              <a:buChar char="o"/>
              <a:tabLst>
                <a:tab pos="335915" algn="l"/>
              </a:tabLs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society as a whole</a:t>
            </a:r>
            <a:endParaRPr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79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C16D-3260-27D8-414B-F0A7AE7E3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F4A7231B-2553-3BE4-97A7-9BACC5F3500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Course Contents: A Variety of Topics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15375B8-0B86-5AB7-BECF-C654011ED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38</a:t>
            </a:fld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5862A5-6AEF-3DE3-7BFC-56DE72D9F779}"/>
              </a:ext>
            </a:extLst>
          </p:cNvPr>
          <p:cNvSpPr txBox="1"/>
          <p:nvPr/>
        </p:nvSpPr>
        <p:spPr>
          <a:xfrm>
            <a:off x="540295" y="1072676"/>
            <a:ext cx="4274185" cy="370678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Overview</a:t>
            </a:r>
            <a:r>
              <a:rPr sz="2000" spc="-5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of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Cloud</a:t>
            </a:r>
            <a:r>
              <a:rPr sz="2000" spc="-5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Computing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spc="-10" dirty="0">
                <a:latin typeface="Arial"/>
                <a:cs typeface="Arial"/>
              </a:rPr>
              <a:t>Virtualization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Distributed</a:t>
            </a:r>
            <a:r>
              <a:rPr sz="2000" spc="-9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systems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Datacenter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architectures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Storage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systems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0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Resource</a:t>
            </a:r>
            <a:r>
              <a:rPr sz="2000" spc="-10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management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Big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data</a:t>
            </a:r>
            <a:r>
              <a:rPr sz="2000" spc="-45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processing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Datacenter</a:t>
            </a:r>
            <a:r>
              <a:rPr sz="2000" spc="-10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networking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80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000" dirty="0">
                <a:latin typeface="Arial"/>
                <a:cs typeface="Arial"/>
              </a:rPr>
              <a:t>System Reliability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09"/>
              </a:spcBef>
              <a:buClr>
                <a:srgbClr val="2675B4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>
                <a:latin typeface="Arial"/>
                <a:cs typeface="Arial"/>
              </a:rPr>
              <a:t>Other</a:t>
            </a:r>
            <a:r>
              <a:rPr sz="2000" spc="-7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research</a:t>
            </a:r>
            <a:r>
              <a:rPr sz="2000" spc="-8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topics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540921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903AA-14CB-16A4-620B-13857A7D4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4BD6C11-990B-C339-4F24-BA447814532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So, Why is Cloud Computing Cool?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E27E19C-3598-2CFF-8378-09D6658C2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39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02D7050-32E3-13C5-E282-12FD3A4101C8}"/>
              </a:ext>
            </a:extLst>
          </p:cNvPr>
          <p:cNvSpPr txBox="1"/>
          <p:nvPr/>
        </p:nvSpPr>
        <p:spPr>
          <a:xfrm>
            <a:off x="235493" y="999672"/>
            <a:ext cx="11284153" cy="2955296"/>
          </a:xfrm>
          <a:prstGeom prst="rect">
            <a:avLst/>
          </a:prstGeom>
        </p:spPr>
        <p:txBody>
          <a:bodyPr vert="horz" wrap="square" lIns="0" tIns="10985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86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Shared</a:t>
            </a:r>
            <a:r>
              <a:rPr sz="3200" spc="-9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Resources</a:t>
            </a:r>
            <a:r>
              <a:rPr sz="3200" spc="-9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and</a:t>
            </a:r>
            <a:r>
              <a:rPr sz="3200" spc="-8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Resource</a:t>
            </a:r>
            <a:r>
              <a:rPr sz="3200" spc="-90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Management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6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Cloud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uses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shared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pool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resources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8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Uses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Internet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offer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scalable</a:t>
            </a:r>
            <a:r>
              <a:rPr sz="2800" b="1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elastic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services.</a:t>
            </a:r>
            <a:endParaRPr sz="2800" dirty="0">
              <a:latin typeface="Arial"/>
              <a:cs typeface="Arial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409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650" algn="l"/>
                <a:tab pos="1318895" algn="l"/>
              </a:tabLst>
            </a:pPr>
            <a:r>
              <a:rPr sz="2800" dirty="0">
                <a:latin typeface="Arial"/>
                <a:cs typeface="Arial"/>
              </a:rPr>
              <a:t>The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term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“</a:t>
            </a:r>
            <a:r>
              <a:rPr sz="2800" b="1" dirty="0">
                <a:latin typeface="Arial"/>
                <a:cs typeface="Arial"/>
              </a:rPr>
              <a:t>elastic</a:t>
            </a:r>
            <a:r>
              <a:rPr sz="2800" b="1" spc="-4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computing</a:t>
            </a:r>
            <a:r>
              <a:rPr sz="2800" dirty="0">
                <a:latin typeface="Arial"/>
                <a:cs typeface="Arial"/>
              </a:rPr>
              <a:t>”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refers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ability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of </a:t>
            </a:r>
            <a:r>
              <a:rPr sz="2800" dirty="0">
                <a:latin typeface="Arial"/>
                <a:cs typeface="Arial"/>
              </a:rPr>
              <a:t>dynamically</a:t>
            </a:r>
            <a:r>
              <a:rPr sz="2800" spc="-8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on-</a:t>
            </a:r>
            <a:r>
              <a:rPr sz="2800" dirty="0">
                <a:latin typeface="Arial"/>
                <a:cs typeface="Arial"/>
              </a:rPr>
              <a:t>demand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acquiring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computing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resources </a:t>
            </a:r>
            <a:r>
              <a:rPr sz="2800" spc="-25" dirty="0">
                <a:latin typeface="Arial"/>
                <a:cs typeface="Arial"/>
              </a:rPr>
              <a:t>and</a:t>
            </a:r>
            <a:r>
              <a:rPr sz="2800" dirty="0">
                <a:latin typeface="Arial"/>
                <a:cs typeface="Arial"/>
              </a:rPr>
              <a:t>	supporting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6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variable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workload.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50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Resources</a:t>
            </a:r>
            <a:r>
              <a:rPr sz="2800" spc="-7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metered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users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charged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accordingly.</a:t>
            </a:r>
            <a:endParaRPr sz="2800" dirty="0">
              <a:latin typeface="Arial"/>
              <a:cs typeface="Arial"/>
            </a:endParaRPr>
          </a:p>
          <a:p>
            <a:pPr marL="812800" marR="16510" lvl="1" indent="-342900">
              <a:lnSpc>
                <a:spcPct val="100000"/>
              </a:lnSpc>
              <a:spcBef>
                <a:spcPts val="50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650" algn="l"/>
              </a:tabLst>
            </a:pPr>
            <a:r>
              <a:rPr sz="2800" dirty="0">
                <a:latin typeface="Arial"/>
                <a:cs typeface="Arial"/>
              </a:rPr>
              <a:t>It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more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cost-</a:t>
            </a:r>
            <a:r>
              <a:rPr sz="2800" dirty="0">
                <a:latin typeface="Arial"/>
                <a:cs typeface="Arial"/>
              </a:rPr>
              <a:t>effective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due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resource-</a:t>
            </a:r>
            <a:r>
              <a:rPr sz="2800" dirty="0">
                <a:latin typeface="Arial"/>
                <a:cs typeface="Arial"/>
              </a:rPr>
              <a:t>multiplexing.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Lower </a:t>
            </a:r>
            <a:r>
              <a:rPr sz="2800" dirty="0">
                <a:latin typeface="Arial"/>
                <a:cs typeface="Arial"/>
              </a:rPr>
              <a:t>costs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cloud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service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provider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past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cloud users.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1377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9BCED-8DCA-5F1E-8101-38F99E764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14BFEE4-AB12-E00D-95A3-5BF9D4CB2D72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Infra Might Be Running Under the Water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215EB9AC-A7E3-1783-2A1B-FACF00B40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40</a:t>
            </a:fld>
            <a:endParaRPr lang="en-US" dirty="0"/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79154D2E-58E8-B687-277D-8AF93A49C98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139" y="1349375"/>
            <a:ext cx="809203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530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8B19E-A4A8-F590-FCC5-E9758B72E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8DB5523-855C-BE82-6279-1F1C951F566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 Computing Benefits?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39E05C55-A955-FCCD-8031-0E4771873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41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307B99B8-C72C-4AA1-52C4-C9A5F525A547}"/>
              </a:ext>
            </a:extLst>
          </p:cNvPr>
          <p:cNvSpPr txBox="1"/>
          <p:nvPr/>
        </p:nvSpPr>
        <p:spPr>
          <a:xfrm>
            <a:off x="291917" y="1076566"/>
            <a:ext cx="11568389" cy="3734997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Resources, such as CPU cycles, storage, network bandwidth, are shared.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When multiple applications share a system, their peak demands for resources are not synchronized thus, </a:t>
            </a: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multiplexing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leads to a higher resource utilization.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F60A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Resources can be </a:t>
            </a: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aggregated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to support data-intensive applications.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Data sharing facilitates </a:t>
            </a: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collaborative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activities. Many applications require multiple types of analysis of shared data sets and multiple decisions carried out by groups scattered around the globe.</a:t>
            </a:r>
          </a:p>
        </p:txBody>
      </p:sp>
    </p:spTree>
    <p:extLst>
      <p:ext uri="{BB962C8B-B14F-4D97-AF65-F5344CB8AC3E}">
        <p14:creationId xmlns:p14="http://schemas.microsoft.com/office/powerpoint/2010/main" val="142461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6041-565B-C29E-20A3-2C81DEAF3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1F5C376D-774F-02A7-E068-5A3E8DBF686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Cloud</a:t>
            </a:r>
            <a:r>
              <a:rPr lang="zh-CN" alt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Computing Benefits(cont’d)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0FA75B9A-3F8D-3C08-FB9F-3B21E5F96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42</a:t>
            </a:fld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45309B6-9271-2A44-4E18-26E66EBCF61E}"/>
              </a:ext>
            </a:extLst>
          </p:cNvPr>
          <p:cNvSpPr txBox="1"/>
          <p:nvPr/>
        </p:nvSpPr>
        <p:spPr>
          <a:xfrm>
            <a:off x="338716" y="852562"/>
            <a:ext cx="11503660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Eliminates the </a:t>
            </a: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initial investment costs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a private computing infrastructure and the maintenance and operation costs.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Cost reduction: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concentration of resources creates the opportunity to pay as you go for computing.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Elasticity: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 ability to accommodate workloads with very large peak-to-average ratios.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rgbClr val="1F60A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User convenience: </a:t>
            </a: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virtualization allows users to operate in familiar environments rather than in idiosyncratic ones.</a:t>
            </a:r>
          </a:p>
        </p:txBody>
      </p:sp>
    </p:spTree>
    <p:extLst>
      <p:ext uri="{BB962C8B-B14F-4D97-AF65-F5344CB8AC3E}">
        <p14:creationId xmlns:p14="http://schemas.microsoft.com/office/powerpoint/2010/main" val="118952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20BF9-E985-6C65-24E7-0149D2991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3FA578F-925B-06C7-B3BD-06B35C74AEF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Emulating the Real World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B550DB9D-54F2-A9B2-CF81-F2373D9C0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43</a:t>
            </a:fld>
            <a:endParaRPr lang="en-US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309FB9D7-459E-4EE8-560B-23CED67F58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05432" y="986118"/>
            <a:ext cx="3010446" cy="2209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5A967C-8998-3D25-A0F6-4449F74C6738}"/>
              </a:ext>
            </a:extLst>
          </p:cNvPr>
          <p:cNvSpPr txBox="1"/>
          <p:nvPr/>
        </p:nvSpPr>
        <p:spPr>
          <a:xfrm>
            <a:off x="330926" y="979459"/>
            <a:ext cx="835510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Agile software development team.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 b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Learning by doing.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to use cloud resources.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Programming and running real systems.</a:t>
            </a:r>
          </a:p>
          <a:p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 b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Many of the projects relate to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state-of-the-art systems running in the cloud.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latest systems research.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There are all kinds of internship opportunities and ways to engage if you are doing well!</a:t>
            </a:r>
          </a:p>
        </p:txBody>
      </p:sp>
    </p:spTree>
    <p:extLst>
      <p:ext uri="{BB962C8B-B14F-4D97-AF65-F5344CB8AC3E}">
        <p14:creationId xmlns:p14="http://schemas.microsoft.com/office/powerpoint/2010/main" val="1163663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931C-513A-DB3B-86E8-4C141E6D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F1E6FBE-3BB9-12D7-AD1F-95811B29A80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Some Suggestions 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242F66DE-3EB6-1028-2D0D-8BDEA0E3C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00B1EB-13C3-F08A-9D9B-0BA4A2F81C04}"/>
              </a:ext>
            </a:extLst>
          </p:cNvPr>
          <p:cNvSpPr txBox="1"/>
          <p:nvPr/>
        </p:nvSpPr>
        <p:spPr>
          <a:xfrm>
            <a:off x="274062" y="914401"/>
            <a:ext cx="991496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sz="3200" dirty="0" b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Working as a team: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Some of your team members will flake out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Some of your mentors will flake out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Some of your mentors will have unrealistic expectations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4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Come to office hours for help with detailed coding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3200" dirty="0" b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Be in touch with your mentors.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Focus on the high-level questions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808038" lvl="1" indent="-350838">
              <a:buFont typeface="Courier New" panose="02070309020205020404" pitchFamily="49" charset="0"/>
              <a:buChar char="o"/>
            </a:pPr>
            <a:r>
              <a:rPr lang="en-US" sz="28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Let the instructors know early if there are problems</a:t>
            </a:r>
          </a:p>
        </p:txBody>
      </p:sp>
    </p:spTree>
    <p:extLst>
      <p:ext uri="{BB962C8B-B14F-4D97-AF65-F5344CB8AC3E}">
        <p14:creationId xmlns:p14="http://schemas.microsoft.com/office/powerpoint/2010/main" val="325001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C2E97-CDCF-93FE-A333-64640D47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EFBBC81A-7DE9-FD52-E309-24572BE3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F47DC1-522F-58B3-38AE-76CC566E7CD8}"/>
              </a:ext>
            </a:extLst>
          </p:cNvPr>
          <p:cNvSpPr txBox="1"/>
          <p:nvPr/>
        </p:nvSpPr>
        <p:spPr>
          <a:xfrm>
            <a:off x="1846985" y="2673271"/>
            <a:ext cx="78710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You May Think You Already Know</a:t>
            </a:r>
            <a:r>
              <a:rPr lang="en-US" sz="28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To READ, But…</a:t>
            </a:r>
            <a:endParaRPr lang="en-US" sz="28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C8413-FD05-5C66-19B3-63F529457A4F}"/>
              </a:ext>
            </a:extLst>
          </p:cNvPr>
          <p:cNvSpPr txBox="1"/>
          <p:nvPr/>
        </p:nvSpPr>
        <p:spPr>
          <a:xfrm>
            <a:off x="4011962" y="1300016"/>
            <a:ext cx="3541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to Read </a:t>
            </a:r>
            <a:endParaRPr lang="en-US" sz="320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703709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6D5EA-0855-7A5E-13F9-F17476391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620C318-E0BB-BCED-795A-0BE28445EC9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Why Do We Need to Read Paper?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4176C77B-B2EC-A335-21D9-F966425A6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46</a:t>
            </a:fld>
            <a:endParaRPr lang="en-US" dirty="0"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9F8AEE80-1CE8-782C-815E-3CCB48EBF890}"/>
              </a:ext>
            </a:extLst>
          </p:cNvPr>
          <p:cNvSpPr txBox="1"/>
          <p:nvPr/>
        </p:nvSpPr>
        <p:spPr>
          <a:xfrm>
            <a:off x="237030" y="1012478"/>
            <a:ext cx="8682851" cy="4606389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Reading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classes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400" dirty="0">
                <a:latin typeface="Arial"/>
                <a:cs typeface="Arial"/>
              </a:rPr>
              <a:t>Reach the edge of human knowledge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Keeping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up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field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400" spc="-1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spc="-10" dirty="0">
                <a:latin typeface="Arial"/>
                <a:cs typeface="Arial"/>
              </a:rPr>
              <a:t>Transitioning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into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new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areas</a:t>
            </a: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endParaRPr lang="en-US"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Learning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how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write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better</a:t>
            </a:r>
            <a:r>
              <a:rPr sz="2400" spc="-5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papers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75"/>
              </a:spcBef>
            </a:pP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19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57BC7-0EC3-287F-088E-5A6FAE35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6A996226-64A8-250C-CE7E-EC6C6C24ED6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Keshav’s Three-Pass Approach: Step 1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C5B87181-173A-EEB0-A62B-241DE86AD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47</a:t>
            </a:fld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7382E7B2-1160-38EC-F95F-AD051BB7AAC5}"/>
              </a:ext>
            </a:extLst>
          </p:cNvPr>
          <p:cNvSpPr txBox="1"/>
          <p:nvPr/>
        </p:nvSpPr>
        <p:spPr>
          <a:xfrm>
            <a:off x="266997" y="1083828"/>
            <a:ext cx="10114131" cy="4255652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54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A</a:t>
            </a:r>
            <a:r>
              <a:rPr sz="3200" spc="-170" dirty="0" b="1">
                <a:latin typeface="Arial"/>
                <a:cs typeface="Arial"/>
              </a:rPr>
              <a:t> </a:t>
            </a:r>
            <a:r>
              <a:rPr sz="3200" spc="-20" dirty="0" b="1">
                <a:latin typeface="Arial"/>
                <a:cs typeface="Arial"/>
              </a:rPr>
              <a:t>ten-</a:t>
            </a:r>
            <a:r>
              <a:rPr sz="3200" dirty="0" b="1">
                <a:latin typeface="Arial"/>
                <a:cs typeface="Arial"/>
              </a:rPr>
              <a:t>minute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scan</a:t>
            </a:r>
            <a:r>
              <a:rPr sz="3200" spc="-4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to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get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general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spc="-20" dirty="0" b="1">
                <a:latin typeface="Arial"/>
                <a:cs typeface="Arial"/>
              </a:rPr>
              <a:t>idea</a:t>
            </a:r>
            <a:endParaRPr sz="3200" dirty="0" b="1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Title,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abstract,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introduction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Section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subsection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titles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Conclusion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bibliography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sz="18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What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to</a:t>
            </a:r>
            <a:r>
              <a:rPr sz="3200" spc="-4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learn: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4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five</a:t>
            </a:r>
            <a:r>
              <a:rPr sz="3200" spc="-40" dirty="0" b="1">
                <a:latin typeface="Arial"/>
                <a:cs typeface="Arial"/>
              </a:rPr>
              <a:t> </a:t>
            </a:r>
            <a:r>
              <a:rPr sz="3200" spc="-25" dirty="0" b="1">
                <a:latin typeface="Arial"/>
                <a:cs typeface="Arial"/>
              </a:rPr>
              <a:t>C’s</a:t>
            </a:r>
            <a:endParaRPr sz="3200" dirty="0" b="1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Category: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What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type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paper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25" dirty="0">
                <a:latin typeface="Arial"/>
                <a:cs typeface="Arial"/>
              </a:rPr>
              <a:t> it?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Context: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What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body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of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work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does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relate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25" dirty="0">
                <a:latin typeface="Arial"/>
                <a:cs typeface="Arial"/>
              </a:rPr>
              <a:t>to?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Correctness: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assumptions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seem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valid?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Contributions: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What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main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research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contributions?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Clarity: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1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paper</a:t>
            </a:r>
            <a:r>
              <a:rPr sz="2800" spc="-10" dirty="0">
                <a:latin typeface="Arial"/>
                <a:cs typeface="Arial"/>
              </a:rPr>
              <a:t> well-written?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18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>
                <a:latin typeface="Arial"/>
                <a:cs typeface="Arial"/>
              </a:rPr>
              <a:t>Decide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whether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to</a:t>
            </a:r>
            <a:r>
              <a:rPr sz="2400" spc="-6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read</a:t>
            </a:r>
            <a:r>
              <a:rPr sz="2400" spc="-65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further…</a:t>
            </a:r>
            <a:endParaRPr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3531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4E2B-B72D-5149-B7F2-A6396F81D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1B43849-F7EC-C8DC-76AA-D011B0BE33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Keshav’s Three-Pass Approach: Step 2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743EBA87-A2DC-A11E-B5E4-E08C561FD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48</a:t>
            </a:fld>
            <a:endParaRPr lang="en-US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F65070F-4374-8B38-E1D9-899B62A92775}"/>
              </a:ext>
            </a:extLst>
          </p:cNvPr>
          <p:cNvSpPr txBox="1"/>
          <p:nvPr/>
        </p:nvSpPr>
        <p:spPr>
          <a:xfrm>
            <a:off x="291589" y="815143"/>
            <a:ext cx="10403305" cy="5227713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54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A</a:t>
            </a:r>
            <a:r>
              <a:rPr sz="3200" spc="-17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more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careful,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spc="-20" dirty="0" b="1">
                <a:latin typeface="Arial"/>
                <a:cs typeface="Arial"/>
              </a:rPr>
              <a:t>one-</a:t>
            </a:r>
            <a:r>
              <a:rPr sz="3200" dirty="0" b="1">
                <a:latin typeface="Arial"/>
                <a:cs typeface="Arial"/>
              </a:rPr>
              <a:t>hour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reading</a:t>
            </a:r>
            <a:endParaRPr sz="3200" dirty="0" b="1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3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Read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with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greater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care,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but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ignore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details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like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proofs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2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Figures,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diagrams,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illustrations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Mark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relevant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references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later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reading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Grasp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content</a:t>
            </a:r>
            <a:r>
              <a:rPr sz="3200" spc="-5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of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paper</a:t>
            </a:r>
            <a:endParaRPr sz="3200" dirty="0" b="1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335"/>
              </a:spcBef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sz="2800" dirty="0">
                <a:latin typeface="Arial"/>
                <a:cs typeface="Arial"/>
              </a:rPr>
              <a:t>Be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able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summarize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main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idea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Identify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whether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can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(or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should)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fully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understand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33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Decide</a:t>
            </a:r>
            <a:r>
              <a:rPr sz="3200" spc="-9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whether</a:t>
            </a:r>
            <a:r>
              <a:rPr sz="3200" spc="-85" dirty="0" b="1">
                <a:latin typeface="Arial"/>
                <a:cs typeface="Arial"/>
              </a:rPr>
              <a:t> </a:t>
            </a:r>
            <a:r>
              <a:rPr sz="3200" spc="-25" dirty="0" b="1">
                <a:latin typeface="Arial"/>
                <a:cs typeface="Arial"/>
              </a:rPr>
              <a:t>to</a:t>
            </a:r>
            <a:endParaRPr sz="3200" dirty="0" b="1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1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Abandon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reading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greater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depth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Read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background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material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before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proceeding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further</a:t>
            </a:r>
            <a:endParaRPr sz="280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Persevere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continue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third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pass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2736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CE2C6-0794-ECB1-5127-E2A20FF6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977F6B95-F37F-FD73-96D5-9CD668FE557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Keshav’s Three-Pass Approach: Step 3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B8FB8A44-EE63-1CB2-66C2-EF6DADD21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49</a:t>
            </a:fld>
            <a:endParaRPr lang="en-US" dirty="0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F74CCABF-5DA3-1F6C-D1A7-CE90F7C5F2A2}"/>
              </a:ext>
            </a:extLst>
          </p:cNvPr>
          <p:cNvSpPr txBox="1"/>
          <p:nvPr/>
        </p:nvSpPr>
        <p:spPr>
          <a:xfrm>
            <a:off x="190597" y="812258"/>
            <a:ext cx="9382611" cy="523348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77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spc="-20" dirty="0" b="1">
                <a:latin typeface="Arial"/>
                <a:cs typeface="Arial"/>
              </a:rPr>
              <a:t>A several-hour virtual re-implementation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50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Making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same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assumptions,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recreate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work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5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Identify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paper’s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innovations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its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failings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33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Identify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and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challenge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every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assumption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34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Think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how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would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present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ideas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yourself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5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Jot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down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ideas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future</a:t>
            </a:r>
            <a:r>
              <a:rPr sz="2800" spc="-20" dirty="0">
                <a:latin typeface="Arial"/>
                <a:cs typeface="Arial"/>
              </a:rPr>
              <a:t> work</a:t>
            </a:r>
            <a:endParaRPr lang="en-US" sz="2800" spc="-2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5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62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When</a:t>
            </a:r>
            <a:r>
              <a:rPr sz="3200" spc="-5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should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you</a:t>
            </a:r>
            <a:r>
              <a:rPr sz="3200" spc="-5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5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this</a:t>
            </a:r>
            <a:r>
              <a:rPr sz="3200" spc="-55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carefully?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3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Reviewing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conference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journal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3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Giving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colleagues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feedback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on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paper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34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A paper closely related to your research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45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Deeply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understanding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classic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paper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the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field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42808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EFBD6-94AA-51C0-3868-60F833200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C54D6FC3-EB86-76EF-C7F4-7642AD6F7D91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Other Tips for Reading Papers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FA433E5D-F01B-4BB7-ED93-565584B21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50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A5A74FB-C066-E696-4C50-D7FC30F998FD}"/>
              </a:ext>
            </a:extLst>
          </p:cNvPr>
          <p:cNvSpPr txBox="1"/>
          <p:nvPr/>
        </p:nvSpPr>
        <p:spPr>
          <a:xfrm>
            <a:off x="235897" y="803190"/>
            <a:ext cx="8702829" cy="5664371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31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4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at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right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level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for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what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you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spc="-20" dirty="0" b="1">
                <a:latin typeface="Arial"/>
                <a:cs typeface="Arial"/>
              </a:rPr>
              <a:t>need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6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“Work</a:t>
            </a:r>
            <a:r>
              <a:rPr sz="2800" spc="-5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smarter,</a:t>
            </a:r>
            <a:r>
              <a:rPr sz="2800" spc="-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4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harder”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7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at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right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time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of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spc="-25" dirty="0" b="1">
                <a:latin typeface="Arial"/>
                <a:cs typeface="Arial"/>
              </a:rPr>
              <a:t>day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59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When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are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fresh,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not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sleepy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259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4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in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the</a:t>
            </a:r>
            <a:r>
              <a:rPr sz="3200" spc="-30" dirty="0" b="1">
                <a:latin typeface="Arial"/>
                <a:cs typeface="Arial"/>
              </a:rPr>
              <a:t> </a:t>
            </a:r>
            <a:r>
              <a:rPr sz="3200" dirty="0" b="1">
                <a:latin typeface="Arial"/>
                <a:cs typeface="Arial"/>
              </a:rPr>
              <a:t>right</a:t>
            </a:r>
            <a:r>
              <a:rPr sz="3200" spc="-35" dirty="0" b="1">
                <a:latin typeface="Arial"/>
                <a:cs typeface="Arial"/>
              </a:rPr>
              <a:t> </a:t>
            </a:r>
            <a:r>
              <a:rPr sz="3200" spc="-20" dirty="0" b="1">
                <a:latin typeface="Arial"/>
                <a:cs typeface="Arial"/>
              </a:rPr>
              <a:t>place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6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Where you are not distracted</a:t>
            </a:r>
            <a:endParaRPr lang="en-US" sz="2800" spc="-2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6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70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actively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6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With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purpose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(what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is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your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goal?)</a:t>
            </a:r>
            <a:endParaRPr sz="2800" dirty="0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With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a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pen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or</a:t>
            </a:r>
            <a:r>
              <a:rPr sz="2800" spc="-3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computer</a:t>
            </a:r>
            <a:r>
              <a:rPr sz="2800" spc="-3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to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take</a:t>
            </a:r>
            <a:r>
              <a:rPr sz="2800" spc="-20" dirty="0">
                <a:latin typeface="Arial"/>
                <a:cs typeface="Arial"/>
              </a:rPr>
              <a:t> </a:t>
            </a:r>
            <a:r>
              <a:rPr sz="2800" spc="-10" dirty="0">
                <a:latin typeface="Arial"/>
                <a:cs typeface="Arial"/>
              </a:rPr>
              <a:t>notes</a:t>
            </a:r>
            <a:endParaRPr lang="en-US" sz="2800" spc="-10" dirty="0">
              <a:latin typeface="Arial"/>
              <a:cs typeface="Arial"/>
            </a:endParaRPr>
          </a:p>
          <a:p>
            <a:pPr marL="755650" lvl="1" indent="-285750">
              <a:lnSpc>
                <a:spcPct val="100000"/>
              </a:lnSpc>
              <a:spcBef>
                <a:spcPts val="145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755015" algn="l"/>
              </a:tabLst>
            </a:pPr>
            <a:endParaRPr sz="2000" dirty="0">
              <a:latin typeface="Arial"/>
              <a:cs typeface="Arial"/>
            </a:endParaRPr>
          </a:p>
          <a:p>
            <a:pPr marL="0" indent="0">
              <a:lnSpc>
                <a:spcPct val="100000"/>
              </a:lnSpc>
              <a:spcBef>
                <a:spcPts val="265"/>
              </a:spcBef>
              <a:buClr>
                <a:schemeClr val="tx1"/>
              </a:buClr>
              <a:buFont typeface="Arial" panose="020B0604020202020204" pitchFamily="34" charset="0"/>
              <a:buNone/>
              <a:tabLst>
                <a:tab pos="354965" algn="l"/>
              </a:tabLst>
            </a:pPr>
            <a:r>
              <a:rPr sz="3200" dirty="0" b="1">
                <a:latin typeface="Arial"/>
                <a:cs typeface="Arial"/>
              </a:rPr>
              <a:t>Read</a:t>
            </a:r>
            <a:r>
              <a:rPr sz="3200" spc="-45" dirty="0" b="1">
                <a:latin typeface="Arial"/>
                <a:cs typeface="Arial"/>
              </a:rPr>
              <a:t> </a:t>
            </a:r>
            <a:r>
              <a:rPr sz="3200" spc="-10" dirty="0" b="1">
                <a:latin typeface="Arial"/>
                <a:cs typeface="Arial"/>
              </a:rPr>
              <a:t>critically</a:t>
            </a:r>
            <a:endParaRPr sz="3200" dirty="0" b="1">
              <a:latin typeface="Arial"/>
              <a:cs typeface="Arial"/>
            </a:endParaRPr>
          </a:p>
          <a:p>
            <a:pPr marL="812800" lvl="1" indent="-342900">
              <a:lnSpc>
                <a:spcPct val="100000"/>
              </a:lnSpc>
              <a:spcBef>
                <a:spcPts val="260"/>
              </a:spcBef>
              <a:buClr>
                <a:schemeClr val="tx1"/>
              </a:buClr>
              <a:buFont typeface="Courier New" panose="02070309020205020404" pitchFamily="49" charset="0"/>
              <a:buChar char="o"/>
              <a:tabLst>
                <a:tab pos="755015" algn="l"/>
              </a:tabLst>
            </a:pPr>
            <a:r>
              <a:rPr sz="2800" dirty="0">
                <a:latin typeface="Arial"/>
                <a:cs typeface="Arial"/>
              </a:rPr>
              <a:t>Think,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question,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challenge,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critique,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0" dirty="0">
                <a:latin typeface="Arial"/>
                <a:cs typeface="Arial"/>
              </a:rPr>
              <a:t>…</a:t>
            </a:r>
            <a:endParaRPr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49087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40E9A-402A-F452-2C2E-75E6A269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480B3A8-8FA8-D27F-4506-1CCF5EF0C6BB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914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>
                <a:solidFill>
                  <a:srgbClr val="000000"/>
                </a:solidFill>
                <a:latin typeface="Helvetica" pitchFamily="2" charset="0"/>
                <a:cs typeface="Consolas" panose="020B0609020204030204" pitchFamily="49" charset="0"/>
              </a:rPr>
              <a:t>Next Time</a:t>
            </a:r>
            <a:endParaRPr lang="en-US" b="1" dirty="0">
              <a:latin typeface="Helvetica" pitchFamily="2" charset="0"/>
              <a:cs typeface="Consolas" panose="020B0609020204030204" pitchFamily="49" charset="0"/>
            </a:endParaRP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DEA99566-CC41-D2AA-A3A3-E95005209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12DA15D-5F50-8B40-811F-34F736B90848}" type="slidenum">
              <a:rPr lang="en-US" smtClean="0"/>
              <a:t>51</a:t>
            </a:fld>
            <a:endParaRPr lang="en-US" dirty="0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7C893F52-C1E9-6101-6687-BDCCD807E80A}"/>
              </a:ext>
            </a:extLst>
          </p:cNvPr>
          <p:cNvSpPr txBox="1"/>
          <p:nvPr/>
        </p:nvSpPr>
        <p:spPr>
          <a:xfrm>
            <a:off x="235897" y="803190"/>
            <a:ext cx="8702829" cy="470642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31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lang="en-US" sz="2800" dirty="0">
                <a:latin typeface="Arial"/>
                <a:cs typeface="Arial"/>
              </a:rPr>
              <a:t>The rise of cloud </a:t>
            </a:r>
            <a:r>
              <a:rPr lang="en-US" sz="2800">
                <a:latin typeface="Arial"/>
                <a:cs typeface="Arial"/>
              </a:rPr>
              <a:t>computing system</a:t>
            </a:r>
            <a:endParaRPr sz="2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49681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3405</TotalTime>
  <Words>2549</Words>
  <Application>Microsoft Macintosh PowerPoint</Application>
  <PresentationFormat>Widescreen</PresentationFormat>
  <Paragraphs>497</Paragraphs>
  <Slides>51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Aptos</vt:lpstr>
      <vt:lpstr>Aptos Display</vt:lpstr>
      <vt:lpstr>Arial</vt:lpstr>
      <vt:lpstr>Book Antiqua</vt:lpstr>
      <vt:lpstr>Courier New</vt:lpstr>
      <vt:lpstr>Georgia</vt:lpstr>
      <vt:lpstr>Helvetica</vt:lpstr>
      <vt:lpstr>Helvetica Neue</vt:lpstr>
      <vt:lpstr>Times New Roman</vt:lpstr>
      <vt:lpstr>Office Theme</vt:lpstr>
      <vt:lpstr> Lecture 1: Course Introduction Fall 2026</vt:lpstr>
      <vt:lpstr>About Me</vt:lpstr>
      <vt:lpstr>Course Staff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But, Why Should You Stay in This Class, and This Field?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Hu, Yigong</dc:creator>
  <cp:lastModifiedBy>Hu, Yigong</cp:lastModifiedBy>
  <cp:revision>11</cp:revision>
  <dcterms:created xsi:type="dcterms:W3CDTF">2025-12-31T22:23:07Z</dcterms:created>
  <dcterms:modified xsi:type="dcterms:W3CDTF">2026-08-30T08:11:20Z</dcterms:modified>
</cp:coreProperties>
</file>