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11.jpg" ContentType="image/jpg"/>
  <Override PartName="/ppt/media/image12.jpg" ContentType="image/jpg"/>
  <Override PartName="/ppt/media/image13.jpg" ContentType="image/jpg"/>
  <Override PartName="/ppt/media/image15.jpg" ContentType="image/jpg"/>
  <Override PartName="/ppt/media/image16.jpg" ContentType="image/jpg"/>
  <Override PartName="/ppt/media/image17.jpg" ContentType="image/jpg"/>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18.jpg" ContentType="image/jp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20.jpg" ContentType="image/jpg"/>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image21.jpg" ContentType="image/jpg"/>
  <Override PartName="/ppt/notesSlides/notesSlide11.xml" ContentType="application/vnd.openxmlformats-officedocument.presentationml.notesSlide+xml"/>
  <Override PartName="/ppt/media/image22.jpg" ContentType="image/jpg"/>
  <Override PartName="/ppt/notesSlides/notesSlide12.xml" ContentType="application/vnd.openxmlformats-officedocument.presentationml.notesSlide+xml"/>
  <Override PartName="/ppt/notesSlides/notesSlide13.xml" ContentType="application/vnd.openxmlformats-officedocument.presentationml.notesSlide+xml"/>
  <Override PartName="/ppt/media/image25.jpg" ContentType="image/jpg"/>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422" r:id="rId2"/>
    <p:sldId id="426" r:id="rId3"/>
    <p:sldId id="445" r:id="rId26"/>
    <p:sldId id="446" r:id="rId27"/>
    <p:sldId id="448" r:id="rId28"/>
    <p:sldId id="450" r:id="rId29"/>
    <p:sldId id="451" r:id="rId30"/>
    <p:sldId id="452" r:id="rId31"/>
    <p:sldId id="449" r:id="rId32"/>
    <p:sldId id="447" r:id="rId33"/>
    <p:sldId id="470" r:id="rId34"/>
    <p:sldId id="453" r:id="rId35"/>
    <p:sldId id="454" r:id="rId36"/>
    <p:sldId id="455" r:id="rId37"/>
    <p:sldId id="456" r:id="rId38"/>
    <p:sldId id="457" r:id="rId39"/>
    <p:sldId id="461" r:id="rId40"/>
    <p:sldId id="458" r:id="rId41"/>
    <p:sldId id="459" r:id="rId42"/>
    <p:sldId id="460" r:id="rId43"/>
    <p:sldId id="462" r:id="rId44"/>
    <p:sldId id="471" r:id="rId52"/>
    <p:sldId id="472"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478294-79E4-AF40-BA36-FB117090586D}" v="263" dt="2026-02-18T23:15:57.0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22"/>
    <p:restoredTop sz="82961"/>
  </p:normalViewPr>
  <p:slideViewPr>
    <p:cSldViewPr snapToGrid="0">
      <p:cViewPr varScale="1">
        <p:scale>
          <a:sx n="104" d="100"/>
          <a:sy n="104" d="100"/>
        </p:scale>
        <p:origin x="104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3.xml"/><Relationship Id="rId39" Type="http://schemas.openxmlformats.org/officeDocument/2006/relationships/slide" Target="slides/slide16.xml"/><Relationship Id="rId34" Type="http://schemas.openxmlformats.org/officeDocument/2006/relationships/slide" Target="slides/slide11.xml"/><Relationship Id="rId42" Type="http://schemas.openxmlformats.org/officeDocument/2006/relationships/slide" Target="slides/slide19.xml"/><Relationship Id="rId47" Type="http://schemas.openxmlformats.org/officeDocument/2006/relationships/presProps" Target="presProps.xml"/><Relationship Id="rId50"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6.xml"/><Relationship Id="rId32" Type="http://schemas.openxmlformats.org/officeDocument/2006/relationships/slide" Target="slides/slide9.xml"/><Relationship Id="rId37" Type="http://schemas.openxmlformats.org/officeDocument/2006/relationships/slide" Target="slides/slide14.xml"/><Relationship Id="rId40" Type="http://schemas.openxmlformats.org/officeDocument/2006/relationships/slide" Target="slides/slide17.xml"/><Relationship Id="rId28" Type="http://schemas.openxmlformats.org/officeDocument/2006/relationships/slide" Target="slides/slide5.xml"/><Relationship Id="rId36" Type="http://schemas.openxmlformats.org/officeDocument/2006/relationships/slide" Target="slides/slide13.xml"/><Relationship Id="rId49" Type="http://schemas.openxmlformats.org/officeDocument/2006/relationships/theme" Target="theme/theme1.xml"/><Relationship Id="rId31" Type="http://schemas.openxmlformats.org/officeDocument/2006/relationships/slide" Target="slides/slide8.xml"/><Relationship Id="rId44" Type="http://schemas.openxmlformats.org/officeDocument/2006/relationships/slide" Target="slides/slide21.xml"/><Relationship Id="rId27" Type="http://schemas.openxmlformats.org/officeDocument/2006/relationships/slide" Target="slides/slide4.xml"/><Relationship Id="rId30" Type="http://schemas.openxmlformats.org/officeDocument/2006/relationships/slide" Target="slides/slide7.xml"/><Relationship Id="rId35" Type="http://schemas.openxmlformats.org/officeDocument/2006/relationships/slide" Target="slides/slide12.xml"/><Relationship Id="rId43" Type="http://schemas.openxmlformats.org/officeDocument/2006/relationships/slide" Target="slides/slide20.xml"/><Relationship Id="rId48" Type="http://schemas.openxmlformats.org/officeDocument/2006/relationships/viewProps" Target="viewProps.xml"/><Relationship Id="rId51" Type="http://schemas.microsoft.com/office/2015/10/relationships/revisionInfo" Target="revisionInfo.xml"/><Relationship Id="rId3" Type="http://schemas.openxmlformats.org/officeDocument/2006/relationships/slide" Target="slides/slide2.xml"/><Relationship Id="rId33" Type="http://schemas.openxmlformats.org/officeDocument/2006/relationships/slide" Target="slides/slide10.xml"/><Relationship Id="rId38" Type="http://schemas.openxmlformats.org/officeDocument/2006/relationships/slide" Target="slides/slide15.xml"/><Relationship Id="rId46" Type="http://schemas.openxmlformats.org/officeDocument/2006/relationships/notesMaster" Target="notesMasters/notesMaster1.xml"/><Relationship Id="rId41" Type="http://schemas.openxmlformats.org/officeDocument/2006/relationships/slide" Target="slides/slide18.xml"/><Relationship Id="rId1" Type="http://schemas.openxmlformats.org/officeDocument/2006/relationships/slideMaster" Target="slideMasters/slideMaster1.xml"/><Relationship Id="rId52" Type="http://schemas.openxmlformats.org/officeDocument/2006/relationships/slide" Target="slides/slide22.xml"/><Relationship Id="rId53"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925FE0-5DDB-2F4E-91E7-FAC86E881550}" type="datetimeFigureOut">
              <a:rPr lang="en-US" smtClean="0"/>
              <a:t>9/16/26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28AC95-C6B4-494F-AAA3-33FE4B129223}" type="slidenum">
              <a:rPr lang="en-US" smtClean="0"/>
              <a:t>‹#›</a:t>
            </a:fld>
            <a:endParaRPr lang="en-US"/>
          </a:p>
        </p:txBody>
      </p:sp>
    </p:spTree>
    <p:extLst>
      <p:ext uri="{BB962C8B-B14F-4D97-AF65-F5344CB8AC3E}">
        <p14:creationId xmlns:p14="http://schemas.microsoft.com/office/powerpoint/2010/main" val="1219034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BBCA3-A9CF-B7F8-9D46-89DE25703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C58D5-8FB2-83AE-BE48-7F301BA215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EEB12-94CF-2099-95BB-F8F99E02E961}"/>
              </a:ext>
            </a:extLst>
          </p:cNvPr>
          <p:cNvSpPr>
            <a:spLocks noGrp="1"/>
          </p:cNvSpPr>
          <p:nvPr>
            <p:ph type="body" idx="1"/>
          </p:nvPr>
        </p:nvSpPr>
        <p:spPr/>
        <p:txBody>
          <a:bodyPr/>
          <a:lstStyle/>
          <a:p>
            <a:r>
              <a:rPr lang="en-US" dirty="0"/>
              <a:t>Last time we saw how Raft elects one leader and uses that leader to choose the order of client commands. In the common case, the leader appends a command, replicates it to a majority, marks it committed, and tells the state machines to apply it.</a:t>
            </a:r>
          </a:p>
          <a:p>
            <a:endParaRPr lang="en-US" dirty="0"/>
          </a:p>
          <a:p>
            <a:r>
              <a:rPr lang="en-US" dirty="0"/>
              <a:t>Today we focus on everything that becomes difficult when leaders change. A leader can crash after sending an entry to only some followers. After several elections, different servers may have different entries at the same log index. Raft must choose a new leader, repair those logs, and still preserve every command that might already be committed.</a:t>
            </a:r>
          </a:p>
          <a:p>
            <a:endParaRPr lang="en-US" dirty="0"/>
          </a:p>
          <a:p>
            <a:r>
              <a:rPr lang="en-US" dirty="0"/>
              <a:t>We will then look below the protocol at stable storage. Which Raft variables must survive a reboot? Why can disk latency become the bottleneck? Finally, we will compact the log with snapshots so recovery time and storage do not grow forever.</a:t>
            </a:r>
          </a:p>
          <a:p>
            <a:endParaRPr lang="en-US" dirty="0"/>
          </a:p>
          <a:p>
            <a:r>
              <a:rPr lang="en-US" dirty="0"/>
              <a:t>SOURCE
MIT 6.824, Spring 2020, Lecture 7 transcript/video, 00:01–09:59 and 32:04–64:07.
Local transcript: fall2026/lectures/references/mit-6824-2020-lecture7-raft2-transcript.txt
https://www.youtube.com/watch?v=4r8Mz3MMivY
Ongaro and Ousterhout, In Search of an Understandable Consensus Algorithm, Sections 5.3–5.5 and 7.
https://pdos.csail.mit.edu/6.824/papers/raft-extended.pdf</a:t>
            </a:r>
          </a:p>
        </p:txBody>
      </p:sp>
      <p:sp>
        <p:nvSpPr>
          <p:cNvPr id="4" name="Slide Number Placeholder 3">
            <a:extLst>
              <a:ext uri="{FF2B5EF4-FFF2-40B4-BE49-F238E27FC236}">
                <a16:creationId xmlns:a16="http://schemas.microsoft.com/office/drawing/2014/main" id="{B8AB7C6A-36E9-5C23-5BE4-853D3626EDA5}"/>
              </a:ext>
            </a:extLst>
          </p:cNvPr>
          <p:cNvSpPr>
            <a:spLocks noGrp="1"/>
          </p:cNvSpPr>
          <p:nvPr>
            <p:ph type="sldNum" sz="quarter" idx="5"/>
          </p:nvPr>
        </p:nvSpPr>
        <p:spPr/>
        <p:txBody>
          <a:bodyPr/>
          <a:lstStyle/>
          <a:p>
            <a:fld id="{EF6C4B67-53EF-164D-AE78-2A15C544BE9D}" type="slidenum">
              <a:rPr lang="en-US" smtClean="0"/>
              <a:t>1</a:t>
            </a:fld>
            <a:endParaRPr lang="en-US"/>
          </a:p>
        </p:txBody>
      </p:sp>
    </p:spTree>
    <p:extLst>
      <p:ext uri="{BB962C8B-B14F-4D97-AF65-F5344CB8AC3E}">
        <p14:creationId xmlns:p14="http://schemas.microsoft.com/office/powerpoint/2010/main" val="3908176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B8B7-6C3A-826B-BEDC-11B455E4E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6B3-B338-2117-3D33-BCA332753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A163-C2DA-77C8-7422-DB4C8C9F21C5}"/>
              </a:ext>
            </a:extLst>
          </p:cNvPr>
          <p:cNvSpPr>
            <a:spLocks noGrp="1"/>
          </p:cNvSpPr>
          <p:nvPr>
            <p:ph type="body" idx="1"/>
          </p:nvPr>
        </p:nvSpPr>
        <p:spPr/>
        <p:txBody>
          <a:bodyPr/>
          <a:lstStyle/>
          <a:p>
            <a:r>
              <a:rPr lang="en-US" dirty="0"/>
              <a:t>Please share the AWS account ID that your team will use by tonight. Use the form on the slide and submit the one account your team has chosen, so we can assign the course credits correctly.</a:t>
            </a:r>
          </a:p>
        </p:txBody>
      </p:sp>
      <p:sp>
        <p:nvSpPr>
          <p:cNvPr id="4" name="Slide Number Placeholder 3">
            <a:extLst>
              <a:ext uri="{FF2B5EF4-FFF2-40B4-BE49-F238E27FC236}">
                <a16:creationId xmlns:a16="http://schemas.microsoft.com/office/drawing/2014/main" id="{09D73A9A-D881-2613-9D53-6BBD01037D23}"/>
              </a:ext>
            </a:extLst>
          </p:cNvPr>
          <p:cNvSpPr>
            <a:spLocks noGrp="1"/>
          </p:cNvSpPr>
          <p:nvPr>
            <p:ph type="sldNum" sz="quarter" idx="5"/>
          </p:nvPr>
        </p:nvSpPr>
        <p:spPr/>
        <p:txBody>
          <a:bodyPr/>
          <a:lstStyle/>
          <a:p>
            <a:fld id="{1C9584DC-3658-4054-9DA4-7B68A1D8CC6D}" type="slidenum">
              <a:rPr lang="zh-CN" altLang="en-US" smtClean="0"/>
              <a:t>2</a:t>
            </a:fld>
            <a:endParaRPr lang="zh-CN" altLang="en-US"/>
          </a:p>
        </p:txBody>
      </p:sp>
    </p:spTree>
    <p:extLst>
      <p:ext uri="{BB962C8B-B14F-4D97-AF65-F5344CB8AC3E}">
        <p14:creationId xmlns:p14="http://schemas.microsoft.com/office/powerpoint/2010/main" val="3354523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7A575-7BC6-6730-0E89-534B971CC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C6B2E-AEB0-93EA-598E-7C4871404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A548F-A137-2FE8-B903-DC6A8CC89EC3}"/>
              </a:ext>
            </a:extLst>
          </p:cNvPr>
          <p:cNvSpPr>
            <a:spLocks noGrp="1"/>
          </p:cNvSpPr>
          <p:nvPr>
            <p:ph type="body" idx="1"/>
          </p:nvPr>
        </p:nvSpPr>
        <p:spPr/>
        <p:txBody>
          <a:bodyPr/>
          <a:lstStyle/>
          <a:p>
            <a:r>
              <a:rPr lang="en-US" dirty="0"/>
              <a:t>A crashed or slow follower is the easy case. The leader sends AppendEntries RPCs in parallel and keeps retrying until each follower catches up. Duplicate RPCs are harmless because a follower can recognize entries it already has.</a:t>
            </a:r>
          </a:p>
          <a:p>
            <a:endParaRPr lang="en-US" dirty="0"/>
          </a:p>
          <a:p>
            <a:r>
              <a:rPr lang="en-US" dirty="0"/>
              <a:t>The common path stays fast. In a three-server cluster, the leader counts itself and needs one follower to reach a majority. It does not wait for the slowest machine. Once the command is committed, the leader applies it and can answer the client. A lagging follower learns the commit index from a later AppendEntries or heartbeat and applies the same commands in order.</a:t>
            </a:r>
          </a:p>
          <a:p>
            <a:endParaRPr lang="en-US" dirty="0"/>
          </a:p>
          <a:p>
            <a:r>
              <a:rPr lang="en-US" dirty="0"/>
              <a:t>So one failed follower affects redundancy, but it does not immediately affect availability or client latency. A failed leader is harder. The replacement may inherit a cluster in which different servers have accepted different uncommitted suffixes.</a:t>
            </a:r>
          </a:p>
          <a:p>
            <a:endParaRPr lang="en-US" dirty="0"/>
          </a:p>
          <a:p>
            <a:r>
              <a:rPr lang="en-US" dirty="0"/>
              <a:t>SOURCE
Ongaro and Ousterhout, In Search of an Understandable Consensus Algorithm, Sections 5.3 and 5.5.
https://pdos.csail.mit.edu/6.824/papers/raft-extended.pdf</a:t>
            </a:r>
          </a:p>
        </p:txBody>
      </p:sp>
      <p:sp>
        <p:nvSpPr>
          <p:cNvPr id="4" name="Slide Number Placeholder 3">
            <a:extLst>
              <a:ext uri="{FF2B5EF4-FFF2-40B4-BE49-F238E27FC236}">
                <a16:creationId xmlns:a16="http://schemas.microsoft.com/office/drawing/2014/main" id="{6ECC7B8B-F8BB-092F-C1D3-97B71CDCB4B1}"/>
              </a:ext>
            </a:extLst>
          </p:cNvPr>
          <p:cNvSpPr>
            <a:spLocks noGrp="1"/>
          </p:cNvSpPr>
          <p:nvPr>
            <p:ph type="sldNum" sz="quarter" idx="5"/>
          </p:nvPr>
        </p:nvSpPr>
        <p:spPr/>
        <p:txBody>
          <a:bodyPr/>
          <a:lstStyle/>
          <a:p>
            <a:fld id="{1C9584DC-3658-4054-9DA4-7B68A1D8CC6D}" type="slidenum">
              <a:rPr lang="zh-CN" altLang="en-US" smtClean="0"/>
              <a:t>25</a:t>
            </a:fld>
            <a:endParaRPr lang="zh-CN" altLang="en-US"/>
          </a:p>
        </p:txBody>
      </p:sp>
    </p:spTree>
    <p:extLst>
      <p:ext uri="{BB962C8B-B14F-4D97-AF65-F5344CB8AC3E}">
        <p14:creationId xmlns:p14="http://schemas.microsoft.com/office/powerpoint/2010/main" val="1582884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595F5-283B-2A26-73C4-F22C449569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CB77C-A107-7C5C-00BC-BE1FC786D0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37C004-C38C-01D7-59E0-9A122BAFA87A}"/>
              </a:ext>
            </a:extLst>
          </p:cNvPr>
          <p:cNvSpPr>
            <a:spLocks noGrp="1"/>
          </p:cNvSpPr>
          <p:nvPr>
            <p:ph type="body" idx="1"/>
          </p:nvPr>
        </p:nvSpPr>
        <p:spPr/>
        <p:txBody>
          <a:bodyPr/>
          <a:lstStyle/>
          <a:p>
            <a:r>
              <a:rPr lang="en-US" dirty="0"/>
              <a:t>The repair algorithm relies on the Log Matching Property.</a:t>
            </a:r>
          </a:p>
          <a:p>
            <a:endParaRPr lang="en-US" dirty="0"/>
          </a:p>
          <a:p>
            <a:r>
              <a:rPr lang="en-US" dirty="0"/>
              <a:t>First, if two entries have the same index and the same term, they contain the same command. A term has only one leader, and that leader creates at most one entry at a particular index. Leaders also never rewrite their own earlier entries.</a:t>
            </a:r>
          </a:p>
          <a:p>
            <a:endParaRPr lang="en-US" dirty="0"/>
          </a:p>
          <a:p>
            <a:r>
              <a:rPr lang="en-US" dirty="0"/>
              <a:t>Second, if two logs contain the same entry, then every preceding entry is also identical. AppendEntries enforces that statement one step at a time: the follower accepts new entries only if it already contains the exact entry named by the leader as the predecessor.</a:t>
            </a:r>
          </a:p>
          <a:p>
            <a:endParaRPr lang="en-US" dirty="0"/>
          </a:p>
          <a:p>
            <a:r>
              <a:rPr lang="en-US" dirty="0"/>
              <a:t>This gives us a powerful shortcut. When a leader finds one matching index and term on a follower, it has found a common prefix. It can replace everything after that point with its own suffix.</a:t>
            </a:r>
          </a:p>
          <a:p>
            <a:endParaRPr lang="en-US" dirty="0"/>
          </a:p>
          <a:p>
            <a:r>
              <a:rPr lang="en-US" dirty="0"/>
              <a:t>The final statement on the slide connects log matching to commitment. When Raft safely commits an entry from the leader's current term, all earlier entries in that leader's log become committed as well. We will return to why the phrase current term matters on slides 15 and 16.</a:t>
            </a:r>
          </a:p>
          <a:p>
            <a:endParaRPr lang="en-US" dirty="0"/>
          </a:p>
          <a:p>
            <a:r>
              <a:rPr lang="en-US" dirty="0"/>
              <a:t>SOURCE
Ongaro and Ousterhout, In Search of an Understandable Consensus Algorithm, Sections 5.3–5.4.2 and Figure 3.
https://pdos.csail.mit.edu/6.824/papers/raft-extended.pdf</a:t>
            </a:r>
          </a:p>
        </p:txBody>
      </p:sp>
      <p:sp>
        <p:nvSpPr>
          <p:cNvPr id="4" name="Slide Number Placeholder 3">
            <a:extLst>
              <a:ext uri="{FF2B5EF4-FFF2-40B4-BE49-F238E27FC236}">
                <a16:creationId xmlns:a16="http://schemas.microsoft.com/office/drawing/2014/main" id="{E6B9C825-86B5-6F75-A13D-52743252AC4D}"/>
              </a:ext>
            </a:extLst>
          </p:cNvPr>
          <p:cNvSpPr>
            <a:spLocks noGrp="1"/>
          </p:cNvSpPr>
          <p:nvPr>
            <p:ph type="sldNum" sz="quarter" idx="5"/>
          </p:nvPr>
        </p:nvSpPr>
        <p:spPr/>
        <p:txBody>
          <a:bodyPr/>
          <a:lstStyle/>
          <a:p>
            <a:fld id="{1C9584DC-3658-4054-9DA4-7B68A1D8CC6D}" type="slidenum">
              <a:rPr lang="zh-CN" altLang="en-US" smtClean="0"/>
              <a:t>26</a:t>
            </a:fld>
            <a:endParaRPr lang="zh-CN" altLang="en-US"/>
          </a:p>
        </p:txBody>
      </p:sp>
    </p:spTree>
    <p:extLst>
      <p:ext uri="{BB962C8B-B14F-4D97-AF65-F5344CB8AC3E}">
        <p14:creationId xmlns:p14="http://schemas.microsoft.com/office/powerpoint/2010/main" val="1319547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5F2E5-C9A6-CCE5-480B-23253EA17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CE03E-FD53-9235-24C7-A38592DCAF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1BF99C-C176-5F69-C0CA-D196EF98E097}"/>
              </a:ext>
            </a:extLst>
          </p:cNvPr>
          <p:cNvSpPr>
            <a:spLocks noGrp="1"/>
          </p:cNvSpPr>
          <p:nvPr>
            <p:ph type="body" idx="1"/>
          </p:nvPr>
        </p:nvSpPr>
        <p:spPr/>
        <p:txBody>
          <a:bodyPr/>
          <a:lstStyle/>
          <a:p>
            <a:r>
              <a:rPr lang="en-US" dirty="0"/>
              <a:t>As long as one leader stays in control, clients see a simple system. They send requests to that leader, and they cannot observe whether one follower is a few entries behind or whether another follower has received an entry but not yet learned that it is committed.</a:t>
            </a:r>
          </a:p>
          <a:p>
            <a:endParaRPr lang="en-US" dirty="0"/>
          </a:p>
          <a:p>
            <a:r>
              <a:rPr lang="en-US" dirty="0"/>
              <a:t>A leader change exposes those hidden differences. The old leader may have crashed in the middle of replication, so one server may contain an entry that another server never received. After several crashes, the same index may even contain commands created by different leaders in different terms.</a:t>
            </a:r>
          </a:p>
          <a:p>
            <a:endParaRPr lang="en-US" dirty="0"/>
          </a:p>
          <a:p>
            <a:r>
              <a:rPr lang="en-US" dirty="0"/>
              <a:t>The new leader therefore has two jobs. It must make every follower's log match its own, and it must never erase an entry that a previous leader committed. If it gets either part wrong, clients can observe a missing operation, the same operation twice, or a different command at a log position that was already applied.</a:t>
            </a:r>
          </a:p>
          <a:p>
            <a:endParaRPr lang="en-US" dirty="0"/>
          </a:p>
          <a:p>
            <a:r>
              <a:rPr lang="en-US" dirty="0"/>
              <a:t>Raft splits the solution into two rules. AppendEntries repairs followers after a leader is chosen. The election restriction controls which log is allowed to become the leader's source of truth.</a:t>
            </a:r>
          </a:p>
          <a:p>
            <a:endParaRPr lang="en-US" dirty="0"/>
          </a:p>
          <a:p>
            <a:r>
              <a:rPr lang="en-US" dirty="0"/>
              <a:t>SOURCE
MIT 6.824, Spring 2020, Lecture 7 transcript/video, 00:01–20:36.
Local transcript: fall2026/lectures/references/mit-6824-2020-lecture7-raft2-transcript.txt
https://www.youtube.com/watch?v=4r8Mz3MMivY
Ongaro and Ousterhout, In Search of an Understandable Consensus Algorithm, Sections 5.3–5.4.
https://pdos.csail.mit.edu/6.824/papers/raft-extended.pdf</a:t>
            </a:r>
          </a:p>
        </p:txBody>
      </p:sp>
      <p:sp>
        <p:nvSpPr>
          <p:cNvPr id="4" name="Slide Number Placeholder 3">
            <a:extLst>
              <a:ext uri="{FF2B5EF4-FFF2-40B4-BE49-F238E27FC236}">
                <a16:creationId xmlns:a16="http://schemas.microsoft.com/office/drawing/2014/main" id="{8492F558-5B33-963D-28EB-CA3E83820F5A}"/>
              </a:ext>
            </a:extLst>
          </p:cNvPr>
          <p:cNvSpPr>
            <a:spLocks noGrp="1"/>
          </p:cNvSpPr>
          <p:nvPr>
            <p:ph type="sldNum" sz="quarter" idx="5"/>
          </p:nvPr>
        </p:nvSpPr>
        <p:spPr/>
        <p:txBody>
          <a:bodyPr/>
          <a:lstStyle/>
          <a:p>
            <a:fld id="{1C9584DC-3658-4054-9DA4-7B68A1D8CC6D}" type="slidenum">
              <a:rPr lang="zh-CN" altLang="en-US" smtClean="0"/>
              <a:t>27</a:t>
            </a:fld>
            <a:endParaRPr lang="zh-CN" altLang="en-US"/>
          </a:p>
        </p:txBody>
      </p:sp>
    </p:spTree>
    <p:extLst>
      <p:ext uri="{BB962C8B-B14F-4D97-AF65-F5344CB8AC3E}">
        <p14:creationId xmlns:p14="http://schemas.microsoft.com/office/powerpoint/2010/main" val="1114618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C971F-0725-A8DE-6098-3F1E33605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ADA133-9368-B9D3-303B-496F2E13C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1154C-D205-126E-A7BF-BBF6D3CE5A60}"/>
              </a:ext>
            </a:extLst>
          </p:cNvPr>
          <p:cNvSpPr>
            <a:spLocks noGrp="1"/>
          </p:cNvSpPr>
          <p:nvPr>
            <p:ph type="body" idx="1"/>
          </p:nvPr>
        </p:nvSpPr>
        <p:spPr/>
        <p:txBody>
          <a:bodyPr/>
          <a:lstStyle/>
          <a:p>
            <a:r>
              <a:rPr lang="en-US" dirty="0"/>
              <a:t>Here is how disagreement appears.</a:t>
            </a:r>
          </a:p>
          <a:p>
            <a:endParaRPr lang="en-US" dirty="0"/>
          </a:p>
          <a:p>
            <a:r>
              <a:rPr lang="en-US" dirty="0"/>
              <a:t>Suppose a leader in term three sends its last entry to S2 and S3, but crashes before S1 receives it. S2 and S3 have one more entry than S1. That situation is normal: accepting an entry is not the same as knowing that it is committed.</a:t>
            </a:r>
          </a:p>
          <a:p>
            <a:endParaRPr lang="en-US" dirty="0"/>
          </a:p>
          <a:p>
            <a:r>
              <a:rPr lang="en-US" dirty="0"/>
              <a:t>Now repeat the process across several leader changes. A term-four leader may append command four on only one server and crash. A term-five leader may then append command five at the same index on a different server. The index is the position in the command sequence; the term tells us which leader created that version of the position.</a:t>
            </a:r>
          </a:p>
          <a:p>
            <a:endParaRPr lang="en-US" dirty="0"/>
          </a:p>
          <a:p>
            <a:r>
              <a:rPr lang="en-US" dirty="0"/>
              <a:t>Raft permits these conflicting suffixes because they have not yet become part of the committed history. The protocol does not try to merge them. One future leader will be selected, and its log will become authoritative. The safety question is how to ensure that the chosen log contains everything that was already committed before it starts deleting the other suffixes.</a:t>
            </a:r>
          </a:p>
          <a:p>
            <a:endParaRPr lang="en-US" dirty="0"/>
          </a:p>
          <a:p>
            <a:r>
              <a:rPr lang="en-US" dirty="0"/>
              <a:t>SOURCE
MIT 6.824, Spring 2020, Lecture 7 transcript/video, 00:01–09:59.
Local transcript: fall2026/lectures/references/mit-6824-2020-lecture7-raft2-transcript.txt
https://www.youtube.com/watch?v=4r8Mz3MMivY
Ongaro and Ousterhout, In Search of an Understandable Consensus Algorithm, Sections 5.3–5.4.
https://pdos.csail.mit.edu/6.824/papers/raft-extended.pdf</a:t>
            </a:r>
          </a:p>
        </p:txBody>
      </p:sp>
      <p:sp>
        <p:nvSpPr>
          <p:cNvPr id="4" name="Slide Number Placeholder 3">
            <a:extLst>
              <a:ext uri="{FF2B5EF4-FFF2-40B4-BE49-F238E27FC236}">
                <a16:creationId xmlns:a16="http://schemas.microsoft.com/office/drawing/2014/main" id="{2BFF84B5-E7D6-BB9C-83A2-824E0C8D3DD3}"/>
              </a:ext>
            </a:extLst>
          </p:cNvPr>
          <p:cNvSpPr>
            <a:spLocks noGrp="1"/>
          </p:cNvSpPr>
          <p:nvPr>
            <p:ph type="sldNum" sz="quarter" idx="5"/>
          </p:nvPr>
        </p:nvSpPr>
        <p:spPr/>
        <p:txBody>
          <a:bodyPr/>
          <a:lstStyle/>
          <a:p>
            <a:fld id="{1C9584DC-3658-4054-9DA4-7B68A1D8CC6D}" type="slidenum">
              <a:rPr lang="zh-CN" altLang="en-US" smtClean="0"/>
              <a:t>28</a:t>
            </a:fld>
            <a:endParaRPr lang="zh-CN" altLang="en-US"/>
          </a:p>
        </p:txBody>
      </p:sp>
    </p:spTree>
    <p:extLst>
      <p:ext uri="{BB962C8B-B14F-4D97-AF65-F5344CB8AC3E}">
        <p14:creationId xmlns:p14="http://schemas.microsoft.com/office/powerpoint/2010/main" val="1775431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D8F04-3770-A0A0-E6E7-3D8AEDC48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5994F-D2A5-95C2-D7AC-8B5AFC9DFB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1C0755-8638-2EE3-5A2E-A8BF2C306243}"/>
              </a:ext>
            </a:extLst>
          </p:cNvPr>
          <p:cNvSpPr>
            <a:spLocks noGrp="1"/>
          </p:cNvSpPr>
          <p:nvPr>
            <p:ph type="body" idx="1"/>
          </p:nvPr>
        </p:nvSpPr>
        <p:spPr/>
        <p:txBody>
          <a:bodyPr/>
          <a:lstStyle/>
          <a:p>
            <a:r>
              <a:rPr lang="en-US" dirty="0"/>
              <a:t>The figure shows the set of logs a new leader might encounter. Some followers are missing entries. Some contain extra entries from older leaders. Others contain a suffix whose terms and commands disagree with the new leader.</a:t>
            </a:r>
          </a:p>
          <a:p>
            <a:endParaRPr lang="en-US" dirty="0"/>
          </a:p>
          <a:p>
            <a:r>
              <a:rPr lang="en-US" dirty="0"/>
              <a:t>We need one result from all of these cases: after communication succeeds, every follower must contain the leader's log. Missing entries must be copied, and conflicting entries must be removed.</a:t>
            </a:r>
          </a:p>
          <a:p>
            <a:endParaRPr lang="en-US" dirty="0"/>
          </a:p>
          <a:p>
            <a:r>
              <a:rPr lang="en-US" dirty="0"/>
              <a:t>That repair is safe only if the leader's log is the right history to preserve. The election rule will guarantee that a candidate cannot win unless its log is at least as up to date as the logs of the voters that form its majority. Once that leader is chosen, the consistency check in AppendEntries finds the last common entry and makes the remaining suffix agree.</a:t>
            </a:r>
          </a:p>
          <a:p>
            <a:endParaRPr lang="en-US" dirty="0"/>
          </a:p>
          <a:p>
            <a:r>
              <a:rPr lang="en-US" dirty="0"/>
              <a:t>Keep those two pieces together. Election protects committed history before a leader is chosen. Log repair removes uncommitted disagreement after the leader is chosen.</a:t>
            </a:r>
          </a:p>
          <a:p>
            <a:endParaRPr lang="en-US" dirty="0"/>
          </a:p>
          <a:p>
            <a:r>
              <a:rPr lang="en-US" dirty="0"/>
              <a:t>SOURCE
MIT 6.824, Spring 2020, Lecture 7 transcript/video, 00:01–20:36.
Local transcript: fall2026/lectures/references/mit-6824-2020-lecture7-raft2-transcript.txt
https://www.youtube.com/watch?v=4r8Mz3MMivY
Ongaro and Ousterhout, In Search of an Understandable Consensus Algorithm, Sections 5.3–5.4 and Figure 7.
https://pdos.csail.mit.edu/6.824/papers/raft-extended.pdf</a:t>
            </a:r>
          </a:p>
        </p:txBody>
      </p:sp>
      <p:sp>
        <p:nvSpPr>
          <p:cNvPr id="4" name="Slide Number Placeholder 3">
            <a:extLst>
              <a:ext uri="{FF2B5EF4-FFF2-40B4-BE49-F238E27FC236}">
                <a16:creationId xmlns:a16="http://schemas.microsoft.com/office/drawing/2014/main" id="{2515BAAB-FAAE-C7B7-86C3-99AD510DA7F6}"/>
              </a:ext>
            </a:extLst>
          </p:cNvPr>
          <p:cNvSpPr>
            <a:spLocks noGrp="1"/>
          </p:cNvSpPr>
          <p:nvPr>
            <p:ph type="sldNum" sz="quarter" idx="5"/>
          </p:nvPr>
        </p:nvSpPr>
        <p:spPr/>
        <p:txBody>
          <a:bodyPr/>
          <a:lstStyle/>
          <a:p>
            <a:fld id="{1C9584DC-3658-4054-9DA4-7B68A1D8CC6D}" type="slidenum">
              <a:rPr lang="zh-CN" altLang="en-US" smtClean="0"/>
              <a:t>29</a:t>
            </a:fld>
            <a:endParaRPr lang="zh-CN" altLang="en-US"/>
          </a:p>
        </p:txBody>
      </p:sp>
    </p:spTree>
    <p:extLst>
      <p:ext uri="{BB962C8B-B14F-4D97-AF65-F5344CB8AC3E}">
        <p14:creationId xmlns:p14="http://schemas.microsoft.com/office/powerpoint/2010/main" val="1812250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9D084-188A-CDAF-A321-98258BD14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5F002-7A52-5B78-BBF4-00C9F8866E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AAD00E-36A8-CE79-183C-DDEA01F4FB41}"/>
              </a:ext>
            </a:extLst>
          </p:cNvPr>
          <p:cNvSpPr>
            <a:spLocks noGrp="1"/>
          </p:cNvSpPr>
          <p:nvPr>
            <p:ph type="body" idx="1"/>
          </p:nvPr>
        </p:nvSpPr>
        <p:spPr/>
        <p:txBody>
          <a:bodyPr/>
          <a:lstStyle/>
          <a:p>
            <a:r>
              <a:rPr lang="en-US" dirty="0"/>
              <a:t>The client-visible requirement is State Machine Safety: once any server applies a command at a log index, no server may ever apply a different command at that index.</a:t>
            </a:r>
          </a:p>
          <a:p>
            <a:endParaRPr lang="en-US" dirty="0"/>
          </a:p>
          <a:p>
            <a:r>
              <a:rPr lang="en-US" dirty="0"/>
              <a:t>Raft reaches that requirement through Leader Completeness. If a leader has decided that an entry is committed, every leader elected in a later term must contain that entry.</a:t>
            </a:r>
          </a:p>
          <a:p>
            <a:endParaRPr lang="en-US" dirty="0"/>
          </a:p>
          <a:p>
            <a:r>
              <a:rPr lang="en-US" dirty="0"/>
              <a:t>The rest of the argument follows from the rules on the slide. A leader never overwrites entries in its own log. Only entries from the leader's history can become committed. A server applies an entry only after learning that it is committed, and it applies entries in order.</a:t>
            </a:r>
          </a:p>
          <a:p>
            <a:endParaRPr lang="en-US" dirty="0"/>
          </a:p>
          <a:p>
            <a:r>
              <a:rPr lang="en-US" dirty="0"/>
              <a:t>Therefore, if every future leader contains the committed entry, no future leader can create a different committed history at that index. Followers may temporarily contain other uncommitted suffixes, but those suffixes cannot reach the state machine. They will be removed when the new leader repairs the logs.</a:t>
            </a:r>
          </a:p>
          <a:p>
            <a:endParaRPr lang="en-US" dirty="0"/>
          </a:p>
          <a:p>
            <a:r>
              <a:rPr lang="en-US" dirty="0"/>
              <a:t>This is why election and commitment cannot be designed independently. The election restriction is what makes it safe to treat the new leader's log as the truth.</a:t>
            </a:r>
          </a:p>
          <a:p>
            <a:endParaRPr lang="en-US" dirty="0"/>
          </a:p>
          <a:p>
            <a:r>
              <a:rPr lang="en-US" dirty="0"/>
              <a:t>SOURCE
Ongaro and Ousterhout, In Search of an Understandable Consensus Algorithm, Sections 5.4–5.4.3 and Figure 3.
https://pdos.csail.mit.edu/6.824/papers/raft-extended.pdf</a:t>
            </a:r>
          </a:p>
        </p:txBody>
      </p:sp>
      <p:sp>
        <p:nvSpPr>
          <p:cNvPr id="4" name="Slide Number Placeholder 3">
            <a:extLst>
              <a:ext uri="{FF2B5EF4-FFF2-40B4-BE49-F238E27FC236}">
                <a16:creationId xmlns:a16="http://schemas.microsoft.com/office/drawing/2014/main" id="{3A3F7752-37A6-FDDD-C583-EAFD8A31E7F4}"/>
              </a:ext>
            </a:extLst>
          </p:cNvPr>
          <p:cNvSpPr>
            <a:spLocks noGrp="1"/>
          </p:cNvSpPr>
          <p:nvPr>
            <p:ph type="sldNum" sz="quarter" idx="5"/>
          </p:nvPr>
        </p:nvSpPr>
        <p:spPr/>
        <p:txBody>
          <a:bodyPr/>
          <a:lstStyle/>
          <a:p>
            <a:fld id="{1C9584DC-3658-4054-9DA4-7B68A1D8CC6D}" type="slidenum">
              <a:rPr lang="zh-CN" altLang="en-US" smtClean="0"/>
              <a:t>30</a:t>
            </a:fld>
            <a:endParaRPr lang="zh-CN" altLang="en-US"/>
          </a:p>
        </p:txBody>
      </p:sp>
    </p:spTree>
    <p:extLst>
      <p:ext uri="{BB962C8B-B14F-4D97-AF65-F5344CB8AC3E}">
        <p14:creationId xmlns:p14="http://schemas.microsoft.com/office/powerpoint/2010/main" val="3634752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DF2C6-8AE0-C6E1-E09A-727715E0A2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AB4C8F-6AB6-E8FF-7196-610FE2DD9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3AC8E-B211-3381-4421-4C48249B8AA6}"/>
              </a:ext>
            </a:extLst>
          </p:cNvPr>
          <p:cNvSpPr>
            <a:spLocks noGrp="1"/>
          </p:cNvSpPr>
          <p:nvPr>
            <p:ph type="body" idx="1"/>
          </p:nvPr>
        </p:nvSpPr>
        <p:spPr/>
        <p:txBody>
          <a:bodyPr/>
          <a:lstStyle/>
          <a:p>
            <a:r>
              <a:rPr lang="en-US" dirty="0"/>
              <a:t>Use the example from the MIT lecture. S3 has become leader in term six, and its first new entry is at index thirteen. To send that entry, it also names the preceding entry: index twelve, term five.</a:t>
            </a:r>
          </a:p>
          <a:p>
            <a:endParaRPr lang="en-US" dirty="0"/>
          </a:p>
          <a:p>
            <a:r>
              <a:rPr lang="en-US" dirty="0"/>
              <a:t>S2 has an entry at index twelve, but that entry came from term four. S1 does not have index twelve at all. Both followers reject the first AppendEntries because the predecessor does not match.</a:t>
            </a:r>
          </a:p>
          <a:p>
            <a:endParaRPr lang="en-US" dirty="0"/>
          </a:p>
          <a:p>
            <a:r>
              <a:rPr lang="en-US" dirty="0"/>
              <a:t>The leader then moves backward. For S2, it tries again with index eleven, term three as the predecessor. That entry matches. S2 now knows that its log agrees with the leader through index eleven. It deletes its conflicting term-four entry at index twelve and appends the leader's term-five and term-six entries.</a:t>
            </a:r>
          </a:p>
          <a:p>
            <a:endParaRPr lang="en-US" dirty="0"/>
          </a:p>
          <a:p>
            <a:r>
              <a:rPr lang="en-US" dirty="0"/>
              <a:t>S1 may have to move backward one step farther before it finds a match. After that, the leader fills every missing entry.</a:t>
            </a:r>
          </a:p>
          <a:p>
            <a:endParaRPr lang="en-US" dirty="0"/>
          </a:p>
          <a:p>
            <a:r>
              <a:rPr lang="en-US" dirty="0"/>
              <a:t>Why is it acceptable to delete S2's term-four command? That command was never stored on a majority, so its leader could not safely commit it, apply it, or reply to the client on its behalf. If the client did not receive a reply, it must retry. The protocol preserves committed commands, not every tentative command that ever appeared in a log.</a:t>
            </a:r>
          </a:p>
          <a:p>
            <a:endParaRPr lang="en-US" dirty="0"/>
          </a:p>
          <a:p>
            <a:r>
              <a:rPr lang="en-US" dirty="0"/>
              <a:t>SOURCE
MIT 6.824, Spring 2020, Lecture 7 transcript/video, 00:01–09:59.
Local transcript: fall2026/lectures/references/mit-6824-2020-lecture7-raft2-transcript.txt
https://www.youtube.com/watch?v=4r8Mz3MMivY
Ongaro and Ousterhout, In Search of an Understandable Consensus Algorithm, Section 5.3.
https://pdos.csail.mit.edu/6.824/papers/raft-extended.pdf</a:t>
            </a:r>
          </a:p>
        </p:txBody>
      </p:sp>
      <p:sp>
        <p:nvSpPr>
          <p:cNvPr id="4" name="Slide Number Placeholder 3">
            <a:extLst>
              <a:ext uri="{FF2B5EF4-FFF2-40B4-BE49-F238E27FC236}">
                <a16:creationId xmlns:a16="http://schemas.microsoft.com/office/drawing/2014/main" id="{30321F72-9953-9D10-FFAD-94FA764F67A3}"/>
              </a:ext>
            </a:extLst>
          </p:cNvPr>
          <p:cNvSpPr>
            <a:spLocks noGrp="1"/>
          </p:cNvSpPr>
          <p:nvPr>
            <p:ph type="sldNum" sz="quarter" idx="5"/>
          </p:nvPr>
        </p:nvSpPr>
        <p:spPr/>
        <p:txBody>
          <a:bodyPr/>
          <a:lstStyle/>
          <a:p>
            <a:fld id="{1C9584DC-3658-4054-9DA4-7B68A1D8CC6D}" type="slidenum">
              <a:rPr lang="zh-CN" altLang="en-US" smtClean="0"/>
              <a:t>31</a:t>
            </a:fld>
            <a:endParaRPr lang="zh-CN" altLang="en-US"/>
          </a:p>
        </p:txBody>
      </p:sp>
    </p:spTree>
    <p:extLst>
      <p:ext uri="{BB962C8B-B14F-4D97-AF65-F5344CB8AC3E}">
        <p14:creationId xmlns:p14="http://schemas.microsoft.com/office/powerpoint/2010/main" val="1969679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C4407-C990-0929-B1C7-CA51D0F06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F01975-CC09-F8DD-719D-9E7AF691A8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42744B-24D2-3A85-8421-5FD2B352B176}"/>
              </a:ext>
            </a:extLst>
          </p:cNvPr>
          <p:cNvSpPr>
            <a:spLocks noGrp="1"/>
          </p:cNvSpPr>
          <p:nvPr>
            <p:ph type="body" idx="1"/>
          </p:nvPr>
        </p:nvSpPr>
        <p:spPr/>
        <p:txBody>
          <a:bodyPr/>
          <a:lstStyle/>
          <a:p>
            <a:r>
              <a:rPr lang="en-US" dirty="0"/>
              <a:t>Every AppendEntries request identifies the entry immediately before the new entries with two fields: prevLogIndex and prevLogTerm.</a:t>
            </a:r>
          </a:p>
          <a:p>
            <a:endParaRPr lang="en-US" dirty="0"/>
          </a:p>
          <a:p>
            <a:r>
              <a:rPr lang="en-US" dirty="0"/>
              <a:t>The follower checks that exact position. If it has the same index and term, the request may proceed. If the entry is missing or has a different term, the follower rejects the request without changing its log.</a:t>
            </a:r>
          </a:p>
          <a:p>
            <a:endParaRPr lang="en-US" dirty="0"/>
          </a:p>
          <a:p>
            <a:r>
              <a:rPr lang="en-US" dirty="0"/>
              <a:t>Why does one matching entry tell us that the entire prefix matches? The argument is inductive. An entry could originally be accepted only after its own predecessor matched. Therefore, two copies of the same entry imply two copies of the same predecessor, and the reasoning continues all the way back to the beginning of the log.</a:t>
            </a:r>
          </a:p>
          <a:p>
            <a:endParaRPr lang="en-US" dirty="0"/>
          </a:p>
          <a:p>
            <a:r>
              <a:rPr lang="en-US" dirty="0"/>
              <a:t>This check prevents the leader from creating holes or attaching a new suffix to the wrong history. Once the leader finds a matching predecessor, it can remove any conflicting entries after that point and append its own entries. The follower's log then matches the leader for the portion that was sent.</a:t>
            </a:r>
          </a:p>
          <a:p>
            <a:endParaRPr lang="en-US" dirty="0"/>
          </a:p>
          <a:p>
            <a:r>
              <a:rPr lang="en-US" dirty="0"/>
              <a:t>SOURCE
Ongaro and Ousterhout, In Search of an Understandable Consensus Algorithm, Section 5.3 and Figure 2.
https://pdos.csail.mit.edu/6.824/papers/raft-extended.pdf</a:t>
            </a:r>
          </a:p>
        </p:txBody>
      </p:sp>
      <p:sp>
        <p:nvSpPr>
          <p:cNvPr id="4" name="Slide Number Placeholder 3">
            <a:extLst>
              <a:ext uri="{FF2B5EF4-FFF2-40B4-BE49-F238E27FC236}">
                <a16:creationId xmlns:a16="http://schemas.microsoft.com/office/drawing/2014/main" id="{56739BC8-56F9-53BA-9191-099559759751}"/>
              </a:ext>
            </a:extLst>
          </p:cNvPr>
          <p:cNvSpPr>
            <a:spLocks noGrp="1"/>
          </p:cNvSpPr>
          <p:nvPr>
            <p:ph type="sldNum" sz="quarter" idx="5"/>
          </p:nvPr>
        </p:nvSpPr>
        <p:spPr/>
        <p:txBody>
          <a:bodyPr/>
          <a:lstStyle/>
          <a:p>
            <a:fld id="{1C9584DC-3658-4054-9DA4-7B68A1D8CC6D}" type="slidenum">
              <a:rPr lang="zh-CN" altLang="en-US" smtClean="0"/>
              <a:t>32</a:t>
            </a:fld>
            <a:endParaRPr lang="zh-CN" altLang="en-US"/>
          </a:p>
        </p:txBody>
      </p:sp>
    </p:spTree>
    <p:extLst>
      <p:ext uri="{BB962C8B-B14F-4D97-AF65-F5344CB8AC3E}">
        <p14:creationId xmlns:p14="http://schemas.microsoft.com/office/powerpoint/2010/main" val="3579249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C5BDC-E066-724E-A71A-8B3CF6F6B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3437E-463E-39B5-8C54-306C6AB99E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13F39E-1614-60E1-92CC-3F5B672324FF}"/>
              </a:ext>
            </a:extLst>
          </p:cNvPr>
          <p:cNvSpPr>
            <a:spLocks noGrp="1"/>
          </p:cNvSpPr>
          <p:nvPr>
            <p:ph type="body" idx="1"/>
          </p:nvPr>
        </p:nvSpPr>
        <p:spPr/>
        <p:txBody>
          <a:bodyPr/>
          <a:lstStyle/>
          <a:p>
            <a:r>
              <a:rPr lang="en-US" dirty="0"/>
              <a:t>The leader keeps a separate nextIndex for every follower. nextIndex is the first log index that the leader believes that follower still needs.</a:t>
            </a:r>
          </a:p>
          <a:p>
            <a:endParaRPr lang="en-US" dirty="0"/>
          </a:p>
          <a:p>
            <a:r>
              <a:rPr lang="en-US" dirty="0"/>
              <a:t>When a server becomes leader, it initializes every nextIndex to one position after the end of its own log. It first assumes that the follower is caught up. If the follower rejects AppendEntries, the assumption was too optimistic, so the leader moves nextIndex backward and tries again. Rejections continue until the request names a predecessor that the follower actually has with the same term.</a:t>
            </a:r>
          </a:p>
          <a:p>
            <a:endParaRPr lang="en-US" dirty="0"/>
          </a:p>
          <a:p>
            <a:r>
              <a:rPr lang="en-US" dirty="0"/>
              <a:t>After a successful match, the leader sends the suffix beginning at nextIndex. The follower deletes any conflicting suffix and stores the leader's entries. The leader can then advance nextIndex and matchIndex for that follower.</a:t>
            </a:r>
          </a:p>
          <a:p>
            <a:endParaRPr lang="en-US" dirty="0"/>
          </a:p>
          <a:p>
            <a:r>
              <a:rPr lang="en-US" dirty="0"/>
              <a:t>The simple algorithm decreases one index at a time. It is easy to understand and correct, but a very stale follower may require many round trips. Practical implementations return information about the conflicting term and the first index for that term, allowing the leader to jump backward by an entire term. That optimization changes the search speed, not the safety rule.</a:t>
            </a:r>
          </a:p>
          <a:p>
            <a:endParaRPr lang="en-US" dirty="0"/>
          </a:p>
          <a:p>
            <a:r>
              <a:rPr lang="en-US" dirty="0"/>
              <a:t>nextIndex and matchIndex are volatile. A new leader can reconstruct them by starting at the end of its log and repeating this process.</a:t>
            </a:r>
          </a:p>
          <a:p>
            <a:endParaRPr lang="en-US" dirty="0"/>
          </a:p>
          <a:p>
            <a:r>
              <a:rPr lang="en-US" dirty="0"/>
              <a:t>SOURCE
MIT 6.824, Spring 2020, Lecture 7 transcript/video, 00:01–09:59 and 20:36–32:04.
Local transcript: fall2026/lectures/references/mit-6824-2020-lecture7-raft2-transcript.txt
https://www.youtube.com/watch?v=4r8Mz3MMivY
Ongaro and Ousterhout, In Search of an Understandable Consensus Algorithm, Section 5.3 and Figure 2.
https://pdos.csail.mit.edu/6.824/papers/raft-extended.pdf</a:t>
            </a:r>
          </a:p>
        </p:txBody>
      </p:sp>
      <p:sp>
        <p:nvSpPr>
          <p:cNvPr id="4" name="Slide Number Placeholder 3">
            <a:extLst>
              <a:ext uri="{FF2B5EF4-FFF2-40B4-BE49-F238E27FC236}">
                <a16:creationId xmlns:a16="http://schemas.microsoft.com/office/drawing/2014/main" id="{17358A72-9AC8-6071-FFD0-4120095C3593}"/>
              </a:ext>
            </a:extLst>
          </p:cNvPr>
          <p:cNvSpPr>
            <a:spLocks noGrp="1"/>
          </p:cNvSpPr>
          <p:nvPr>
            <p:ph type="sldNum" sz="quarter" idx="5"/>
          </p:nvPr>
        </p:nvSpPr>
        <p:spPr/>
        <p:txBody>
          <a:bodyPr/>
          <a:lstStyle/>
          <a:p>
            <a:fld id="{1C9584DC-3658-4054-9DA4-7B68A1D8CC6D}" type="slidenum">
              <a:rPr lang="zh-CN" altLang="en-US" smtClean="0"/>
              <a:t>33</a:t>
            </a:fld>
            <a:endParaRPr lang="zh-CN" altLang="en-US"/>
          </a:p>
        </p:txBody>
      </p:sp>
    </p:spTree>
    <p:extLst>
      <p:ext uri="{BB962C8B-B14F-4D97-AF65-F5344CB8AC3E}">
        <p14:creationId xmlns:p14="http://schemas.microsoft.com/office/powerpoint/2010/main" val="38167577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97243-D918-4388-F75F-0EC51D1DFA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DC2D3E-CE37-229E-5075-2EC8002F48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6A2006-5A1D-CAC8-8BD0-77DDEB7D39AE}"/>
              </a:ext>
            </a:extLst>
          </p:cNvPr>
          <p:cNvSpPr>
            <a:spLocks noGrp="1"/>
          </p:cNvSpPr>
          <p:nvPr>
            <p:ph type="body" idx="1"/>
          </p:nvPr>
        </p:nvSpPr>
        <p:spPr/>
        <p:txBody>
          <a:bodyPr/>
          <a:lstStyle/>
          <a:p>
            <a:r>
              <a:rPr lang="en-US" dirty="0"/>
              <a:t>The lower log is the same follower before and after repair.</a:t>
            </a:r>
          </a:p>
          <a:p>
            <a:endParaRPr lang="en-US" dirty="0"/>
          </a:p>
          <a:p>
            <a:r>
              <a:rPr lang="en-US" dirty="0"/>
              <a:t>Before repair, the follower agrees with the leader through the green prefix and then follows a different history. The leader backs up nextIndex until the consistency check succeeds at the last common entry. The follower then removes the purple and yellow suffix and accepts the leader's entries.</a:t>
            </a:r>
          </a:p>
          <a:p>
            <a:endParaRPr lang="en-US" dirty="0"/>
          </a:p>
          <a:p>
            <a:r>
              <a:rPr lang="en-US" dirty="0"/>
              <a:t>After repair, the follower's log is a prefix of the leader's log, and continued AppendEntries calls make the two identical. Notice that the leader does not modify its own log to merge the follower's commands. Raft chooses one history and overwrites uncommitted alternatives.</a:t>
            </a:r>
          </a:p>
          <a:p>
            <a:endParaRPr lang="en-US" dirty="0"/>
          </a:p>
          <a:p>
            <a:r>
              <a:rPr lang="en-US" dirty="0"/>
              <a:t>That can make a tentative client command disappear. A client that did not receive a successful reply must retry, and the service layer normally uses client IDs and sequence numbers to suppress duplicate execution. A committed command is different: the election restriction ensures that it is already present in every possible future leader.</a:t>
            </a:r>
          </a:p>
          <a:p>
            <a:endParaRPr lang="en-US" dirty="0"/>
          </a:p>
          <a:p>
            <a:r>
              <a:rPr lang="en-US" dirty="0"/>
              <a:t>SOURCE
MIT 6.824, Spring 2020, Lecture 7 transcript/video, 00:01–09:59.
Local transcript: fall2026/lectures/references/mit-6824-2020-lecture7-raft2-transcript.txt
https://www.youtube.com/watch?v=4r8Mz3MMivY
Ongaro and Ousterhout, In Search of an Understandable Consensus Algorithm, Sections 5.3–5.5.
https://pdos.csail.mit.edu/6.824/papers/raft-extended.pdf</a:t>
            </a:r>
          </a:p>
        </p:txBody>
      </p:sp>
      <p:sp>
        <p:nvSpPr>
          <p:cNvPr id="4" name="Slide Number Placeholder 3">
            <a:extLst>
              <a:ext uri="{FF2B5EF4-FFF2-40B4-BE49-F238E27FC236}">
                <a16:creationId xmlns:a16="http://schemas.microsoft.com/office/drawing/2014/main" id="{4E07E1CB-8DD7-00B3-FC5A-2663D33D4BFA}"/>
              </a:ext>
            </a:extLst>
          </p:cNvPr>
          <p:cNvSpPr>
            <a:spLocks noGrp="1"/>
          </p:cNvSpPr>
          <p:nvPr>
            <p:ph type="sldNum" sz="quarter" idx="5"/>
          </p:nvPr>
        </p:nvSpPr>
        <p:spPr/>
        <p:txBody>
          <a:bodyPr/>
          <a:lstStyle/>
          <a:p>
            <a:fld id="{1C9584DC-3658-4054-9DA4-7B68A1D8CC6D}" type="slidenum">
              <a:rPr lang="zh-CN" altLang="en-US" smtClean="0"/>
              <a:t>34</a:t>
            </a:fld>
            <a:endParaRPr lang="zh-CN" altLang="en-US"/>
          </a:p>
        </p:txBody>
      </p:sp>
    </p:spTree>
    <p:extLst>
      <p:ext uri="{BB962C8B-B14F-4D97-AF65-F5344CB8AC3E}">
        <p14:creationId xmlns:p14="http://schemas.microsoft.com/office/powerpoint/2010/main" val="3496319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8B982-01E1-6C9F-3D08-E94645F72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245B0-0942-4794-AD74-6ACBF2F0ED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1670A-4630-0A12-7562-35A709958071}"/>
              </a:ext>
            </a:extLst>
          </p:cNvPr>
          <p:cNvSpPr>
            <a:spLocks noGrp="1"/>
          </p:cNvSpPr>
          <p:nvPr>
            <p:ph type="body" idx="1"/>
          </p:nvPr>
        </p:nvSpPr>
        <p:spPr/>
        <p:txBody>
          <a:bodyPr/>
          <a:lstStyle/>
          <a:p>
            <a:r>
              <a:rPr lang="en-US" dirty="0"/>
              <a:t>Log length alone does not tell us which server has the safest history.</a:t>
            </a:r>
          </a:p>
          <a:p>
            <a:endParaRPr lang="en-US" dirty="0"/>
          </a:p>
          <a:p>
            <a:r>
              <a:rPr lang="en-US" dirty="0"/>
              <a:t>Construct the example across several crashes. S1 is leader in term five and appends an entry only to itself. It crashes. S1 returns, becomes leader in term six, appends another entry only to itself, and crashes again. Its log now has entries from terms five, six, and seven, so it is the longest.</a:t>
            </a:r>
          </a:p>
          <a:p>
            <a:endParaRPr lang="en-US" dirty="0"/>
          </a:p>
          <a:p>
            <a:r>
              <a:rPr lang="en-US" dirty="0"/>
              <a:t>Meanwhile, a different leader in term eight appends an entry to S2 and S3. Because two of the three servers store that entry, the term-eight leader may have committed it and answered a client. S2 and S3 have shorter logs, but their last entry comes from the newer term.</a:t>
            </a:r>
          </a:p>
          <a:p>
            <a:endParaRPr lang="en-US" dirty="0"/>
          </a:p>
          <a:p>
            <a:r>
              <a:rPr lang="en-US" dirty="0"/>
              <a:t>If we elect S1 merely because it has more entries, S1 will overwrite the term-eight entry on S2 and S3. That could erase a committed command. The extra entries on S1 do not help because they were created in earlier terms and never reached a majority.</a:t>
            </a:r>
          </a:p>
          <a:p>
            <a:endParaRPr lang="en-US" dirty="0"/>
          </a:p>
          <a:p>
            <a:r>
              <a:rPr lang="en-US" dirty="0"/>
              <a:t>Raft therefore compares the term of the last entry before comparing length. A last entry from a newer term represents progress by a newer leader and takes priority over any number of older uncommitted entries.</a:t>
            </a:r>
          </a:p>
          <a:p>
            <a:endParaRPr lang="en-US" dirty="0"/>
          </a:p>
          <a:p>
            <a:r>
              <a:rPr lang="en-US" dirty="0"/>
              <a:t>SOURCE
MIT 6.824, Spring 2020, Lecture 7 transcript/video, 09:59–20:36.
Local transcript: fall2026/lectures/references/mit-6824-2020-lecture7-raft2-transcript.txt
https://www.youtube.com/watch?v=4r8Mz3MMivY
Ongaro and Ousterhout, In Search of an Understandable Consensus Algorithm, Section 5.4.1.
https://pdos.csail.mit.edu/6.824/papers/raft-extended.pdf</a:t>
            </a:r>
          </a:p>
        </p:txBody>
      </p:sp>
      <p:sp>
        <p:nvSpPr>
          <p:cNvPr id="4" name="Slide Number Placeholder 3">
            <a:extLst>
              <a:ext uri="{FF2B5EF4-FFF2-40B4-BE49-F238E27FC236}">
                <a16:creationId xmlns:a16="http://schemas.microsoft.com/office/drawing/2014/main" id="{CF3F290A-67EC-1152-2B2F-A20F65C0A701}"/>
              </a:ext>
            </a:extLst>
          </p:cNvPr>
          <p:cNvSpPr>
            <a:spLocks noGrp="1"/>
          </p:cNvSpPr>
          <p:nvPr>
            <p:ph type="sldNum" sz="quarter" idx="5"/>
          </p:nvPr>
        </p:nvSpPr>
        <p:spPr/>
        <p:txBody>
          <a:bodyPr/>
          <a:lstStyle/>
          <a:p>
            <a:fld id="{1C9584DC-3658-4054-9DA4-7B68A1D8CC6D}" type="slidenum">
              <a:rPr lang="zh-CN" altLang="en-US" smtClean="0"/>
              <a:t>35</a:t>
            </a:fld>
            <a:endParaRPr lang="zh-CN" altLang="en-US"/>
          </a:p>
        </p:txBody>
      </p:sp>
    </p:spTree>
    <p:extLst>
      <p:ext uri="{BB962C8B-B14F-4D97-AF65-F5344CB8AC3E}">
        <p14:creationId xmlns:p14="http://schemas.microsoft.com/office/powerpoint/2010/main" val="41571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780E7-2289-F8DE-9D56-7F53C06B4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2DD20-8A2A-3264-8C4D-9E60F93684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D951E-B59C-6D07-C280-DC3646462BC8}"/>
              </a:ext>
            </a:extLst>
          </p:cNvPr>
          <p:cNvSpPr>
            <a:spLocks noGrp="1"/>
          </p:cNvSpPr>
          <p:nvPr>
            <p:ph type="body" idx="1"/>
          </p:nvPr>
        </p:nvSpPr>
        <p:spPr/>
        <p:txBody>
          <a:bodyPr/>
          <a:lstStyle/>
          <a:p>
            <a:r>
              <a:rPr lang="en-US" dirty="0"/>
              <a:t>A RequestVote RPC includes the candidate's lastLogTerm and lastLogIndex. A voter grants its vote only if the candidate's log is at least as up to date as its own.</a:t>
            </a:r>
          </a:p>
          <a:p>
            <a:endParaRPr lang="en-US" dirty="0"/>
          </a:p>
          <a:p>
            <a:r>
              <a:rPr lang="en-US" dirty="0"/>
              <a:t>The comparison is lexicographic. Compare the last terms first. The server with the larger last term is more up to date. Only when the last terms are equal do we compare last indexes; in that case, the longer log is more up to date.</a:t>
            </a:r>
          </a:p>
          <a:p>
            <a:endParaRPr lang="en-US" dirty="0"/>
          </a:p>
          <a:p>
            <a:r>
              <a:rPr lang="en-US" dirty="0"/>
              <a:t>Apply that rule to the previous example. S1's last term is seven. S2 and S3 end in term eight. Even though S1 has more entries, both S2 and S3 reject S1's vote request. One of the term-eight servers can collect the majority and preserve the entry that may already be committed.</a:t>
            </a:r>
          </a:p>
          <a:p>
            <a:endParaRPr lang="en-US" dirty="0"/>
          </a:p>
          <a:p>
            <a:r>
              <a:rPr lang="en-US" dirty="0"/>
              <a:t>The majority intersection gives the safety intuition. A committed entry is stored on a majority. A candidate also needs votes from a majority. Those two sets overlap. At least one voter has the committed history, and the up-to-date check prevents it from voting for a candidate that would lose that history.</a:t>
            </a:r>
          </a:p>
          <a:p>
            <a:endParaRPr lang="en-US" dirty="0"/>
          </a:p>
          <a:p>
            <a:r>
              <a:rPr lang="en-US" dirty="0"/>
              <a:t>This election restriction is what justifies the rule that the new leader's log is authoritative during repair.</a:t>
            </a:r>
          </a:p>
          <a:p>
            <a:endParaRPr lang="en-US" dirty="0"/>
          </a:p>
          <a:p>
            <a:r>
              <a:rPr lang="en-US" dirty="0"/>
              <a:t>SOURCE
MIT 6.824, Spring 2020, Lecture 7 transcript/video, 09:59–20:36.
Local transcript: fall2026/lectures/references/mit-6824-2020-lecture7-raft2-transcript.txt
https://www.youtube.com/watch?v=4r8Mz3MMivY
Ongaro and Ousterhout, In Search of an Understandable Consensus Algorithm, Section 5.4.1 and Figure 2.
https://pdos.csail.mit.edu/6.824/papers/raft-extended.pdf</a:t>
            </a:r>
          </a:p>
        </p:txBody>
      </p:sp>
      <p:sp>
        <p:nvSpPr>
          <p:cNvPr id="4" name="Slide Number Placeholder 3">
            <a:extLst>
              <a:ext uri="{FF2B5EF4-FFF2-40B4-BE49-F238E27FC236}">
                <a16:creationId xmlns:a16="http://schemas.microsoft.com/office/drawing/2014/main" id="{6290E3C4-A008-B613-CF22-818C4132AC68}"/>
              </a:ext>
            </a:extLst>
          </p:cNvPr>
          <p:cNvSpPr>
            <a:spLocks noGrp="1"/>
          </p:cNvSpPr>
          <p:nvPr>
            <p:ph type="sldNum" sz="quarter" idx="5"/>
          </p:nvPr>
        </p:nvSpPr>
        <p:spPr/>
        <p:txBody>
          <a:bodyPr/>
          <a:lstStyle/>
          <a:p>
            <a:fld id="{1C9584DC-3658-4054-9DA4-7B68A1D8CC6D}" type="slidenum">
              <a:rPr lang="zh-CN" altLang="en-US" smtClean="0"/>
              <a:t>36</a:t>
            </a:fld>
            <a:endParaRPr lang="zh-CN" altLang="en-US"/>
          </a:p>
        </p:txBody>
      </p:sp>
    </p:spTree>
    <p:extLst>
      <p:ext uri="{BB962C8B-B14F-4D97-AF65-F5344CB8AC3E}">
        <p14:creationId xmlns:p14="http://schemas.microsoft.com/office/powerpoint/2010/main" val="1802254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B3BC2-F5B0-36D7-46B0-103E1369C7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8F794-59D0-1760-98C5-085556B3C9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F777C3-323D-8241-0FFF-3D84C94FDB39}"/>
              </a:ext>
            </a:extLst>
          </p:cNvPr>
          <p:cNvSpPr>
            <a:spLocks noGrp="1"/>
          </p:cNvSpPr>
          <p:nvPr>
            <p:ph type="body" idx="1"/>
          </p:nvPr>
        </p:nvSpPr>
        <p:spPr/>
        <p:txBody>
          <a:bodyPr/>
          <a:lstStyle/>
          <a:p>
            <a:r>
              <a:rPr lang="en-US" dirty="0"/>
              <a:t>Now consider when a leader may decide that an entry is committed.</a:t>
            </a:r>
          </a:p>
          <a:p>
            <a:endParaRPr lang="en-US" dirty="0"/>
          </a:p>
          <a:p>
            <a:r>
              <a:rPr lang="en-US" dirty="0"/>
              <a:t>In this picture, S1 is leader in term two. It has replicated the entry at index four to a majority. Because this entry was created in the leader's current term, S1 can mark it committed.</a:t>
            </a:r>
          </a:p>
          <a:p>
            <a:endParaRPr lang="en-US" dirty="0"/>
          </a:p>
          <a:p>
            <a:r>
              <a:rPr lang="en-US" dirty="0"/>
              <a:t>The election restriction makes that decision durable. Any candidate in a later term needs votes from a majority. A majority that stored the term-two entry must overlap the candidate's voting majority. A voter with that entry will not support a candidate whose log is less up to date. Therefore, every future leader must contain the committed entry at index four.</a:t>
            </a:r>
          </a:p>
          <a:p>
            <a:endParaRPr lang="en-US" dirty="0"/>
          </a:p>
          <a:p>
            <a:r>
              <a:rPr lang="en-US" dirty="0"/>
              <a:t>Once index four is committed, all preceding entries in S1's log are committed as well. The Log Matching Property guarantees that a future leader containing index four also contains the same prefix.</a:t>
            </a:r>
          </a:p>
          <a:p>
            <a:endParaRPr lang="en-US" dirty="0"/>
          </a:p>
          <a:p>
            <a:r>
              <a:rPr lang="en-US" dirty="0"/>
              <a:t>This is the ordinary rule in the Raft implementation: count replicas to advance commitIndex only for an entry whose term equals currentTerm.</a:t>
            </a:r>
          </a:p>
          <a:p>
            <a:endParaRPr lang="en-US" dirty="0"/>
          </a:p>
          <a:p>
            <a:r>
              <a:rPr lang="en-US" dirty="0"/>
              <a:t>SOURCE
Ongaro and Ousterhout, In Search of an Understandable Consensus Algorithm, Section 5.4.2, Figure 2, and Figure 8.
https://pdos.csail.mit.edu/6.824/papers/raft-extended.pdf</a:t>
            </a:r>
          </a:p>
        </p:txBody>
      </p:sp>
      <p:sp>
        <p:nvSpPr>
          <p:cNvPr id="4" name="Slide Number Placeholder 3">
            <a:extLst>
              <a:ext uri="{FF2B5EF4-FFF2-40B4-BE49-F238E27FC236}">
                <a16:creationId xmlns:a16="http://schemas.microsoft.com/office/drawing/2014/main" id="{43468FA9-67CB-EEAC-5741-1B8B84F30CE7}"/>
              </a:ext>
            </a:extLst>
          </p:cNvPr>
          <p:cNvSpPr>
            <a:spLocks noGrp="1"/>
          </p:cNvSpPr>
          <p:nvPr>
            <p:ph type="sldNum" sz="quarter" idx="5"/>
          </p:nvPr>
        </p:nvSpPr>
        <p:spPr/>
        <p:txBody>
          <a:bodyPr/>
          <a:lstStyle/>
          <a:p>
            <a:fld id="{1C9584DC-3658-4054-9DA4-7B68A1D8CC6D}" type="slidenum">
              <a:rPr lang="zh-CN" altLang="en-US" smtClean="0"/>
              <a:t>37</a:t>
            </a:fld>
            <a:endParaRPr lang="zh-CN" altLang="en-US"/>
          </a:p>
        </p:txBody>
      </p:sp>
    </p:spTree>
    <p:extLst>
      <p:ext uri="{BB962C8B-B14F-4D97-AF65-F5344CB8AC3E}">
        <p14:creationId xmlns:p14="http://schemas.microsoft.com/office/powerpoint/2010/main" val="2912749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EF62E-0B4B-85D7-F188-1C3EF1ED6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8A2E3-2BF6-1513-D8FC-1118CC2376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8AC959-5B43-54FD-4144-8DEC1D9C5E02}"/>
              </a:ext>
            </a:extLst>
          </p:cNvPr>
          <p:cNvSpPr>
            <a:spLocks noGrp="1"/>
          </p:cNvSpPr>
          <p:nvPr>
            <p:ph type="body" idx="1"/>
          </p:nvPr>
        </p:nvSpPr>
        <p:spPr/>
        <p:txBody>
          <a:bodyPr/>
          <a:lstStyle/>
          <a:p>
            <a:r>
              <a:rPr lang="en-US" dirty="0"/>
              <a:t>An entry from an earlier term needs more care. Figure 8 in the paper gives the counterexample.</a:t>
            </a:r>
          </a:p>
          <a:p>
            <a:endParaRPr lang="en-US" dirty="0"/>
          </a:p>
          <a:p>
            <a:r>
              <a:rPr lang="en-US" dirty="0"/>
              <a:t>S1 created the entry at index three in term two and later returns as leader in term four. It replicates that old entry to a majority. It is tempting to count three copies and declare the entry committed.</a:t>
            </a:r>
          </a:p>
          <a:p>
            <a:endParaRPr lang="en-US" dirty="0"/>
          </a:p>
          <a:p>
            <a:r>
              <a:rPr lang="en-US" dirty="0"/>
              <a:t>But S1 can crash before creating any term-four entry. S5 may then win term five using votes from S2, S3, and S4. Its last log term is newer than the last term on the other servers, so the election rule can allow it to win. S5 can overwrite index three even though the old term-two entry briefly appeared on a majority.</a:t>
            </a:r>
          </a:p>
          <a:p>
            <a:endParaRPr lang="en-US" dirty="0"/>
          </a:p>
          <a:p>
            <a:r>
              <a:rPr lang="en-US" dirty="0"/>
              <a:t>Raft therefore never commits an old-term entry merely by counting its replicas. The leader first appends an entry in its current term, often a no-op, and replicates that current-term entry to a majority. Once the current-term entry commits, every earlier entry in the leader's prefix becomes committed indirectly.</a:t>
            </a:r>
          </a:p>
          <a:p>
            <a:endParaRPr lang="en-US" dirty="0"/>
          </a:p>
          <a:p>
            <a:r>
              <a:rPr lang="en-US" dirty="0"/>
              <a:t>The rule may delay commitment, but it keeps the proof simple: direct majority counting is used only for entries created by the current leader's term.</a:t>
            </a:r>
          </a:p>
          <a:p>
            <a:endParaRPr lang="en-US" dirty="0"/>
          </a:p>
          <a:p>
            <a:r>
              <a:rPr lang="en-US" dirty="0"/>
              <a:t>SOURCE
Ongaro and Ousterhout, In Search of an Understandable Consensus Algorithm, Section 5.4.2 and Figure 8.
https://pdos.csail.mit.edu/6.824/papers/raft-extended.pdf</a:t>
            </a:r>
          </a:p>
        </p:txBody>
      </p:sp>
      <p:sp>
        <p:nvSpPr>
          <p:cNvPr id="4" name="Slide Number Placeholder 3">
            <a:extLst>
              <a:ext uri="{FF2B5EF4-FFF2-40B4-BE49-F238E27FC236}">
                <a16:creationId xmlns:a16="http://schemas.microsoft.com/office/drawing/2014/main" id="{01DEF286-156F-A948-24FD-EA8335408960}"/>
              </a:ext>
            </a:extLst>
          </p:cNvPr>
          <p:cNvSpPr>
            <a:spLocks noGrp="1"/>
          </p:cNvSpPr>
          <p:nvPr>
            <p:ph type="sldNum" sz="quarter" idx="5"/>
          </p:nvPr>
        </p:nvSpPr>
        <p:spPr/>
        <p:txBody>
          <a:bodyPr/>
          <a:lstStyle/>
          <a:p>
            <a:fld id="{1C9584DC-3658-4054-9DA4-7B68A1D8CC6D}" type="slidenum">
              <a:rPr lang="zh-CN" altLang="en-US" smtClean="0"/>
              <a:t>38</a:t>
            </a:fld>
            <a:endParaRPr lang="zh-CN" altLang="en-US"/>
          </a:p>
        </p:txBody>
      </p:sp>
    </p:spTree>
    <p:extLst>
      <p:ext uri="{BB962C8B-B14F-4D97-AF65-F5344CB8AC3E}">
        <p14:creationId xmlns:p14="http://schemas.microsoft.com/office/powerpoint/2010/main" val="147021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40015-91C6-72E4-4E08-5516F80F2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83CF0-FDB2-6960-FF0C-124DE4272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EB76D0-4199-0323-0489-A8473C5BC5D1}"/>
              </a:ext>
            </a:extLst>
          </p:cNvPr>
          <p:cNvSpPr>
            <a:spLocks noGrp="1"/>
          </p:cNvSpPr>
          <p:nvPr>
            <p:ph type="body" idx="1"/>
          </p:nvPr>
        </p:nvSpPr>
        <p:spPr/>
        <p:txBody>
          <a:bodyPr/>
          <a:lstStyle/>
          <a:p>
            <a:r>
              <a:rPr lang="en-US" dirty="0"/>
              <a:t>So far, a crash meant that one server disappeared while the remaining majority kept running. In that case, we could replace the failed machine with an empty server and copy the state from a live replica.</a:t>
            </a:r>
          </a:p>
          <a:p>
            <a:endParaRPr lang="en-US" dirty="0"/>
          </a:p>
          <a:p>
            <a:r>
              <a:rPr lang="en-US" dirty="0"/>
              <a:t>That is not enough for every failure. A process may restart on the same machine, or the whole cluster may lose power at once. When the machines return, the protocol cannot assume that some untouched replica still remembers the terms, votes, and log entries from before the crash.</a:t>
            </a:r>
          </a:p>
          <a:p>
            <a:endParaRPr lang="en-US" dirty="0"/>
          </a:p>
          <a:p>
            <a:r>
              <a:rPr lang="en-US" dirty="0"/>
              <a:t>Raft therefore separates persistent state from volatile state. Persistent state is written to stable storage and reloaded before the server sends or answers RPCs after a restart. Volatile state can be reconstructed from the persistent log and new messages from the current leader.</a:t>
            </a:r>
          </a:p>
          <a:p>
            <a:endParaRPr lang="en-US" dirty="0"/>
          </a:p>
          <a:p>
            <a:r>
              <a:rPr lang="en-US" dirty="0"/>
              <a:t>The key discipline is ordering: if a server's reply makes a promise visible to another machine, the state supporting that promise must already be durable. Otherwise a crash could erase the promise while another server continues to rely on it.</a:t>
            </a:r>
          </a:p>
          <a:p>
            <a:endParaRPr lang="en-US" dirty="0"/>
          </a:p>
          <a:p>
            <a:r>
              <a:rPr lang="en-US" dirty="0"/>
              <a:t>SOURCE
MIT 6.824, Spring 2020, Lecture 7 transcript/video, 32:04–49:39.
Local transcript: fall2026/lectures/references/mit-6824-2020-lecture7-raft2-transcript.txt
https://www.youtube.com/watch?v=4r8Mz3MMivY
Ongaro and Ousterhout, In Search of an Understandable Consensus Algorithm, Figure 2 and Section 5.5.
https://pdos.csail.mit.edu/6.824/papers/raft-extended.pdf</a:t>
            </a:r>
          </a:p>
        </p:txBody>
      </p:sp>
      <p:sp>
        <p:nvSpPr>
          <p:cNvPr id="4" name="Slide Number Placeholder 3">
            <a:extLst>
              <a:ext uri="{FF2B5EF4-FFF2-40B4-BE49-F238E27FC236}">
                <a16:creationId xmlns:a16="http://schemas.microsoft.com/office/drawing/2014/main" id="{26D600BA-1F55-3E75-6A5B-E2167758BB7F}"/>
              </a:ext>
            </a:extLst>
          </p:cNvPr>
          <p:cNvSpPr>
            <a:spLocks noGrp="1"/>
          </p:cNvSpPr>
          <p:nvPr>
            <p:ph type="sldNum" sz="quarter" idx="5"/>
          </p:nvPr>
        </p:nvSpPr>
        <p:spPr/>
        <p:txBody>
          <a:bodyPr/>
          <a:lstStyle/>
          <a:p>
            <a:fld id="{1C9584DC-3658-4054-9DA4-7B68A1D8CC6D}" type="slidenum">
              <a:rPr lang="zh-CN" altLang="en-US" smtClean="0"/>
              <a:t>39</a:t>
            </a:fld>
            <a:endParaRPr lang="zh-CN" altLang="en-US"/>
          </a:p>
        </p:txBody>
      </p:sp>
    </p:spTree>
    <p:extLst>
      <p:ext uri="{BB962C8B-B14F-4D97-AF65-F5344CB8AC3E}">
        <p14:creationId xmlns:p14="http://schemas.microsoft.com/office/powerpoint/2010/main" val="17058569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59A47-3A79-E230-F53A-94CBB3E04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8A99D-DDB3-7CD6-DDA9-B97A9D0996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36B02F-1CE5-AB98-7B59-0FCAC4ACA698}"/>
              </a:ext>
            </a:extLst>
          </p:cNvPr>
          <p:cNvSpPr>
            <a:spLocks noGrp="1"/>
          </p:cNvSpPr>
          <p:nvPr>
            <p:ph type="body" idx="1"/>
          </p:nvPr>
        </p:nvSpPr>
        <p:spPr/>
        <p:txBody>
          <a:bodyPr/>
          <a:lstStyle/>
          <a:p>
            <a:r>
              <a:rPr lang="en-US" dirty="0"/>
              <a:t>Three pieces of Raft state must survive a crash: the log, currentTerm, and votedFor.</a:t>
            </a:r>
          </a:p>
          <a:p>
            <a:endParaRPr lang="en-US" dirty="0"/>
          </a:p>
          <a:p>
            <a:r>
              <a:rPr lang="en-US" dirty="0"/>
              <a:t>The log contains the commands that may already be committed and the tentative commands that a future leader may need. A leader persists a new entry before sending AppendEntries. A follower persists the entry before replying success. An acknowledgment must mean that the entry will still exist after a reboot.</a:t>
            </a:r>
          </a:p>
          <a:p>
            <a:endParaRPr lang="en-US" dirty="0"/>
          </a:p>
          <a:p>
            <a:r>
              <a:rPr lang="en-US" dirty="0"/>
              <a:t>currentTerm prevents a restarted server from accepting authority from an older term or reusing an earlier term as if the later election never happened. votedFor prevents a server from granting two votes in the same term, with a crash between the votes. Both values must be persisted before the server sends the corresponding reply.</a:t>
            </a:r>
          </a:p>
          <a:p>
            <a:endParaRPr lang="en-US" dirty="0"/>
          </a:p>
          <a:p>
            <a:r>
              <a:rPr lang="en-US" dirty="0"/>
              <a:t>commitIndex, lastApplied, nextIndex, and matchIndex can be volatile in the basic design. A new leader reconstructs nextIndex and matchIndex through AppendEntries. A restarting server can learn commitIndex from the leader. It can rebuild the application by loading a snapshot and replaying committed log entries, which also reconstructs lastApplied.</a:t>
            </a:r>
          </a:p>
          <a:p>
            <a:endParaRPr lang="en-US" dirty="0"/>
          </a:p>
          <a:p>
            <a:r>
              <a:rPr lang="en-US" dirty="0"/>
              <a:t>The general question is whether losing a variable could make the server contradict an earlier externally visible promise. If yes, that variable or an equivalent record must be durable.</a:t>
            </a:r>
          </a:p>
          <a:p>
            <a:endParaRPr lang="en-US" dirty="0"/>
          </a:p>
          <a:p>
            <a:r>
              <a:rPr lang="en-US" dirty="0"/>
              <a:t>SOURCE
MIT 6.824, Spring 2020, Lecture 7 transcript/video, 32:04–49:39.
Local transcript: fall2026/lectures/references/mit-6824-2020-lecture7-raft2-transcript.txt
https://www.youtube.com/watch?v=4r8Mz3MMivY
Ongaro and Ousterhout, In Search of an Understandable Consensus Algorithm, Figure 2 and Section 5.5.
https://pdos.csail.mit.edu/6.824/papers/raft-extended.pdf</a:t>
            </a:r>
          </a:p>
        </p:txBody>
      </p:sp>
      <p:sp>
        <p:nvSpPr>
          <p:cNvPr id="4" name="Slide Number Placeholder 3">
            <a:extLst>
              <a:ext uri="{FF2B5EF4-FFF2-40B4-BE49-F238E27FC236}">
                <a16:creationId xmlns:a16="http://schemas.microsoft.com/office/drawing/2014/main" id="{9688ACCD-8DF1-5D29-B589-623C035398DB}"/>
              </a:ext>
            </a:extLst>
          </p:cNvPr>
          <p:cNvSpPr>
            <a:spLocks noGrp="1"/>
          </p:cNvSpPr>
          <p:nvPr>
            <p:ph type="sldNum" sz="quarter" idx="5"/>
          </p:nvPr>
        </p:nvSpPr>
        <p:spPr/>
        <p:txBody>
          <a:bodyPr/>
          <a:lstStyle/>
          <a:p>
            <a:fld id="{1C9584DC-3658-4054-9DA4-7B68A1D8CC6D}" type="slidenum">
              <a:rPr lang="zh-CN" altLang="en-US" smtClean="0"/>
              <a:t>40</a:t>
            </a:fld>
            <a:endParaRPr lang="zh-CN" altLang="en-US"/>
          </a:p>
        </p:txBody>
      </p:sp>
    </p:spTree>
    <p:extLst>
      <p:ext uri="{BB962C8B-B14F-4D97-AF65-F5344CB8AC3E}">
        <p14:creationId xmlns:p14="http://schemas.microsoft.com/office/powerpoint/2010/main" val="3003659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E7467-874F-E8D4-80E2-62036A63D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EC768-34E0-4E0E-B805-5784283AD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23A628-F251-8582-8BF0-89B2325399C9}"/>
              </a:ext>
            </a:extLst>
          </p:cNvPr>
          <p:cNvSpPr>
            <a:spLocks noGrp="1"/>
          </p:cNvSpPr>
          <p:nvPr>
            <p:ph type="body" idx="1"/>
          </p:nvPr>
        </p:nvSpPr>
        <p:spPr/>
        <p:txBody>
          <a:bodyPr/>
          <a:lstStyle/>
          <a:p>
            <a:r>
              <a:rPr lang="en-US" dirty="0"/>
              <a:t>Stable storage can become the latency bottleneck.</a:t>
            </a:r>
          </a:p>
          <a:p>
            <a:endParaRPr lang="en-US" dirty="0"/>
          </a:p>
          <a:p>
            <a:r>
              <a:rPr lang="en-US" dirty="0"/>
              <a:t>A disk write is not durable merely because the operating system accepted it. The bytes may still be in a memory cache. Raft needs the equivalent of fsync before it sends a reply that depends on the write.</a:t>
            </a:r>
          </a:p>
          <a:p>
            <a:endParaRPr lang="en-US" dirty="0"/>
          </a:p>
          <a:p>
            <a:r>
              <a:rPr lang="en-US" dirty="0"/>
              <a:t>On a hard drive, one durable write can take roughly ten milliseconds. If every client command waits for a separate sync, one server can perform only about one hundred such operations per second. SSDs reduce the latency substantially, and battery-backed or nonvolatile memory can reduce it further, but the ordering requirement remains.</a:t>
            </a:r>
          </a:p>
          <a:p>
            <a:endParaRPr lang="en-US" dirty="0"/>
          </a:p>
          <a:p>
            <a:r>
              <a:rPr lang="en-US" dirty="0"/>
              <a:t>Systems therefore batch work. A leader can place several new log entries in one durable write and then replicate them together. A follower can persist a batch before acknowledging the batch. The requests share one sync cost.</a:t>
            </a:r>
          </a:p>
          <a:p>
            <a:endParaRPr lang="en-US" dirty="0"/>
          </a:p>
          <a:p>
            <a:r>
              <a:rPr lang="en-US" dirty="0"/>
              <a:t>The performance requirement follows directly from safety: the leader must persist an entry before advertising it to followers, and a follower must persist an entry before its success reply can count toward a majority.</a:t>
            </a:r>
          </a:p>
          <a:p>
            <a:endParaRPr lang="en-US" dirty="0"/>
          </a:p>
          <a:p>
            <a:r>
              <a:rPr lang="en-US" dirty="0"/>
              <a:t>SOURCE
MIT 6.824, Spring 2020, Lecture 7 transcript/video, 40:24–49:39.
Local transcript: fall2026/lectures/references/mit-6824-2020-lecture7-raft2-transcript.txt
https://www.youtube.com/watch?v=4r8Mz3MMivY
Ongaro and Ousterhout, In Search of an Understandable Consensus Algorithm, Figure 2 and Section 5.5.
https://pdos.csail.mit.edu/6.824/papers/raft-extended.pdf</a:t>
            </a:r>
          </a:p>
        </p:txBody>
      </p:sp>
      <p:sp>
        <p:nvSpPr>
          <p:cNvPr id="4" name="Slide Number Placeholder 3">
            <a:extLst>
              <a:ext uri="{FF2B5EF4-FFF2-40B4-BE49-F238E27FC236}">
                <a16:creationId xmlns:a16="http://schemas.microsoft.com/office/drawing/2014/main" id="{6084C707-77D8-8D87-160A-B2F4CE867C8D}"/>
              </a:ext>
            </a:extLst>
          </p:cNvPr>
          <p:cNvSpPr>
            <a:spLocks noGrp="1"/>
          </p:cNvSpPr>
          <p:nvPr>
            <p:ph type="sldNum" sz="quarter" idx="5"/>
          </p:nvPr>
        </p:nvSpPr>
        <p:spPr/>
        <p:txBody>
          <a:bodyPr/>
          <a:lstStyle/>
          <a:p>
            <a:fld id="{1C9584DC-3658-4054-9DA4-7B68A1D8CC6D}" type="slidenum">
              <a:rPr lang="zh-CN" altLang="en-US" smtClean="0"/>
              <a:t>41</a:t>
            </a:fld>
            <a:endParaRPr lang="zh-CN" altLang="en-US"/>
          </a:p>
        </p:txBody>
      </p:sp>
    </p:spTree>
    <p:extLst>
      <p:ext uri="{BB962C8B-B14F-4D97-AF65-F5344CB8AC3E}">
        <p14:creationId xmlns:p14="http://schemas.microsoft.com/office/powerpoint/2010/main" val="21025184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47DC-D06A-C622-A66D-6CC768110D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226885-813A-BC6F-F325-5967C2103A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B4405B-F180-14A4-0A06-75C6341EEBC0}"/>
              </a:ext>
            </a:extLst>
          </p:cNvPr>
          <p:cNvSpPr>
            <a:spLocks noGrp="1"/>
          </p:cNvSpPr>
          <p:nvPr>
            <p:ph type="body" idx="1"/>
          </p:nvPr>
        </p:nvSpPr>
        <p:spPr/>
        <p:txBody>
          <a:bodyPr/>
          <a:lstStyle/>
          <a:p>
            <a:r>
              <a:rPr lang="en-US" dirty="0"/>
              <a:t>Keeping every log entry forever creates two problems. Stable storage grows without bound, and a restarting server must replay the entire history before it can serve requests.</a:t>
            </a:r>
          </a:p>
          <a:p>
            <a:endParaRPr lang="en-US" dirty="0"/>
          </a:p>
          <a:p>
            <a:r>
              <a:rPr lang="en-US" dirty="0"/>
              <a:t>The application usually needs the current state, not every command that produced it. A key-value service may have processed a million writes but contain only the latest value for each key. We can therefore replace an old committed prefix with a snapshot of the application state after that prefix was applied.</a:t>
            </a:r>
          </a:p>
          <a:p>
            <a:endParaRPr lang="en-US" dirty="0"/>
          </a:p>
          <a:p>
            <a:r>
              <a:rPr lang="en-US" dirty="0"/>
              <a:t>The service creates a snapshot at an exact log index. Raft stores the snapshot together with the last included index and the term of that entry. The snapshot must become durable before Raft discards the covered log prefix. Otherwise a crash between deletion and persistence would lose both the history and the state it produced.</a:t>
            </a:r>
          </a:p>
          <a:p>
            <a:endParaRPr lang="en-US" dirty="0"/>
          </a:p>
          <a:p>
            <a:r>
              <a:rPr lang="en-US" dirty="0"/>
              <a:t>Raft cannot discard uncommitted entries or entries the application has not yet included in the snapshot. The snapshot boundary must describe a committed and applied prefix. Entries after the boundary remain in the log so Raft can continue replication and replay.</a:t>
            </a:r>
          </a:p>
          <a:p>
            <a:endParaRPr lang="en-US" dirty="0"/>
          </a:p>
          <a:p>
            <a:r>
              <a:rPr lang="en-US" dirty="0"/>
              <a:t>Raft treats the snapshot contents as opaque bytes. The application knows how to serialize its state; Raft knows which part of the log that state replaces.</a:t>
            </a:r>
          </a:p>
          <a:p>
            <a:endParaRPr lang="en-US" dirty="0"/>
          </a:p>
          <a:p>
            <a:r>
              <a:rPr lang="en-US" dirty="0"/>
              <a:t>SOURCE
MIT 6.824, Spring 2020, Lecture 7 transcript/video, 49:39–59:40.
Local transcript: fall2026/lectures/references/mit-6824-2020-lecture7-raft2-transcript.txt
https://www.youtube.com/watch?v=4r8Mz3MMivY
Ongaro and Ousterhout, In Search of an Understandable Consensus Algorithm, Section 7 and Figure 12.
https://pdos.csail.mit.edu/6.824/papers/raft-extended.pdf</a:t>
            </a:r>
          </a:p>
        </p:txBody>
      </p:sp>
      <p:sp>
        <p:nvSpPr>
          <p:cNvPr id="4" name="Slide Number Placeholder 3">
            <a:extLst>
              <a:ext uri="{FF2B5EF4-FFF2-40B4-BE49-F238E27FC236}">
                <a16:creationId xmlns:a16="http://schemas.microsoft.com/office/drawing/2014/main" id="{BE621926-0DA0-A7B3-3A6B-CBAC5926B66C}"/>
              </a:ext>
            </a:extLst>
          </p:cNvPr>
          <p:cNvSpPr>
            <a:spLocks noGrp="1"/>
          </p:cNvSpPr>
          <p:nvPr>
            <p:ph type="sldNum" sz="quarter" idx="5"/>
          </p:nvPr>
        </p:nvSpPr>
        <p:spPr/>
        <p:txBody>
          <a:bodyPr/>
          <a:lstStyle/>
          <a:p>
            <a:fld id="{1C9584DC-3658-4054-9DA4-7B68A1D8CC6D}" type="slidenum">
              <a:rPr lang="zh-CN" altLang="en-US" smtClean="0"/>
              <a:t>42</a:t>
            </a:fld>
            <a:endParaRPr lang="zh-CN" altLang="en-US"/>
          </a:p>
        </p:txBody>
      </p:sp>
    </p:spTree>
    <p:extLst>
      <p:ext uri="{BB962C8B-B14F-4D97-AF65-F5344CB8AC3E}">
        <p14:creationId xmlns:p14="http://schemas.microsoft.com/office/powerpoint/2010/main" val="4585465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8154E-D8A9-20F7-52E2-8BB51FAC91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8628C-1931-75A4-0FCA-A565FE66E7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A1969-E6DF-E981-F8EF-D8C818201AB0}"/>
              </a:ext>
            </a:extLst>
          </p:cNvPr>
          <p:cNvSpPr>
            <a:spLocks noGrp="1"/>
          </p:cNvSpPr>
          <p:nvPr>
            <p:ph type="body" idx="1"/>
          </p:nvPr>
        </p:nvSpPr>
        <p:spPr/>
        <p:txBody>
          <a:bodyPr/>
          <a:lstStyle/>
          <a:p>
            <a:r>
              <a:rPr lang="en-US" dirty="0"/>
              <a:t>After a restart, the service first loads its snapshot. Raft then reads the remaining log and replays the committed suffix after lastIncludedIndex. lastApplied begins at the snapshot boundary, so the service does not execute commands that are already reflected in the restored state.</a:t>
            </a:r>
          </a:p>
          <a:p>
            <a:endParaRPr lang="en-US" dirty="0"/>
          </a:p>
          <a:p>
            <a:r>
              <a:rPr lang="en-US" dirty="0"/>
              <a:t>Snapshots also create a replication case that AppendEntries alone cannot solve. A follower may be so far behind that its nextIndex points before the beginning of the leader's retained log. The leader has already compacted the entries that the follower needs, so decrementing nextIndex cannot find a common predecessor.</a:t>
            </a:r>
          </a:p>
          <a:p>
            <a:endParaRPr lang="en-US" dirty="0"/>
          </a:p>
          <a:p>
            <a:r>
              <a:rPr lang="en-US" dirty="0"/>
              <a:t>The leader sends InstallSnapshot instead. The follower replaces the corresponding application state, records the snapshot's last included index and term, and discards obsolete log entries. The leader can then continue with ordinary AppendEntries for the suffix that comes after the snapshot.</a:t>
            </a:r>
          </a:p>
          <a:p>
            <a:endParaRPr lang="en-US" dirty="0"/>
          </a:p>
          <a:p>
            <a:r>
              <a:rPr lang="en-US" dirty="0"/>
              <a:t>An old or duplicate snapshot can be ignored when the follower has already advanced beyond it. As with the other Raft RPCs, retries must be safe.</a:t>
            </a:r>
          </a:p>
          <a:p>
            <a:endParaRPr lang="en-US" dirty="0"/>
          </a:p>
          <a:p>
            <a:r>
              <a:rPr lang="en-US" dirty="0"/>
              <a:t>The log is the command history; the snapshot is the state produced by a committed prefix of that history. Raft uses both representations so normal replication remains incremental while recovery remains bounded.</a:t>
            </a:r>
          </a:p>
          <a:p>
            <a:endParaRPr lang="en-US" dirty="0"/>
          </a:p>
          <a:p>
            <a:r>
              <a:rPr lang="en-US" dirty="0"/>
              <a:t>SOURCE
MIT 6.824, Spring 2020, Lecture 7 transcript/video, 49:39–64:07.
Local transcript: fall2026/lectures/references/mit-6824-2020-lecture7-raft2-transcript.txt
https://www.youtube.com/watch?v=4r8Mz3MMivY
Ongaro and Ousterhout, In Search of an Understandable Consensus Algorithm, Section 7 and Figure 13.
https://pdos.csail.mit.edu/6.824/papers/raft-extended.pdf</a:t>
            </a:r>
          </a:p>
        </p:txBody>
      </p:sp>
      <p:sp>
        <p:nvSpPr>
          <p:cNvPr id="4" name="Slide Number Placeholder 3">
            <a:extLst>
              <a:ext uri="{FF2B5EF4-FFF2-40B4-BE49-F238E27FC236}">
                <a16:creationId xmlns:a16="http://schemas.microsoft.com/office/drawing/2014/main" id="{C10B6DF6-97BE-54B8-D9F9-BF75C1E14F16}"/>
              </a:ext>
            </a:extLst>
          </p:cNvPr>
          <p:cNvSpPr>
            <a:spLocks noGrp="1"/>
          </p:cNvSpPr>
          <p:nvPr>
            <p:ph type="sldNum" sz="quarter" idx="5"/>
          </p:nvPr>
        </p:nvSpPr>
        <p:spPr/>
        <p:txBody>
          <a:bodyPr/>
          <a:lstStyle/>
          <a:p>
            <a:fld id="{1C9584DC-3658-4054-9DA4-7B68A1D8CC6D}" type="slidenum">
              <a:rPr lang="zh-CN" altLang="en-US" smtClean="0"/>
              <a:t>43</a:t>
            </a:fld>
            <a:endParaRPr lang="zh-CN" altLang="en-US"/>
          </a:p>
        </p:txBody>
      </p:sp>
    </p:spTree>
    <p:extLst>
      <p:ext uri="{BB962C8B-B14F-4D97-AF65-F5344CB8AC3E}">
        <p14:creationId xmlns:p14="http://schemas.microsoft.com/office/powerpoint/2010/main" val="18070366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9FD14-02FF-DA1D-2386-E3A333E5C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0FBC3-A446-B040-9B6C-599ED60A0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C3DFCD-14A0-90C1-6B40-D518C30CE389}"/>
              </a:ext>
            </a:extLst>
          </p:cNvPr>
          <p:cNvSpPr>
            <a:spLocks noGrp="1"/>
          </p:cNvSpPr>
          <p:nvPr>
            <p:ph type="body" idx="1"/>
          </p:nvPr>
        </p:nvSpPr>
        <p:spPr/>
        <p:txBody>
          <a:bodyPr/>
          <a:lstStyle/>
          <a:p>
            <a:r>
              <a:rPr lang="en-US" dirty="0"/>
              <a:t>ATTENDANCE CHECK - do this right before the quiz.</a:t>
            </a:r>
          </a:p>
          <a:p>
            <a:r>
              <a:rPr lang="en-US" dirty="0"/>
              <a:t>1. In Google Forms, open 'Quiz 04 Attendance - Raft II (Fall 2026)' and turn on Accepting responses. Then show this slide.</a:t>
            </a:r>
          </a:p>
          <a:p>
            <a:r>
              <a:rPr lang="en-US" dirty="0"/>
              <a:t>2. Tell the class: this attendance check is NOT graded. It only confirms that the number of quiz submissions matches the number of students in the room. Sign in with your BU account and enter your BU ID.</a:t>
            </a:r>
          </a:p>
          <a:p>
            <a:r>
              <a:rPr lang="en-US" dirty="0"/>
              <a:t>3. While they submit, count the students in the room. Headcount: ____</a:t>
            </a:r>
          </a:p>
          <a:p>
            <a:r>
              <a:rPr lang="en-US" dirty="0"/>
              <a:t>4. After about 2 minutes, turn OFF Accepting responses on the attendance form and compare its response count with your headcount. If they differ, say so now, before the quiz starts.</a:t>
            </a:r>
          </a:p>
          <a:p>
            <a:r>
              <a:rPr lang="en-US" dirty="0"/>
              <a:t>5. Only then open the quiz form and go to the next slide. After class, compare the quiz responses with this attendance list: a quiz submission whose email is not on the list did not check in.</a:t>
            </a:r>
          </a:p>
          <a:p>
            <a:r>
              <a:rPr lang="en-US" dirty="0"/>
              <a:t>TODO: this form does not exist yet. Create it, then put its link and QR on this slide.</a:t>
            </a:r>
          </a:p>
        </p:txBody>
      </p:sp>
      <p:sp>
        <p:nvSpPr>
          <p:cNvPr id="4" name="Slide Number Placeholder 3">
            <a:extLst>
              <a:ext uri="{FF2B5EF4-FFF2-40B4-BE49-F238E27FC236}">
                <a16:creationId xmlns:a16="http://schemas.microsoft.com/office/drawing/2014/main" id="{EA0B9615-41D5-53A4-EBB6-7D46695FD89D}"/>
              </a:ext>
            </a:extLst>
          </p:cNvPr>
          <p:cNvSpPr>
            <a:spLocks noGrp="1"/>
          </p:cNvSpPr>
          <p:nvPr>
            <p:ph type="sldNum" sz="quarter" idx="5"/>
          </p:nvPr>
        </p:nvSpPr>
        <p:spPr/>
        <p:txBody>
          <a:bodyPr/>
          <a:lstStyle/>
          <a:p>
            <a:fld id="{1C9584DC-3658-4054-9DA4-7B68A1D8CC6D}" type="slidenum">
              <a:rPr lang="zh-CN" altLang="en-US" smtClean="0"/>
              <a:t>44</a:t>
            </a:fld>
            <a:endParaRPr lang="zh-CN" altLang="en-US"/>
          </a:p>
        </p:txBody>
      </p:sp>
    </p:spTree>
    <p:extLst>
      <p:ext uri="{BB962C8B-B14F-4D97-AF65-F5344CB8AC3E}">
        <p14:creationId xmlns:p14="http://schemas.microsoft.com/office/powerpoint/2010/main" val="20233282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9FD14-02FF-DA1D-2386-E3A333E5C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0FBC3-A446-B040-9B6C-599ED60A0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C3DFCD-14A0-90C1-6B40-D518C30CE389}"/>
              </a:ext>
            </a:extLst>
          </p:cNvPr>
          <p:cNvSpPr>
            <a:spLocks noGrp="1"/>
          </p:cNvSpPr>
          <p:nvPr>
            <p:ph type="body" idx="1"/>
          </p:nvPr>
        </p:nvSpPr>
        <p:spPr/>
        <p:txBody>
          <a:bodyPr/>
          <a:lstStyle/>
          <a:p>
            <a:r>
              <a:rPr lang="en-US" dirty="0"/>
              <a:t>BEFORE THE QUIZ: the form was created closed. In Google Forms, turn on 'Accepting responses' when you start the quiz, and turn it off after 10 minutes.</a:t>
            </a:r>
          </a:p>
          <a:p>
            <a:r>
              <a:rPr lang="en-US" dirty="0"/>
              <a:t>Form: 'Quiz 04 - Raft II (Fall 2026)' in the Drive folder EC528-Fall26. Students sign in with their BU account and must enter their BU ID.</a:t>
            </a:r>
          </a:p>
          <a:p>
            <a:r>
              <a:rPr lang="en-US" dirty="0"/>
              <a:t>Covers this lecture only: leader changes, log inconsistency and repair, the election restriction, commitment rules, persistence, and log compaction.</a:t>
            </a:r>
          </a:p>
          <a:p>
            <a:r>
              <a:rPr lang="en-US" dirty="0"/>
              <a:t>TODO: this form does not exist yet. Create it, then put its link and QR on this slide.</a:t>
            </a:r>
          </a:p>
        </p:txBody>
      </p:sp>
      <p:sp>
        <p:nvSpPr>
          <p:cNvPr id="4" name="Slide Number Placeholder 3">
            <a:extLst>
              <a:ext uri="{FF2B5EF4-FFF2-40B4-BE49-F238E27FC236}">
                <a16:creationId xmlns:a16="http://schemas.microsoft.com/office/drawing/2014/main" id="{EA0B9615-41D5-53A4-EBB6-7D46695FD89D}"/>
              </a:ext>
            </a:extLst>
          </p:cNvPr>
          <p:cNvSpPr>
            <a:spLocks noGrp="1"/>
          </p:cNvSpPr>
          <p:nvPr>
            <p:ph type="sldNum" sz="quarter" idx="5"/>
          </p:nvPr>
        </p:nvSpPr>
        <p:spPr/>
        <p:txBody>
          <a:bodyPr/>
          <a:lstStyle/>
          <a:p>
            <a:fld id="{1C9584DC-3658-4054-9DA4-7B68A1D8CC6D}" type="slidenum">
              <a:rPr lang="zh-CN" altLang="en-US" smtClean="0"/>
              <a:t>44</a:t>
            </a:fld>
            <a:endParaRPr lang="zh-CN" altLang="en-US"/>
          </a:p>
        </p:txBody>
      </p:sp>
    </p:spTree>
    <p:extLst>
      <p:ext uri="{BB962C8B-B14F-4D97-AF65-F5344CB8AC3E}">
        <p14:creationId xmlns:p14="http://schemas.microsoft.com/office/powerpoint/2010/main" val="2023328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3560D-66EA-7998-7CB0-0EA38A5BA8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BB5BB8-B9E7-76B1-43C5-C260F93CA8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3FEE50-EFC4-AF67-19E2-74B0E9B41CC9}"/>
              </a:ext>
            </a:extLst>
          </p:cNvPr>
          <p:cNvSpPr>
            <a:spLocks noGrp="1"/>
          </p:cNvSpPr>
          <p:nvPr>
            <p:ph type="dt" sz="half" idx="10"/>
          </p:nvPr>
        </p:nvSpPr>
        <p:spPr/>
        <p:txBody>
          <a:bodyPr/>
          <a:lstStyle/>
          <a:p>
            <a:fld id="{3C84C5D0-6ABA-684F-A395-755177FC219F}" type="datetimeFigureOut">
              <a:rPr lang="en-US" smtClean="0"/>
              <a:t>9/16/26</a:t>
            </a:fld>
            <a:endParaRPr lang="en-US"/>
          </a:p>
        </p:txBody>
      </p:sp>
      <p:sp>
        <p:nvSpPr>
          <p:cNvPr id="5" name="Footer Placeholder 4">
            <a:extLst>
              <a:ext uri="{FF2B5EF4-FFF2-40B4-BE49-F238E27FC236}">
                <a16:creationId xmlns:a16="http://schemas.microsoft.com/office/drawing/2014/main" id="{8EDA146C-B886-F412-8467-BE49B13D7A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0A2C9-0073-D7A7-FD11-A0D4DB016B32}"/>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2512543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FC5B1-52E3-9D18-0A0F-7E798BD14E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75873A-4E0E-575D-5F0C-C6C5A64FA8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70A51A-6CBA-3F43-FD8C-C6659C0AE8FD}"/>
              </a:ext>
            </a:extLst>
          </p:cNvPr>
          <p:cNvSpPr>
            <a:spLocks noGrp="1"/>
          </p:cNvSpPr>
          <p:nvPr>
            <p:ph type="dt" sz="half" idx="10"/>
          </p:nvPr>
        </p:nvSpPr>
        <p:spPr/>
        <p:txBody>
          <a:bodyPr/>
          <a:lstStyle/>
          <a:p>
            <a:fld id="{3C84C5D0-6ABA-684F-A395-755177FC219F}" type="datetimeFigureOut">
              <a:rPr lang="en-US" smtClean="0"/>
              <a:t>9/16/26</a:t>
            </a:fld>
            <a:endParaRPr lang="en-US"/>
          </a:p>
        </p:txBody>
      </p:sp>
      <p:sp>
        <p:nvSpPr>
          <p:cNvPr id="5" name="Footer Placeholder 4">
            <a:extLst>
              <a:ext uri="{FF2B5EF4-FFF2-40B4-BE49-F238E27FC236}">
                <a16:creationId xmlns:a16="http://schemas.microsoft.com/office/drawing/2014/main" id="{72761E4A-C73A-CB44-A02A-D298DAD91B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1D3859-616D-E491-219A-6E3430974033}"/>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952559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10A3-2B64-1E44-C455-F3A8CC4068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24F5AB-2168-C2C7-DB81-E5B36B24B6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BDAFD1-61B2-6B6D-EAC8-BCF6D14F98E9}"/>
              </a:ext>
            </a:extLst>
          </p:cNvPr>
          <p:cNvSpPr>
            <a:spLocks noGrp="1"/>
          </p:cNvSpPr>
          <p:nvPr>
            <p:ph type="dt" sz="half" idx="10"/>
          </p:nvPr>
        </p:nvSpPr>
        <p:spPr/>
        <p:txBody>
          <a:bodyPr/>
          <a:lstStyle/>
          <a:p>
            <a:fld id="{3C84C5D0-6ABA-684F-A395-755177FC219F}" type="datetimeFigureOut">
              <a:rPr lang="en-US" smtClean="0"/>
              <a:t>9/16/26</a:t>
            </a:fld>
            <a:endParaRPr lang="en-US"/>
          </a:p>
        </p:txBody>
      </p:sp>
      <p:sp>
        <p:nvSpPr>
          <p:cNvPr id="5" name="Footer Placeholder 4">
            <a:extLst>
              <a:ext uri="{FF2B5EF4-FFF2-40B4-BE49-F238E27FC236}">
                <a16:creationId xmlns:a16="http://schemas.microsoft.com/office/drawing/2014/main" id="{3325218D-F848-A5E1-6BB9-E2742E69A7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C09E6F-9CB0-4E70-F8E4-9F053225C21E}"/>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3286678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C8AF4-7F5B-035D-9929-140CE80522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4D96E7-24E5-5606-0ACB-63985A413D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0E1AA6-F34D-1833-623F-68C69F16D0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8BBB1C-F08B-BF51-7097-896CABE31DBF}"/>
              </a:ext>
            </a:extLst>
          </p:cNvPr>
          <p:cNvSpPr>
            <a:spLocks noGrp="1"/>
          </p:cNvSpPr>
          <p:nvPr>
            <p:ph type="dt" sz="half" idx="10"/>
          </p:nvPr>
        </p:nvSpPr>
        <p:spPr/>
        <p:txBody>
          <a:bodyPr/>
          <a:lstStyle/>
          <a:p>
            <a:fld id="{3C84C5D0-6ABA-684F-A395-755177FC219F}" type="datetimeFigureOut">
              <a:rPr lang="en-US" smtClean="0"/>
              <a:t>9/16/26</a:t>
            </a:fld>
            <a:endParaRPr lang="en-US"/>
          </a:p>
        </p:txBody>
      </p:sp>
      <p:sp>
        <p:nvSpPr>
          <p:cNvPr id="6" name="Footer Placeholder 5">
            <a:extLst>
              <a:ext uri="{FF2B5EF4-FFF2-40B4-BE49-F238E27FC236}">
                <a16:creationId xmlns:a16="http://schemas.microsoft.com/office/drawing/2014/main" id="{514DD3DA-5E3E-C3CD-D99D-F1B7D63B65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23A3AC-59CD-D16B-B981-E06916EB65FE}"/>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3110883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72517-63A6-707A-E447-5E3E63DA3C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2D39AB-F931-7328-4D23-A07287D4F1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4AD9C7-D857-D07E-8823-1E6D2C8126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538E75-FCFF-1B75-D49C-663B49F71F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0F7C20-A201-C475-0EA2-0470CE3AD6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A697E4-098B-8EF9-3709-7745F585C05C}"/>
              </a:ext>
            </a:extLst>
          </p:cNvPr>
          <p:cNvSpPr>
            <a:spLocks noGrp="1"/>
          </p:cNvSpPr>
          <p:nvPr>
            <p:ph type="dt" sz="half" idx="10"/>
          </p:nvPr>
        </p:nvSpPr>
        <p:spPr/>
        <p:txBody>
          <a:bodyPr/>
          <a:lstStyle/>
          <a:p>
            <a:fld id="{3C84C5D0-6ABA-684F-A395-755177FC219F}" type="datetimeFigureOut">
              <a:rPr lang="en-US" smtClean="0"/>
              <a:t>9/16/26</a:t>
            </a:fld>
            <a:endParaRPr lang="en-US"/>
          </a:p>
        </p:txBody>
      </p:sp>
      <p:sp>
        <p:nvSpPr>
          <p:cNvPr id="8" name="Footer Placeholder 7">
            <a:extLst>
              <a:ext uri="{FF2B5EF4-FFF2-40B4-BE49-F238E27FC236}">
                <a16:creationId xmlns:a16="http://schemas.microsoft.com/office/drawing/2014/main" id="{F2837CB4-FBB0-0B68-6A5D-F3CFD640B5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CFF18A-DE0A-CCB3-BE1B-CCFE307AA25C}"/>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2985345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4AAE1-BF5A-95FD-B8B1-743082DA39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2FDE5C-19E7-CF37-7C4F-FC5817C00EE3}"/>
              </a:ext>
            </a:extLst>
          </p:cNvPr>
          <p:cNvSpPr>
            <a:spLocks noGrp="1"/>
          </p:cNvSpPr>
          <p:nvPr>
            <p:ph type="dt" sz="half" idx="10"/>
          </p:nvPr>
        </p:nvSpPr>
        <p:spPr/>
        <p:txBody>
          <a:bodyPr/>
          <a:lstStyle/>
          <a:p>
            <a:fld id="{3C84C5D0-6ABA-684F-A395-755177FC219F}" type="datetimeFigureOut">
              <a:rPr lang="en-US" smtClean="0"/>
              <a:t>9/16/26</a:t>
            </a:fld>
            <a:endParaRPr lang="en-US"/>
          </a:p>
        </p:txBody>
      </p:sp>
      <p:sp>
        <p:nvSpPr>
          <p:cNvPr id="4" name="Footer Placeholder 3">
            <a:extLst>
              <a:ext uri="{FF2B5EF4-FFF2-40B4-BE49-F238E27FC236}">
                <a16:creationId xmlns:a16="http://schemas.microsoft.com/office/drawing/2014/main" id="{90F575D0-5F48-B58F-67A4-DA23578DA8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6DB007-3B1D-0F05-6807-FDC879B86D12}"/>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2775012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F19832-EE05-9B47-9AD0-3FB54B9F0A6E}"/>
              </a:ext>
            </a:extLst>
          </p:cNvPr>
          <p:cNvSpPr>
            <a:spLocks noGrp="1"/>
          </p:cNvSpPr>
          <p:nvPr>
            <p:ph type="dt" sz="half" idx="10"/>
          </p:nvPr>
        </p:nvSpPr>
        <p:spPr/>
        <p:txBody>
          <a:bodyPr/>
          <a:lstStyle/>
          <a:p>
            <a:fld id="{3C84C5D0-6ABA-684F-A395-755177FC219F}" type="datetimeFigureOut">
              <a:rPr lang="en-US" smtClean="0"/>
              <a:t>9/16/26</a:t>
            </a:fld>
            <a:endParaRPr lang="en-US"/>
          </a:p>
        </p:txBody>
      </p:sp>
      <p:sp>
        <p:nvSpPr>
          <p:cNvPr id="3" name="Footer Placeholder 2">
            <a:extLst>
              <a:ext uri="{FF2B5EF4-FFF2-40B4-BE49-F238E27FC236}">
                <a16:creationId xmlns:a16="http://schemas.microsoft.com/office/drawing/2014/main" id="{A2ADC4AF-3766-90DA-0BC1-13A34CD436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7FB0E7-276C-DECE-C4BC-BB499D08473F}"/>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1053019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59424-E178-CEE0-ADC4-ED78431C3E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DDE805-9B23-3B8B-A85B-C2BCDF820A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C41E0C-85E9-E173-3214-A40B7D1AAE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6956D6-C4FE-CF0D-5680-EC76F3D32633}"/>
              </a:ext>
            </a:extLst>
          </p:cNvPr>
          <p:cNvSpPr>
            <a:spLocks noGrp="1"/>
          </p:cNvSpPr>
          <p:nvPr>
            <p:ph type="dt" sz="half" idx="10"/>
          </p:nvPr>
        </p:nvSpPr>
        <p:spPr/>
        <p:txBody>
          <a:bodyPr/>
          <a:lstStyle/>
          <a:p>
            <a:fld id="{3C84C5D0-6ABA-684F-A395-755177FC219F}" type="datetimeFigureOut">
              <a:rPr lang="en-US" smtClean="0"/>
              <a:t>9/16/26</a:t>
            </a:fld>
            <a:endParaRPr lang="en-US"/>
          </a:p>
        </p:txBody>
      </p:sp>
      <p:sp>
        <p:nvSpPr>
          <p:cNvPr id="6" name="Footer Placeholder 5">
            <a:extLst>
              <a:ext uri="{FF2B5EF4-FFF2-40B4-BE49-F238E27FC236}">
                <a16:creationId xmlns:a16="http://schemas.microsoft.com/office/drawing/2014/main" id="{A905796A-8400-9F9A-783C-2C606E9E44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FADE40-C395-65EB-9A6C-1B5227162EC6}"/>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1199984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95F0-C095-EAF4-6646-DE3B698498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333B7A8-1F39-802B-06AE-0B1B779BE0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65CDF5-F55D-E86B-1AF0-BACBF980AA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322410-7FB0-0439-91D3-B316421C3728}"/>
              </a:ext>
            </a:extLst>
          </p:cNvPr>
          <p:cNvSpPr>
            <a:spLocks noGrp="1"/>
          </p:cNvSpPr>
          <p:nvPr>
            <p:ph type="dt" sz="half" idx="10"/>
          </p:nvPr>
        </p:nvSpPr>
        <p:spPr/>
        <p:txBody>
          <a:bodyPr/>
          <a:lstStyle/>
          <a:p>
            <a:fld id="{3C84C5D0-6ABA-684F-A395-755177FC219F}" type="datetimeFigureOut">
              <a:rPr lang="en-US" smtClean="0"/>
              <a:t>9/16/26</a:t>
            </a:fld>
            <a:endParaRPr lang="en-US"/>
          </a:p>
        </p:txBody>
      </p:sp>
      <p:sp>
        <p:nvSpPr>
          <p:cNvPr id="6" name="Footer Placeholder 5">
            <a:extLst>
              <a:ext uri="{FF2B5EF4-FFF2-40B4-BE49-F238E27FC236}">
                <a16:creationId xmlns:a16="http://schemas.microsoft.com/office/drawing/2014/main" id="{0C4224E9-F80F-03FE-A286-4257A7378F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160E55-098E-693D-92E5-CBE720ED5C31}"/>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1225379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C394D-8F6E-C96A-6E17-7240C20DFB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8C0753-0EB7-A875-23EC-2D6ACED0EA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4F7F6D-BB41-C4B8-DF07-034F5F9EE446}"/>
              </a:ext>
            </a:extLst>
          </p:cNvPr>
          <p:cNvSpPr>
            <a:spLocks noGrp="1"/>
          </p:cNvSpPr>
          <p:nvPr>
            <p:ph type="dt" sz="half" idx="10"/>
          </p:nvPr>
        </p:nvSpPr>
        <p:spPr/>
        <p:txBody>
          <a:bodyPr/>
          <a:lstStyle/>
          <a:p>
            <a:fld id="{3C84C5D0-6ABA-684F-A395-755177FC219F}" type="datetimeFigureOut">
              <a:rPr lang="en-US" smtClean="0"/>
              <a:t>9/16/26</a:t>
            </a:fld>
            <a:endParaRPr lang="en-US"/>
          </a:p>
        </p:txBody>
      </p:sp>
      <p:sp>
        <p:nvSpPr>
          <p:cNvPr id="5" name="Footer Placeholder 4">
            <a:extLst>
              <a:ext uri="{FF2B5EF4-FFF2-40B4-BE49-F238E27FC236}">
                <a16:creationId xmlns:a16="http://schemas.microsoft.com/office/drawing/2014/main" id="{6BF76E41-6B94-3DC2-85FB-EE0314437A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9CB9B5-22A2-FD06-0AF4-277FC5EA25A2}"/>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3120032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6C42E6-D288-79B9-98A9-C09AA61ADB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D34A44-B50E-C2BB-F0B1-503920DC9C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44255C-3225-BFA6-3020-E43D83D70BE1}"/>
              </a:ext>
            </a:extLst>
          </p:cNvPr>
          <p:cNvSpPr>
            <a:spLocks noGrp="1"/>
          </p:cNvSpPr>
          <p:nvPr>
            <p:ph type="dt" sz="half" idx="10"/>
          </p:nvPr>
        </p:nvSpPr>
        <p:spPr/>
        <p:txBody>
          <a:bodyPr/>
          <a:lstStyle/>
          <a:p>
            <a:fld id="{3C84C5D0-6ABA-684F-A395-755177FC219F}" type="datetimeFigureOut">
              <a:rPr lang="en-US" smtClean="0"/>
              <a:t>9/16/26</a:t>
            </a:fld>
            <a:endParaRPr lang="en-US"/>
          </a:p>
        </p:txBody>
      </p:sp>
      <p:sp>
        <p:nvSpPr>
          <p:cNvPr id="5" name="Footer Placeholder 4">
            <a:extLst>
              <a:ext uri="{FF2B5EF4-FFF2-40B4-BE49-F238E27FC236}">
                <a16:creationId xmlns:a16="http://schemas.microsoft.com/office/drawing/2014/main" id="{E2BAEB22-D721-A554-E8D0-B9C538466C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D16F9D-CFF2-3283-404D-0817AEB14B7A}"/>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1255249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3B6BF-1D8B-DD53-010D-2099603F94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D7824B-50E4-B4E6-4E2F-6968FF3068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211948-8B12-5503-6186-74B654A91B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84C5D0-6ABA-684F-A395-755177FC219F}" type="datetimeFigureOut">
              <a:rPr lang="en-US" smtClean="0"/>
              <a:t>9/16/26</a:t>
            </a:fld>
            <a:endParaRPr lang="en-US"/>
          </a:p>
        </p:txBody>
      </p:sp>
      <p:sp>
        <p:nvSpPr>
          <p:cNvPr id="5" name="Footer Placeholder 4">
            <a:extLst>
              <a:ext uri="{FF2B5EF4-FFF2-40B4-BE49-F238E27FC236}">
                <a16:creationId xmlns:a16="http://schemas.microsoft.com/office/drawing/2014/main" id="{8DB3D78B-35F3-143A-2150-910640F051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60F435D-FE33-B053-DE34-37F2CE8BDB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7B4E2E-854A-2040-B625-D1A594382B5C}" type="slidenum">
              <a:rPr lang="en-US" smtClean="0"/>
              <a:t>‹#›</a:t>
            </a:fld>
            <a:endParaRPr lang="en-US"/>
          </a:p>
        </p:txBody>
      </p:sp>
    </p:spTree>
    <p:extLst>
      <p:ext uri="{BB962C8B-B14F-4D97-AF65-F5344CB8AC3E}">
        <p14:creationId xmlns:p14="http://schemas.microsoft.com/office/powerpoint/2010/main" val="3023175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forms.gle/C9vuYuMkDJcN2xEF7"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forms.gle/Ln2N5fwHiAoDCvBT6" TargetMode="Externa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forms.gle/tnjNUFKsbhY5ekc4A" TargetMode="Externa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A850B-404C-F9A6-0EEB-60ED8F2BC92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896CCFB-2739-B9C3-25E4-F83CCCC7D277}"/>
              </a:ext>
            </a:extLst>
          </p:cNvPr>
          <p:cNvSpPr>
            <a:spLocks noGrp="1"/>
          </p:cNvSpPr>
          <p:nvPr>
            <p:ph type="ctrTitle"/>
          </p:nvPr>
        </p:nvSpPr>
        <p:spPr>
          <a:xfrm>
            <a:off x="0" y="2239794"/>
            <a:ext cx="12192000" cy="1433046"/>
          </a:xfrm>
        </p:spPr>
        <p:txBody>
          <a:bodyPr>
            <a:noAutofit/>
          </a:bodyPr>
          <a:lstStyle/>
          <a:p>
            <a:pPr rtl="0">
              <a:lnSpc>
                <a:spcPct val="100000"/>
              </a:lnSpc>
            </a:pPr>
            <a:r>
              <a:rPr lang="en-US" sz="40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Lecture 6</a:t>
            </a:r>
            <a:r>
              <a:rPr lang="en-US" sz="4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 Consensus II</a:t>
            </a:r>
            <a:br>
              <a:rPr lang="en-US" sz="4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br>
            <a:r>
              <a:rPr lang="en-US" sz="4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Fall 2026                            </a:t>
            </a:r>
            <a:endParaRPr lang="zh-CN" altLang="en-US" sz="4000" dirty="0">
              <a:solidFill>
                <a:srgbClr val="000000"/>
              </a:solidFill>
              <a:latin typeface="Helvetica Neue" panose="02000503000000020004" pitchFamily="2" charset="0"/>
              <a:cs typeface="Helvetica Neue" panose="02000503000000020004" pitchFamily="2" charset="0"/>
            </a:endParaRPr>
          </a:p>
        </p:txBody>
      </p:sp>
      <p:sp>
        <p:nvSpPr>
          <p:cNvPr id="6" name="TextBox 5">
            <a:extLst>
              <a:ext uri="{FF2B5EF4-FFF2-40B4-BE49-F238E27FC236}">
                <a16:creationId xmlns:a16="http://schemas.microsoft.com/office/drawing/2014/main" id="{78E14E69-6BD7-C52A-EB3E-F381AEF7CB4A}"/>
              </a:ext>
            </a:extLst>
          </p:cNvPr>
          <p:cNvSpPr txBox="1"/>
          <p:nvPr/>
        </p:nvSpPr>
        <p:spPr>
          <a:xfrm>
            <a:off x="1" y="653143"/>
            <a:ext cx="12192000" cy="830997"/>
          </a:xfrm>
          <a:prstGeom prst="rect">
            <a:avLst/>
          </a:prstGeom>
          <a:noFill/>
        </p:spPr>
        <p:txBody>
          <a:bodyPr wrap="square" rtlCol="0">
            <a:spAutoFit/>
          </a:bodyPr>
          <a:lstStyle/>
          <a:p>
            <a:pPr algn="ctr"/>
            <a:r>
              <a:rPr lang="en-US" sz="4800" b="1" dirty="0">
                <a:solidFill>
                  <a:schemeClr val="tx2">
                    <a:lumMod val="75000"/>
                    <a:lumOff val="25000"/>
                  </a:schemeClr>
                </a:solidFill>
                <a:latin typeface="Helvetica" pitchFamily="2" charset="0"/>
              </a:rPr>
              <a:t>CE 528 Cloud Computing</a:t>
            </a:r>
          </a:p>
        </p:txBody>
      </p:sp>
      <p:sp>
        <p:nvSpPr>
          <p:cNvPr id="7" name="标题 1">
            <a:extLst>
              <a:ext uri="{FF2B5EF4-FFF2-40B4-BE49-F238E27FC236}">
                <a16:creationId xmlns:a16="http://schemas.microsoft.com/office/drawing/2014/main" id="{3BDC3145-A181-687D-BD4A-904B04ED2006}"/>
              </a:ext>
            </a:extLst>
          </p:cNvPr>
          <p:cNvSpPr txBox="1">
            <a:spLocks/>
          </p:cNvSpPr>
          <p:nvPr/>
        </p:nvSpPr>
        <p:spPr>
          <a:xfrm>
            <a:off x="1237543" y="4003019"/>
            <a:ext cx="9499200" cy="9146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Prof. Yigong Hu</a:t>
            </a:r>
            <a:endParaRPr lang="zh-CN" altLang="en-US" sz="3200" b="1" dirty="0">
              <a:latin typeface="Helvetica Neue" panose="02000503000000020004" pitchFamily="2" charset="0"/>
              <a:cs typeface="Helvetica Neue" panose="02000503000000020004" pitchFamily="2" charset="0"/>
            </a:endParaRPr>
          </a:p>
        </p:txBody>
      </p:sp>
      <p:pic>
        <p:nvPicPr>
          <p:cNvPr id="4" name="Graphic 3">
            <a:extLst>
              <a:ext uri="{FF2B5EF4-FFF2-40B4-BE49-F238E27FC236}">
                <a16:creationId xmlns:a16="http://schemas.microsoft.com/office/drawing/2014/main" id="{7E111180-ABF3-5E9E-B47F-CE63C0162A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887" y="5247828"/>
            <a:ext cx="2875237" cy="1288106"/>
          </a:xfrm>
          <a:prstGeom prst="rect">
            <a:avLst/>
          </a:prstGeom>
        </p:spPr>
      </p:pic>
      <p:sp>
        <p:nvSpPr>
          <p:cNvPr id="5" name="TextBox 4">
            <a:extLst>
              <a:ext uri="{FF2B5EF4-FFF2-40B4-BE49-F238E27FC236}">
                <a16:creationId xmlns:a16="http://schemas.microsoft.com/office/drawing/2014/main" id="{FDF47666-66C3-F436-1A3D-A43CF4347F1F}"/>
              </a:ext>
            </a:extLst>
          </p:cNvPr>
          <p:cNvSpPr txBox="1"/>
          <p:nvPr/>
        </p:nvSpPr>
        <p:spPr>
          <a:xfrm>
            <a:off x="3514411" y="6351268"/>
            <a:ext cx="6325436" cy="369332"/>
          </a:xfrm>
          <a:prstGeom prst="rect">
            <a:avLst/>
          </a:prstGeom>
          <a:noFill/>
        </p:spPr>
        <p:txBody>
          <a:bodyPr wrap="square">
            <a:spAutoFit/>
          </a:bodyPr>
          <a:lstStyle/>
          <a:p>
            <a:r>
              <a:rPr lang="en-US" dirty="0"/>
              <a:t>Slides courtesy of Chang Lou and Robert </a:t>
            </a:r>
            <a:r>
              <a:rPr lang="en-US" dirty="0" err="1"/>
              <a:t>Morrios</a:t>
            </a:r>
            <a:endParaRPr lang="en-US" dirty="0"/>
          </a:p>
        </p:txBody>
      </p:sp>
    </p:spTree>
    <p:extLst>
      <p:ext uri="{BB962C8B-B14F-4D97-AF65-F5344CB8AC3E}">
        <p14:creationId xmlns:p14="http://schemas.microsoft.com/office/powerpoint/2010/main" val="2118921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29AB-5EBB-FD20-43DD-D6E0374E683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57C7-2CDD-8C0B-07A1-1DABA8EF652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Administrivia</a:t>
            </a:r>
          </a:p>
        </p:txBody>
      </p:sp>
      <p:sp>
        <p:nvSpPr>
          <p:cNvPr id="8" name="Slide Number Placeholder 4">
            <a:extLst>
              <a:ext uri="{FF2B5EF4-FFF2-40B4-BE49-F238E27FC236}">
                <a16:creationId xmlns:a16="http://schemas.microsoft.com/office/drawing/2014/main" id="{25E098EE-1299-32C0-2821-1DB599BAC8E9}"/>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a:t>
            </a:fld>
            <a:endParaRPr lang="en-US"/>
          </a:p>
        </p:txBody>
      </p:sp>
      <p:sp>
        <p:nvSpPr>
          <p:cNvPr id="2" name="TextBox 1">
            <a:extLst>
              <a:ext uri="{FF2B5EF4-FFF2-40B4-BE49-F238E27FC236}">
                <a16:creationId xmlns:a16="http://schemas.microsoft.com/office/drawing/2014/main" id="{15D1C793-B8D6-F0A3-1030-E914D6D0F5CB}"/>
              </a:ext>
            </a:extLst>
          </p:cNvPr>
          <p:cNvSpPr txBox="1"/>
          <p:nvPr/>
        </p:nvSpPr>
        <p:spPr>
          <a:xfrm>
            <a:off x="401934" y="914401"/>
            <a:ext cx="5694066" cy="1077218"/>
          </a:xfrm>
          <a:prstGeom prst="rect">
            <a:avLst/>
          </a:prstGeom>
          <a:noFill/>
        </p:spPr>
        <p:txBody>
          <a:bodyPr wrap="square" rtlCol="0">
            <a:spAutoFit/>
          </a:bodyPr>
          <a:lstStyle/>
          <a:p>
            <a:r>
              <a:rPr lang="en-US" altLang="zh-CN" sz="2800" b="1" dirty="0"/>
              <a:t>Share your AWS ID by Tonight</a:t>
            </a:r>
          </a:p>
          <a:p>
            <a:pPr marL="742950" lvl="1" indent="-285750">
              <a:buFont typeface="Arial" panose="020B0604020202020204" pitchFamily="34" charset="0"/>
              <a:buChar char="•"/>
            </a:pPr>
            <a:r>
              <a:rPr lang="en-US" dirty="0">
                <a:hlinkClick r:id="rId3"/>
              </a:rPr>
              <a:t>https://forms.gle/C9vuYuMkDJcN2xEF7</a:t>
            </a:r>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1720670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B2089-47FD-D09E-05E3-E108AA362188}"/>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64CDE72-1ACB-8D8D-1F01-9A6DC8CFD2B2}"/>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Crash</a:t>
            </a:r>
          </a:p>
        </p:txBody>
      </p:sp>
      <p:sp>
        <p:nvSpPr>
          <p:cNvPr id="8" name="Slide Number Placeholder 4">
            <a:extLst>
              <a:ext uri="{FF2B5EF4-FFF2-40B4-BE49-F238E27FC236}">
                <a16:creationId xmlns:a16="http://schemas.microsoft.com/office/drawing/2014/main" id="{9FFE0D0E-B5E7-65B3-360B-2D83D7B7983A}"/>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25</a:t>
            </a:fld>
            <a:endParaRPr lang="en-US"/>
          </a:p>
        </p:txBody>
      </p:sp>
      <p:pic>
        <p:nvPicPr>
          <p:cNvPr id="2" name="object 4">
            <a:extLst>
              <a:ext uri="{FF2B5EF4-FFF2-40B4-BE49-F238E27FC236}">
                <a16:creationId xmlns:a16="http://schemas.microsoft.com/office/drawing/2014/main" id="{F2CE00B4-8E3B-4D24-1CA7-42A54651B042}"/>
              </a:ext>
            </a:extLst>
          </p:cNvPr>
          <p:cNvPicPr>
            <a:picLocks noChangeAspect="1"/>
          </p:cNvPicPr>
          <p:nvPr/>
        </p:nvPicPr>
        <p:blipFill>
          <a:blip r:embed="rId3" cstate="print"/>
          <a:stretch>
            <a:fillRect/>
          </a:stretch>
        </p:blipFill>
        <p:spPr>
          <a:xfrm>
            <a:off x="3415292" y="692451"/>
            <a:ext cx="6137499" cy="2220035"/>
          </a:xfrm>
          <a:prstGeom prst="rect">
            <a:avLst/>
          </a:prstGeom>
        </p:spPr>
      </p:pic>
      <p:sp>
        <p:nvSpPr>
          <p:cNvPr id="4" name="TextBox 3">
            <a:extLst>
              <a:ext uri="{FF2B5EF4-FFF2-40B4-BE49-F238E27FC236}">
                <a16:creationId xmlns:a16="http://schemas.microsoft.com/office/drawing/2014/main" id="{A5AD05C3-7993-41E1-FDF2-B858D6DC8B8E}"/>
              </a:ext>
            </a:extLst>
          </p:cNvPr>
          <p:cNvSpPr txBox="1"/>
          <p:nvPr/>
        </p:nvSpPr>
        <p:spPr>
          <a:xfrm>
            <a:off x="142537" y="2988659"/>
            <a:ext cx="10920805" cy="2246769"/>
          </a:xfrm>
          <a:prstGeom prst="rect">
            <a:avLst/>
          </a:prstGeom>
          <a:noFill/>
        </p:spPr>
        <p:txBody>
          <a:bodyPr wrap="square">
            <a:spAutoFit/>
          </a:bodyPr>
          <a:lstStyle/>
          <a:p>
            <a:r>
              <a:rPr lang="en-US" sz="2800" b="1" dirty="0"/>
              <a:t>Crashed / slow followers? </a:t>
            </a:r>
          </a:p>
          <a:p>
            <a:endParaRPr lang="en-US" sz="2800" dirty="0"/>
          </a:p>
          <a:p>
            <a:r>
              <a:rPr lang="en-US" sz="2800" b="1" dirty="0"/>
              <a:t>Performance is “optimal” in common case: </a:t>
            </a:r>
          </a:p>
          <a:p>
            <a:pPr marL="914400" lvl="1" indent="-457200">
              <a:buFont typeface="Arial" panose="020B0604020202020204" pitchFamily="34" charset="0"/>
              <a:buChar char="•"/>
            </a:pPr>
            <a:r>
              <a:rPr lang="en-US" sz="2800" dirty="0"/>
              <a:t>Leader retries RPCs until they succeed </a:t>
            </a:r>
          </a:p>
          <a:p>
            <a:pPr marL="914400" lvl="1" indent="-457200">
              <a:buFont typeface="Arial" panose="020B0604020202020204" pitchFamily="34" charset="0"/>
              <a:buChar char="•"/>
            </a:pPr>
            <a:r>
              <a:rPr lang="en-US" sz="2800" dirty="0"/>
              <a:t>Followers pass committed commands to their state machines</a:t>
            </a:r>
            <a:endParaRPr lang="en-US" sz="2400" dirty="0"/>
          </a:p>
        </p:txBody>
      </p:sp>
    </p:spTree>
    <p:extLst>
      <p:ext uri="{BB962C8B-B14F-4D97-AF65-F5344CB8AC3E}">
        <p14:creationId xmlns:p14="http://schemas.microsoft.com/office/powerpoint/2010/main" val="300909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451DC-2B3D-CBB7-99F9-429D0FF9223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DE566A1-F2FF-B37D-BBFE-4D11068D9CD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Log Operation</a:t>
            </a:r>
          </a:p>
        </p:txBody>
      </p:sp>
      <p:sp>
        <p:nvSpPr>
          <p:cNvPr id="8" name="Slide Number Placeholder 4">
            <a:extLst>
              <a:ext uri="{FF2B5EF4-FFF2-40B4-BE49-F238E27FC236}">
                <a16:creationId xmlns:a16="http://schemas.microsoft.com/office/drawing/2014/main" id="{E4A059CA-CF1A-84AE-387E-F9108BA9F1A6}"/>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26</a:t>
            </a:fld>
            <a:endParaRPr lang="en-US"/>
          </a:p>
        </p:txBody>
      </p:sp>
      <p:pic>
        <p:nvPicPr>
          <p:cNvPr id="2" name="object 4">
            <a:extLst>
              <a:ext uri="{FF2B5EF4-FFF2-40B4-BE49-F238E27FC236}">
                <a16:creationId xmlns:a16="http://schemas.microsoft.com/office/drawing/2014/main" id="{03215C66-7121-5C08-43CE-C7E16026D256}"/>
              </a:ext>
            </a:extLst>
          </p:cNvPr>
          <p:cNvPicPr>
            <a:picLocks noChangeAspect="1"/>
          </p:cNvPicPr>
          <p:nvPr/>
        </p:nvPicPr>
        <p:blipFill>
          <a:blip r:embed="rId3" cstate="print"/>
          <a:stretch>
            <a:fillRect/>
          </a:stretch>
        </p:blipFill>
        <p:spPr>
          <a:xfrm>
            <a:off x="2591858" y="1218891"/>
            <a:ext cx="6018742" cy="2079724"/>
          </a:xfrm>
          <a:prstGeom prst="rect">
            <a:avLst/>
          </a:prstGeom>
        </p:spPr>
      </p:pic>
      <p:sp>
        <p:nvSpPr>
          <p:cNvPr id="4" name="TextBox 3">
            <a:extLst>
              <a:ext uri="{FF2B5EF4-FFF2-40B4-BE49-F238E27FC236}">
                <a16:creationId xmlns:a16="http://schemas.microsoft.com/office/drawing/2014/main" id="{E32C8A9E-21B8-A05B-C29F-E0D1FF1A62B9}"/>
              </a:ext>
            </a:extLst>
          </p:cNvPr>
          <p:cNvSpPr txBox="1"/>
          <p:nvPr/>
        </p:nvSpPr>
        <p:spPr>
          <a:xfrm>
            <a:off x="222946" y="3603106"/>
            <a:ext cx="11282082" cy="2431435"/>
          </a:xfrm>
          <a:prstGeom prst="rect">
            <a:avLst/>
          </a:prstGeom>
          <a:noFill/>
        </p:spPr>
        <p:txBody>
          <a:bodyPr wrap="square">
            <a:spAutoFit/>
          </a:bodyPr>
          <a:lstStyle/>
          <a:p>
            <a:r>
              <a:rPr lang="en-US" sz="2800" b="1" dirty="0"/>
              <a:t>If log entries on different server have same index and term:</a:t>
            </a:r>
          </a:p>
          <a:p>
            <a:pPr marL="800100" lvl="1" indent="-342900">
              <a:buFont typeface="Arial" panose="020B0604020202020204" pitchFamily="34" charset="0"/>
              <a:buChar char="•"/>
            </a:pPr>
            <a:r>
              <a:rPr lang="en-US" sz="2400" dirty="0"/>
              <a:t>Store the same command =&gt; one leader, one entry, one index, one term + log position never change</a:t>
            </a:r>
          </a:p>
          <a:p>
            <a:pPr marL="800100" lvl="1" indent="-342900">
              <a:buFont typeface="Arial" panose="020B0604020202020204" pitchFamily="34" charset="0"/>
              <a:buChar char="•"/>
            </a:pPr>
            <a:r>
              <a:rPr lang="en-US" sz="2400" dirty="0"/>
              <a:t>Logs are identical in all preceding entries =&gt; consistency check </a:t>
            </a:r>
          </a:p>
          <a:p>
            <a:endParaRPr lang="en-US" sz="2000" dirty="0"/>
          </a:p>
          <a:p>
            <a:r>
              <a:rPr lang="en-US" sz="2800" b="1" dirty="0"/>
              <a:t>If given entry is committed, all preceding also committed</a:t>
            </a:r>
          </a:p>
        </p:txBody>
      </p:sp>
    </p:spTree>
    <p:extLst>
      <p:ext uri="{BB962C8B-B14F-4D97-AF65-F5344CB8AC3E}">
        <p14:creationId xmlns:p14="http://schemas.microsoft.com/office/powerpoint/2010/main" val="1554390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A74DB-3B56-9582-21C4-DDC5BD3FE427}"/>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1C35FD5-A5AD-AE82-8ABE-AFF620ED8FFF}"/>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Leader Changes</a:t>
            </a:r>
          </a:p>
        </p:txBody>
      </p:sp>
      <p:sp>
        <p:nvSpPr>
          <p:cNvPr id="8" name="Slide Number Placeholder 4">
            <a:extLst>
              <a:ext uri="{FF2B5EF4-FFF2-40B4-BE49-F238E27FC236}">
                <a16:creationId xmlns:a16="http://schemas.microsoft.com/office/drawing/2014/main" id="{4553C917-A037-36E9-2528-BA91F2A7E3EC}"/>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27</a:t>
            </a:fld>
            <a:endParaRPr lang="en-US"/>
          </a:p>
        </p:txBody>
      </p:sp>
      <p:sp>
        <p:nvSpPr>
          <p:cNvPr id="2" name="TextBox 1">
            <a:extLst>
              <a:ext uri="{FF2B5EF4-FFF2-40B4-BE49-F238E27FC236}">
                <a16:creationId xmlns:a16="http://schemas.microsoft.com/office/drawing/2014/main" id="{482AE17D-1082-F861-6DD4-406E199FFE95}"/>
              </a:ext>
            </a:extLst>
          </p:cNvPr>
          <p:cNvSpPr txBox="1"/>
          <p:nvPr/>
        </p:nvSpPr>
        <p:spPr>
          <a:xfrm>
            <a:off x="268942" y="815797"/>
            <a:ext cx="9455971" cy="3662541"/>
          </a:xfrm>
          <a:prstGeom prst="rect">
            <a:avLst/>
          </a:prstGeom>
          <a:noFill/>
        </p:spPr>
        <p:txBody>
          <a:bodyPr wrap="square" rtlCol="0">
            <a:spAutoFit/>
          </a:bodyPr>
          <a:lstStyle/>
          <a:p>
            <a:r>
              <a:rPr lang="en-US" sz="2800" b="1" dirty="0"/>
              <a:t>As long as the leader stays up:</a:t>
            </a:r>
          </a:p>
          <a:p>
            <a:pPr marL="800100" lvl="1" indent="-342900">
              <a:buFont typeface="Arial" panose="020B0604020202020204" pitchFamily="34" charset="0"/>
              <a:buChar char="•"/>
            </a:pPr>
            <a:r>
              <a:rPr lang="en-US" sz="2400" dirty="0"/>
              <a:t>clients only interact with the leader </a:t>
            </a:r>
          </a:p>
          <a:p>
            <a:pPr marL="800100" lvl="1" indent="-342900">
              <a:buFont typeface="Arial" panose="020B0604020202020204" pitchFamily="34" charset="0"/>
              <a:buChar char="•"/>
            </a:pPr>
            <a:r>
              <a:rPr lang="en-US" sz="2400" dirty="0"/>
              <a:t>clients can't see follower states or logs</a:t>
            </a:r>
          </a:p>
          <a:p>
            <a:endParaRPr lang="en-US" sz="2800" b="1" dirty="0"/>
          </a:p>
          <a:p>
            <a:r>
              <a:rPr lang="en-US" sz="2800" b="1" dirty="0"/>
              <a:t>Things get interesting when changing leaders </a:t>
            </a:r>
          </a:p>
          <a:p>
            <a:pPr marL="914400" lvl="1" indent="-457200">
              <a:buFont typeface="Arial" panose="020B0604020202020204" pitchFamily="34" charset="0"/>
              <a:buChar char="•"/>
            </a:pPr>
            <a:r>
              <a:rPr lang="en-US" sz="2400" dirty="0"/>
              <a:t>e.g. after the old leader fails </a:t>
            </a:r>
          </a:p>
          <a:p>
            <a:pPr marL="914400" lvl="1" indent="-457200">
              <a:buFont typeface="Arial" panose="020B0604020202020204" pitchFamily="34" charset="0"/>
              <a:buChar char="•"/>
            </a:pPr>
            <a:r>
              <a:rPr lang="en-US" sz="2400" dirty="0"/>
              <a:t>how to change leaders without anomalies?</a:t>
            </a:r>
            <a:endParaRPr lang="en-US" sz="2800" b="1" dirty="0"/>
          </a:p>
          <a:p>
            <a:pPr lvl="1"/>
            <a:endParaRPr lang="en-US" sz="2400" dirty="0"/>
          </a:p>
          <a:p>
            <a:pPr lvl="1"/>
            <a:endParaRPr lang="en-US" sz="2400" dirty="0"/>
          </a:p>
        </p:txBody>
      </p:sp>
    </p:spTree>
    <p:extLst>
      <p:ext uri="{BB962C8B-B14F-4D97-AF65-F5344CB8AC3E}">
        <p14:creationId xmlns:p14="http://schemas.microsoft.com/office/powerpoint/2010/main" val="2283292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dissolve">
                                      <p:cBhvr>
                                        <p:cTn id="7" dur="500"/>
                                        <p:tgtEl>
                                          <p:spTgt spid="2">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dissolve">
                                      <p:cBhvr>
                                        <p:cTn id="10" dur="500"/>
                                        <p:tgtEl>
                                          <p:spTgt spid="2">
                                            <p:txEl>
                                              <p:pRg st="5" end="5"/>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Effect transition="in" filter="dissolve">
                                      <p:cBhvr>
                                        <p:cTn id="13"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155E9-F0C1-280C-1D21-A01C6B84811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DA08C72-50E3-1954-10F6-82E53644DB82}"/>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Crashes can Leave Log Disagree</a:t>
            </a:r>
          </a:p>
        </p:txBody>
      </p:sp>
      <p:sp>
        <p:nvSpPr>
          <p:cNvPr id="8" name="Slide Number Placeholder 4">
            <a:extLst>
              <a:ext uri="{FF2B5EF4-FFF2-40B4-BE49-F238E27FC236}">
                <a16:creationId xmlns:a16="http://schemas.microsoft.com/office/drawing/2014/main" id="{F699ED2C-F34C-BCE4-662B-6E7C8747BEC1}"/>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28</a:t>
            </a:fld>
            <a:endParaRPr lang="en-US"/>
          </a:p>
        </p:txBody>
      </p:sp>
      <p:sp>
        <p:nvSpPr>
          <p:cNvPr id="3" name="TextBox 2">
            <a:extLst>
              <a:ext uri="{FF2B5EF4-FFF2-40B4-BE49-F238E27FC236}">
                <a16:creationId xmlns:a16="http://schemas.microsoft.com/office/drawing/2014/main" id="{0C048B81-CA12-1F12-E1DD-13906FE269BD}"/>
              </a:ext>
            </a:extLst>
          </p:cNvPr>
          <p:cNvSpPr txBox="1"/>
          <p:nvPr/>
        </p:nvSpPr>
        <p:spPr>
          <a:xfrm>
            <a:off x="224565" y="1167502"/>
            <a:ext cx="11742868" cy="1815882"/>
          </a:xfrm>
          <a:prstGeom prst="rect">
            <a:avLst/>
          </a:prstGeom>
          <a:noFill/>
        </p:spPr>
        <p:txBody>
          <a:bodyPr wrap="square" rtlCol="0">
            <a:spAutoFit/>
          </a:bodyPr>
          <a:lstStyle/>
          <a:p>
            <a:pPr marL="457200" indent="-457200">
              <a:buFont typeface="Arial" panose="020B0604020202020204" pitchFamily="34" charset="0"/>
              <a:buChar char="•"/>
            </a:pPr>
            <a:r>
              <a:rPr lang="en-US" sz="2800" b="1" dirty="0"/>
              <a:t>A leader crashes before sending last </a:t>
            </a:r>
            <a:r>
              <a:rPr lang="en-US" sz="2800" b="1" dirty="0" err="1"/>
              <a:t>AppendEntries</a:t>
            </a:r>
            <a:r>
              <a:rPr lang="en-US" sz="2800" b="1" dirty="0"/>
              <a:t> to all</a:t>
            </a:r>
          </a:p>
          <a:p>
            <a:pPr marL="457200" indent="-457200">
              <a:buFont typeface="Arial" panose="020B0604020202020204" pitchFamily="34" charset="0"/>
              <a:buChar char="•"/>
            </a:pPr>
            <a:endParaRPr lang="en-US" sz="2800" b="1" dirty="0"/>
          </a:p>
          <a:p>
            <a:pPr marL="457200" indent="-457200">
              <a:buFont typeface="Arial" panose="020B0604020202020204" pitchFamily="34" charset="0"/>
              <a:buChar char="•"/>
            </a:pPr>
            <a:r>
              <a:rPr lang="en-US" sz="2800" b="1" dirty="0"/>
              <a:t>Logs might have different commands in same entry! after a series of leader crashes</a:t>
            </a:r>
          </a:p>
        </p:txBody>
      </p:sp>
    </p:spTree>
    <p:extLst>
      <p:ext uri="{BB962C8B-B14F-4D97-AF65-F5344CB8AC3E}">
        <p14:creationId xmlns:p14="http://schemas.microsoft.com/office/powerpoint/2010/main" val="2996320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8F51C-63A8-86FB-689E-1C482DDFF72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BF33254-AA94-B1D1-D682-B153C4C9594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Challenge: Log Inconsistencies</a:t>
            </a:r>
          </a:p>
        </p:txBody>
      </p:sp>
      <p:sp>
        <p:nvSpPr>
          <p:cNvPr id="8" name="Slide Number Placeholder 4">
            <a:extLst>
              <a:ext uri="{FF2B5EF4-FFF2-40B4-BE49-F238E27FC236}">
                <a16:creationId xmlns:a16="http://schemas.microsoft.com/office/drawing/2014/main" id="{6580CE6E-3AEC-FA27-597A-0623F98456A4}"/>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29</a:t>
            </a:fld>
            <a:endParaRPr lang="en-US"/>
          </a:p>
        </p:txBody>
      </p:sp>
      <p:pic>
        <p:nvPicPr>
          <p:cNvPr id="2" name="object 4">
            <a:extLst>
              <a:ext uri="{FF2B5EF4-FFF2-40B4-BE49-F238E27FC236}">
                <a16:creationId xmlns:a16="http://schemas.microsoft.com/office/drawing/2014/main" id="{19DCCD02-2686-9155-4B96-655EFD7AA82D}"/>
              </a:ext>
            </a:extLst>
          </p:cNvPr>
          <p:cNvPicPr>
            <a:picLocks noChangeAspect="1"/>
          </p:cNvPicPr>
          <p:nvPr/>
        </p:nvPicPr>
        <p:blipFill>
          <a:blip r:embed="rId3" cstate="print"/>
          <a:stretch>
            <a:fillRect/>
          </a:stretch>
        </p:blipFill>
        <p:spPr>
          <a:xfrm>
            <a:off x="2137768" y="1340334"/>
            <a:ext cx="7313180" cy="3365117"/>
          </a:xfrm>
          <a:prstGeom prst="rect">
            <a:avLst/>
          </a:prstGeom>
        </p:spPr>
      </p:pic>
      <p:sp>
        <p:nvSpPr>
          <p:cNvPr id="4" name="TextBox 3">
            <a:extLst>
              <a:ext uri="{FF2B5EF4-FFF2-40B4-BE49-F238E27FC236}">
                <a16:creationId xmlns:a16="http://schemas.microsoft.com/office/drawing/2014/main" id="{B344AFB7-6FBA-15CE-55CC-25786A64E0AD}"/>
              </a:ext>
            </a:extLst>
          </p:cNvPr>
          <p:cNvSpPr txBox="1"/>
          <p:nvPr/>
        </p:nvSpPr>
        <p:spPr>
          <a:xfrm>
            <a:off x="713096" y="5131385"/>
            <a:ext cx="8676564" cy="523220"/>
          </a:xfrm>
          <a:prstGeom prst="rect">
            <a:avLst/>
          </a:prstGeom>
          <a:noFill/>
        </p:spPr>
        <p:txBody>
          <a:bodyPr wrap="square">
            <a:spAutoFit/>
          </a:bodyPr>
          <a:lstStyle/>
          <a:p>
            <a:r>
              <a:rPr lang="en-US" sz="2800" b="1" dirty="0"/>
              <a:t>Leader changes can result in log in consistencies </a:t>
            </a:r>
          </a:p>
        </p:txBody>
      </p:sp>
    </p:spTree>
    <p:extLst>
      <p:ext uri="{BB962C8B-B14F-4D97-AF65-F5344CB8AC3E}">
        <p14:creationId xmlns:p14="http://schemas.microsoft.com/office/powerpoint/2010/main" val="2296462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0D7C6-BE87-7D68-8711-255A6BF4423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B36F21E-9AAA-AAD9-2BF6-BB6DEF68E453}"/>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Safety Requirement</a:t>
            </a:r>
          </a:p>
        </p:txBody>
      </p:sp>
      <p:sp>
        <p:nvSpPr>
          <p:cNvPr id="8" name="Slide Number Placeholder 4">
            <a:extLst>
              <a:ext uri="{FF2B5EF4-FFF2-40B4-BE49-F238E27FC236}">
                <a16:creationId xmlns:a16="http://schemas.microsoft.com/office/drawing/2014/main" id="{897E4EBD-FC05-42A9-8584-6B2595330B53}"/>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30</a:t>
            </a:fld>
            <a:endParaRPr lang="en-US"/>
          </a:p>
        </p:txBody>
      </p:sp>
      <p:sp>
        <p:nvSpPr>
          <p:cNvPr id="3" name="TextBox 2">
            <a:extLst>
              <a:ext uri="{FF2B5EF4-FFF2-40B4-BE49-F238E27FC236}">
                <a16:creationId xmlns:a16="http://schemas.microsoft.com/office/drawing/2014/main" id="{C2C75928-B677-ADA4-3087-8FA73463EC31}"/>
              </a:ext>
            </a:extLst>
          </p:cNvPr>
          <p:cNvSpPr txBox="1"/>
          <p:nvPr/>
        </p:nvSpPr>
        <p:spPr>
          <a:xfrm>
            <a:off x="426492" y="2244378"/>
            <a:ext cx="11610833" cy="2923877"/>
          </a:xfrm>
          <a:prstGeom prst="rect">
            <a:avLst/>
          </a:prstGeom>
          <a:noFill/>
        </p:spPr>
        <p:txBody>
          <a:bodyPr wrap="square">
            <a:spAutoFit/>
          </a:bodyPr>
          <a:lstStyle/>
          <a:p>
            <a:r>
              <a:rPr lang="en-US" sz="2800" b="1" dirty="0"/>
              <a:t>Raft safety property: If leader has decided log entry is committed, entry will be present in logs of all future leaders</a:t>
            </a:r>
          </a:p>
          <a:p>
            <a:endParaRPr lang="en-US" sz="2800" dirty="0"/>
          </a:p>
          <a:p>
            <a:r>
              <a:rPr lang="en-US" sz="2800" b="1" dirty="0"/>
              <a:t> Why does this guarantee higher-level goal? </a:t>
            </a:r>
          </a:p>
          <a:p>
            <a:pPr lvl="1"/>
            <a:r>
              <a:rPr lang="en-US" sz="2400" dirty="0"/>
              <a:t>1. Leaders never overwrite entries in their logs </a:t>
            </a:r>
          </a:p>
          <a:p>
            <a:pPr lvl="1"/>
            <a:r>
              <a:rPr lang="en-US" sz="2400" dirty="0"/>
              <a:t>2. Only entries in leader’s log can be committed </a:t>
            </a:r>
          </a:p>
          <a:p>
            <a:pPr lvl="1"/>
            <a:r>
              <a:rPr lang="en-US" sz="2400" dirty="0"/>
              <a:t>3. Entries must be committed before applying to state machine</a:t>
            </a:r>
          </a:p>
        </p:txBody>
      </p:sp>
      <p:pic>
        <p:nvPicPr>
          <p:cNvPr id="4" name="object 5">
            <a:extLst>
              <a:ext uri="{FF2B5EF4-FFF2-40B4-BE49-F238E27FC236}">
                <a16:creationId xmlns:a16="http://schemas.microsoft.com/office/drawing/2014/main" id="{C8C8FCEB-FA4E-8B80-5C30-57FCFBDC8870}"/>
              </a:ext>
            </a:extLst>
          </p:cNvPr>
          <p:cNvPicPr>
            <a:picLocks noChangeAspect="1"/>
          </p:cNvPicPr>
          <p:nvPr/>
        </p:nvPicPr>
        <p:blipFill>
          <a:blip r:embed="rId3" cstate="print"/>
          <a:stretch>
            <a:fillRect/>
          </a:stretch>
        </p:blipFill>
        <p:spPr>
          <a:xfrm>
            <a:off x="1873962" y="5254388"/>
            <a:ext cx="8444073" cy="1284524"/>
          </a:xfrm>
          <a:prstGeom prst="rect">
            <a:avLst/>
          </a:prstGeom>
        </p:spPr>
      </p:pic>
      <p:sp>
        <p:nvSpPr>
          <p:cNvPr id="5" name="object 4">
            <a:extLst>
              <a:ext uri="{FF2B5EF4-FFF2-40B4-BE49-F238E27FC236}">
                <a16:creationId xmlns:a16="http://schemas.microsoft.com/office/drawing/2014/main" id="{A3CC9C69-6C77-AF8D-9825-3A41F38D140D}"/>
              </a:ext>
            </a:extLst>
          </p:cNvPr>
          <p:cNvSpPr txBox="1"/>
          <p:nvPr/>
        </p:nvSpPr>
        <p:spPr>
          <a:xfrm>
            <a:off x="1022619" y="1127624"/>
            <a:ext cx="10073011" cy="901529"/>
          </a:xfrm>
          <a:prstGeom prst="rect">
            <a:avLst/>
          </a:prstGeom>
          <a:ln w="20941">
            <a:solidFill>
              <a:srgbClr val="222C4A"/>
            </a:solidFill>
          </a:ln>
        </p:spPr>
        <p:txBody>
          <a:bodyPr vert="horz" wrap="square" lIns="0" tIns="39370" rIns="0" bIns="0" rtlCol="0">
            <a:spAutoFit/>
          </a:bodyPr>
          <a:lstStyle/>
          <a:p>
            <a:pPr marL="52069" marR="1012190" algn="ctr">
              <a:lnSpc>
                <a:spcPct val="100000"/>
              </a:lnSpc>
              <a:spcBef>
                <a:spcPts val="310"/>
              </a:spcBef>
            </a:pPr>
            <a:r>
              <a:rPr sz="2800" dirty="0">
                <a:solidFill>
                  <a:srgbClr val="222C4A"/>
                </a:solidFill>
                <a:latin typeface="Arial"/>
                <a:cs typeface="Arial"/>
              </a:rPr>
              <a:t>Once</a:t>
            </a:r>
            <a:r>
              <a:rPr sz="2800" spc="-70" dirty="0">
                <a:solidFill>
                  <a:srgbClr val="222C4A"/>
                </a:solidFill>
                <a:latin typeface="Arial"/>
                <a:cs typeface="Arial"/>
              </a:rPr>
              <a:t> </a:t>
            </a:r>
            <a:r>
              <a:rPr sz="2800" dirty="0">
                <a:solidFill>
                  <a:srgbClr val="222C4A"/>
                </a:solidFill>
                <a:latin typeface="Arial"/>
                <a:cs typeface="Arial"/>
              </a:rPr>
              <a:t>log</a:t>
            </a:r>
            <a:r>
              <a:rPr sz="2800" spc="-65" dirty="0">
                <a:solidFill>
                  <a:srgbClr val="222C4A"/>
                </a:solidFill>
                <a:latin typeface="Arial"/>
                <a:cs typeface="Arial"/>
              </a:rPr>
              <a:t> </a:t>
            </a:r>
            <a:r>
              <a:rPr sz="2800" dirty="0">
                <a:solidFill>
                  <a:srgbClr val="222C4A"/>
                </a:solidFill>
                <a:latin typeface="Arial"/>
                <a:cs typeface="Arial"/>
              </a:rPr>
              <a:t>entry</a:t>
            </a:r>
            <a:r>
              <a:rPr sz="2800" spc="-65" dirty="0">
                <a:solidFill>
                  <a:srgbClr val="222C4A"/>
                </a:solidFill>
                <a:latin typeface="Arial"/>
                <a:cs typeface="Arial"/>
              </a:rPr>
              <a:t> </a:t>
            </a:r>
            <a:r>
              <a:rPr sz="2800" dirty="0">
                <a:solidFill>
                  <a:srgbClr val="222C4A"/>
                </a:solidFill>
                <a:latin typeface="Arial"/>
                <a:cs typeface="Arial"/>
              </a:rPr>
              <a:t>applied</a:t>
            </a:r>
            <a:r>
              <a:rPr sz="2800" spc="-70" dirty="0">
                <a:solidFill>
                  <a:srgbClr val="222C4A"/>
                </a:solidFill>
                <a:latin typeface="Arial"/>
                <a:cs typeface="Arial"/>
              </a:rPr>
              <a:t> </a:t>
            </a:r>
            <a:r>
              <a:rPr sz="2800" dirty="0">
                <a:solidFill>
                  <a:srgbClr val="222C4A"/>
                </a:solidFill>
                <a:latin typeface="Arial"/>
                <a:cs typeface="Arial"/>
              </a:rPr>
              <a:t>to</a:t>
            </a:r>
            <a:r>
              <a:rPr sz="2800" spc="-65" dirty="0">
                <a:solidFill>
                  <a:srgbClr val="222C4A"/>
                </a:solidFill>
                <a:latin typeface="Arial"/>
                <a:cs typeface="Arial"/>
              </a:rPr>
              <a:t> </a:t>
            </a:r>
            <a:r>
              <a:rPr sz="2800" dirty="0">
                <a:solidFill>
                  <a:srgbClr val="222C4A"/>
                </a:solidFill>
                <a:latin typeface="Arial"/>
                <a:cs typeface="Arial"/>
              </a:rPr>
              <a:t>a</a:t>
            </a:r>
            <a:r>
              <a:rPr sz="2800" spc="-65" dirty="0">
                <a:solidFill>
                  <a:srgbClr val="222C4A"/>
                </a:solidFill>
                <a:latin typeface="Arial"/>
                <a:cs typeface="Arial"/>
              </a:rPr>
              <a:t> </a:t>
            </a:r>
            <a:r>
              <a:rPr sz="2800" dirty="0">
                <a:solidFill>
                  <a:srgbClr val="222C4A"/>
                </a:solidFill>
                <a:latin typeface="Arial"/>
                <a:cs typeface="Arial"/>
              </a:rPr>
              <a:t>state</a:t>
            </a:r>
            <a:r>
              <a:rPr sz="2800" spc="-70" dirty="0">
                <a:solidFill>
                  <a:srgbClr val="222C4A"/>
                </a:solidFill>
                <a:latin typeface="Arial"/>
                <a:cs typeface="Arial"/>
              </a:rPr>
              <a:t> </a:t>
            </a:r>
            <a:r>
              <a:rPr sz="2800" dirty="0">
                <a:solidFill>
                  <a:srgbClr val="222C4A"/>
                </a:solidFill>
                <a:latin typeface="Arial"/>
                <a:cs typeface="Arial"/>
              </a:rPr>
              <a:t>machine,</a:t>
            </a:r>
            <a:r>
              <a:rPr sz="2800" spc="-65" dirty="0">
                <a:solidFill>
                  <a:srgbClr val="222C4A"/>
                </a:solidFill>
                <a:latin typeface="Arial"/>
                <a:cs typeface="Arial"/>
              </a:rPr>
              <a:t> </a:t>
            </a:r>
            <a:r>
              <a:rPr sz="2800" dirty="0">
                <a:solidFill>
                  <a:srgbClr val="222C4A"/>
                </a:solidFill>
                <a:latin typeface="Arial"/>
                <a:cs typeface="Arial"/>
              </a:rPr>
              <a:t>no</a:t>
            </a:r>
            <a:r>
              <a:rPr sz="2800" spc="-65" dirty="0">
                <a:solidFill>
                  <a:srgbClr val="222C4A"/>
                </a:solidFill>
                <a:latin typeface="Arial"/>
                <a:cs typeface="Arial"/>
              </a:rPr>
              <a:t> </a:t>
            </a:r>
            <a:r>
              <a:rPr sz="2800" dirty="0">
                <a:solidFill>
                  <a:srgbClr val="222C4A"/>
                </a:solidFill>
                <a:latin typeface="Arial"/>
                <a:cs typeface="Arial"/>
              </a:rPr>
              <a:t>other</a:t>
            </a:r>
            <a:r>
              <a:rPr sz="2800" spc="-65" dirty="0">
                <a:solidFill>
                  <a:srgbClr val="222C4A"/>
                </a:solidFill>
                <a:latin typeface="Arial"/>
                <a:cs typeface="Arial"/>
              </a:rPr>
              <a:t> </a:t>
            </a:r>
            <a:r>
              <a:rPr sz="2800" spc="-10" dirty="0">
                <a:solidFill>
                  <a:srgbClr val="222C4A"/>
                </a:solidFill>
                <a:latin typeface="Arial"/>
                <a:cs typeface="Arial"/>
              </a:rPr>
              <a:t>state</a:t>
            </a:r>
            <a:r>
              <a:rPr lang="en-US" sz="2800" spc="-10" dirty="0">
                <a:solidFill>
                  <a:srgbClr val="222C4A"/>
                </a:solidFill>
                <a:latin typeface="Arial"/>
                <a:cs typeface="Arial"/>
              </a:rPr>
              <a:t> </a:t>
            </a:r>
            <a:r>
              <a:rPr sz="2800" dirty="0">
                <a:solidFill>
                  <a:srgbClr val="222C4A"/>
                </a:solidFill>
                <a:latin typeface="Arial"/>
                <a:cs typeface="Arial"/>
              </a:rPr>
              <a:t>machine</a:t>
            </a:r>
            <a:r>
              <a:rPr sz="2800" spc="-80" dirty="0">
                <a:solidFill>
                  <a:srgbClr val="222C4A"/>
                </a:solidFill>
                <a:latin typeface="Arial"/>
                <a:cs typeface="Arial"/>
              </a:rPr>
              <a:t> </a:t>
            </a:r>
            <a:r>
              <a:rPr sz="2800" dirty="0">
                <a:solidFill>
                  <a:srgbClr val="222C4A"/>
                </a:solidFill>
                <a:latin typeface="Arial"/>
                <a:cs typeface="Arial"/>
              </a:rPr>
              <a:t>must</a:t>
            </a:r>
            <a:r>
              <a:rPr sz="2800" spc="-75" dirty="0">
                <a:solidFill>
                  <a:srgbClr val="222C4A"/>
                </a:solidFill>
                <a:latin typeface="Arial"/>
                <a:cs typeface="Arial"/>
              </a:rPr>
              <a:t> </a:t>
            </a:r>
            <a:r>
              <a:rPr sz="2800" dirty="0">
                <a:solidFill>
                  <a:srgbClr val="222C4A"/>
                </a:solidFill>
                <a:latin typeface="Arial"/>
                <a:cs typeface="Arial"/>
              </a:rPr>
              <a:t>apply</a:t>
            </a:r>
            <a:r>
              <a:rPr sz="2800" spc="-80" dirty="0">
                <a:solidFill>
                  <a:srgbClr val="222C4A"/>
                </a:solidFill>
                <a:latin typeface="Arial"/>
                <a:cs typeface="Arial"/>
              </a:rPr>
              <a:t> </a:t>
            </a:r>
            <a:r>
              <a:rPr sz="2800" dirty="0">
                <a:solidFill>
                  <a:srgbClr val="222C4A"/>
                </a:solidFill>
                <a:latin typeface="Arial"/>
                <a:cs typeface="Arial"/>
              </a:rPr>
              <a:t>a</a:t>
            </a:r>
            <a:r>
              <a:rPr sz="2800" spc="-75" dirty="0">
                <a:solidFill>
                  <a:srgbClr val="222C4A"/>
                </a:solidFill>
                <a:latin typeface="Arial"/>
                <a:cs typeface="Arial"/>
              </a:rPr>
              <a:t> </a:t>
            </a:r>
            <a:r>
              <a:rPr sz="2800" dirty="0">
                <a:solidFill>
                  <a:srgbClr val="222C4A"/>
                </a:solidFill>
                <a:latin typeface="Arial"/>
                <a:cs typeface="Arial"/>
              </a:rPr>
              <a:t>different</a:t>
            </a:r>
            <a:r>
              <a:rPr sz="2800" spc="-80" dirty="0">
                <a:solidFill>
                  <a:srgbClr val="222C4A"/>
                </a:solidFill>
                <a:latin typeface="Arial"/>
                <a:cs typeface="Arial"/>
              </a:rPr>
              <a:t> </a:t>
            </a:r>
            <a:r>
              <a:rPr sz="2800" dirty="0">
                <a:solidFill>
                  <a:srgbClr val="222C4A"/>
                </a:solidFill>
                <a:latin typeface="Arial"/>
                <a:cs typeface="Arial"/>
              </a:rPr>
              <a:t>value</a:t>
            </a:r>
            <a:r>
              <a:rPr sz="2800" spc="-75" dirty="0">
                <a:solidFill>
                  <a:srgbClr val="222C4A"/>
                </a:solidFill>
                <a:latin typeface="Arial"/>
                <a:cs typeface="Arial"/>
              </a:rPr>
              <a:t> </a:t>
            </a:r>
            <a:r>
              <a:rPr sz="2800" dirty="0">
                <a:solidFill>
                  <a:srgbClr val="222C4A"/>
                </a:solidFill>
                <a:latin typeface="Arial"/>
                <a:cs typeface="Arial"/>
              </a:rPr>
              <a:t>for</a:t>
            </a:r>
            <a:r>
              <a:rPr sz="2800" spc="-75" dirty="0">
                <a:solidFill>
                  <a:srgbClr val="222C4A"/>
                </a:solidFill>
                <a:latin typeface="Arial"/>
                <a:cs typeface="Arial"/>
              </a:rPr>
              <a:t> </a:t>
            </a:r>
            <a:r>
              <a:rPr sz="2800" dirty="0">
                <a:solidFill>
                  <a:srgbClr val="222C4A"/>
                </a:solidFill>
                <a:latin typeface="Arial"/>
                <a:cs typeface="Arial"/>
              </a:rPr>
              <a:t>that</a:t>
            </a:r>
            <a:r>
              <a:rPr sz="2800" spc="-80" dirty="0">
                <a:solidFill>
                  <a:srgbClr val="222C4A"/>
                </a:solidFill>
                <a:latin typeface="Arial"/>
                <a:cs typeface="Arial"/>
              </a:rPr>
              <a:t> </a:t>
            </a:r>
            <a:r>
              <a:rPr sz="2800" dirty="0">
                <a:solidFill>
                  <a:srgbClr val="222C4A"/>
                </a:solidFill>
                <a:latin typeface="Arial"/>
                <a:cs typeface="Arial"/>
              </a:rPr>
              <a:t>log</a:t>
            </a:r>
            <a:r>
              <a:rPr sz="2800" spc="-75" dirty="0">
                <a:solidFill>
                  <a:srgbClr val="222C4A"/>
                </a:solidFill>
                <a:latin typeface="Arial"/>
                <a:cs typeface="Arial"/>
              </a:rPr>
              <a:t> </a:t>
            </a:r>
            <a:r>
              <a:rPr sz="2800" spc="-10" dirty="0">
                <a:solidFill>
                  <a:srgbClr val="222C4A"/>
                </a:solidFill>
                <a:latin typeface="Arial"/>
                <a:cs typeface="Arial"/>
              </a:rPr>
              <a:t>entry</a:t>
            </a:r>
            <a:r>
              <a:rPr lang="en-US" sz="2800" spc="-10" dirty="0">
                <a:solidFill>
                  <a:srgbClr val="222C4A"/>
                </a:solidFill>
                <a:latin typeface="Arial"/>
                <a:cs typeface="Arial"/>
              </a:rPr>
              <a:t>.</a:t>
            </a:r>
            <a:endParaRPr sz="2800" dirty="0">
              <a:latin typeface="Arial"/>
              <a:cs typeface="Arial"/>
            </a:endParaRPr>
          </a:p>
        </p:txBody>
      </p:sp>
    </p:spTree>
    <p:extLst>
      <p:ext uri="{BB962C8B-B14F-4D97-AF65-F5344CB8AC3E}">
        <p14:creationId xmlns:p14="http://schemas.microsoft.com/office/powerpoint/2010/main" val="1478592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ssolve">
                                      <p:cBhvr>
                                        <p:cTn id="18" dur="500"/>
                                        <p:tgtEl>
                                          <p:spTgt spid="3">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dissolve">
                                      <p:cBhvr>
                                        <p:cTn id="21" dur="500"/>
                                        <p:tgtEl>
                                          <p:spTgt spid="3">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dissolve">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D65FF-EA8F-7A8E-7BEC-B2A53691AB2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01BAA03-AFF5-CEEA-7E3C-06FB8F2C65D2}"/>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Repairing Follower Logs</a:t>
            </a:r>
          </a:p>
        </p:txBody>
      </p:sp>
      <p:sp>
        <p:nvSpPr>
          <p:cNvPr id="8" name="Slide Number Placeholder 4">
            <a:extLst>
              <a:ext uri="{FF2B5EF4-FFF2-40B4-BE49-F238E27FC236}">
                <a16:creationId xmlns:a16="http://schemas.microsoft.com/office/drawing/2014/main" id="{A9C0C967-B77D-EA15-3B2E-77290C98C0C3}"/>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31</a:t>
            </a:fld>
            <a:endParaRPr lang="en-US"/>
          </a:p>
        </p:txBody>
      </p:sp>
      <p:sp>
        <p:nvSpPr>
          <p:cNvPr id="3" name="TextBox 2">
            <a:extLst>
              <a:ext uri="{FF2B5EF4-FFF2-40B4-BE49-F238E27FC236}">
                <a16:creationId xmlns:a16="http://schemas.microsoft.com/office/drawing/2014/main" id="{9A985B5B-B31D-3559-E465-DFB253D58326}"/>
              </a:ext>
            </a:extLst>
          </p:cNvPr>
          <p:cNvSpPr txBox="1"/>
          <p:nvPr/>
        </p:nvSpPr>
        <p:spPr>
          <a:xfrm>
            <a:off x="0" y="914401"/>
            <a:ext cx="8818581" cy="523220"/>
          </a:xfrm>
          <a:prstGeom prst="rect">
            <a:avLst/>
          </a:prstGeom>
          <a:noFill/>
        </p:spPr>
        <p:txBody>
          <a:bodyPr wrap="square">
            <a:spAutoFit/>
          </a:bodyPr>
          <a:lstStyle/>
          <a:p>
            <a:r>
              <a:rPr lang="en-US" sz="2800" b="1" dirty="0"/>
              <a:t>New leader’s log is truth</a:t>
            </a:r>
          </a:p>
        </p:txBody>
      </p:sp>
      <p:sp>
        <p:nvSpPr>
          <p:cNvPr id="10" name="TextBox 9">
            <a:extLst>
              <a:ext uri="{FF2B5EF4-FFF2-40B4-BE49-F238E27FC236}">
                <a16:creationId xmlns:a16="http://schemas.microsoft.com/office/drawing/2014/main" id="{3090E5D0-F47F-3ED4-34D7-4B1E82342D58}"/>
              </a:ext>
            </a:extLst>
          </p:cNvPr>
          <p:cNvSpPr txBox="1"/>
          <p:nvPr/>
        </p:nvSpPr>
        <p:spPr>
          <a:xfrm>
            <a:off x="217225" y="3429000"/>
            <a:ext cx="11974774" cy="1538883"/>
          </a:xfrm>
          <a:prstGeom prst="rect">
            <a:avLst/>
          </a:prstGeom>
          <a:noFill/>
        </p:spPr>
        <p:txBody>
          <a:bodyPr wrap="square">
            <a:spAutoFit/>
          </a:bodyPr>
          <a:lstStyle/>
          <a:p>
            <a:r>
              <a:rPr lang="en-US" sz="2800" b="1" dirty="0"/>
              <a:t>New leader must make follower logs consistent with its own</a:t>
            </a:r>
          </a:p>
          <a:p>
            <a:pPr marL="742950" lvl="1" indent="-285750">
              <a:buFont typeface="Arial" panose="020B0604020202020204" pitchFamily="34" charset="0"/>
              <a:buChar char="•"/>
            </a:pPr>
            <a:r>
              <a:rPr lang="en-US" sz="2400" dirty="0"/>
              <a:t>Delete extraneous entries</a:t>
            </a:r>
          </a:p>
          <a:p>
            <a:pPr marL="742950" lvl="1" indent="-285750">
              <a:buFont typeface="Arial" panose="020B0604020202020204" pitchFamily="34" charset="0"/>
              <a:buChar char="•"/>
            </a:pPr>
            <a:r>
              <a:rPr lang="en-US" sz="2400" dirty="0"/>
              <a:t>Fill in missing entries</a:t>
            </a:r>
          </a:p>
          <a:p>
            <a:endParaRPr lang="en-US" dirty="0"/>
          </a:p>
        </p:txBody>
      </p:sp>
    </p:spTree>
    <p:extLst>
      <p:ext uri="{BB962C8B-B14F-4D97-AF65-F5344CB8AC3E}">
        <p14:creationId xmlns:p14="http://schemas.microsoft.com/office/powerpoint/2010/main" val="116587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dissolve">
                                      <p:cBhvr>
                                        <p:cTn id="10" dur="500"/>
                                        <p:tgtEl>
                                          <p:spTgt spid="10">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dissolve">
                                      <p:cBhvr>
                                        <p:cTn id="13"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9952B-0120-ABF2-B157-B3F43BAE827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0E4BE41-7222-1E5D-0188-F14F2B4A7252}"/>
              </a:ext>
            </a:extLst>
          </p:cNvPr>
          <p:cNvSpPr>
            <a:spLocks noGrp="1"/>
          </p:cNvSpPr>
          <p:nvPr>
            <p:ph type="title"/>
          </p:nvPr>
        </p:nvSpPr>
        <p:spPr>
          <a:xfrm>
            <a:off x="0" y="1"/>
            <a:ext cx="12191999" cy="914400"/>
          </a:xfrm>
        </p:spPr>
        <p:txBody>
          <a:bodyPr>
            <a:normAutofit/>
          </a:bodyPr>
          <a:lstStyle/>
          <a:p>
            <a:pPr algn="ctr"/>
            <a:r>
              <a:rPr lang="en-US" altLang="zh-CN" b="1" dirty="0">
                <a:latin typeface="Helvetica" panose="020B0604020202020204" pitchFamily="34" charset="0"/>
                <a:cs typeface="Helvetica" panose="020B0604020202020204" pitchFamily="34" charset="0"/>
              </a:rPr>
              <a:t>Consistency Check</a:t>
            </a:r>
            <a:endParaRPr lang="en-US" b="1" dirty="0">
              <a:latin typeface="Helvetica" panose="020B0604020202020204" pitchFamily="34" charset="0"/>
              <a:cs typeface="Helvetica" panose="020B0604020202020204" pitchFamily="34" charset="0"/>
            </a:endParaRPr>
          </a:p>
        </p:txBody>
      </p:sp>
      <p:sp>
        <p:nvSpPr>
          <p:cNvPr id="8" name="Slide Number Placeholder 4">
            <a:extLst>
              <a:ext uri="{FF2B5EF4-FFF2-40B4-BE49-F238E27FC236}">
                <a16:creationId xmlns:a16="http://schemas.microsoft.com/office/drawing/2014/main" id="{5FA71807-1ACE-E95C-F508-0AB1860A2573}"/>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32</a:t>
            </a:fld>
            <a:endParaRPr lang="en-US"/>
          </a:p>
        </p:txBody>
      </p:sp>
      <p:pic>
        <p:nvPicPr>
          <p:cNvPr id="2" name="object 4">
            <a:extLst>
              <a:ext uri="{FF2B5EF4-FFF2-40B4-BE49-F238E27FC236}">
                <a16:creationId xmlns:a16="http://schemas.microsoft.com/office/drawing/2014/main" id="{1E4E1142-9DA0-B4D9-3F03-2E429F4B9E1D}"/>
              </a:ext>
            </a:extLst>
          </p:cNvPr>
          <p:cNvPicPr>
            <a:picLocks noChangeAspect="1"/>
          </p:cNvPicPr>
          <p:nvPr/>
        </p:nvPicPr>
        <p:blipFill>
          <a:blip r:embed="rId3" cstate="print"/>
          <a:stretch>
            <a:fillRect/>
          </a:stretch>
        </p:blipFill>
        <p:spPr>
          <a:xfrm>
            <a:off x="3461141" y="1167902"/>
            <a:ext cx="6086133" cy="2467473"/>
          </a:xfrm>
          <a:prstGeom prst="rect">
            <a:avLst/>
          </a:prstGeom>
        </p:spPr>
      </p:pic>
      <p:sp>
        <p:nvSpPr>
          <p:cNvPr id="4" name="TextBox 3">
            <a:extLst>
              <a:ext uri="{FF2B5EF4-FFF2-40B4-BE49-F238E27FC236}">
                <a16:creationId xmlns:a16="http://schemas.microsoft.com/office/drawing/2014/main" id="{D4CB5D93-5A07-6E6B-9BCC-A49C3820BF80}"/>
              </a:ext>
            </a:extLst>
          </p:cNvPr>
          <p:cNvSpPr txBox="1"/>
          <p:nvPr/>
        </p:nvSpPr>
        <p:spPr>
          <a:xfrm>
            <a:off x="293146" y="3948970"/>
            <a:ext cx="10486016" cy="2246769"/>
          </a:xfrm>
          <a:prstGeom prst="rect">
            <a:avLst/>
          </a:prstGeom>
          <a:noFill/>
        </p:spPr>
        <p:txBody>
          <a:bodyPr wrap="square">
            <a:spAutoFit/>
          </a:bodyPr>
          <a:lstStyle/>
          <a:p>
            <a:r>
              <a:rPr lang="en-US" sz="2800" b="1" dirty="0" err="1"/>
              <a:t>AppendEntries</a:t>
            </a:r>
            <a:r>
              <a:rPr lang="en-US" sz="2800" b="1" dirty="0"/>
              <a:t> has of entry preceding new ones </a:t>
            </a:r>
          </a:p>
          <a:p>
            <a:endParaRPr lang="en-US" sz="2800" b="1" dirty="0"/>
          </a:p>
          <a:p>
            <a:r>
              <a:rPr lang="en-US" sz="2800" b="1" dirty="0"/>
              <a:t>Follower must contain matching entry; otherwise it rejects </a:t>
            </a:r>
          </a:p>
          <a:p>
            <a:endParaRPr lang="en-US" sz="2800" b="1" dirty="0"/>
          </a:p>
          <a:p>
            <a:r>
              <a:rPr lang="en-US" sz="2800" b="1" dirty="0"/>
              <a:t>Implements an induction step, ensures coherency</a:t>
            </a:r>
          </a:p>
        </p:txBody>
      </p:sp>
    </p:spTree>
    <p:extLst>
      <p:ext uri="{BB962C8B-B14F-4D97-AF65-F5344CB8AC3E}">
        <p14:creationId xmlns:p14="http://schemas.microsoft.com/office/powerpoint/2010/main" val="4034787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8D044-D3C8-FE3A-2B74-083FB2151C62}"/>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2525E3F1-3874-00BC-12C9-2A4C7E126E6E}"/>
              </a:ext>
            </a:extLst>
          </p:cNvPr>
          <p:cNvGrpSpPr>
            <a:grpSpLocks noChangeAspect="1"/>
          </p:cNvGrpSpPr>
          <p:nvPr/>
        </p:nvGrpSpPr>
        <p:grpSpPr>
          <a:xfrm>
            <a:off x="2977287" y="569470"/>
            <a:ext cx="7267614" cy="2996297"/>
            <a:chOff x="5012475" y="2143701"/>
            <a:chExt cx="9483090" cy="3909695"/>
          </a:xfrm>
        </p:grpSpPr>
        <p:pic>
          <p:nvPicPr>
            <p:cNvPr id="5" name="object 5">
              <a:extLst>
                <a:ext uri="{FF2B5EF4-FFF2-40B4-BE49-F238E27FC236}">
                  <a16:creationId xmlns:a16="http://schemas.microsoft.com/office/drawing/2014/main" id="{DB8C9EAD-DCF6-8ADB-2D11-27242B242F33}"/>
                </a:ext>
              </a:extLst>
            </p:cNvPr>
            <p:cNvPicPr/>
            <p:nvPr/>
          </p:nvPicPr>
          <p:blipFill>
            <a:blip r:embed="rId3" cstate="print"/>
            <a:stretch>
              <a:fillRect/>
            </a:stretch>
          </p:blipFill>
          <p:spPr>
            <a:xfrm>
              <a:off x="5179482" y="2218089"/>
              <a:ext cx="9316011" cy="3834821"/>
            </a:xfrm>
            <a:prstGeom prst="rect">
              <a:avLst/>
            </a:prstGeom>
          </p:spPr>
        </p:pic>
        <p:pic>
          <p:nvPicPr>
            <p:cNvPr id="6" name="object 6">
              <a:extLst>
                <a:ext uri="{FF2B5EF4-FFF2-40B4-BE49-F238E27FC236}">
                  <a16:creationId xmlns:a16="http://schemas.microsoft.com/office/drawing/2014/main" id="{7592B536-D611-BBE2-9358-3B54A9591634}"/>
                </a:ext>
              </a:extLst>
            </p:cNvPr>
            <p:cNvPicPr/>
            <p:nvPr/>
          </p:nvPicPr>
          <p:blipFill>
            <a:blip r:embed="rId4" cstate="print"/>
            <a:stretch>
              <a:fillRect/>
            </a:stretch>
          </p:blipFill>
          <p:spPr>
            <a:xfrm>
              <a:off x="5012475" y="2143701"/>
              <a:ext cx="6143415" cy="796617"/>
            </a:xfrm>
            <a:prstGeom prst="rect">
              <a:avLst/>
            </a:prstGeom>
          </p:spPr>
        </p:pic>
      </p:grpSp>
      <p:sp>
        <p:nvSpPr>
          <p:cNvPr id="7" name="Title 1">
            <a:extLst>
              <a:ext uri="{FF2B5EF4-FFF2-40B4-BE49-F238E27FC236}">
                <a16:creationId xmlns:a16="http://schemas.microsoft.com/office/drawing/2014/main" id="{C239F967-CCB2-69F5-7D0F-39336E0CA9F1}"/>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Repairing Follower Logs</a:t>
            </a:r>
          </a:p>
        </p:txBody>
      </p:sp>
      <p:sp>
        <p:nvSpPr>
          <p:cNvPr id="8" name="Slide Number Placeholder 4">
            <a:extLst>
              <a:ext uri="{FF2B5EF4-FFF2-40B4-BE49-F238E27FC236}">
                <a16:creationId xmlns:a16="http://schemas.microsoft.com/office/drawing/2014/main" id="{2CB88D1C-F5D5-A3FE-8ADA-233734FF960D}"/>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33</a:t>
            </a:fld>
            <a:endParaRPr lang="en-US"/>
          </a:p>
        </p:txBody>
      </p:sp>
      <p:sp>
        <p:nvSpPr>
          <p:cNvPr id="3" name="TextBox 2">
            <a:extLst>
              <a:ext uri="{FF2B5EF4-FFF2-40B4-BE49-F238E27FC236}">
                <a16:creationId xmlns:a16="http://schemas.microsoft.com/office/drawing/2014/main" id="{B108B818-C2CE-74D6-FDEA-C04E63A0299D}"/>
              </a:ext>
            </a:extLst>
          </p:cNvPr>
          <p:cNvSpPr txBox="1"/>
          <p:nvPr/>
        </p:nvSpPr>
        <p:spPr>
          <a:xfrm>
            <a:off x="0" y="914401"/>
            <a:ext cx="8818581" cy="523220"/>
          </a:xfrm>
          <a:prstGeom prst="rect">
            <a:avLst/>
          </a:prstGeom>
          <a:noFill/>
        </p:spPr>
        <p:txBody>
          <a:bodyPr wrap="square">
            <a:spAutoFit/>
          </a:bodyPr>
          <a:lstStyle/>
          <a:p>
            <a:r>
              <a:rPr lang="en-US" sz="2800" b="1" dirty="0"/>
              <a:t>New leader’s log is truth</a:t>
            </a:r>
          </a:p>
        </p:txBody>
      </p:sp>
      <p:sp>
        <p:nvSpPr>
          <p:cNvPr id="10" name="TextBox 9">
            <a:extLst>
              <a:ext uri="{FF2B5EF4-FFF2-40B4-BE49-F238E27FC236}">
                <a16:creationId xmlns:a16="http://schemas.microsoft.com/office/drawing/2014/main" id="{4FA8E2B3-A498-DCF6-8130-A03A20D939AE}"/>
              </a:ext>
            </a:extLst>
          </p:cNvPr>
          <p:cNvSpPr txBox="1"/>
          <p:nvPr/>
        </p:nvSpPr>
        <p:spPr>
          <a:xfrm>
            <a:off x="217225" y="3429000"/>
            <a:ext cx="11974774" cy="3508653"/>
          </a:xfrm>
          <a:prstGeom prst="rect">
            <a:avLst/>
          </a:prstGeom>
          <a:noFill/>
        </p:spPr>
        <p:txBody>
          <a:bodyPr wrap="square">
            <a:spAutoFit/>
          </a:bodyPr>
          <a:lstStyle/>
          <a:p>
            <a:r>
              <a:rPr lang="en-US" sz="2800" b="1" dirty="0"/>
              <a:t>New leader must make follower logs consistent with its own</a:t>
            </a:r>
          </a:p>
          <a:p>
            <a:pPr marL="742950" lvl="1" indent="-285750">
              <a:buFont typeface="Arial" panose="020B0604020202020204" pitchFamily="34" charset="0"/>
              <a:buChar char="•"/>
            </a:pPr>
            <a:r>
              <a:rPr lang="en-US" sz="2400" dirty="0"/>
              <a:t>Delete extraneous entries</a:t>
            </a:r>
          </a:p>
          <a:p>
            <a:pPr marL="742950" lvl="1" indent="-285750">
              <a:buFont typeface="Arial" panose="020B0604020202020204" pitchFamily="34" charset="0"/>
              <a:buChar char="•"/>
            </a:pPr>
            <a:r>
              <a:rPr lang="en-US" sz="2400" dirty="0"/>
              <a:t>Fill in missing entries</a:t>
            </a:r>
          </a:p>
          <a:p>
            <a:endParaRPr lang="en-US" dirty="0"/>
          </a:p>
          <a:p>
            <a:r>
              <a:rPr lang="en-US" sz="2800" b="1" dirty="0"/>
              <a:t>Leader keeps </a:t>
            </a:r>
            <a:r>
              <a:rPr lang="en-US" sz="2800" b="1" dirty="0" err="1"/>
              <a:t>nextIndex</a:t>
            </a:r>
            <a:r>
              <a:rPr lang="en-US" sz="2800" b="1" dirty="0"/>
              <a:t> for each follower:</a:t>
            </a:r>
          </a:p>
          <a:p>
            <a:pPr marL="742950" lvl="1" indent="-285750">
              <a:buFont typeface="Arial" panose="020B0604020202020204" pitchFamily="34" charset="0"/>
              <a:buChar char="•"/>
            </a:pPr>
            <a:r>
              <a:rPr lang="en-US" sz="2400" dirty="0"/>
              <a:t>Index of next log entry to send to that follower</a:t>
            </a:r>
          </a:p>
          <a:p>
            <a:pPr marL="742950" lvl="1" indent="-285750">
              <a:buFont typeface="Arial" panose="020B0604020202020204" pitchFamily="34" charset="0"/>
              <a:buChar char="•"/>
            </a:pPr>
            <a:r>
              <a:rPr lang="en-US" sz="2400" dirty="0"/>
              <a:t>Initialized to (1 + leader’s last index)</a:t>
            </a:r>
          </a:p>
          <a:p>
            <a:endParaRPr lang="en-US" dirty="0"/>
          </a:p>
          <a:p>
            <a:r>
              <a:rPr lang="en-US" sz="2800" b="1" dirty="0"/>
              <a:t>If </a:t>
            </a:r>
            <a:r>
              <a:rPr lang="en-US" sz="2800" b="1" dirty="0" err="1"/>
              <a:t>AppendEntries</a:t>
            </a:r>
            <a:r>
              <a:rPr lang="en-US" sz="2800" b="1" dirty="0"/>
              <a:t> consistency check fails, decrement </a:t>
            </a:r>
            <a:r>
              <a:rPr lang="en-US" sz="2800" b="1" dirty="0" err="1"/>
              <a:t>nextIndex</a:t>
            </a:r>
            <a:r>
              <a:rPr lang="en-US" sz="2800" b="1" dirty="0"/>
              <a:t>, try again</a:t>
            </a:r>
          </a:p>
        </p:txBody>
      </p:sp>
    </p:spTree>
    <p:extLst>
      <p:ext uri="{BB962C8B-B14F-4D97-AF65-F5344CB8AC3E}">
        <p14:creationId xmlns:p14="http://schemas.microsoft.com/office/powerpoint/2010/main" val="3186833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animEffect transition="in" filter="dissolve">
                                      <p:cBhvr>
                                        <p:cTn id="7" dur="500"/>
                                        <p:tgtEl>
                                          <p:spTgt spid="10">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0">
                                            <p:txEl>
                                              <p:pRg st="5" end="5"/>
                                            </p:txEl>
                                          </p:spTgt>
                                        </p:tgtEl>
                                        <p:attrNameLst>
                                          <p:attrName>style.visibility</p:attrName>
                                        </p:attrNameLst>
                                      </p:cBhvr>
                                      <p:to>
                                        <p:strVal val="visible"/>
                                      </p:to>
                                    </p:set>
                                    <p:animEffect transition="in" filter="dissolve">
                                      <p:cBhvr>
                                        <p:cTn id="10" dur="500"/>
                                        <p:tgtEl>
                                          <p:spTgt spid="10">
                                            <p:txEl>
                                              <p:pRg st="5" end="5"/>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0">
                                            <p:txEl>
                                              <p:pRg st="6" end="6"/>
                                            </p:txEl>
                                          </p:spTgt>
                                        </p:tgtEl>
                                        <p:attrNameLst>
                                          <p:attrName>style.visibility</p:attrName>
                                        </p:attrNameLst>
                                      </p:cBhvr>
                                      <p:to>
                                        <p:strVal val="visible"/>
                                      </p:to>
                                    </p:set>
                                    <p:animEffect transition="in" filter="dissolve">
                                      <p:cBhvr>
                                        <p:cTn id="13" dur="500"/>
                                        <p:tgtEl>
                                          <p:spTgt spid="10">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0">
                                            <p:txEl>
                                              <p:pRg st="8" end="8"/>
                                            </p:txEl>
                                          </p:spTgt>
                                        </p:tgtEl>
                                        <p:attrNameLst>
                                          <p:attrName>style.visibility</p:attrName>
                                        </p:attrNameLst>
                                      </p:cBhvr>
                                      <p:to>
                                        <p:strVal val="visible"/>
                                      </p:to>
                                    </p:set>
                                    <p:animEffect transition="in" filter="dissolve">
                                      <p:cBhvr>
                                        <p:cTn id="18" dur="500"/>
                                        <p:tgtEl>
                                          <p:spTgt spid="10">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dissolv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dissolve">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2F6E8-1312-EB7E-787B-C48BAC64443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A617B41-FB0D-2779-198C-F96EA38770EB}"/>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Repairing Follower Logs</a:t>
            </a:r>
          </a:p>
        </p:txBody>
      </p:sp>
      <p:sp>
        <p:nvSpPr>
          <p:cNvPr id="8" name="Slide Number Placeholder 4">
            <a:extLst>
              <a:ext uri="{FF2B5EF4-FFF2-40B4-BE49-F238E27FC236}">
                <a16:creationId xmlns:a16="http://schemas.microsoft.com/office/drawing/2014/main" id="{8A871A65-5EFB-66A1-807B-C48FBFB4740B}"/>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34</a:t>
            </a:fld>
            <a:endParaRPr lang="en-US"/>
          </a:p>
        </p:txBody>
      </p:sp>
      <p:grpSp>
        <p:nvGrpSpPr>
          <p:cNvPr id="2" name="object 3">
            <a:extLst>
              <a:ext uri="{FF2B5EF4-FFF2-40B4-BE49-F238E27FC236}">
                <a16:creationId xmlns:a16="http://schemas.microsoft.com/office/drawing/2014/main" id="{6793B1BB-7F76-870F-98DC-60CF037B405F}"/>
              </a:ext>
            </a:extLst>
          </p:cNvPr>
          <p:cNvGrpSpPr>
            <a:grpSpLocks noChangeAspect="1"/>
          </p:cNvGrpSpPr>
          <p:nvPr/>
        </p:nvGrpSpPr>
        <p:grpSpPr>
          <a:xfrm>
            <a:off x="1710524" y="837585"/>
            <a:ext cx="8986107" cy="5182830"/>
            <a:chOff x="4603849" y="2143701"/>
            <a:chExt cx="11705590" cy="6751320"/>
          </a:xfrm>
        </p:grpSpPr>
        <p:pic>
          <p:nvPicPr>
            <p:cNvPr id="3" name="object 4">
              <a:extLst>
                <a:ext uri="{FF2B5EF4-FFF2-40B4-BE49-F238E27FC236}">
                  <a16:creationId xmlns:a16="http://schemas.microsoft.com/office/drawing/2014/main" id="{36BDC658-8F5E-5946-37B0-E0EAFB53974A}"/>
                </a:ext>
              </a:extLst>
            </p:cNvPr>
            <p:cNvPicPr/>
            <p:nvPr/>
          </p:nvPicPr>
          <p:blipFill>
            <a:blip r:embed="rId3" cstate="print"/>
            <a:stretch>
              <a:fillRect/>
            </a:stretch>
          </p:blipFill>
          <p:spPr>
            <a:xfrm>
              <a:off x="5012475" y="2143701"/>
              <a:ext cx="6143415" cy="796617"/>
            </a:xfrm>
            <a:prstGeom prst="rect">
              <a:avLst/>
            </a:prstGeom>
          </p:spPr>
        </p:pic>
        <p:pic>
          <p:nvPicPr>
            <p:cNvPr id="4" name="object 5">
              <a:extLst>
                <a:ext uri="{FF2B5EF4-FFF2-40B4-BE49-F238E27FC236}">
                  <a16:creationId xmlns:a16="http://schemas.microsoft.com/office/drawing/2014/main" id="{972BC973-5950-FF85-9C87-16589DA59A57}"/>
                </a:ext>
              </a:extLst>
            </p:cNvPr>
            <p:cNvPicPr>
              <a:picLocks noChangeAspect="1"/>
            </p:cNvPicPr>
            <p:nvPr/>
          </p:nvPicPr>
          <p:blipFill>
            <a:blip r:embed="rId4" cstate="print"/>
            <a:stretch>
              <a:fillRect/>
            </a:stretch>
          </p:blipFill>
          <p:spPr>
            <a:xfrm>
              <a:off x="4603849" y="2386608"/>
              <a:ext cx="11705088" cy="6508032"/>
            </a:xfrm>
            <a:prstGeom prst="rect">
              <a:avLst/>
            </a:prstGeom>
          </p:spPr>
        </p:pic>
      </p:grpSp>
    </p:spTree>
    <p:extLst>
      <p:ext uri="{BB962C8B-B14F-4D97-AF65-F5344CB8AC3E}">
        <p14:creationId xmlns:p14="http://schemas.microsoft.com/office/powerpoint/2010/main" val="3510233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3CCE5-B65F-1C69-DFE1-E70FDCDCC31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9521A87B-0B4D-358E-F525-B48C51C6CFC0}"/>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Picking The Best Leader</a:t>
            </a:r>
          </a:p>
        </p:txBody>
      </p:sp>
      <p:sp>
        <p:nvSpPr>
          <p:cNvPr id="8" name="Slide Number Placeholder 4">
            <a:extLst>
              <a:ext uri="{FF2B5EF4-FFF2-40B4-BE49-F238E27FC236}">
                <a16:creationId xmlns:a16="http://schemas.microsoft.com/office/drawing/2014/main" id="{31B863E7-7A7B-FD26-8692-6307C72DE39A}"/>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35</a:t>
            </a:fld>
            <a:endParaRPr lang="en-US"/>
          </a:p>
        </p:txBody>
      </p:sp>
      <p:pic>
        <p:nvPicPr>
          <p:cNvPr id="2" name="object 4">
            <a:extLst>
              <a:ext uri="{FF2B5EF4-FFF2-40B4-BE49-F238E27FC236}">
                <a16:creationId xmlns:a16="http://schemas.microsoft.com/office/drawing/2014/main" id="{387E147B-5A98-BBA7-C3DE-0709AB0484B0}"/>
              </a:ext>
            </a:extLst>
          </p:cNvPr>
          <p:cNvPicPr/>
          <p:nvPr/>
        </p:nvPicPr>
        <p:blipFill>
          <a:blip r:embed="rId3" cstate="print"/>
          <a:stretch>
            <a:fillRect/>
          </a:stretch>
        </p:blipFill>
        <p:spPr>
          <a:xfrm>
            <a:off x="852024" y="914401"/>
            <a:ext cx="10487947" cy="2652730"/>
          </a:xfrm>
          <a:prstGeom prst="rect">
            <a:avLst/>
          </a:prstGeom>
        </p:spPr>
      </p:pic>
      <p:sp>
        <p:nvSpPr>
          <p:cNvPr id="3" name="TextBox 2">
            <a:extLst>
              <a:ext uri="{FF2B5EF4-FFF2-40B4-BE49-F238E27FC236}">
                <a16:creationId xmlns:a16="http://schemas.microsoft.com/office/drawing/2014/main" id="{023794B9-2858-B4CE-E3D9-7FA384F919F6}"/>
              </a:ext>
            </a:extLst>
          </p:cNvPr>
          <p:cNvSpPr txBox="1"/>
          <p:nvPr/>
        </p:nvSpPr>
        <p:spPr>
          <a:xfrm>
            <a:off x="131927" y="4118789"/>
            <a:ext cx="11928143" cy="2739211"/>
          </a:xfrm>
          <a:prstGeom prst="rect">
            <a:avLst/>
          </a:prstGeom>
          <a:noFill/>
        </p:spPr>
        <p:txBody>
          <a:bodyPr wrap="square" rtlCol="0">
            <a:spAutoFit/>
          </a:bodyPr>
          <a:lstStyle/>
          <a:p>
            <a:r>
              <a:rPr lang="en-US" sz="2800" b="1" dirty="0"/>
              <a:t>Why not elect the server with the longest log as leader?</a:t>
            </a:r>
          </a:p>
          <a:p>
            <a:pPr marL="742950" lvl="1" indent="-285750">
              <a:buFont typeface="Arial" panose="020B0604020202020204" pitchFamily="34" charset="0"/>
              <a:buChar char="•"/>
            </a:pPr>
            <a:r>
              <a:rPr lang="en-US" sz="2400" dirty="0"/>
              <a:t>Example</a:t>
            </a:r>
          </a:p>
          <a:p>
            <a:pPr lvl="2"/>
            <a:r>
              <a:rPr lang="en-US" sz="2400" dirty="0"/>
              <a:t>S1: 5 6 7 </a:t>
            </a:r>
          </a:p>
          <a:p>
            <a:pPr lvl="2"/>
            <a:r>
              <a:rPr lang="en-US" sz="2400" dirty="0"/>
              <a:t>S2: 5 8 </a:t>
            </a:r>
          </a:p>
          <a:p>
            <a:pPr lvl="2"/>
            <a:r>
              <a:rPr lang="en-US" sz="2400" dirty="0"/>
              <a:t>S3: 5 8</a:t>
            </a:r>
          </a:p>
          <a:p>
            <a:pPr lvl="2"/>
            <a:endParaRPr lang="en-US" sz="2400" dirty="0"/>
          </a:p>
          <a:p>
            <a:pPr lvl="2"/>
            <a:endParaRPr lang="en-US" sz="2400" dirty="0"/>
          </a:p>
        </p:txBody>
      </p:sp>
    </p:spTree>
    <p:extLst>
      <p:ext uri="{BB962C8B-B14F-4D97-AF65-F5344CB8AC3E}">
        <p14:creationId xmlns:p14="http://schemas.microsoft.com/office/powerpoint/2010/main" val="2181391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571EF-93AB-EC7C-6BA1-359DA10C4DC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900456B-21C8-2D61-9518-3CEA707A76D0}"/>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Restricted Leader Election</a:t>
            </a:r>
          </a:p>
        </p:txBody>
      </p:sp>
      <p:sp>
        <p:nvSpPr>
          <p:cNvPr id="8" name="Slide Number Placeholder 4">
            <a:extLst>
              <a:ext uri="{FF2B5EF4-FFF2-40B4-BE49-F238E27FC236}">
                <a16:creationId xmlns:a16="http://schemas.microsoft.com/office/drawing/2014/main" id="{9BDEB276-6735-0FB3-7E23-BF5E4311CA95}"/>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36</a:t>
            </a:fld>
            <a:endParaRPr lang="en-US"/>
          </a:p>
        </p:txBody>
      </p:sp>
      <p:sp>
        <p:nvSpPr>
          <p:cNvPr id="3" name="TextBox 2">
            <a:extLst>
              <a:ext uri="{FF2B5EF4-FFF2-40B4-BE49-F238E27FC236}">
                <a16:creationId xmlns:a16="http://schemas.microsoft.com/office/drawing/2014/main" id="{2E30A50B-DB14-A4CA-E3EE-6F2D9E0FD02A}"/>
              </a:ext>
            </a:extLst>
          </p:cNvPr>
          <p:cNvSpPr txBox="1"/>
          <p:nvPr/>
        </p:nvSpPr>
        <p:spPr>
          <a:xfrm>
            <a:off x="304230" y="1025040"/>
            <a:ext cx="11583537" cy="2000548"/>
          </a:xfrm>
          <a:prstGeom prst="rect">
            <a:avLst/>
          </a:prstGeom>
          <a:noFill/>
        </p:spPr>
        <p:txBody>
          <a:bodyPr wrap="square">
            <a:spAutoFit/>
          </a:bodyPr>
          <a:lstStyle/>
          <a:p>
            <a:r>
              <a:rPr lang="en-US" sz="2800" b="1" dirty="0"/>
              <a:t>Elect candidate most likely to contain all committed entries </a:t>
            </a:r>
          </a:p>
          <a:p>
            <a:pPr marL="800100" lvl="1" indent="-342900">
              <a:buFont typeface="Arial" panose="020B0604020202020204" pitchFamily="34" charset="0"/>
              <a:buChar char="•"/>
            </a:pPr>
            <a:r>
              <a:rPr lang="en-US" sz="2400" dirty="0"/>
              <a:t>In </a:t>
            </a:r>
            <a:r>
              <a:rPr lang="en-US" sz="2400" dirty="0" err="1"/>
              <a:t>RequestVote</a:t>
            </a:r>
            <a:r>
              <a:rPr lang="en-US" sz="2400" dirty="0"/>
              <a:t>, candidates incl. index + term of last log entry </a:t>
            </a:r>
          </a:p>
          <a:p>
            <a:pPr marL="800100" lvl="1" indent="-342900">
              <a:buFont typeface="Arial" panose="020B0604020202020204" pitchFamily="34" charset="0"/>
              <a:buChar char="•"/>
            </a:pPr>
            <a:r>
              <a:rPr lang="en-US" sz="2400" dirty="0"/>
              <a:t>Voter V denies vote if its log is “more complete”: (newer term) or (entry in higher index of same term) </a:t>
            </a:r>
          </a:p>
          <a:p>
            <a:pPr marL="800100" lvl="1" indent="-342900">
              <a:buFont typeface="Arial" panose="020B0604020202020204" pitchFamily="34" charset="0"/>
              <a:buChar char="•"/>
            </a:pPr>
            <a:r>
              <a:rPr lang="en-US" sz="2400" dirty="0"/>
              <a:t>Leader will have “most complete” log among electing majority</a:t>
            </a:r>
          </a:p>
        </p:txBody>
      </p:sp>
    </p:spTree>
    <p:extLst>
      <p:ext uri="{BB962C8B-B14F-4D97-AF65-F5344CB8AC3E}">
        <p14:creationId xmlns:p14="http://schemas.microsoft.com/office/powerpoint/2010/main" val="4102500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5E66D-0A5F-E00C-0A60-0C1A92168E0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1F186D83-611B-E758-53C5-51AE1FF5DBB1}"/>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Committing Entry From Current Term</a:t>
            </a:r>
          </a:p>
        </p:txBody>
      </p:sp>
      <p:sp>
        <p:nvSpPr>
          <p:cNvPr id="8" name="Slide Number Placeholder 4">
            <a:extLst>
              <a:ext uri="{FF2B5EF4-FFF2-40B4-BE49-F238E27FC236}">
                <a16:creationId xmlns:a16="http://schemas.microsoft.com/office/drawing/2014/main" id="{2DAABF02-B2F7-FC35-35EC-10CD992CC8A0}"/>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37</a:t>
            </a:fld>
            <a:endParaRPr lang="en-US"/>
          </a:p>
        </p:txBody>
      </p:sp>
      <p:sp>
        <p:nvSpPr>
          <p:cNvPr id="3" name="TextBox 2">
            <a:extLst>
              <a:ext uri="{FF2B5EF4-FFF2-40B4-BE49-F238E27FC236}">
                <a16:creationId xmlns:a16="http://schemas.microsoft.com/office/drawing/2014/main" id="{F85AC4EE-71FC-B867-2BF0-C6A92E0BAC96}"/>
              </a:ext>
            </a:extLst>
          </p:cNvPr>
          <p:cNvSpPr txBox="1"/>
          <p:nvPr/>
        </p:nvSpPr>
        <p:spPr>
          <a:xfrm>
            <a:off x="623448" y="5129114"/>
            <a:ext cx="9741090" cy="1384995"/>
          </a:xfrm>
          <a:prstGeom prst="rect">
            <a:avLst/>
          </a:prstGeom>
          <a:noFill/>
        </p:spPr>
        <p:txBody>
          <a:bodyPr wrap="square">
            <a:spAutoFit/>
          </a:bodyPr>
          <a:lstStyle/>
          <a:p>
            <a:r>
              <a:rPr lang="en-US" sz="2800" b="1" dirty="0"/>
              <a:t>Case #1: Leader decides entry in current term is committed </a:t>
            </a:r>
          </a:p>
          <a:p>
            <a:endParaRPr lang="en-US" sz="2800" b="1" dirty="0"/>
          </a:p>
          <a:p>
            <a:r>
              <a:rPr lang="en-US" sz="2800" b="1" dirty="0"/>
              <a:t>Safe: leader for term 3 must contain entry 4</a:t>
            </a:r>
          </a:p>
        </p:txBody>
      </p:sp>
      <p:pic>
        <p:nvPicPr>
          <p:cNvPr id="4" name="object 4">
            <a:extLst>
              <a:ext uri="{FF2B5EF4-FFF2-40B4-BE49-F238E27FC236}">
                <a16:creationId xmlns:a16="http://schemas.microsoft.com/office/drawing/2014/main" id="{FE73AC03-9300-82D9-7539-DA510EACD854}"/>
              </a:ext>
            </a:extLst>
          </p:cNvPr>
          <p:cNvPicPr>
            <a:picLocks noChangeAspect="1"/>
          </p:cNvPicPr>
          <p:nvPr/>
        </p:nvPicPr>
        <p:blipFill>
          <a:blip r:embed="rId3" cstate="print"/>
          <a:stretch>
            <a:fillRect/>
          </a:stretch>
        </p:blipFill>
        <p:spPr>
          <a:xfrm>
            <a:off x="2565944" y="1441314"/>
            <a:ext cx="6705435" cy="3160887"/>
          </a:xfrm>
          <a:prstGeom prst="rect">
            <a:avLst/>
          </a:prstGeom>
        </p:spPr>
      </p:pic>
    </p:spTree>
    <p:extLst>
      <p:ext uri="{BB962C8B-B14F-4D97-AF65-F5344CB8AC3E}">
        <p14:creationId xmlns:p14="http://schemas.microsoft.com/office/powerpoint/2010/main" val="1009470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4C2F7-EA75-F7F5-E6BC-023B6182F45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83B99A4-A6D1-A0F9-ABFE-6C6F5C2923C8}"/>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Committing Entry From Earlier Term</a:t>
            </a:r>
          </a:p>
        </p:txBody>
      </p:sp>
      <p:sp>
        <p:nvSpPr>
          <p:cNvPr id="8" name="Slide Number Placeholder 4">
            <a:extLst>
              <a:ext uri="{FF2B5EF4-FFF2-40B4-BE49-F238E27FC236}">
                <a16:creationId xmlns:a16="http://schemas.microsoft.com/office/drawing/2014/main" id="{C70885B4-5399-3C0D-928E-D9DFD5B76883}"/>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38</a:t>
            </a:fld>
            <a:endParaRPr lang="en-US"/>
          </a:p>
        </p:txBody>
      </p:sp>
      <p:sp>
        <p:nvSpPr>
          <p:cNvPr id="3" name="TextBox 2">
            <a:extLst>
              <a:ext uri="{FF2B5EF4-FFF2-40B4-BE49-F238E27FC236}">
                <a16:creationId xmlns:a16="http://schemas.microsoft.com/office/drawing/2014/main" id="{C2A5BAF3-458D-6E3D-0704-8D278ECC2FF7}"/>
              </a:ext>
            </a:extLst>
          </p:cNvPr>
          <p:cNvSpPr txBox="1"/>
          <p:nvPr/>
        </p:nvSpPr>
        <p:spPr>
          <a:xfrm>
            <a:off x="370765" y="4415254"/>
            <a:ext cx="10983035" cy="2123658"/>
          </a:xfrm>
          <a:prstGeom prst="rect">
            <a:avLst/>
          </a:prstGeom>
          <a:noFill/>
        </p:spPr>
        <p:txBody>
          <a:bodyPr wrap="square">
            <a:spAutoFit/>
          </a:bodyPr>
          <a:lstStyle/>
          <a:p>
            <a:r>
              <a:rPr lang="en-US" sz="2800" b="1" dirty="0"/>
              <a:t>Case #2: Leader trying to finish committing entry from earlier</a:t>
            </a:r>
          </a:p>
          <a:p>
            <a:r>
              <a:rPr lang="en-US" sz="2800" b="1" dirty="0"/>
              <a:t> </a:t>
            </a:r>
          </a:p>
          <a:p>
            <a:r>
              <a:rPr lang="en-US" sz="2800" b="1" dirty="0"/>
              <a:t>Entry 3 not safely committed: </a:t>
            </a:r>
          </a:p>
          <a:p>
            <a:pPr marL="742950" lvl="1" indent="-285750">
              <a:buFont typeface="Arial" panose="020B0604020202020204" pitchFamily="34" charset="0"/>
              <a:buChar char="•"/>
            </a:pPr>
            <a:r>
              <a:rPr lang="en-US" sz="2400" dirty="0"/>
              <a:t>s5 can be elected as leader for term 5 (how?) </a:t>
            </a:r>
          </a:p>
          <a:p>
            <a:pPr marL="742950" lvl="1" indent="-285750">
              <a:buFont typeface="Arial" panose="020B0604020202020204" pitchFamily="34" charset="0"/>
              <a:buChar char="•"/>
            </a:pPr>
            <a:r>
              <a:rPr lang="en-US" sz="2400" dirty="0"/>
              <a:t>If elected, it will overwrite entry 3 on s1, s2, and s3</a:t>
            </a:r>
          </a:p>
        </p:txBody>
      </p:sp>
      <p:pic>
        <p:nvPicPr>
          <p:cNvPr id="4" name="object 3">
            <a:extLst>
              <a:ext uri="{FF2B5EF4-FFF2-40B4-BE49-F238E27FC236}">
                <a16:creationId xmlns:a16="http://schemas.microsoft.com/office/drawing/2014/main" id="{E586A046-665D-0643-8276-1C8918F43E32}"/>
              </a:ext>
            </a:extLst>
          </p:cNvPr>
          <p:cNvPicPr>
            <a:picLocks noChangeAspect="1"/>
          </p:cNvPicPr>
          <p:nvPr/>
        </p:nvPicPr>
        <p:blipFill>
          <a:blip r:embed="rId3" cstate="print"/>
          <a:stretch>
            <a:fillRect/>
          </a:stretch>
        </p:blipFill>
        <p:spPr>
          <a:xfrm>
            <a:off x="2902584" y="1030497"/>
            <a:ext cx="6131098" cy="2824498"/>
          </a:xfrm>
          <a:prstGeom prst="rect">
            <a:avLst/>
          </a:prstGeom>
        </p:spPr>
      </p:pic>
    </p:spTree>
    <p:extLst>
      <p:ext uri="{BB962C8B-B14F-4D97-AF65-F5344CB8AC3E}">
        <p14:creationId xmlns:p14="http://schemas.microsoft.com/office/powerpoint/2010/main" val="2429878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722FA-70FF-EF1B-6B03-4D021F82FDC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A2C0D30-8F51-F3B3-D568-CA09A25DF3EE}"/>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Persistence</a:t>
            </a:r>
          </a:p>
        </p:txBody>
      </p:sp>
      <p:sp>
        <p:nvSpPr>
          <p:cNvPr id="8" name="Slide Number Placeholder 4">
            <a:extLst>
              <a:ext uri="{FF2B5EF4-FFF2-40B4-BE49-F238E27FC236}">
                <a16:creationId xmlns:a16="http://schemas.microsoft.com/office/drawing/2014/main" id="{BD9A2652-3761-D7E3-446D-9E4DEE117F97}"/>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39</a:t>
            </a:fld>
            <a:endParaRPr lang="en-US"/>
          </a:p>
        </p:txBody>
      </p:sp>
      <p:sp>
        <p:nvSpPr>
          <p:cNvPr id="2" name="TextBox 1">
            <a:extLst>
              <a:ext uri="{FF2B5EF4-FFF2-40B4-BE49-F238E27FC236}">
                <a16:creationId xmlns:a16="http://schemas.microsoft.com/office/drawing/2014/main" id="{478F4B78-BDB7-0196-6DD3-FC1AE820AB9C}"/>
              </a:ext>
            </a:extLst>
          </p:cNvPr>
          <p:cNvSpPr txBox="1"/>
          <p:nvPr/>
        </p:nvSpPr>
        <p:spPr>
          <a:xfrm>
            <a:off x="143301" y="1050878"/>
            <a:ext cx="11905396" cy="2800767"/>
          </a:xfrm>
          <a:prstGeom prst="rect">
            <a:avLst/>
          </a:prstGeom>
          <a:noFill/>
        </p:spPr>
        <p:txBody>
          <a:bodyPr wrap="square" rtlCol="0">
            <a:spAutoFit/>
          </a:bodyPr>
          <a:lstStyle/>
          <a:p>
            <a:r>
              <a:rPr lang="en-US" sz="2800" b="1" dirty="0"/>
              <a:t>What would we like to happen after a server crashes?</a:t>
            </a:r>
          </a:p>
          <a:p>
            <a:pPr marL="800100" lvl="1" indent="-342900">
              <a:buFont typeface="Arial" panose="020B0604020202020204" pitchFamily="34" charset="0"/>
              <a:buChar char="•"/>
            </a:pPr>
            <a:r>
              <a:rPr lang="zh-CN" altLang="en-US" sz="2400" dirty="0"/>
              <a:t>  </a:t>
            </a:r>
            <a:r>
              <a:rPr lang="en-US" sz="2400" dirty="0"/>
              <a:t>Raft can continue with one missing server</a:t>
            </a:r>
          </a:p>
          <a:p>
            <a:endParaRPr lang="en-US" sz="2400" dirty="0"/>
          </a:p>
          <a:p>
            <a:r>
              <a:rPr lang="en-US" sz="2800" b="1" dirty="0"/>
              <a:t>Two strategies: </a:t>
            </a:r>
          </a:p>
          <a:p>
            <a:pPr marL="742950" lvl="1" indent="-285750">
              <a:buFont typeface="Arial" panose="020B0604020202020204" pitchFamily="34" charset="0"/>
              <a:buChar char="•"/>
            </a:pPr>
            <a:r>
              <a:rPr lang="en-US" sz="2400" dirty="0"/>
              <a:t>replace with a fresh (empty) server?</a:t>
            </a:r>
          </a:p>
          <a:p>
            <a:pPr marL="742950" lvl="1" indent="-285750">
              <a:buFont typeface="Arial" panose="020B0604020202020204" pitchFamily="34" charset="0"/>
              <a:buChar char="•"/>
            </a:pPr>
            <a:r>
              <a:rPr lang="en-US" sz="2400" dirty="0"/>
              <a:t>reboot crashed server, re-join with state intact, catch up requires state that persists across crashes</a:t>
            </a:r>
          </a:p>
        </p:txBody>
      </p:sp>
    </p:spTree>
    <p:extLst>
      <p:ext uri="{BB962C8B-B14F-4D97-AF65-F5344CB8AC3E}">
        <p14:creationId xmlns:p14="http://schemas.microsoft.com/office/powerpoint/2010/main" val="401981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dissolve">
                                      <p:cBhvr>
                                        <p:cTn id="7" dur="500"/>
                                        <p:tgtEl>
                                          <p:spTgt spid="2">
                                            <p:txEl>
                                              <p:pRg st="3" end="3"/>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dissolve">
                                      <p:cBhvr>
                                        <p:cTn id="10" dur="500"/>
                                        <p:tgtEl>
                                          <p:spTgt spid="2">
                                            <p:txEl>
                                              <p:pRg st="4" end="4"/>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dissolve">
                                      <p:cBhvr>
                                        <p:cTn id="13"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F46E7-EFAE-9BD6-0C04-CC3C650B758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F6BF239-65AF-978A-FD6F-1B60A2423110}"/>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Persistent State</a:t>
            </a:r>
          </a:p>
        </p:txBody>
      </p:sp>
      <p:sp>
        <p:nvSpPr>
          <p:cNvPr id="8" name="Slide Number Placeholder 4">
            <a:extLst>
              <a:ext uri="{FF2B5EF4-FFF2-40B4-BE49-F238E27FC236}">
                <a16:creationId xmlns:a16="http://schemas.microsoft.com/office/drawing/2014/main" id="{93B6E9C0-4F30-0A93-4954-8BA93A731EE3}"/>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40</a:t>
            </a:fld>
            <a:endParaRPr lang="en-US"/>
          </a:p>
        </p:txBody>
      </p:sp>
      <p:sp>
        <p:nvSpPr>
          <p:cNvPr id="2" name="TextBox 1">
            <a:extLst>
              <a:ext uri="{FF2B5EF4-FFF2-40B4-BE49-F238E27FC236}">
                <a16:creationId xmlns:a16="http://schemas.microsoft.com/office/drawing/2014/main" id="{EB30D2F3-C33F-73A7-C870-FA21B45161B3}"/>
              </a:ext>
            </a:extLst>
          </p:cNvPr>
          <p:cNvSpPr txBox="1"/>
          <p:nvPr/>
        </p:nvSpPr>
        <p:spPr>
          <a:xfrm>
            <a:off x="341194" y="1050878"/>
            <a:ext cx="8366078" cy="4955203"/>
          </a:xfrm>
          <a:prstGeom prst="rect">
            <a:avLst/>
          </a:prstGeom>
          <a:noFill/>
        </p:spPr>
        <p:txBody>
          <a:bodyPr wrap="square" rtlCol="0">
            <a:spAutoFit/>
          </a:bodyPr>
          <a:lstStyle/>
          <a:p>
            <a:r>
              <a:rPr lang="en-US" sz="2800" b="1" dirty="0"/>
              <a:t>Three variables:</a:t>
            </a:r>
          </a:p>
          <a:p>
            <a:pPr marL="800100" lvl="1" indent="-342900">
              <a:buFont typeface="Arial" panose="020B0604020202020204" pitchFamily="34" charset="0"/>
              <a:buChar char="•"/>
            </a:pPr>
            <a:r>
              <a:rPr lang="en-US" sz="2400" dirty="0"/>
              <a:t>log[], </a:t>
            </a:r>
            <a:r>
              <a:rPr lang="en-US" sz="2400" dirty="0" err="1"/>
              <a:t>currentTerm</a:t>
            </a:r>
            <a:r>
              <a:rPr lang="en-US" sz="2400" dirty="0"/>
              <a:t>, </a:t>
            </a:r>
            <a:r>
              <a:rPr lang="en-US" sz="2400" dirty="0" err="1"/>
              <a:t>votedFor</a:t>
            </a:r>
            <a:endParaRPr lang="en-US" sz="2400" dirty="0"/>
          </a:p>
          <a:p>
            <a:endParaRPr lang="en-US" sz="2400" dirty="0"/>
          </a:p>
          <a:p>
            <a:r>
              <a:rPr lang="en-US" sz="2800" b="1" dirty="0"/>
              <a:t>Why log[]?</a:t>
            </a:r>
          </a:p>
          <a:p>
            <a:endParaRPr lang="en-US" sz="2400" dirty="0"/>
          </a:p>
          <a:p>
            <a:r>
              <a:rPr lang="en-US" sz="2800" b="1" dirty="0"/>
              <a:t>Why </a:t>
            </a:r>
            <a:r>
              <a:rPr lang="en-US" sz="2800" b="1" dirty="0" err="1"/>
              <a:t>votedFor</a:t>
            </a:r>
            <a:r>
              <a:rPr lang="en-US" sz="2800" b="1" dirty="0"/>
              <a:t>?</a:t>
            </a:r>
          </a:p>
          <a:p>
            <a:endParaRPr lang="en-US" sz="2400" dirty="0"/>
          </a:p>
          <a:p>
            <a:r>
              <a:rPr lang="en-US" sz="2800" b="1" dirty="0"/>
              <a:t>Why </a:t>
            </a:r>
            <a:r>
              <a:rPr lang="en-US" sz="2800" b="1" dirty="0" err="1"/>
              <a:t>currentTerm</a:t>
            </a:r>
            <a:r>
              <a:rPr lang="en-US" sz="2800" b="1" dirty="0"/>
              <a:t>?</a:t>
            </a:r>
          </a:p>
          <a:p>
            <a:endParaRPr lang="en-US" sz="3200" b="1" dirty="0"/>
          </a:p>
          <a:p>
            <a:r>
              <a:rPr lang="en-US" sz="2800" b="1" dirty="0"/>
              <a:t>Some Raft state is volatile</a:t>
            </a:r>
          </a:p>
          <a:p>
            <a:pPr marL="800100" lvl="1" indent="-342900">
              <a:buFont typeface="Arial" panose="020B0604020202020204" pitchFamily="34" charset="0"/>
              <a:buChar char="•"/>
            </a:pPr>
            <a:r>
              <a:rPr lang="en-US" sz="2400" dirty="0" err="1"/>
              <a:t>commitIndex</a:t>
            </a:r>
            <a:r>
              <a:rPr lang="en-US" sz="2400" dirty="0"/>
              <a:t>, </a:t>
            </a:r>
            <a:r>
              <a:rPr lang="en-US" sz="2400" dirty="0" err="1"/>
              <a:t>lastApplied</a:t>
            </a:r>
            <a:r>
              <a:rPr lang="en-US" sz="2400" dirty="0"/>
              <a:t>, next/</a:t>
            </a:r>
            <a:r>
              <a:rPr lang="en-US" sz="2400" dirty="0" err="1"/>
              <a:t>matchIndex</a:t>
            </a:r>
            <a:r>
              <a:rPr lang="en-US" sz="2400" dirty="0"/>
              <a:t>[]</a:t>
            </a:r>
          </a:p>
          <a:p>
            <a:pPr marL="800100" lvl="1" indent="-342900">
              <a:buFont typeface="Arial" panose="020B0604020202020204" pitchFamily="34" charset="0"/>
              <a:buChar char="•"/>
            </a:pPr>
            <a:r>
              <a:rPr lang="en-US" sz="2400" dirty="0"/>
              <a:t>why is it OK not to save these?</a:t>
            </a:r>
            <a:endParaRPr lang="en-US" sz="2400" b="1" dirty="0"/>
          </a:p>
        </p:txBody>
      </p:sp>
    </p:spTree>
    <p:extLst>
      <p:ext uri="{BB962C8B-B14F-4D97-AF65-F5344CB8AC3E}">
        <p14:creationId xmlns:p14="http://schemas.microsoft.com/office/powerpoint/2010/main" val="3380863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dissolve">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dissolve">
                                      <p:cBhvr>
                                        <p:cTn id="12" dur="500"/>
                                        <p:tgtEl>
                                          <p:spTgt spid="2">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animEffect transition="in" filter="dissolve">
                                      <p:cBhvr>
                                        <p:cTn id="17" dur="500"/>
                                        <p:tgtEl>
                                          <p:spTgt spid="2">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xEl>
                                              <p:pRg st="9" end="9"/>
                                            </p:txEl>
                                          </p:spTgt>
                                        </p:tgtEl>
                                        <p:attrNameLst>
                                          <p:attrName>style.visibility</p:attrName>
                                        </p:attrNameLst>
                                      </p:cBhvr>
                                      <p:to>
                                        <p:strVal val="visible"/>
                                      </p:to>
                                    </p:set>
                                    <p:animEffect transition="in" filter="dissolve">
                                      <p:cBhvr>
                                        <p:cTn id="22" dur="500"/>
                                        <p:tgtEl>
                                          <p:spTgt spid="2">
                                            <p:txEl>
                                              <p:pRg st="9" end="9"/>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2">
                                            <p:txEl>
                                              <p:pRg st="10" end="10"/>
                                            </p:txEl>
                                          </p:spTgt>
                                        </p:tgtEl>
                                        <p:attrNameLst>
                                          <p:attrName>style.visibility</p:attrName>
                                        </p:attrNameLst>
                                      </p:cBhvr>
                                      <p:to>
                                        <p:strVal val="visible"/>
                                      </p:to>
                                    </p:set>
                                    <p:animEffect transition="in" filter="dissolve">
                                      <p:cBhvr>
                                        <p:cTn id="25" dur="500"/>
                                        <p:tgtEl>
                                          <p:spTgt spid="2">
                                            <p:txEl>
                                              <p:pRg st="10" end="10"/>
                                            </p:txEl>
                                          </p:spTgt>
                                        </p:tgtEl>
                                      </p:cBhvr>
                                    </p:animEffect>
                                  </p:childTnLst>
                                </p:cTn>
                              </p:par>
                              <p:par>
                                <p:cTn id="26" presetID="9" presetClass="entr" presetSubtype="0" fill="hold" nodeType="withEffect">
                                  <p:stCondLst>
                                    <p:cond delay="0"/>
                                  </p:stCondLst>
                                  <p:childTnLst>
                                    <p:set>
                                      <p:cBhvr>
                                        <p:cTn id="27" dur="1" fill="hold">
                                          <p:stCondLst>
                                            <p:cond delay="0"/>
                                          </p:stCondLst>
                                        </p:cTn>
                                        <p:tgtEl>
                                          <p:spTgt spid="2">
                                            <p:txEl>
                                              <p:pRg st="11" end="11"/>
                                            </p:txEl>
                                          </p:spTgt>
                                        </p:tgtEl>
                                        <p:attrNameLst>
                                          <p:attrName>style.visibility</p:attrName>
                                        </p:attrNameLst>
                                      </p:cBhvr>
                                      <p:to>
                                        <p:strVal val="visible"/>
                                      </p:to>
                                    </p:set>
                                    <p:animEffect transition="in" filter="dissolve">
                                      <p:cBhvr>
                                        <p:cTn id="28"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6B510-CF9F-87C3-1C2E-C10609A1684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1F906EED-0E7E-B9BD-71F0-B9FA0BA3B5BE}"/>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Persistence is often the bottleneck</a:t>
            </a:r>
          </a:p>
        </p:txBody>
      </p:sp>
      <p:sp>
        <p:nvSpPr>
          <p:cNvPr id="8" name="Slide Number Placeholder 4">
            <a:extLst>
              <a:ext uri="{FF2B5EF4-FFF2-40B4-BE49-F238E27FC236}">
                <a16:creationId xmlns:a16="http://schemas.microsoft.com/office/drawing/2014/main" id="{608D63B1-91FC-9850-D0D7-8C50024D171B}"/>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41</a:t>
            </a:fld>
            <a:endParaRPr lang="en-US"/>
          </a:p>
        </p:txBody>
      </p:sp>
      <p:sp>
        <p:nvSpPr>
          <p:cNvPr id="2" name="TextBox 1">
            <a:extLst>
              <a:ext uri="{FF2B5EF4-FFF2-40B4-BE49-F238E27FC236}">
                <a16:creationId xmlns:a16="http://schemas.microsoft.com/office/drawing/2014/main" id="{8569D884-3ADB-45C9-EF50-9AF181834F2B}"/>
              </a:ext>
            </a:extLst>
          </p:cNvPr>
          <p:cNvSpPr txBox="1"/>
          <p:nvPr/>
        </p:nvSpPr>
        <p:spPr>
          <a:xfrm>
            <a:off x="165580" y="941296"/>
            <a:ext cx="9580728" cy="2431435"/>
          </a:xfrm>
          <a:prstGeom prst="rect">
            <a:avLst/>
          </a:prstGeom>
          <a:noFill/>
        </p:spPr>
        <p:txBody>
          <a:bodyPr wrap="square" rtlCol="0">
            <a:spAutoFit/>
          </a:bodyPr>
          <a:lstStyle/>
          <a:p>
            <a:r>
              <a:rPr lang="en-US" sz="2800" b="1" dirty="0"/>
              <a:t>A hard disk write takes 10 </a:t>
            </a:r>
            <a:r>
              <a:rPr lang="en-US" sz="2800" b="1" dirty="0" err="1"/>
              <a:t>ms</a:t>
            </a:r>
            <a:r>
              <a:rPr lang="en-US" sz="2800" b="1" dirty="0"/>
              <a:t>, SSD write takes 0.1 </a:t>
            </a:r>
            <a:r>
              <a:rPr lang="en-US" sz="2800" b="1" dirty="0" err="1"/>
              <a:t>ms</a:t>
            </a:r>
            <a:endParaRPr lang="en-US" sz="2800" b="1" dirty="0"/>
          </a:p>
          <a:p>
            <a:pPr marL="742950" lvl="1" indent="-285750">
              <a:buFont typeface="Arial" panose="020B0604020202020204" pitchFamily="34" charset="0"/>
              <a:buChar char="•"/>
            </a:pPr>
            <a:r>
              <a:rPr lang="en-US" sz="2400" dirty="0"/>
              <a:t>disk, SSD, battery-backed RAM, &amp;c</a:t>
            </a:r>
          </a:p>
          <a:p>
            <a:pPr marL="742950" lvl="1" indent="-285750">
              <a:buFont typeface="Arial" panose="020B0604020202020204" pitchFamily="34" charset="0"/>
              <a:buChar char="•"/>
            </a:pPr>
            <a:endParaRPr lang="en-US" sz="2400" dirty="0"/>
          </a:p>
          <a:p>
            <a:r>
              <a:rPr lang="en-US" sz="2800" b="1" dirty="0"/>
              <a:t>Lots of tricks to cope with slowness of persistence: </a:t>
            </a:r>
          </a:p>
          <a:p>
            <a:pPr marL="742950" lvl="1" indent="-285750">
              <a:buFont typeface="Arial" panose="020B0604020202020204" pitchFamily="34" charset="0"/>
              <a:buChar char="•"/>
            </a:pPr>
            <a:r>
              <a:rPr lang="en-US" sz="2400" dirty="0"/>
              <a:t>batch many new log entries per disk write </a:t>
            </a:r>
          </a:p>
          <a:p>
            <a:pPr marL="742950" lvl="1" indent="-285750">
              <a:buFont typeface="Arial" panose="020B0604020202020204" pitchFamily="34" charset="0"/>
              <a:buChar char="•"/>
            </a:pPr>
            <a:r>
              <a:rPr lang="en-US" sz="2400" dirty="0"/>
              <a:t>persist to battery-backed RAM, not disk</a:t>
            </a:r>
          </a:p>
        </p:txBody>
      </p:sp>
    </p:spTree>
    <p:extLst>
      <p:ext uri="{BB962C8B-B14F-4D97-AF65-F5344CB8AC3E}">
        <p14:creationId xmlns:p14="http://schemas.microsoft.com/office/powerpoint/2010/main" val="801546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10DB5-C7DC-CE9F-CB71-B74FBE95EB4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6FB372B-BC5E-03A5-47FB-6987CFA7CE01}"/>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Log Compaction</a:t>
            </a:r>
          </a:p>
        </p:txBody>
      </p:sp>
      <p:sp>
        <p:nvSpPr>
          <p:cNvPr id="8" name="Slide Number Placeholder 4">
            <a:extLst>
              <a:ext uri="{FF2B5EF4-FFF2-40B4-BE49-F238E27FC236}">
                <a16:creationId xmlns:a16="http://schemas.microsoft.com/office/drawing/2014/main" id="{5924D16A-6AF3-CC90-589B-E1B888497CA0}"/>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42</a:t>
            </a:fld>
            <a:endParaRPr lang="en-US"/>
          </a:p>
        </p:txBody>
      </p:sp>
      <p:sp>
        <p:nvSpPr>
          <p:cNvPr id="2" name="TextBox 1">
            <a:extLst>
              <a:ext uri="{FF2B5EF4-FFF2-40B4-BE49-F238E27FC236}">
                <a16:creationId xmlns:a16="http://schemas.microsoft.com/office/drawing/2014/main" id="{B1CEF745-F084-FDC8-CFE4-4824D558F80F}"/>
              </a:ext>
            </a:extLst>
          </p:cNvPr>
          <p:cNvSpPr txBox="1"/>
          <p:nvPr/>
        </p:nvSpPr>
        <p:spPr>
          <a:xfrm>
            <a:off x="136479" y="914401"/>
            <a:ext cx="10420417" cy="5816977"/>
          </a:xfrm>
          <a:prstGeom prst="rect">
            <a:avLst/>
          </a:prstGeom>
          <a:noFill/>
        </p:spPr>
        <p:txBody>
          <a:bodyPr wrap="none" rtlCol="0">
            <a:spAutoFit/>
          </a:bodyPr>
          <a:lstStyle/>
          <a:p>
            <a:r>
              <a:rPr lang="en-US" sz="2800" b="1" dirty="0"/>
              <a:t>How does the service recover its state after a </a:t>
            </a:r>
            <a:r>
              <a:rPr lang="en-US" sz="2800" b="1" dirty="0" err="1"/>
              <a:t>crash+reboot</a:t>
            </a:r>
            <a:r>
              <a:rPr lang="en-US" sz="2800" b="1" dirty="0"/>
              <a:t>?</a:t>
            </a:r>
          </a:p>
          <a:p>
            <a:pPr marL="800100" lvl="1" indent="-342900">
              <a:buFont typeface="Arial" panose="020B0604020202020204" pitchFamily="34" charset="0"/>
              <a:buChar char="•"/>
            </a:pPr>
            <a:r>
              <a:rPr lang="en-US" sz="2400" dirty="0"/>
              <a:t>easy approach: start with empty state, re-play Raft's entire persisted log</a:t>
            </a:r>
          </a:p>
          <a:p>
            <a:pPr marL="800100" lvl="1" indent="-342900">
              <a:buFont typeface="Arial" panose="020B0604020202020204" pitchFamily="34" charset="0"/>
              <a:buChar char="•"/>
            </a:pPr>
            <a:r>
              <a:rPr lang="en-US" sz="2400" dirty="0"/>
              <a:t>problem: </a:t>
            </a:r>
          </a:p>
          <a:p>
            <a:pPr marL="1257300" lvl="2" indent="-342900">
              <a:buFont typeface="Courier New" panose="02070309020205020404" pitchFamily="49" charset="0"/>
              <a:buChar char="o"/>
            </a:pPr>
            <a:r>
              <a:rPr lang="en-US" sz="2400" dirty="0"/>
              <a:t>log will get to be huge </a:t>
            </a:r>
          </a:p>
          <a:p>
            <a:pPr marL="1257300" lvl="2" indent="-342900">
              <a:buFont typeface="Courier New" panose="02070309020205020404" pitchFamily="49" charset="0"/>
              <a:buChar char="o"/>
            </a:pPr>
            <a:r>
              <a:rPr lang="en-US" sz="2400" dirty="0"/>
              <a:t>re-play will be too slow for a long-lived system</a:t>
            </a:r>
          </a:p>
          <a:p>
            <a:endParaRPr lang="en-US" sz="2400" dirty="0"/>
          </a:p>
          <a:p>
            <a:r>
              <a:rPr lang="en-US" sz="2800" b="1" dirty="0"/>
              <a:t>Insight:</a:t>
            </a:r>
          </a:p>
          <a:p>
            <a:pPr marL="800100" lvl="1" indent="-342900">
              <a:buFont typeface="Arial" panose="020B0604020202020204" pitchFamily="34" charset="0"/>
              <a:buChar char="•"/>
            </a:pPr>
            <a:r>
              <a:rPr lang="en-US" sz="2400" dirty="0"/>
              <a:t>clients only see the state, not the log</a:t>
            </a:r>
          </a:p>
          <a:p>
            <a:pPr marL="800100" lvl="1" indent="-342900">
              <a:buFont typeface="Arial" panose="020B0604020202020204" pitchFamily="34" charset="0"/>
              <a:buChar char="•"/>
            </a:pPr>
            <a:r>
              <a:rPr lang="en-US" sz="2400" dirty="0"/>
              <a:t>Service state usually much smaller, so let's keep just that</a:t>
            </a:r>
          </a:p>
          <a:p>
            <a:pPr marL="800100" lvl="1" indent="-342900">
              <a:buFont typeface="Arial" panose="020B0604020202020204" pitchFamily="34" charset="0"/>
              <a:buChar char="•"/>
            </a:pPr>
            <a:endParaRPr lang="en-US" sz="2400" dirty="0"/>
          </a:p>
          <a:p>
            <a:r>
              <a:rPr lang="en-US" sz="2800" b="1" dirty="0"/>
              <a:t>Solution: ”</a:t>
            </a:r>
            <a:r>
              <a:rPr lang="en-US" sz="2800" b="1" dirty="0" err="1"/>
              <a:t>SnapShot</a:t>
            </a:r>
            <a:r>
              <a:rPr lang="en-US" sz="2800" b="1" dirty="0"/>
              <a:t>”</a:t>
            </a:r>
          </a:p>
          <a:p>
            <a:pPr marL="800100" lvl="1" indent="-342900">
              <a:buFont typeface="Arial" panose="020B0604020202020204" pitchFamily="34" charset="0"/>
              <a:buChar char="•"/>
            </a:pPr>
            <a:r>
              <a:rPr lang="en-US" sz="2400" dirty="0"/>
              <a:t>service periodically creates persistent "snapshot”</a:t>
            </a:r>
            <a:endParaRPr lang="en-US" sz="2800" b="1" dirty="0"/>
          </a:p>
          <a:p>
            <a:pPr marL="800100" lvl="1" indent="-342900">
              <a:buFont typeface="Arial" panose="020B0604020202020204" pitchFamily="34" charset="0"/>
              <a:buChar char="•"/>
            </a:pPr>
            <a:r>
              <a:rPr lang="en-US" sz="2400" dirty="0"/>
              <a:t>service writes snapshot to persistent storage </a:t>
            </a:r>
            <a:endParaRPr lang="en-US" sz="2800" b="1" dirty="0"/>
          </a:p>
          <a:p>
            <a:pPr marL="800100" lvl="1" indent="-342900">
              <a:buFont typeface="Arial" panose="020B0604020202020204" pitchFamily="34" charset="0"/>
              <a:buChar char="•"/>
            </a:pPr>
            <a:r>
              <a:rPr lang="en-US" sz="2400" dirty="0"/>
              <a:t>service tells Raft it is snapshotted </a:t>
            </a:r>
            <a:endParaRPr lang="en-US" sz="2800" b="1" dirty="0"/>
          </a:p>
          <a:p>
            <a:pPr marL="800100" lvl="1" indent="-342900">
              <a:buFont typeface="Arial" panose="020B0604020202020204" pitchFamily="34" charset="0"/>
              <a:buChar char="•"/>
            </a:pPr>
            <a:r>
              <a:rPr lang="en-US" sz="2400" dirty="0"/>
              <a:t>Raft discards log before that index</a:t>
            </a:r>
            <a:endParaRPr lang="en-US" sz="2400" b="1" dirty="0"/>
          </a:p>
        </p:txBody>
      </p:sp>
    </p:spTree>
    <p:extLst>
      <p:ext uri="{BB962C8B-B14F-4D97-AF65-F5344CB8AC3E}">
        <p14:creationId xmlns:p14="http://schemas.microsoft.com/office/powerpoint/2010/main" val="221865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dissolve">
                                      <p:cBhvr>
                                        <p:cTn id="7" dur="500"/>
                                        <p:tgtEl>
                                          <p:spTgt spid="2">
                                            <p:txEl>
                                              <p:pRg st="6" end="6"/>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
                                            <p:txEl>
                                              <p:pRg st="7" end="7"/>
                                            </p:txEl>
                                          </p:spTgt>
                                        </p:tgtEl>
                                        <p:attrNameLst>
                                          <p:attrName>style.visibility</p:attrName>
                                        </p:attrNameLst>
                                      </p:cBhvr>
                                      <p:to>
                                        <p:strVal val="visible"/>
                                      </p:to>
                                    </p:set>
                                    <p:animEffect transition="in" filter="dissolve">
                                      <p:cBhvr>
                                        <p:cTn id="10" dur="500"/>
                                        <p:tgtEl>
                                          <p:spTgt spid="2">
                                            <p:txEl>
                                              <p:pRg st="7" end="7"/>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animEffect transition="in" filter="dissolve">
                                      <p:cBhvr>
                                        <p:cTn id="13" dur="500"/>
                                        <p:tgtEl>
                                          <p:spTgt spid="2">
                                            <p:txEl>
                                              <p:pRg st="8" end="8"/>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
                                            <p:txEl>
                                              <p:pRg st="10" end="10"/>
                                            </p:txEl>
                                          </p:spTgt>
                                        </p:tgtEl>
                                        <p:attrNameLst>
                                          <p:attrName>style.visibility</p:attrName>
                                        </p:attrNameLst>
                                      </p:cBhvr>
                                      <p:to>
                                        <p:strVal val="visible"/>
                                      </p:to>
                                    </p:set>
                                    <p:animEffect transition="in" filter="dissolve">
                                      <p:cBhvr>
                                        <p:cTn id="18" dur="500"/>
                                        <p:tgtEl>
                                          <p:spTgt spid="2">
                                            <p:txEl>
                                              <p:pRg st="10" end="10"/>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2">
                                            <p:txEl>
                                              <p:pRg st="11" end="11"/>
                                            </p:txEl>
                                          </p:spTgt>
                                        </p:tgtEl>
                                        <p:attrNameLst>
                                          <p:attrName>style.visibility</p:attrName>
                                        </p:attrNameLst>
                                      </p:cBhvr>
                                      <p:to>
                                        <p:strVal val="visible"/>
                                      </p:to>
                                    </p:set>
                                    <p:animEffect transition="in" filter="dissolve">
                                      <p:cBhvr>
                                        <p:cTn id="21" dur="500"/>
                                        <p:tgtEl>
                                          <p:spTgt spid="2">
                                            <p:txEl>
                                              <p:pRg st="11" end="11"/>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2">
                                            <p:txEl>
                                              <p:pRg st="12" end="12"/>
                                            </p:txEl>
                                          </p:spTgt>
                                        </p:tgtEl>
                                        <p:attrNameLst>
                                          <p:attrName>style.visibility</p:attrName>
                                        </p:attrNameLst>
                                      </p:cBhvr>
                                      <p:to>
                                        <p:strVal val="visible"/>
                                      </p:to>
                                    </p:set>
                                    <p:animEffect transition="in" filter="dissolve">
                                      <p:cBhvr>
                                        <p:cTn id="24" dur="500"/>
                                        <p:tgtEl>
                                          <p:spTgt spid="2">
                                            <p:txEl>
                                              <p:pRg st="12" end="12"/>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2">
                                            <p:txEl>
                                              <p:pRg st="13" end="13"/>
                                            </p:txEl>
                                          </p:spTgt>
                                        </p:tgtEl>
                                        <p:attrNameLst>
                                          <p:attrName>style.visibility</p:attrName>
                                        </p:attrNameLst>
                                      </p:cBhvr>
                                      <p:to>
                                        <p:strVal val="visible"/>
                                      </p:to>
                                    </p:set>
                                    <p:animEffect transition="in" filter="dissolve">
                                      <p:cBhvr>
                                        <p:cTn id="27" dur="500"/>
                                        <p:tgtEl>
                                          <p:spTgt spid="2">
                                            <p:txEl>
                                              <p:pRg st="13" end="13"/>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2">
                                            <p:txEl>
                                              <p:pRg st="14" end="14"/>
                                            </p:txEl>
                                          </p:spTgt>
                                        </p:tgtEl>
                                        <p:attrNameLst>
                                          <p:attrName>style.visibility</p:attrName>
                                        </p:attrNameLst>
                                      </p:cBhvr>
                                      <p:to>
                                        <p:strVal val="visible"/>
                                      </p:to>
                                    </p:set>
                                    <p:animEffect transition="in" filter="dissolve">
                                      <p:cBhvr>
                                        <p:cTn id="30" dur="5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CFBB9-2A9B-1C98-1184-5D1AA7B7B3C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47B7DA5-22FB-FED9-35A9-8F4081A7AA6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Log Compaction</a:t>
            </a:r>
          </a:p>
        </p:txBody>
      </p:sp>
      <p:sp>
        <p:nvSpPr>
          <p:cNvPr id="8" name="Slide Number Placeholder 4">
            <a:extLst>
              <a:ext uri="{FF2B5EF4-FFF2-40B4-BE49-F238E27FC236}">
                <a16:creationId xmlns:a16="http://schemas.microsoft.com/office/drawing/2014/main" id="{B8AD5BBB-40F6-C98D-D3BB-0A1449332E08}"/>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43</a:t>
            </a:fld>
            <a:endParaRPr lang="en-US"/>
          </a:p>
        </p:txBody>
      </p:sp>
      <p:sp>
        <p:nvSpPr>
          <p:cNvPr id="2" name="TextBox 1">
            <a:extLst>
              <a:ext uri="{FF2B5EF4-FFF2-40B4-BE49-F238E27FC236}">
                <a16:creationId xmlns:a16="http://schemas.microsoft.com/office/drawing/2014/main" id="{C2B8C594-B511-10F0-6240-C35C831649DF}"/>
              </a:ext>
            </a:extLst>
          </p:cNvPr>
          <p:cNvSpPr txBox="1"/>
          <p:nvPr/>
        </p:nvSpPr>
        <p:spPr>
          <a:xfrm>
            <a:off x="162636" y="1078174"/>
            <a:ext cx="11054686" cy="3539430"/>
          </a:xfrm>
          <a:prstGeom prst="rect">
            <a:avLst/>
          </a:prstGeom>
          <a:noFill/>
        </p:spPr>
        <p:txBody>
          <a:bodyPr wrap="square" rtlCol="0">
            <a:spAutoFit/>
          </a:bodyPr>
          <a:lstStyle/>
          <a:p>
            <a:r>
              <a:rPr lang="en-US" sz="2800" b="1" dirty="0"/>
              <a:t>What happens on </a:t>
            </a:r>
            <a:r>
              <a:rPr lang="en-US" sz="2800" b="1" dirty="0" err="1"/>
              <a:t>crash+restart</a:t>
            </a:r>
            <a:r>
              <a:rPr lang="en-US" sz="2800" b="1" dirty="0"/>
              <a:t>? </a:t>
            </a:r>
          </a:p>
          <a:p>
            <a:pPr marL="800100" lvl="1" indent="-342900">
              <a:buFont typeface="Arial" panose="020B0604020202020204" pitchFamily="34" charset="0"/>
              <a:buChar char="•"/>
            </a:pPr>
            <a:r>
              <a:rPr lang="en-US" sz="2400" dirty="0"/>
              <a:t>service reads snapshot from disk </a:t>
            </a:r>
          </a:p>
          <a:p>
            <a:pPr marL="800100" lvl="1" indent="-342900">
              <a:buFont typeface="Arial" panose="020B0604020202020204" pitchFamily="34" charset="0"/>
              <a:buChar char="•"/>
            </a:pPr>
            <a:r>
              <a:rPr lang="en-US" sz="2400" dirty="0"/>
              <a:t>Raft reads persisted log from disk </a:t>
            </a:r>
          </a:p>
          <a:p>
            <a:pPr marL="800100" lvl="1" indent="-342900">
              <a:buFont typeface="Arial" panose="020B0604020202020204" pitchFamily="34" charset="0"/>
              <a:buChar char="•"/>
            </a:pPr>
            <a:r>
              <a:rPr lang="en-US" sz="2400" dirty="0"/>
              <a:t>service tells Raft to set </a:t>
            </a:r>
            <a:r>
              <a:rPr lang="en-US" sz="2400" dirty="0" err="1"/>
              <a:t>lastApplied</a:t>
            </a:r>
            <a:r>
              <a:rPr lang="en-US" sz="2400" dirty="0"/>
              <a:t> to last included index to avoid re-applying already-applied log entries</a:t>
            </a:r>
          </a:p>
          <a:p>
            <a:endParaRPr lang="en-US" sz="2400" dirty="0"/>
          </a:p>
          <a:p>
            <a:r>
              <a:rPr lang="en-US" sz="2800" b="1" dirty="0"/>
              <a:t>Problem: What if follower's log ends before leader's log starts?</a:t>
            </a:r>
          </a:p>
          <a:p>
            <a:pPr marL="800100" lvl="1" indent="-342900">
              <a:buFont typeface="Arial" panose="020B0604020202020204" pitchFamily="34" charset="0"/>
              <a:buChar char="•"/>
            </a:pPr>
            <a:r>
              <a:rPr lang="en-US" sz="2400" dirty="0"/>
              <a:t>leader can't repair that follower with </a:t>
            </a:r>
            <a:r>
              <a:rPr lang="en-US" sz="2400" dirty="0" err="1"/>
              <a:t>AppendEntries</a:t>
            </a:r>
            <a:r>
              <a:rPr lang="en-US" sz="2400" dirty="0"/>
              <a:t> RPCs</a:t>
            </a:r>
          </a:p>
          <a:p>
            <a:pPr marL="800100" lvl="1" indent="-342900">
              <a:buFont typeface="Arial" panose="020B0604020202020204" pitchFamily="34" charset="0"/>
              <a:buChar char="•"/>
            </a:pPr>
            <a:r>
              <a:rPr lang="en-US" sz="2400" dirty="0" err="1"/>
              <a:t>InstallSnapshot</a:t>
            </a:r>
            <a:r>
              <a:rPr lang="en-US" sz="2400" dirty="0"/>
              <a:t> RPC</a:t>
            </a:r>
          </a:p>
        </p:txBody>
      </p:sp>
    </p:spTree>
    <p:extLst>
      <p:ext uri="{BB962C8B-B14F-4D97-AF65-F5344CB8AC3E}">
        <p14:creationId xmlns:p14="http://schemas.microsoft.com/office/powerpoint/2010/main" val="70035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dissolve">
                                      <p:cBhvr>
                                        <p:cTn id="7" dur="500"/>
                                        <p:tgtEl>
                                          <p:spTgt spid="2">
                                            <p:txEl>
                                              <p:pRg st="5" end="5"/>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dissolve">
                                      <p:cBhvr>
                                        <p:cTn id="10" dur="500"/>
                                        <p:tgtEl>
                                          <p:spTgt spid="2">
                                            <p:txEl>
                                              <p:pRg st="6" end="6"/>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animEffect transition="in" filter="dissolve">
                                      <p:cBhvr>
                                        <p:cTn id="13"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3F045-0E6B-6239-C2C4-759DA78E7AF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2DD144C-0540-859E-55B4-0168450DCFD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Quiz Attendance</a:t>
            </a:r>
          </a:p>
        </p:txBody>
      </p:sp>
      <p:sp>
        <p:nvSpPr>
          <p:cNvPr id="8" name="Slide Number Placeholder 4">
            <a:extLst>
              <a:ext uri="{FF2B5EF4-FFF2-40B4-BE49-F238E27FC236}">
                <a16:creationId xmlns:a16="http://schemas.microsoft.com/office/drawing/2014/main" id="{C636C29B-B531-1445-ABBD-A7580D3983A7}"/>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44</a:t>
            </a:fld>
            <a:endParaRPr lang="en-US"/>
          </a:p>
        </p:txBody>
      </p:sp>
      <p:sp>
        <p:nvSpPr>
          <p:cNvPr id="3" name="TextBox 2">
            <a:extLst>
              <a:ext uri="{FF2B5EF4-FFF2-40B4-BE49-F238E27FC236}">
                <a16:creationId xmlns:a16="http://schemas.microsoft.com/office/drawing/2014/main" id="{4DB265F8-3D7F-16A8-0CDB-566062C652CC}"/>
              </a:ext>
            </a:extLst>
          </p:cNvPr>
          <p:cNvSpPr txBox="1"/>
          <p:nvPr/>
        </p:nvSpPr>
        <p:spPr>
          <a:xfrm>
            <a:off x="2924735" y="5351944"/>
            <a:ext cx="6096000" cy="461665"/>
          </a:xfrm>
          <a:prstGeom prst="rect">
            <a:avLst/>
          </a:prstGeom>
          <a:noFill/>
        </p:spPr>
        <p:txBody>
          <a:bodyPr wrap="square">
            <a:spAutoFit/>
          </a:bodyPr>
          <a:lstStyle/>
          <a:p>
            <a:r>
              <a:rPr lang="en-US" sz="2400" dirty="0">
                <a:hlinkClick r:id="rId3"/>
              </a:rPr>
              <a:t>https://forms.gle/Ln2N5fwHiAoDCvBT6</a:t>
            </a:r>
            <a:endParaRPr lang="en-US" sz="2400" dirty="0"/>
          </a:p>
        </p:txBody>
      </p:sp>
      <p:pic>
        <p:nvPicPr>
          <p:cNvPr id="5" name="Picture 4" descr="A qr code on a white background&#10;&#10;Description automatically generated">
            <a:extLst>
              <a:ext uri="{FF2B5EF4-FFF2-40B4-BE49-F238E27FC236}">
                <a16:creationId xmlns:a16="http://schemas.microsoft.com/office/drawing/2014/main" id="{BB734B0F-09F5-4438-846E-213D00D31C96}"/>
              </a:ext>
            </a:extLst>
          </p:cNvPr>
          <p:cNvPicPr>
            <a:picLocks noChangeAspect="1"/>
          </p:cNvPicPr>
          <p:nvPr/>
        </p:nvPicPr>
        <p:blipFill>
          <a:blip r:embed="rId4"/>
          <a:stretch>
            <a:fillRect/>
          </a:stretch>
        </p:blipFill>
        <p:spPr>
          <a:xfrm>
            <a:off x="3756212" y="730623"/>
            <a:ext cx="4433047" cy="4433047"/>
          </a:xfrm>
          <a:prstGeom prst="rect">
            <a:avLst/>
          </a:prstGeom>
        </p:spPr>
      </p:pic>
    </p:spTree>
    <p:extLst>
      <p:ext uri="{BB962C8B-B14F-4D97-AF65-F5344CB8AC3E}">
        <p14:creationId xmlns:p14="http://schemas.microsoft.com/office/powerpoint/2010/main" val="2824935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3F045-0E6B-6239-C2C4-759DA78E7AF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2DD144C-0540-859E-55B4-0168450DCFD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Quiz</a:t>
            </a:r>
          </a:p>
        </p:txBody>
      </p:sp>
      <p:sp>
        <p:nvSpPr>
          <p:cNvPr id="8" name="Slide Number Placeholder 4">
            <a:extLst>
              <a:ext uri="{FF2B5EF4-FFF2-40B4-BE49-F238E27FC236}">
                <a16:creationId xmlns:a16="http://schemas.microsoft.com/office/drawing/2014/main" id="{C636C29B-B531-1445-ABBD-A7580D3983A7}"/>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44</a:t>
            </a:fld>
            <a:endParaRPr lang="en-US"/>
          </a:p>
        </p:txBody>
      </p:sp>
      <p:sp>
        <p:nvSpPr>
          <p:cNvPr id="3" name="TextBox 2">
            <a:extLst>
              <a:ext uri="{FF2B5EF4-FFF2-40B4-BE49-F238E27FC236}">
                <a16:creationId xmlns:a16="http://schemas.microsoft.com/office/drawing/2014/main" id="{4DB265F8-3D7F-16A8-0CDB-566062C652CC}"/>
              </a:ext>
            </a:extLst>
          </p:cNvPr>
          <p:cNvSpPr txBox="1"/>
          <p:nvPr/>
        </p:nvSpPr>
        <p:spPr>
          <a:xfrm>
            <a:off x="2924735" y="5351944"/>
            <a:ext cx="6096000" cy="461665"/>
          </a:xfrm>
          <a:prstGeom prst="rect">
            <a:avLst/>
          </a:prstGeom>
          <a:noFill/>
        </p:spPr>
        <p:txBody>
          <a:bodyPr wrap="square">
            <a:spAutoFit/>
          </a:bodyPr>
          <a:lstStyle/>
          <a:p>
            <a:r>
              <a:rPr lang="en-US" sz="2400" dirty="0">
                <a:hlinkClick r:id="rId3"/>
              </a:rPr>
              <a:t>https://forms.gle/tnjNUFKsbhY5ekc4A</a:t>
            </a:r>
            <a:endParaRPr lang="en-US" sz="2400" dirty="0"/>
          </a:p>
        </p:txBody>
      </p:sp>
      <p:pic>
        <p:nvPicPr>
          <p:cNvPr id="5" name="Picture 4" descr="A qr code on a white background&#10;&#10;Description automatically generated">
            <a:extLst>
              <a:ext uri="{FF2B5EF4-FFF2-40B4-BE49-F238E27FC236}">
                <a16:creationId xmlns:a16="http://schemas.microsoft.com/office/drawing/2014/main" id="{BB734B0F-09F5-4438-846E-213D00D31C96}"/>
              </a:ext>
            </a:extLst>
          </p:cNvPr>
          <p:cNvPicPr>
            <a:picLocks noChangeAspect="1"/>
          </p:cNvPicPr>
          <p:nvPr/>
        </p:nvPicPr>
        <p:blipFill>
          <a:blip r:embed="rId4"/>
          <a:stretch>
            <a:fillRect/>
          </a:stretch>
        </p:blipFill>
        <p:spPr>
          <a:xfrm>
            <a:off x="3756212" y="730623"/>
            <a:ext cx="4433047" cy="4433047"/>
          </a:xfrm>
          <a:prstGeom prst="rect">
            <a:avLst/>
          </a:prstGeom>
        </p:spPr>
      </p:pic>
    </p:spTree>
    <p:extLst>
      <p:ext uri="{BB962C8B-B14F-4D97-AF65-F5344CB8AC3E}">
        <p14:creationId xmlns:p14="http://schemas.microsoft.com/office/powerpoint/2010/main" val="2824935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3111</TotalTime>
  <Words>3483</Words>
  <Application>Microsoft Macintosh PowerPoint</Application>
  <PresentationFormat>Widescreen</PresentationFormat>
  <Paragraphs>517</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Courier New</vt:lpstr>
      <vt:lpstr>Helvetica</vt:lpstr>
      <vt:lpstr>Helvetica Neue</vt:lpstr>
      <vt:lpstr>Office Theme</vt:lpstr>
      <vt:lpstr>Lecture 6: Consensus II Fall 2026                            </vt:lpstr>
      <vt:lpstr>Administrivia</vt:lpstr>
      <vt:lpstr>Crash</vt:lpstr>
      <vt:lpstr>Log Operation</vt:lpstr>
      <vt:lpstr>Leader Changes</vt:lpstr>
      <vt:lpstr>Crashes can Leave Log Disagree</vt:lpstr>
      <vt:lpstr>Challenge: Log Inconsistencies</vt:lpstr>
      <vt:lpstr>Safety Requirement</vt:lpstr>
      <vt:lpstr>Repairing Follower Logs</vt:lpstr>
      <vt:lpstr>Consistency Check</vt:lpstr>
      <vt:lpstr>Repairing Follower Logs</vt:lpstr>
      <vt:lpstr>Repairing Follower Logs</vt:lpstr>
      <vt:lpstr>Picking The Best Leader</vt:lpstr>
      <vt:lpstr>Restricted Leader Election</vt:lpstr>
      <vt:lpstr>Committing Entry From Current Term</vt:lpstr>
      <vt:lpstr>Committing Entry From Earlier Term</vt:lpstr>
      <vt:lpstr>Persistence</vt:lpstr>
      <vt:lpstr>Persistent State</vt:lpstr>
      <vt:lpstr>Persistence is often the bottleneck</vt:lpstr>
      <vt:lpstr>Log Compaction</vt:lpstr>
      <vt:lpstr>Log Compaction</vt:lpstr>
      <vt:lpstr>Quiz Attendance</vt:lpstr>
      <vt:lpstr>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 Yigong</dc:creator>
  <cp:lastModifiedBy>Hu, Yigong</cp:lastModifiedBy>
  <cp:revision>2</cp:revision>
  <dcterms:created xsi:type="dcterms:W3CDTF">2026-02-15T17:21:02Z</dcterms:created>
  <dcterms:modified xsi:type="dcterms:W3CDTF">2026-09-17T00:29:01Z</dcterms:modified>
</cp:coreProperties>
</file>