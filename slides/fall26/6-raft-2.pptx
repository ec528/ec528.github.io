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media/image11.jpg" ContentType="image/jpg"/>
  <Override PartName="/ppt/media/image12.jpg" ContentType="image/jpg"/>
  <Override PartName="/ppt/media/image13.jpg" ContentType="image/jpg"/>
  <Override PartName="/ppt/media/image15.jpg" ContentType="image/jpg"/>
  <Override PartName="/ppt/media/image16.jpg" ContentType="image/jpg"/>
  <Override PartName="/ppt/media/image17.jpg" ContentType="image/jpg"/>
  <Override PartName="/ppt/media/image18.jpg" ContentType="image/jpg"/>
  <Override PartName="/ppt/media/image20.jpg" ContentType="image/jpg"/>
  <Override PartName="/ppt/media/image21.jpg" ContentType="image/jpg"/>
  <Override PartName="/ppt/media/image22.jpg" ContentType="image/jpg"/>
  <Override PartName="/ppt/media/image25.jpg" ContentType="image/jpg"/>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422" r:id="rId54"/>
    <p:sldId id="426" r:id="rId55"/>
    <p:sldId id="473" r:id="rId56"/>
    <p:sldId id="474" r:id="rId57"/>
    <p:sldId id="445" r:id="rId58"/>
    <p:sldId id="446" r:id="rId59"/>
    <p:sldId id="448" r:id="rId60"/>
    <p:sldId id="450" r:id="rId61"/>
    <p:sldId id="451" r:id="rId62"/>
    <p:sldId id="452" r:id="rId63"/>
    <p:sldId id="449" r:id="rId64"/>
    <p:sldId id="447" r:id="rId65"/>
    <p:sldId id="470" r:id="rId66"/>
    <p:sldId id="453" r:id="rId67"/>
    <p:sldId id="454" r:id="rId68"/>
    <p:sldId id="455" r:id="rId69"/>
    <p:sldId id="456" r:id="rId70"/>
    <p:sldId id="457" r:id="rId71"/>
    <p:sldId id="461" r:id="rId72"/>
    <p:sldId id="458" r:id="rId73"/>
    <p:sldId id="459" r:id="rId74"/>
    <p:sldId id="460" r:id="rId75"/>
    <p:sldId id="462" r:id="rId76"/>
    <p:sldId id="471" r:id="rId77"/>
    <p:sldId id="472" r:id="rId7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6478294-79E4-AF40-BA36-FB117090586D}" v="263" dt="2026-02-18T23:15:57.0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22"/>
    <p:restoredTop sz="82961"/>
  </p:normalViewPr>
  <p:slideViewPr>
    <p:cSldViewPr snapToGrid="0">
      <p:cViewPr varScale="1">
        <p:scale>
          <a:sx n="104" d="100"/>
          <a:sy n="104" d="100"/>
        </p:scale>
        <p:origin x="104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54" Type="http://schemas.openxmlformats.org/officeDocument/2006/relationships/slide" Target="slides/slide1.xml"/><Relationship Id="rId55" Type="http://schemas.openxmlformats.org/officeDocument/2006/relationships/slide" Target="slides/slide2.xml"/><Relationship Id="rId56" Type="http://schemas.openxmlformats.org/officeDocument/2006/relationships/slide" Target="slides/slide3.xml"/><Relationship Id="rId57" Type="http://schemas.openxmlformats.org/officeDocument/2006/relationships/slide" Target="slides/slide4.xml"/><Relationship Id="rId58" Type="http://schemas.openxmlformats.org/officeDocument/2006/relationships/slide" Target="slides/slide5.xml"/><Relationship Id="rId59" Type="http://schemas.openxmlformats.org/officeDocument/2006/relationships/slide" Target="slides/slide6.xml"/><Relationship Id="rId60" Type="http://schemas.openxmlformats.org/officeDocument/2006/relationships/slide" Target="slides/slide7.xml"/><Relationship Id="rId61" Type="http://schemas.openxmlformats.org/officeDocument/2006/relationships/slide" Target="slides/slide8.xml"/><Relationship Id="rId62" Type="http://schemas.openxmlformats.org/officeDocument/2006/relationships/slide" Target="slides/slide9.xml"/><Relationship Id="rId63" Type="http://schemas.openxmlformats.org/officeDocument/2006/relationships/slide" Target="slides/slide10.xml"/><Relationship Id="rId64" Type="http://schemas.openxmlformats.org/officeDocument/2006/relationships/slide" Target="slides/slide11.xml"/><Relationship Id="rId65" Type="http://schemas.openxmlformats.org/officeDocument/2006/relationships/slide" Target="slides/slide12.xml"/><Relationship Id="rId66" Type="http://schemas.openxmlformats.org/officeDocument/2006/relationships/slide" Target="slides/slide13.xml"/><Relationship Id="rId67" Type="http://schemas.openxmlformats.org/officeDocument/2006/relationships/slide" Target="slides/slide14.xml"/><Relationship Id="rId68" Type="http://schemas.openxmlformats.org/officeDocument/2006/relationships/slide" Target="slides/slide15.xml"/><Relationship Id="rId69" Type="http://schemas.openxmlformats.org/officeDocument/2006/relationships/slide" Target="slides/slide16.xml"/><Relationship Id="rId70" Type="http://schemas.openxmlformats.org/officeDocument/2006/relationships/slide" Target="slides/slide17.xml"/><Relationship Id="rId71" Type="http://schemas.openxmlformats.org/officeDocument/2006/relationships/slide" Target="slides/slide18.xml"/><Relationship Id="rId72" Type="http://schemas.openxmlformats.org/officeDocument/2006/relationships/slide" Target="slides/slide19.xml"/><Relationship Id="rId73" Type="http://schemas.openxmlformats.org/officeDocument/2006/relationships/slide" Target="slides/slide20.xml"/><Relationship Id="rId74" Type="http://schemas.openxmlformats.org/officeDocument/2006/relationships/slide" Target="slides/slide21.xml"/><Relationship Id="rId75" Type="http://schemas.openxmlformats.org/officeDocument/2006/relationships/slide" Target="slides/slide22.xml"/><Relationship Id="rId76" Type="http://schemas.openxmlformats.org/officeDocument/2006/relationships/slide" Target="slides/slide23.xml"/><Relationship Id="rId77" Type="http://schemas.openxmlformats.org/officeDocument/2006/relationships/slide" Target="slides/slide24.xml"/><Relationship Id="rId78" Type="http://schemas.openxmlformats.org/officeDocument/2006/relationships/slide" Target="slides/slide25.xml"/><Relationship Id="rId47" Type="http://schemas.openxmlformats.org/officeDocument/2006/relationships/presProps" Target="presProps.xml"/><Relationship Id="rId50" Type="http://schemas.openxmlformats.org/officeDocument/2006/relationships/tableStyles" Target="tableStyles.xml"/><Relationship Id="rId49" Type="http://schemas.openxmlformats.org/officeDocument/2006/relationships/theme" Target="theme/theme1.xml"/><Relationship Id="rId48" Type="http://schemas.openxmlformats.org/officeDocument/2006/relationships/viewProps" Target="viewProps.xml"/><Relationship Id="rId51" Type="http://schemas.microsoft.com/office/2015/10/relationships/revisionInfo" Target="revisionInfo.xml"/><Relationship Id="rId46" Type="http://schemas.openxmlformats.org/officeDocument/2006/relationships/notesMaster" Target="notesMasters/notesMaster1.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925FE0-5DDB-2F4E-91E7-FAC86E881550}"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28AC95-C6B4-494F-AAA3-33FE4B129223}" type="slidenum">
              <a:rPr lang="en-US" smtClean="0"/>
              <a:t>‹#›</a:t>
            </a:fld>
            <a:endParaRPr lang="en-US"/>
          </a:p>
        </p:txBody>
      </p:sp>
    </p:spTree>
    <p:extLst>
      <p:ext uri="{BB962C8B-B14F-4D97-AF65-F5344CB8AC3E}">
        <p14:creationId xmlns:p14="http://schemas.microsoft.com/office/powerpoint/2010/main" val="12190349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Last time we built the basic Raft protocol. One server becomes the leader, clients send commands to that leader, and the leader replicates those commands to a majority before the state machines execute them.</a:t>
            </a:r>
          </a:p>
          <a:p>
            <a:endParaRPr lang="en-US" dirty="0"/>
          </a:p>
          <a:p>
            <a:r>
              <a:rPr lang="en-US" dirty="0"/>
              <a:t>Today we continue from the replicated log. We will first make clear why Raft needs the log and what information each entry contains. Then we will look at failures. A slow follower is easy because the leader can retry. A failed leader is much more interesting because different servers may be left with different log suffixes.</a:t>
            </a:r>
          </a:p>
          <a:p>
            <a:endParaRPr lang="en-US" dirty="0"/>
          </a:p>
          <a:p>
            <a:r>
              <a:rPr lang="en-US" dirty="0"/>
              <a:t>The main question for the first half of the lecture is how a new leader can repair those differences without deleting a command that may already have been committed. The second half moves below the protocol to persistence and snapshots: what must survive a reboot, and how the system keeps the log from growing forever.</a:t>
            </a:r>
          </a:p>
          <a:p>
            <a:endParaRPr lang="en-US" dirty="0"/>
          </a:p>
          <a:p>
            <a:r>
              <a:rPr lang="en-US" dirty="0"/>
              <a:t>SOURCE
MIT 6.824, Spring 2020, Lecture 6 transcript/video, 30:21–46:21 and 67:42–79:46.
Local transcript: fall2026/lectures/references/mit-6824-2020-lecture6-raft1-transcript.txt
https://www.youtube.com/watch?v=64Zp3tzNbpE
Ongaro and Ousterhout, In Search of an Understandable Consensus Algorithm, Sections 5.3–5.5 and 7.
https://pdos.csail.mit.edu/6.824/papers/raft-extended.pdf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Please share the AWS account ID that your team will use. Use the form on the slide and submit the one account your team has chosen, so we can assign the course credits correctly.</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8D4EA-C8D1-5457-1992-25C11517D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437C0-189D-543F-0C04-FF3D066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12A411-3A9F-4EC5-4159-58FBB292FAF1}"/>
              </a:ext>
            </a:extLst>
          </p:cNvPr>
          <p:cNvSpPr>
            <a:spLocks noGrp="1"/>
          </p:cNvSpPr>
          <p:nvPr>
            <p:ph type="body" idx="1"/>
          </p:nvPr>
        </p:nvSpPr>
        <p:spPr/>
        <p:txBody>
          <a:bodyPr/>
          <a:lstStyle/>
          <a:p>
            <a:r>
              <a:rPr lang="en-US" dirty="0"/>
              <a:t>Why is Raft so focused on the log? The log serves several different purposes at the same time.</a:t>
            </a:r>
          </a:p>
          <a:p>
            <a:endParaRPr lang="en-US" dirty="0"/>
          </a:p>
          <a:p>
            <a:r>
              <a:rPr lang="en-US" dirty="0"/>
              <a:t>First, it gives client commands one execution order. If ten clients send requests concurrently, the leader has to choose which command is first, second, and third. The numbered log indexes record that decision. If every replica applies the same commands at the same indexes, all deterministic state machines reach the same state.</a:t>
            </a:r>
          </a:p>
          <a:p>
            <a:endParaRPr lang="en-US" dirty="0"/>
          </a:p>
          <a:p>
            <a:r>
              <a:rPr lang="en-US" dirty="0"/>
              <a:t>Second, the log holds commands that are still tentative. A follower may receive an entry before it knows whether a majority has stored it. It cannot execute that command yet, so it keeps the entry in the log until the leader communicates that the entry is committed.</a:t>
            </a:r>
          </a:p>
          <a:p>
            <a:endParaRPr lang="en-US" dirty="0"/>
          </a:p>
          <a:p>
            <a:r>
              <a:rPr lang="en-US" dirty="0"/>
              <a:t>Third, the leader needs the log for retransmission. A follower may be offline or may miss an RPC. When it comes back, the leader can resend the entries it lacks.</a:t>
            </a:r>
          </a:p>
          <a:p>
            <a:endParaRPr lang="en-US" dirty="0"/>
          </a:p>
          <a:p>
            <a:r>
              <a:rPr lang="en-US" dirty="0"/>
              <a:t>Finally, the log supports recovery. Raft stores it persistently. After a crash and reboot, a server can read the log and replay committed commands to reconstruct the application state. Later we will add snapshots so it does not need to replay the entire history.</a:t>
            </a:r>
          </a:p>
          <a:p>
            <a:endParaRPr lang="en-US" dirty="0"/>
          </a:p>
          <a:p>
            <a:r>
              <a:rPr lang="en-US" dirty="0"/>
              <a:t>The logs are not exact replicas at every instant. A follower can lag, and a leader can crash after reaching only part of the cluster. Raft allows those temporary differences and repairs them before they can produce different committed histories.</a:t>
            </a:r>
          </a:p>
          <a:p>
            <a:endParaRPr lang="en-US" dirty="0"/>
          </a:p>
          <a:p>
            <a:r>
              <a:rPr lang="en-US" dirty="0"/>
              <a:t>SOURCE
MIT 6.824, Spring 2020, Lecture 6 transcript/video, 30:21–39:33 and 44:49–46:21.
Local transcript: fall2026/lectures/references/mit-6824-2020-lecture6-raft1-transcript.txt
https://www.youtube.com/watch?v=64Zp3tzNbpE
Ongaro and Ousterhout, In Search of an Understandable Consensus Algorithm, Sections 2 and 5.3.
https://pdos.csail.mit.edu/6.824/papers/raft-extended.pdf</a:t>
            </a:r>
          </a:p>
        </p:txBody>
      </p:sp>
      <p:sp>
        <p:nvSpPr>
          <p:cNvPr id="4" name="Slide Number Placeholder 3">
            <a:extLst>
              <a:ext uri="{FF2B5EF4-FFF2-40B4-BE49-F238E27FC236}">
                <a16:creationId xmlns:a16="http://schemas.microsoft.com/office/drawing/2014/main" id="{72E7E141-640B-3C98-6BD5-7FB1E0725A73}"/>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20867931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10D10-6B73-F4C2-17CB-5395AA721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94125-D744-227E-BDCB-DD7E9EA12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81561-DE67-806F-C097-C4B300B8FEEF}"/>
              </a:ext>
            </a:extLst>
          </p:cNvPr>
          <p:cNvSpPr>
            <a:spLocks noGrp="1"/>
          </p:cNvSpPr>
          <p:nvPr>
            <p:ph type="body" idx="1"/>
          </p:nvPr>
        </p:nvSpPr>
        <p:spPr/>
        <p:txBody>
          <a:bodyPr/>
          <a:lstStyle/>
          <a:p>
            <a:r>
              <a:rPr lang="en-US" dirty="0"/>
              <a:t>Each log entry has three important fields: an index, a term, and a command.</a:t>
            </a:r>
          </a:p>
          <a:p>
            <a:endParaRPr lang="en-US" dirty="0"/>
          </a:p>
          <a:p>
            <a:r>
              <a:rPr lang="en-US" dirty="0"/>
              <a:t>The index is the entry's position in the global command sequence. The term identifies the leader that created the entry. The command is the operation the application will eventually execute, such as putting a value into a key-value store.</a:t>
            </a:r>
          </a:p>
          <a:p>
            <a:endParaRPr lang="en-US" dirty="0"/>
          </a:p>
          <a:p>
            <a:r>
              <a:rPr lang="en-US" dirty="0"/>
              <a:t>The index tells us where an entry belongs; the term helps us decide whether two entries at that position came from the same leader. Later, when a new leader repairs a follower, it will compare both the index and the term. Matching only the index is not enough because two leaders from different terms may have placed different commands at the same position.</a:t>
            </a:r>
          </a:p>
          <a:p>
            <a:endParaRPr lang="en-US" dirty="0"/>
          </a:p>
          <a:p>
            <a:r>
              <a:rPr lang="en-US" dirty="0"/>
              <a:t>The log is stored on stable storage, so a crash does not erase the promises the server has already made. A leader writes a new entry before asking followers to replicate it, and a follower makes the entry durable before acknowledging it.</a:t>
            </a:r>
          </a:p>
          <a:p>
            <a:endParaRPr lang="en-US" dirty="0"/>
          </a:p>
          <a:p>
            <a:r>
              <a:rPr lang="en-US" dirty="0"/>
              <a:t>During normal operation, an entry created in the current term becomes committed after it is stored on a majority. Once committed, Raft's election rules ensure that future leaders preserve it, and every available state machine will eventually execute it in index order. We will refine the current-term condition later; for now, the key distinction is between an entry that has merely been accepted and one that is committed.</a:t>
            </a:r>
          </a:p>
          <a:p>
            <a:endParaRPr lang="en-US" dirty="0"/>
          </a:p>
          <a:p>
            <a:r>
              <a:rPr lang="en-US" dirty="0"/>
              <a:t>SOURCE
MIT 6.824, Spring 2020, Lecture 6 transcript/video, 30:21–39:33 and 44:49–46:21.
Local transcript: fall2026/lectures/references/mit-6824-2020-lecture6-raft1-transcript.txt
https://www.youtube.com/watch?v=64Zp3tzNbpE
Ongaro and Ousterhout, In Search of an Understandable Consensus Algorithm, Sections 5.1–5.4 and Figure 2.
https://pdos.csail.mit.edu/6.824/papers/raft-extended.pdf</a:t>
            </a:r>
          </a:p>
        </p:txBody>
      </p:sp>
      <p:sp>
        <p:nvSpPr>
          <p:cNvPr id="4" name="Slide Number Placeholder 3">
            <a:extLst>
              <a:ext uri="{FF2B5EF4-FFF2-40B4-BE49-F238E27FC236}">
                <a16:creationId xmlns:a16="http://schemas.microsoft.com/office/drawing/2014/main" id="{7E7C586B-9621-4D86-8F2B-6F0EC4A5489F}"/>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24326870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7A575-7BC6-6730-0E89-534B971CC6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C6B2E-AEB0-93EA-598E-7C48714044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6A548F-A137-2FE8-B903-DC6A8CC89EC3}"/>
              </a:ext>
            </a:extLst>
          </p:cNvPr>
          <p:cNvSpPr>
            <a:spLocks noGrp="1"/>
          </p:cNvSpPr>
          <p:nvPr>
            <p:ph type="body" idx="1"/>
          </p:nvPr>
        </p:nvSpPr>
        <p:spPr/>
        <p:txBody>
          <a:bodyPr/>
          <a:lstStyle/>
          <a:p>
            <a:r>
              <a:rPr lang="en-US" dirty="0"/>
              <a:t>Suppose one follower crashes or becomes very slow. The leader does not need a special recovery protocol. It keeps sending AppendEntries RPCs, and when the follower is reachable again, the missing entries are retransmitted.</a:t>
            </a:r>
          </a:p>
          <a:p>
            <a:endParaRPr lang="en-US" dirty="0"/>
          </a:p>
          <a:p>
            <a:r>
              <a:rPr lang="en-US" dirty="0"/>
              <a:t>The common case is efficient because the leader waits only for a majority. In a three-server cluster, the leader counts its own copy and needs one successful follower response. A second follower can be slow without delaying the client request. This is the sense in which the normal path is optimal: one leader-to-follower round trip is enough to commit a new command.</a:t>
            </a:r>
          </a:p>
          <a:p>
            <a:endParaRPr lang="en-US" dirty="0"/>
          </a:p>
          <a:p>
            <a:r>
              <a:rPr lang="en-US" dirty="0"/>
              <a:t>A follower can acknowledge an entry before executing it. Execution waits until the follower learns the leader's commit index. A later AppendEntries RPC, including an empty heartbeat, carries that commit index. The follower then passes newly committed commands to its state machine in order.</a:t>
            </a:r>
          </a:p>
          <a:p>
            <a:endParaRPr lang="en-US" dirty="0"/>
          </a:p>
          <a:p>
            <a:r>
              <a:rPr lang="en-US" dirty="0"/>
              <a:t>Retries make a failed follower straightforward. The harder failure is the leader. If the leader crashes halfway through sending AppendEntries, some followers may contain its last entry and others may not. The next leader must determine which differences are safe to overwrite.</a:t>
            </a:r>
          </a:p>
          <a:p>
            <a:endParaRPr lang="en-US" dirty="0"/>
          </a:p>
          <a:p>
            <a:r>
              <a:rPr lang="en-US" dirty="0"/>
              <a:t>SOURCE
MIT 6.824, Spring 2020, Lecture 6 transcript/video, 20:32–30:21, 44:49–46:21, and 67:42–69:57.
Local transcript: fall2026/lectures/references/mit-6824-2020-lecture6-raft1-transcript.txt
https://www.youtube.com/watch?v=64Zp3tzNbpE
Ongaro and Ousterhout, In Search of an Understandable Consensus Algorithm, Sections 5.3 and 5.5.
https://pdos.csail.mit.edu/6.824/papers/raft-extended.pdf</a:t>
            </a:r>
          </a:p>
        </p:txBody>
      </p:sp>
      <p:sp>
        <p:nvSpPr>
          <p:cNvPr id="4" name="Slide Number Placeholder 3">
            <a:extLst>
              <a:ext uri="{FF2B5EF4-FFF2-40B4-BE49-F238E27FC236}">
                <a16:creationId xmlns:a16="http://schemas.microsoft.com/office/drawing/2014/main" id="{6ECC7B8B-F8BB-092F-C1D3-97B71CDCB4B1}"/>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15828846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595F5-283B-2A26-73C4-F22C449569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6CB77C-A107-7C5C-00BC-BE1FC786D0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37C004-C38C-01D7-59E0-9A122BAFA87A}"/>
              </a:ext>
            </a:extLst>
          </p:cNvPr>
          <p:cNvSpPr>
            <a:spLocks noGrp="1"/>
          </p:cNvSpPr>
          <p:nvPr>
            <p:ph type="body" idx="1"/>
          </p:nvPr>
        </p:nvSpPr>
        <p:spPr/>
        <p:txBody>
          <a:bodyPr/>
          <a:lstStyle/>
          <a:p>
            <a:r>
              <a:rPr lang="en-US" dirty="0"/>
              <a:t>Raft uses two related log-matching rules.</a:t>
            </a:r>
          </a:p>
          <a:p>
            <a:endParaRPr lang="en-US" dirty="0"/>
          </a:p>
          <a:p>
            <a:r>
              <a:rPr lang="en-US" dirty="0"/>
              <a:t>The first rule says that if two servers have entries with the same index and the same term, those entries contain the same command. A term has at most one leader, and that leader creates only one entry at a particular index. Once the leader has created the entry, its index and term do not change.</a:t>
            </a:r>
          </a:p>
          <a:p>
            <a:endParaRPr lang="en-US" dirty="0"/>
          </a:p>
          <a:p>
            <a:r>
              <a:rPr lang="en-US" dirty="0"/>
              <a:t>The second rule says that if two logs contain the same entry, then all entries before it are also identical. AppendEntries enforces that property. Along with any new entries, the leader sends the index and term of the entry immediately before them. The follower accepts the new suffix only if that preceding entry matches its own log.</a:t>
            </a:r>
          </a:p>
          <a:p>
            <a:endParaRPr lang="en-US" dirty="0"/>
          </a:p>
          <a:p>
            <a:r>
              <a:rPr lang="en-US" dirty="0"/>
              <a:t>That gives the leader an induction step. Once it finds one matching index and term, it has found a common prefix. Everything before that point already agrees, and the leader can make the follower's suffix match its own.</a:t>
            </a:r>
          </a:p>
          <a:p>
            <a:endParaRPr lang="en-US" dirty="0"/>
          </a:p>
          <a:p>
            <a:r>
              <a:rPr lang="en-US" dirty="0"/>
              <a:t>Commitment also follows the log order. When an entry is safely committed, every preceding entry in the leader's log is committed as well. State machines therefore apply one continuous prefix; they never skip an earlier command and execute a later one.</a:t>
            </a:r>
          </a:p>
          <a:p>
            <a:endParaRPr lang="en-US" dirty="0"/>
          </a:p>
          <a:p>
            <a:r>
              <a:rPr lang="en-US" dirty="0"/>
              <a:t>SOURCE
MIT 6.824, Spring 2020, Lecture 6 transcript/video, 67:42–79:46.
Local transcript: fall2026/lectures/references/mit-6824-2020-lecture6-raft1-transcript.txt
https://www.youtube.com/watch?v=64Zp3tzNbpE
Ongaro and Ousterhout, In Search of an Understandable Consensus Algorithm, Sections 5.3–5.4.2 and Figure 3.
https://pdos.csail.mit.edu/6.824/papers/raft-extended.pdf</a:t>
            </a:r>
          </a:p>
        </p:txBody>
      </p:sp>
      <p:sp>
        <p:nvSpPr>
          <p:cNvPr id="4" name="Slide Number Placeholder 3">
            <a:extLst>
              <a:ext uri="{FF2B5EF4-FFF2-40B4-BE49-F238E27FC236}">
                <a16:creationId xmlns:a16="http://schemas.microsoft.com/office/drawing/2014/main" id="{E6B9C825-86B5-6F75-A13D-52743252AC4D}"/>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1319547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5F2E5-C9A6-CCE5-480B-23253EA179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CE03E-FD53-9235-24C7-A38592DCAF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1BF99C-C176-5F69-C0CA-D196EF98E097}"/>
              </a:ext>
            </a:extLst>
          </p:cNvPr>
          <p:cNvSpPr>
            <a:spLocks noGrp="1"/>
          </p:cNvSpPr>
          <p:nvPr>
            <p:ph type="body" idx="1"/>
          </p:nvPr>
        </p:nvSpPr>
        <p:spPr/>
        <p:txBody>
          <a:bodyPr/>
          <a:lstStyle/>
          <a:p>
            <a:r>
              <a:rPr lang="en-US" dirty="0"/>
              <a:t>While one leader remains alive and can communicate with a majority, the system is relatively simple. Clients interact only with that leader. The leader chooses the log order, followers accept its entries, and any follower that falls behind can be brought up to date by retrying AppendEntries.</a:t>
            </a:r>
          </a:p>
          <a:p>
            <a:endParaRPr lang="en-US" dirty="0"/>
          </a:p>
          <a:p>
            <a:r>
              <a:rPr lang="en-US" dirty="0"/>
              <a:t>Clients cannot see every follower's local state. One follower may already have the newest entry, another may still be missing it, and neither difference matters until the entry is committed and applied. The leader presents one service history to the clients.</a:t>
            </a:r>
          </a:p>
          <a:p>
            <a:endParaRPr lang="en-US" dirty="0"/>
          </a:p>
          <a:p>
            <a:r>
              <a:rPr lang="en-US" dirty="0"/>
              <a:t>Leader changes expose the differences that were previously hidden. The old leader may have crashed before sending its last entry to everyone. It may have received some acknowledgments but crashed before learning whether it had a majority. After several short-lived leaders, different servers may even contain different commands at the same log index.</a:t>
            </a:r>
          </a:p>
          <a:p>
            <a:endParaRPr lang="en-US" dirty="0"/>
          </a:p>
          <a:p>
            <a:r>
              <a:rPr lang="en-US" dirty="0"/>
              <a:t>The replacement leader must do two things at once. It must force the followers' logs to agree with its own, and it must preserve every entry that could already have been committed and observed by a client.</a:t>
            </a:r>
          </a:p>
          <a:p>
            <a:endParaRPr lang="en-US" dirty="0"/>
          </a:p>
          <a:p>
            <a:r>
              <a:rPr lang="en-US" dirty="0"/>
              <a:t>The next examples show the log states that crashes can leave behind. From those examples we will derive both halves of Raft's solution: restrictions on who may become leader, and a consistency check that lets the chosen leader repair every follower.</a:t>
            </a:r>
          </a:p>
          <a:p>
            <a:endParaRPr lang="en-US" dirty="0"/>
          </a:p>
          <a:p>
            <a:r>
              <a:rPr lang="en-US" dirty="0"/>
              <a:t>SOURCE
MIT 6.824, Spring 2020, Lecture 6 transcript/video, 44:49–46:21 and 67:42–79:46.
Local transcript: fall2026/lectures/references/mit-6824-2020-lecture6-raft1-transcript.txt
https://www.youtube.com/watch?v=64Zp3tzNbpE
Ongaro and Ousterhout, In Search of an Understandable Consensus Algorithm, Sections 5.3–5.4.
https://pdos.csail.mit.edu/6.824/papers/raft-extended.pdf</a:t>
            </a:r>
          </a:p>
        </p:txBody>
      </p:sp>
      <p:sp>
        <p:nvSpPr>
          <p:cNvPr id="4" name="Slide Number Placeholder 3">
            <a:extLst>
              <a:ext uri="{FF2B5EF4-FFF2-40B4-BE49-F238E27FC236}">
                <a16:creationId xmlns:a16="http://schemas.microsoft.com/office/drawing/2014/main" id="{8492F558-5B33-963D-28EB-CA3E83820F5A}"/>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114618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C971F-0725-A8DE-6098-3F1E33605A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ADA133-9368-B9D3-303B-496F2E13CB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A1154C-D205-126E-A7BF-BBF6D3CE5A60}"/>
              </a:ext>
            </a:extLst>
          </p:cNvPr>
          <p:cNvSpPr>
            <a:spLocks noGrp="1"/>
          </p:cNvSpPr>
          <p:nvPr>
            <p:ph type="body" idx="1"/>
          </p:nvPr>
        </p:nvSpPr>
        <p:spPr/>
        <p:txBody>
          <a:bodyPr/>
          <a:lstStyle/>
          <a:p>
            <a:r>
              <a:rPr lang="en-US" dirty="0"/>
              <a:t>Here is how disagreement appears.</a:t>
            </a:r>
          </a:p>
          <a:p>
            <a:endParaRPr lang="en-US" dirty="0"/>
          </a:p>
          <a:p>
            <a:r>
              <a:rPr lang="en-US" dirty="0"/>
              <a:t>Suppose a leader in term three sends its last entry to S2 and S3, but crashes before S1 receives it. S2 and S3 have one more entry than S1. That situation is normal: accepting an entry is not the same as knowing that it is committed.</a:t>
            </a:r>
          </a:p>
          <a:p>
            <a:endParaRPr lang="en-US" dirty="0"/>
          </a:p>
          <a:p>
            <a:r>
              <a:rPr lang="en-US" dirty="0"/>
              <a:t>Now repeat the process across several leader changes. A term-four leader may append command four on only one server and crash. A term-five leader may then append command five at the same index on a different server. The index is the position in the command sequence; the term tells us which leader created that version of the position.</a:t>
            </a:r>
          </a:p>
          <a:p>
            <a:endParaRPr lang="en-US" dirty="0"/>
          </a:p>
          <a:p>
            <a:r>
              <a:rPr lang="en-US" dirty="0"/>
              <a:t>Raft permits these conflicting suffixes because they have not yet become part of the committed history. The protocol does not try to merge them. One future leader will be selected, and its log will become authoritative. The safety question is how to ensure that the chosen log contains everything that was already committed before it starts deleting the other suffixes.</a:t>
            </a:r>
          </a:p>
          <a:p>
            <a:endParaRPr lang="en-US" dirty="0"/>
          </a:p>
          <a:p>
            <a:r>
              <a:rPr lang="en-US" dirty="0"/>
              <a:t>SOURCE
MIT 6.824, Spring 2020, Lecture 7 transcript/video, 00:01–09:59.
Local transcript: fall2026/lectures/references/mit-6824-2020-lecture7-raft2-transcript.txt
https://www.youtube.com/watch?v=4r8Mz3MMivY
Ongaro and Ousterhout, In Search of an Understandable Consensus Algorithm, Sections 5.3–5.4.
https://pdos.csail.mit.edu/6.824/papers/raft-extended.pdf</a:t>
            </a:r>
          </a:p>
        </p:txBody>
      </p:sp>
      <p:sp>
        <p:nvSpPr>
          <p:cNvPr id="4" name="Slide Number Placeholder 3">
            <a:extLst>
              <a:ext uri="{FF2B5EF4-FFF2-40B4-BE49-F238E27FC236}">
                <a16:creationId xmlns:a16="http://schemas.microsoft.com/office/drawing/2014/main" id="{2BFF84B5-E7D6-BB9C-83A2-824E0C8D3DD3}"/>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7754319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D8F04-3770-A0A0-E6E7-3D8AEDC4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D5994F-D2A5-95C2-D7AC-8B5AFC9DF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C0755-8638-2EE3-5A2E-A8BF2C306243}"/>
              </a:ext>
            </a:extLst>
          </p:cNvPr>
          <p:cNvSpPr>
            <a:spLocks noGrp="1"/>
          </p:cNvSpPr>
          <p:nvPr>
            <p:ph type="body" idx="1"/>
          </p:nvPr>
        </p:nvSpPr>
        <p:spPr/>
        <p:txBody>
          <a:bodyPr/>
          <a:lstStyle/>
          <a:p>
            <a:r>
              <a:rPr lang="en-US" dirty="0"/>
              <a:t>The figure shows the set of logs a new leader might encounter. Some followers are missing entries. Some contain extra entries from older leaders. Others contain a suffix whose terms and commands disagree with the new leader.</a:t>
            </a:r>
          </a:p>
          <a:p>
            <a:endParaRPr lang="en-US" dirty="0"/>
          </a:p>
          <a:p>
            <a:r>
              <a:rPr lang="en-US" dirty="0"/>
              <a:t>We need one result from all of these cases: after communication succeeds, every follower must contain the leader's log. Missing entries must be copied, and conflicting entries must be removed.</a:t>
            </a:r>
          </a:p>
          <a:p>
            <a:endParaRPr lang="en-US" dirty="0"/>
          </a:p>
          <a:p>
            <a:r>
              <a:rPr lang="en-US" dirty="0"/>
              <a:t>That repair is safe only if the leader's log is the right history to preserve. The election rule will guarantee that a candidate cannot win unless its log is at least as up to date as the logs of the voters that form its majority. Once that leader is chosen, the consistency check in AppendEntries finds the last common entry and makes the remaining suffix agree.</a:t>
            </a:r>
          </a:p>
          <a:p>
            <a:endParaRPr lang="en-US" dirty="0"/>
          </a:p>
          <a:p>
            <a:r>
              <a:rPr lang="en-US" dirty="0"/>
              <a:t>Keep those two pieces together. Election protects committed history before a leader is chosen. Log repair removes uncommitted disagreement after the leader is chosen.</a:t>
            </a:r>
          </a:p>
          <a:p>
            <a:endParaRPr lang="en-US" dirty="0"/>
          </a:p>
          <a:p>
            <a:r>
              <a:rPr lang="en-US" dirty="0"/>
              <a:t>SOURCE
MIT 6.824, Spring 2020, Lecture 7 transcript/video, 00:01–20:36.
Local transcript: fall2026/lectures/references/mit-6824-2020-lecture7-raft2-transcript.txt
https://www.youtube.com/watch?v=4r8Mz3MMivY
Ongaro and Ousterhout, In Search of an Understandable Consensus Algorithm, Sections 5.3–5.4 and Figure 7.
https://pdos.csail.mit.edu/6.824/papers/raft-extended.pdf</a:t>
            </a:r>
          </a:p>
        </p:txBody>
      </p:sp>
      <p:sp>
        <p:nvSpPr>
          <p:cNvPr id="4" name="Slide Number Placeholder 3">
            <a:extLst>
              <a:ext uri="{FF2B5EF4-FFF2-40B4-BE49-F238E27FC236}">
                <a16:creationId xmlns:a16="http://schemas.microsoft.com/office/drawing/2014/main" id="{2515BAAB-FAAE-C7B7-86C3-99AD510DA7F6}"/>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18122507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9D084-188A-CDAF-A321-98258BD14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25F002-7A52-5B78-BBF4-00C9F8866E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AAD00E-36A8-CE79-183C-DDEA01F4FB41}"/>
              </a:ext>
            </a:extLst>
          </p:cNvPr>
          <p:cNvSpPr>
            <a:spLocks noGrp="1"/>
          </p:cNvSpPr>
          <p:nvPr>
            <p:ph type="body" idx="1"/>
          </p:nvPr>
        </p:nvSpPr>
        <p:spPr/>
        <p:txBody>
          <a:bodyPr/>
          <a:lstStyle/>
          <a:p>
            <a:r>
              <a:rPr lang="en-US" dirty="0"/>
              <a:t>The client-visible requirement is State Machine Safety: once any server applies a command at a log index, no server may ever apply a different command at that index.</a:t>
            </a:r>
          </a:p>
          <a:p>
            <a:endParaRPr lang="en-US" dirty="0"/>
          </a:p>
          <a:p>
            <a:r>
              <a:rPr lang="en-US" dirty="0"/>
              <a:t>Raft reaches that requirement through Leader Completeness. If a leader has decided that an entry is committed, every leader elected in a later term must contain that entry.</a:t>
            </a:r>
          </a:p>
          <a:p>
            <a:endParaRPr lang="en-US" dirty="0"/>
          </a:p>
          <a:p>
            <a:r>
              <a:rPr lang="en-US" dirty="0"/>
              <a:t>The rest of the argument follows from the rules on the slide. A leader never overwrites entries in its own log. Only entries from the leader's history can become committed. A server applies an entry only after learning that it is committed, and it applies entries in order.</a:t>
            </a:r>
          </a:p>
          <a:p>
            <a:endParaRPr lang="en-US" dirty="0"/>
          </a:p>
          <a:p>
            <a:r>
              <a:rPr lang="en-US" dirty="0"/>
              <a:t>Therefore, if every future leader contains the committed entry, no future leader can create a different committed history at that index. Followers may temporarily contain other uncommitted suffixes, but those suffixes cannot reach the state machine. They will be removed when the new leader repairs the logs.</a:t>
            </a:r>
          </a:p>
          <a:p>
            <a:endParaRPr lang="en-US" dirty="0"/>
          </a:p>
          <a:p>
            <a:r>
              <a:rPr lang="en-US" dirty="0"/>
              <a:t>This is why election and commitment cannot be designed independently. The election restriction is what makes it safe to treat the new leader's log as the truth.</a:t>
            </a:r>
          </a:p>
          <a:p>
            <a:endParaRPr lang="en-US" dirty="0"/>
          </a:p>
          <a:p>
            <a:r>
              <a:rPr lang="en-US" dirty="0"/>
              <a:t>SOURCE
Ongaro and Ousterhout, In Search of an Understandable Consensus Algorithm, Sections 5.4–5.4.3 and Figure 3.
https://pdos.csail.mit.edu/6.824/papers/raft-extended.pdf</a:t>
            </a:r>
          </a:p>
        </p:txBody>
      </p:sp>
      <p:sp>
        <p:nvSpPr>
          <p:cNvPr id="4" name="Slide Number Placeholder 3">
            <a:extLst>
              <a:ext uri="{FF2B5EF4-FFF2-40B4-BE49-F238E27FC236}">
                <a16:creationId xmlns:a16="http://schemas.microsoft.com/office/drawing/2014/main" id="{3A3F7752-37A6-FDDD-C583-EAFD8A31E7F4}"/>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36347520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DF2C6-8AE0-C6E1-E09A-727715E0A2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AB4C8F-6AB6-E8FF-7196-610FE2DD9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E3AC8E-B211-3381-4421-4C48249B8AA6}"/>
              </a:ext>
            </a:extLst>
          </p:cNvPr>
          <p:cNvSpPr>
            <a:spLocks noGrp="1"/>
          </p:cNvSpPr>
          <p:nvPr>
            <p:ph type="body" idx="1"/>
          </p:nvPr>
        </p:nvSpPr>
        <p:spPr/>
        <p:txBody>
          <a:bodyPr/>
          <a:lstStyle/>
          <a:p>
            <a:r>
              <a:rPr lang="en-US" dirty="0"/>
              <a:t>Use the example from the MIT lecture. S3 has become leader in term six, and its first new entry is at index thirteen. To send that entry, it also names the preceding entry: index twelve, term five.</a:t>
            </a:r>
          </a:p>
          <a:p>
            <a:endParaRPr lang="en-US" dirty="0"/>
          </a:p>
          <a:p>
            <a:r>
              <a:rPr lang="en-US" dirty="0"/>
              <a:t>S2 has an entry at index twelve, but that entry came from term four. S1 does not have index twelve at all. Both followers reject the first AppendEntries because the predecessor does not match.</a:t>
            </a:r>
          </a:p>
          <a:p>
            <a:endParaRPr lang="en-US" dirty="0"/>
          </a:p>
          <a:p>
            <a:r>
              <a:rPr lang="en-US" dirty="0"/>
              <a:t>The leader then moves backward. For S2, it tries again with index eleven, term three as the predecessor. That entry matches. S2 now knows that its log agrees with the leader through index eleven. It deletes its conflicting term-four entry at index twelve and appends the leader's term-five and term-six entries.</a:t>
            </a:r>
          </a:p>
          <a:p>
            <a:endParaRPr lang="en-US" dirty="0"/>
          </a:p>
          <a:p>
            <a:r>
              <a:rPr lang="en-US" dirty="0"/>
              <a:t>S1 may have to move backward one step farther before it finds a match. After that, the leader fills every missing entry.</a:t>
            </a:r>
          </a:p>
          <a:p>
            <a:endParaRPr lang="en-US" dirty="0"/>
          </a:p>
          <a:p>
            <a:r>
              <a:rPr lang="en-US" dirty="0"/>
              <a:t>Why is it acceptable to delete S2's term-four command? That command was never stored on a majority, so its leader could not safely commit it, apply it, or reply to the client on its behalf. If the client did not receive a reply, it must retry. The protocol preserves committed commands, not every tentative command that ever appeared in a log.</a:t>
            </a:r>
          </a:p>
          <a:p>
            <a:endParaRPr lang="en-US" dirty="0"/>
          </a:p>
          <a:p>
            <a:r>
              <a:rPr lang="en-US" dirty="0"/>
              <a:t>SOURCE
MIT 6.824, Spring 2020, Lecture 7 transcript/video, 00:01–09:59.
Local transcript: fall2026/lectures/references/mit-6824-2020-lecture7-raft2-transcript.txt
https://www.youtube.com/watch?v=4r8Mz3MMivY
Ongaro and Ousterhout, In Search of an Understandable Consensus Algorithm, Section 5.3.
https://pdos.csail.mit.edu/6.824/papers/raft-extended.pdf</a:t>
            </a:r>
          </a:p>
        </p:txBody>
      </p:sp>
      <p:sp>
        <p:nvSpPr>
          <p:cNvPr id="4" name="Slide Number Placeholder 3">
            <a:extLst>
              <a:ext uri="{FF2B5EF4-FFF2-40B4-BE49-F238E27FC236}">
                <a16:creationId xmlns:a16="http://schemas.microsoft.com/office/drawing/2014/main" id="{30321F72-9953-9D10-FFAD-94FA764F67A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19696795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C4407-C990-0929-B1C7-CA51D0F06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01975-CC09-F8DD-719D-9E7AF691A8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42744B-24D2-3A85-8421-5FD2B352B176}"/>
              </a:ext>
            </a:extLst>
          </p:cNvPr>
          <p:cNvSpPr>
            <a:spLocks noGrp="1"/>
          </p:cNvSpPr>
          <p:nvPr>
            <p:ph type="body" idx="1"/>
          </p:nvPr>
        </p:nvSpPr>
        <p:spPr/>
        <p:txBody>
          <a:bodyPr/>
          <a:lstStyle/>
          <a:p>
            <a:r>
              <a:rPr lang="en-US" dirty="0"/>
              <a:t>Every AppendEntries request identifies the entry immediately before the new entries with two fields: prevLogIndex and prevLogTerm.</a:t>
            </a:r>
          </a:p>
          <a:p>
            <a:endParaRPr lang="en-US" dirty="0"/>
          </a:p>
          <a:p>
            <a:r>
              <a:rPr lang="en-US" dirty="0"/>
              <a:t>The follower checks that exact position. If it has the same index and term, the request may proceed. If the entry is missing or has a different term, the follower rejects the request without changing its log.</a:t>
            </a:r>
          </a:p>
          <a:p>
            <a:endParaRPr lang="en-US" dirty="0"/>
          </a:p>
          <a:p>
            <a:r>
              <a:rPr lang="en-US" dirty="0"/>
              <a:t>Why does one matching entry tell us that the entire prefix matches? The argument is inductive. An entry could originally be accepted only after its own predecessor matched. Therefore, two copies of the same entry imply two copies of the same predecessor, and the reasoning continues all the way back to the beginning of the log.</a:t>
            </a:r>
          </a:p>
          <a:p>
            <a:endParaRPr lang="en-US" dirty="0"/>
          </a:p>
          <a:p>
            <a:r>
              <a:rPr lang="en-US" dirty="0"/>
              <a:t>This check prevents the leader from creating holes or attaching a new suffix to the wrong history. Once the leader finds a matching predecessor, it can remove any conflicting entries after that point and append its own entries. The follower's log then matches the leader for the portion that was sent.</a:t>
            </a:r>
          </a:p>
          <a:p>
            <a:endParaRPr lang="en-US" dirty="0"/>
          </a:p>
          <a:p>
            <a:r>
              <a:rPr lang="en-US" dirty="0"/>
              <a:t>SOURCE
Ongaro and Ousterhout, In Search of an Understandable Consensus Algorithm, Section 5.3 and Figure 2.
https://pdos.csail.mit.edu/6.824/papers/raft-extended.pdf</a:t>
            </a:r>
          </a:p>
        </p:txBody>
      </p:sp>
      <p:sp>
        <p:nvSpPr>
          <p:cNvPr id="4" name="Slide Number Placeholder 3">
            <a:extLst>
              <a:ext uri="{FF2B5EF4-FFF2-40B4-BE49-F238E27FC236}">
                <a16:creationId xmlns:a16="http://schemas.microsoft.com/office/drawing/2014/main" id="{56739BC8-56F9-53BA-9191-099559759751}"/>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5792497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C5BDC-E066-724E-A71A-8B3CF6F6BE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A3437E-463E-39B5-8C54-306C6AB99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3F39E-1614-60E1-92CC-3F5B672324FF}"/>
              </a:ext>
            </a:extLst>
          </p:cNvPr>
          <p:cNvSpPr>
            <a:spLocks noGrp="1"/>
          </p:cNvSpPr>
          <p:nvPr>
            <p:ph type="body" idx="1"/>
          </p:nvPr>
        </p:nvSpPr>
        <p:spPr/>
        <p:txBody>
          <a:bodyPr/>
          <a:lstStyle/>
          <a:p>
            <a:r>
              <a:rPr lang="en-US" dirty="0"/>
              <a:t>The leader keeps a separate nextIndex for every follower. nextIndex is the first log index that the leader believes that follower still needs.</a:t>
            </a:r>
          </a:p>
          <a:p>
            <a:endParaRPr lang="en-US" dirty="0"/>
          </a:p>
          <a:p>
            <a:r>
              <a:rPr lang="en-US" dirty="0"/>
              <a:t>When a server becomes leader, it initializes every nextIndex to one position after the end of its own log. It first assumes that the follower is caught up. If the follower rejects AppendEntries, the assumption was too optimistic, so the leader moves nextIndex backward and tries again. Rejections continue until the request names a predecessor that the follower actually has with the same term.</a:t>
            </a:r>
          </a:p>
          <a:p>
            <a:endParaRPr lang="en-US" dirty="0"/>
          </a:p>
          <a:p>
            <a:r>
              <a:rPr lang="en-US" dirty="0"/>
              <a:t>After a successful match, the leader sends the suffix beginning at nextIndex. The follower deletes any conflicting suffix and stores the leader's entries. The leader can then advance nextIndex and matchIndex for that follower.</a:t>
            </a:r>
          </a:p>
          <a:p>
            <a:endParaRPr lang="en-US" dirty="0"/>
          </a:p>
          <a:p>
            <a:r>
              <a:rPr lang="en-US" dirty="0"/>
              <a:t>The simple algorithm decreases one index at a time. It is easy to understand and correct, but a very stale follower may require many round trips. Practical implementations return information about the conflicting term and the first index for that term, allowing the leader to jump backward by an entire term. That optimization changes the search speed, not the safety rule.</a:t>
            </a:r>
          </a:p>
          <a:p>
            <a:endParaRPr lang="en-US" dirty="0"/>
          </a:p>
          <a:p>
            <a:r>
              <a:rPr lang="en-US" dirty="0"/>
              <a:t>nextIndex and matchIndex are volatile. A new leader can reconstruct them by starting at the end of its log and repeating this process.</a:t>
            </a:r>
          </a:p>
          <a:p>
            <a:endParaRPr lang="en-US" dirty="0"/>
          </a:p>
          <a:p>
            <a:r>
              <a:rPr lang="en-US" dirty="0"/>
              <a:t>SOURCE
MIT 6.824, Spring 2020, Lecture 7 transcript/video, 00:01–09:59 and 20:36–32:04.
Local transcript: fall2026/lectures/references/mit-6824-2020-lecture7-raft2-transcript.txt
https://www.youtube.com/watch?v=4r8Mz3MMivY
Ongaro and Ousterhout, In Search of an Understandable Consensus Algorithm, Section 5.3 and Figure 2.
https://pdos.csail.mit.edu/6.824/papers/raft-extended.pdf</a:t>
            </a:r>
          </a:p>
        </p:txBody>
      </p:sp>
      <p:sp>
        <p:nvSpPr>
          <p:cNvPr id="4" name="Slide Number Placeholder 3">
            <a:extLst>
              <a:ext uri="{FF2B5EF4-FFF2-40B4-BE49-F238E27FC236}">
                <a16:creationId xmlns:a16="http://schemas.microsoft.com/office/drawing/2014/main" id="{17358A72-9AC8-6071-FFD0-4120095C359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8167577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97243-D918-4388-F75F-0EC51D1DFA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DC2D3E-CE37-229E-5075-2EC8002F4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6A2006-5A1D-CAC8-8BD0-77DDEB7D39AE}"/>
              </a:ext>
            </a:extLst>
          </p:cNvPr>
          <p:cNvSpPr>
            <a:spLocks noGrp="1"/>
          </p:cNvSpPr>
          <p:nvPr>
            <p:ph type="body" idx="1"/>
          </p:nvPr>
        </p:nvSpPr>
        <p:spPr/>
        <p:txBody>
          <a:bodyPr/>
          <a:lstStyle/>
          <a:p>
            <a:r>
              <a:rPr lang="en-US" dirty="0"/>
              <a:t>The lower log is the same follower before and after repair.</a:t>
            </a:r>
          </a:p>
          <a:p>
            <a:endParaRPr lang="en-US" dirty="0"/>
          </a:p>
          <a:p>
            <a:r>
              <a:rPr lang="en-US" dirty="0"/>
              <a:t>Before repair, the follower agrees with the leader through the green prefix and then follows a different history. The leader backs up nextIndex until the consistency check succeeds at the last common entry. The follower then removes the purple and yellow suffix and accepts the leader's entries.</a:t>
            </a:r>
          </a:p>
          <a:p>
            <a:endParaRPr lang="en-US" dirty="0"/>
          </a:p>
          <a:p>
            <a:r>
              <a:rPr lang="en-US" dirty="0"/>
              <a:t>After repair, the follower's log is a prefix of the leader's log, and continued AppendEntries calls make the two identical. Notice that the leader does not modify its own log to merge the follower's commands. Raft chooses one history and overwrites uncommitted alternatives.</a:t>
            </a:r>
          </a:p>
          <a:p>
            <a:endParaRPr lang="en-US" dirty="0"/>
          </a:p>
          <a:p>
            <a:r>
              <a:rPr lang="en-US" dirty="0"/>
              <a:t>That can make a tentative client command disappear. A client that did not receive a successful reply must retry, and the service layer normally uses client IDs and sequence numbers to suppress duplicate execution. A committed command is different: the election restriction ensures that it is already present in every possible future leader.</a:t>
            </a:r>
          </a:p>
          <a:p>
            <a:endParaRPr lang="en-US" dirty="0"/>
          </a:p>
          <a:p>
            <a:r>
              <a:rPr lang="en-US" dirty="0"/>
              <a:t>SOURCE
MIT 6.824, Spring 2020, Lecture 7 transcript/video, 00:01–09:59.
Local transcript: fall2026/lectures/references/mit-6824-2020-lecture7-raft2-transcript.txt
https://www.youtube.com/watch?v=4r8Mz3MMivY
Ongaro and Ousterhout, In Search of an Understandable Consensus Algorithm, Sections 5.3–5.5.
https://pdos.csail.mit.edu/6.824/papers/raft-extended.pdf</a:t>
            </a:r>
          </a:p>
        </p:txBody>
      </p:sp>
      <p:sp>
        <p:nvSpPr>
          <p:cNvPr id="4" name="Slide Number Placeholder 3">
            <a:extLst>
              <a:ext uri="{FF2B5EF4-FFF2-40B4-BE49-F238E27FC236}">
                <a16:creationId xmlns:a16="http://schemas.microsoft.com/office/drawing/2014/main" id="{4E07E1CB-8DD7-00B3-FC5A-2663D33D4BFA}"/>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34963191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8B982-01E1-6C9F-3D08-E94645F729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245B0-0942-4794-AD74-6ACBF2F0ED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71670A-4630-0A12-7562-35A709958071}"/>
              </a:ext>
            </a:extLst>
          </p:cNvPr>
          <p:cNvSpPr>
            <a:spLocks noGrp="1"/>
          </p:cNvSpPr>
          <p:nvPr>
            <p:ph type="body" idx="1"/>
          </p:nvPr>
        </p:nvSpPr>
        <p:spPr/>
        <p:txBody>
          <a:bodyPr/>
          <a:lstStyle/>
          <a:p>
            <a:r>
              <a:rPr lang="en-US" dirty="0"/>
              <a:t>Log length alone does not tell us which server has the safest history.</a:t>
            </a:r>
          </a:p>
          <a:p>
            <a:endParaRPr lang="en-US" dirty="0"/>
          </a:p>
          <a:p>
            <a:r>
              <a:rPr lang="en-US" dirty="0"/>
              <a:t>Construct the example across several crashes. S1 is leader in term five and appends an entry only to itself. It crashes. S1 returns, becomes leader in term six, appends another entry only to itself, and crashes again. Its log now has entries from terms five, six, and seven, so it is the longest.</a:t>
            </a:r>
          </a:p>
          <a:p>
            <a:endParaRPr lang="en-US" dirty="0"/>
          </a:p>
          <a:p>
            <a:r>
              <a:rPr lang="en-US" dirty="0"/>
              <a:t>Meanwhile, a different leader in term eight appends an entry to S2 and S3. Because two of the three servers store that entry, the term-eight leader may have committed it and answered a client. S2 and S3 have shorter logs, but their last entry comes from the newer term.</a:t>
            </a:r>
          </a:p>
          <a:p>
            <a:endParaRPr lang="en-US" dirty="0"/>
          </a:p>
          <a:p>
            <a:r>
              <a:rPr lang="en-US" dirty="0"/>
              <a:t>If we elect S1 merely because it has more entries, S1 will overwrite the term-eight entry on S2 and S3. That could erase a committed command. The extra entries on S1 do not help because they were created in earlier terms and never reached a majority.</a:t>
            </a:r>
          </a:p>
          <a:p>
            <a:endParaRPr lang="en-US" dirty="0"/>
          </a:p>
          <a:p>
            <a:r>
              <a:rPr lang="en-US" dirty="0"/>
              <a:t>Raft therefore compares the term of the last entry before comparing length. A last entry from a newer term represents progress by a newer leader and takes priority over any number of older uncommitted entries.</a:t>
            </a:r>
          </a:p>
          <a:p>
            <a:endParaRPr lang="en-US" dirty="0"/>
          </a:p>
          <a:p>
            <a:r>
              <a:rPr lang="en-US" dirty="0"/>
              <a:t>SOURCE
MIT 6.824, Spring 2020, Lecture 7 transcript/video, 09:59–20:36.
Local transcript: fall2026/lectures/references/mit-6824-2020-lecture7-raft2-transcript.txt
https://www.youtube.com/watch?v=4r8Mz3MMivY
Ongaro and Ousterhout, In Search of an Understandable Consensus Algorithm, Section 5.4.1.
https://pdos.csail.mit.edu/6.824/papers/raft-extended.pdf</a:t>
            </a:r>
          </a:p>
        </p:txBody>
      </p:sp>
      <p:sp>
        <p:nvSpPr>
          <p:cNvPr id="4" name="Slide Number Placeholder 3">
            <a:extLst>
              <a:ext uri="{FF2B5EF4-FFF2-40B4-BE49-F238E27FC236}">
                <a16:creationId xmlns:a16="http://schemas.microsoft.com/office/drawing/2014/main" id="{CF3F290A-67EC-1152-2B2F-A20F65C0A701}"/>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41571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780E7-2289-F8DE-9D56-7F53C06B4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2DD20-8A2A-3264-8C4D-9E60F93684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D951E-B59C-6D07-C280-DC3646462BC8}"/>
              </a:ext>
            </a:extLst>
          </p:cNvPr>
          <p:cNvSpPr>
            <a:spLocks noGrp="1"/>
          </p:cNvSpPr>
          <p:nvPr>
            <p:ph type="body" idx="1"/>
          </p:nvPr>
        </p:nvSpPr>
        <p:spPr/>
        <p:txBody>
          <a:bodyPr/>
          <a:lstStyle/>
          <a:p>
            <a:r>
              <a:rPr lang="en-US" dirty="0"/>
              <a:t>A RequestVote RPC includes the candidate's lastLogTerm and lastLogIndex. A voter grants its vote only if the candidate's log is at least as up to date as its own.</a:t>
            </a:r>
          </a:p>
          <a:p>
            <a:endParaRPr lang="en-US" dirty="0"/>
          </a:p>
          <a:p>
            <a:r>
              <a:rPr lang="en-US" dirty="0"/>
              <a:t>The comparison is lexicographic. Compare the last terms first. The server with the larger last term is more up to date. Only when the last terms are equal do we compare last indexes; in that case, the longer log is more up to date.</a:t>
            </a:r>
          </a:p>
          <a:p>
            <a:endParaRPr lang="en-US" dirty="0"/>
          </a:p>
          <a:p>
            <a:r>
              <a:rPr lang="en-US" dirty="0"/>
              <a:t>Apply that rule to the previous example. S1's last term is seven. S2 and S3 end in term eight. Even though S1 has more entries, both S2 and S3 reject S1's vote request. One of the term-eight servers can collect the majority and preserve the entry that may already be committed.</a:t>
            </a:r>
          </a:p>
          <a:p>
            <a:endParaRPr lang="en-US" dirty="0"/>
          </a:p>
          <a:p>
            <a:r>
              <a:rPr lang="en-US" dirty="0"/>
              <a:t>The majority intersection gives the safety intuition. A committed entry is stored on a majority. A candidate also needs votes from a majority. Those two sets overlap. At least one voter has the committed history, and the up-to-date check prevents it from voting for a candidate that would lose that history.</a:t>
            </a:r>
          </a:p>
          <a:p>
            <a:endParaRPr lang="en-US" dirty="0"/>
          </a:p>
          <a:p>
            <a:r>
              <a:rPr lang="en-US" dirty="0"/>
              <a:t>This election restriction is what justifies the rule that the new leader's log is authoritative during repair.</a:t>
            </a:r>
          </a:p>
          <a:p>
            <a:endParaRPr lang="en-US" dirty="0"/>
          </a:p>
          <a:p>
            <a:r>
              <a:rPr lang="en-US" dirty="0"/>
              <a:t>SOURCE
MIT 6.824, Spring 2020, Lecture 7 transcript/video, 09:59–20:36.
Local transcript: fall2026/lectures/references/mit-6824-2020-lecture7-raft2-transcript.txt
https://www.youtube.com/watch?v=4r8Mz3MMivY
Ongaro and Ousterhout, In Search of an Understandable Consensus Algorithm, Section 5.4.1 and Figure 2.
https://pdos.csail.mit.edu/6.824/papers/raft-extended.pdf</a:t>
            </a:r>
          </a:p>
        </p:txBody>
      </p:sp>
      <p:sp>
        <p:nvSpPr>
          <p:cNvPr id="4" name="Slide Number Placeholder 3">
            <a:extLst>
              <a:ext uri="{FF2B5EF4-FFF2-40B4-BE49-F238E27FC236}">
                <a16:creationId xmlns:a16="http://schemas.microsoft.com/office/drawing/2014/main" id="{6290E3C4-A008-B613-CF22-818C4132AC68}"/>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1802254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B3BC2-F5B0-36D7-46B0-103E1369C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8F794-59D0-1760-98C5-085556B3C9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777C3-323D-8241-0FFF-3D84C94FDB39}"/>
              </a:ext>
            </a:extLst>
          </p:cNvPr>
          <p:cNvSpPr>
            <a:spLocks noGrp="1"/>
          </p:cNvSpPr>
          <p:nvPr>
            <p:ph type="body" idx="1"/>
          </p:nvPr>
        </p:nvSpPr>
        <p:spPr/>
        <p:txBody>
          <a:bodyPr/>
          <a:lstStyle/>
          <a:p>
            <a:r>
              <a:rPr lang="en-US" dirty="0"/>
              <a:t>Now consider when a leader may decide that an entry is committed.</a:t>
            </a:r>
          </a:p>
          <a:p>
            <a:endParaRPr lang="en-US" dirty="0"/>
          </a:p>
          <a:p>
            <a:r>
              <a:rPr lang="en-US" dirty="0"/>
              <a:t>In this picture, S1 is leader in term two. It has replicated the entry at index four to a majority. Because this entry was created in the leader's current term, S1 can mark it committed.</a:t>
            </a:r>
          </a:p>
          <a:p>
            <a:endParaRPr lang="en-US" dirty="0"/>
          </a:p>
          <a:p>
            <a:r>
              <a:rPr lang="en-US" dirty="0"/>
              <a:t>The election restriction makes that decision durable. Any candidate in a later term needs votes from a majority. A majority that stored the term-two entry must overlap the candidate's voting majority. A voter with that entry will not support a candidate whose log is less up to date. Therefore, every future leader must contain the committed entry at index four.</a:t>
            </a:r>
          </a:p>
          <a:p>
            <a:endParaRPr lang="en-US" dirty="0"/>
          </a:p>
          <a:p>
            <a:r>
              <a:rPr lang="en-US" dirty="0"/>
              <a:t>Once index four is committed, all preceding entries in S1's log are committed as well. The Log Matching Property guarantees that a future leader containing index four also contains the same prefix.</a:t>
            </a:r>
          </a:p>
          <a:p>
            <a:endParaRPr lang="en-US" dirty="0"/>
          </a:p>
          <a:p>
            <a:r>
              <a:rPr lang="en-US" dirty="0"/>
              <a:t>This is the ordinary rule in the Raft implementation: count replicas to advance commitIndex only for an entry whose term equals currentTerm.</a:t>
            </a:r>
          </a:p>
          <a:p>
            <a:endParaRPr lang="en-US" dirty="0"/>
          </a:p>
          <a:p>
            <a:r>
              <a:rPr lang="en-US" dirty="0"/>
              <a:t>SOURCE
Ongaro and Ousterhout, In Search of an Understandable Consensus Algorithm, Section 5.4.2, Figure 2, and Figure 8.
https://pdos.csail.mit.edu/6.824/papers/raft-extended.pdf</a:t>
            </a:r>
          </a:p>
        </p:txBody>
      </p:sp>
      <p:sp>
        <p:nvSpPr>
          <p:cNvPr id="4" name="Slide Number Placeholder 3">
            <a:extLst>
              <a:ext uri="{FF2B5EF4-FFF2-40B4-BE49-F238E27FC236}">
                <a16:creationId xmlns:a16="http://schemas.microsoft.com/office/drawing/2014/main" id="{43468FA9-67CB-EEAC-5741-1B8B84F30CE7}"/>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29127492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EF62E-0B4B-85D7-F188-1C3EF1ED6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88A2E3-2BF6-1513-D8FC-1118CC2376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8AC959-5B43-54FD-4144-8DEC1D9C5E02}"/>
              </a:ext>
            </a:extLst>
          </p:cNvPr>
          <p:cNvSpPr>
            <a:spLocks noGrp="1"/>
          </p:cNvSpPr>
          <p:nvPr>
            <p:ph type="body" idx="1"/>
          </p:nvPr>
        </p:nvSpPr>
        <p:spPr/>
        <p:txBody>
          <a:bodyPr/>
          <a:lstStyle/>
          <a:p>
            <a:r>
              <a:rPr lang="en-US" dirty="0"/>
              <a:t>An entry from an earlier term needs more care. Figure 8 in the paper gives the counterexample.</a:t>
            </a:r>
          </a:p>
          <a:p>
            <a:endParaRPr lang="en-US" dirty="0"/>
          </a:p>
          <a:p>
            <a:r>
              <a:rPr lang="en-US" dirty="0"/>
              <a:t>S1 created the entry at index three in term two and later returns as leader in term four. It replicates that old entry to a majority. It is tempting to count three copies and declare the entry committed.</a:t>
            </a:r>
          </a:p>
          <a:p>
            <a:endParaRPr lang="en-US" dirty="0"/>
          </a:p>
          <a:p>
            <a:r>
              <a:rPr lang="en-US" dirty="0"/>
              <a:t>But S1 can crash before creating any term-four entry. S5 may then win term five using votes from S2, S3, and S4. Its last log term is newer than the last term on the other servers, so the election rule can allow it to win. S5 can overwrite index three even though the old term-two entry briefly appeared on a majority.</a:t>
            </a:r>
          </a:p>
          <a:p>
            <a:endParaRPr lang="en-US" dirty="0"/>
          </a:p>
          <a:p>
            <a:r>
              <a:rPr lang="en-US" dirty="0"/>
              <a:t>Raft therefore never commits an old-term entry merely by counting its replicas. The leader first appends an entry in its current term, often a no-op, and replicates that current-term entry to a majority. Once the current-term entry commits, every earlier entry in the leader's prefix becomes committed indirectly.</a:t>
            </a:r>
          </a:p>
          <a:p>
            <a:endParaRPr lang="en-US" dirty="0"/>
          </a:p>
          <a:p>
            <a:r>
              <a:rPr lang="en-US" dirty="0"/>
              <a:t>The rule may delay commitment, but it keeps the proof simple: direct majority counting is used only for entries created by the current leader's term.</a:t>
            </a:r>
          </a:p>
          <a:p>
            <a:endParaRPr lang="en-US" dirty="0"/>
          </a:p>
          <a:p>
            <a:r>
              <a:rPr lang="en-US" dirty="0"/>
              <a:t>SOURCE
Ongaro and Ousterhout, In Search of an Understandable Consensus Algorithm, Section 5.4.2 and Figure 8.
https://pdos.csail.mit.edu/6.824/papers/raft-extended.pdf</a:t>
            </a:r>
          </a:p>
        </p:txBody>
      </p:sp>
      <p:sp>
        <p:nvSpPr>
          <p:cNvPr id="4" name="Slide Number Placeholder 3">
            <a:extLst>
              <a:ext uri="{FF2B5EF4-FFF2-40B4-BE49-F238E27FC236}">
                <a16:creationId xmlns:a16="http://schemas.microsoft.com/office/drawing/2014/main" id="{01DEF286-156F-A948-24FD-EA8335408960}"/>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1470218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40015-91C6-72E4-4E08-5516F80F28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483CF0-FDB2-6960-FF0C-124DE427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EB76D0-4199-0323-0489-A8473C5BC5D1}"/>
              </a:ext>
            </a:extLst>
          </p:cNvPr>
          <p:cNvSpPr>
            <a:spLocks noGrp="1"/>
          </p:cNvSpPr>
          <p:nvPr>
            <p:ph type="body" idx="1"/>
          </p:nvPr>
        </p:nvSpPr>
        <p:spPr/>
        <p:txBody>
          <a:bodyPr/>
          <a:lstStyle/>
          <a:p>
            <a:r>
              <a:rPr lang="en-US" dirty="0"/>
              <a:t>So far, a crash meant that one server disappeared while the remaining majority kept running. In that case, we could replace the failed machine with an empty server and copy the state from a live replica.</a:t>
            </a:r>
          </a:p>
          <a:p>
            <a:endParaRPr lang="en-US" dirty="0"/>
          </a:p>
          <a:p>
            <a:r>
              <a:rPr lang="en-US" dirty="0"/>
              <a:t>That is not enough for every failure. A process may restart on the same machine, or the whole cluster may lose power at once. When the machines return, the protocol cannot assume that some untouched replica still remembers the terms, votes, and log entries from before the crash.</a:t>
            </a:r>
          </a:p>
          <a:p>
            <a:endParaRPr lang="en-US" dirty="0"/>
          </a:p>
          <a:p>
            <a:r>
              <a:rPr lang="en-US" dirty="0"/>
              <a:t>Raft therefore separates persistent state from volatile state. Persistent state is written to stable storage and reloaded before the server sends or answers RPCs after a restart. Volatile state can be reconstructed from the persistent log and new messages from the current leader.</a:t>
            </a:r>
          </a:p>
          <a:p>
            <a:endParaRPr lang="en-US" dirty="0"/>
          </a:p>
          <a:p>
            <a:r>
              <a:rPr lang="en-US" dirty="0"/>
              <a:t>The key discipline is ordering: if a server's reply makes a promise visible to another machine, the state supporting that promise must already be durable. Otherwise a crash could erase the promise while another server continues to rely on it.</a:t>
            </a:r>
          </a:p>
          <a:p>
            <a:endParaRPr lang="en-US" dirty="0"/>
          </a:p>
          <a:p>
            <a:r>
              <a:rPr lang="en-US" dirty="0"/>
              <a:t>SOURCE
MIT 6.824, Spring 2020, Lecture 7 transcript/video, 32:04–49:39.
Local transcript: fall2026/lectures/references/mit-6824-2020-lecture7-raft2-transcript.txt
https://www.youtube.com/watch?v=4r8Mz3MMivY
Ongaro and Ousterhout, In Search of an Understandable Consensus Algorithm, Figure 2 and Section 5.5.
https://pdos.csail.mit.edu/6.824/papers/raft-extended.pdf</a:t>
            </a:r>
          </a:p>
        </p:txBody>
      </p:sp>
      <p:sp>
        <p:nvSpPr>
          <p:cNvPr id="4" name="Slide Number Placeholder 3">
            <a:extLst>
              <a:ext uri="{FF2B5EF4-FFF2-40B4-BE49-F238E27FC236}">
                <a16:creationId xmlns:a16="http://schemas.microsoft.com/office/drawing/2014/main" id="{26D600BA-1F55-3E75-6A5B-E2167758BB7F}"/>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17058569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59A47-3A79-E230-F53A-94CBB3E04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A8A99D-DDB3-7CD6-DDA9-B97A9D0996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36B02F-1CE5-AB98-7B59-0FCAC4ACA698}"/>
              </a:ext>
            </a:extLst>
          </p:cNvPr>
          <p:cNvSpPr>
            <a:spLocks noGrp="1"/>
          </p:cNvSpPr>
          <p:nvPr>
            <p:ph type="body" idx="1"/>
          </p:nvPr>
        </p:nvSpPr>
        <p:spPr/>
        <p:txBody>
          <a:bodyPr/>
          <a:lstStyle/>
          <a:p>
            <a:r>
              <a:rPr lang="en-US" dirty="0"/>
              <a:t>Three pieces of Raft state must survive a crash: the log, currentTerm, and votedFor.</a:t>
            </a:r>
          </a:p>
          <a:p>
            <a:endParaRPr lang="en-US" dirty="0"/>
          </a:p>
          <a:p>
            <a:r>
              <a:rPr lang="en-US" dirty="0"/>
              <a:t>The log contains the commands that may already be committed and the tentative commands that a future leader may need. A leader persists a new entry before sending AppendEntries. A follower persists the entry before replying success. An acknowledgment must mean that the entry will still exist after a reboot.</a:t>
            </a:r>
          </a:p>
          <a:p>
            <a:endParaRPr lang="en-US" dirty="0"/>
          </a:p>
          <a:p>
            <a:r>
              <a:rPr lang="en-US" dirty="0"/>
              <a:t>currentTerm prevents a restarted server from accepting authority from an older term or reusing an earlier term as if the later election never happened. votedFor prevents a server from granting two votes in the same term, with a crash between the votes. Both values must be persisted before the server sends the corresponding reply.</a:t>
            </a:r>
          </a:p>
          <a:p>
            <a:endParaRPr lang="en-US" dirty="0"/>
          </a:p>
          <a:p>
            <a:r>
              <a:rPr lang="en-US" dirty="0"/>
              <a:t>commitIndex, lastApplied, nextIndex, and matchIndex can be volatile in the basic design. A new leader reconstructs nextIndex and matchIndex through AppendEntries. A restarting server can learn commitIndex from the leader. It can rebuild the application by loading a snapshot and replaying committed log entries, which also reconstructs lastApplied.</a:t>
            </a:r>
          </a:p>
          <a:p>
            <a:endParaRPr lang="en-US" dirty="0"/>
          </a:p>
          <a:p>
            <a:r>
              <a:rPr lang="en-US" dirty="0"/>
              <a:t>The general question is whether losing a variable could make the server contradict an earlier externally visible promise. If yes, that variable or an equivalent record must be durable.</a:t>
            </a:r>
          </a:p>
          <a:p>
            <a:endParaRPr lang="en-US" dirty="0"/>
          </a:p>
          <a:p>
            <a:r>
              <a:rPr lang="en-US" dirty="0"/>
              <a:t>SOURCE
MIT 6.824, Spring 2020, Lecture 7 transcript/video, 32:04–49:39.
Local transcript: fall2026/lectures/references/mit-6824-2020-lecture7-raft2-transcript.txt
https://www.youtube.com/watch?v=4r8Mz3MMivY
Ongaro and Ousterhout, In Search of an Understandable Consensus Algorithm, Figure 2 and Section 5.5.
https://pdos.csail.mit.edu/6.824/papers/raft-extended.pdf</a:t>
            </a:r>
          </a:p>
        </p:txBody>
      </p:sp>
      <p:sp>
        <p:nvSpPr>
          <p:cNvPr id="4" name="Slide Number Placeholder 3">
            <a:extLst>
              <a:ext uri="{FF2B5EF4-FFF2-40B4-BE49-F238E27FC236}">
                <a16:creationId xmlns:a16="http://schemas.microsoft.com/office/drawing/2014/main" id="{9688ACCD-8DF1-5D29-B589-623C035398DB}"/>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30036599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E7467-874F-E8D4-80E2-62036A63D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6EC768-34E0-4E0E-B805-5784283AD9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23A628-F251-8582-8BF0-89B2325399C9}"/>
              </a:ext>
            </a:extLst>
          </p:cNvPr>
          <p:cNvSpPr>
            <a:spLocks noGrp="1"/>
          </p:cNvSpPr>
          <p:nvPr>
            <p:ph type="body" idx="1"/>
          </p:nvPr>
        </p:nvSpPr>
        <p:spPr/>
        <p:txBody>
          <a:bodyPr/>
          <a:lstStyle/>
          <a:p>
            <a:r>
              <a:rPr lang="en-US" dirty="0"/>
              <a:t>Stable storage can become the latency bottleneck.</a:t>
            </a:r>
          </a:p>
          <a:p>
            <a:endParaRPr lang="en-US" dirty="0"/>
          </a:p>
          <a:p>
            <a:r>
              <a:rPr lang="en-US" dirty="0"/>
              <a:t>A disk write is not durable merely because the operating system accepted it. The bytes may still be in a memory cache. Raft needs the equivalent of fsync before it sends a reply that depends on the write.</a:t>
            </a:r>
          </a:p>
          <a:p>
            <a:endParaRPr lang="en-US" dirty="0"/>
          </a:p>
          <a:p>
            <a:r>
              <a:rPr lang="en-US" dirty="0"/>
              <a:t>On a hard drive, one durable write can take roughly ten milliseconds. If every client command waits for a separate sync, one server can perform only about one hundred such operations per second. SSDs reduce the latency substantially, and battery-backed or nonvolatile memory can reduce it further, but the ordering requirement remains.</a:t>
            </a:r>
          </a:p>
          <a:p>
            <a:endParaRPr lang="en-US" dirty="0"/>
          </a:p>
          <a:p>
            <a:r>
              <a:rPr lang="en-US" dirty="0"/>
              <a:t>Systems therefore batch work. A leader can place several new log entries in one durable write and then replicate them together. A follower can persist a batch before acknowledging the batch. The requests share one sync cost.</a:t>
            </a:r>
          </a:p>
          <a:p>
            <a:endParaRPr lang="en-US" dirty="0"/>
          </a:p>
          <a:p>
            <a:r>
              <a:rPr lang="en-US" dirty="0"/>
              <a:t>The performance requirement follows directly from safety: the leader must persist an entry before advertising it to followers, and a follower must persist an entry before its success reply can count toward a majority.</a:t>
            </a:r>
          </a:p>
          <a:p>
            <a:endParaRPr lang="en-US" dirty="0"/>
          </a:p>
          <a:p>
            <a:r>
              <a:rPr lang="en-US" dirty="0"/>
              <a:t>SOURCE
MIT 6.824, Spring 2020, Lecture 7 transcript/video, 40:24–49:39.
Local transcript: fall2026/lectures/references/mit-6824-2020-lecture7-raft2-transcript.txt
https://www.youtube.com/watch?v=4r8Mz3MMivY
Ongaro and Ousterhout, In Search of an Understandable Consensus Algorithm, Figure 2 and Section 5.5.
https://pdos.csail.mit.edu/6.824/papers/raft-extended.pdf</a:t>
            </a:r>
          </a:p>
        </p:txBody>
      </p:sp>
      <p:sp>
        <p:nvSpPr>
          <p:cNvPr id="4" name="Slide Number Placeholder 3">
            <a:extLst>
              <a:ext uri="{FF2B5EF4-FFF2-40B4-BE49-F238E27FC236}">
                <a16:creationId xmlns:a16="http://schemas.microsoft.com/office/drawing/2014/main" id="{6084C707-77D8-8D87-160A-B2F4CE867C8D}"/>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21025184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E47DC-D06A-C622-A66D-6CC768110D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226885-813A-BC6F-F325-5967C2103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B4405B-F180-14A4-0A06-75C6341EEBC0}"/>
              </a:ext>
            </a:extLst>
          </p:cNvPr>
          <p:cNvSpPr>
            <a:spLocks noGrp="1"/>
          </p:cNvSpPr>
          <p:nvPr>
            <p:ph type="body" idx="1"/>
          </p:nvPr>
        </p:nvSpPr>
        <p:spPr/>
        <p:txBody>
          <a:bodyPr/>
          <a:lstStyle/>
          <a:p>
            <a:r>
              <a:rPr lang="en-US" dirty="0"/>
              <a:t>Keeping every log entry forever creates two problems. Stable storage grows without bound, and a restarting server must replay the entire history before it can serve requests.</a:t>
            </a:r>
          </a:p>
          <a:p>
            <a:endParaRPr lang="en-US" dirty="0"/>
          </a:p>
          <a:p>
            <a:r>
              <a:rPr lang="en-US" dirty="0"/>
              <a:t>The application usually needs the current state, not every command that produced it. A key-value service may have processed a million writes but contain only the latest value for each key. We can therefore replace an old committed prefix with a snapshot of the application state after that prefix was applied.</a:t>
            </a:r>
          </a:p>
          <a:p>
            <a:endParaRPr lang="en-US" dirty="0"/>
          </a:p>
          <a:p>
            <a:r>
              <a:rPr lang="en-US" dirty="0"/>
              <a:t>The service creates a snapshot at an exact log index. Raft stores the snapshot together with the last included index and the term of that entry. The snapshot must become durable before Raft discards the covered log prefix. Otherwise a crash between deletion and persistence would lose both the history and the state it produced.</a:t>
            </a:r>
          </a:p>
          <a:p>
            <a:endParaRPr lang="en-US" dirty="0"/>
          </a:p>
          <a:p>
            <a:r>
              <a:rPr lang="en-US" dirty="0"/>
              <a:t>Raft cannot discard uncommitted entries or entries the application has not yet included in the snapshot. The snapshot boundary must describe a committed and applied prefix. Entries after the boundary remain in the log so Raft can continue replication and replay.</a:t>
            </a:r>
          </a:p>
          <a:p>
            <a:endParaRPr lang="en-US" dirty="0"/>
          </a:p>
          <a:p>
            <a:r>
              <a:rPr lang="en-US" dirty="0"/>
              <a:t>Raft treats the snapshot contents as opaque bytes. The application knows how to serialize its state; Raft knows which part of the log that state replaces.</a:t>
            </a:r>
          </a:p>
          <a:p>
            <a:endParaRPr lang="en-US" dirty="0"/>
          </a:p>
          <a:p>
            <a:r>
              <a:rPr lang="en-US" dirty="0"/>
              <a:t>SOURCE
MIT 6.824, Spring 2020, Lecture 7 transcript/video, 49:39–59:40.
Local transcript: fall2026/lectures/references/mit-6824-2020-lecture7-raft2-transcript.txt
https://www.youtube.com/watch?v=4r8Mz3MMivY
Ongaro and Ousterhout, In Search of an Understandable Consensus Algorithm, Section 7 and Figure 12.
https://pdos.csail.mit.edu/6.824/papers/raft-extended.pdf</a:t>
            </a:r>
          </a:p>
        </p:txBody>
      </p:sp>
      <p:sp>
        <p:nvSpPr>
          <p:cNvPr id="4" name="Slide Number Placeholder 3">
            <a:extLst>
              <a:ext uri="{FF2B5EF4-FFF2-40B4-BE49-F238E27FC236}">
                <a16:creationId xmlns:a16="http://schemas.microsoft.com/office/drawing/2014/main" id="{BE621926-0DA0-A7B3-3A6B-CBAC5926B66C}"/>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458546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8154E-D8A9-20F7-52E2-8BB51FAC91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F8628C-1931-75A4-0FCA-A565FE66E7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A1969-E6DF-E981-F8EF-D8C818201AB0}"/>
              </a:ext>
            </a:extLst>
          </p:cNvPr>
          <p:cNvSpPr>
            <a:spLocks noGrp="1"/>
          </p:cNvSpPr>
          <p:nvPr>
            <p:ph type="body" idx="1"/>
          </p:nvPr>
        </p:nvSpPr>
        <p:spPr/>
        <p:txBody>
          <a:bodyPr/>
          <a:lstStyle/>
          <a:p>
            <a:r>
              <a:rPr lang="en-US" dirty="0"/>
              <a:t>After a restart, the service first loads its snapshot. Raft then reads the remaining log and replays the committed suffix after lastIncludedIndex. lastApplied begins at the snapshot boundary, so the service does not execute commands that are already reflected in the restored state.</a:t>
            </a:r>
          </a:p>
          <a:p>
            <a:endParaRPr lang="en-US" dirty="0"/>
          </a:p>
          <a:p>
            <a:r>
              <a:rPr lang="en-US" dirty="0"/>
              <a:t>Snapshots also create a replication case that AppendEntries alone cannot solve. A follower may be so far behind that its nextIndex points before the beginning of the leader's retained log. The leader has already compacted the entries that the follower needs, so decrementing nextIndex cannot find a common predecessor.</a:t>
            </a:r>
          </a:p>
          <a:p>
            <a:endParaRPr lang="en-US" dirty="0"/>
          </a:p>
          <a:p>
            <a:r>
              <a:rPr lang="en-US" dirty="0"/>
              <a:t>The leader sends InstallSnapshot instead. The follower replaces the corresponding application state, records the snapshot's last included index and term, and discards obsolete log entries. The leader can then continue with ordinary AppendEntries for the suffix that comes after the snapshot.</a:t>
            </a:r>
          </a:p>
          <a:p>
            <a:endParaRPr lang="en-US" dirty="0"/>
          </a:p>
          <a:p>
            <a:r>
              <a:rPr lang="en-US" dirty="0"/>
              <a:t>An old or duplicate snapshot can be ignored when the follower has already advanced beyond it. As with the other Raft RPCs, retries must be safe.</a:t>
            </a:r>
          </a:p>
          <a:p>
            <a:endParaRPr lang="en-US" dirty="0"/>
          </a:p>
          <a:p>
            <a:r>
              <a:rPr lang="en-US" dirty="0"/>
              <a:t>The log is the command history; the snapshot is the state produced by a committed prefix of that history. Raft uses both representations so normal replication remains incremental while recovery remains bounded.</a:t>
            </a:r>
          </a:p>
          <a:p>
            <a:endParaRPr lang="en-US" dirty="0"/>
          </a:p>
          <a:p>
            <a:r>
              <a:rPr lang="en-US" dirty="0"/>
              <a:t>SOURCE
MIT 6.824, Spring 2020, Lecture 7 transcript/video, 49:39–64:07.
Local transcript: fall2026/lectures/references/mit-6824-2020-lecture7-raft2-transcript.txt
https://www.youtube.com/watch?v=4r8Mz3MMivY
Ongaro and Ousterhout, In Search of an Understandable Consensus Algorithm, Section 7 and Figure 13.
https://pdos.csail.mit.edu/6.824/papers/raft-extended.pdf</a:t>
            </a:r>
          </a:p>
        </p:txBody>
      </p:sp>
      <p:sp>
        <p:nvSpPr>
          <p:cNvPr id="4" name="Slide Number Placeholder 3">
            <a:extLst>
              <a:ext uri="{FF2B5EF4-FFF2-40B4-BE49-F238E27FC236}">
                <a16:creationId xmlns:a16="http://schemas.microsoft.com/office/drawing/2014/main" id="{C10B6DF6-97BE-54B8-D9F9-BF75C1E14F16}"/>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18070366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FD14-02FF-DA1D-2386-E3A333E5C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0FBC3-A446-B040-9B6C-599ED60A0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3DFCD-14A0-90C1-6B40-D518C30CE389}"/>
              </a:ext>
            </a:extLst>
          </p:cNvPr>
          <p:cNvSpPr>
            <a:spLocks noGrp="1"/>
          </p:cNvSpPr>
          <p:nvPr>
            <p:ph type="body" idx="1"/>
          </p:nvPr>
        </p:nvSpPr>
        <p:spPr/>
        <p:txBody>
          <a:bodyPr/>
          <a:lstStyle/>
          <a:p>
            <a:r>
              <a:rPr lang="en-US" dirty="0"/>
              <a:t>ATTENDANCE CHECK - do this right before the quiz.</a:t>
            </a:r>
          </a:p>
          <a:p>
            <a:r>
              <a:rPr lang="en-US" dirty="0"/>
              <a:t>1. In Google Forms, open 'Quiz 04 Attendance - Raft II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a:p>
            <a:r>
              <a:rPr lang="en-US" dirty="0"/>
              <a:t>TODO: this form does not exist yet. Create it, then put its link and QR on this slide.</a:t>
            </a:r>
          </a:p>
        </p:txBody>
      </p:sp>
      <p:sp>
        <p:nvSpPr>
          <p:cNvPr id="4" name="Slide Number Placeholder 3">
            <a:extLst>
              <a:ext uri="{FF2B5EF4-FFF2-40B4-BE49-F238E27FC236}">
                <a16:creationId xmlns:a16="http://schemas.microsoft.com/office/drawing/2014/main" id="{EA0B9615-41D5-53A4-EBB6-7D46695FD89D}"/>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20233282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FD14-02FF-DA1D-2386-E3A333E5C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0FBC3-A446-B040-9B6C-599ED60A0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3DFCD-14A0-90C1-6B40-D518C30CE389}"/>
              </a:ext>
            </a:extLst>
          </p:cNvPr>
          <p:cNvSpPr>
            <a:spLocks noGrp="1"/>
          </p:cNvSpPr>
          <p:nvPr>
            <p:ph type="body" idx="1"/>
          </p:nvPr>
        </p:nvSpPr>
        <p:spPr/>
        <p:txBody>
          <a:bodyPr/>
          <a:lstStyle/>
          <a:p>
            <a:r>
              <a:rPr lang="en-US" dirty="0"/>
              <a:t>BEFORE THE QUIZ: the form was created closed. In Google Forms, turn on 'Accepting responses' when you start the quiz, and turn it off after 10 minutes.</a:t>
            </a:r>
          </a:p>
          <a:p>
            <a:r>
              <a:rPr lang="en-US" dirty="0"/>
              <a:t>Form: 'Quiz 04 - Raft II (Fall 2026)' in the Drive folder EC528-Fall26. Students sign in with their BU account and must enter their BU ID.</a:t>
            </a:r>
          </a:p>
          <a:p>
            <a:r>
              <a:rPr lang="en-US" dirty="0"/>
              <a:t>Covers this lecture only: leader changes, log inconsistency and repair, the election restriction, commitment rules, persistence, and log compaction.</a:t>
            </a:r>
          </a:p>
          <a:p>
            <a:r>
              <a:rPr lang="en-US" dirty="0"/>
              <a:t>TODO: this form does not exist yet. Create it, then put its link and QR on this slide.</a:t>
            </a:r>
          </a:p>
        </p:txBody>
      </p:sp>
      <p:sp>
        <p:nvSpPr>
          <p:cNvPr id="4" name="Slide Number Placeholder 3">
            <a:extLst>
              <a:ext uri="{FF2B5EF4-FFF2-40B4-BE49-F238E27FC236}">
                <a16:creationId xmlns:a16="http://schemas.microsoft.com/office/drawing/2014/main" id="{EA0B9615-41D5-53A4-EBB6-7D46695FD89D}"/>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2023328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3560D-66EA-7998-7CB0-0EA38A5BA8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FBB5BB8-B9E7-76B1-43C5-C260F93CA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13FEE50-EFC4-AF67-19E2-74B0E9B41CC9}"/>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8EDA146C-B886-F412-8467-BE49B13D7A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E0A2C9-0073-D7A7-FD11-A0D4DB016B32}"/>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25125434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FC5B1-52E3-9D18-0A0F-7E798BD14E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75873A-4E0E-575D-5F0C-C6C5A64FA8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70A51A-6CBA-3F43-FD8C-C6659C0AE8FD}"/>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72761E4A-C73A-CB44-A02A-D298DAD91B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1D3859-616D-E491-219A-6E3430974033}"/>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952559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10A3-2B64-1E44-C455-F3A8CC4068B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924F5AB-2168-C2C7-DB81-E5B36B24B6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BDAFD1-61B2-6B6D-EAC8-BCF6D14F98E9}"/>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3325218D-F848-A5E1-6BB9-E2742E69A7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C09E6F-9CB0-4E70-F8E4-9F053225C21E}"/>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3286678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C8AF4-7F5B-035D-9929-140CE80522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64D96E7-24E5-5606-0ACB-63985A413D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0E1AA6-F34D-1833-623F-68C69F16D0D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8BBB1C-F08B-BF51-7097-896CABE31DBF}"/>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6" name="Footer Placeholder 5">
            <a:extLst>
              <a:ext uri="{FF2B5EF4-FFF2-40B4-BE49-F238E27FC236}">
                <a16:creationId xmlns:a16="http://schemas.microsoft.com/office/drawing/2014/main" id="{514DD3DA-5E3E-C3CD-D99D-F1B7D63B65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23A3AC-59CD-D16B-B981-E06916EB65FE}"/>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3110883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972517-63A6-707A-E447-5E3E63DA3C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2D39AB-F931-7328-4D23-A07287D4F1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4AD9C7-D857-D07E-8823-1E6D2C8126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538E75-FCFF-1B75-D49C-663B49F71F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0F7C20-A201-C475-0EA2-0470CE3AD66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4A697E4-098B-8EF9-3709-7745F585C05C}"/>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8" name="Footer Placeholder 7">
            <a:extLst>
              <a:ext uri="{FF2B5EF4-FFF2-40B4-BE49-F238E27FC236}">
                <a16:creationId xmlns:a16="http://schemas.microsoft.com/office/drawing/2014/main" id="{F2837CB4-FBB0-0B68-6A5D-F3CFD640B5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CFF18A-DE0A-CCB3-BE1B-CCFE307AA25C}"/>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2985345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4AAE1-BF5A-95FD-B8B1-743082DA39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42FDE5C-19E7-CF37-7C4F-FC5817C00EE3}"/>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4" name="Footer Placeholder 3">
            <a:extLst>
              <a:ext uri="{FF2B5EF4-FFF2-40B4-BE49-F238E27FC236}">
                <a16:creationId xmlns:a16="http://schemas.microsoft.com/office/drawing/2014/main" id="{90F575D0-5F48-B58F-67A4-DA23578DA8A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86DB007-3B1D-0F05-6807-FDC879B86D12}"/>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27750120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F19832-EE05-9B47-9AD0-3FB54B9F0A6E}"/>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3" name="Footer Placeholder 2">
            <a:extLst>
              <a:ext uri="{FF2B5EF4-FFF2-40B4-BE49-F238E27FC236}">
                <a16:creationId xmlns:a16="http://schemas.microsoft.com/office/drawing/2014/main" id="{A2ADC4AF-3766-90DA-0BC1-13A34CD436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7FB0E7-276C-DECE-C4BC-BB499D08473F}"/>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0530198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59424-E178-CEE0-ADC4-ED78431C3E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DDDE805-9B23-3B8B-A85B-C2BCDF820A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C41E0C-85E9-E173-3214-A40B7D1AAE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6956D6-C4FE-CF0D-5680-EC76F3D32633}"/>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6" name="Footer Placeholder 5">
            <a:extLst>
              <a:ext uri="{FF2B5EF4-FFF2-40B4-BE49-F238E27FC236}">
                <a16:creationId xmlns:a16="http://schemas.microsoft.com/office/drawing/2014/main" id="{A905796A-8400-9F9A-783C-2C606E9E440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FADE40-C395-65EB-9A6C-1B5227162EC6}"/>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199984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B95F0-C095-EAF4-6646-DE3B698498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33B7A8-1F39-802B-06AE-0B1B779BE02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465CDF5-F55D-E86B-1AF0-BACBF980AA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322410-7FB0-0439-91D3-B316421C3728}"/>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6" name="Footer Placeholder 5">
            <a:extLst>
              <a:ext uri="{FF2B5EF4-FFF2-40B4-BE49-F238E27FC236}">
                <a16:creationId xmlns:a16="http://schemas.microsoft.com/office/drawing/2014/main" id="{0C4224E9-F80F-03FE-A286-4257A7378F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160E55-098E-693D-92E5-CBE720ED5C31}"/>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2253799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C394D-8F6E-C96A-6E17-7240C20DFBB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8C0753-0EB7-A875-23EC-2D6ACED0EA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4F7F6D-BB41-C4B8-DF07-034F5F9EE446}"/>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6BF76E41-6B94-3DC2-85FB-EE0314437A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9CB9B5-22A2-FD06-0AF4-277FC5EA25A2}"/>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31200327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6C42E6-D288-79B9-98A9-C09AA61ADB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7D34A44-B50E-C2BB-F0B1-503920DC9C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44255C-3225-BFA6-3020-E43D83D70BE1}"/>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E2BAEB22-D721-A554-E8D0-B9C538466C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D16F9D-CFF2-3283-404D-0817AEB14B7A}"/>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255249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73B6BF-1D8B-DD53-010D-2099603F94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D7824B-50E4-B4E6-4E2F-6968FF3068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211948-8B12-5503-6186-74B654A91B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8DB3D78B-35F3-143A-2150-910640F051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60F435D-FE33-B053-DE34-37F2CE8BDBC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97B4E2E-854A-2040-B625-D1A594382B5C}" type="slidenum">
              <a:rPr lang="en-US" smtClean="0"/>
              <a:t>‹#›</a:t>
            </a:fld>
            <a:endParaRPr lang="en-US"/>
          </a:p>
        </p:txBody>
      </p:sp>
    </p:spTree>
    <p:extLst>
      <p:ext uri="{BB962C8B-B14F-4D97-AF65-F5344CB8AC3E}">
        <p14:creationId xmlns:p14="http://schemas.microsoft.com/office/powerpoint/2010/main" val="30231754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forms.gle/C9vuYuMkDJcN2xEF7"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forms.gle/Ln2N5fwHiAoDCvBT6" TargetMode="Externa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forms.gle/tnjNUFKsbhY5ekc4A" TargetMode="Externa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6</a:t>
            </a: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 Consensus II</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Fall 2026                            </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
        <p:nvSpPr>
          <p:cNvPr id="5" name="TextBox 4">
            <a:extLst>
              <a:ext uri="{FF2B5EF4-FFF2-40B4-BE49-F238E27FC236}">
                <a16:creationId xmlns:a16="http://schemas.microsoft.com/office/drawing/2014/main" id="{FDF47666-66C3-F436-1A3D-A43CF4347F1F}"/>
              </a:ext>
            </a:extLst>
          </p:cNvPr>
          <p:cNvSpPr txBox="1"/>
          <p:nvPr/>
        </p:nvSpPr>
        <p:spPr>
          <a:xfrm>
            <a:off x="3514411" y="6351268"/>
            <a:ext cx="6325436" cy="369332"/>
          </a:xfrm>
          <a:prstGeom prst="rect">
            <a:avLst/>
          </a:prstGeom>
          <a:noFill/>
        </p:spPr>
        <p:txBody>
          <a:bodyPr wrap="square">
            <a:spAutoFit/>
          </a:bodyPr>
          <a:lstStyle/>
          <a:p>
            <a:r>
              <a:rPr lang="en-US" dirty="0"/>
              <a:t>Slides courtesy of Chang Lou and Robert </a:t>
            </a:r>
            <a:r>
              <a:rPr lang="en-US" dirty="0" err="1"/>
              <a:t>Morrios</a:t>
            </a:r>
            <a:endParaRPr lang="en-US" dirty="0"/>
          </a:p>
        </p:txBody>
      </p:sp>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Administrivia</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a:p>
        </p:txBody>
      </p:sp>
      <p:sp>
        <p:nvSpPr>
          <p:cNvPr id="2" name="TextBox 1">
            <a:extLst>
              <a:ext uri="{FF2B5EF4-FFF2-40B4-BE49-F238E27FC236}">
                <a16:creationId xmlns:a16="http://schemas.microsoft.com/office/drawing/2014/main" id="{15D1C793-B8D6-F0A3-1030-E914D6D0F5CB}"/>
              </a:ext>
            </a:extLst>
          </p:cNvPr>
          <p:cNvSpPr txBox="1"/>
          <p:nvPr/>
        </p:nvSpPr>
        <p:spPr>
          <a:xfrm>
            <a:off x="401934" y="914401"/>
            <a:ext cx="5694066" cy="1077218"/>
          </a:xfrm>
          <a:prstGeom prst="rect">
            <a:avLst/>
          </a:prstGeom>
          <a:noFill/>
        </p:spPr>
        <p:txBody>
          <a:bodyPr wrap="square" rtlCol="0">
            <a:spAutoFit/>
          </a:bodyPr>
          <a:lstStyle/>
          <a:p>
            <a:r>
              <a:rPr lang="en-US" altLang="zh-CN" sz="2800" b="1" dirty="0"/>
              <a:t>Share your AWS ID by Tonight</a:t>
            </a:r>
          </a:p>
          <a:p>
            <a:pPr marL="742950" lvl="1" indent="-285750">
              <a:buFont typeface="Arial" panose="020B0604020202020204" pitchFamily="34" charset="0"/>
              <a:buChar char="•"/>
            </a:pPr>
            <a:r>
              <a:rPr lang="en-US" dirty="0">
                <a:hlinkClick r:id="rId3"/>
              </a:rPr>
              <a:t>https://forms.gle/C9vuYuMkDJcN2xEF7</a:t>
            </a:r>
            <a:endParaRPr lang="en-US" dirty="0"/>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DC4BB-C916-5B8D-E74A-4F3AD61A655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C1C3907-C6B2-A62A-2E55-34F671272A4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Log?</a:t>
            </a:r>
          </a:p>
        </p:txBody>
      </p:sp>
      <p:sp>
        <p:nvSpPr>
          <p:cNvPr id="8" name="Slide Number Placeholder 4">
            <a:extLst>
              <a:ext uri="{FF2B5EF4-FFF2-40B4-BE49-F238E27FC236}">
                <a16:creationId xmlns:a16="http://schemas.microsoft.com/office/drawing/2014/main" id="{8934716F-A06E-A3DC-70C2-19043DE99F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31D8777-48A6-FD5A-2333-D896BE0C2D55}"/>
              </a:ext>
            </a:extLst>
          </p:cNvPr>
          <p:cNvSpPr txBox="1"/>
          <p:nvPr/>
        </p:nvSpPr>
        <p:spPr>
          <a:xfrm>
            <a:off x="217842" y="914401"/>
            <a:ext cx="11239051" cy="4647426"/>
          </a:xfrm>
          <a:prstGeom prst="rect">
            <a:avLst/>
          </a:prstGeom>
          <a:noFill/>
        </p:spPr>
        <p:txBody>
          <a:bodyPr wrap="square">
            <a:spAutoFit/>
          </a:bodyPr>
          <a:lstStyle/>
          <a:p>
            <a:r>
              <a:rPr lang="en-US" sz="2800" b="1" dirty="0"/>
              <a:t>The log orders the commands </a:t>
            </a:r>
          </a:p>
          <a:p>
            <a:pPr marL="800100" lvl="1" indent="-342900">
              <a:buFont typeface="Arial" panose="020B0604020202020204" pitchFamily="34" charset="0"/>
              <a:buChar char="•"/>
            </a:pPr>
            <a:r>
              <a:rPr lang="en-US" sz="2400" dirty="0"/>
              <a:t>to help replicas agree on a single execution order </a:t>
            </a:r>
          </a:p>
          <a:p>
            <a:pPr marL="800100" lvl="1" indent="-342900">
              <a:buFont typeface="Arial" panose="020B0604020202020204" pitchFamily="34" charset="0"/>
              <a:buChar char="•"/>
            </a:pPr>
            <a:r>
              <a:rPr lang="en-US" sz="2400" dirty="0"/>
              <a:t>to help the leader ensure followers have identical logs </a:t>
            </a:r>
          </a:p>
          <a:p>
            <a:endParaRPr lang="en-US" sz="2400" dirty="0"/>
          </a:p>
          <a:p>
            <a:r>
              <a:rPr lang="en-US" sz="2800" b="1" dirty="0"/>
              <a:t>The log stores tentative commands until committed </a:t>
            </a:r>
          </a:p>
          <a:p>
            <a:endParaRPr lang="en-US" sz="2800" b="1" dirty="0"/>
          </a:p>
          <a:p>
            <a:r>
              <a:rPr lang="en-US" sz="2800" b="1" dirty="0"/>
              <a:t>The log stores commands in case leader must re-send to followers </a:t>
            </a:r>
          </a:p>
          <a:p>
            <a:endParaRPr lang="en-US" sz="2800" b="1" dirty="0"/>
          </a:p>
          <a:p>
            <a:r>
              <a:rPr lang="en-US" sz="2800" b="1" dirty="0"/>
              <a:t>The log stores commands persistently for replay after reboot</a:t>
            </a:r>
          </a:p>
          <a:p>
            <a:endParaRPr lang="en-US" sz="2800" b="1" dirty="0"/>
          </a:p>
          <a:p>
            <a:r>
              <a:rPr lang="en-US" sz="2800" b="1" dirty="0"/>
              <a:t>Are the servers' logs exact replicas of each other?</a:t>
            </a:r>
          </a:p>
        </p:txBody>
      </p:sp>
    </p:spTree>
    <p:extLst>
      <p:ext uri="{BB962C8B-B14F-4D97-AF65-F5344CB8AC3E}">
        <p14:creationId xmlns:p14="http://schemas.microsoft.com/office/powerpoint/2010/main" val="3608257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6" end="6"/>
                                            </p:txEl>
                                          </p:spTgt>
                                        </p:tgtEl>
                                        <p:attrNameLst>
                                          <p:attrName>style.visibility</p:attrName>
                                        </p:attrNameLst>
                                      </p:cBhvr>
                                      <p:to>
                                        <p:strVal val="visible"/>
                                      </p:to>
                                    </p:set>
                                    <p:animEffect transition="in" filter="dissolve">
                                      <p:cBhvr>
                                        <p:cTn id="12" dur="500"/>
                                        <p:tgtEl>
                                          <p:spTgt spid="3">
                                            <p:txEl>
                                              <p:pRg st="6" end="6"/>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animEffect transition="in" filter="dissolve">
                                      <p:cBhvr>
                                        <p:cTn id="17" dur="500"/>
                                        <p:tgtEl>
                                          <p:spTgt spid="3">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936BE-E0EC-C309-4282-ABE5AAD480C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8F8CC04-568F-832C-150A-F08E30ECDA5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Log Structure</a:t>
            </a:r>
          </a:p>
        </p:txBody>
      </p:sp>
      <p:sp>
        <p:nvSpPr>
          <p:cNvPr id="8" name="Slide Number Placeholder 4">
            <a:extLst>
              <a:ext uri="{FF2B5EF4-FFF2-40B4-BE49-F238E27FC236}">
                <a16:creationId xmlns:a16="http://schemas.microsoft.com/office/drawing/2014/main" id="{5B9E296D-B0AA-6A21-D9B5-ACE34A0C15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pic>
        <p:nvPicPr>
          <p:cNvPr id="2" name="object 4">
            <a:extLst>
              <a:ext uri="{FF2B5EF4-FFF2-40B4-BE49-F238E27FC236}">
                <a16:creationId xmlns:a16="http://schemas.microsoft.com/office/drawing/2014/main" id="{B33E20E9-FCE4-FCE2-56C2-45889E95488A}"/>
              </a:ext>
            </a:extLst>
          </p:cNvPr>
          <p:cNvPicPr>
            <a:picLocks noChangeAspect="1"/>
          </p:cNvPicPr>
          <p:nvPr/>
        </p:nvPicPr>
        <p:blipFill>
          <a:blip r:embed="rId3" cstate="print"/>
          <a:stretch>
            <a:fillRect/>
          </a:stretch>
        </p:blipFill>
        <p:spPr>
          <a:xfrm>
            <a:off x="2607629" y="817583"/>
            <a:ext cx="6976740" cy="2953308"/>
          </a:xfrm>
          <a:prstGeom prst="rect">
            <a:avLst/>
          </a:prstGeom>
        </p:spPr>
      </p:pic>
      <p:sp>
        <p:nvSpPr>
          <p:cNvPr id="4" name="TextBox 3">
            <a:extLst>
              <a:ext uri="{FF2B5EF4-FFF2-40B4-BE49-F238E27FC236}">
                <a16:creationId xmlns:a16="http://schemas.microsoft.com/office/drawing/2014/main" id="{E3E34392-C0D5-85FB-13DF-9A2AABAF9BDF}"/>
              </a:ext>
            </a:extLst>
          </p:cNvPr>
          <p:cNvSpPr txBox="1"/>
          <p:nvPr/>
        </p:nvSpPr>
        <p:spPr>
          <a:xfrm>
            <a:off x="486784" y="3870780"/>
            <a:ext cx="9571616" cy="2339102"/>
          </a:xfrm>
          <a:prstGeom prst="rect">
            <a:avLst/>
          </a:prstGeom>
          <a:noFill/>
        </p:spPr>
        <p:txBody>
          <a:bodyPr wrap="square">
            <a:spAutoFit/>
          </a:bodyPr>
          <a:lstStyle/>
          <a:p>
            <a:r>
              <a:rPr lang="en-US" sz="2800" b="1" dirty="0"/>
              <a:t>Log entry = &lt; index, term, command &gt; </a:t>
            </a:r>
          </a:p>
          <a:p>
            <a:endParaRPr lang="en-US" b="1" dirty="0"/>
          </a:p>
          <a:p>
            <a:r>
              <a:rPr lang="en-US" sz="2800" b="1" dirty="0"/>
              <a:t>Log stored on stable storage (disk); survives crashes </a:t>
            </a:r>
          </a:p>
          <a:p>
            <a:endParaRPr lang="en-US" b="1" dirty="0"/>
          </a:p>
          <a:p>
            <a:r>
              <a:rPr lang="en-US" sz="2800" b="1" dirty="0"/>
              <a:t>Entry committed -&gt; stored on majority of servers </a:t>
            </a:r>
          </a:p>
          <a:p>
            <a:pPr marL="742950" lvl="1" indent="-285750">
              <a:buFont typeface="Arial" panose="020B0604020202020204" pitchFamily="34" charset="0"/>
              <a:buChar char="•"/>
            </a:pPr>
            <a:r>
              <a:rPr lang="en-US" sz="2400" dirty="0"/>
              <a:t>Durable / stable, will eventually be executed by state machines</a:t>
            </a:r>
          </a:p>
        </p:txBody>
      </p:sp>
    </p:spTree>
    <p:extLst>
      <p:ext uri="{BB962C8B-B14F-4D97-AF65-F5344CB8AC3E}">
        <p14:creationId xmlns:p14="http://schemas.microsoft.com/office/powerpoint/2010/main" val="31294357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B2089-47FD-D09E-05E3-E108AA362188}"/>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4CDE72-1ACB-8D8D-1F01-9A6DC8CFD2B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Crash</a:t>
            </a:r>
          </a:p>
        </p:txBody>
      </p:sp>
      <p:sp>
        <p:nvSpPr>
          <p:cNvPr id="8" name="Slide Number Placeholder 4">
            <a:extLst>
              <a:ext uri="{FF2B5EF4-FFF2-40B4-BE49-F238E27FC236}">
                <a16:creationId xmlns:a16="http://schemas.microsoft.com/office/drawing/2014/main" id="{9FFE0D0E-B5E7-65B3-360B-2D83D7B7983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pic>
        <p:nvPicPr>
          <p:cNvPr id="2" name="object 4">
            <a:extLst>
              <a:ext uri="{FF2B5EF4-FFF2-40B4-BE49-F238E27FC236}">
                <a16:creationId xmlns:a16="http://schemas.microsoft.com/office/drawing/2014/main" id="{F2CE00B4-8E3B-4D24-1CA7-42A54651B042}"/>
              </a:ext>
            </a:extLst>
          </p:cNvPr>
          <p:cNvPicPr>
            <a:picLocks noChangeAspect="1"/>
          </p:cNvPicPr>
          <p:nvPr/>
        </p:nvPicPr>
        <p:blipFill>
          <a:blip r:embed="rId3" cstate="print"/>
          <a:stretch>
            <a:fillRect/>
          </a:stretch>
        </p:blipFill>
        <p:spPr>
          <a:xfrm>
            <a:off x="3415292" y="692451"/>
            <a:ext cx="6137499" cy="2220035"/>
          </a:xfrm>
          <a:prstGeom prst="rect">
            <a:avLst/>
          </a:prstGeom>
        </p:spPr>
      </p:pic>
      <p:sp>
        <p:nvSpPr>
          <p:cNvPr id="4" name="TextBox 3">
            <a:extLst>
              <a:ext uri="{FF2B5EF4-FFF2-40B4-BE49-F238E27FC236}">
                <a16:creationId xmlns:a16="http://schemas.microsoft.com/office/drawing/2014/main" id="{A5AD05C3-7993-41E1-FDF2-B858D6DC8B8E}"/>
              </a:ext>
            </a:extLst>
          </p:cNvPr>
          <p:cNvSpPr txBox="1"/>
          <p:nvPr/>
        </p:nvSpPr>
        <p:spPr>
          <a:xfrm>
            <a:off x="142537" y="2988659"/>
            <a:ext cx="10920805" cy="2246769"/>
          </a:xfrm>
          <a:prstGeom prst="rect">
            <a:avLst/>
          </a:prstGeom>
          <a:noFill/>
        </p:spPr>
        <p:txBody>
          <a:bodyPr wrap="square">
            <a:spAutoFit/>
          </a:bodyPr>
          <a:lstStyle/>
          <a:p>
            <a:r>
              <a:rPr lang="en-US" sz="2800" b="1" dirty="0"/>
              <a:t>Crashed / slow followers? </a:t>
            </a:r>
          </a:p>
          <a:p>
            <a:endParaRPr lang="en-US" sz="2800" dirty="0"/>
          </a:p>
          <a:p>
            <a:r>
              <a:rPr lang="en-US" sz="2800" b="1" dirty="0"/>
              <a:t>Performance is “optimal” in common case: </a:t>
            </a:r>
          </a:p>
          <a:p>
            <a:pPr marL="914400" lvl="1" indent="-457200">
              <a:buFont typeface="Arial" panose="020B0604020202020204" pitchFamily="34" charset="0"/>
              <a:buChar char="•"/>
            </a:pPr>
            <a:r>
              <a:rPr lang="en-US" sz="2800" dirty="0"/>
              <a:t>Leader retries RPCs until they succeed </a:t>
            </a:r>
          </a:p>
          <a:p>
            <a:pPr marL="914400" lvl="1" indent="-457200">
              <a:buFont typeface="Arial" panose="020B0604020202020204" pitchFamily="34" charset="0"/>
              <a:buChar char="•"/>
            </a:pPr>
            <a:r>
              <a:rPr lang="en-US" sz="2800" dirty="0"/>
              <a:t>Followers pass committed commands to their state machines</a:t>
            </a:r>
            <a:endParaRPr lang="en-US" sz="2400" dirty="0"/>
          </a:p>
        </p:txBody>
      </p:sp>
    </p:spTree>
    <p:extLst>
      <p:ext uri="{BB962C8B-B14F-4D97-AF65-F5344CB8AC3E}">
        <p14:creationId xmlns:p14="http://schemas.microsoft.com/office/powerpoint/2010/main" val="300909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451DC-2B3D-CBB7-99F9-429D0FF9223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DE566A1-F2FF-B37D-BBFE-4D11068D9C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Log Operation</a:t>
            </a:r>
          </a:p>
        </p:txBody>
      </p:sp>
      <p:sp>
        <p:nvSpPr>
          <p:cNvPr id="8" name="Slide Number Placeholder 4">
            <a:extLst>
              <a:ext uri="{FF2B5EF4-FFF2-40B4-BE49-F238E27FC236}">
                <a16:creationId xmlns:a16="http://schemas.microsoft.com/office/drawing/2014/main" id="{E4A059CA-CF1A-84AE-387E-F9108BA9F1A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pic>
        <p:nvPicPr>
          <p:cNvPr id="2" name="object 4">
            <a:extLst>
              <a:ext uri="{FF2B5EF4-FFF2-40B4-BE49-F238E27FC236}">
                <a16:creationId xmlns:a16="http://schemas.microsoft.com/office/drawing/2014/main" id="{03215C66-7121-5C08-43CE-C7E16026D256}"/>
              </a:ext>
            </a:extLst>
          </p:cNvPr>
          <p:cNvPicPr>
            <a:picLocks noChangeAspect="1"/>
          </p:cNvPicPr>
          <p:nvPr/>
        </p:nvPicPr>
        <p:blipFill>
          <a:blip r:embed="rId3" cstate="print"/>
          <a:stretch>
            <a:fillRect/>
          </a:stretch>
        </p:blipFill>
        <p:spPr>
          <a:xfrm>
            <a:off x="2591858" y="1218891"/>
            <a:ext cx="6018742" cy="2079724"/>
          </a:xfrm>
          <a:prstGeom prst="rect">
            <a:avLst/>
          </a:prstGeom>
        </p:spPr>
      </p:pic>
      <p:sp>
        <p:nvSpPr>
          <p:cNvPr id="4" name="TextBox 3">
            <a:extLst>
              <a:ext uri="{FF2B5EF4-FFF2-40B4-BE49-F238E27FC236}">
                <a16:creationId xmlns:a16="http://schemas.microsoft.com/office/drawing/2014/main" id="{E32C8A9E-21B8-A05B-C29F-E0D1FF1A62B9}"/>
              </a:ext>
            </a:extLst>
          </p:cNvPr>
          <p:cNvSpPr txBox="1"/>
          <p:nvPr/>
        </p:nvSpPr>
        <p:spPr>
          <a:xfrm>
            <a:off x="222946" y="3603106"/>
            <a:ext cx="11282082" cy="2431435"/>
          </a:xfrm>
          <a:prstGeom prst="rect">
            <a:avLst/>
          </a:prstGeom>
          <a:noFill/>
        </p:spPr>
        <p:txBody>
          <a:bodyPr wrap="square">
            <a:spAutoFit/>
          </a:bodyPr>
          <a:lstStyle/>
          <a:p>
            <a:r>
              <a:rPr lang="en-US" sz="2800" b="1" dirty="0"/>
              <a:t>If log entries on different server have same index and term:</a:t>
            </a:r>
          </a:p>
          <a:p>
            <a:pPr marL="800100" lvl="1" indent="-342900">
              <a:buFont typeface="Arial" panose="020B0604020202020204" pitchFamily="34" charset="0"/>
              <a:buChar char="•"/>
            </a:pPr>
            <a:r>
              <a:rPr lang="en-US" sz="2400" dirty="0"/>
              <a:t>Store the same command =&gt; one leader, one entry, one index, one term + log position never change</a:t>
            </a:r>
          </a:p>
          <a:p>
            <a:pPr marL="800100" lvl="1" indent="-342900">
              <a:buFont typeface="Arial" panose="020B0604020202020204" pitchFamily="34" charset="0"/>
              <a:buChar char="•"/>
            </a:pPr>
            <a:r>
              <a:rPr lang="en-US" sz="2400" dirty="0"/>
              <a:t>Logs are identical in all preceding entries =&gt; consistency check </a:t>
            </a:r>
          </a:p>
          <a:p>
            <a:endParaRPr lang="en-US" sz="2000" dirty="0"/>
          </a:p>
          <a:p>
            <a:r>
              <a:rPr lang="en-US" sz="2800" b="1" dirty="0"/>
              <a:t>If given entry is committed, all preceding also committed</a:t>
            </a:r>
          </a:p>
        </p:txBody>
      </p:sp>
    </p:spTree>
    <p:extLst>
      <p:ext uri="{BB962C8B-B14F-4D97-AF65-F5344CB8AC3E}">
        <p14:creationId xmlns:p14="http://schemas.microsoft.com/office/powerpoint/2010/main" val="1554390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A74DB-3B56-9582-21C4-DDC5BD3FE42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1C35FD5-A5AD-AE82-8ABE-AFF620ED8FFF}"/>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Leader Changes</a:t>
            </a:r>
          </a:p>
        </p:txBody>
      </p:sp>
      <p:sp>
        <p:nvSpPr>
          <p:cNvPr id="8" name="Slide Number Placeholder 4">
            <a:extLst>
              <a:ext uri="{FF2B5EF4-FFF2-40B4-BE49-F238E27FC236}">
                <a16:creationId xmlns:a16="http://schemas.microsoft.com/office/drawing/2014/main" id="{4553C917-A037-36E9-2528-BA91F2A7E3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2" name="TextBox 1">
            <a:extLst>
              <a:ext uri="{FF2B5EF4-FFF2-40B4-BE49-F238E27FC236}">
                <a16:creationId xmlns:a16="http://schemas.microsoft.com/office/drawing/2014/main" id="{482AE17D-1082-F861-6DD4-406E199FFE95}"/>
              </a:ext>
            </a:extLst>
          </p:cNvPr>
          <p:cNvSpPr txBox="1"/>
          <p:nvPr/>
        </p:nvSpPr>
        <p:spPr>
          <a:xfrm>
            <a:off x="268942" y="815797"/>
            <a:ext cx="9455971" cy="3662541"/>
          </a:xfrm>
          <a:prstGeom prst="rect">
            <a:avLst/>
          </a:prstGeom>
          <a:noFill/>
        </p:spPr>
        <p:txBody>
          <a:bodyPr wrap="square" rtlCol="0">
            <a:spAutoFit/>
          </a:bodyPr>
          <a:lstStyle/>
          <a:p>
            <a:r>
              <a:rPr lang="en-US" sz="2800" b="1" dirty="0"/>
              <a:t>As long as the leader stays up:</a:t>
            </a:r>
          </a:p>
          <a:p>
            <a:pPr marL="800100" lvl="1" indent="-342900">
              <a:buFont typeface="Arial" panose="020B0604020202020204" pitchFamily="34" charset="0"/>
              <a:buChar char="•"/>
            </a:pPr>
            <a:r>
              <a:rPr lang="en-US" sz="2400" dirty="0"/>
              <a:t>clients only interact with the leader </a:t>
            </a:r>
          </a:p>
          <a:p>
            <a:pPr marL="800100" lvl="1" indent="-342900">
              <a:buFont typeface="Arial" panose="020B0604020202020204" pitchFamily="34" charset="0"/>
              <a:buChar char="•"/>
            </a:pPr>
            <a:r>
              <a:rPr lang="en-US" sz="2400" dirty="0"/>
              <a:t>clients can't see follower states or logs</a:t>
            </a:r>
          </a:p>
          <a:p>
            <a:endParaRPr lang="en-US" sz="2800" b="1" dirty="0"/>
          </a:p>
          <a:p>
            <a:r>
              <a:rPr lang="en-US" sz="2800" b="1" dirty="0"/>
              <a:t>Things get interesting when changing leaders </a:t>
            </a:r>
          </a:p>
          <a:p>
            <a:pPr marL="914400" lvl="1" indent="-457200">
              <a:buFont typeface="Arial" panose="020B0604020202020204" pitchFamily="34" charset="0"/>
              <a:buChar char="•"/>
            </a:pPr>
            <a:r>
              <a:rPr lang="en-US" sz="2400" dirty="0"/>
              <a:t>e.g. after the old leader fails </a:t>
            </a:r>
          </a:p>
          <a:p>
            <a:pPr marL="914400" lvl="1" indent="-457200">
              <a:buFont typeface="Arial" panose="020B0604020202020204" pitchFamily="34" charset="0"/>
              <a:buChar char="•"/>
            </a:pPr>
            <a:r>
              <a:rPr lang="en-US" sz="2400" dirty="0"/>
              <a:t>how to change leaders without anomalies?</a:t>
            </a:r>
            <a:endParaRPr lang="en-US" sz="2800" b="1" dirty="0"/>
          </a:p>
          <a:p>
            <a:pPr lvl="1"/>
            <a:endParaRPr lang="en-US" sz="2400" dirty="0"/>
          </a:p>
          <a:p>
            <a:pPr lvl="1"/>
            <a:endParaRPr lang="en-US" sz="2400" dirty="0"/>
          </a:p>
        </p:txBody>
      </p:sp>
    </p:spTree>
    <p:extLst>
      <p:ext uri="{BB962C8B-B14F-4D97-AF65-F5344CB8AC3E}">
        <p14:creationId xmlns:p14="http://schemas.microsoft.com/office/powerpoint/2010/main" val="228329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5" end="5"/>
                                            </p:txEl>
                                          </p:spTgt>
                                        </p:tgtEl>
                                        <p:attrNameLst>
                                          <p:attrName>style.visibility</p:attrName>
                                        </p:attrNameLst>
                                      </p:cBhvr>
                                      <p:to>
                                        <p:strVal val="visible"/>
                                      </p:to>
                                    </p:set>
                                    <p:animEffect transition="in" filter="dissolve">
                                      <p:cBhvr>
                                        <p:cTn id="10" dur="500"/>
                                        <p:tgtEl>
                                          <p:spTgt spid="2">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155E9-F0C1-280C-1D21-A01C6B84811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DA08C72-50E3-1954-10F6-82E53644DB8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Crashes can Leave Log Disagree</a:t>
            </a:r>
          </a:p>
        </p:txBody>
      </p:sp>
      <p:sp>
        <p:nvSpPr>
          <p:cNvPr id="8" name="Slide Number Placeholder 4">
            <a:extLst>
              <a:ext uri="{FF2B5EF4-FFF2-40B4-BE49-F238E27FC236}">
                <a16:creationId xmlns:a16="http://schemas.microsoft.com/office/drawing/2014/main" id="{F699ED2C-F34C-BCE4-662B-6E7C8747BEC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3" name="TextBox 2">
            <a:extLst>
              <a:ext uri="{FF2B5EF4-FFF2-40B4-BE49-F238E27FC236}">
                <a16:creationId xmlns:a16="http://schemas.microsoft.com/office/drawing/2014/main" id="{0C048B81-CA12-1F12-E1DD-13906FE269BD}"/>
              </a:ext>
            </a:extLst>
          </p:cNvPr>
          <p:cNvSpPr txBox="1"/>
          <p:nvPr/>
        </p:nvSpPr>
        <p:spPr>
          <a:xfrm>
            <a:off x="224565" y="1167502"/>
            <a:ext cx="11742868" cy="1815882"/>
          </a:xfrm>
          <a:prstGeom prst="rect">
            <a:avLst/>
          </a:prstGeom>
          <a:noFill/>
        </p:spPr>
        <p:txBody>
          <a:bodyPr wrap="square" rtlCol="0">
            <a:spAutoFit/>
          </a:bodyPr>
          <a:lstStyle/>
          <a:p>
            <a:pPr marL="457200" indent="-457200">
              <a:buFont typeface="Arial" panose="020B0604020202020204" pitchFamily="34" charset="0"/>
              <a:buChar char="•"/>
            </a:pPr>
            <a:r>
              <a:rPr lang="en-US" sz="2800" b="1" dirty="0"/>
              <a:t>A leader crashes before sending last </a:t>
            </a:r>
            <a:r>
              <a:rPr lang="en-US" sz="2800" b="1" dirty="0" err="1"/>
              <a:t>AppendEntries</a:t>
            </a:r>
            <a:r>
              <a:rPr lang="en-US" sz="2800" b="1" dirty="0"/>
              <a:t> to all</a:t>
            </a:r>
          </a:p>
          <a:p>
            <a:pPr marL="457200" indent="-457200">
              <a:buFont typeface="Arial" panose="020B0604020202020204" pitchFamily="34" charset="0"/>
              <a:buChar char="•"/>
            </a:pPr>
            <a:endParaRPr lang="en-US" sz="2800" b="1" dirty="0"/>
          </a:p>
          <a:p>
            <a:pPr marL="457200" indent="-457200">
              <a:buFont typeface="Arial" panose="020B0604020202020204" pitchFamily="34" charset="0"/>
              <a:buChar char="•"/>
            </a:pPr>
            <a:r>
              <a:rPr lang="en-US" sz="2800" b="1" dirty="0"/>
              <a:t>Logs might have different commands in same entry! after a series of leader crashes</a:t>
            </a:r>
          </a:p>
        </p:txBody>
      </p:sp>
    </p:spTree>
    <p:extLst>
      <p:ext uri="{BB962C8B-B14F-4D97-AF65-F5344CB8AC3E}">
        <p14:creationId xmlns:p14="http://schemas.microsoft.com/office/powerpoint/2010/main" val="299632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dissolv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dissolv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8F51C-63A8-86FB-689E-1C482DDFF72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F33254-AA94-B1D1-D682-B153C4C9594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Challenge: Log Inconsistencies</a:t>
            </a:r>
          </a:p>
        </p:txBody>
      </p:sp>
      <p:sp>
        <p:nvSpPr>
          <p:cNvPr id="8" name="Slide Number Placeholder 4">
            <a:extLst>
              <a:ext uri="{FF2B5EF4-FFF2-40B4-BE49-F238E27FC236}">
                <a16:creationId xmlns:a16="http://schemas.microsoft.com/office/drawing/2014/main" id="{6580CE6E-3AEC-FA27-597A-0623F98456A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pic>
        <p:nvPicPr>
          <p:cNvPr id="2" name="object 4">
            <a:extLst>
              <a:ext uri="{FF2B5EF4-FFF2-40B4-BE49-F238E27FC236}">
                <a16:creationId xmlns:a16="http://schemas.microsoft.com/office/drawing/2014/main" id="{19DCCD02-2686-9155-4B96-655EFD7AA82D}"/>
              </a:ext>
            </a:extLst>
          </p:cNvPr>
          <p:cNvPicPr>
            <a:picLocks noChangeAspect="1"/>
          </p:cNvPicPr>
          <p:nvPr/>
        </p:nvPicPr>
        <p:blipFill>
          <a:blip r:embed="rId3" cstate="print"/>
          <a:stretch>
            <a:fillRect/>
          </a:stretch>
        </p:blipFill>
        <p:spPr>
          <a:xfrm>
            <a:off x="2137768" y="1340334"/>
            <a:ext cx="7313180" cy="3365117"/>
          </a:xfrm>
          <a:prstGeom prst="rect">
            <a:avLst/>
          </a:prstGeom>
        </p:spPr>
      </p:pic>
      <p:sp>
        <p:nvSpPr>
          <p:cNvPr id="4" name="TextBox 3">
            <a:extLst>
              <a:ext uri="{FF2B5EF4-FFF2-40B4-BE49-F238E27FC236}">
                <a16:creationId xmlns:a16="http://schemas.microsoft.com/office/drawing/2014/main" id="{B344AFB7-6FBA-15CE-55CC-25786A64E0AD}"/>
              </a:ext>
            </a:extLst>
          </p:cNvPr>
          <p:cNvSpPr txBox="1"/>
          <p:nvPr/>
        </p:nvSpPr>
        <p:spPr>
          <a:xfrm>
            <a:off x="713096" y="5131385"/>
            <a:ext cx="8676564" cy="523220"/>
          </a:xfrm>
          <a:prstGeom prst="rect">
            <a:avLst/>
          </a:prstGeom>
          <a:noFill/>
        </p:spPr>
        <p:txBody>
          <a:bodyPr wrap="square">
            <a:spAutoFit/>
          </a:bodyPr>
          <a:lstStyle/>
          <a:p>
            <a:r>
              <a:rPr lang="en-US" sz="2800" b="1" dirty="0"/>
              <a:t>Leader changes can result in log in consistencies </a:t>
            </a:r>
          </a:p>
        </p:txBody>
      </p:sp>
    </p:spTree>
    <p:extLst>
      <p:ext uri="{BB962C8B-B14F-4D97-AF65-F5344CB8AC3E}">
        <p14:creationId xmlns:p14="http://schemas.microsoft.com/office/powerpoint/2010/main" val="22964628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0D7C6-BE87-7D68-8711-255A6BF4423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B36F21E-9AAA-AAD9-2BF6-BB6DEF68E453}"/>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Safety Requirement</a:t>
            </a:r>
          </a:p>
        </p:txBody>
      </p:sp>
      <p:sp>
        <p:nvSpPr>
          <p:cNvPr id="8" name="Slide Number Placeholder 4">
            <a:extLst>
              <a:ext uri="{FF2B5EF4-FFF2-40B4-BE49-F238E27FC236}">
                <a16:creationId xmlns:a16="http://schemas.microsoft.com/office/drawing/2014/main" id="{897E4EBD-FC05-42A9-8584-6B2595330B5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C2C75928-B677-ADA4-3087-8FA73463EC31}"/>
              </a:ext>
            </a:extLst>
          </p:cNvPr>
          <p:cNvSpPr txBox="1"/>
          <p:nvPr/>
        </p:nvSpPr>
        <p:spPr>
          <a:xfrm>
            <a:off x="426492" y="2244378"/>
            <a:ext cx="11610833" cy="2923877"/>
          </a:xfrm>
          <a:prstGeom prst="rect">
            <a:avLst/>
          </a:prstGeom>
          <a:noFill/>
        </p:spPr>
        <p:txBody>
          <a:bodyPr wrap="square">
            <a:spAutoFit/>
          </a:bodyPr>
          <a:lstStyle/>
          <a:p>
            <a:r>
              <a:rPr lang="en-US" sz="2800" b="1" dirty="0"/>
              <a:t>Raft safety property: If leader has decided log entry is committed, entry will be present in logs of all future leaders</a:t>
            </a:r>
          </a:p>
          <a:p>
            <a:endParaRPr lang="en-US" sz="2800" dirty="0"/>
          </a:p>
          <a:p>
            <a:r>
              <a:rPr lang="en-US" sz="2800" b="1" dirty="0"/>
              <a:t> Why does this guarantee higher-level goal? </a:t>
            </a:r>
          </a:p>
          <a:p>
            <a:pPr lvl="1"/>
            <a:r>
              <a:rPr lang="en-US" sz="2400" dirty="0"/>
              <a:t>1. Leaders never overwrite entries in their logs </a:t>
            </a:r>
          </a:p>
          <a:p>
            <a:pPr lvl="1"/>
            <a:r>
              <a:rPr lang="en-US" sz="2400" dirty="0"/>
              <a:t>2. Only entries in leader’s log can be committed </a:t>
            </a:r>
          </a:p>
          <a:p>
            <a:pPr lvl="1"/>
            <a:r>
              <a:rPr lang="en-US" sz="2400" dirty="0"/>
              <a:t>3. Entries must be committed before applying to state machine</a:t>
            </a:r>
          </a:p>
        </p:txBody>
      </p:sp>
      <p:pic>
        <p:nvPicPr>
          <p:cNvPr id="4" name="object 5">
            <a:extLst>
              <a:ext uri="{FF2B5EF4-FFF2-40B4-BE49-F238E27FC236}">
                <a16:creationId xmlns:a16="http://schemas.microsoft.com/office/drawing/2014/main" id="{C8C8FCEB-FA4E-8B80-5C30-57FCFBDC8870}"/>
              </a:ext>
            </a:extLst>
          </p:cNvPr>
          <p:cNvPicPr>
            <a:picLocks noChangeAspect="1"/>
          </p:cNvPicPr>
          <p:nvPr/>
        </p:nvPicPr>
        <p:blipFill>
          <a:blip r:embed="rId3" cstate="print"/>
          <a:stretch>
            <a:fillRect/>
          </a:stretch>
        </p:blipFill>
        <p:spPr>
          <a:xfrm>
            <a:off x="1873962" y="5254388"/>
            <a:ext cx="8444073" cy="1284524"/>
          </a:xfrm>
          <a:prstGeom prst="rect">
            <a:avLst/>
          </a:prstGeom>
        </p:spPr>
      </p:pic>
      <p:sp>
        <p:nvSpPr>
          <p:cNvPr id="5" name="object 4">
            <a:extLst>
              <a:ext uri="{FF2B5EF4-FFF2-40B4-BE49-F238E27FC236}">
                <a16:creationId xmlns:a16="http://schemas.microsoft.com/office/drawing/2014/main" id="{A3CC9C69-6C77-AF8D-9825-3A41F38D140D}"/>
              </a:ext>
            </a:extLst>
          </p:cNvPr>
          <p:cNvSpPr txBox="1"/>
          <p:nvPr/>
        </p:nvSpPr>
        <p:spPr>
          <a:xfrm>
            <a:off x="1022619" y="1127624"/>
            <a:ext cx="10073011" cy="901529"/>
          </a:xfrm>
          <a:prstGeom prst="rect">
            <a:avLst/>
          </a:prstGeom>
          <a:ln w="20941">
            <a:solidFill>
              <a:srgbClr val="222C4A"/>
            </a:solidFill>
          </a:ln>
        </p:spPr>
        <p:txBody>
          <a:bodyPr vert="horz" wrap="square" lIns="0" tIns="39370" rIns="0" bIns="0" rtlCol="0">
            <a:spAutoFit/>
          </a:bodyPr>
          <a:lstStyle/>
          <a:p>
            <a:pPr marL="52069" marR="1012190" algn="ctr">
              <a:lnSpc>
                <a:spcPct val="100000"/>
              </a:lnSpc>
              <a:spcBef>
                <a:spcPts val="310"/>
              </a:spcBef>
            </a:pPr>
            <a:r>
              <a:rPr sz="2800" dirty="0">
                <a:solidFill>
                  <a:srgbClr val="222C4A"/>
                </a:solidFill>
                <a:latin typeface="Arial"/>
                <a:cs typeface="Arial"/>
              </a:rPr>
              <a:t>Once</a:t>
            </a:r>
            <a:r>
              <a:rPr sz="2800" spc="-70" dirty="0">
                <a:solidFill>
                  <a:srgbClr val="222C4A"/>
                </a:solidFill>
                <a:latin typeface="Arial"/>
                <a:cs typeface="Arial"/>
              </a:rPr>
              <a:t> </a:t>
            </a:r>
            <a:r>
              <a:rPr sz="2800" dirty="0">
                <a:solidFill>
                  <a:srgbClr val="222C4A"/>
                </a:solidFill>
                <a:latin typeface="Arial"/>
                <a:cs typeface="Arial"/>
              </a:rPr>
              <a:t>log</a:t>
            </a:r>
            <a:r>
              <a:rPr sz="2800" spc="-65" dirty="0">
                <a:solidFill>
                  <a:srgbClr val="222C4A"/>
                </a:solidFill>
                <a:latin typeface="Arial"/>
                <a:cs typeface="Arial"/>
              </a:rPr>
              <a:t> </a:t>
            </a:r>
            <a:r>
              <a:rPr sz="2800" dirty="0">
                <a:solidFill>
                  <a:srgbClr val="222C4A"/>
                </a:solidFill>
                <a:latin typeface="Arial"/>
                <a:cs typeface="Arial"/>
              </a:rPr>
              <a:t>entry</a:t>
            </a:r>
            <a:r>
              <a:rPr sz="2800" spc="-65" dirty="0">
                <a:solidFill>
                  <a:srgbClr val="222C4A"/>
                </a:solidFill>
                <a:latin typeface="Arial"/>
                <a:cs typeface="Arial"/>
              </a:rPr>
              <a:t> </a:t>
            </a:r>
            <a:r>
              <a:rPr sz="2800" dirty="0">
                <a:solidFill>
                  <a:srgbClr val="222C4A"/>
                </a:solidFill>
                <a:latin typeface="Arial"/>
                <a:cs typeface="Arial"/>
              </a:rPr>
              <a:t>applied</a:t>
            </a:r>
            <a:r>
              <a:rPr sz="2800" spc="-70" dirty="0">
                <a:solidFill>
                  <a:srgbClr val="222C4A"/>
                </a:solidFill>
                <a:latin typeface="Arial"/>
                <a:cs typeface="Arial"/>
              </a:rPr>
              <a:t> </a:t>
            </a:r>
            <a:r>
              <a:rPr sz="2800" dirty="0">
                <a:solidFill>
                  <a:srgbClr val="222C4A"/>
                </a:solidFill>
                <a:latin typeface="Arial"/>
                <a:cs typeface="Arial"/>
              </a:rPr>
              <a:t>to</a:t>
            </a:r>
            <a:r>
              <a:rPr sz="2800" spc="-65" dirty="0">
                <a:solidFill>
                  <a:srgbClr val="222C4A"/>
                </a:solidFill>
                <a:latin typeface="Arial"/>
                <a:cs typeface="Arial"/>
              </a:rPr>
              <a:t> </a:t>
            </a:r>
            <a:r>
              <a:rPr sz="2800" dirty="0">
                <a:solidFill>
                  <a:srgbClr val="222C4A"/>
                </a:solidFill>
                <a:latin typeface="Arial"/>
                <a:cs typeface="Arial"/>
              </a:rPr>
              <a:t>a</a:t>
            </a:r>
            <a:r>
              <a:rPr sz="2800" spc="-65" dirty="0">
                <a:solidFill>
                  <a:srgbClr val="222C4A"/>
                </a:solidFill>
                <a:latin typeface="Arial"/>
                <a:cs typeface="Arial"/>
              </a:rPr>
              <a:t> </a:t>
            </a:r>
            <a:r>
              <a:rPr sz="2800" dirty="0">
                <a:solidFill>
                  <a:srgbClr val="222C4A"/>
                </a:solidFill>
                <a:latin typeface="Arial"/>
                <a:cs typeface="Arial"/>
              </a:rPr>
              <a:t>state</a:t>
            </a:r>
            <a:r>
              <a:rPr sz="2800" spc="-70" dirty="0">
                <a:solidFill>
                  <a:srgbClr val="222C4A"/>
                </a:solidFill>
                <a:latin typeface="Arial"/>
                <a:cs typeface="Arial"/>
              </a:rPr>
              <a:t> </a:t>
            </a:r>
            <a:r>
              <a:rPr sz="2800" dirty="0">
                <a:solidFill>
                  <a:srgbClr val="222C4A"/>
                </a:solidFill>
                <a:latin typeface="Arial"/>
                <a:cs typeface="Arial"/>
              </a:rPr>
              <a:t>machine,</a:t>
            </a:r>
            <a:r>
              <a:rPr sz="2800" spc="-65" dirty="0">
                <a:solidFill>
                  <a:srgbClr val="222C4A"/>
                </a:solidFill>
                <a:latin typeface="Arial"/>
                <a:cs typeface="Arial"/>
              </a:rPr>
              <a:t> </a:t>
            </a:r>
            <a:r>
              <a:rPr sz="2800" dirty="0">
                <a:solidFill>
                  <a:srgbClr val="222C4A"/>
                </a:solidFill>
                <a:latin typeface="Arial"/>
                <a:cs typeface="Arial"/>
              </a:rPr>
              <a:t>no</a:t>
            </a:r>
            <a:r>
              <a:rPr sz="2800" spc="-65" dirty="0">
                <a:solidFill>
                  <a:srgbClr val="222C4A"/>
                </a:solidFill>
                <a:latin typeface="Arial"/>
                <a:cs typeface="Arial"/>
              </a:rPr>
              <a:t> </a:t>
            </a:r>
            <a:r>
              <a:rPr sz="2800" dirty="0">
                <a:solidFill>
                  <a:srgbClr val="222C4A"/>
                </a:solidFill>
                <a:latin typeface="Arial"/>
                <a:cs typeface="Arial"/>
              </a:rPr>
              <a:t>other</a:t>
            </a:r>
            <a:r>
              <a:rPr sz="2800" spc="-65" dirty="0">
                <a:solidFill>
                  <a:srgbClr val="222C4A"/>
                </a:solidFill>
                <a:latin typeface="Arial"/>
                <a:cs typeface="Arial"/>
              </a:rPr>
              <a:t> </a:t>
            </a:r>
            <a:r>
              <a:rPr sz="2800" spc="-10" dirty="0">
                <a:solidFill>
                  <a:srgbClr val="222C4A"/>
                </a:solidFill>
                <a:latin typeface="Arial"/>
                <a:cs typeface="Arial"/>
              </a:rPr>
              <a:t>state</a:t>
            </a:r>
            <a:r>
              <a:rPr lang="en-US" sz="2800" spc="-10" dirty="0">
                <a:solidFill>
                  <a:srgbClr val="222C4A"/>
                </a:solidFill>
                <a:latin typeface="Arial"/>
                <a:cs typeface="Arial"/>
              </a:rPr>
              <a:t> </a:t>
            </a:r>
            <a:r>
              <a:rPr sz="2800" dirty="0">
                <a:solidFill>
                  <a:srgbClr val="222C4A"/>
                </a:solidFill>
                <a:latin typeface="Arial"/>
                <a:cs typeface="Arial"/>
              </a:rPr>
              <a:t>machine</a:t>
            </a:r>
            <a:r>
              <a:rPr sz="2800" spc="-80" dirty="0">
                <a:solidFill>
                  <a:srgbClr val="222C4A"/>
                </a:solidFill>
                <a:latin typeface="Arial"/>
                <a:cs typeface="Arial"/>
              </a:rPr>
              <a:t> </a:t>
            </a:r>
            <a:r>
              <a:rPr sz="2800" dirty="0">
                <a:solidFill>
                  <a:srgbClr val="222C4A"/>
                </a:solidFill>
                <a:latin typeface="Arial"/>
                <a:cs typeface="Arial"/>
              </a:rPr>
              <a:t>must</a:t>
            </a:r>
            <a:r>
              <a:rPr sz="2800" spc="-75" dirty="0">
                <a:solidFill>
                  <a:srgbClr val="222C4A"/>
                </a:solidFill>
                <a:latin typeface="Arial"/>
                <a:cs typeface="Arial"/>
              </a:rPr>
              <a:t> </a:t>
            </a:r>
            <a:r>
              <a:rPr sz="2800" dirty="0">
                <a:solidFill>
                  <a:srgbClr val="222C4A"/>
                </a:solidFill>
                <a:latin typeface="Arial"/>
                <a:cs typeface="Arial"/>
              </a:rPr>
              <a:t>apply</a:t>
            </a:r>
            <a:r>
              <a:rPr sz="2800" spc="-80" dirty="0">
                <a:solidFill>
                  <a:srgbClr val="222C4A"/>
                </a:solidFill>
                <a:latin typeface="Arial"/>
                <a:cs typeface="Arial"/>
              </a:rPr>
              <a:t> </a:t>
            </a:r>
            <a:r>
              <a:rPr sz="2800" dirty="0">
                <a:solidFill>
                  <a:srgbClr val="222C4A"/>
                </a:solidFill>
                <a:latin typeface="Arial"/>
                <a:cs typeface="Arial"/>
              </a:rPr>
              <a:t>a</a:t>
            </a:r>
            <a:r>
              <a:rPr sz="2800" spc="-75" dirty="0">
                <a:solidFill>
                  <a:srgbClr val="222C4A"/>
                </a:solidFill>
                <a:latin typeface="Arial"/>
                <a:cs typeface="Arial"/>
              </a:rPr>
              <a:t> </a:t>
            </a:r>
            <a:r>
              <a:rPr sz="2800" dirty="0">
                <a:solidFill>
                  <a:srgbClr val="222C4A"/>
                </a:solidFill>
                <a:latin typeface="Arial"/>
                <a:cs typeface="Arial"/>
              </a:rPr>
              <a:t>different</a:t>
            </a:r>
            <a:r>
              <a:rPr sz="2800" spc="-80" dirty="0">
                <a:solidFill>
                  <a:srgbClr val="222C4A"/>
                </a:solidFill>
                <a:latin typeface="Arial"/>
                <a:cs typeface="Arial"/>
              </a:rPr>
              <a:t> </a:t>
            </a:r>
            <a:r>
              <a:rPr sz="2800" dirty="0">
                <a:solidFill>
                  <a:srgbClr val="222C4A"/>
                </a:solidFill>
                <a:latin typeface="Arial"/>
                <a:cs typeface="Arial"/>
              </a:rPr>
              <a:t>value</a:t>
            </a:r>
            <a:r>
              <a:rPr sz="2800" spc="-75" dirty="0">
                <a:solidFill>
                  <a:srgbClr val="222C4A"/>
                </a:solidFill>
                <a:latin typeface="Arial"/>
                <a:cs typeface="Arial"/>
              </a:rPr>
              <a:t> </a:t>
            </a:r>
            <a:r>
              <a:rPr sz="2800" dirty="0">
                <a:solidFill>
                  <a:srgbClr val="222C4A"/>
                </a:solidFill>
                <a:latin typeface="Arial"/>
                <a:cs typeface="Arial"/>
              </a:rPr>
              <a:t>for</a:t>
            </a:r>
            <a:r>
              <a:rPr sz="2800" spc="-75" dirty="0">
                <a:solidFill>
                  <a:srgbClr val="222C4A"/>
                </a:solidFill>
                <a:latin typeface="Arial"/>
                <a:cs typeface="Arial"/>
              </a:rPr>
              <a:t> </a:t>
            </a:r>
            <a:r>
              <a:rPr sz="2800" dirty="0">
                <a:solidFill>
                  <a:srgbClr val="222C4A"/>
                </a:solidFill>
                <a:latin typeface="Arial"/>
                <a:cs typeface="Arial"/>
              </a:rPr>
              <a:t>that</a:t>
            </a:r>
            <a:r>
              <a:rPr sz="2800" spc="-80" dirty="0">
                <a:solidFill>
                  <a:srgbClr val="222C4A"/>
                </a:solidFill>
                <a:latin typeface="Arial"/>
                <a:cs typeface="Arial"/>
              </a:rPr>
              <a:t> </a:t>
            </a:r>
            <a:r>
              <a:rPr sz="2800" dirty="0">
                <a:solidFill>
                  <a:srgbClr val="222C4A"/>
                </a:solidFill>
                <a:latin typeface="Arial"/>
                <a:cs typeface="Arial"/>
              </a:rPr>
              <a:t>log</a:t>
            </a:r>
            <a:r>
              <a:rPr sz="2800" spc="-75" dirty="0">
                <a:solidFill>
                  <a:srgbClr val="222C4A"/>
                </a:solidFill>
                <a:latin typeface="Arial"/>
                <a:cs typeface="Arial"/>
              </a:rPr>
              <a:t> </a:t>
            </a:r>
            <a:r>
              <a:rPr sz="2800" spc="-10" dirty="0">
                <a:solidFill>
                  <a:srgbClr val="222C4A"/>
                </a:solidFill>
                <a:latin typeface="Arial"/>
                <a:cs typeface="Arial"/>
              </a:rPr>
              <a:t>entry</a:t>
            </a:r>
            <a:r>
              <a:rPr lang="en-US" sz="2800" spc="-10" dirty="0">
                <a:solidFill>
                  <a:srgbClr val="222C4A"/>
                </a:solidFill>
                <a:latin typeface="Arial"/>
                <a:cs typeface="Arial"/>
              </a:rPr>
              <a:t>.</a:t>
            </a:r>
            <a:endParaRPr sz="2800" dirty="0">
              <a:latin typeface="Arial"/>
              <a:cs typeface="Arial"/>
            </a:endParaRPr>
          </a:p>
        </p:txBody>
      </p:sp>
    </p:spTree>
    <p:extLst>
      <p:ext uri="{BB962C8B-B14F-4D97-AF65-F5344CB8AC3E}">
        <p14:creationId xmlns:p14="http://schemas.microsoft.com/office/powerpoint/2010/main" val="1478592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dissolve">
                                      <p:cBhvr>
                                        <p:cTn id="15" dur="500"/>
                                        <p:tgtEl>
                                          <p:spTgt spid="3">
                                            <p:txEl>
                                              <p:pRg st="2" end="2"/>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dissolve">
                                      <p:cBhvr>
                                        <p:cTn id="18" dur="500"/>
                                        <p:tgtEl>
                                          <p:spTgt spid="3">
                                            <p:txEl>
                                              <p:pRg st="3" end="3"/>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dissolve">
                                      <p:cBhvr>
                                        <p:cTn id="21" dur="500"/>
                                        <p:tgtEl>
                                          <p:spTgt spid="3">
                                            <p:txEl>
                                              <p:pRg st="4" end="4"/>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dissolve">
                                      <p:cBhvr>
                                        <p:cTn id="24"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D65FF-EA8F-7A8E-7BEC-B2A53691AB2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01BAA03-AFF5-CEEA-7E3C-06FB8F2C65D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Repairing Follower Logs</a:t>
            </a:r>
          </a:p>
        </p:txBody>
      </p:sp>
      <p:sp>
        <p:nvSpPr>
          <p:cNvPr id="8" name="Slide Number Placeholder 4">
            <a:extLst>
              <a:ext uri="{FF2B5EF4-FFF2-40B4-BE49-F238E27FC236}">
                <a16:creationId xmlns:a16="http://schemas.microsoft.com/office/drawing/2014/main" id="{A9C0C967-B77D-EA15-3B2E-77290C98C0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9A985B5B-B31D-3559-E465-DFB253D58326}"/>
              </a:ext>
            </a:extLst>
          </p:cNvPr>
          <p:cNvSpPr txBox="1"/>
          <p:nvPr/>
        </p:nvSpPr>
        <p:spPr>
          <a:xfrm>
            <a:off x="0" y="914401"/>
            <a:ext cx="8818581" cy="523220"/>
          </a:xfrm>
          <a:prstGeom prst="rect">
            <a:avLst/>
          </a:prstGeom>
          <a:noFill/>
        </p:spPr>
        <p:txBody>
          <a:bodyPr wrap="square">
            <a:spAutoFit/>
          </a:bodyPr>
          <a:lstStyle/>
          <a:p>
            <a:r>
              <a:rPr lang="en-US" sz="2800" b="1" dirty="0"/>
              <a:t>New leader’s log is truth</a:t>
            </a:r>
          </a:p>
        </p:txBody>
      </p:sp>
      <p:sp>
        <p:nvSpPr>
          <p:cNvPr id="10" name="TextBox 9">
            <a:extLst>
              <a:ext uri="{FF2B5EF4-FFF2-40B4-BE49-F238E27FC236}">
                <a16:creationId xmlns:a16="http://schemas.microsoft.com/office/drawing/2014/main" id="{3090E5D0-F47F-3ED4-34D7-4B1E82342D58}"/>
              </a:ext>
            </a:extLst>
          </p:cNvPr>
          <p:cNvSpPr txBox="1"/>
          <p:nvPr/>
        </p:nvSpPr>
        <p:spPr>
          <a:xfrm>
            <a:off x="217225" y="3429000"/>
            <a:ext cx="11974774" cy="1538883"/>
          </a:xfrm>
          <a:prstGeom prst="rect">
            <a:avLst/>
          </a:prstGeom>
          <a:noFill/>
        </p:spPr>
        <p:txBody>
          <a:bodyPr wrap="square">
            <a:spAutoFit/>
          </a:bodyPr>
          <a:lstStyle/>
          <a:p>
            <a:r>
              <a:rPr lang="en-US" sz="2800" b="1" dirty="0"/>
              <a:t>New leader must make follower logs consistent with its own</a:t>
            </a:r>
          </a:p>
          <a:p>
            <a:pPr marL="742950" lvl="1" indent="-285750">
              <a:buFont typeface="Arial" panose="020B0604020202020204" pitchFamily="34" charset="0"/>
              <a:buChar char="•"/>
            </a:pPr>
            <a:r>
              <a:rPr lang="en-US" sz="2400" dirty="0"/>
              <a:t>Delete extraneous entries</a:t>
            </a:r>
          </a:p>
          <a:p>
            <a:pPr marL="742950" lvl="1" indent="-285750">
              <a:buFont typeface="Arial" panose="020B0604020202020204" pitchFamily="34" charset="0"/>
              <a:buChar char="•"/>
            </a:pPr>
            <a:r>
              <a:rPr lang="en-US" sz="2400" dirty="0"/>
              <a:t>Fill in missing entries</a:t>
            </a:r>
          </a:p>
          <a:p>
            <a:endParaRPr lang="en-US" dirty="0"/>
          </a:p>
        </p:txBody>
      </p:sp>
    </p:spTree>
    <p:extLst>
      <p:ext uri="{BB962C8B-B14F-4D97-AF65-F5344CB8AC3E}">
        <p14:creationId xmlns:p14="http://schemas.microsoft.com/office/powerpoint/2010/main" val="116587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dissolve">
                                      <p:cBhvr>
                                        <p:cTn id="7" dur="500"/>
                                        <p:tgtEl>
                                          <p:spTgt spid="10">
                                            <p:txEl>
                                              <p:pRg st="0" end="0"/>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0">
                                            <p:txEl>
                                              <p:pRg st="1" end="1"/>
                                            </p:txEl>
                                          </p:spTgt>
                                        </p:tgtEl>
                                        <p:attrNameLst>
                                          <p:attrName>style.visibility</p:attrName>
                                        </p:attrNameLst>
                                      </p:cBhvr>
                                      <p:to>
                                        <p:strVal val="visible"/>
                                      </p:to>
                                    </p:set>
                                    <p:animEffect transition="in" filter="dissolve">
                                      <p:cBhvr>
                                        <p:cTn id="10" dur="500"/>
                                        <p:tgtEl>
                                          <p:spTgt spid="10">
                                            <p:txEl>
                                              <p:pRg st="1" end="1"/>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0">
                                            <p:txEl>
                                              <p:pRg st="2" end="2"/>
                                            </p:txEl>
                                          </p:spTgt>
                                        </p:tgtEl>
                                        <p:attrNameLst>
                                          <p:attrName>style.visibility</p:attrName>
                                        </p:attrNameLst>
                                      </p:cBhvr>
                                      <p:to>
                                        <p:strVal val="visible"/>
                                      </p:to>
                                    </p:set>
                                    <p:animEffect transition="in" filter="dissolve">
                                      <p:cBhvr>
                                        <p:cTn id="13" dur="50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952B-0120-ABF2-B157-B3F43BAE827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0E4BE41-7222-1E5D-0188-F14F2B4A7252}"/>
              </a:ext>
            </a:extLst>
          </p:cNvPr>
          <p:cNvSpPr>
            <a:spLocks noGrp="1"/>
          </p:cNvSpPr>
          <p:nvPr>
            <p:ph type="title"/>
          </p:nvPr>
        </p:nvSpPr>
        <p:spPr>
          <a:xfrm>
            <a:off x="0" y="1"/>
            <a:ext cx="12191999" cy="914400"/>
          </a:xfrm>
        </p:spPr>
        <p:txBody>
          <a:bodyPr>
            <a:normAutofit/>
          </a:bodyPr>
          <a:lstStyle/>
          <a:p>
            <a:pPr algn="ctr"/>
            <a:r>
              <a:rPr lang="en-US" altLang="zh-CN" b="1" dirty="0">
                <a:latin typeface="Helvetica" panose="020B0604020202020204" pitchFamily="34" charset="0"/>
                <a:cs typeface="Helvetica" panose="020B0604020202020204" pitchFamily="34" charset="0"/>
              </a:rPr>
              <a:t>Consistency Check</a:t>
            </a:r>
            <a:endParaRPr lang="en-US" b="1" dirty="0">
              <a:latin typeface="Helvetica" panose="020B0604020202020204" pitchFamily="34" charset="0"/>
              <a:cs typeface="Helvetica" panose="020B0604020202020204" pitchFamily="34" charset="0"/>
            </a:endParaRPr>
          </a:p>
        </p:txBody>
      </p:sp>
      <p:sp>
        <p:nvSpPr>
          <p:cNvPr id="8" name="Slide Number Placeholder 4">
            <a:extLst>
              <a:ext uri="{FF2B5EF4-FFF2-40B4-BE49-F238E27FC236}">
                <a16:creationId xmlns:a16="http://schemas.microsoft.com/office/drawing/2014/main" id="{5FA71807-1ACE-E95C-F508-0AB1860A257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pic>
        <p:nvPicPr>
          <p:cNvPr id="2" name="object 4">
            <a:extLst>
              <a:ext uri="{FF2B5EF4-FFF2-40B4-BE49-F238E27FC236}">
                <a16:creationId xmlns:a16="http://schemas.microsoft.com/office/drawing/2014/main" id="{1E4E1142-9DA0-B4D9-3F03-2E429F4B9E1D}"/>
              </a:ext>
            </a:extLst>
          </p:cNvPr>
          <p:cNvPicPr>
            <a:picLocks noChangeAspect="1"/>
          </p:cNvPicPr>
          <p:nvPr/>
        </p:nvPicPr>
        <p:blipFill>
          <a:blip r:embed="rId3" cstate="print"/>
          <a:stretch>
            <a:fillRect/>
          </a:stretch>
        </p:blipFill>
        <p:spPr>
          <a:xfrm>
            <a:off x="3461141" y="1167902"/>
            <a:ext cx="6086133" cy="2467473"/>
          </a:xfrm>
          <a:prstGeom prst="rect">
            <a:avLst/>
          </a:prstGeom>
        </p:spPr>
      </p:pic>
      <p:sp>
        <p:nvSpPr>
          <p:cNvPr id="4" name="TextBox 3">
            <a:extLst>
              <a:ext uri="{FF2B5EF4-FFF2-40B4-BE49-F238E27FC236}">
                <a16:creationId xmlns:a16="http://schemas.microsoft.com/office/drawing/2014/main" id="{D4CB5D93-5A07-6E6B-9BCC-A49C3820BF80}"/>
              </a:ext>
            </a:extLst>
          </p:cNvPr>
          <p:cNvSpPr txBox="1"/>
          <p:nvPr/>
        </p:nvSpPr>
        <p:spPr>
          <a:xfrm>
            <a:off x="293146" y="3948970"/>
            <a:ext cx="10486016" cy="2246769"/>
          </a:xfrm>
          <a:prstGeom prst="rect">
            <a:avLst/>
          </a:prstGeom>
          <a:noFill/>
        </p:spPr>
        <p:txBody>
          <a:bodyPr wrap="square">
            <a:spAutoFit/>
          </a:bodyPr>
          <a:lstStyle/>
          <a:p>
            <a:r>
              <a:rPr lang="en-US" sz="2800" b="1" dirty="0" err="1"/>
              <a:t>AppendEntries</a:t>
            </a:r>
            <a:r>
              <a:rPr lang="en-US" sz="2800" b="1" dirty="0"/>
              <a:t> has of entry preceding new ones </a:t>
            </a:r>
          </a:p>
          <a:p>
            <a:endParaRPr lang="en-US" sz="2800" b="1" dirty="0"/>
          </a:p>
          <a:p>
            <a:r>
              <a:rPr lang="en-US" sz="2800" b="1" dirty="0"/>
              <a:t>Follower must contain matching entry; otherwise it rejects </a:t>
            </a:r>
          </a:p>
          <a:p>
            <a:endParaRPr lang="en-US" sz="2800" b="1" dirty="0"/>
          </a:p>
          <a:p>
            <a:r>
              <a:rPr lang="en-US" sz="2800" b="1" dirty="0"/>
              <a:t>Implements an induction step, ensures coherency</a:t>
            </a:r>
          </a:p>
        </p:txBody>
      </p:sp>
    </p:spTree>
    <p:extLst>
      <p:ext uri="{BB962C8B-B14F-4D97-AF65-F5344CB8AC3E}">
        <p14:creationId xmlns:p14="http://schemas.microsoft.com/office/powerpoint/2010/main" val="40347875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8D044-D3C8-FE3A-2B74-083FB2151C62}"/>
            </a:ext>
          </a:extLst>
        </p:cNvPr>
        <p:cNvGrpSpPr/>
        <p:nvPr/>
      </p:nvGrpSpPr>
      <p:grpSpPr>
        <a:xfrm>
          <a:off x="0" y="0"/>
          <a:ext cx="0" cy="0"/>
          <a:chOff x="0" y="0"/>
          <a:chExt cx="0" cy="0"/>
        </a:xfrm>
      </p:grpSpPr>
      <p:grpSp>
        <p:nvGrpSpPr>
          <p:cNvPr id="4" name="object 4">
            <a:extLst>
              <a:ext uri="{FF2B5EF4-FFF2-40B4-BE49-F238E27FC236}">
                <a16:creationId xmlns:a16="http://schemas.microsoft.com/office/drawing/2014/main" id="{2525E3F1-3874-00BC-12C9-2A4C7E126E6E}"/>
              </a:ext>
            </a:extLst>
          </p:cNvPr>
          <p:cNvGrpSpPr>
            <a:grpSpLocks noChangeAspect="1"/>
          </p:cNvGrpSpPr>
          <p:nvPr/>
        </p:nvGrpSpPr>
        <p:grpSpPr>
          <a:xfrm>
            <a:off x="2977287" y="569470"/>
            <a:ext cx="7267614" cy="2996297"/>
            <a:chOff x="5012475" y="2143701"/>
            <a:chExt cx="9483090" cy="3909695"/>
          </a:xfrm>
        </p:grpSpPr>
        <p:pic>
          <p:nvPicPr>
            <p:cNvPr id="5" name="object 5">
              <a:extLst>
                <a:ext uri="{FF2B5EF4-FFF2-40B4-BE49-F238E27FC236}">
                  <a16:creationId xmlns:a16="http://schemas.microsoft.com/office/drawing/2014/main" id="{DB8C9EAD-DCF6-8ADB-2D11-27242B242F33}"/>
                </a:ext>
              </a:extLst>
            </p:cNvPr>
            <p:cNvPicPr/>
            <p:nvPr/>
          </p:nvPicPr>
          <p:blipFill>
            <a:blip r:embed="rId3" cstate="print"/>
            <a:stretch>
              <a:fillRect/>
            </a:stretch>
          </p:blipFill>
          <p:spPr>
            <a:xfrm>
              <a:off x="5179482" y="2218089"/>
              <a:ext cx="9316011" cy="3834821"/>
            </a:xfrm>
            <a:prstGeom prst="rect">
              <a:avLst/>
            </a:prstGeom>
          </p:spPr>
        </p:pic>
        <p:pic>
          <p:nvPicPr>
            <p:cNvPr id="6" name="object 6">
              <a:extLst>
                <a:ext uri="{FF2B5EF4-FFF2-40B4-BE49-F238E27FC236}">
                  <a16:creationId xmlns:a16="http://schemas.microsoft.com/office/drawing/2014/main" id="{7592B536-D611-BBE2-9358-3B54A9591634}"/>
                </a:ext>
              </a:extLst>
            </p:cNvPr>
            <p:cNvPicPr/>
            <p:nvPr/>
          </p:nvPicPr>
          <p:blipFill>
            <a:blip r:embed="rId4" cstate="print"/>
            <a:stretch>
              <a:fillRect/>
            </a:stretch>
          </p:blipFill>
          <p:spPr>
            <a:xfrm>
              <a:off x="5012475" y="2143701"/>
              <a:ext cx="6143415" cy="796617"/>
            </a:xfrm>
            <a:prstGeom prst="rect">
              <a:avLst/>
            </a:prstGeom>
          </p:spPr>
        </p:pic>
      </p:grpSp>
      <p:sp>
        <p:nvSpPr>
          <p:cNvPr id="7" name="Title 1">
            <a:extLst>
              <a:ext uri="{FF2B5EF4-FFF2-40B4-BE49-F238E27FC236}">
                <a16:creationId xmlns:a16="http://schemas.microsoft.com/office/drawing/2014/main" id="{C239F967-CCB2-69F5-7D0F-39336E0CA9F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Repairing Follower Logs</a:t>
            </a:r>
          </a:p>
        </p:txBody>
      </p:sp>
      <p:sp>
        <p:nvSpPr>
          <p:cNvPr id="8" name="Slide Number Placeholder 4">
            <a:extLst>
              <a:ext uri="{FF2B5EF4-FFF2-40B4-BE49-F238E27FC236}">
                <a16:creationId xmlns:a16="http://schemas.microsoft.com/office/drawing/2014/main" id="{2CB88D1C-F5D5-A3FE-8ADA-233734FF960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B108B818-C2CE-74D6-FDEA-C04E63A0299D}"/>
              </a:ext>
            </a:extLst>
          </p:cNvPr>
          <p:cNvSpPr txBox="1"/>
          <p:nvPr/>
        </p:nvSpPr>
        <p:spPr>
          <a:xfrm>
            <a:off x="0" y="914401"/>
            <a:ext cx="8818581" cy="523220"/>
          </a:xfrm>
          <a:prstGeom prst="rect">
            <a:avLst/>
          </a:prstGeom>
          <a:noFill/>
        </p:spPr>
        <p:txBody>
          <a:bodyPr wrap="square">
            <a:spAutoFit/>
          </a:bodyPr>
          <a:lstStyle/>
          <a:p>
            <a:r>
              <a:rPr lang="en-US" sz="2800" b="1" dirty="0"/>
              <a:t>New leader’s log is truth</a:t>
            </a:r>
          </a:p>
        </p:txBody>
      </p:sp>
      <p:sp>
        <p:nvSpPr>
          <p:cNvPr id="10" name="TextBox 9">
            <a:extLst>
              <a:ext uri="{FF2B5EF4-FFF2-40B4-BE49-F238E27FC236}">
                <a16:creationId xmlns:a16="http://schemas.microsoft.com/office/drawing/2014/main" id="{4FA8E2B3-A498-DCF6-8130-A03A20D939AE}"/>
              </a:ext>
            </a:extLst>
          </p:cNvPr>
          <p:cNvSpPr txBox="1"/>
          <p:nvPr/>
        </p:nvSpPr>
        <p:spPr>
          <a:xfrm>
            <a:off x="217225" y="3429000"/>
            <a:ext cx="11974774" cy="3508653"/>
          </a:xfrm>
          <a:prstGeom prst="rect">
            <a:avLst/>
          </a:prstGeom>
          <a:noFill/>
        </p:spPr>
        <p:txBody>
          <a:bodyPr wrap="square">
            <a:spAutoFit/>
          </a:bodyPr>
          <a:lstStyle/>
          <a:p>
            <a:r>
              <a:rPr lang="en-US" sz="2800" b="1" dirty="0"/>
              <a:t>New leader must make follower logs consistent with its own</a:t>
            </a:r>
          </a:p>
          <a:p>
            <a:pPr marL="742950" lvl="1" indent="-285750">
              <a:buFont typeface="Arial" panose="020B0604020202020204" pitchFamily="34" charset="0"/>
              <a:buChar char="•"/>
            </a:pPr>
            <a:r>
              <a:rPr lang="en-US" sz="2400" dirty="0"/>
              <a:t>Delete extraneous entries</a:t>
            </a:r>
          </a:p>
          <a:p>
            <a:pPr marL="742950" lvl="1" indent="-285750">
              <a:buFont typeface="Arial" panose="020B0604020202020204" pitchFamily="34" charset="0"/>
              <a:buChar char="•"/>
            </a:pPr>
            <a:r>
              <a:rPr lang="en-US" sz="2400" dirty="0"/>
              <a:t>Fill in missing entries</a:t>
            </a:r>
          </a:p>
          <a:p>
            <a:endParaRPr lang="en-US" dirty="0"/>
          </a:p>
          <a:p>
            <a:r>
              <a:rPr lang="en-US" sz="2800" b="1" dirty="0"/>
              <a:t>Leader keeps </a:t>
            </a:r>
            <a:r>
              <a:rPr lang="en-US" sz="2800" b="1" dirty="0" err="1"/>
              <a:t>nextIndex</a:t>
            </a:r>
            <a:r>
              <a:rPr lang="en-US" sz="2800" b="1" dirty="0"/>
              <a:t> for each follower:</a:t>
            </a:r>
          </a:p>
          <a:p>
            <a:pPr marL="742950" lvl="1" indent="-285750">
              <a:buFont typeface="Arial" panose="020B0604020202020204" pitchFamily="34" charset="0"/>
              <a:buChar char="•"/>
            </a:pPr>
            <a:r>
              <a:rPr lang="en-US" sz="2400" dirty="0"/>
              <a:t>Index of next log entry to send to that follower</a:t>
            </a:r>
          </a:p>
          <a:p>
            <a:pPr marL="742950" lvl="1" indent="-285750">
              <a:buFont typeface="Arial" panose="020B0604020202020204" pitchFamily="34" charset="0"/>
              <a:buChar char="•"/>
            </a:pPr>
            <a:r>
              <a:rPr lang="en-US" sz="2400" dirty="0"/>
              <a:t>Initialized to (1 + leader’s last index)</a:t>
            </a:r>
          </a:p>
          <a:p>
            <a:endParaRPr lang="en-US" dirty="0"/>
          </a:p>
          <a:p>
            <a:r>
              <a:rPr lang="en-US" sz="2800" b="1" dirty="0"/>
              <a:t>If </a:t>
            </a:r>
            <a:r>
              <a:rPr lang="en-US" sz="2800" b="1" dirty="0" err="1"/>
              <a:t>AppendEntries</a:t>
            </a:r>
            <a:r>
              <a:rPr lang="en-US" sz="2800" b="1" dirty="0"/>
              <a:t> consistency check fails, decrement </a:t>
            </a:r>
            <a:r>
              <a:rPr lang="en-US" sz="2800" b="1" dirty="0" err="1"/>
              <a:t>nextIndex</a:t>
            </a:r>
            <a:r>
              <a:rPr lang="en-US" sz="2800" b="1" dirty="0"/>
              <a:t>, try again</a:t>
            </a:r>
          </a:p>
        </p:txBody>
      </p:sp>
    </p:spTree>
    <p:extLst>
      <p:ext uri="{BB962C8B-B14F-4D97-AF65-F5344CB8AC3E}">
        <p14:creationId xmlns:p14="http://schemas.microsoft.com/office/powerpoint/2010/main" val="318683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xEl>
                                              <p:pRg st="4" end="4"/>
                                            </p:txEl>
                                          </p:spTgt>
                                        </p:tgtEl>
                                        <p:attrNameLst>
                                          <p:attrName>style.visibility</p:attrName>
                                        </p:attrNameLst>
                                      </p:cBhvr>
                                      <p:to>
                                        <p:strVal val="visible"/>
                                      </p:to>
                                    </p:set>
                                    <p:animEffect transition="in" filter="dissolve">
                                      <p:cBhvr>
                                        <p:cTn id="7" dur="500"/>
                                        <p:tgtEl>
                                          <p:spTgt spid="10">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10">
                                            <p:txEl>
                                              <p:pRg st="5" end="5"/>
                                            </p:txEl>
                                          </p:spTgt>
                                        </p:tgtEl>
                                        <p:attrNameLst>
                                          <p:attrName>style.visibility</p:attrName>
                                        </p:attrNameLst>
                                      </p:cBhvr>
                                      <p:to>
                                        <p:strVal val="visible"/>
                                      </p:to>
                                    </p:set>
                                    <p:animEffect transition="in" filter="dissolve">
                                      <p:cBhvr>
                                        <p:cTn id="10" dur="500"/>
                                        <p:tgtEl>
                                          <p:spTgt spid="10">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10">
                                            <p:txEl>
                                              <p:pRg st="6" end="6"/>
                                            </p:txEl>
                                          </p:spTgt>
                                        </p:tgtEl>
                                        <p:attrNameLst>
                                          <p:attrName>style.visibility</p:attrName>
                                        </p:attrNameLst>
                                      </p:cBhvr>
                                      <p:to>
                                        <p:strVal val="visible"/>
                                      </p:to>
                                    </p:set>
                                    <p:animEffect transition="in" filter="dissolve">
                                      <p:cBhvr>
                                        <p:cTn id="13" dur="500"/>
                                        <p:tgtEl>
                                          <p:spTgt spid="10">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10">
                                            <p:txEl>
                                              <p:pRg st="8" end="8"/>
                                            </p:txEl>
                                          </p:spTgt>
                                        </p:tgtEl>
                                        <p:attrNameLst>
                                          <p:attrName>style.visibility</p:attrName>
                                        </p:attrNameLst>
                                      </p:cBhvr>
                                      <p:to>
                                        <p:strVal val="visible"/>
                                      </p:to>
                                    </p:set>
                                    <p:animEffect transition="in" filter="dissolve">
                                      <p:cBhvr>
                                        <p:cTn id="18" dur="500"/>
                                        <p:tgtEl>
                                          <p:spTgt spid="10">
                                            <p:txEl>
                                              <p:pRg st="8" end="8"/>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9"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dissolve">
                                      <p:cBhvr>
                                        <p:cTn id="23" dur="500"/>
                                        <p:tgtEl>
                                          <p:spTgt spid="4"/>
                                        </p:tgtEl>
                                      </p:cBhvr>
                                    </p:animEffect>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nodeType="clickEffect">
                                  <p:stCondLst>
                                    <p:cond delay="0"/>
                                  </p:stCondLst>
                                  <p:childTnLst>
                                    <p:set>
                                      <p:cBhvr>
                                        <p:cTn id="27" dur="1" fill="hold">
                                          <p:stCondLst>
                                            <p:cond delay="0"/>
                                          </p:stCondLst>
                                        </p:cTn>
                                        <p:tgtEl>
                                          <p:spTgt spid="4"/>
                                        </p:tgtEl>
                                        <p:attrNameLst>
                                          <p:attrName>style.visibility</p:attrName>
                                        </p:attrNameLst>
                                      </p:cBhvr>
                                      <p:to>
                                        <p:strVal val="visible"/>
                                      </p:to>
                                    </p:set>
                                    <p:animEffect transition="in" filter="dissolve">
                                      <p:cBhvr>
                                        <p:cTn id="2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2F6E8-1312-EB7E-787B-C48BAC64443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A617B41-FB0D-2779-198C-F96EA38770EB}"/>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Repairing Follower Logs</a:t>
            </a:r>
          </a:p>
        </p:txBody>
      </p:sp>
      <p:sp>
        <p:nvSpPr>
          <p:cNvPr id="8" name="Slide Number Placeholder 4">
            <a:extLst>
              <a:ext uri="{FF2B5EF4-FFF2-40B4-BE49-F238E27FC236}">
                <a16:creationId xmlns:a16="http://schemas.microsoft.com/office/drawing/2014/main" id="{8A871A65-5EFB-66A1-807B-C48FBFB4740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grpSp>
        <p:nvGrpSpPr>
          <p:cNvPr id="2" name="object 3">
            <a:extLst>
              <a:ext uri="{FF2B5EF4-FFF2-40B4-BE49-F238E27FC236}">
                <a16:creationId xmlns:a16="http://schemas.microsoft.com/office/drawing/2014/main" id="{6793B1BB-7F76-870F-98DC-60CF037B405F}"/>
              </a:ext>
            </a:extLst>
          </p:cNvPr>
          <p:cNvGrpSpPr>
            <a:grpSpLocks noChangeAspect="1"/>
          </p:cNvGrpSpPr>
          <p:nvPr/>
        </p:nvGrpSpPr>
        <p:grpSpPr>
          <a:xfrm>
            <a:off x="1710524" y="837585"/>
            <a:ext cx="8986107" cy="5182830"/>
            <a:chOff x="4603849" y="2143701"/>
            <a:chExt cx="11705590" cy="6751320"/>
          </a:xfrm>
        </p:grpSpPr>
        <p:pic>
          <p:nvPicPr>
            <p:cNvPr id="3" name="object 4">
              <a:extLst>
                <a:ext uri="{FF2B5EF4-FFF2-40B4-BE49-F238E27FC236}">
                  <a16:creationId xmlns:a16="http://schemas.microsoft.com/office/drawing/2014/main" id="{36BDC658-8F5E-5946-37B0-E0EAFB53974A}"/>
                </a:ext>
              </a:extLst>
            </p:cNvPr>
            <p:cNvPicPr/>
            <p:nvPr/>
          </p:nvPicPr>
          <p:blipFill>
            <a:blip r:embed="rId3" cstate="print"/>
            <a:stretch>
              <a:fillRect/>
            </a:stretch>
          </p:blipFill>
          <p:spPr>
            <a:xfrm>
              <a:off x="5012475" y="2143701"/>
              <a:ext cx="6143415" cy="796617"/>
            </a:xfrm>
            <a:prstGeom prst="rect">
              <a:avLst/>
            </a:prstGeom>
          </p:spPr>
        </p:pic>
        <p:pic>
          <p:nvPicPr>
            <p:cNvPr id="4" name="object 5">
              <a:extLst>
                <a:ext uri="{FF2B5EF4-FFF2-40B4-BE49-F238E27FC236}">
                  <a16:creationId xmlns:a16="http://schemas.microsoft.com/office/drawing/2014/main" id="{972BC973-5950-FF85-9C87-16589DA59A57}"/>
                </a:ext>
              </a:extLst>
            </p:cNvPr>
            <p:cNvPicPr>
              <a:picLocks noChangeAspect="1"/>
            </p:cNvPicPr>
            <p:nvPr/>
          </p:nvPicPr>
          <p:blipFill>
            <a:blip r:embed="rId4" cstate="print"/>
            <a:stretch>
              <a:fillRect/>
            </a:stretch>
          </p:blipFill>
          <p:spPr>
            <a:xfrm>
              <a:off x="4603849" y="2386608"/>
              <a:ext cx="11705088" cy="6508032"/>
            </a:xfrm>
            <a:prstGeom prst="rect">
              <a:avLst/>
            </a:prstGeom>
          </p:spPr>
        </p:pic>
      </p:grpSp>
    </p:spTree>
    <p:extLst>
      <p:ext uri="{BB962C8B-B14F-4D97-AF65-F5344CB8AC3E}">
        <p14:creationId xmlns:p14="http://schemas.microsoft.com/office/powerpoint/2010/main" val="3510233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3CCE5-B65F-1C69-DFE1-E70FDCDCC31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521A87B-0B4D-358E-F525-B48C51C6CFC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Picking The Best Leader</a:t>
            </a:r>
          </a:p>
        </p:txBody>
      </p:sp>
      <p:sp>
        <p:nvSpPr>
          <p:cNvPr id="8" name="Slide Number Placeholder 4">
            <a:extLst>
              <a:ext uri="{FF2B5EF4-FFF2-40B4-BE49-F238E27FC236}">
                <a16:creationId xmlns:a16="http://schemas.microsoft.com/office/drawing/2014/main" id="{31B863E7-7A7B-FD26-8692-6307C72DE39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pic>
        <p:nvPicPr>
          <p:cNvPr id="2" name="object 4">
            <a:extLst>
              <a:ext uri="{FF2B5EF4-FFF2-40B4-BE49-F238E27FC236}">
                <a16:creationId xmlns:a16="http://schemas.microsoft.com/office/drawing/2014/main" id="{387E147B-5A98-BBA7-C3DE-0709AB0484B0}"/>
              </a:ext>
            </a:extLst>
          </p:cNvPr>
          <p:cNvPicPr/>
          <p:nvPr/>
        </p:nvPicPr>
        <p:blipFill>
          <a:blip r:embed="rId3" cstate="print"/>
          <a:stretch>
            <a:fillRect/>
          </a:stretch>
        </p:blipFill>
        <p:spPr>
          <a:xfrm>
            <a:off x="852024" y="914401"/>
            <a:ext cx="10487947" cy="2652730"/>
          </a:xfrm>
          <a:prstGeom prst="rect">
            <a:avLst/>
          </a:prstGeom>
        </p:spPr>
      </p:pic>
      <p:sp>
        <p:nvSpPr>
          <p:cNvPr id="3" name="TextBox 2">
            <a:extLst>
              <a:ext uri="{FF2B5EF4-FFF2-40B4-BE49-F238E27FC236}">
                <a16:creationId xmlns:a16="http://schemas.microsoft.com/office/drawing/2014/main" id="{023794B9-2858-B4CE-E3D9-7FA384F919F6}"/>
              </a:ext>
            </a:extLst>
          </p:cNvPr>
          <p:cNvSpPr txBox="1"/>
          <p:nvPr/>
        </p:nvSpPr>
        <p:spPr>
          <a:xfrm>
            <a:off x="131927" y="4118789"/>
            <a:ext cx="11928143" cy="2739211"/>
          </a:xfrm>
          <a:prstGeom prst="rect">
            <a:avLst/>
          </a:prstGeom>
          <a:noFill/>
        </p:spPr>
        <p:txBody>
          <a:bodyPr wrap="square" rtlCol="0">
            <a:spAutoFit/>
          </a:bodyPr>
          <a:lstStyle/>
          <a:p>
            <a:r>
              <a:rPr lang="en-US" sz="2800" b="1" dirty="0"/>
              <a:t>Why not elect the server with the longest log as leader?</a:t>
            </a:r>
          </a:p>
          <a:p>
            <a:pPr marL="742950" lvl="1" indent="-285750">
              <a:buFont typeface="Arial" panose="020B0604020202020204" pitchFamily="34" charset="0"/>
              <a:buChar char="•"/>
            </a:pPr>
            <a:r>
              <a:rPr lang="en-US" sz="2400" dirty="0"/>
              <a:t>Example</a:t>
            </a:r>
          </a:p>
          <a:p>
            <a:pPr lvl="2"/>
            <a:r>
              <a:rPr lang="en-US" sz="2400" dirty="0"/>
              <a:t>S1: 5 6 7 </a:t>
            </a:r>
          </a:p>
          <a:p>
            <a:pPr lvl="2"/>
            <a:r>
              <a:rPr lang="en-US" sz="2400" dirty="0"/>
              <a:t>S2: 5 8 </a:t>
            </a:r>
          </a:p>
          <a:p>
            <a:pPr lvl="2"/>
            <a:r>
              <a:rPr lang="en-US" sz="2400" dirty="0"/>
              <a:t>S3: 5 8</a:t>
            </a:r>
          </a:p>
          <a:p>
            <a:pPr lvl="2"/>
            <a:endParaRPr lang="en-US" sz="2400" dirty="0"/>
          </a:p>
          <a:p>
            <a:pPr lvl="2"/>
            <a:endParaRPr lang="en-US" sz="2400" dirty="0"/>
          </a:p>
        </p:txBody>
      </p:sp>
    </p:spTree>
    <p:extLst>
      <p:ext uri="{BB962C8B-B14F-4D97-AF65-F5344CB8AC3E}">
        <p14:creationId xmlns:p14="http://schemas.microsoft.com/office/powerpoint/2010/main" val="2181391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571EF-93AB-EC7C-6BA1-359DA10C4DC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900456B-21C8-2D61-9518-3CEA707A76D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Restricted Leader Election</a:t>
            </a:r>
          </a:p>
        </p:txBody>
      </p:sp>
      <p:sp>
        <p:nvSpPr>
          <p:cNvPr id="8" name="Slide Number Placeholder 4">
            <a:extLst>
              <a:ext uri="{FF2B5EF4-FFF2-40B4-BE49-F238E27FC236}">
                <a16:creationId xmlns:a16="http://schemas.microsoft.com/office/drawing/2014/main" id="{9BDEB276-6735-0FB3-7E23-BF5E4311CA9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2E30A50B-DB14-A4CA-E3EE-6F2D9E0FD02A}"/>
              </a:ext>
            </a:extLst>
          </p:cNvPr>
          <p:cNvSpPr txBox="1"/>
          <p:nvPr/>
        </p:nvSpPr>
        <p:spPr>
          <a:xfrm>
            <a:off x="304230" y="1025040"/>
            <a:ext cx="11583537" cy="2000548"/>
          </a:xfrm>
          <a:prstGeom prst="rect">
            <a:avLst/>
          </a:prstGeom>
          <a:noFill/>
        </p:spPr>
        <p:txBody>
          <a:bodyPr wrap="square">
            <a:spAutoFit/>
          </a:bodyPr>
          <a:lstStyle/>
          <a:p>
            <a:r>
              <a:rPr lang="en-US" sz="2800" b="1" dirty="0"/>
              <a:t>Elect candidate most likely to contain all committed entries </a:t>
            </a:r>
          </a:p>
          <a:p>
            <a:pPr marL="800100" lvl="1" indent="-342900">
              <a:buFont typeface="Arial" panose="020B0604020202020204" pitchFamily="34" charset="0"/>
              <a:buChar char="•"/>
            </a:pPr>
            <a:r>
              <a:rPr lang="en-US" sz="2400" dirty="0"/>
              <a:t>In </a:t>
            </a:r>
            <a:r>
              <a:rPr lang="en-US" sz="2400" dirty="0" err="1"/>
              <a:t>RequestVote</a:t>
            </a:r>
            <a:r>
              <a:rPr lang="en-US" sz="2400" dirty="0"/>
              <a:t>, candidates incl. index + term of last log entry </a:t>
            </a:r>
          </a:p>
          <a:p>
            <a:pPr marL="800100" lvl="1" indent="-342900">
              <a:buFont typeface="Arial" panose="020B0604020202020204" pitchFamily="34" charset="0"/>
              <a:buChar char="•"/>
            </a:pPr>
            <a:r>
              <a:rPr lang="en-US" sz="2400" dirty="0"/>
              <a:t>Voter V denies vote if its log is “more complete”: (newer term) or (entry in higher index of same term) </a:t>
            </a:r>
          </a:p>
          <a:p>
            <a:pPr marL="800100" lvl="1" indent="-342900">
              <a:buFont typeface="Arial" panose="020B0604020202020204" pitchFamily="34" charset="0"/>
              <a:buChar char="•"/>
            </a:pPr>
            <a:r>
              <a:rPr lang="en-US" sz="2400" dirty="0"/>
              <a:t>Leader will have “most complete” log among electing majority</a:t>
            </a:r>
          </a:p>
        </p:txBody>
      </p:sp>
    </p:spTree>
    <p:extLst>
      <p:ext uri="{BB962C8B-B14F-4D97-AF65-F5344CB8AC3E}">
        <p14:creationId xmlns:p14="http://schemas.microsoft.com/office/powerpoint/2010/main" val="41025001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5E66D-0A5F-E00C-0A60-0C1A92168E0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F186D83-611B-E758-53C5-51AE1FF5DBB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Committing Entry From Current Term</a:t>
            </a:r>
          </a:p>
        </p:txBody>
      </p:sp>
      <p:sp>
        <p:nvSpPr>
          <p:cNvPr id="8" name="Slide Number Placeholder 4">
            <a:extLst>
              <a:ext uri="{FF2B5EF4-FFF2-40B4-BE49-F238E27FC236}">
                <a16:creationId xmlns:a16="http://schemas.microsoft.com/office/drawing/2014/main" id="{2DAABF02-B2F7-FC35-35EC-10CD992CC8A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F85AC4EE-71FC-B867-2BF0-C6A92E0BAC96}"/>
              </a:ext>
            </a:extLst>
          </p:cNvPr>
          <p:cNvSpPr txBox="1"/>
          <p:nvPr/>
        </p:nvSpPr>
        <p:spPr>
          <a:xfrm>
            <a:off x="623448" y="5129114"/>
            <a:ext cx="9741090" cy="1384995"/>
          </a:xfrm>
          <a:prstGeom prst="rect">
            <a:avLst/>
          </a:prstGeom>
          <a:noFill/>
        </p:spPr>
        <p:txBody>
          <a:bodyPr wrap="square">
            <a:spAutoFit/>
          </a:bodyPr>
          <a:lstStyle/>
          <a:p>
            <a:r>
              <a:rPr lang="en-US" sz="2800" b="1" dirty="0"/>
              <a:t>Case #1: Leader decides entry in current term is committed </a:t>
            </a:r>
          </a:p>
          <a:p>
            <a:endParaRPr lang="en-US" sz="2800" b="1" dirty="0"/>
          </a:p>
          <a:p>
            <a:r>
              <a:rPr lang="en-US" sz="2800" b="1" dirty="0"/>
              <a:t>Safe: leader for term 3 must contain entry 4</a:t>
            </a:r>
          </a:p>
        </p:txBody>
      </p:sp>
      <p:pic>
        <p:nvPicPr>
          <p:cNvPr id="4" name="object 4">
            <a:extLst>
              <a:ext uri="{FF2B5EF4-FFF2-40B4-BE49-F238E27FC236}">
                <a16:creationId xmlns:a16="http://schemas.microsoft.com/office/drawing/2014/main" id="{FE73AC03-9300-82D9-7539-DA510EACD854}"/>
              </a:ext>
            </a:extLst>
          </p:cNvPr>
          <p:cNvPicPr>
            <a:picLocks noChangeAspect="1"/>
          </p:cNvPicPr>
          <p:nvPr/>
        </p:nvPicPr>
        <p:blipFill>
          <a:blip r:embed="rId3" cstate="print"/>
          <a:stretch>
            <a:fillRect/>
          </a:stretch>
        </p:blipFill>
        <p:spPr>
          <a:xfrm>
            <a:off x="2565944" y="1441314"/>
            <a:ext cx="6705435" cy="3160887"/>
          </a:xfrm>
          <a:prstGeom prst="rect">
            <a:avLst/>
          </a:prstGeom>
        </p:spPr>
      </p:pic>
    </p:spTree>
    <p:extLst>
      <p:ext uri="{BB962C8B-B14F-4D97-AF65-F5344CB8AC3E}">
        <p14:creationId xmlns:p14="http://schemas.microsoft.com/office/powerpoint/2010/main" val="10094708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4C2F7-EA75-F7F5-E6BC-023B6182F45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3B99A4-A6D1-A0F9-ABFE-6C6F5C2923C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Committing Entry From Earlier Term</a:t>
            </a:r>
          </a:p>
        </p:txBody>
      </p:sp>
      <p:sp>
        <p:nvSpPr>
          <p:cNvPr id="8" name="Slide Number Placeholder 4">
            <a:extLst>
              <a:ext uri="{FF2B5EF4-FFF2-40B4-BE49-F238E27FC236}">
                <a16:creationId xmlns:a16="http://schemas.microsoft.com/office/drawing/2014/main" id="{C70885B4-5399-3C0D-928E-D9DFD5B768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C2A5BAF3-458D-6E3D-0704-8D278ECC2FF7}"/>
              </a:ext>
            </a:extLst>
          </p:cNvPr>
          <p:cNvSpPr txBox="1"/>
          <p:nvPr/>
        </p:nvSpPr>
        <p:spPr>
          <a:xfrm>
            <a:off x="370765" y="4415254"/>
            <a:ext cx="10983035" cy="2123658"/>
          </a:xfrm>
          <a:prstGeom prst="rect">
            <a:avLst/>
          </a:prstGeom>
          <a:noFill/>
        </p:spPr>
        <p:txBody>
          <a:bodyPr wrap="square">
            <a:spAutoFit/>
          </a:bodyPr>
          <a:lstStyle/>
          <a:p>
            <a:r>
              <a:rPr lang="en-US" sz="2800" b="1" dirty="0"/>
              <a:t>Case #2: Leader trying to finish committing entry from earlier</a:t>
            </a:r>
          </a:p>
          <a:p>
            <a:r>
              <a:rPr lang="en-US" sz="2800" b="1" dirty="0"/>
              <a:t> </a:t>
            </a:r>
          </a:p>
          <a:p>
            <a:r>
              <a:rPr lang="en-US" sz="2800" b="1" dirty="0"/>
              <a:t>Entry 3 not safely committed: </a:t>
            </a:r>
          </a:p>
          <a:p>
            <a:pPr marL="742950" lvl="1" indent="-285750">
              <a:buFont typeface="Arial" panose="020B0604020202020204" pitchFamily="34" charset="0"/>
              <a:buChar char="•"/>
            </a:pPr>
            <a:r>
              <a:rPr lang="en-US" sz="2400" dirty="0"/>
              <a:t>s5 can be elected as leader for term 5 (how?) </a:t>
            </a:r>
          </a:p>
          <a:p>
            <a:pPr marL="742950" lvl="1" indent="-285750">
              <a:buFont typeface="Arial" panose="020B0604020202020204" pitchFamily="34" charset="0"/>
              <a:buChar char="•"/>
            </a:pPr>
            <a:r>
              <a:rPr lang="en-US" sz="2400" dirty="0"/>
              <a:t>If elected, it will overwrite entry 3 on s1, s2, and s3</a:t>
            </a:r>
          </a:p>
        </p:txBody>
      </p:sp>
      <p:pic>
        <p:nvPicPr>
          <p:cNvPr id="4" name="object 3">
            <a:extLst>
              <a:ext uri="{FF2B5EF4-FFF2-40B4-BE49-F238E27FC236}">
                <a16:creationId xmlns:a16="http://schemas.microsoft.com/office/drawing/2014/main" id="{E586A046-665D-0643-8276-1C8918F43E32}"/>
              </a:ext>
            </a:extLst>
          </p:cNvPr>
          <p:cNvPicPr>
            <a:picLocks noChangeAspect="1"/>
          </p:cNvPicPr>
          <p:nvPr/>
        </p:nvPicPr>
        <p:blipFill>
          <a:blip r:embed="rId3" cstate="print"/>
          <a:stretch>
            <a:fillRect/>
          </a:stretch>
        </p:blipFill>
        <p:spPr>
          <a:xfrm>
            <a:off x="2902584" y="1030497"/>
            <a:ext cx="6131098" cy="2824498"/>
          </a:xfrm>
          <a:prstGeom prst="rect">
            <a:avLst/>
          </a:prstGeom>
        </p:spPr>
      </p:pic>
    </p:spTree>
    <p:extLst>
      <p:ext uri="{BB962C8B-B14F-4D97-AF65-F5344CB8AC3E}">
        <p14:creationId xmlns:p14="http://schemas.microsoft.com/office/powerpoint/2010/main" val="2429878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722FA-70FF-EF1B-6B03-4D021F82FDC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A2C0D30-8F51-F3B3-D568-CA09A25DF3E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Persistence</a:t>
            </a:r>
          </a:p>
        </p:txBody>
      </p:sp>
      <p:sp>
        <p:nvSpPr>
          <p:cNvPr id="8" name="Slide Number Placeholder 4">
            <a:extLst>
              <a:ext uri="{FF2B5EF4-FFF2-40B4-BE49-F238E27FC236}">
                <a16:creationId xmlns:a16="http://schemas.microsoft.com/office/drawing/2014/main" id="{BD9A2652-3761-D7E3-446D-9E4DEE117F9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2" name="TextBox 1">
            <a:extLst>
              <a:ext uri="{FF2B5EF4-FFF2-40B4-BE49-F238E27FC236}">
                <a16:creationId xmlns:a16="http://schemas.microsoft.com/office/drawing/2014/main" id="{478F4B78-BDB7-0196-6DD3-FC1AE820AB9C}"/>
              </a:ext>
            </a:extLst>
          </p:cNvPr>
          <p:cNvSpPr txBox="1"/>
          <p:nvPr/>
        </p:nvSpPr>
        <p:spPr>
          <a:xfrm>
            <a:off x="143301" y="1050878"/>
            <a:ext cx="11905396" cy="2800767"/>
          </a:xfrm>
          <a:prstGeom prst="rect">
            <a:avLst/>
          </a:prstGeom>
          <a:noFill/>
        </p:spPr>
        <p:txBody>
          <a:bodyPr wrap="square" rtlCol="0">
            <a:spAutoFit/>
          </a:bodyPr>
          <a:lstStyle/>
          <a:p>
            <a:r>
              <a:rPr lang="en-US" sz="2800" b="1" dirty="0"/>
              <a:t>What would we like to happen after a server crashes?</a:t>
            </a:r>
          </a:p>
          <a:p>
            <a:pPr marL="800100" lvl="1" indent="-342900">
              <a:buFont typeface="Arial" panose="020B0604020202020204" pitchFamily="34" charset="0"/>
              <a:buChar char="•"/>
            </a:pPr>
            <a:r>
              <a:rPr lang="zh-CN" altLang="en-US" sz="2400" dirty="0"/>
              <a:t>  </a:t>
            </a:r>
            <a:r>
              <a:rPr lang="en-US" sz="2400" dirty="0"/>
              <a:t>Raft can continue with one missing server</a:t>
            </a:r>
          </a:p>
          <a:p>
            <a:endParaRPr lang="en-US" sz="2400" dirty="0"/>
          </a:p>
          <a:p>
            <a:r>
              <a:rPr lang="en-US" sz="2800" b="1" dirty="0"/>
              <a:t>Two strategies: </a:t>
            </a:r>
          </a:p>
          <a:p>
            <a:pPr marL="742950" lvl="1" indent="-285750">
              <a:buFont typeface="Arial" panose="020B0604020202020204" pitchFamily="34" charset="0"/>
              <a:buChar char="•"/>
            </a:pPr>
            <a:r>
              <a:rPr lang="en-US" sz="2400" dirty="0"/>
              <a:t>replace with a fresh (empty) server?</a:t>
            </a:r>
          </a:p>
          <a:p>
            <a:pPr marL="742950" lvl="1" indent="-285750">
              <a:buFont typeface="Arial" panose="020B0604020202020204" pitchFamily="34" charset="0"/>
              <a:buChar char="•"/>
            </a:pPr>
            <a:r>
              <a:rPr lang="en-US" sz="2400" dirty="0"/>
              <a:t>reboot crashed server, re-join with state intact, catch up requires state that persists across crashes</a:t>
            </a:r>
          </a:p>
        </p:txBody>
      </p:sp>
    </p:spTree>
    <p:extLst>
      <p:ext uri="{BB962C8B-B14F-4D97-AF65-F5344CB8AC3E}">
        <p14:creationId xmlns:p14="http://schemas.microsoft.com/office/powerpoint/2010/main" val="4019814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46E7-EFAE-9BD6-0C04-CC3C650B758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F6BF239-65AF-978A-FD6F-1B60A242311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Persistent State</a:t>
            </a:r>
          </a:p>
        </p:txBody>
      </p:sp>
      <p:sp>
        <p:nvSpPr>
          <p:cNvPr id="8" name="Slide Number Placeholder 4">
            <a:extLst>
              <a:ext uri="{FF2B5EF4-FFF2-40B4-BE49-F238E27FC236}">
                <a16:creationId xmlns:a16="http://schemas.microsoft.com/office/drawing/2014/main" id="{93B6E9C0-4F30-0A93-4954-8BA93A731EE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2" name="TextBox 1">
            <a:extLst>
              <a:ext uri="{FF2B5EF4-FFF2-40B4-BE49-F238E27FC236}">
                <a16:creationId xmlns:a16="http://schemas.microsoft.com/office/drawing/2014/main" id="{EB30D2F3-C33F-73A7-C870-FA21B45161B3}"/>
              </a:ext>
            </a:extLst>
          </p:cNvPr>
          <p:cNvSpPr txBox="1"/>
          <p:nvPr/>
        </p:nvSpPr>
        <p:spPr>
          <a:xfrm>
            <a:off x="341194" y="1050878"/>
            <a:ext cx="8366078" cy="4955203"/>
          </a:xfrm>
          <a:prstGeom prst="rect">
            <a:avLst/>
          </a:prstGeom>
          <a:noFill/>
        </p:spPr>
        <p:txBody>
          <a:bodyPr wrap="square" rtlCol="0">
            <a:spAutoFit/>
          </a:bodyPr>
          <a:lstStyle/>
          <a:p>
            <a:r>
              <a:rPr lang="en-US" sz="2800" b="1" dirty="0"/>
              <a:t>Three variables:</a:t>
            </a:r>
          </a:p>
          <a:p>
            <a:pPr marL="800100" lvl="1" indent="-342900">
              <a:buFont typeface="Arial" panose="020B0604020202020204" pitchFamily="34" charset="0"/>
              <a:buChar char="•"/>
            </a:pPr>
            <a:r>
              <a:rPr lang="en-US" sz="2400" dirty="0"/>
              <a:t>log[], </a:t>
            </a:r>
            <a:r>
              <a:rPr lang="en-US" sz="2400" dirty="0" err="1"/>
              <a:t>currentTerm</a:t>
            </a:r>
            <a:r>
              <a:rPr lang="en-US" sz="2400" dirty="0"/>
              <a:t>, </a:t>
            </a:r>
            <a:r>
              <a:rPr lang="en-US" sz="2400" dirty="0" err="1"/>
              <a:t>votedFor</a:t>
            </a:r>
            <a:endParaRPr lang="en-US" sz="2400" dirty="0"/>
          </a:p>
          <a:p>
            <a:endParaRPr lang="en-US" sz="2400" dirty="0"/>
          </a:p>
          <a:p>
            <a:r>
              <a:rPr lang="en-US" sz="2800" b="1" dirty="0"/>
              <a:t>Why log[]?</a:t>
            </a:r>
          </a:p>
          <a:p>
            <a:endParaRPr lang="en-US" sz="2400" dirty="0"/>
          </a:p>
          <a:p>
            <a:r>
              <a:rPr lang="en-US" sz="2800" b="1" dirty="0"/>
              <a:t>Why </a:t>
            </a:r>
            <a:r>
              <a:rPr lang="en-US" sz="2800" b="1" dirty="0" err="1"/>
              <a:t>votedFor</a:t>
            </a:r>
            <a:r>
              <a:rPr lang="en-US" sz="2800" b="1" dirty="0"/>
              <a:t>?</a:t>
            </a:r>
          </a:p>
          <a:p>
            <a:endParaRPr lang="en-US" sz="2400" dirty="0"/>
          </a:p>
          <a:p>
            <a:r>
              <a:rPr lang="en-US" sz="2800" b="1" dirty="0"/>
              <a:t>Why </a:t>
            </a:r>
            <a:r>
              <a:rPr lang="en-US" sz="2800" b="1" dirty="0" err="1"/>
              <a:t>currentTerm</a:t>
            </a:r>
            <a:r>
              <a:rPr lang="en-US" sz="2800" b="1" dirty="0"/>
              <a:t>?</a:t>
            </a:r>
          </a:p>
          <a:p>
            <a:endParaRPr lang="en-US" sz="3200" b="1" dirty="0"/>
          </a:p>
          <a:p>
            <a:r>
              <a:rPr lang="en-US" sz="2800" b="1" dirty="0"/>
              <a:t>Some Raft state is volatile</a:t>
            </a:r>
          </a:p>
          <a:p>
            <a:pPr marL="800100" lvl="1" indent="-342900">
              <a:buFont typeface="Arial" panose="020B0604020202020204" pitchFamily="34" charset="0"/>
              <a:buChar char="•"/>
            </a:pPr>
            <a:r>
              <a:rPr lang="en-US" sz="2400" dirty="0" err="1"/>
              <a:t>commitIndex</a:t>
            </a:r>
            <a:r>
              <a:rPr lang="en-US" sz="2400" dirty="0"/>
              <a:t>, </a:t>
            </a:r>
            <a:r>
              <a:rPr lang="en-US" sz="2400" dirty="0" err="1"/>
              <a:t>lastApplied</a:t>
            </a:r>
            <a:r>
              <a:rPr lang="en-US" sz="2400" dirty="0"/>
              <a:t>, next/</a:t>
            </a:r>
            <a:r>
              <a:rPr lang="en-US" sz="2400" dirty="0" err="1"/>
              <a:t>matchIndex</a:t>
            </a:r>
            <a:r>
              <a:rPr lang="en-US" sz="2400" dirty="0"/>
              <a:t>[]</a:t>
            </a:r>
          </a:p>
          <a:p>
            <a:pPr marL="800100" lvl="1" indent="-342900">
              <a:buFont typeface="Arial" panose="020B0604020202020204" pitchFamily="34" charset="0"/>
              <a:buChar char="•"/>
            </a:pPr>
            <a:r>
              <a:rPr lang="en-US" sz="2400" dirty="0"/>
              <a:t>why is it OK not to save these?</a:t>
            </a:r>
            <a:endParaRPr lang="en-US" sz="2400" b="1" dirty="0"/>
          </a:p>
        </p:txBody>
      </p:sp>
    </p:spTree>
    <p:extLst>
      <p:ext uri="{BB962C8B-B14F-4D97-AF65-F5344CB8AC3E}">
        <p14:creationId xmlns:p14="http://schemas.microsoft.com/office/powerpoint/2010/main" val="3380863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
                                            <p:txEl>
                                              <p:pRg st="5" end="5"/>
                                            </p:txEl>
                                          </p:spTgt>
                                        </p:tgtEl>
                                        <p:attrNameLst>
                                          <p:attrName>style.visibility</p:attrName>
                                        </p:attrNameLst>
                                      </p:cBhvr>
                                      <p:to>
                                        <p:strVal val="visible"/>
                                      </p:to>
                                    </p:set>
                                    <p:animEffect transition="in" filter="dissolve">
                                      <p:cBhvr>
                                        <p:cTn id="12" dur="500"/>
                                        <p:tgtEl>
                                          <p:spTgt spid="2">
                                            <p:txEl>
                                              <p:pRg st="5" end="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
                                            <p:txEl>
                                              <p:pRg st="7" end="7"/>
                                            </p:txEl>
                                          </p:spTgt>
                                        </p:tgtEl>
                                        <p:attrNameLst>
                                          <p:attrName>style.visibility</p:attrName>
                                        </p:attrNameLst>
                                      </p:cBhvr>
                                      <p:to>
                                        <p:strVal val="visible"/>
                                      </p:to>
                                    </p:set>
                                    <p:animEffect transition="in" filter="dissolve">
                                      <p:cBhvr>
                                        <p:cTn id="17" dur="500"/>
                                        <p:tgtEl>
                                          <p:spTgt spid="2">
                                            <p:txEl>
                                              <p:pRg st="7" end="7"/>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2">
                                            <p:txEl>
                                              <p:pRg st="9" end="9"/>
                                            </p:txEl>
                                          </p:spTgt>
                                        </p:tgtEl>
                                        <p:attrNameLst>
                                          <p:attrName>style.visibility</p:attrName>
                                        </p:attrNameLst>
                                      </p:cBhvr>
                                      <p:to>
                                        <p:strVal val="visible"/>
                                      </p:to>
                                    </p:set>
                                    <p:animEffect transition="in" filter="dissolve">
                                      <p:cBhvr>
                                        <p:cTn id="22" dur="500"/>
                                        <p:tgtEl>
                                          <p:spTgt spid="2">
                                            <p:txEl>
                                              <p:pRg st="9" end="9"/>
                                            </p:txEl>
                                          </p:spTgt>
                                        </p:tgtEl>
                                      </p:cBhvr>
                                    </p:animEffect>
                                  </p:childTnLst>
                                </p:cTn>
                              </p:par>
                              <p:par>
                                <p:cTn id="23" presetID="9" presetClass="entr" presetSubtype="0" fill="hold" nodeType="withEffect">
                                  <p:stCondLst>
                                    <p:cond delay="0"/>
                                  </p:stCondLst>
                                  <p:childTnLst>
                                    <p:set>
                                      <p:cBhvr>
                                        <p:cTn id="24" dur="1" fill="hold">
                                          <p:stCondLst>
                                            <p:cond delay="0"/>
                                          </p:stCondLst>
                                        </p:cTn>
                                        <p:tgtEl>
                                          <p:spTgt spid="2">
                                            <p:txEl>
                                              <p:pRg st="10" end="10"/>
                                            </p:txEl>
                                          </p:spTgt>
                                        </p:tgtEl>
                                        <p:attrNameLst>
                                          <p:attrName>style.visibility</p:attrName>
                                        </p:attrNameLst>
                                      </p:cBhvr>
                                      <p:to>
                                        <p:strVal val="visible"/>
                                      </p:to>
                                    </p:set>
                                    <p:animEffect transition="in" filter="dissolve">
                                      <p:cBhvr>
                                        <p:cTn id="25" dur="500"/>
                                        <p:tgtEl>
                                          <p:spTgt spid="2">
                                            <p:txEl>
                                              <p:pRg st="10" end="10"/>
                                            </p:txEl>
                                          </p:spTgt>
                                        </p:tgtEl>
                                      </p:cBhvr>
                                    </p:animEffect>
                                  </p:childTnLst>
                                </p:cTn>
                              </p:par>
                              <p:par>
                                <p:cTn id="26" presetID="9" presetClass="entr" presetSubtype="0" fill="hold" nodeType="withEffect">
                                  <p:stCondLst>
                                    <p:cond delay="0"/>
                                  </p:stCondLst>
                                  <p:childTnLst>
                                    <p:set>
                                      <p:cBhvr>
                                        <p:cTn id="27" dur="1" fill="hold">
                                          <p:stCondLst>
                                            <p:cond delay="0"/>
                                          </p:stCondLst>
                                        </p:cTn>
                                        <p:tgtEl>
                                          <p:spTgt spid="2">
                                            <p:txEl>
                                              <p:pRg st="11" end="11"/>
                                            </p:txEl>
                                          </p:spTgt>
                                        </p:tgtEl>
                                        <p:attrNameLst>
                                          <p:attrName>style.visibility</p:attrName>
                                        </p:attrNameLst>
                                      </p:cBhvr>
                                      <p:to>
                                        <p:strVal val="visible"/>
                                      </p:to>
                                    </p:set>
                                    <p:animEffect transition="in" filter="dissolve">
                                      <p:cBhvr>
                                        <p:cTn id="28"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6B510-CF9F-87C3-1C2E-C10609A16844}"/>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F906EED-0E7E-B9BD-71F0-B9FA0BA3B5B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Persistence is often the bottleneck</a:t>
            </a:r>
          </a:p>
        </p:txBody>
      </p:sp>
      <p:sp>
        <p:nvSpPr>
          <p:cNvPr id="8" name="Slide Number Placeholder 4">
            <a:extLst>
              <a:ext uri="{FF2B5EF4-FFF2-40B4-BE49-F238E27FC236}">
                <a16:creationId xmlns:a16="http://schemas.microsoft.com/office/drawing/2014/main" id="{608D63B1-91FC-9850-D0D7-8C50024D171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2" name="TextBox 1">
            <a:extLst>
              <a:ext uri="{FF2B5EF4-FFF2-40B4-BE49-F238E27FC236}">
                <a16:creationId xmlns:a16="http://schemas.microsoft.com/office/drawing/2014/main" id="{8569D884-3ADB-45C9-EF50-9AF181834F2B}"/>
              </a:ext>
            </a:extLst>
          </p:cNvPr>
          <p:cNvSpPr txBox="1"/>
          <p:nvPr/>
        </p:nvSpPr>
        <p:spPr>
          <a:xfrm>
            <a:off x="165580" y="941296"/>
            <a:ext cx="9580728" cy="2431435"/>
          </a:xfrm>
          <a:prstGeom prst="rect">
            <a:avLst/>
          </a:prstGeom>
          <a:noFill/>
        </p:spPr>
        <p:txBody>
          <a:bodyPr wrap="square" rtlCol="0">
            <a:spAutoFit/>
          </a:bodyPr>
          <a:lstStyle/>
          <a:p>
            <a:r>
              <a:rPr lang="en-US" sz="2800" b="1" dirty="0"/>
              <a:t>A hard disk write takes 10 </a:t>
            </a:r>
            <a:r>
              <a:rPr lang="en-US" sz="2800" b="1" dirty="0" err="1"/>
              <a:t>ms</a:t>
            </a:r>
            <a:r>
              <a:rPr lang="en-US" sz="2800" b="1" dirty="0"/>
              <a:t>, SSD write takes 0.1 </a:t>
            </a:r>
            <a:r>
              <a:rPr lang="en-US" sz="2800" b="1" dirty="0" err="1"/>
              <a:t>ms</a:t>
            </a:r>
            <a:endParaRPr lang="en-US" sz="2800" b="1" dirty="0"/>
          </a:p>
          <a:p>
            <a:pPr marL="742950" lvl="1" indent="-285750">
              <a:buFont typeface="Arial" panose="020B0604020202020204" pitchFamily="34" charset="0"/>
              <a:buChar char="•"/>
            </a:pPr>
            <a:r>
              <a:rPr lang="en-US" sz="2400" dirty="0"/>
              <a:t>disk, SSD, battery-backed RAM, &amp;c</a:t>
            </a:r>
          </a:p>
          <a:p>
            <a:pPr marL="742950" lvl="1" indent="-285750">
              <a:buFont typeface="Arial" panose="020B0604020202020204" pitchFamily="34" charset="0"/>
              <a:buChar char="•"/>
            </a:pPr>
            <a:endParaRPr lang="en-US" sz="2400" dirty="0"/>
          </a:p>
          <a:p>
            <a:r>
              <a:rPr lang="en-US" sz="2800" b="1" dirty="0"/>
              <a:t>Lots of tricks to cope with slowness of persistence: </a:t>
            </a:r>
          </a:p>
          <a:p>
            <a:pPr marL="742950" lvl="1" indent="-285750">
              <a:buFont typeface="Arial" panose="020B0604020202020204" pitchFamily="34" charset="0"/>
              <a:buChar char="•"/>
            </a:pPr>
            <a:r>
              <a:rPr lang="en-US" sz="2400" dirty="0"/>
              <a:t>batch many new log entries per disk write </a:t>
            </a:r>
          </a:p>
          <a:p>
            <a:pPr marL="742950" lvl="1" indent="-285750">
              <a:buFont typeface="Arial" panose="020B0604020202020204" pitchFamily="34" charset="0"/>
              <a:buChar char="•"/>
            </a:pPr>
            <a:r>
              <a:rPr lang="en-US" sz="2400" dirty="0"/>
              <a:t>persist to battery-backed RAM, not disk</a:t>
            </a:r>
          </a:p>
        </p:txBody>
      </p:sp>
    </p:spTree>
    <p:extLst>
      <p:ext uri="{BB962C8B-B14F-4D97-AF65-F5344CB8AC3E}">
        <p14:creationId xmlns:p14="http://schemas.microsoft.com/office/powerpoint/2010/main" val="8015468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10DB5-C7DC-CE9F-CB71-B74FBE95EB4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6FB372B-BC5E-03A5-47FB-6987CFA7CE0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Log Compaction</a:t>
            </a:r>
          </a:p>
        </p:txBody>
      </p:sp>
      <p:sp>
        <p:nvSpPr>
          <p:cNvPr id="8" name="Slide Number Placeholder 4">
            <a:extLst>
              <a:ext uri="{FF2B5EF4-FFF2-40B4-BE49-F238E27FC236}">
                <a16:creationId xmlns:a16="http://schemas.microsoft.com/office/drawing/2014/main" id="{5924D16A-6AF3-CC90-589B-E1B888497CA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2" name="TextBox 1">
            <a:extLst>
              <a:ext uri="{FF2B5EF4-FFF2-40B4-BE49-F238E27FC236}">
                <a16:creationId xmlns:a16="http://schemas.microsoft.com/office/drawing/2014/main" id="{B1CEF745-F084-FDC8-CFE4-4824D558F80F}"/>
              </a:ext>
            </a:extLst>
          </p:cNvPr>
          <p:cNvSpPr txBox="1"/>
          <p:nvPr/>
        </p:nvSpPr>
        <p:spPr>
          <a:xfrm>
            <a:off x="136479" y="914401"/>
            <a:ext cx="10420417" cy="5816977"/>
          </a:xfrm>
          <a:prstGeom prst="rect">
            <a:avLst/>
          </a:prstGeom>
          <a:noFill/>
        </p:spPr>
        <p:txBody>
          <a:bodyPr wrap="none" rtlCol="0">
            <a:spAutoFit/>
          </a:bodyPr>
          <a:lstStyle/>
          <a:p>
            <a:r>
              <a:rPr lang="en-US" sz="2800" b="1" dirty="0"/>
              <a:t>How does the service recover its state after a </a:t>
            </a:r>
            <a:r>
              <a:rPr lang="en-US" sz="2800" b="1" dirty="0" err="1"/>
              <a:t>crash+reboot</a:t>
            </a:r>
            <a:r>
              <a:rPr lang="en-US" sz="2800" b="1" dirty="0"/>
              <a:t>?</a:t>
            </a:r>
          </a:p>
          <a:p>
            <a:pPr marL="800100" lvl="1" indent="-342900">
              <a:buFont typeface="Arial" panose="020B0604020202020204" pitchFamily="34" charset="0"/>
              <a:buChar char="•"/>
            </a:pPr>
            <a:r>
              <a:rPr lang="en-US" sz="2400" dirty="0"/>
              <a:t>easy approach: start with empty state, re-play Raft's entire persisted log</a:t>
            </a:r>
          </a:p>
          <a:p>
            <a:pPr marL="800100" lvl="1" indent="-342900">
              <a:buFont typeface="Arial" panose="020B0604020202020204" pitchFamily="34" charset="0"/>
              <a:buChar char="•"/>
            </a:pPr>
            <a:r>
              <a:rPr lang="en-US" sz="2400" dirty="0"/>
              <a:t>problem: </a:t>
            </a:r>
          </a:p>
          <a:p>
            <a:pPr marL="1257300" lvl="2" indent="-342900">
              <a:buFont typeface="Courier New" panose="02070309020205020404" pitchFamily="49" charset="0"/>
              <a:buChar char="o"/>
            </a:pPr>
            <a:r>
              <a:rPr lang="en-US" sz="2400" dirty="0"/>
              <a:t>log will get to be huge </a:t>
            </a:r>
          </a:p>
          <a:p>
            <a:pPr marL="1257300" lvl="2" indent="-342900">
              <a:buFont typeface="Courier New" panose="02070309020205020404" pitchFamily="49" charset="0"/>
              <a:buChar char="o"/>
            </a:pPr>
            <a:r>
              <a:rPr lang="en-US" sz="2400" dirty="0"/>
              <a:t>re-play will be too slow for a long-lived system</a:t>
            </a:r>
          </a:p>
          <a:p>
            <a:endParaRPr lang="en-US" sz="2400" dirty="0"/>
          </a:p>
          <a:p>
            <a:r>
              <a:rPr lang="en-US" sz="2800" b="1" dirty="0"/>
              <a:t>Insight:</a:t>
            </a:r>
          </a:p>
          <a:p>
            <a:pPr marL="800100" lvl="1" indent="-342900">
              <a:buFont typeface="Arial" panose="020B0604020202020204" pitchFamily="34" charset="0"/>
              <a:buChar char="•"/>
            </a:pPr>
            <a:r>
              <a:rPr lang="en-US" sz="2400" dirty="0"/>
              <a:t>clients only see the state, not the log</a:t>
            </a:r>
          </a:p>
          <a:p>
            <a:pPr marL="800100" lvl="1" indent="-342900">
              <a:buFont typeface="Arial" panose="020B0604020202020204" pitchFamily="34" charset="0"/>
              <a:buChar char="•"/>
            </a:pPr>
            <a:r>
              <a:rPr lang="en-US" sz="2400" dirty="0"/>
              <a:t>Service state usually much smaller, so let's keep just that</a:t>
            </a:r>
          </a:p>
          <a:p>
            <a:pPr marL="800100" lvl="1" indent="-342900">
              <a:buFont typeface="Arial" panose="020B0604020202020204" pitchFamily="34" charset="0"/>
              <a:buChar char="•"/>
            </a:pPr>
            <a:endParaRPr lang="en-US" sz="2400" dirty="0"/>
          </a:p>
          <a:p>
            <a:r>
              <a:rPr lang="en-US" sz="2800" b="1" dirty="0"/>
              <a:t>Solution: ”</a:t>
            </a:r>
            <a:r>
              <a:rPr lang="en-US" sz="2800" b="1" dirty="0" err="1"/>
              <a:t>SnapShot</a:t>
            </a:r>
            <a:r>
              <a:rPr lang="en-US" sz="2800" b="1" dirty="0"/>
              <a:t>”</a:t>
            </a:r>
          </a:p>
          <a:p>
            <a:pPr marL="800100" lvl="1" indent="-342900">
              <a:buFont typeface="Arial" panose="020B0604020202020204" pitchFamily="34" charset="0"/>
              <a:buChar char="•"/>
            </a:pPr>
            <a:r>
              <a:rPr lang="en-US" sz="2400" dirty="0"/>
              <a:t>service periodically creates persistent "snapshot”</a:t>
            </a:r>
            <a:endParaRPr lang="en-US" sz="2800" b="1" dirty="0"/>
          </a:p>
          <a:p>
            <a:pPr marL="800100" lvl="1" indent="-342900">
              <a:buFont typeface="Arial" panose="020B0604020202020204" pitchFamily="34" charset="0"/>
              <a:buChar char="•"/>
            </a:pPr>
            <a:r>
              <a:rPr lang="en-US" sz="2400" dirty="0"/>
              <a:t>service writes snapshot to persistent storage </a:t>
            </a:r>
            <a:endParaRPr lang="en-US" sz="2800" b="1" dirty="0"/>
          </a:p>
          <a:p>
            <a:pPr marL="800100" lvl="1" indent="-342900">
              <a:buFont typeface="Arial" panose="020B0604020202020204" pitchFamily="34" charset="0"/>
              <a:buChar char="•"/>
            </a:pPr>
            <a:r>
              <a:rPr lang="en-US" sz="2400" dirty="0"/>
              <a:t>service tells Raft it is snapshotted </a:t>
            </a:r>
            <a:endParaRPr lang="en-US" sz="2800" b="1" dirty="0"/>
          </a:p>
          <a:p>
            <a:pPr marL="800100" lvl="1" indent="-342900">
              <a:buFont typeface="Arial" panose="020B0604020202020204" pitchFamily="34" charset="0"/>
              <a:buChar char="•"/>
            </a:pPr>
            <a:r>
              <a:rPr lang="en-US" sz="2400" dirty="0"/>
              <a:t>Raft discards log before that index</a:t>
            </a:r>
            <a:endParaRPr lang="en-US" sz="2400" b="1" dirty="0"/>
          </a:p>
        </p:txBody>
      </p:sp>
    </p:spTree>
    <p:extLst>
      <p:ext uri="{BB962C8B-B14F-4D97-AF65-F5344CB8AC3E}">
        <p14:creationId xmlns:p14="http://schemas.microsoft.com/office/powerpoint/2010/main" val="221865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6"/>
                                            </p:txEl>
                                          </p:spTgt>
                                        </p:tgtEl>
                                        <p:attrNameLst>
                                          <p:attrName>style.visibility</p:attrName>
                                        </p:attrNameLst>
                                      </p:cBhvr>
                                      <p:to>
                                        <p:strVal val="visible"/>
                                      </p:to>
                                    </p:set>
                                    <p:animEffect transition="in" filter="dissolve">
                                      <p:cBhvr>
                                        <p:cTn id="7" dur="500"/>
                                        <p:tgtEl>
                                          <p:spTgt spid="2">
                                            <p:txEl>
                                              <p:pRg st="6" end="6"/>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7" end="7"/>
                                            </p:txEl>
                                          </p:spTgt>
                                        </p:tgtEl>
                                        <p:attrNameLst>
                                          <p:attrName>style.visibility</p:attrName>
                                        </p:attrNameLst>
                                      </p:cBhvr>
                                      <p:to>
                                        <p:strVal val="visible"/>
                                      </p:to>
                                    </p:set>
                                    <p:animEffect transition="in" filter="dissolve">
                                      <p:cBhvr>
                                        <p:cTn id="10" dur="500"/>
                                        <p:tgtEl>
                                          <p:spTgt spid="2">
                                            <p:txEl>
                                              <p:pRg st="7" end="7"/>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8" end="8"/>
                                            </p:txEl>
                                          </p:spTgt>
                                        </p:tgtEl>
                                        <p:attrNameLst>
                                          <p:attrName>style.visibility</p:attrName>
                                        </p:attrNameLst>
                                      </p:cBhvr>
                                      <p:to>
                                        <p:strVal val="visible"/>
                                      </p:to>
                                    </p:set>
                                    <p:animEffect transition="in" filter="dissolve">
                                      <p:cBhvr>
                                        <p:cTn id="13" dur="500"/>
                                        <p:tgtEl>
                                          <p:spTgt spid="2">
                                            <p:txEl>
                                              <p:pRg st="8" end="8"/>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
                                            <p:txEl>
                                              <p:pRg st="10" end="10"/>
                                            </p:txEl>
                                          </p:spTgt>
                                        </p:tgtEl>
                                        <p:attrNameLst>
                                          <p:attrName>style.visibility</p:attrName>
                                        </p:attrNameLst>
                                      </p:cBhvr>
                                      <p:to>
                                        <p:strVal val="visible"/>
                                      </p:to>
                                    </p:set>
                                    <p:animEffect transition="in" filter="dissolve">
                                      <p:cBhvr>
                                        <p:cTn id="18" dur="500"/>
                                        <p:tgtEl>
                                          <p:spTgt spid="2">
                                            <p:txEl>
                                              <p:pRg st="10" end="10"/>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2">
                                            <p:txEl>
                                              <p:pRg st="11" end="11"/>
                                            </p:txEl>
                                          </p:spTgt>
                                        </p:tgtEl>
                                        <p:attrNameLst>
                                          <p:attrName>style.visibility</p:attrName>
                                        </p:attrNameLst>
                                      </p:cBhvr>
                                      <p:to>
                                        <p:strVal val="visible"/>
                                      </p:to>
                                    </p:set>
                                    <p:animEffect transition="in" filter="dissolve">
                                      <p:cBhvr>
                                        <p:cTn id="21" dur="500"/>
                                        <p:tgtEl>
                                          <p:spTgt spid="2">
                                            <p:txEl>
                                              <p:pRg st="11" end="11"/>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2">
                                            <p:txEl>
                                              <p:pRg st="12" end="12"/>
                                            </p:txEl>
                                          </p:spTgt>
                                        </p:tgtEl>
                                        <p:attrNameLst>
                                          <p:attrName>style.visibility</p:attrName>
                                        </p:attrNameLst>
                                      </p:cBhvr>
                                      <p:to>
                                        <p:strVal val="visible"/>
                                      </p:to>
                                    </p:set>
                                    <p:animEffect transition="in" filter="dissolve">
                                      <p:cBhvr>
                                        <p:cTn id="24" dur="500"/>
                                        <p:tgtEl>
                                          <p:spTgt spid="2">
                                            <p:txEl>
                                              <p:pRg st="12" end="12"/>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2">
                                            <p:txEl>
                                              <p:pRg st="13" end="13"/>
                                            </p:txEl>
                                          </p:spTgt>
                                        </p:tgtEl>
                                        <p:attrNameLst>
                                          <p:attrName>style.visibility</p:attrName>
                                        </p:attrNameLst>
                                      </p:cBhvr>
                                      <p:to>
                                        <p:strVal val="visible"/>
                                      </p:to>
                                    </p:set>
                                    <p:animEffect transition="in" filter="dissolve">
                                      <p:cBhvr>
                                        <p:cTn id="27" dur="500"/>
                                        <p:tgtEl>
                                          <p:spTgt spid="2">
                                            <p:txEl>
                                              <p:pRg st="13" end="13"/>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2">
                                            <p:txEl>
                                              <p:pRg st="14" end="14"/>
                                            </p:txEl>
                                          </p:spTgt>
                                        </p:tgtEl>
                                        <p:attrNameLst>
                                          <p:attrName>style.visibility</p:attrName>
                                        </p:attrNameLst>
                                      </p:cBhvr>
                                      <p:to>
                                        <p:strVal val="visible"/>
                                      </p:to>
                                    </p:set>
                                    <p:animEffect transition="in" filter="dissolve">
                                      <p:cBhvr>
                                        <p:cTn id="30" dur="500"/>
                                        <p:tgtEl>
                                          <p:spTgt spid="2">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CFBB9-2A9B-1C98-1184-5D1AA7B7B3C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47B7DA5-22FB-FED9-35A9-8F4081A7AA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Log Compaction</a:t>
            </a:r>
          </a:p>
        </p:txBody>
      </p:sp>
      <p:sp>
        <p:nvSpPr>
          <p:cNvPr id="8" name="Slide Number Placeholder 4">
            <a:extLst>
              <a:ext uri="{FF2B5EF4-FFF2-40B4-BE49-F238E27FC236}">
                <a16:creationId xmlns:a16="http://schemas.microsoft.com/office/drawing/2014/main" id="{B8AD5BBB-40F6-C98D-D3BB-0A1449332E0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2" name="TextBox 1">
            <a:extLst>
              <a:ext uri="{FF2B5EF4-FFF2-40B4-BE49-F238E27FC236}">
                <a16:creationId xmlns:a16="http://schemas.microsoft.com/office/drawing/2014/main" id="{C2B8C594-B511-10F0-6240-C35C831649DF}"/>
              </a:ext>
            </a:extLst>
          </p:cNvPr>
          <p:cNvSpPr txBox="1"/>
          <p:nvPr/>
        </p:nvSpPr>
        <p:spPr>
          <a:xfrm>
            <a:off x="162636" y="1078174"/>
            <a:ext cx="11054686" cy="3539430"/>
          </a:xfrm>
          <a:prstGeom prst="rect">
            <a:avLst/>
          </a:prstGeom>
          <a:noFill/>
        </p:spPr>
        <p:txBody>
          <a:bodyPr wrap="square" rtlCol="0">
            <a:spAutoFit/>
          </a:bodyPr>
          <a:lstStyle/>
          <a:p>
            <a:r>
              <a:rPr lang="en-US" sz="2800" b="1" dirty="0"/>
              <a:t>What happens on </a:t>
            </a:r>
            <a:r>
              <a:rPr lang="en-US" sz="2800" b="1" dirty="0" err="1"/>
              <a:t>crash+restart</a:t>
            </a:r>
            <a:r>
              <a:rPr lang="en-US" sz="2800" b="1" dirty="0"/>
              <a:t>? </a:t>
            </a:r>
          </a:p>
          <a:p>
            <a:pPr marL="800100" lvl="1" indent="-342900">
              <a:buFont typeface="Arial" panose="020B0604020202020204" pitchFamily="34" charset="0"/>
              <a:buChar char="•"/>
            </a:pPr>
            <a:r>
              <a:rPr lang="en-US" sz="2400" dirty="0"/>
              <a:t>service reads snapshot from disk </a:t>
            </a:r>
          </a:p>
          <a:p>
            <a:pPr marL="800100" lvl="1" indent="-342900">
              <a:buFont typeface="Arial" panose="020B0604020202020204" pitchFamily="34" charset="0"/>
              <a:buChar char="•"/>
            </a:pPr>
            <a:r>
              <a:rPr lang="en-US" sz="2400" dirty="0"/>
              <a:t>Raft reads persisted log from disk </a:t>
            </a:r>
          </a:p>
          <a:p>
            <a:pPr marL="800100" lvl="1" indent="-342900">
              <a:buFont typeface="Arial" panose="020B0604020202020204" pitchFamily="34" charset="0"/>
              <a:buChar char="•"/>
            </a:pPr>
            <a:r>
              <a:rPr lang="en-US" sz="2400" dirty="0"/>
              <a:t>service tells Raft to set </a:t>
            </a:r>
            <a:r>
              <a:rPr lang="en-US" sz="2400" dirty="0" err="1"/>
              <a:t>lastApplied</a:t>
            </a:r>
            <a:r>
              <a:rPr lang="en-US" sz="2400" dirty="0"/>
              <a:t> to last included index to avoid re-applying already-applied log entries</a:t>
            </a:r>
          </a:p>
          <a:p>
            <a:endParaRPr lang="en-US" sz="2400" dirty="0"/>
          </a:p>
          <a:p>
            <a:r>
              <a:rPr lang="en-US" sz="2800" b="1" dirty="0"/>
              <a:t>Problem: What if follower's log ends before leader's log starts?</a:t>
            </a:r>
          </a:p>
          <a:p>
            <a:pPr marL="800100" lvl="1" indent="-342900">
              <a:buFont typeface="Arial" panose="020B0604020202020204" pitchFamily="34" charset="0"/>
              <a:buChar char="•"/>
            </a:pPr>
            <a:r>
              <a:rPr lang="en-US" sz="2400" dirty="0"/>
              <a:t>leader can't repair that follower with </a:t>
            </a:r>
            <a:r>
              <a:rPr lang="en-US" sz="2400" dirty="0" err="1"/>
              <a:t>AppendEntries</a:t>
            </a:r>
            <a:r>
              <a:rPr lang="en-US" sz="2400" dirty="0"/>
              <a:t> RPCs</a:t>
            </a:r>
          </a:p>
          <a:p>
            <a:pPr marL="800100" lvl="1" indent="-342900">
              <a:buFont typeface="Arial" panose="020B0604020202020204" pitchFamily="34" charset="0"/>
              <a:buChar char="•"/>
            </a:pPr>
            <a:r>
              <a:rPr lang="en-US" sz="2400" dirty="0" err="1"/>
              <a:t>InstallSnapshot</a:t>
            </a:r>
            <a:r>
              <a:rPr lang="en-US" sz="2400" dirty="0"/>
              <a:t> RPC</a:t>
            </a:r>
          </a:p>
        </p:txBody>
      </p:sp>
    </p:spTree>
    <p:extLst>
      <p:ext uri="{BB962C8B-B14F-4D97-AF65-F5344CB8AC3E}">
        <p14:creationId xmlns:p14="http://schemas.microsoft.com/office/powerpoint/2010/main" val="700356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5" end="5"/>
                                            </p:txEl>
                                          </p:spTgt>
                                        </p:tgtEl>
                                        <p:attrNameLst>
                                          <p:attrName>style.visibility</p:attrName>
                                        </p:attrNameLst>
                                      </p:cBhvr>
                                      <p:to>
                                        <p:strVal val="visible"/>
                                      </p:to>
                                    </p:set>
                                    <p:animEffect transition="in" filter="dissolve">
                                      <p:cBhvr>
                                        <p:cTn id="7" dur="500"/>
                                        <p:tgtEl>
                                          <p:spTgt spid="2">
                                            <p:txEl>
                                              <p:pRg st="5" end="5"/>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6" end="6"/>
                                            </p:txEl>
                                          </p:spTgt>
                                        </p:tgtEl>
                                        <p:attrNameLst>
                                          <p:attrName>style.visibility</p:attrName>
                                        </p:attrNameLst>
                                      </p:cBhvr>
                                      <p:to>
                                        <p:strVal val="visible"/>
                                      </p:to>
                                    </p:set>
                                    <p:animEffect transition="in" filter="dissolve">
                                      <p:cBhvr>
                                        <p:cTn id="10" dur="500"/>
                                        <p:tgtEl>
                                          <p:spTgt spid="2">
                                            <p:txEl>
                                              <p:pRg st="6" end="6"/>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7" end="7"/>
                                            </p:txEl>
                                          </p:spTgt>
                                        </p:tgtEl>
                                        <p:attrNameLst>
                                          <p:attrName>style.visibility</p:attrName>
                                        </p:attrNameLst>
                                      </p:cBhvr>
                                      <p:to>
                                        <p:strVal val="visible"/>
                                      </p:to>
                                    </p:set>
                                    <p:animEffect transition="in" filter="dissolve">
                                      <p:cBhvr>
                                        <p:cTn id="13"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3F045-0E6B-6239-C2C4-759DA78E7AF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2DD144C-0540-859E-55B4-0168450DCF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C636C29B-B531-1445-ABBD-A7580D3983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4DB265F8-3D7F-16A8-0CDB-566062C652CC}"/>
              </a:ext>
            </a:extLst>
          </p:cNvPr>
          <p:cNvSpPr txBox="1"/>
          <p:nvPr/>
        </p:nvSpPr>
        <p:spPr>
          <a:xfrm>
            <a:off x="2924735" y="5351944"/>
            <a:ext cx="6096000" cy="461665"/>
          </a:xfrm>
          <a:prstGeom prst="rect">
            <a:avLst/>
          </a:prstGeom>
          <a:noFill/>
        </p:spPr>
        <p:txBody>
          <a:bodyPr wrap="square">
            <a:spAutoFit/>
          </a:bodyPr>
          <a:lstStyle/>
          <a:p>
            <a:r>
              <a:rPr lang="en-US" sz="2400" dirty="0">
                <a:hlinkClick r:id="rId3"/>
              </a:rPr>
              <a:t>https://forms.gle/Ln2N5fwHiAoDCvBT6</a:t>
            </a:r>
            <a:endParaRPr lang="en-US" sz="2400" dirty="0"/>
          </a:p>
        </p:txBody>
      </p:sp>
      <p:pic>
        <p:nvPicPr>
          <p:cNvPr id="5" name="Picture 4" descr="A qr code on a white background&#10;&#10;Description automatically generated">
            <a:extLst>
              <a:ext uri="{FF2B5EF4-FFF2-40B4-BE49-F238E27FC236}">
                <a16:creationId xmlns:a16="http://schemas.microsoft.com/office/drawing/2014/main" id="{BB734B0F-09F5-4438-846E-213D00D31C96}"/>
              </a:ext>
            </a:extLst>
          </p:cNvPr>
          <p:cNvPicPr>
            <a:picLocks noChangeAspect="1"/>
          </p:cNvPicPr>
          <p:nvPr/>
        </p:nvPicPr>
        <p:blipFill>
          <a:blip r:embed="rId4"/>
          <a:stretch>
            <a:fillRect/>
          </a:stretch>
        </p:blipFill>
        <p:spPr>
          <a:xfrm>
            <a:off x="3756212" y="730623"/>
            <a:ext cx="4433047" cy="4433047"/>
          </a:xfrm>
          <a:prstGeom prst="rect">
            <a:avLst/>
          </a:prstGeom>
        </p:spPr>
      </p:pic>
    </p:spTree>
    <p:extLst>
      <p:ext uri="{BB962C8B-B14F-4D97-AF65-F5344CB8AC3E}">
        <p14:creationId xmlns:p14="http://schemas.microsoft.com/office/powerpoint/2010/main" val="2824935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3F045-0E6B-6239-C2C4-759DA78E7AF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2DD144C-0540-859E-55B4-0168450DCF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C636C29B-B531-1445-ABBD-A7580D3983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4DB265F8-3D7F-16A8-0CDB-566062C652CC}"/>
              </a:ext>
            </a:extLst>
          </p:cNvPr>
          <p:cNvSpPr txBox="1"/>
          <p:nvPr/>
        </p:nvSpPr>
        <p:spPr>
          <a:xfrm>
            <a:off x="2924735" y="5351944"/>
            <a:ext cx="6096000" cy="461665"/>
          </a:xfrm>
          <a:prstGeom prst="rect">
            <a:avLst/>
          </a:prstGeom>
          <a:noFill/>
        </p:spPr>
        <p:txBody>
          <a:bodyPr wrap="square">
            <a:spAutoFit/>
          </a:bodyPr>
          <a:lstStyle/>
          <a:p>
            <a:r>
              <a:rPr lang="en-US" sz="2400" dirty="0">
                <a:hlinkClick r:id="rId3"/>
              </a:rPr>
              <a:t>https://forms.gle/tnjNUFKsbhY5ekc4A</a:t>
            </a:r>
            <a:endParaRPr lang="en-US" sz="2400" dirty="0"/>
          </a:p>
        </p:txBody>
      </p:sp>
      <p:pic>
        <p:nvPicPr>
          <p:cNvPr id="5" name="Picture 4" descr="A qr code on a white background&#10;&#10;Description automatically generated">
            <a:extLst>
              <a:ext uri="{FF2B5EF4-FFF2-40B4-BE49-F238E27FC236}">
                <a16:creationId xmlns:a16="http://schemas.microsoft.com/office/drawing/2014/main" id="{BB734B0F-09F5-4438-846E-213D00D31C96}"/>
              </a:ext>
            </a:extLst>
          </p:cNvPr>
          <p:cNvPicPr>
            <a:picLocks noChangeAspect="1"/>
          </p:cNvPicPr>
          <p:nvPr/>
        </p:nvPicPr>
        <p:blipFill>
          <a:blip r:embed="rId4"/>
          <a:stretch>
            <a:fillRect/>
          </a:stretch>
        </p:blipFill>
        <p:spPr>
          <a:xfrm>
            <a:off x="3756212" y="730623"/>
            <a:ext cx="4433047" cy="4433047"/>
          </a:xfrm>
          <a:prstGeom prst="rect">
            <a:avLst/>
          </a:prstGeom>
        </p:spPr>
      </p:pic>
    </p:spTree>
    <p:extLst>
      <p:ext uri="{BB962C8B-B14F-4D97-AF65-F5344CB8AC3E}">
        <p14:creationId xmlns:p14="http://schemas.microsoft.com/office/powerpoint/2010/main" val="28249358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3111</TotalTime>
  <Words>3483</Words>
  <Application>Microsoft Macintosh PowerPoint</Application>
  <PresentationFormat>Widescreen</PresentationFormat>
  <Paragraphs>517</Paragraphs>
  <Slides>25</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Aptos Display</vt:lpstr>
      <vt:lpstr>Arial</vt:lpstr>
      <vt:lpstr>Courier New</vt:lpstr>
      <vt:lpstr>Helvetica</vt:lpstr>
      <vt:lpstr>Helvetica Neue</vt:lpstr>
      <vt:lpstr>Office Theme</vt:lpstr>
      <vt:lpstr>Lecture 6: Consensus IIFall 2026                            </vt:lpstr>
      <vt:lpstr>Administrivia</vt:lpstr>
      <vt:lpstr>Why Log?</vt:lpstr>
      <vt:lpstr>Log Structure</vt:lpstr>
      <vt:lpstr>Crash</vt:lpstr>
      <vt:lpstr>Log Operation</vt:lpstr>
      <vt:lpstr>Leader Changes</vt:lpstr>
      <vt:lpstr>Crashes can Leave Log Disagree</vt:lpstr>
      <vt:lpstr>Challenge: Log Inconsistencies</vt:lpstr>
      <vt:lpstr>Safety Requirement</vt:lpstr>
      <vt:lpstr>Repairing Follower Logs</vt:lpstr>
      <vt:lpstr>Consistency Check</vt:lpstr>
      <vt:lpstr>Repairing Follower Logs</vt:lpstr>
      <vt:lpstr>Repairing Follower Logs</vt:lpstr>
      <vt:lpstr>Picking The Best Leader</vt:lpstr>
      <vt:lpstr>Restricted Leader Election</vt:lpstr>
      <vt:lpstr>Committing Entry From Current Term</vt:lpstr>
      <vt:lpstr>Committing Entry From Earlier Term</vt:lpstr>
      <vt:lpstr>Persistence</vt:lpstr>
      <vt:lpstr>Persistent State</vt:lpstr>
      <vt:lpstr>Persistence is often the bottleneck</vt:lpstr>
      <vt:lpstr>Log Compaction</vt:lpstr>
      <vt:lpstr>Log Compaction</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2</cp:revision>
  <dcterms:created xsi:type="dcterms:W3CDTF">2026-02-15T17:21:02Z</dcterms:created>
  <dcterms:modified xsi:type="dcterms:W3CDTF">2026-09-17T00:29:01Z</dcterms:modified>
</cp:coreProperties>
</file>