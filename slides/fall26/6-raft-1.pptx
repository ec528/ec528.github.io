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9.jpg" ContentType="image/jpg"/>
  <Override PartName="/ppt/media/image10.jpg" ContentType="image/jpg"/>
  <Override PartName="/ppt/media/image11.jpg" ContentType="image/jpg"/>
  <Override PartName="/ppt/media/image13.jpg" ContentType="image/jpg"/>
  <Override PartName="/ppt/media/image14.jpg" ContentType="image/jp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422" r:id="rId105"/>
    <p:sldId id="470" r:id="rId106"/>
    <p:sldId id="471" r:id="rId107"/>
    <p:sldId id="427" r:id="rId108"/>
    <p:sldId id="475" r:id="rId109"/>
    <p:sldId id="476" r:id="rId110"/>
    <p:sldId id="429" r:id="rId111"/>
    <p:sldId id="431" r:id="rId112"/>
    <p:sldId id="464" r:id="rId113" show="0"/>
    <p:sldId id="469" r:id="rId114" show="0"/>
    <p:sldId id="477" r:id="rId115"/>
    <p:sldId id="478" r:id="rId116"/>
    <p:sldId id="433" r:id="rId117"/>
    <p:sldId id="434" r:id="rId118"/>
    <p:sldId id="437" r:id="rId119"/>
    <p:sldId id="438" r:id="rId120"/>
    <p:sldId id="436" r:id="rId121"/>
    <p:sldId id="439" r:id="rId122"/>
    <p:sldId id="432" r:id="rId123"/>
    <p:sldId id="440" r:id="rId124"/>
    <p:sldId id="441" r:id="rId125"/>
    <p:sldId id="442" r:id="rId126"/>
    <p:sldId id="479" r:id="rId127"/>
    <p:sldId id="472" r:id="rId128"/>
    <p:sldId id="473"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478294-79E4-AF40-BA36-FB117090586D}" v="263" dt="2026-02-18T23:15:57.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65"/>
    <p:restoredTop sz="77786"/>
  </p:normalViewPr>
  <p:slideViewPr>
    <p:cSldViewPr snapToGrid="0">
      <p:cViewPr varScale="1">
        <p:scale>
          <a:sx n="86" d="100"/>
          <a:sy n="86" d="100"/>
        </p:scale>
        <p:origin x="15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presProps" Target="presProps.xml"/><Relationship Id="rId25"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28" Type="http://schemas.openxmlformats.org/officeDocument/2006/relationships/theme" Target="theme/theme1.xml"/><Relationship Id="rId27" Type="http://schemas.openxmlformats.org/officeDocument/2006/relationships/viewProps" Target="viewProps.xml"/><Relationship Id="rId30" Type="http://schemas.microsoft.com/office/2015/10/relationships/revisionInfo" Target="revisionInfo.xml"/><Relationship Id="rId105" Type="http://schemas.openxmlformats.org/officeDocument/2006/relationships/slide" Target="slides/slide1.xml"/><Relationship Id="rId106" Type="http://schemas.openxmlformats.org/officeDocument/2006/relationships/slide" Target="slides/slide2.xml"/><Relationship Id="rId107" Type="http://schemas.openxmlformats.org/officeDocument/2006/relationships/slide" Target="slides/slide3.xml"/><Relationship Id="rId108" Type="http://schemas.openxmlformats.org/officeDocument/2006/relationships/slide" Target="slides/slide4.xml"/><Relationship Id="rId109" Type="http://schemas.openxmlformats.org/officeDocument/2006/relationships/slide" Target="slides/slide5.xml"/><Relationship Id="rId110" Type="http://schemas.openxmlformats.org/officeDocument/2006/relationships/slide" Target="slides/slide6.xml"/><Relationship Id="rId111" Type="http://schemas.openxmlformats.org/officeDocument/2006/relationships/slide" Target="slides/slide7.xml"/><Relationship Id="rId112" Type="http://schemas.openxmlformats.org/officeDocument/2006/relationships/slide" Target="slides/slide8.xml"/><Relationship Id="rId113" Type="http://schemas.openxmlformats.org/officeDocument/2006/relationships/slide" Target="slides/slide9.xml"/><Relationship Id="rId114" Type="http://schemas.openxmlformats.org/officeDocument/2006/relationships/slide" Target="slides/slide10.xml"/><Relationship Id="rId115" Type="http://schemas.openxmlformats.org/officeDocument/2006/relationships/slide" Target="slides/slide11.xml"/><Relationship Id="rId116" Type="http://schemas.openxmlformats.org/officeDocument/2006/relationships/slide" Target="slides/slide12.xml"/><Relationship Id="rId117" Type="http://schemas.openxmlformats.org/officeDocument/2006/relationships/slide" Target="slides/slide13.xml"/><Relationship Id="rId118" Type="http://schemas.openxmlformats.org/officeDocument/2006/relationships/slide" Target="slides/slide14.xml"/><Relationship Id="rId119" Type="http://schemas.openxmlformats.org/officeDocument/2006/relationships/slide" Target="slides/slide15.xml"/><Relationship Id="rId120" Type="http://schemas.openxmlformats.org/officeDocument/2006/relationships/slide" Target="slides/slide16.xml"/><Relationship Id="rId121" Type="http://schemas.openxmlformats.org/officeDocument/2006/relationships/slide" Target="slides/slide17.xml"/><Relationship Id="rId122" Type="http://schemas.openxmlformats.org/officeDocument/2006/relationships/slide" Target="slides/slide18.xml"/><Relationship Id="rId123" Type="http://schemas.openxmlformats.org/officeDocument/2006/relationships/slide" Target="slides/slide19.xml"/><Relationship Id="rId124" Type="http://schemas.openxmlformats.org/officeDocument/2006/relationships/slide" Target="slides/slide20.xml"/><Relationship Id="rId125" Type="http://schemas.openxmlformats.org/officeDocument/2006/relationships/slide" Target="slides/slide21.xml"/><Relationship Id="rId126" Type="http://schemas.openxmlformats.org/officeDocument/2006/relationships/slide" Target="slides/slide22.xml"/><Relationship Id="rId127" Type="http://schemas.openxmlformats.org/officeDocument/2006/relationships/slide" Target="slides/slide23.xml"/><Relationship Id="rId128" Type="http://schemas.openxmlformats.org/officeDocument/2006/relationships/slide" Target="slides/slide24.xml"/><Relationship Id="rId1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25FE0-5DDB-2F4E-91E7-FAC86E881550}"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28AC95-C6B4-494F-AAA3-33FE4B129223}" type="slidenum">
              <a:rPr lang="en-US" smtClean="0"/>
              <a:t>‹#›</a:t>
            </a:fld>
            <a:endParaRPr lang="en-US"/>
          </a:p>
        </p:txBody>
      </p:sp>
    </p:spTree>
    <p:extLst>
      <p:ext uri="{BB962C8B-B14F-4D97-AF65-F5344CB8AC3E}">
        <p14:creationId xmlns:p14="http://schemas.microsoft.com/office/powerpoint/2010/main" val="1219034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BCA3-A9CF-B7F8-9D46-89DE2570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EC58D5-8FB2-83AE-BE48-7F301BA21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EEB12-94CF-2099-95BB-F8F99E02E961}"/>
              </a:ext>
            </a:extLst>
          </p:cNvPr>
          <p:cNvSpPr>
            <a:spLocks noGrp="1"/>
          </p:cNvSpPr>
          <p:nvPr>
            <p:ph type="body" idx="1"/>
          </p:nvPr>
        </p:nvSpPr>
        <p:spPr/>
        <p:txBody>
          <a:bodyPr/>
          <a:lstStyle/>
          <a:p>
            <a:r>
              <a:rPr lang="en-US" dirty="0"/>
              <a:t>Today we move from systems that replicate work or data but still rely on one coordinator to consensus, which lets us replicate the coordinator's decision itself.</a:t>
            </a:r>
          </a:p>
          <a:p>
            <a:endParaRPr lang="en-US" dirty="0"/>
          </a:p>
          <a:p>
            <a:r>
              <a:rPr lang="en-US" dirty="0"/>
              <a:t>MapReduce has one master that assigns tasks and decides which output counts. GFS has one master that chooses primaries. Those systems tolerate many worker or chunkserver failures, but one machine still makes the decision that must be unique.</a:t>
            </a:r>
          </a:p>
          <a:p>
            <a:endParaRPr lang="en-US" dirty="0"/>
          </a:p>
          <a:p>
            <a:r>
              <a:rPr lang="en-US" dirty="0"/>
              <a:t>Raft shows how a group of machines can make that decision while machines crash, messages are delayed, and the network may split. In this lecture we will first see why two replicas are not enough, then introduce majority voting, the replicated state machine, terms, and leader election. The next Raft lecture will focus on the harder log-repair problem after leaders change.</a:t>
            </a:r>
          </a:p>
          <a:p>
            <a:endParaRPr lang="en-US" dirty="0"/>
          </a:p>
          <a:p>
            <a:r>
              <a:rPr lang="en-US" dirty="0"/>
              <a:t>SOURCE
MIT 6.824, Spring 2020, Lecture 6: no counterpart.
Title page. For orientation: MIT 6.824 Lecture 6 runs 00:00 to 79:46. This deck covers its first two thirds; the log material that MIT reaches around 65:00 is in 6-raft-2 instead.
Local transcript: fall2026/lectures/references/mit-6824-2020-lecture6-raft1-transcript.txt</a:t>
            </a:r>
          </a:p>
        </p:txBody>
      </p:sp>
      <p:sp>
        <p:nvSpPr>
          <p:cNvPr id="4" name="Slide Number Placeholder 3">
            <a:extLst>
              <a:ext uri="{FF2B5EF4-FFF2-40B4-BE49-F238E27FC236}">
                <a16:creationId xmlns:a16="http://schemas.microsoft.com/office/drawing/2014/main" id="{B8AB7C6A-36E9-5C23-5BE4-853D3626EDA5}"/>
              </a:ext>
            </a:extLst>
          </p:cNvPr>
          <p:cNvSpPr>
            <a:spLocks noGrp="1"/>
          </p:cNvSpPr>
          <p:nvPr>
            <p:ph type="sldNum" sz="quarter" idx="5"/>
          </p:nvPr>
        </p:nvSpPr>
        <p:spPr/>
        <p:txBody>
          <a:bodyPr/>
          <a:lstStyle/>
          <a:p>
            <a:fld id="{EF6C4B67-53EF-164D-AE78-2A15C544BE9D}" type="slidenum">
              <a:rPr lang="en-US" smtClean="0"/>
              <a:t>1</a:t>
            </a:fld>
            <a:endParaRPr lang="en-US"/>
          </a:p>
        </p:txBody>
      </p:sp>
    </p:spTree>
    <p:extLst>
      <p:ext uri="{BB962C8B-B14F-4D97-AF65-F5344CB8AC3E}">
        <p14:creationId xmlns:p14="http://schemas.microsoft.com/office/powerpoint/2010/main" val="390817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ATTENDANCE CHECK - do this right before the quiz.</a:t>
            </a:r>
          </a:p>
          <a:p>
            <a:r>
              <a:rPr lang="en-US" dirty="0"/>
              <a:t>1. In Google Forms, open 'Quiz 02 Attendance - GFS (Fall 2026)' and turn on Accepting responses. Then show this slide.</a:t>
            </a:r>
          </a:p>
          <a:p>
            <a:r>
              <a:rPr lang="en-US" dirty="0"/>
              <a:t>2. Tell the class: this attendance check is NOT graded. It only confirms that the number of quiz submissions matches the number of students in the room. Sign in with your BU account and enter your BU ID.</a:t>
            </a:r>
          </a:p>
          <a:p>
            <a:r>
              <a:rPr lang="en-US" dirty="0"/>
              <a:t>3. While they submit, count the students in the room. Headcount: ____</a:t>
            </a:r>
          </a:p>
          <a:p>
            <a:r>
              <a:rPr lang="en-US" dirty="0"/>
              <a:t>4. After about 2 minutes, turn OFF Accepting responses on the attendance form and compare its response count with your headcount. If they differ, say so now, before the quiz starts.</a:t>
            </a:r>
          </a:p>
          <a:p>
            <a:r>
              <a:rPr lang="en-US" dirty="0"/>
              <a:t>5. Only then open the quiz form and go to the next slide. After class, compare the quiz responses with this attendance list: a quiz submission whose email is not on the list did not check in.</a:t>
            </a:r>
          </a:p>
          <a:p>
            <a:endParaRPr lang="en-US" dirty="0"/>
          </a:p>
          <a:p>
            <a:r>
              <a:rPr lang="en-US" dirty="0"/>
              <a:t>SOURCE</a:t>
            </a:r>
          </a:p>
          <a:p>
            <a:r>
              <a:rPr lang="en-US" dirty="0"/>
              <a:t>MIT 6.824, Spring 2020, Lecture 6: no counterpart.</a:t>
            </a:r>
          </a:p>
          <a:p>
            <a:r>
              <a:rPr lang="en-US" dirty="0"/>
              <a:t>   Course admin - no MIT counterpart.</a:t>
            </a:r>
          </a:p>
          <a:p>
            <a:r>
              <a:rPr lang="en-US" dirty="0"/>
              <a:t>Local transcript: fall2026/lectures/references/mit-6824-2020-lecture6-raft1-transcript.txt</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2</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BEFORE THE QUIZ: the form was created closed. In Google Forms, turn on 'Accepting responses' when you start the quiz, and turn it off after 10 minutes.</a:t>
            </a:r>
          </a:p>
          <a:p>
            <a:r>
              <a:rPr lang="en-US" dirty="0"/>
              <a:t>Form: 'Quiz 02 - GFS (Fall 2026)' in the Drive folder EC528-Fall26. Students sign in with their BU account and must enter their BU ID.</a:t>
            </a:r>
          </a:p>
          <a:p>
            <a:r>
              <a:rPr lang="en-US" dirty="0"/>
              <a:t>This is the GFS quiz carried over: it was not taken at the end of the GFS lecture, so it runs here at the start of this one. 10 multiple-choice questions, 10 minutes, open book and open internet.</a:t>
            </a:r>
          </a:p>
          <a:p>
            <a:endParaRPr lang="en-US" dirty="0"/>
          </a:p>
          <a:p>
            <a:r>
              <a:rPr lang="en-US" dirty="0"/>
              <a:t>SOURCE</a:t>
            </a:r>
          </a:p>
          <a:p>
            <a:r>
              <a:rPr lang="en-US" dirty="0"/>
              <a:t>MIT 6.824, Spring 2020, Lecture 6: no counterpart.</a:t>
            </a:r>
          </a:p>
          <a:p>
            <a:r>
              <a:rPr lang="en-US" dirty="0"/>
              <a:t>   Course admin - no MIT counterpart.</a:t>
            </a:r>
          </a:p>
          <a:p>
            <a:r>
              <a:rPr lang="en-US" dirty="0"/>
              <a:t>Local transcript: fall2026/lectures/references/mit-6824-2020-lecture6-raft1-transcript.txt</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3</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81F1A-9132-55E3-1978-94CE4DDB9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2A9C1-FDBC-83DC-2FB6-D88896653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18E56-AF9B-9AA5-B135-EB02BC5D0579}"/>
              </a:ext>
            </a:extLst>
          </p:cNvPr>
          <p:cNvSpPr>
            <a:spLocks noGrp="1"/>
          </p:cNvSpPr>
          <p:nvPr>
            <p:ph type="body" idx="1"/>
          </p:nvPr>
        </p:nvSpPr>
        <p:spPr/>
        <p:txBody>
          <a:bodyPr/>
          <a:lstStyle/>
          <a:p>
            <a:r>
              <a:rPr lang="en-US" dirty="0"/>
              <a:t>There is a pattern in the fault-tolerant systems we have already studied.</a:t>
            </a:r>
          </a:p>
          <a:p>
            <a:endParaRPr lang="en-US" dirty="0"/>
          </a:p>
          <a:p>
            <a:r>
              <a:rPr lang="en-US" dirty="0"/>
              <a:t>MapReduce can run duplicate tasks and restart failed work, but one master assigns the tasks and decides which result becomes part of the job. GFS stores several copies of every chunk, but one master decides which replica may act as the primary. Replication protects most of each system, while one machine still makes the coordination decision that must be unique.</a:t>
            </a:r>
          </a:p>
          <a:p>
            <a:endParaRPr lang="en-US" dirty="0"/>
          </a:p>
          <a:p>
            <a:r>
              <a:rPr lang="en-US" dirty="0"/>
              <a:t>That single decision maker is useful because one machine cannot disagree with itself. If the question is which replica is primary, one authority naturally prevents two different answers. That is exactly what protects us from split brain.</a:t>
            </a:r>
          </a:p>
          <a:p>
            <a:endParaRPr lang="en-US" dirty="0"/>
          </a:p>
          <a:p>
            <a:r>
              <a:rPr lang="en-US" dirty="0"/>
              <a:t>The weakness is also clear: the decision maker becomes the remaining single point of failure. The workers or replicas may all be healthy and may still contain the data, but if the coordinator disappears, they cannot safely decide who takes over.</a:t>
            </a:r>
          </a:p>
          <a:p>
            <a:endParaRPr lang="en-US" dirty="0"/>
          </a:p>
          <a:p>
            <a:r>
              <a:rPr lang="en-US" dirty="0"/>
              <a:t>Consensus addresses that last centralized decision. Instead of trusting one machine to choose the primary or the next command, a group of machines reaches one decision together. The difficulty is preserving one answer when a silent machine might have crashed or might simply be unreachable.</a:t>
            </a:r>
          </a:p>
          <a:p>
            <a:endParaRPr lang="en-US" dirty="0"/>
          </a:p>
          <a:p>
            <a:r>
              <a:rPr lang="en-US" dirty="0"/>
              <a:t>SOURCE
MIT 6.824, Spring 2020, Lecture 6 video, 00:00–02:16 (about 2.3 min).
The pattern: MapReduce, GFS and VMware FT all lean on one entity. MIT names three examples; this slide keeps two, since VMware FT is not on our syllabus.
https://www.youtube.com/watch?v=64Zp3tzNbpE
MIT 6.824, Spring 2020, Raft lecture notes, lines 7-12.
http://nil.csail.mit.edu/6.824/2020/notes/l-raft.txt
Local transcript: fall2026/lectures/references/mit-6824-2020-lecture6-raft1-transcript.txt</a:t>
            </a:r>
          </a:p>
        </p:txBody>
      </p:sp>
      <p:sp>
        <p:nvSpPr>
          <p:cNvPr id="4" name="Slide Number Placeholder 3">
            <a:extLst>
              <a:ext uri="{FF2B5EF4-FFF2-40B4-BE49-F238E27FC236}">
                <a16:creationId xmlns:a16="http://schemas.microsoft.com/office/drawing/2014/main" id="{7CCE848B-7B9A-6EEA-8449-2C6C04B15FA3}"/>
              </a:ext>
            </a:extLst>
          </p:cNvPr>
          <p:cNvSpPr>
            <a:spLocks noGrp="1"/>
          </p:cNvSpPr>
          <p:nvPr>
            <p:ph type="sldNum" sz="quarter" idx="5"/>
          </p:nvPr>
        </p:nvSpPr>
        <p:spPr/>
        <p:txBody>
          <a:bodyPr/>
          <a:lstStyle/>
          <a:p>
            <a:fld id="{1C9584DC-3658-4054-9DA4-7B68A1D8CC6D}" type="slidenum">
              <a:rPr lang="zh-CN" altLang="en-US" smtClean="0"/>
              <a:t>4</a:t>
            </a:fld>
            <a:endParaRPr lang="zh-CN" altLang="en-US"/>
          </a:p>
        </p:txBody>
      </p:sp>
    </p:spTree>
    <p:extLst>
      <p:ext uri="{BB962C8B-B14F-4D97-AF65-F5344CB8AC3E}">
        <p14:creationId xmlns:p14="http://schemas.microsoft.com/office/powerpoint/2010/main" val="1014432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6D73-8CC7-4C2D-F5B0-9FBF299D0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4A8F8-B794-DE7F-55D5-BB366DA3B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0DA39-D522-F3A2-3BE4-1C3709952941}"/>
              </a:ext>
            </a:extLst>
          </p:cNvPr>
          <p:cNvSpPr>
            <a:spLocks noGrp="1"/>
          </p:cNvSpPr>
          <p:nvPr>
            <p:ph type="body" idx="1"/>
          </p:nvPr>
        </p:nvSpPr>
        <p:spPr/>
        <p:txBody>
          <a:bodyPr/>
          <a:lstStyle/>
          <a:p>
            <a:r>
              <a:rPr lang="en-US" dirty="0"/>
              <a:t>Start with the smallest possible replicated decision service: two servers implementing test-and-set. Each server stores one flag, initially zero. A request changes the flag to one and returns its previous value. The client that receives zero has acquired the lock, so at most one client may ever receive zero.</a:t>
            </a:r>
          </a:p>
          <a:p>
            <a:endParaRPr lang="en-US" dirty="0"/>
          </a:p>
          <a:p>
            <a:r>
              <a:rPr lang="en-US" dirty="0"/>
              <a:t>Now C1 can reach S1 but gets no response from S2. One possible rule is to require both replicas for every operation. That keeps the replicas together, but it provides no fault tolerance. If S2 has really crashed, the entire service stops even though S1 is healthy. In fact, the replicated service is now less available than one server, because it depends on both machines being alive.</a:t>
            </a:r>
          </a:p>
          <a:p>
            <a:endParaRPr lang="en-US" dirty="0"/>
          </a:p>
          <a:p>
            <a:r>
              <a:rPr lang="en-US" dirty="0"/>
              <a:t>To tolerate one failure, C1 must be allowed to continue with S1. In the world shown here, that is the right decision. S2 has crashed. S1 changes its flag from zero to one, returns zero, and C1 safely holds the lock.</a:t>
            </a:r>
          </a:p>
          <a:p>
            <a:endParaRPr lang="en-US" dirty="0"/>
          </a:p>
          <a:p>
            <a:r>
              <a:rPr lang="en-US" dirty="0"/>
              <a:t>The problem is that C1 did not observe S2 crashing. It observed only that S2 did not answer. Keep the left half of this picture unchanged and replace the crash with a broken network; the same rule will produce a completely different result.</a:t>
            </a:r>
          </a:p>
          <a:p>
            <a:endParaRPr lang="en-US" dirty="0"/>
          </a:p>
          <a:p>
            <a:r>
              <a:rPr lang="en-US" dirty="0"/>
              <a:t>SOURCE
MIT 6.824, Spring 2020, Lecture 6 video, 02:16–05:21 (about 3.1 min).
Setting up the two-server test-and-set, and the branch where S2 really crashed: C1 must go ahead, because requiring both servers is worse than not replicating at all.
https://www.youtube.com/watch?v=64Zp3tzNbpE
MIT 6.824, Spring 2020, Raft lecture notes, lines 14-23.
http://nil.csail.mit.edu/6.824/2020/notes/l-raft.txt
Local transcript: fall2026/lectures/references/mit-6824-2020-lecture6-raft1-transcript.txt</a:t>
            </a:r>
          </a:p>
        </p:txBody>
      </p:sp>
      <p:sp>
        <p:nvSpPr>
          <p:cNvPr id="4" name="Slide Number Placeholder 3">
            <a:extLst>
              <a:ext uri="{FF2B5EF4-FFF2-40B4-BE49-F238E27FC236}">
                <a16:creationId xmlns:a16="http://schemas.microsoft.com/office/drawing/2014/main" id="{FBA4E65C-A9BA-2C2B-BDD5-C60C243BF84F}"/>
              </a:ext>
            </a:extLst>
          </p:cNvPr>
          <p:cNvSpPr>
            <a:spLocks noGrp="1"/>
          </p:cNvSpPr>
          <p:nvPr>
            <p:ph type="sldNum" sz="quarter" idx="5"/>
          </p:nvPr>
        </p:nvSpPr>
        <p:spPr/>
        <p:txBody>
          <a:bodyPr/>
          <a:lstStyle/>
          <a:p>
            <a:fld id="{1C9584DC-3658-4054-9DA4-7B68A1D8CC6D}" type="slidenum">
              <a:rPr lang="zh-CN" altLang="en-US" smtClean="0"/>
              <a:t>5</a:t>
            </a:fld>
            <a:endParaRPr lang="zh-CN" altLang="en-US"/>
          </a:p>
        </p:txBody>
      </p:sp>
    </p:spTree>
    <p:extLst>
      <p:ext uri="{BB962C8B-B14F-4D97-AF65-F5344CB8AC3E}">
        <p14:creationId xmlns:p14="http://schemas.microsoft.com/office/powerpoint/2010/main" val="3552230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6D73-8CC7-4C2D-F5B0-9FBF299D0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4A8F8-B794-DE7F-55D5-BB366DA3B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0DA39-D522-F3A2-3BE4-1C3709952941}"/>
              </a:ext>
            </a:extLst>
          </p:cNvPr>
          <p:cNvSpPr>
            <a:spLocks noGrp="1"/>
          </p:cNvSpPr>
          <p:nvPr>
            <p:ph type="body" idx="1"/>
          </p:nvPr>
        </p:nvSpPr>
        <p:spPr/>
        <p:txBody>
          <a:bodyPr/>
          <a:lstStyle/>
          <a:p>
            <a:r>
              <a:rPr lang="en-US" dirty="0"/>
              <a:t>Now S2 is alive. The network has partitioned the system so C1 can reach only S1 and C2 can reach only S2. From C1's point of view, nothing has changed: S2 still does not answer.</a:t>
            </a:r>
          </a:p>
          <a:p>
            <a:endParaRPr lang="en-US" dirty="0"/>
          </a:p>
          <a:p>
            <a:r>
              <a:rPr lang="en-US" dirty="0"/>
              <a:t>If we follow the fault-tolerant rule from the previous case, C1 proceeds with S1. S1 changes zero to one and returns zero, so C1 believes it holds the lock. On the other side, C2 makes exactly the same decision. It proceeds with S2, receives zero, and also believes it holds the lock.</a:t>
            </a:r>
          </a:p>
          <a:p>
            <a:endParaRPr lang="en-US" dirty="0"/>
          </a:p>
          <a:p>
            <a:r>
              <a:rPr lang="en-US" dirty="0"/>
              <a:t>The replicas now contain the same value, but the service is still incorrect. Two clients were told that each had exclusive ownership. In a primary-backup system, this is split brain: both sides believe they may act as primary.</a:t>
            </a:r>
          </a:p>
          <a:p>
            <a:endParaRPr lang="en-US" dirty="0"/>
          </a:p>
          <a:p>
            <a:r>
              <a:rPr lang="en-US" dirty="0"/>
              <a:t>In the crash case, C1 had to proceed. In the partition case, C1 must not proceed. Yet C1's local observation is identical in both worlds. A missing response cannot distinguish a dead machine from a live machine behind a broken network.</a:t>
            </a:r>
          </a:p>
          <a:p>
            <a:endParaRPr lang="en-US" dirty="0"/>
          </a:p>
          <a:p>
            <a:r>
              <a:rPr lang="en-US" dirty="0"/>
              <a:t>With only two servers, waiting for both preserves one answer but loses fault tolerance. Allowing either server to proceed preserves availability but may create two answers. The system needs a rule that permits progress on at most one side of the partition.</a:t>
            </a:r>
          </a:p>
          <a:p>
            <a:endParaRPr lang="en-US" dirty="0"/>
          </a:p>
          <a:p>
            <a:r>
              <a:rPr lang="en-US" dirty="0"/>
              <a:t>SOURCE
MIT 6.824, Spring 2020, Lecture 6 video, 05:21–08:24 (about 3.1 min).
The other branch - S2 alive behind a broken network - and the dilemma itself. MIT ends this stretch with "this was basically where things stood until the late 80s".
https://www.youtube.com/watch?v=64Zp3tzNbpE
MIT 6.824, Spring 2020, Raft lecture notes, lines 24-29.
http://nil.csail.mit.edu/6.824/2020/notes/l-raft.txt
Local transcript: fall2026/lectures/references/mit-6824-2020-lecture6-raft1-transcript.txt</a:t>
            </a:r>
          </a:p>
        </p:txBody>
      </p:sp>
      <p:sp>
        <p:nvSpPr>
          <p:cNvPr id="4" name="Slide Number Placeholder 3">
            <a:extLst>
              <a:ext uri="{FF2B5EF4-FFF2-40B4-BE49-F238E27FC236}">
                <a16:creationId xmlns:a16="http://schemas.microsoft.com/office/drawing/2014/main" id="{FBA4E65C-A9BA-2C2B-BDD5-C60C243BF84F}"/>
              </a:ext>
            </a:extLst>
          </p:cNvPr>
          <p:cNvSpPr>
            <a:spLocks noGrp="1"/>
          </p:cNvSpPr>
          <p:nvPr>
            <p:ph type="sldNum" sz="quarter" idx="5"/>
          </p:nvPr>
        </p:nvSpPr>
        <p:spPr/>
        <p:txBody>
          <a:bodyPr/>
          <a:lstStyle/>
          <a:p>
            <a:fld id="{1C9584DC-3658-4054-9DA4-7B68A1D8CC6D}" type="slidenum">
              <a:rPr lang="zh-CN" altLang="en-US" smtClean="0"/>
              <a:t>6</a:t>
            </a:fld>
            <a:endParaRPr lang="zh-CN" altLang="en-US"/>
          </a:p>
        </p:txBody>
      </p:sp>
    </p:spTree>
    <p:extLst>
      <p:ext uri="{BB962C8B-B14F-4D97-AF65-F5344CB8AC3E}">
        <p14:creationId xmlns:p14="http://schemas.microsoft.com/office/powerpoint/2010/main" val="3552230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6D73-8CC7-4C2D-F5B0-9FBF299D0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4A8F8-B794-DE7F-55D5-BB366DA3B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10DA39-D522-F3A2-3BE4-1C3709952941}"/>
              </a:ext>
            </a:extLst>
          </p:cNvPr>
          <p:cNvSpPr>
            <a:spLocks noGrp="1"/>
          </p:cNvSpPr>
          <p:nvPr>
            <p:ph type="body" idx="1"/>
          </p:nvPr>
        </p:nvSpPr>
        <p:spPr/>
        <p:txBody>
          <a:bodyPr/>
          <a:lstStyle/>
          <a:p>
            <a:r>
              <a:rPr lang="en-US" dirty="0"/>
              <a:t>For a long time, systems avoided this dilemma by adding an assumption outside the replication protocol.</a:t>
            </a:r>
          </a:p>
          <a:p>
            <a:endParaRPr lang="en-US" dirty="0"/>
          </a:p>
          <a:p>
            <a:r>
              <a:rPr lang="en-US" dirty="0"/>
              <a:t>One approach was to build a network that was treated as perfectly reliable. If communication could not fail, then a missing response really did mean the other machine was down. This can be reasonable inside tightly controlled hardware, but it is expensive and unrealistic for a distributed service.</a:t>
            </a:r>
          </a:p>
          <a:p>
            <a:endParaRPr lang="en-US" dirty="0"/>
          </a:p>
          <a:p>
            <a:r>
              <a:rPr lang="en-US" dirty="0"/>
              <a:t>A second approach was to stop automatically and ask a human operator to decide. The operator could inspect the machines, shut one side down, and then authorize the other side to continue. That can be safe, but recovery is slow and the human becomes the tie breaker.</a:t>
            </a:r>
          </a:p>
          <a:p>
            <a:endParaRPr lang="en-US" dirty="0"/>
          </a:p>
          <a:p>
            <a:r>
              <a:rPr lang="en-US" dirty="0"/>
              <a:t>A third version is a separate arbiter that decides which replica may proceed. That makes failover automatic, but the arbiter is again the single machine whose decision must be correct and available. We have moved the original problem rather than solved it.</a:t>
            </a:r>
          </a:p>
          <a:p>
            <a:endParaRPr lang="en-US" dirty="0"/>
          </a:p>
          <a:p>
            <a:r>
              <a:rPr lang="en-US" dirty="0"/>
              <a:t>All three approaches introduce a component that is assumed not to fail: the network, the operator, or the arbiter. Consensus protocols remove that assumption. The replicas follow a voting rule that lets one side continue through a partition while preventing the other side from making a conflicting decision.</a:t>
            </a:r>
          </a:p>
          <a:p>
            <a:endParaRPr lang="en-US" dirty="0"/>
          </a:p>
          <a:p>
            <a:r>
              <a:rPr lang="en-US" dirty="0"/>
              <a:t>SOURCE
MIT 6.824, Spring 2020, Lecture 6 video, 08:24–11:04 (about 2.7 min).
The three escapes people actually used, and why none is satisfying: each one is itself a single point of failure. MIT moves to majority voting at 11:27.
https://www.youtube.com/watch?v=64Zp3tzNbpE
MIT 6.824, Spring 2020, Raft lecture notes, lines 31-41.
http://nil.csail.mit.edu/6.824/2020/notes/l-raft.txt
Local transcript: fall2026/lectures/references/mit-6824-2020-lecture6-raft1-transcript.txt
MIT spends 00:00-11:27, about 11.5 minutes, on slides 4-7 combined. Our budget for the same four slides is roughly 7.5 minutes, because the GFS deck has already covered split brain, network partitions and the master as a single point of failure.</a:t>
            </a:r>
          </a:p>
        </p:txBody>
      </p:sp>
      <p:sp>
        <p:nvSpPr>
          <p:cNvPr id="4" name="Slide Number Placeholder 3">
            <a:extLst>
              <a:ext uri="{FF2B5EF4-FFF2-40B4-BE49-F238E27FC236}">
                <a16:creationId xmlns:a16="http://schemas.microsoft.com/office/drawing/2014/main" id="{FBA4E65C-A9BA-2C2B-BDD5-C60C243BF84F}"/>
              </a:ext>
            </a:extLst>
          </p:cNvPr>
          <p:cNvSpPr>
            <a:spLocks noGrp="1"/>
          </p:cNvSpPr>
          <p:nvPr>
            <p:ph type="sldNum" sz="quarter" idx="5"/>
          </p:nvPr>
        </p:nvSpPr>
        <p:spPr/>
        <p:txBody>
          <a:bodyPr/>
          <a:lstStyle/>
          <a:p>
            <a:fld id="{1C9584DC-3658-4054-9DA4-7B68A1D8CC6D}" type="slidenum">
              <a:rPr lang="zh-CN" altLang="en-US" smtClean="0"/>
              <a:t>7</a:t>
            </a:fld>
            <a:endParaRPr lang="zh-CN" altLang="en-US"/>
          </a:p>
        </p:txBody>
      </p:sp>
    </p:spTree>
    <p:extLst>
      <p:ext uri="{BB962C8B-B14F-4D97-AF65-F5344CB8AC3E}">
        <p14:creationId xmlns:p14="http://schemas.microsoft.com/office/powerpoint/2010/main" val="3552230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C6C51-D272-8248-9952-4F450B626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B083E-9C78-B6FA-2DD5-4888DE53E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C7B81-6131-B94D-E76A-CEB4C16E82A6}"/>
              </a:ext>
            </a:extLst>
          </p:cNvPr>
          <p:cNvSpPr>
            <a:spLocks noGrp="1"/>
          </p:cNvSpPr>
          <p:nvPr>
            <p:ph type="body" idx="1"/>
          </p:nvPr>
        </p:nvSpPr>
        <p:spPr/>
        <p:txBody>
          <a:bodyPr/>
          <a:lstStyle/>
          <a:p>
            <a:r>
              <a:rPr lang="en-US" dirty="0"/>
              <a:t>The key idea is that an important decision requires approval from a majority of all servers. If the network partitions, at most one side can contain more than half of the cluster. The majority side may continue; every minority side must stop. That gives us automatic failover without allowing two independent decision makers.</a:t>
            </a:r>
          </a:p>
          <a:p>
            <a:endParaRPr lang="en-US" dirty="0"/>
          </a:p>
          <a:p>
            <a:r>
              <a:rPr lang="en-US" dirty="0"/>
              <a:t>Two influential protocols developed this idea around 1990: Paxos and Viewstamped Replication. They showed that machines can reach one decision despite crashes, lost messages, delayed messages, and network partitions, as long as a majority can communicate.</a:t>
            </a:r>
          </a:p>
          <a:p>
            <a:endParaRPr lang="en-US" dirty="0"/>
          </a:p>
          <a:p>
            <a:r>
              <a:rPr lang="en-US" dirty="0"/>
              <a:t>Raft provides the same kind of safety and liveness guarantees, organized around the replicated log that a service actually needs. It separates the design into leader election, log replication, and safety rules. The strong leader chooses the order, and majority votes make that order durable.</a:t>
            </a:r>
          </a:p>
          <a:p>
            <a:endParaRPr lang="en-US" dirty="0"/>
          </a:p>
          <a:p>
            <a:r>
              <a:rPr lang="en-US" dirty="0"/>
              <a:t>A majority is a safety boundary, not a promise that the service is always available. When no majority can communicate, the protocol deliberately stops. Waiting is safer than allowing two sides to invent different histories.</a:t>
            </a:r>
          </a:p>
          <a:p>
            <a:endParaRPr lang="en-US" dirty="0"/>
          </a:p>
          <a:p>
            <a:r>
              <a:rPr lang="en-US" dirty="0"/>
              <a:t>SOURCE
MIT 6.824, Spring 2020, Lecture 6 transcript/video, 17:21–18:29 (about 1.1 min).
Local transcript: fall2026/lectures/references/mit-6824-2020-lecture6-raft1-transcript.txt
https://www.youtube.com/watch?v=64Zp3tzNbpE
Ongaro and Ousterhout, In Search of an Understandable Consensus Algorithm, Sections 1–3.
https://pdos.csail.mit.edu/6.824/papers/raft-extended.pdf</a:t>
            </a:r>
          </a:p>
        </p:txBody>
      </p:sp>
      <p:sp>
        <p:nvSpPr>
          <p:cNvPr id="4" name="Slide Number Placeholder 3">
            <a:extLst>
              <a:ext uri="{FF2B5EF4-FFF2-40B4-BE49-F238E27FC236}">
                <a16:creationId xmlns:a16="http://schemas.microsoft.com/office/drawing/2014/main" id="{F7380AB5-97BD-2121-26DB-47850F470F4E}"/>
              </a:ext>
            </a:extLst>
          </p:cNvPr>
          <p:cNvSpPr>
            <a:spLocks noGrp="1"/>
          </p:cNvSpPr>
          <p:nvPr>
            <p:ph type="sldNum" sz="quarter" idx="5"/>
          </p:nvPr>
        </p:nvSpPr>
        <p:spPr/>
        <p:txBody>
          <a:bodyPr/>
          <a:lstStyle/>
          <a:p>
            <a:fld id="{1C9584DC-3658-4054-9DA4-7B68A1D8CC6D}" type="slidenum">
              <a:rPr lang="zh-CN" altLang="en-US" smtClean="0"/>
              <a:t>8</a:t>
            </a:fld>
            <a:endParaRPr lang="zh-CN" altLang="en-US"/>
          </a:p>
        </p:txBody>
      </p:sp>
    </p:spTree>
    <p:extLst>
      <p:ext uri="{BB962C8B-B14F-4D97-AF65-F5344CB8AC3E}">
        <p14:creationId xmlns:p14="http://schemas.microsoft.com/office/powerpoint/2010/main" val="1863818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52FF3-E0C7-0CDD-3F4C-E95B837B7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2C17E-F033-F2B7-53ED-BD79A1F84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6B07D-607A-66C9-0449-8E6D69CC4172}"/>
              </a:ext>
            </a:extLst>
          </p:cNvPr>
          <p:cNvSpPr>
            <a:spLocks noGrp="1"/>
          </p:cNvSpPr>
          <p:nvPr>
            <p:ph type="body" idx="1"/>
          </p:nvPr>
        </p:nvSpPr>
        <p:spPr/>
        <p:txBody>
          <a:bodyPr/>
          <a:lstStyle/>
          <a:p>
            <a:r>
              <a:rPr lang="en-US" dirty="0"/>
              <a:t>Paxos and Viewstamped Replication appeared at roughly the same time. Viewstamped Replication was developed by Barbara Liskov and Brian Oki. Leslie Lamport submitted the original Paxos paper in 1990, although it was not published until 1998.</a:t>
            </a:r>
          </a:p>
          <a:p>
            <a:endParaRPr lang="en-US" dirty="0"/>
          </a:p>
          <a:p>
            <a:r>
              <a:rPr lang="en-US" dirty="0"/>
              <a:t>The Paxos paper presents the protocol through a fictional parliament whose members move in and out of the chamber while messages arrive late. The underlying result is fundamental, but the presentation was famously difficult to translate into an implementation. Lamport later wrote Paxos Made Simple to explain the core protocol more directly.</a:t>
            </a:r>
          </a:p>
          <a:p>
            <a:endParaRPr lang="en-US" dirty="0"/>
          </a:p>
          <a:p>
            <a:r>
              <a:rPr lang="en-US" dirty="0"/>
              <a:t>Lamport's broader work also gave distributed systems much of its language for reasoning about time, ordering, and failures. It includes logical clocks, Byzantine agreement, and TLA+, in addition to LaTeX. He received the Turing Award in 2013.</a:t>
            </a:r>
          </a:p>
          <a:p>
            <a:endParaRPr lang="en-US" dirty="0"/>
          </a:p>
          <a:p>
            <a:r>
              <a:rPr lang="en-US" dirty="0"/>
              <a:t>The surprising historical point is the delay between theory and use. These protocols existed around 1990, but widespread production use came much later, when large distributed services needed automatic leader election and replicated metadata. Raft was designed in that environment, with understandability as an explicit goal.</a:t>
            </a:r>
          </a:p>
          <a:p>
            <a:endParaRPr lang="en-US" dirty="0"/>
          </a:p>
          <a:p>
            <a:r>
              <a:rPr lang="en-US" dirty="0"/>
              <a:t>SOURCE
ACM, Leslie Lamport, 2013 A.M. Turing Award recipient.
https://amturing.acm.org/award_winners/lamport_1205376.cfm
Ongaro and Ousterhout, In Search of an Understandable Consensus Algorithm, Sections 1 and 3.
https://pdos.csail.mit.edu/6.824/papers/raft-extended.pdf
MIT 6.824, Spring 2020, Lecture 6 transcript/video, 17:21–18:29 (about 1.1 min) — the same window as slide 8, which now carries this material.</a:t>
            </a:r>
          </a:p>
        </p:txBody>
      </p:sp>
      <p:sp>
        <p:nvSpPr>
          <p:cNvPr id="4" name="Slide Number Placeholder 3">
            <a:extLst>
              <a:ext uri="{FF2B5EF4-FFF2-40B4-BE49-F238E27FC236}">
                <a16:creationId xmlns:a16="http://schemas.microsoft.com/office/drawing/2014/main" id="{90EDE57D-F7F1-A0D4-64FD-F5CC4B27270D}"/>
              </a:ext>
            </a:extLst>
          </p:cNvPr>
          <p:cNvSpPr>
            <a:spLocks noGrp="1"/>
          </p:cNvSpPr>
          <p:nvPr>
            <p:ph type="sldNum" sz="quarter" idx="5"/>
          </p:nvPr>
        </p:nvSpPr>
        <p:spPr/>
        <p:txBody>
          <a:bodyPr/>
          <a:lstStyle/>
          <a:p>
            <a:fld id="{1C9584DC-3658-4054-9DA4-7B68A1D8CC6D}" type="slidenum">
              <a:rPr lang="zh-CN" altLang="en-US" smtClean="0"/>
              <a:t>9</a:t>
            </a:fld>
            <a:endParaRPr lang="zh-CN" altLang="en-US"/>
          </a:p>
        </p:txBody>
      </p:sp>
    </p:spTree>
    <p:extLst>
      <p:ext uri="{BB962C8B-B14F-4D97-AF65-F5344CB8AC3E}">
        <p14:creationId xmlns:p14="http://schemas.microsoft.com/office/powerpoint/2010/main" val="3656915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06567-B5EA-EAF0-8080-AD422494E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18925-DCFF-D68D-2436-8AF00F467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0324B-AB2F-337D-2E9E-FE6927920199}"/>
              </a:ext>
            </a:extLst>
          </p:cNvPr>
          <p:cNvSpPr>
            <a:spLocks noGrp="1"/>
          </p:cNvSpPr>
          <p:nvPr>
            <p:ph type="body" idx="1"/>
          </p:nvPr>
        </p:nvSpPr>
        <p:spPr/>
        <p:txBody>
          <a:bodyPr/>
          <a:lstStyle/>
          <a:p>
            <a:r>
              <a:rPr lang="en-US" dirty="0"/>
              <a:t>Raft solves the same consensus problem as multi-Paxos. Its main contribution is the structure of the explanation and the resulting implementation model.</a:t>
            </a:r>
          </a:p>
          <a:p>
            <a:endParaRPr lang="en-US" dirty="0"/>
          </a:p>
          <a:p>
            <a:r>
              <a:rPr lang="en-US" dirty="0"/>
              <a:t>The protocol uses one strong leader. Client commands flow to that leader, and log entries flow from the leader to followers. Raft separates the problem into leader election, normal log replication, and the safety rules that connect elections to committed entries. Randomized election timeouts reduce split votes without adding a complicated ranking mechanism.</a:t>
            </a:r>
          </a:p>
          <a:p>
            <a:endParaRPr lang="en-US" dirty="0"/>
          </a:p>
          <a:p>
            <a:r>
              <a:rPr lang="en-US" dirty="0"/>
              <a:t>The result is a protocol we can follow one rule at a time. We will begin with the majority properties that make agreement possible, then build the replicated service and the election mechanism on top of them.</a:t>
            </a:r>
          </a:p>
          <a:p>
            <a:endParaRPr lang="en-US" dirty="0"/>
          </a:p>
          <a:p>
            <a:r>
              <a:rPr lang="en-US" dirty="0"/>
              <a:t>SOURCE
Ongaro and Ousterhout, In Search of an Understandable Consensus Algorithm, Abstract and Sections 1, 4, and 5.
https://pdos.csail.mit.edu/6.824/papers/raft-extended.pdf
MIT 6.824, Spring 2020, Lecture 6 transcript/video, 18:29–18:42.
Local transcript: fall2026/lectures/references/mit-6824-2020-lecture6-raft1-transcript.txt
https://www.youtube.com/watch?v=64Zp3tzNbpE</a:t>
            </a:r>
          </a:p>
        </p:txBody>
      </p:sp>
      <p:sp>
        <p:nvSpPr>
          <p:cNvPr id="4" name="Slide Number Placeholder 3">
            <a:extLst>
              <a:ext uri="{FF2B5EF4-FFF2-40B4-BE49-F238E27FC236}">
                <a16:creationId xmlns:a16="http://schemas.microsoft.com/office/drawing/2014/main" id="{CFBD61E8-4826-6788-74B8-A7FCC08F0EAC}"/>
              </a:ext>
            </a:extLst>
          </p:cNvPr>
          <p:cNvSpPr>
            <a:spLocks noGrp="1"/>
          </p:cNvSpPr>
          <p:nvPr>
            <p:ph type="sldNum" sz="quarter" idx="5"/>
          </p:nvPr>
        </p:nvSpPr>
        <p:spPr/>
        <p:txBody>
          <a:bodyPr/>
          <a:lstStyle/>
          <a:p>
            <a:fld id="{1C9584DC-3658-4054-9DA4-7B68A1D8CC6D}" type="slidenum">
              <a:rPr lang="zh-CN" altLang="en-US" smtClean="0"/>
              <a:t>10</a:t>
            </a:fld>
            <a:endParaRPr lang="zh-CN" altLang="en-US"/>
          </a:p>
        </p:txBody>
      </p:sp>
    </p:spTree>
    <p:extLst>
      <p:ext uri="{BB962C8B-B14F-4D97-AF65-F5344CB8AC3E}">
        <p14:creationId xmlns:p14="http://schemas.microsoft.com/office/powerpoint/2010/main" val="2960387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0317-2B2C-7031-2296-C340ED4B3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58D4B-F0EE-7F7A-811D-CD91040B8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32DE3-5E09-496F-3C0C-9A98EA5E7E73}"/>
              </a:ext>
            </a:extLst>
          </p:cNvPr>
          <p:cNvSpPr>
            <a:spLocks noGrp="1"/>
          </p:cNvSpPr>
          <p:nvPr>
            <p:ph type="body" idx="1"/>
          </p:nvPr>
        </p:nvSpPr>
        <p:spPr/>
        <p:txBody>
          <a:bodyPr/>
          <a:lstStyle/>
          <a:p>
            <a:r>
              <a:rPr lang="en-US" dirty="0"/>
              <a:t>The rule is that a decision other machines must trust requires approval from a majority of the entire cluster.</a:t>
            </a:r>
          </a:p>
          <a:p>
            <a:endParaRPr lang="en-US" dirty="0"/>
          </a:p>
          <a:p>
            <a:r>
              <a:rPr lang="en-US" dirty="0"/>
              <a:t>Use an odd number of servers. With five servers, a single partition might produce a group of three and a group of two. Those groups are no longer symmetric. The three-server side has a majority and may act. The two-server side cannot obtain a majority and must stop. Only one side can contain more than half, so counting rules out split brain.</a:t>
            </a:r>
          </a:p>
          <a:p>
            <a:endParaRPr lang="en-US" dirty="0"/>
          </a:p>
          <a:p>
            <a:r>
              <a:rPr lang="en-US" dirty="0"/>
              <a:t>The denominator never changes. A five-server cluster always needs three votes, even if two machines have failed. A three-server cluster still needs two votes when one machine is known to be down. If each partition were allowed to redefine a majority using only the servers it could see, both sides could declare themselves a majority and make conflicting decisions.</a:t>
            </a:r>
          </a:p>
          <a:p>
            <a:endParaRPr lang="en-US" dirty="0"/>
          </a:p>
          <a:p>
            <a:r>
              <a:rPr lang="en-US" dirty="0"/>
              <a:t>This gives the usual fault-tolerance formula. With two-f-plus-one servers, the system can continue after f failures. Three servers tolerate one unavailable server; five tolerate two. These voting groups are also called quorums.</a:t>
            </a:r>
          </a:p>
          <a:p>
            <a:endParaRPr lang="en-US" dirty="0"/>
          </a:p>
          <a:p>
            <a:r>
              <a:rPr lang="en-US" dirty="0"/>
              <a:t>Majority voting preserves safety, but it cannot guarantee progress during every failure. If fewer than a majority are alive and connected, Raft waits until communication is restored.</a:t>
            </a:r>
          </a:p>
          <a:p>
            <a:endParaRPr lang="en-US" dirty="0"/>
          </a:p>
          <a:p>
            <a:r>
              <a:rPr lang="en-US" dirty="0"/>
              <a:t>SOURCE
MIT 6.824, Spring 2020, Lecture 6 transcript/video, 11:04–14:19 (about 3.2 min): odd number and the symmetry argument at 11:20–11:47; majority out of all servers at 13:09; 2f+1 at 13:49; “quorum” at 14:19.
https://www.youtube.com/watch?v=64Zp3tzNbpE
Ongaro and Ousterhout, In Search of an Understandable Consensus Algorithm, Section 2.
Local transcript: fall2026/lectures/references/mit-6824-2020-lecture6-raft1-transcript.txt</a:t>
            </a:r>
          </a:p>
        </p:txBody>
      </p:sp>
      <p:sp>
        <p:nvSpPr>
          <p:cNvPr id="4" name="Slide Number Placeholder 3">
            <a:extLst>
              <a:ext uri="{FF2B5EF4-FFF2-40B4-BE49-F238E27FC236}">
                <a16:creationId xmlns:a16="http://schemas.microsoft.com/office/drawing/2014/main" id="{7C32A7BC-CA92-D291-1498-BAAC83C316CA}"/>
              </a:ext>
            </a:extLst>
          </p:cNvPr>
          <p:cNvSpPr>
            <a:spLocks noGrp="1"/>
          </p:cNvSpPr>
          <p:nvPr>
            <p:ph type="sldNum" sz="quarter" idx="5"/>
          </p:nvPr>
        </p:nvSpPr>
        <p:spPr/>
        <p:txBody>
          <a:bodyPr/>
          <a:lstStyle/>
          <a:p>
            <a:fld id="{1C9584DC-3658-4054-9DA4-7B68A1D8CC6D}" type="slidenum">
              <a:rPr lang="zh-CN" altLang="en-US" smtClean="0"/>
              <a:t>11</a:t>
            </a:fld>
            <a:endParaRPr lang="zh-CN" altLang="en-US"/>
          </a:p>
        </p:txBody>
      </p:sp>
    </p:spTree>
    <p:extLst>
      <p:ext uri="{BB962C8B-B14F-4D97-AF65-F5344CB8AC3E}">
        <p14:creationId xmlns:p14="http://schemas.microsoft.com/office/powerpoint/2010/main" val="775218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0317-2B2C-7031-2296-C340ED4B3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58D4B-F0EE-7F7A-811D-CD91040B8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32DE3-5E09-496F-3C0C-9A98EA5E7E73}"/>
              </a:ext>
            </a:extLst>
          </p:cNvPr>
          <p:cNvSpPr>
            <a:spLocks noGrp="1"/>
          </p:cNvSpPr>
          <p:nvPr>
            <p:ph type="body" idx="1"/>
          </p:nvPr>
        </p:nvSpPr>
        <p:spPr/>
        <p:txBody>
          <a:bodyPr/>
          <a:lstStyle/>
          <a:p>
            <a:r>
              <a:rPr lang="en-US" dirty="0"/>
              <a:t>Majorities have a second property that Raft uses throughout the protocol: any two majorities overlap.</a:t>
            </a:r>
          </a:p>
          <a:p>
            <a:endParaRPr lang="en-US" dirty="0"/>
          </a:p>
          <a:p>
            <a:r>
              <a:rPr lang="en-US" dirty="0"/>
              <a:t>In a five-server cluster, each majority has at least three members. Two groups of three cannot be disjoint because six positions do not fit into five servers. They must share at least one server.</a:t>
            </a:r>
          </a:p>
          <a:p>
            <a:endParaRPr lang="en-US" dirty="0"/>
          </a:p>
          <a:p>
            <a:r>
              <a:rPr lang="en-US" dirty="0"/>
              <a:t>Suppose one majority elected the leader for term five and another majority later elects the leader for term six. At least one server participated in both decisions. That shared server carries information from the earlier decision into the later one. It knows the earlier term, so terms cannot move backward.</a:t>
            </a:r>
          </a:p>
          <a:p>
            <a:endParaRPr lang="en-US" dirty="0"/>
          </a:p>
          <a:p>
            <a:r>
              <a:rPr lang="en-US" dirty="0"/>
              <a:t>The same overlap applies to log entries. A committed entry is stored on a majority. A future leader must also collect votes from a majority, so its voting majority intersects the majority that stored the entry. Overlap alone is not the complete proof: Raft also restricts which candidates the shared server may vote for. Together, the overlap and that voting rule prevent a future leader from losing committed history.</a:t>
            </a:r>
          </a:p>
          <a:p>
            <a:endParaRPr lang="en-US" dirty="0"/>
          </a:p>
          <a:p>
            <a:r>
              <a:rPr lang="en-US" dirty="0"/>
              <a:t>The first majority property prevents two sides from acting simultaneously. The overlap property connects decisions made at different times. That connection is what allows Raft to replace a failed leader without starting from an empty history.</a:t>
            </a:r>
          </a:p>
          <a:p>
            <a:endParaRPr lang="en-US" dirty="0"/>
          </a:p>
          <a:p>
            <a:r>
              <a:rPr lang="en-US" dirty="0"/>
              <a:t>SOURCE
MIT 6.824, Spring 2020, Lecture 6 transcript/video, 14:19–16:08 (about 1.8 min).
https://www.youtube.com/watch?v=64Zp3tzNbpE
Ongaro and Ousterhout, In Search of an Understandable Consensus Algorithm, Section 5.2 and Figure 3.
Local transcript: fall2026/lectures/references/mit-6824-2020-lecture6-raft1-transcript.txt</a:t>
            </a:r>
          </a:p>
        </p:txBody>
      </p:sp>
      <p:sp>
        <p:nvSpPr>
          <p:cNvPr id="4" name="Slide Number Placeholder 3">
            <a:extLst>
              <a:ext uri="{FF2B5EF4-FFF2-40B4-BE49-F238E27FC236}">
                <a16:creationId xmlns:a16="http://schemas.microsoft.com/office/drawing/2014/main" id="{7C32A7BC-CA92-D291-1498-BAAC83C316CA}"/>
              </a:ext>
            </a:extLst>
          </p:cNvPr>
          <p:cNvSpPr>
            <a:spLocks noGrp="1"/>
          </p:cNvSpPr>
          <p:nvPr>
            <p:ph type="sldNum" sz="quarter" idx="5"/>
          </p:nvPr>
        </p:nvSpPr>
        <p:spPr/>
        <p:txBody>
          <a:bodyPr/>
          <a:lstStyle/>
          <a:p>
            <a:fld id="{1C9584DC-3658-4054-9DA4-7B68A1D8CC6D}" type="slidenum">
              <a:rPr lang="zh-CN" altLang="en-US" smtClean="0"/>
              <a:t>11</a:t>
            </a:fld>
            <a:endParaRPr lang="zh-CN" altLang="en-US"/>
          </a:p>
        </p:txBody>
      </p:sp>
    </p:spTree>
    <p:extLst>
      <p:ext uri="{BB962C8B-B14F-4D97-AF65-F5344CB8AC3E}">
        <p14:creationId xmlns:p14="http://schemas.microsoft.com/office/powerpoint/2010/main" val="775218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B43E9-C695-744A-DBEA-1676E4C28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A86EF-AD08-F16F-16E8-DDB9ABC36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33DA6-0B88-E7FD-1A74-8EA77681A17D}"/>
              </a:ext>
            </a:extLst>
          </p:cNvPr>
          <p:cNvSpPr>
            <a:spLocks noGrp="1"/>
          </p:cNvSpPr>
          <p:nvPr>
            <p:ph type="body" idx="1"/>
          </p:nvPr>
        </p:nvSpPr>
        <p:spPr/>
        <p:txBody>
          <a:bodyPr/>
          <a:lstStyle/>
          <a:p>
            <a:r>
              <a:rPr lang="en-US" dirty="0"/>
              <a:t>Raft is used as a library underneath a replicated service. Imagine a key-value server on each machine. The application owns the key-value table, and the Raft module owns a log of commands that change that table.</a:t>
            </a:r>
          </a:p>
          <a:p>
            <a:endParaRPr lang="en-US" dirty="0"/>
          </a:p>
          <a:p>
            <a:r>
              <a:rPr lang="en-US" dirty="0"/>
              <a:t>A client sends a request such as Put or Get to the current leader. The application does not immediately execute the command and reply. It gives the command to Raft so the replicas can agree on its position in the log.</a:t>
            </a:r>
          </a:p>
          <a:p>
            <a:endParaRPr lang="en-US" dirty="0"/>
          </a:p>
          <a:p>
            <a:r>
              <a:rPr lang="en-US" dirty="0"/>
              <a:t>After an entry is committed, Raft delivers the command to the local application. Every server executes the same deterministic commands in the same log order, so the separate state machines produce the same state. We replicate the ordered operations rather than copying the entire table after every request.</a:t>
            </a:r>
          </a:p>
          <a:p>
            <a:endParaRPr lang="en-US" dirty="0"/>
          </a:p>
          <a:p>
            <a:r>
              <a:rPr lang="en-US" dirty="0"/>
              <a:t>The client should experience this cluster as one reliable server. It may need to find the current leader or retry after a failure, but it must never observe two committed histories. The consensus module is responsible for preserving that single history while individual machines crash and recover.</a:t>
            </a:r>
          </a:p>
          <a:p>
            <a:endParaRPr lang="en-US" dirty="0"/>
          </a:p>
          <a:p>
            <a:r>
              <a:rPr lang="en-US" dirty="0"/>
              <a:t>SOURCE
MIT 6.824, Spring 2020, Lecture 6 transcript/video, 18:29–19:54 (about 1.4 min).
Local transcript: fall2026/lectures/references/mit-6824-2020-lecture6-raft1-transcript.txt
https://www.youtube.com/watch?v=64Zp3tzNbpE
Ongaro and Ousterhout, In Search of an Understandable Consensus Algorithm, Section 2 and Figure 1.
https://pdos.csail.mit.edu/6.824/papers/raft-extended.pdf</a:t>
            </a:r>
          </a:p>
        </p:txBody>
      </p:sp>
      <p:sp>
        <p:nvSpPr>
          <p:cNvPr id="4" name="Slide Number Placeholder 3">
            <a:extLst>
              <a:ext uri="{FF2B5EF4-FFF2-40B4-BE49-F238E27FC236}">
                <a16:creationId xmlns:a16="http://schemas.microsoft.com/office/drawing/2014/main" id="{EF9A0FA2-0D7E-5565-5AE9-7AB31FA3082A}"/>
              </a:ext>
            </a:extLst>
          </p:cNvPr>
          <p:cNvSpPr>
            <a:spLocks noGrp="1"/>
          </p:cNvSpPr>
          <p:nvPr>
            <p:ph type="sldNum" sz="quarter" idx="5"/>
          </p:nvPr>
        </p:nvSpPr>
        <p:spPr/>
        <p:txBody>
          <a:bodyPr/>
          <a:lstStyle/>
          <a:p>
            <a:fld id="{1C9584DC-3658-4054-9DA4-7B68A1D8CC6D}" type="slidenum">
              <a:rPr lang="zh-CN" altLang="en-US" smtClean="0"/>
              <a:t>14</a:t>
            </a:fld>
            <a:endParaRPr lang="zh-CN" altLang="en-US"/>
          </a:p>
        </p:txBody>
      </p:sp>
    </p:spTree>
    <p:extLst>
      <p:ext uri="{BB962C8B-B14F-4D97-AF65-F5344CB8AC3E}">
        <p14:creationId xmlns:p14="http://schemas.microsoft.com/office/powerpoint/2010/main" val="3329700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697F5-0ED4-48FE-3801-932230E82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A3966-23BF-DEE9-004B-0E245F899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12859-9EE0-093D-E55E-BE20B02A69A1}"/>
              </a:ext>
            </a:extLst>
          </p:cNvPr>
          <p:cNvSpPr>
            <a:spLocks noGrp="1"/>
          </p:cNvSpPr>
          <p:nvPr>
            <p:ph type="body" idx="1"/>
          </p:nvPr>
        </p:nvSpPr>
        <p:spPr/>
        <p:txBody>
          <a:bodyPr/>
          <a:lstStyle/>
          <a:p>
            <a:r>
              <a:rPr lang="en-US" dirty="0"/>
              <a:t>Follow one client command through the normal case.</a:t>
            </a:r>
          </a:p>
          <a:p>
            <a:endParaRPr lang="en-US" dirty="0"/>
          </a:p>
          <a:p>
            <a:r>
              <a:rPr lang="en-US" dirty="0"/>
              <a:t>The client sends Put x equals three to the leader. The leader first appends the command to its own log and makes the entry persistent. It then sends AppendEntries RPCs to the followers in parallel.</a:t>
            </a:r>
          </a:p>
          <a:p>
            <a:endParaRPr lang="en-US" dirty="0"/>
          </a:p>
          <a:p>
            <a:r>
              <a:rPr lang="en-US" dirty="0"/>
              <a:t>The leader counts its own copy. In a three-server cluster, a majority is two, so it needs one successful follower response. It does not wait for the slowest server. Once the entry is stored on a majority, the leader marks it committed, applies it to its own state machine, and returns the result to the client.</a:t>
            </a:r>
          </a:p>
          <a:p>
            <a:endParaRPr lang="en-US" dirty="0"/>
          </a:p>
          <a:p>
            <a:r>
              <a:rPr lang="en-US" dirty="0"/>
              <a:t>The followers may already store the entry without knowing it is committed. Raft has no separate commit RPC. The leader includes its commitIndex in later AppendEntries messages. The next client operation can carry it, or an empty heartbeat can carry it when the system is idle. When a follower learns that the commit index has advanced, it applies the newly committed commands in order.</a:t>
            </a:r>
          </a:p>
          <a:p>
            <a:endParaRPr lang="en-US" dirty="0"/>
          </a:p>
          <a:p>
            <a:r>
              <a:rPr lang="en-US" dirty="0"/>
              <a:t>Notice the distinction between accepted and committed. An entry can sit in a follower's log while still being tentative. If the leader crashes before the entry becomes committed, a later leader may remove it. The service exposes a command to the client only after Raft has made the command part of the committed history.</a:t>
            </a:r>
          </a:p>
          <a:p>
            <a:endParaRPr lang="en-US" dirty="0"/>
          </a:p>
          <a:p>
            <a:r>
              <a:rPr lang="en-US" dirty="0"/>
              <a:t>SOURCE
MIT 6.824, Spring 2020, Lecture 6 transcript/video, 19:54–24:34 for the layered walk-through, and 24:34–30:21 for the message-level view — the leader waiting on only one other replica at 25:31–26:27, and no explicit commit message at 27:24–28:19.
https://www.youtube.com/watch?v=64Zp3tzNbpE
Ongaro and Ousterhout, In Search of an Understandable Consensus Algorithm, Section 5.3 and Figure 2.
Local transcript: fall2026/lectures/references/mit-6824-2020-lecture6-raft1-transcript.txt</a:t>
            </a:r>
          </a:p>
        </p:txBody>
      </p:sp>
      <p:sp>
        <p:nvSpPr>
          <p:cNvPr id="4" name="Slide Number Placeholder 3">
            <a:extLst>
              <a:ext uri="{FF2B5EF4-FFF2-40B4-BE49-F238E27FC236}">
                <a16:creationId xmlns:a16="http://schemas.microsoft.com/office/drawing/2014/main" id="{7C4724D4-CE97-CD53-B87B-4FDAA5C6DF84}"/>
              </a:ext>
            </a:extLst>
          </p:cNvPr>
          <p:cNvSpPr>
            <a:spLocks noGrp="1"/>
          </p:cNvSpPr>
          <p:nvPr>
            <p:ph type="sldNum" sz="quarter" idx="5"/>
          </p:nvPr>
        </p:nvSpPr>
        <p:spPr/>
        <p:txBody>
          <a:bodyPr/>
          <a:lstStyle/>
          <a:p>
            <a:fld id="{1C9584DC-3658-4054-9DA4-7B68A1D8CC6D}" type="slidenum">
              <a:rPr lang="zh-CN" altLang="en-US" smtClean="0"/>
              <a:t>15</a:t>
            </a:fld>
            <a:endParaRPr lang="zh-CN" altLang="en-US"/>
          </a:p>
        </p:txBody>
      </p:sp>
    </p:spTree>
    <p:extLst>
      <p:ext uri="{BB962C8B-B14F-4D97-AF65-F5344CB8AC3E}">
        <p14:creationId xmlns:p14="http://schemas.microsoft.com/office/powerpoint/2010/main" val="3523249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702A4-168D-1CF1-7D2B-E75BF78BA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A5D66-587F-44BD-BDEA-3AE880AB4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9A3D0-5E9E-6410-4631-AF6DCB3AE918}"/>
              </a:ext>
            </a:extLst>
          </p:cNvPr>
          <p:cNvSpPr>
            <a:spLocks noGrp="1"/>
          </p:cNvSpPr>
          <p:nvPr>
            <p:ph type="body" idx="1"/>
          </p:nvPr>
        </p:nvSpPr>
        <p:spPr/>
        <p:txBody>
          <a:bodyPr/>
          <a:lstStyle/>
          <a:p>
            <a:r>
              <a:rPr lang="en-US" dirty="0"/>
              <a:t>Raft uses a leader to choose one order for concurrent commands. If several clients send requests at the same time, one server assigns the log indexes and sends that ordering to the followers.</a:t>
            </a:r>
          </a:p>
          <a:p>
            <a:endParaRPr lang="en-US" dirty="0"/>
          </a:p>
          <a:p>
            <a:r>
              <a:rPr lang="en-US" dirty="0"/>
              <a:t>A permanent leader is not mathematically required for consensus, but it makes the common case simple and efficient. Clients have one place to send requests, entries flow in one direction, and one round of AppendEntries can replicate a new command to a majority.</a:t>
            </a:r>
          </a:p>
          <a:p>
            <a:endParaRPr lang="en-US" dirty="0"/>
          </a:p>
          <a:p>
            <a:r>
              <a:rPr lang="en-US" dirty="0"/>
              <a:t>Leadership is authority backed by a majority. An old leader may remain alive in a minority partition and may still believe it is leader. It can append a client's request to its own log, but it cannot collect enough acknowledgments to commit the entry. It therefore cannot apply the command or safely tell the client that the operation succeeded.</a:t>
            </a:r>
          </a:p>
          <a:p>
            <a:endParaRPr lang="en-US" dirty="0"/>
          </a:p>
          <a:p>
            <a:r>
              <a:rPr lang="en-US" dirty="0"/>
              <a:t>The leader chooses the proposed order; the majority makes that order durable. Terms tell the cluster which leader's authority is newer.</a:t>
            </a:r>
          </a:p>
          <a:p>
            <a:endParaRPr lang="en-US" dirty="0"/>
          </a:p>
          <a:p>
            <a:r>
              <a:rPr lang="en-US" dirty="0"/>
              <a:t>SOURCE
MIT 6.824, Spring 2020, Lecture 6 transcript/video, 46:27–48:08 (about 1.7 min).
Local transcript: fall2026/lectures/references/mit-6824-2020-lecture6-raft1-transcript.txt
https://www.youtube.com/watch?v=64Zp3tzNbpE
Ongaro and Ousterhout, In Search of an Understandable Consensus Algorithm, Sections 3 and 5.
https://pdos.csail.mit.edu/6.824/papers/raft-extended.pdf</a:t>
            </a:r>
          </a:p>
        </p:txBody>
      </p:sp>
      <p:sp>
        <p:nvSpPr>
          <p:cNvPr id="4" name="Slide Number Placeholder 3">
            <a:extLst>
              <a:ext uri="{FF2B5EF4-FFF2-40B4-BE49-F238E27FC236}">
                <a16:creationId xmlns:a16="http://schemas.microsoft.com/office/drawing/2014/main" id="{AA879406-CC4E-722C-E4D2-B7CA1336D89F}"/>
              </a:ext>
            </a:extLst>
          </p:cNvPr>
          <p:cNvSpPr>
            <a:spLocks noGrp="1"/>
          </p:cNvSpPr>
          <p:nvPr>
            <p:ph type="sldNum" sz="quarter" idx="5"/>
          </p:nvPr>
        </p:nvSpPr>
        <p:spPr/>
        <p:txBody>
          <a:bodyPr/>
          <a:lstStyle/>
          <a:p>
            <a:fld id="{1C9584DC-3658-4054-9DA4-7B68A1D8CC6D}" type="slidenum">
              <a:rPr lang="zh-CN" altLang="en-US" smtClean="0"/>
              <a:t>16</a:t>
            </a:fld>
            <a:endParaRPr lang="zh-CN" altLang="en-US"/>
          </a:p>
        </p:txBody>
      </p:sp>
    </p:spTree>
    <p:extLst>
      <p:ext uri="{BB962C8B-B14F-4D97-AF65-F5344CB8AC3E}">
        <p14:creationId xmlns:p14="http://schemas.microsoft.com/office/powerpoint/2010/main" val="341455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CBDCD-F3F3-416E-D1C3-225443B9D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5CB80-9E7B-84AE-3971-9CE6F8F64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052E8-70F6-F793-D331-845DACF7216F}"/>
              </a:ext>
            </a:extLst>
          </p:cNvPr>
          <p:cNvSpPr>
            <a:spLocks noGrp="1"/>
          </p:cNvSpPr>
          <p:nvPr>
            <p:ph type="body" idx="1"/>
          </p:nvPr>
        </p:nvSpPr>
        <p:spPr/>
        <p:txBody>
          <a:bodyPr/>
          <a:lstStyle/>
          <a:p>
            <a:r>
              <a:rPr lang="en-US" dirty="0"/>
              <a:t>Raft divides logical time into numbered terms. Each term begins with an election. If a candidate wins, it serves as leader for the rest of that term. If the vote splits, the term may end without any leader.</a:t>
            </a:r>
          </a:p>
          <a:p>
            <a:endParaRPr lang="en-US" dirty="0"/>
          </a:p>
          <a:p>
            <a:r>
              <a:rPr lang="en-US" dirty="0"/>
              <a:t>Every server maintains a currentTerm value on stable storage, and that number only increases. RequestVote, AppendEntries, and their replies all carry a term number.</a:t>
            </a:r>
          </a:p>
          <a:p>
            <a:endParaRPr lang="en-US" dirty="0"/>
          </a:p>
          <a:p>
            <a:r>
              <a:rPr lang="en-US" dirty="0"/>
              <a:t>The comparison rule is simple. If a server receives a message with a larger term, it updates its current term and becomes a follower. If it receives a message from an older term, it rejects the request. A leader isolated by a partition therefore loses its authority as soon as it reconnects and sees a newer term.</a:t>
            </a:r>
          </a:p>
          <a:p>
            <a:endParaRPr lang="en-US" dirty="0"/>
          </a:p>
          <a:p>
            <a:r>
              <a:rPr lang="en-US" dirty="0"/>
              <a:t>Terms identify stale information without synchronized clocks. Different servers may learn about a new term at different moments. Safety depends on comparing the logical term numbers, not on agreeing about wall-clock time.</a:t>
            </a:r>
          </a:p>
          <a:p>
            <a:endParaRPr lang="en-US" dirty="0"/>
          </a:p>
          <a:p>
            <a:r>
              <a:rPr lang="en-US" dirty="0"/>
              <a:t>SOURCE
MIT 6.824, Spring 2020, Lecture 6 transcript/video, 48:08–48:34.
Local transcript: fall2026/lectures/references/mit-6824-2020-lecture6-raft1-transcript.txt
https://www.youtube.com/watch?v=64Zp3tzNbpE
Ongaro and Ousterhout, In Search of an Understandable Consensus Algorithm, Section 5.1 and Figure 5.
https://pdos.csail.mit.edu/6.824/papers/raft-extended.pdf</a:t>
            </a:r>
          </a:p>
        </p:txBody>
      </p:sp>
      <p:sp>
        <p:nvSpPr>
          <p:cNvPr id="4" name="Slide Number Placeholder 3">
            <a:extLst>
              <a:ext uri="{FF2B5EF4-FFF2-40B4-BE49-F238E27FC236}">
                <a16:creationId xmlns:a16="http://schemas.microsoft.com/office/drawing/2014/main" id="{3F8FC463-153C-CA90-6FC3-9DE3B4270E2C}"/>
              </a:ext>
            </a:extLst>
          </p:cNvPr>
          <p:cNvSpPr>
            <a:spLocks noGrp="1"/>
          </p:cNvSpPr>
          <p:nvPr>
            <p:ph type="sldNum" sz="quarter" idx="5"/>
          </p:nvPr>
        </p:nvSpPr>
        <p:spPr/>
        <p:txBody>
          <a:bodyPr/>
          <a:lstStyle/>
          <a:p>
            <a:fld id="{1C9584DC-3658-4054-9DA4-7B68A1D8CC6D}" type="slidenum">
              <a:rPr lang="zh-CN" altLang="en-US" smtClean="0"/>
              <a:t>17</a:t>
            </a:fld>
            <a:endParaRPr lang="zh-CN" altLang="en-US"/>
          </a:p>
        </p:txBody>
      </p:sp>
    </p:spTree>
    <p:extLst>
      <p:ext uri="{BB962C8B-B14F-4D97-AF65-F5344CB8AC3E}">
        <p14:creationId xmlns:p14="http://schemas.microsoft.com/office/powerpoint/2010/main" val="683604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2449-9D41-DEFC-B687-1D136DC43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FCFFC-2F13-3C62-E6E1-99EADBE91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97501-5346-6B29-38F4-0A7A46465B30}"/>
              </a:ext>
            </a:extLst>
          </p:cNvPr>
          <p:cNvSpPr>
            <a:spLocks noGrp="1"/>
          </p:cNvSpPr>
          <p:nvPr>
            <p:ph type="body" idx="1"/>
          </p:nvPr>
        </p:nvSpPr>
        <p:spPr/>
        <p:txBody>
          <a:bodyPr/>
          <a:lstStyle/>
          <a:p>
            <a:r>
              <a:rPr lang="en-US" dirty="0"/>
              <a:t>At any moment, a Raft server is a follower, candidate, or leader.</a:t>
            </a:r>
          </a:p>
          <a:p>
            <a:endParaRPr lang="en-US" dirty="0"/>
          </a:p>
          <a:p>
            <a:r>
              <a:rPr lang="en-US" dirty="0"/>
              <a:t>Followers are passive during normal operation. They respond to AppendEntries from the leader and RequestVote from candidates, but they do not initiate client command replication.</a:t>
            </a:r>
          </a:p>
          <a:p>
            <a:endParaRPr lang="en-US" dirty="0"/>
          </a:p>
          <a:p>
            <a:r>
              <a:rPr lang="en-US" dirty="0"/>
              <a:t>The leader handles client requests, chooses the log order, and manages replication to the followers. Normal operation has one leader and every other server is a follower.</a:t>
            </a:r>
          </a:p>
          <a:p>
            <a:endParaRPr lang="en-US" dirty="0"/>
          </a:p>
          <a:p>
            <a:r>
              <a:rPr lang="en-US" dirty="0"/>
              <a:t>Candidate is a temporary state used during an election. A follower becomes a candidate when it stops hearing from a valid leader long enough for its election timeout to expire. The candidate asks the cluster for votes. If it wins a majority, it becomes leader. If it discovers that another valid leader exists, it returns to follower.</a:t>
            </a:r>
          </a:p>
          <a:p>
            <a:endParaRPr lang="en-US" dirty="0"/>
          </a:p>
          <a:p>
            <a:r>
              <a:rPr lang="en-US" dirty="0"/>
              <a:t>These three states separate ordinary replication from recovery. Most of the time the cluster stays in the simple leader-and-followers arrangement. Candidate state exists only long enough to replace a leader that is no longer usable.</a:t>
            </a:r>
          </a:p>
          <a:p>
            <a:endParaRPr lang="en-US" dirty="0"/>
          </a:p>
          <a:p>
            <a:r>
              <a:rPr lang="en-US" dirty="0"/>
              <a:t>SOURCE
Ongaro and Ousterhout, In Search of an Understandable Consensus Algorithm, Section 5.1 and Figure 4.
https://pdos.csail.mit.edu/6.824/papers/raft-extended.pdf
MIT 6.824, Spring 2020, Lecture 6: no dedicated segment — MIT introduces the three states inline while describing an election, 48:34–49:28. This deck gives them a page of their own, immediately before the transition diagram on the next slide.
Local transcript: fall2026/lectures/references/mit-6824-2020-lecture6-raft1-transcript.txt
https://www.youtube.com/watch?v=64Zp3tzNbpE</a:t>
            </a:r>
          </a:p>
        </p:txBody>
      </p:sp>
      <p:sp>
        <p:nvSpPr>
          <p:cNvPr id="4" name="Slide Number Placeholder 3">
            <a:extLst>
              <a:ext uri="{FF2B5EF4-FFF2-40B4-BE49-F238E27FC236}">
                <a16:creationId xmlns:a16="http://schemas.microsoft.com/office/drawing/2014/main" id="{F5FF6DED-FD61-55E0-2FA1-5A7AE04D1F37}"/>
              </a:ext>
            </a:extLst>
          </p:cNvPr>
          <p:cNvSpPr>
            <a:spLocks noGrp="1"/>
          </p:cNvSpPr>
          <p:nvPr>
            <p:ph type="sldNum" sz="quarter" idx="5"/>
          </p:nvPr>
        </p:nvSpPr>
        <p:spPr/>
        <p:txBody>
          <a:bodyPr/>
          <a:lstStyle/>
          <a:p>
            <a:fld id="{1C9584DC-3658-4054-9DA4-7B68A1D8CC6D}" type="slidenum">
              <a:rPr lang="zh-CN" altLang="en-US" smtClean="0"/>
              <a:t>13</a:t>
            </a:fld>
            <a:endParaRPr lang="zh-CN" altLang="en-US"/>
          </a:p>
        </p:txBody>
      </p:sp>
    </p:spTree>
    <p:extLst>
      <p:ext uri="{BB962C8B-B14F-4D97-AF65-F5344CB8AC3E}">
        <p14:creationId xmlns:p14="http://schemas.microsoft.com/office/powerpoint/2010/main" val="2457483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40E03-9CD2-5619-F912-10053D34F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01AC0-56E2-53BE-5114-4AC9B7B84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E8306-288E-0B53-02BA-630DB855F29A}"/>
              </a:ext>
            </a:extLst>
          </p:cNvPr>
          <p:cNvSpPr>
            <a:spLocks noGrp="1"/>
          </p:cNvSpPr>
          <p:nvPr>
            <p:ph type="body" idx="1"/>
          </p:nvPr>
        </p:nvSpPr>
        <p:spPr/>
        <p:txBody>
          <a:bodyPr/>
          <a:lstStyle/>
          <a:p>
            <a:r>
              <a:rPr lang="en-US" dirty="0"/>
              <a:t>All servers start as followers. A leader maintains its authority by sending regular heartbeats, which are AppendEntries RPCs with no new log entries. Every valid heartbeat resets the follower's election timer.</a:t>
            </a:r>
          </a:p>
          <a:p>
            <a:endParaRPr lang="en-US" dirty="0"/>
          </a:p>
          <a:p>
            <a:r>
              <a:rPr lang="en-US" dirty="0"/>
              <a:t>If that timer expires, the follower cannot tell whether the leader crashed or the network lost several messages. It does not need a perfect diagnosis. It increments its term, becomes a candidate, votes for itself, and begins an election.</a:t>
            </a:r>
          </a:p>
          <a:p>
            <a:endParaRPr lang="en-US" dirty="0"/>
          </a:p>
          <a:p>
            <a:r>
              <a:rPr lang="en-US" dirty="0"/>
              <a:t>A candidate that receives votes from a majority becomes leader and immediately sends heartbeats. A candidate that receives AppendEntries from a leader in the same or a newer term returns to follower. If nobody wins before the next timeout, the candidate starts another election in a still higher term.</a:t>
            </a:r>
          </a:p>
          <a:p>
            <a:endParaRPr lang="en-US" dirty="0"/>
          </a:p>
          <a:p>
            <a:r>
              <a:rPr lang="en-US" dirty="0"/>
              <a:t>Any leader or candidate also steps down when it discovers a higher term. That rule is how an old leader learns it has been replaced.</a:t>
            </a:r>
          </a:p>
          <a:p>
            <a:endParaRPr lang="en-US" dirty="0"/>
          </a:p>
          <a:p>
            <a:r>
              <a:rPr lang="en-US" dirty="0"/>
              <a:t>The timeout may occasionally trigger an election even when the leader is alive but messages are delayed. That can pause progress, but the voting rules must keep the result safe. Timing controls how quickly Raft makes progress; it does not determine whether two leaders can win the same term.</a:t>
            </a:r>
          </a:p>
          <a:p>
            <a:endParaRPr lang="en-US" dirty="0"/>
          </a:p>
          <a:p>
            <a:r>
              <a:rPr lang="en-US" dirty="0"/>
              <a:t>SOURCE
MIT 6.824, Spring 2020, Lecture 6 transcript/video, 48:34–49:28.
Local transcript: fall2026/lectures/references/mit-6824-2020-lecture6-raft1-transcript.txt
https://www.youtube.com/watch?v=64Zp3tzNbpE
Ongaro and Ousterhout, In Search of an Understandable Consensus Algorithm, Sections 5.1–5.2 and Figure 4.
https://pdos.csail.mit.edu/6.824/papers/raft-extended.pdf</a:t>
            </a:r>
          </a:p>
        </p:txBody>
      </p:sp>
      <p:sp>
        <p:nvSpPr>
          <p:cNvPr id="4" name="Slide Number Placeholder 3">
            <a:extLst>
              <a:ext uri="{FF2B5EF4-FFF2-40B4-BE49-F238E27FC236}">
                <a16:creationId xmlns:a16="http://schemas.microsoft.com/office/drawing/2014/main" id="{54A4C696-2BCE-F1AD-A7EE-0451F1A09DAE}"/>
              </a:ext>
            </a:extLst>
          </p:cNvPr>
          <p:cNvSpPr>
            <a:spLocks noGrp="1"/>
          </p:cNvSpPr>
          <p:nvPr>
            <p:ph type="sldNum" sz="quarter" idx="5"/>
          </p:nvPr>
        </p:nvSpPr>
        <p:spPr/>
        <p:txBody>
          <a:bodyPr/>
          <a:lstStyle/>
          <a:p>
            <a:fld id="{1C9584DC-3658-4054-9DA4-7B68A1D8CC6D}" type="slidenum">
              <a:rPr lang="zh-CN" altLang="en-US" smtClean="0"/>
              <a:t>18</a:t>
            </a:fld>
            <a:endParaRPr lang="zh-CN" altLang="en-US"/>
          </a:p>
        </p:txBody>
      </p:sp>
    </p:spTree>
    <p:extLst>
      <p:ext uri="{BB962C8B-B14F-4D97-AF65-F5344CB8AC3E}">
        <p14:creationId xmlns:p14="http://schemas.microsoft.com/office/powerpoint/2010/main" val="3495428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4710-2BD5-C137-A624-434B81EA1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11E4E-CFC0-7193-0527-6F73F3AC1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72825-35B5-5E37-1910-489383C58E25}"/>
              </a:ext>
            </a:extLst>
          </p:cNvPr>
          <p:cNvSpPr>
            <a:spLocks noGrp="1"/>
          </p:cNvSpPr>
          <p:nvPr>
            <p:ph type="body" idx="1"/>
          </p:nvPr>
        </p:nvSpPr>
        <p:spPr/>
        <p:txBody>
          <a:bodyPr/>
          <a:lstStyle/>
          <a:p>
            <a:r>
              <a:rPr lang="en-US" dirty="0"/>
              <a:t>The visualization puts the vocabulary together. The servers are shown on the left and their logs on the right. Slow the animation down so the term numbers, states, and messages remain visible.</a:t>
            </a:r>
          </a:p>
          <a:p>
            <a:endParaRPr lang="en-US" dirty="0"/>
          </a:p>
          <a:p>
            <a:r>
              <a:rPr lang="en-US" dirty="0"/>
              <a:t>At the beginning, one server wins an election and becomes leader. The others remain followers, and the leader sends repeated heartbeats that reset their election timers.</a:t>
            </a:r>
          </a:p>
          <a:p>
            <a:endParaRPr lang="en-US" dirty="0"/>
          </a:p>
          <a:p>
            <a:r>
              <a:rPr lang="en-US" dirty="0"/>
              <a:t>Pause the leader. Once the heartbeats stop, the followers' randomized timers begin to expire. Usually one follower times out first, becomes a candidate, increments the term, and sends RequestVote messages. With votes from a majority, it becomes the new leader and starts its own heartbeats.</a:t>
            </a:r>
          </a:p>
          <a:p>
            <a:endParaRPr lang="en-US" dirty="0"/>
          </a:p>
          <a:p>
            <a:r>
              <a:rPr lang="en-US" dirty="0"/>
              <a:t>Bring the old leader back. It may still remember that it was leader of an earlier term, but the first newer-term message forces it to update its term and rejoin as a follower. No failure detector tells it that it was replaced; the term comparison does.</a:t>
            </a:r>
          </a:p>
          <a:p>
            <a:endParaRPr lang="en-US" dirty="0"/>
          </a:p>
          <a:p>
            <a:r>
              <a:rPr lang="en-US" dirty="0"/>
              <a:t>The election can occasionally split if candidates start close together. When that happens, no candidate obtains a majority, the term ends without a leader, and randomized timeouts trigger another attempt.</a:t>
            </a:r>
          </a:p>
          <a:p>
            <a:endParaRPr lang="en-US" dirty="0"/>
          </a:p>
          <a:p>
            <a:r>
              <a:rPr lang="en-US" dirty="0"/>
              <a:t>SOURCE
RaftScope visualization, embedded at https://raft.github.io/ (Ongaro's own demo). No MIT counterpart — this slide is ours, placed after the vocabulary and before the election mechanics.
Ongaro and Ousterhout, In Search of an Understandable Consensus Algorithm, Figure 4 for the state transitions being shown.</a:t>
            </a:r>
          </a:p>
        </p:txBody>
      </p:sp>
      <p:sp>
        <p:nvSpPr>
          <p:cNvPr id="4" name="Slide Number Placeholder 3">
            <a:extLst>
              <a:ext uri="{FF2B5EF4-FFF2-40B4-BE49-F238E27FC236}">
                <a16:creationId xmlns:a16="http://schemas.microsoft.com/office/drawing/2014/main" id="{0304F2E8-5305-0F89-E5B4-B6DF1D0CB993}"/>
              </a:ext>
            </a:extLst>
          </p:cNvPr>
          <p:cNvSpPr>
            <a:spLocks noGrp="1"/>
          </p:cNvSpPr>
          <p:nvPr>
            <p:ph type="sldNum" sz="quarter" idx="5"/>
          </p:nvPr>
        </p:nvSpPr>
        <p:spPr/>
        <p:txBody>
          <a:bodyPr/>
          <a:lstStyle/>
          <a:p>
            <a:fld id="{1C9584DC-3658-4054-9DA4-7B68A1D8CC6D}" type="slidenum">
              <a:rPr lang="zh-CN" altLang="en-US" smtClean="0"/>
              <a:t>12</a:t>
            </a:fld>
            <a:endParaRPr lang="zh-CN" altLang="en-US"/>
          </a:p>
        </p:txBody>
      </p:sp>
    </p:spTree>
    <p:extLst>
      <p:ext uri="{BB962C8B-B14F-4D97-AF65-F5344CB8AC3E}">
        <p14:creationId xmlns:p14="http://schemas.microsoft.com/office/powerpoint/2010/main" val="1049845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61E1A-B23E-193A-0C4C-94C768545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A1254-FC93-DCAB-F406-F1EC6C779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3AFA5-529E-78EF-0425-AF8FA448D9A6}"/>
              </a:ext>
            </a:extLst>
          </p:cNvPr>
          <p:cNvSpPr>
            <a:spLocks noGrp="1"/>
          </p:cNvSpPr>
          <p:nvPr>
            <p:ph type="body" idx="1"/>
          </p:nvPr>
        </p:nvSpPr>
        <p:spPr/>
        <p:txBody>
          <a:bodyPr/>
          <a:lstStyle/>
          <a:p>
            <a:r>
              <a:rPr lang="en-US" dirty="0"/>
              <a:t>A follower starts an election after one complete election timeout with no valid message from a leader. It increments currentTerm, changes to candidate, votes for itself, and sends RequestVote RPCs to every other server.</a:t>
            </a:r>
          </a:p>
          <a:p>
            <a:endParaRPr lang="en-US" dirty="0"/>
          </a:p>
          <a:p>
            <a:r>
              <a:rPr lang="en-US" dirty="0"/>
              <a:t>Three outcomes are possible. First, the candidate receives yes votes from a majority of the full cluster. It becomes leader and immediately sends AppendEntries heartbeats to establish its authority.</a:t>
            </a:r>
          </a:p>
          <a:p>
            <a:endParaRPr lang="en-US" dirty="0"/>
          </a:p>
          <a:p>
            <a:r>
              <a:rPr lang="en-US" dirty="0"/>
              <a:t>Second, it receives AppendEntries from a leader whose term is at least as new as its own. Another server has won, so the candidate returns to follower.</a:t>
            </a:r>
          </a:p>
          <a:p>
            <a:endParaRPr lang="en-US" dirty="0"/>
          </a:p>
          <a:p>
            <a:r>
              <a:rPr lang="en-US" dirty="0"/>
              <a:t>Third, no candidate obtains a majority before the election timer expires. The candidate increments the term again and begins a new election with a fresh round of vote requests.</a:t>
            </a:r>
          </a:p>
          <a:p>
            <a:endParaRPr lang="en-US" dirty="0"/>
          </a:p>
          <a:p>
            <a:r>
              <a:rPr lang="en-US" dirty="0"/>
              <a:t>A dead leader is not required. Delayed or dropped heartbeats are enough to start an election. The old leader may still be running in another partition and may not know that the majority has elected a replacement. Raft must remain safe while both machines temporarily believe they are leader. The majority rule prevents the isolated old leader from committing new commands.</a:t>
            </a:r>
          </a:p>
          <a:p>
            <a:endParaRPr lang="en-US" dirty="0"/>
          </a:p>
          <a:p>
            <a:r>
              <a:rPr lang="en-US" dirty="0"/>
              <a:t>SOURCE
MIT 6.824, Spring 2020, Lecture 6 transcript/video, 48:59–53:28 (about 4.5 min). Starting an election at 49:28; “we might still unfortunately get an election” at 50:19; the stranded old leader at 50:43. A student question on one-way network failures runs 51:42–53:01 — MIT concedes Raft is not proof against every network pathology.
https://www.youtube.com/watch?v=64Zp3tzNbpE
Ongaro and Ousterhout, In Search of an Understandable Consensus Algorithm, Section 5.2 and Figure 2.
Local transcript: fall2026/lectures/references/mit-6824-2020-lecture6-raft1-transcript.txt</a:t>
            </a:r>
          </a:p>
        </p:txBody>
      </p:sp>
      <p:sp>
        <p:nvSpPr>
          <p:cNvPr id="4" name="Slide Number Placeholder 3">
            <a:extLst>
              <a:ext uri="{FF2B5EF4-FFF2-40B4-BE49-F238E27FC236}">
                <a16:creationId xmlns:a16="http://schemas.microsoft.com/office/drawing/2014/main" id="{D9B938E2-B444-A879-5194-E8EA9AB38585}"/>
              </a:ext>
            </a:extLst>
          </p:cNvPr>
          <p:cNvSpPr>
            <a:spLocks noGrp="1"/>
          </p:cNvSpPr>
          <p:nvPr>
            <p:ph type="sldNum" sz="quarter" idx="5"/>
          </p:nvPr>
        </p:nvSpPr>
        <p:spPr/>
        <p:txBody>
          <a:bodyPr/>
          <a:lstStyle/>
          <a:p>
            <a:fld id="{1C9584DC-3658-4054-9DA4-7B68A1D8CC6D}" type="slidenum">
              <a:rPr lang="zh-CN" altLang="en-US" smtClean="0"/>
              <a:t>19</a:t>
            </a:fld>
            <a:endParaRPr lang="zh-CN" altLang="en-US"/>
          </a:p>
        </p:txBody>
      </p:sp>
    </p:spTree>
    <p:extLst>
      <p:ext uri="{BB962C8B-B14F-4D97-AF65-F5344CB8AC3E}">
        <p14:creationId xmlns:p14="http://schemas.microsoft.com/office/powerpoint/2010/main" val="712678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BA351-7DA4-C06C-DC0E-C6635E244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E58DC-1303-032D-6619-0DE07CBCC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72BFA-E2EE-0CB2-59E0-0EFDECEABFA7}"/>
              </a:ext>
            </a:extLst>
          </p:cNvPr>
          <p:cNvSpPr>
            <a:spLocks noGrp="1"/>
          </p:cNvSpPr>
          <p:nvPr>
            <p:ph type="body" idx="1"/>
          </p:nvPr>
        </p:nvSpPr>
        <p:spPr/>
        <p:txBody>
          <a:bodyPr/>
          <a:lstStyle/>
          <a:p>
            <a:r>
              <a:rPr lang="en-US" dirty="0"/>
              <a:t>Raft must ensure that at most one candidate becomes leader in a term. Each candidate needs votes from a majority, and each server may grant only one vote in that term. The server records the vote on stable storage before replying, so a crash cannot make it forget and vote a second time.</a:t>
            </a:r>
          </a:p>
          <a:p>
            <a:endParaRPr lang="en-US" dirty="0"/>
          </a:p>
          <a:p>
            <a:r>
              <a:rPr lang="en-US" dirty="0"/>
              <a:t>Because any two majorities overlap, two candidates cannot both collect separate sets of one-time votes. Election safety does not depend on message timing: at most one candidate can win the term even when messages are delayed or reordered.</a:t>
            </a:r>
          </a:p>
          <a:p>
            <a:endParaRPr lang="en-US" dirty="0"/>
          </a:p>
          <a:p>
            <a:r>
              <a:rPr lang="en-US" dirty="0"/>
              <a:t>A minority of unavailable servers does not prevent an election. A majority can still choose a leader. If fewer than a majority are reachable, Raft keeps trying but elects nobody.</a:t>
            </a:r>
          </a:p>
          <a:p>
            <a:endParaRPr lang="en-US" dirty="0"/>
          </a:p>
          <a:p>
            <a:r>
              <a:rPr lang="en-US" dirty="0"/>
              <a:t>The winner knows it won because it directly received the votes. The other servers do not receive a separate election-result message. The new leader immediately sends AppendEntries. Only a leader may send AppendEntries for a term, so receiving one stamped with the new term proves that the election produced a leader. Followers do not need a separate announcement or even a globally agreed leader name; they need the current term and the valid RPC sender.</a:t>
            </a:r>
          </a:p>
          <a:p>
            <a:endParaRPr lang="en-US" dirty="0"/>
          </a:p>
          <a:p>
            <a:r>
              <a:rPr lang="en-US" dirty="0"/>
              <a:t>Those immediate heartbeats also reset every election timer and suppress further elections while the new leader remains reachable.</a:t>
            </a:r>
          </a:p>
          <a:p>
            <a:endParaRPr lang="en-US" dirty="0"/>
          </a:p>
          <a:p>
            <a:r>
              <a:rPr lang="en-US" dirty="0"/>
              <a:t>SOURCE
MIT 6.824, Spring 2020, Lecture 6 transcript/video, 53:28–56:55 (about 3.5 min). One vote per term at 53:28–53:55; electing with a minority down at 54:24; how everyone learns at 54:49–56:05; heartbeats resetting timers at 56:05–56:30.
https://www.youtube.com/watch?v=64Zp3tzNbpE
Ongaro and Ousterhout, In Search of an Understandable Consensus Algorithm, Section 5.2.
Local transcript: fall2026/lectures/references/mit-6824-2020-lecture6-raft1-transcript.txt</a:t>
            </a:r>
          </a:p>
        </p:txBody>
      </p:sp>
      <p:sp>
        <p:nvSpPr>
          <p:cNvPr id="4" name="Slide Number Placeholder 3">
            <a:extLst>
              <a:ext uri="{FF2B5EF4-FFF2-40B4-BE49-F238E27FC236}">
                <a16:creationId xmlns:a16="http://schemas.microsoft.com/office/drawing/2014/main" id="{A9975858-62E0-D101-346F-5824D8A139C4}"/>
              </a:ext>
            </a:extLst>
          </p:cNvPr>
          <p:cNvSpPr>
            <a:spLocks noGrp="1"/>
          </p:cNvSpPr>
          <p:nvPr>
            <p:ph type="sldNum" sz="quarter" idx="5"/>
          </p:nvPr>
        </p:nvSpPr>
        <p:spPr/>
        <p:txBody>
          <a:bodyPr/>
          <a:lstStyle/>
          <a:p>
            <a:fld id="{1C9584DC-3658-4054-9DA4-7B68A1D8CC6D}" type="slidenum">
              <a:rPr lang="zh-CN" altLang="en-US" smtClean="0"/>
              <a:t>20</a:t>
            </a:fld>
            <a:endParaRPr lang="zh-CN" altLang="en-US"/>
          </a:p>
        </p:txBody>
      </p:sp>
    </p:spTree>
    <p:extLst>
      <p:ext uri="{BB962C8B-B14F-4D97-AF65-F5344CB8AC3E}">
        <p14:creationId xmlns:p14="http://schemas.microsoft.com/office/powerpoint/2010/main" val="2173106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F80E-BFAE-90AE-9B27-97F5BB52F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E09EF-7DB3-A805-D989-D89263861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C7CCB-327C-3329-6CAD-F64BC686F1A1}"/>
              </a:ext>
            </a:extLst>
          </p:cNvPr>
          <p:cNvSpPr>
            <a:spLocks noGrp="1"/>
          </p:cNvSpPr>
          <p:nvPr>
            <p:ph type="body" idx="1"/>
          </p:nvPr>
        </p:nvSpPr>
        <p:spPr/>
        <p:txBody>
          <a:bodyPr/>
          <a:lstStyle/>
          <a:p>
            <a:r>
              <a:rPr lang="en-US" dirty="0"/>
              <a:t>An election can fail to choose a leader in two ways.</a:t>
            </a:r>
          </a:p>
          <a:p>
            <a:endParaRPr lang="en-US" dirty="0"/>
          </a:p>
          <a:p>
            <a:r>
              <a:rPr lang="en-US" dirty="0"/>
              <a:t>The first is unavoidable: fewer than a majority can communicate. No candidate can collect enough votes, so the system waits. It is temporarily unavailable, but it does not create two leaders.</a:t>
            </a:r>
          </a:p>
          <a:p>
            <a:endParaRPr lang="en-US" dirty="0"/>
          </a:p>
          <a:p>
            <a:r>
              <a:rPr lang="en-US" dirty="0"/>
              <a:t>The second occurs even when every server is healthy. In a three-server cluster, suppose all three election timers expire together. Each server becomes a candidate and votes for itself. When the vote requests arrive, every server has already used its one vote. Each candidate receives one vote, nobody has a majority, and the term ends with no leader.</a:t>
            </a:r>
          </a:p>
          <a:p>
            <a:endParaRPr lang="en-US" dirty="0"/>
          </a:p>
          <a:p>
            <a:r>
              <a:rPr lang="en-US" dirty="0"/>
              <a:t>If every server uses the same fixed timeout, the timers may expire together again in the next term and repeat the split forever.</a:t>
            </a:r>
          </a:p>
          <a:p>
            <a:endParaRPr lang="en-US" dirty="0"/>
          </a:p>
          <a:p>
            <a:r>
              <a:rPr lang="en-US" dirty="0"/>
              <a:t>Raft breaks the symmetry by randomizing election timeouts. The followers may reset their timers after the same heartbeat, but they choose different future deadlines. Usually one server times out first. If it can send RequestVote RPCs and receive replies before the next timer expires, it wins the majority and sends heartbeats that cancel the remaining elections.</a:t>
            </a:r>
          </a:p>
          <a:p>
            <a:endParaRPr lang="en-US" dirty="0"/>
          </a:p>
          <a:p>
            <a:r>
              <a:rPr lang="en-US" dirty="0"/>
              <a:t>Randomization makes repeated collisions unlikely rather than impossible. Safety still comes from one vote per term and majority voting; random timing supplies liveness.</a:t>
            </a:r>
          </a:p>
          <a:p>
            <a:endParaRPr lang="en-US" dirty="0"/>
          </a:p>
          <a:p>
            <a:r>
              <a:rPr lang="en-US" dirty="0"/>
              <a:t>SOURCE
MIT 6.824, Spring 2020, Lecture 6 transcript/video, 56:55–60:16 (about 3.4 min). Two failure modes at 56:55–57:45; the three-server split-vote walkthrough at 57:45–58:35; randomization and the timeline drawing at 58:35–60:16.
https://www.youtube.com/watch?v=64Zp3tzNbpE
Ongaro and Ousterhout, In Search of an Understandable Consensus Algorithm, Section 5.2.
Local transcript: fall2026/lectures/references/mit-6824-2020-lecture6-raft1-transcript.txt</a:t>
            </a:r>
          </a:p>
        </p:txBody>
      </p:sp>
      <p:sp>
        <p:nvSpPr>
          <p:cNvPr id="4" name="Slide Number Placeholder 3">
            <a:extLst>
              <a:ext uri="{FF2B5EF4-FFF2-40B4-BE49-F238E27FC236}">
                <a16:creationId xmlns:a16="http://schemas.microsoft.com/office/drawing/2014/main" id="{AE8A4628-1A5D-D191-7009-1225E86A5116}"/>
              </a:ext>
            </a:extLst>
          </p:cNvPr>
          <p:cNvSpPr>
            <a:spLocks noGrp="1"/>
          </p:cNvSpPr>
          <p:nvPr>
            <p:ph type="sldNum" sz="quarter" idx="5"/>
          </p:nvPr>
        </p:nvSpPr>
        <p:spPr/>
        <p:txBody>
          <a:bodyPr/>
          <a:lstStyle/>
          <a:p>
            <a:fld id="{1C9584DC-3658-4054-9DA4-7B68A1D8CC6D}" type="slidenum">
              <a:rPr lang="zh-CN" altLang="en-US" smtClean="0"/>
              <a:t>21</a:t>
            </a:fld>
            <a:endParaRPr lang="zh-CN" altLang="en-US"/>
          </a:p>
        </p:txBody>
      </p:sp>
    </p:spTree>
    <p:extLst>
      <p:ext uri="{BB962C8B-B14F-4D97-AF65-F5344CB8AC3E}">
        <p14:creationId xmlns:p14="http://schemas.microsoft.com/office/powerpoint/2010/main" val="2722471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F80E-BFAE-90AE-9B27-97F5BB52F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6E09EF-7DB3-A805-D989-D89263861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C7CCB-327C-3329-6CAD-F64BC686F1A1}"/>
              </a:ext>
            </a:extLst>
          </p:cNvPr>
          <p:cNvSpPr>
            <a:spLocks noGrp="1"/>
          </p:cNvSpPr>
          <p:nvPr>
            <p:ph type="body" idx="1"/>
          </p:nvPr>
        </p:nvSpPr>
        <p:spPr/>
        <p:txBody>
          <a:bodyPr/>
          <a:lstStyle/>
          <a:p>
            <a:r>
              <a:rPr lang="en-US" dirty="0"/>
              <a:t>There is some judgment in choosing the election-timeout range.</a:t>
            </a:r>
          </a:p>
          <a:p>
            <a:endParaRPr lang="en-US" dirty="0"/>
          </a:p>
          <a:p>
            <a:r>
              <a:rPr lang="en-US" dirty="0"/>
              <a:t>The minimum must be longer than the normal heartbeat interval. If the leader sends a heartbeat every one hundred milliseconds, an election timeout below one hundred milliseconds would expire during healthy operation. Because packets can be lost or delayed, the minimum should be several heartbeat intervals; the MIT example uses a floor around three hundred milliseconds.</a:t>
            </a:r>
          </a:p>
          <a:p>
            <a:endParaRPr lang="en-US" dirty="0"/>
          </a:p>
          <a:p>
            <a:r>
              <a:rPr lang="en-US" dirty="0"/>
              <a:t>The maximum faces two competing pressures. A smaller maximum gives faster recovery. From the leader's failure until the first follower times out, there is no leader and client work cannot commit. A very large timeout turns every leader failure into a long outage.</a:t>
            </a:r>
          </a:p>
          <a:p>
            <a:endParaRPr lang="en-US" dirty="0"/>
          </a:p>
          <a:p>
            <a:r>
              <a:rPr lang="en-US" dirty="0"/>
              <a:t>A wider range, however, spreads the candidates apart. The time between the first and second expiration should usually exceed one RequestVote round trip. Otherwise the second candidate starts before the first one finishes collecting votes, and split votes remain common. Larger clusters or slower networks generally need more separation.</a:t>
            </a:r>
          </a:p>
          <a:p>
            <a:endParaRPr lang="en-US" dirty="0"/>
          </a:p>
          <a:p>
            <a:r>
              <a:rPr lang="en-US" dirty="0"/>
              <a:t>The lab adds a practical upper bound because the tests expect the cluster to recover within a few seconds.</a:t>
            </a:r>
          </a:p>
          <a:p>
            <a:endParaRPr lang="en-US" dirty="0"/>
          </a:p>
          <a:p>
            <a:r>
              <a:rPr lang="en-US" dirty="0"/>
              <a:t>Every reset must draw a fresh random timeout. If each server chooses one value at startup and reuses it forever, two unlucky servers with the same value may collide in every term. Fresh randomness lets the next election escape the previous split vote.</a:t>
            </a:r>
          </a:p>
          <a:p>
            <a:endParaRPr lang="en-US" dirty="0"/>
          </a:p>
          <a:p>
            <a:r>
              <a:rPr lang="en-US" dirty="0"/>
              <a:t>SOURCE
MIT 6.824, Spring 2020, Lecture 6 transcript/video, 60:16–64:56 (about 4.7 min). The minimum at 60:43–61:33; the recovery-latency force at 61:57–62:22; the round-trip-gap force at 62:48–63:15; the lab's few-seconds bound at 63:40; a fresh value on every reset at 64:05–64:56.
https://www.youtube.com/watch?v=64Zp3tzNbpE
Ongaro and Ousterhout, In Search of an Understandable Consensus Algorithm, Section 5.2 and Section 9.3.
Local transcript: fall2026/lectures/references/mit-6824-2020-lecture6-raft1-transcript.txt</a:t>
            </a:r>
          </a:p>
        </p:txBody>
      </p:sp>
      <p:sp>
        <p:nvSpPr>
          <p:cNvPr id="4" name="Slide Number Placeholder 3">
            <a:extLst>
              <a:ext uri="{FF2B5EF4-FFF2-40B4-BE49-F238E27FC236}">
                <a16:creationId xmlns:a16="http://schemas.microsoft.com/office/drawing/2014/main" id="{AE8A4628-1A5D-D191-7009-1225E86A5116}"/>
              </a:ext>
            </a:extLst>
          </p:cNvPr>
          <p:cNvSpPr>
            <a:spLocks noGrp="1"/>
          </p:cNvSpPr>
          <p:nvPr>
            <p:ph type="sldNum" sz="quarter" idx="5"/>
          </p:nvPr>
        </p:nvSpPr>
        <p:spPr/>
        <p:txBody>
          <a:bodyPr/>
          <a:lstStyle/>
          <a:p>
            <a:fld id="{1C9584DC-3658-4054-9DA4-7B68A1D8CC6D}" type="slidenum">
              <a:rPr lang="zh-CN" altLang="en-US" smtClean="0"/>
              <a:t>21</a:t>
            </a:fld>
            <a:endParaRPr lang="zh-CN" altLang="en-US"/>
          </a:p>
        </p:txBody>
      </p:sp>
    </p:spTree>
    <p:extLst>
      <p:ext uri="{BB962C8B-B14F-4D97-AF65-F5344CB8AC3E}">
        <p14:creationId xmlns:p14="http://schemas.microsoft.com/office/powerpoint/2010/main" val="27224716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ATTENDANCE CHECK - do this right before the quiz.</a:t>
            </a:r>
          </a:p>
          <a:p>
            <a:r>
              <a:rPr lang="en-US" dirty="0"/>
              <a:t>1. In Google Forms, open 'Quiz 03 Attendance - Raft I (Fall 2026)' and turn on Accepting responses. Then show this slide.</a:t>
            </a:r>
          </a:p>
          <a:p>
            <a:r>
              <a:rPr lang="en-US" dirty="0"/>
              <a:t>2. Tell the class: this attendance check is NOT graded. It only confirms that the number of quiz submissions matches the number of students in the room. Sign in with your BU account and enter your BU ID.</a:t>
            </a:r>
          </a:p>
          <a:p>
            <a:r>
              <a:rPr lang="en-US" dirty="0"/>
              <a:t>3. While they submit, count the students in the room. Headcount: ____</a:t>
            </a:r>
          </a:p>
          <a:p>
            <a:r>
              <a:rPr lang="en-US" dirty="0"/>
              <a:t>4. After about 2 minutes, turn OFF Accepting responses on the attendance form and compare its response count with your headcount. If they differ, say so now, before the quiz starts.</a:t>
            </a:r>
          </a:p>
          <a:p>
            <a:r>
              <a:rPr lang="en-US" dirty="0"/>
              <a:t>5. Only then open the quiz form and go to the next slide. After class, compare the quiz responses with this attendance list: a quiz submission whose email is not on the list did not check in.</a:t>
            </a:r>
          </a:p>
          <a:p>
            <a:r>
              <a:rPr lang="en-US" dirty="0"/>
              <a:t>TODO: this form does not exist yet. Create it, then put its link and QR on this slide.</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22</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9FD14-02FF-DA1D-2386-E3A333E5C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0FBC3-A446-B040-9B6C-599ED60A0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C3DFCD-14A0-90C1-6B40-D518C30CE389}"/>
              </a:ext>
            </a:extLst>
          </p:cNvPr>
          <p:cNvSpPr>
            <a:spLocks noGrp="1"/>
          </p:cNvSpPr>
          <p:nvPr>
            <p:ph type="body" idx="1"/>
          </p:nvPr>
        </p:nvSpPr>
        <p:spPr/>
        <p:txBody>
          <a:bodyPr/>
          <a:lstStyle/>
          <a:p>
            <a:r>
              <a:rPr lang="en-US" dirty="0"/>
              <a:t>BEFORE THE QUIZ: the form was created closed. In Google Forms, turn on 'Accepting responses' when you start the quiz, and turn it off after 10 minutes.</a:t>
            </a:r>
          </a:p>
          <a:p>
            <a:r>
              <a:rPr lang="en-US" dirty="0"/>
              <a:t>Form: 'Quiz 03 - Raft I (Fall 2026)' in the Drive folder EC528-Fall26. Students sign in with their BU account and must enter their BU ID.</a:t>
            </a:r>
          </a:p>
          <a:p>
            <a:r>
              <a:rPr lang="en-US" dirty="0"/>
              <a:t>Covers this lecture only: consensus motivation, split brain, Paxos background, Raft roles and terms, leader election, and what a log entry is.</a:t>
            </a:r>
          </a:p>
          <a:p>
            <a:r>
              <a:rPr lang="en-US" dirty="0"/>
              <a:t>TODO: this form does not exist yet. Create it, then put its link and QR on this slide.</a:t>
            </a:r>
          </a:p>
        </p:txBody>
      </p:sp>
      <p:sp>
        <p:nvSpPr>
          <p:cNvPr id="4" name="Slide Number Placeholder 3">
            <a:extLst>
              <a:ext uri="{FF2B5EF4-FFF2-40B4-BE49-F238E27FC236}">
                <a16:creationId xmlns:a16="http://schemas.microsoft.com/office/drawing/2014/main" id="{EA0B9615-41D5-53A4-EBB6-7D46695FD89D}"/>
              </a:ext>
            </a:extLst>
          </p:cNvPr>
          <p:cNvSpPr>
            <a:spLocks noGrp="1"/>
          </p:cNvSpPr>
          <p:nvPr>
            <p:ph type="sldNum" sz="quarter" idx="5"/>
          </p:nvPr>
        </p:nvSpPr>
        <p:spPr/>
        <p:txBody>
          <a:bodyPr/>
          <a:lstStyle/>
          <a:p>
            <a:fld id="{1C9584DC-3658-4054-9DA4-7B68A1D8CC6D}" type="slidenum">
              <a:rPr lang="zh-CN" altLang="en-US" smtClean="0"/>
              <a:t>23</a:t>
            </a:fld>
            <a:endParaRPr lang="zh-CN" altLang="en-US"/>
          </a:p>
        </p:txBody>
      </p:sp>
    </p:spTree>
    <p:extLst>
      <p:ext uri="{BB962C8B-B14F-4D97-AF65-F5344CB8AC3E}">
        <p14:creationId xmlns:p14="http://schemas.microsoft.com/office/powerpoint/2010/main" val="2023328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3560D-66EA-7998-7CB0-0EA38A5BA8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BB5BB8-B9E7-76B1-43C5-C260F93CA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3FEE50-EFC4-AF67-19E2-74B0E9B41CC9}"/>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8EDA146C-B886-F412-8467-BE49B13D7A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0A2C9-0073-D7A7-FD11-A0D4DB016B3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512543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C5B1-52E3-9D18-0A0F-7E798BD14E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75873A-4E0E-575D-5F0C-C6C5A64FA8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0A51A-6CBA-3F43-FD8C-C6659C0AE8FD}"/>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72761E4A-C73A-CB44-A02A-D298DAD91B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D3859-616D-E491-219A-6E3430974033}"/>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95255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10A3-2B64-1E44-C455-F3A8CC4068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24F5AB-2168-C2C7-DB81-E5B36B24B6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BDAFD1-61B2-6B6D-EAC8-BCF6D14F98E9}"/>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3325218D-F848-A5E1-6BB9-E2742E69A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09E6F-9CB0-4E70-F8E4-9F053225C21E}"/>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286678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8AF4-7F5B-035D-9929-140CE80522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4D96E7-24E5-5606-0ACB-63985A413D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0E1AA6-F34D-1833-623F-68C69F16D0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8BBB1C-F08B-BF51-7097-896CABE31DBF}"/>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6" name="Footer Placeholder 5">
            <a:extLst>
              <a:ext uri="{FF2B5EF4-FFF2-40B4-BE49-F238E27FC236}">
                <a16:creationId xmlns:a16="http://schemas.microsoft.com/office/drawing/2014/main" id="{514DD3DA-5E3E-C3CD-D99D-F1B7D63B65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23A3AC-59CD-D16B-B981-E06916EB65FE}"/>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110883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2517-63A6-707A-E447-5E3E63DA3C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2D39AB-F931-7328-4D23-A07287D4F1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AD9C7-D857-D07E-8823-1E6D2C8126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538E75-FCFF-1B75-D49C-663B49F71F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0F7C20-A201-C475-0EA2-0470CE3AD6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A697E4-098B-8EF9-3709-7745F585C05C}"/>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8" name="Footer Placeholder 7">
            <a:extLst>
              <a:ext uri="{FF2B5EF4-FFF2-40B4-BE49-F238E27FC236}">
                <a16:creationId xmlns:a16="http://schemas.microsoft.com/office/drawing/2014/main" id="{F2837CB4-FBB0-0B68-6A5D-F3CFD640B5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CFF18A-DE0A-CCB3-BE1B-CCFE307AA25C}"/>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985345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AAE1-BF5A-95FD-B8B1-743082DA39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2FDE5C-19E7-CF37-7C4F-FC5817C00EE3}"/>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4" name="Footer Placeholder 3">
            <a:extLst>
              <a:ext uri="{FF2B5EF4-FFF2-40B4-BE49-F238E27FC236}">
                <a16:creationId xmlns:a16="http://schemas.microsoft.com/office/drawing/2014/main" id="{90F575D0-5F48-B58F-67A4-DA23578DA8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6DB007-3B1D-0F05-6807-FDC879B86D1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277501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19832-EE05-9B47-9AD0-3FB54B9F0A6E}"/>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3" name="Footer Placeholder 2">
            <a:extLst>
              <a:ext uri="{FF2B5EF4-FFF2-40B4-BE49-F238E27FC236}">
                <a16:creationId xmlns:a16="http://schemas.microsoft.com/office/drawing/2014/main" id="{A2ADC4AF-3766-90DA-0BC1-13A34CD43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7FB0E7-276C-DECE-C4BC-BB499D08473F}"/>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05301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59424-E178-CEE0-ADC4-ED78431C3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DDE805-9B23-3B8B-A85B-C2BCDF820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C41E0C-85E9-E173-3214-A40B7D1AAE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956D6-C4FE-CF0D-5680-EC76F3D32633}"/>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6" name="Footer Placeholder 5">
            <a:extLst>
              <a:ext uri="{FF2B5EF4-FFF2-40B4-BE49-F238E27FC236}">
                <a16:creationId xmlns:a16="http://schemas.microsoft.com/office/drawing/2014/main" id="{A905796A-8400-9F9A-783C-2C606E9E4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ADE40-C395-65EB-9A6C-1B5227162EC6}"/>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199984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95F0-C095-EAF4-6646-DE3B698498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33B7A8-1F39-802B-06AE-0B1B779BE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5CDF5-F55D-E86B-1AF0-BACBF980AA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22410-7FB0-0439-91D3-B316421C3728}"/>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6" name="Footer Placeholder 5">
            <a:extLst>
              <a:ext uri="{FF2B5EF4-FFF2-40B4-BE49-F238E27FC236}">
                <a16:creationId xmlns:a16="http://schemas.microsoft.com/office/drawing/2014/main" id="{0C4224E9-F80F-03FE-A286-4257A7378F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160E55-098E-693D-92E5-CBE720ED5C31}"/>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225379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C394D-8F6E-C96A-6E17-7240C20DFB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8C0753-0EB7-A875-23EC-2D6ACED0EA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4F7F6D-BB41-C4B8-DF07-034F5F9EE446}"/>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6BF76E41-6B94-3DC2-85FB-EE0314437A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CB9B5-22A2-FD06-0AF4-277FC5EA25A2}"/>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3120032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C42E6-D288-79B9-98A9-C09AA61ADB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D34A44-B50E-C2BB-F0B1-503920DC9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44255C-3225-BFA6-3020-E43D83D70BE1}"/>
              </a:ext>
            </a:extLst>
          </p:cNvPr>
          <p:cNvSpPr>
            <a:spLocks noGrp="1"/>
          </p:cNvSpPr>
          <p:nvPr>
            <p:ph type="dt" sz="half" idx="10"/>
          </p:nvPr>
        </p:nvSpPr>
        <p:spPr/>
        <p:txBody>
          <a:body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E2BAEB22-D721-A554-E8D0-B9C538466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16F9D-CFF2-3283-404D-0817AEB14B7A}"/>
              </a:ext>
            </a:extLst>
          </p:cNvPr>
          <p:cNvSpPr>
            <a:spLocks noGrp="1"/>
          </p:cNvSpPr>
          <p:nvPr>
            <p:ph type="sldNum" sz="quarter" idx="12"/>
          </p:nvPr>
        </p:nvSpPr>
        <p:spPr/>
        <p:txBody>
          <a:bodyPr/>
          <a:lstStyle/>
          <a:p>
            <a:fld id="{297B4E2E-854A-2040-B625-D1A594382B5C}" type="slidenum">
              <a:rPr lang="en-US" smtClean="0"/>
              <a:t>‹#›</a:t>
            </a:fld>
            <a:endParaRPr lang="en-US"/>
          </a:p>
        </p:txBody>
      </p:sp>
    </p:spTree>
    <p:extLst>
      <p:ext uri="{BB962C8B-B14F-4D97-AF65-F5344CB8AC3E}">
        <p14:creationId xmlns:p14="http://schemas.microsoft.com/office/powerpoint/2010/main" val="125524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3B6BF-1D8B-DD53-010D-2099603F94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D7824B-50E4-B4E6-4E2F-6968FF3068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11948-8B12-5503-6186-74B654A91B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84C5D0-6ABA-684F-A395-755177FC219F}" type="datetimeFigureOut">
              <a:rPr lang="en-US" smtClean="0"/>
              <a:t>9/28/26</a:t>
            </a:fld>
            <a:endParaRPr lang="en-US"/>
          </a:p>
        </p:txBody>
      </p:sp>
      <p:sp>
        <p:nvSpPr>
          <p:cNvPr id="5" name="Footer Placeholder 4">
            <a:extLst>
              <a:ext uri="{FF2B5EF4-FFF2-40B4-BE49-F238E27FC236}">
                <a16:creationId xmlns:a16="http://schemas.microsoft.com/office/drawing/2014/main" id="{8DB3D78B-35F3-143A-2150-910640F05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0F435D-FE33-B053-DE34-37F2CE8BDB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7B4E2E-854A-2040-B625-D1A594382B5C}" type="slidenum">
              <a:rPr lang="en-US" smtClean="0"/>
              <a:t>‹#›</a:t>
            </a:fld>
            <a:endParaRPr lang="en-US"/>
          </a:p>
        </p:txBody>
      </p:sp>
    </p:spTree>
    <p:extLst>
      <p:ext uri="{BB962C8B-B14F-4D97-AF65-F5344CB8AC3E}">
        <p14:creationId xmlns:p14="http://schemas.microsoft.com/office/powerpoint/2010/main" val="3023175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orms.gle/jwbSKDuKGsZVEs3U9"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forms.gle/KX6h17o1A2hE7HMa8"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thesecretlivesofdata.com/raft/"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forms.gle/oKYS9zxkogM5N4uq9"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hyperlink" Target="https://forms.gle/G5GTvLLCUXB4P36q6"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A850B-404C-F9A6-0EEB-60ED8F2BC9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96CCFB-2739-B9C3-25E4-F83CCCC7D277}"/>
              </a:ext>
            </a:extLst>
          </p:cNvPr>
          <p:cNvSpPr>
            <a:spLocks noGrp="1"/>
          </p:cNvSpPr>
          <p:nvPr>
            <p:ph type="ctrTitle"/>
          </p:nvPr>
        </p:nvSpPr>
        <p:spPr>
          <a:xfrm>
            <a:off x="0" y="2239794"/>
            <a:ext cx="12192000" cy="1433046"/>
          </a:xfrm>
        </p:spPr>
        <p:txBody>
          <a:bodyPr>
            <a:noAutofit/>
          </a:bodyPr>
          <a:lstStyle/>
          <a:p>
            <a:pPr rtl="0">
              <a:lnSpc>
                <a:spcPct val="100000"/>
              </a:lnSpc>
            </a:pPr>
            <a:r>
              <a:rPr lang="en-US" sz="40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rPr>
              <a:t>Lecture 6</a:t>
            </a:r>
            <a: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 Consensus I</a:t>
            </a:r>
            <a:b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br>
            <a:r>
              <a:rPr lang="en-US" sz="4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Fall 2026                            </a:t>
            </a:r>
            <a:endParaRPr lang="zh-CN" altLang="en-US" sz="4000" dirty="0">
              <a:solidFill>
                <a:srgbClr val="000000"/>
              </a:solidFill>
              <a:latin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78E14E69-6BD7-C52A-EB3E-F381AEF7CB4A}"/>
              </a:ext>
            </a:extLst>
          </p:cNvPr>
          <p:cNvSpPr txBox="1"/>
          <p:nvPr/>
        </p:nvSpPr>
        <p:spPr>
          <a:xfrm>
            <a:off x="1" y="653143"/>
            <a:ext cx="12192000" cy="830997"/>
          </a:xfrm>
          <a:prstGeom prst="rect">
            <a:avLst/>
          </a:prstGeom>
          <a:noFill/>
        </p:spPr>
        <p:txBody>
          <a:bodyPr wrap="square" rtlCol="0">
            <a:spAutoFit/>
          </a:bodyPr>
          <a:lstStyle/>
          <a:p>
            <a:pPr algn="ctr"/>
            <a:r>
              <a:rPr lang="en-US" sz="4800" b="1" dirty="0">
                <a:solidFill>
                  <a:schemeClr val="tx2">
                    <a:lumMod val="75000"/>
                    <a:lumOff val="25000"/>
                  </a:schemeClr>
                </a:solidFill>
                <a:latin typeface="Helvetica" pitchFamily="2" charset="0"/>
              </a:rPr>
              <a:t>CE 528 Cloud Computing</a:t>
            </a:r>
          </a:p>
        </p:txBody>
      </p:sp>
      <p:sp>
        <p:nvSpPr>
          <p:cNvPr id="7" name="标题 1">
            <a:extLst>
              <a:ext uri="{FF2B5EF4-FFF2-40B4-BE49-F238E27FC236}">
                <a16:creationId xmlns:a16="http://schemas.microsoft.com/office/drawing/2014/main" id="{3BDC3145-A181-687D-BD4A-904B04ED2006}"/>
              </a:ext>
            </a:extLst>
          </p:cNvPr>
          <p:cNvSpPr txBox="1">
            <a:spLocks/>
          </p:cNvSpPr>
          <p:nvPr/>
        </p:nvSpPr>
        <p:spPr>
          <a:xfrm>
            <a:off x="1237543" y="4003019"/>
            <a:ext cx="9499200" cy="91462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Prof. Yigong Hu</a:t>
            </a:r>
            <a:endParaRPr lang="zh-CN" altLang="en-US" sz="3200" b="1" dirty="0">
              <a:latin typeface="Helvetica Neue" panose="02000503000000020004" pitchFamily="2" charset="0"/>
              <a:cs typeface="Helvetica Neue" panose="02000503000000020004" pitchFamily="2" charset="0"/>
            </a:endParaRPr>
          </a:p>
        </p:txBody>
      </p:sp>
      <p:pic>
        <p:nvPicPr>
          <p:cNvPr id="4" name="Graphic 3">
            <a:extLst>
              <a:ext uri="{FF2B5EF4-FFF2-40B4-BE49-F238E27FC236}">
                <a16:creationId xmlns:a16="http://schemas.microsoft.com/office/drawing/2014/main" id="{7E111180-ABF3-5E9E-B47F-CE63C0162A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887" y="5247828"/>
            <a:ext cx="2875237" cy="1288106"/>
          </a:xfrm>
          <a:prstGeom prst="rect">
            <a:avLst/>
          </a:prstGeom>
        </p:spPr>
      </p:pic>
    </p:spTree>
    <p:extLst>
      <p:ext uri="{BB962C8B-B14F-4D97-AF65-F5344CB8AC3E}">
        <p14:creationId xmlns:p14="http://schemas.microsoft.com/office/powerpoint/2010/main" val="211892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 Attendance: GFS</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https://forms.gle/jwbSKDuKGsZVEs3U9</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 GFS</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3</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https://forms.gle/KX6h17o1A2hE7HMa8</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52628-A274-4FFC-9952-DC4191EC177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345C821-7A5B-0765-F748-9166960B99FB}"/>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Motivation </a:t>
            </a:r>
          </a:p>
        </p:txBody>
      </p:sp>
      <p:sp>
        <p:nvSpPr>
          <p:cNvPr id="8" name="Slide Number Placeholder 4">
            <a:extLst>
              <a:ext uri="{FF2B5EF4-FFF2-40B4-BE49-F238E27FC236}">
                <a16:creationId xmlns:a16="http://schemas.microsoft.com/office/drawing/2014/main" id="{8400AE26-A395-681A-522F-DF752E998150}"/>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4</a:t>
            </a:fld>
            <a:endParaRPr lang="en-US"/>
          </a:p>
        </p:txBody>
      </p:sp>
      <p:sp>
        <p:nvSpPr>
          <p:cNvPr id="2" name="TextBox 1">
            <a:extLst>
              <a:ext uri="{FF2B5EF4-FFF2-40B4-BE49-F238E27FC236}">
                <a16:creationId xmlns:a16="http://schemas.microsoft.com/office/drawing/2014/main" id="{FA83A39E-460B-EC68-8FA5-228ACDB0F21B}"/>
              </a:ext>
            </a:extLst>
          </p:cNvPr>
          <p:cNvSpPr txBox="1"/>
          <p:nvPr/>
        </p:nvSpPr>
        <p:spPr>
          <a:xfrm>
            <a:off x="226422" y="853439"/>
            <a:ext cx="9911559" cy="2800767"/>
          </a:xfrm>
          <a:prstGeom prst="rect">
            <a:avLst/>
          </a:prstGeom>
          <a:noFill/>
        </p:spPr>
        <p:txBody>
          <a:bodyPr wrap="none" rtlCol="0">
            <a:spAutoFit/>
          </a:bodyPr>
          <a:lstStyle/>
          <a:p>
            <a:r>
              <a:rPr lang="en-US" sz="2800" b="1" dirty="0"/>
              <a:t>A pattern in the fault-tolerant systems:</a:t>
            </a:r>
          </a:p>
          <a:p>
            <a:pPr marL="800100" lvl="1" indent="-342900">
              <a:buFont typeface="Arial" panose="020B0604020202020204" pitchFamily="34" charset="0"/>
              <a:buChar char="•"/>
            </a:pPr>
            <a:r>
              <a:rPr lang="en-US" sz="2400" dirty="0"/>
              <a:t>MR replicates computation but relies on a single master to organize </a:t>
            </a:r>
          </a:p>
          <a:p>
            <a:pPr marL="800100" lvl="1" indent="-342900">
              <a:buFont typeface="Arial" panose="020B0604020202020204" pitchFamily="34" charset="0"/>
              <a:buChar char="•"/>
            </a:pPr>
            <a:r>
              <a:rPr lang="en-US" sz="2400" dirty="0"/>
              <a:t>GFS replicates data but relies on the master to pick primaries</a:t>
            </a:r>
          </a:p>
          <a:p>
            <a:endParaRPr lang="en-US" sz="2400" dirty="0"/>
          </a:p>
          <a:p>
            <a:r>
              <a:rPr lang="en-US" sz="2800" b="1" dirty="0"/>
              <a:t>A single entity to make decision</a:t>
            </a:r>
          </a:p>
          <a:p>
            <a:pPr marL="800100" lvl="1" indent="-342900">
              <a:buFont typeface="Arial" panose="020B0604020202020204" pitchFamily="34" charset="0"/>
              <a:buChar char="•"/>
            </a:pPr>
            <a:r>
              <a:rPr lang="en-US" sz="2400" dirty="0"/>
              <a:t>Avoid split brain</a:t>
            </a:r>
          </a:p>
          <a:p>
            <a:pPr marL="800100" lvl="1" indent="-342900">
              <a:buFont typeface="Arial" panose="020B0604020202020204" pitchFamily="34" charset="0"/>
              <a:buChar char="•"/>
            </a:pPr>
            <a:r>
              <a:rPr lang="en-US" sz="2400" dirty="0"/>
              <a:t>But the single machine can have failure</a:t>
            </a:r>
          </a:p>
        </p:txBody>
      </p:sp>
    </p:spTree>
    <p:extLst>
      <p:ext uri="{BB962C8B-B14F-4D97-AF65-F5344CB8AC3E}">
        <p14:creationId xmlns:p14="http://schemas.microsoft.com/office/powerpoint/2010/main" val="83619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dissolve">
                                      <p:cBhvr>
                                        <p:cTn id="7" dur="500"/>
                                        <p:tgtEl>
                                          <p:spTgt spid="2">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dissolve">
                                      <p:cBhvr>
                                        <p:cTn id="10" dur="500"/>
                                        <p:tgtEl>
                                          <p:spTgt spid="2">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animEffect transition="in" filter="dissolve">
                                      <p:cBhvr>
                                        <p:cTn id="1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DDA-DAAE-4AA1-96C9-8C4BD2ADB5A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D98607-09B9-2E87-08EA-45C5C21C97B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Two Servers Are Not Enough</a:t>
            </a:r>
          </a:p>
        </p:txBody>
      </p:sp>
      <p:sp>
        <p:nvSpPr>
          <p:cNvPr id="8" name="Slide Number Placeholder 4">
            <a:extLst>
              <a:ext uri="{FF2B5EF4-FFF2-40B4-BE49-F238E27FC236}">
                <a16:creationId xmlns:a16="http://schemas.microsoft.com/office/drawing/2014/main" id="{CB3C051F-CA88-79F3-A501-F305062BA8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5</a:t>
            </a:fld>
            <a:endParaRPr lang="en-US"/>
          </a:p>
        </p:txBody>
      </p:sp>
      <p:sp>
        <p:nvSpPr>
          <p:cNvPr id="100" name="TextBox 100"/>
          <p:cNvSpPr txBox="1"/>
          <p:nvPr/>
        </p:nvSpPr>
        <p:spPr>
          <a:xfrm>
            <a:off x="300000" y="1000000"/>
            <a:ext cx="11500000" cy="950000"/>
          </a:xfrm>
          <a:prstGeom prst="rect">
            <a:avLst/>
          </a:prstGeom>
          <a:noFill/>
        </p:spPr>
        <p:txBody>
          <a:bodyPr wrap="square" rtlCol="0"/>
          <a:lstStyle/>
          <a:p>
            <a:r>
              <a:rPr lang="en-US" sz="2800" b="1" dirty="0"/>
              <a:t>Replicate a lock: set the flag to 1, return the previous value</a:t>
            </a:r>
          </a:p>
          <a:p>
            <a:pPr marL="800100" lvl="1" indent="-342900">
              <a:buFont typeface="Arial" panose="020B0604020202020204" pitchFamily="34" charset="0"/>
              <a:buChar char="•"/>
            </a:pPr>
            <a:r>
              <a:rPr lang="en-US" sz="2400" dirty="0"/>
              <a:t>only one client may ever get 0 back — that client holds the lock</a:t>
            </a:r>
          </a:p>
        </p:txBody>
      </p:sp>
      <p:sp>
        <p:nvSpPr>
          <p:cNvPr id="101" name="d101"/>
          <p:cNvSpPr/>
          <p:nvPr/>
        </p:nvSpPr>
        <p:spPr>
          <a:xfrm>
            <a:off x="13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C1</a:t>
            </a:r>
          </a:p>
        </p:txBody>
      </p:sp>
      <p:sp>
        <p:nvSpPr>
          <p:cNvPr id="102" name="c102"/>
          <p:cNvSpPr/>
          <p:nvPr/>
        </p:nvSpPr>
        <p:spPr>
          <a:xfrm>
            <a:off x="2800000" y="2537300"/>
            <a:ext cx="1200000" cy="25400"/>
          </a:xfrm>
          <a:prstGeom prst="rect">
            <a:avLst/>
          </a:prstGeom>
          <a:solidFill>
            <a:srgbClr val="5B6573"/>
          </a:solidFill>
          <a:ln>
            <a:noFill/>
          </a:ln>
        </p:spPr>
        <p:txBody>
          <a:bodyPr/>
          <a:lstStyle/>
          <a:p>
            <a:endParaRPr/>
          </a:p>
        </p:txBody>
      </p:sp>
      <p:sp>
        <p:nvSpPr>
          <p:cNvPr id="103" name="d103"/>
          <p:cNvSpPr/>
          <p:nvPr/>
        </p:nvSpPr>
        <p:spPr>
          <a:xfrm>
            <a:off x="40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S1</a:t>
            </a:r>
          </a:p>
        </p:txBody>
      </p:sp>
      <p:sp>
        <p:nvSpPr>
          <p:cNvPr id="104" name="d104"/>
          <p:cNvSpPr/>
          <p:nvPr/>
        </p:nvSpPr>
        <p:spPr>
          <a:xfrm>
            <a:off x="8000000" y="2150000"/>
            <a:ext cx="1500000" cy="800000"/>
          </a:xfrm>
          <a:prstGeom prst="rect">
            <a:avLst/>
          </a:prstGeom>
          <a:solidFill>
            <a:srgbClr val="F7E8F5"/>
          </a:solidFill>
          <a:ln w="19050">
            <a:solidFill>
              <a:srgbClr val="A02B93"/>
            </a:solidFill>
          </a:ln>
        </p:spPr>
        <p:txBody>
          <a:bodyPr wrap="square" lIns="27432" tIns="27432" rIns="27432" bIns="27432" anchor="ctr"/>
          <a:lstStyle/>
          <a:p>
            <a:pPr algn="ctr"/>
            <a:r>
              <a:rPr lang="en-US" sz="2400" b="1" dirty="0">
                <a:solidFill>
                  <a:srgbClr val="A02B93"/>
                </a:solidFill>
                <a:latin typeface="Aptos"/>
              </a:rPr>
              <a:t>S2</a:t>
            </a:r>
          </a:p>
        </p:txBody>
      </p:sp>
      <p:sp>
        <p:nvSpPr>
          <p:cNvPr id="105" name="t105"/>
          <p:cNvSpPr txBox="1"/>
          <p:nvPr/>
        </p:nvSpPr>
        <p:spPr>
          <a:xfrm>
            <a:off x="7700000" y="3070000"/>
            <a:ext cx="2100000" cy="400000"/>
          </a:xfrm>
          <a:prstGeom prst="rect">
            <a:avLst/>
          </a:prstGeom>
          <a:noFill/>
        </p:spPr>
        <p:txBody>
          <a:bodyPr wrap="square" lIns="0" tIns="0" rIns="0" bIns="0" anchor="ctr"/>
          <a:lstStyle/>
          <a:p>
            <a:pPr algn="ctr"/>
            <a:r>
              <a:rPr lang="en-US" sz="1600" b="0" i="1" dirty="0">
                <a:solidFill>
                  <a:srgbClr val="A02B93"/>
                </a:solidFill>
                <a:latin typeface="Aptos"/>
              </a:rPr>
              <a:t>crashed</a:t>
            </a:r>
          </a:p>
        </p:txBody>
      </p:sp>
      <p:sp>
        <p:nvSpPr>
          <p:cNvPr id="106" name="t106"/>
          <p:cNvSpPr txBox="1"/>
          <p:nvPr/>
        </p:nvSpPr>
        <p:spPr>
          <a:xfrm>
            <a:off x="3600000" y="3070000"/>
            <a:ext cx="2300000" cy="400000"/>
          </a:xfrm>
          <a:prstGeom prst="rect">
            <a:avLst/>
          </a:prstGeom>
          <a:noFill/>
        </p:spPr>
        <p:txBody>
          <a:bodyPr wrap="square" lIns="0" tIns="0" rIns="0" bIns="0" anchor="ctr"/>
          <a:lstStyle/>
          <a:p>
            <a:pPr algn="ctr"/>
            <a:r>
              <a:rPr lang="en-US" sz="1600" b="0" i="0" dirty="0">
                <a:solidFill>
                  <a:srgbClr val="0E2841"/>
                </a:solidFill>
                <a:latin typeface="Aptos"/>
              </a:rPr>
              <a:t>0 → 1, returns 0</a:t>
            </a:r>
          </a:p>
        </p:txBody>
      </p:sp>
      <p:sp>
        <p:nvSpPr>
          <p:cNvPr id="107" name="t107"/>
          <p:cNvSpPr txBox="1"/>
          <p:nvPr/>
        </p:nvSpPr>
        <p:spPr>
          <a:xfrm>
            <a:off x="1000000" y="3070000"/>
            <a:ext cx="2100000" cy="400000"/>
          </a:xfrm>
          <a:prstGeom prst="rect">
            <a:avLst/>
          </a:prstGeom>
          <a:noFill/>
        </p:spPr>
        <p:txBody>
          <a:bodyPr wrap="square" lIns="0" tIns="0" rIns="0" bIns="0" anchor="ctr"/>
          <a:lstStyle/>
          <a:p>
            <a:pPr algn="ctr"/>
            <a:r>
              <a:rPr lang="en-US" sz="1600" b="1" i="0" dirty="0">
                <a:solidFill>
                  <a:srgbClr val="0E2841"/>
                </a:solidFill>
                <a:latin typeface="Aptos"/>
              </a:rPr>
              <a:t>C1 holds the lock</a:t>
            </a:r>
          </a:p>
        </p:txBody>
      </p:sp>
      <p:sp>
        <p:nvSpPr>
          <p:cNvPr id="108" name="TextBox 108"/>
          <p:cNvSpPr txBox="1"/>
          <p:nvPr/>
        </p:nvSpPr>
        <p:spPr>
          <a:xfrm>
            <a:off x="300000" y="3900000"/>
            <a:ext cx="11500000" cy="1300000"/>
          </a:xfrm>
          <a:prstGeom prst="rect">
            <a:avLst/>
          </a:prstGeom>
          <a:noFill/>
        </p:spPr>
        <p:txBody>
          <a:bodyPr wrap="square" rtlCol="0"/>
          <a:lstStyle/>
          <a:p>
            <a:r>
              <a:rPr lang="en-US" sz="2800" b="1" dirty="0"/>
              <a:t>If S2 really crashed, C1 must proceed</a:t>
            </a:r>
          </a:p>
          <a:p>
            <a:pPr marL="800100" lvl="1" indent="-342900">
              <a:buFont typeface="Arial" panose="020B0604020202020204" pitchFamily="34" charset="0"/>
              <a:buChar char="•"/>
            </a:pPr>
            <a:r>
              <a:rPr lang="en-US" sz="2400" dirty="0"/>
              <a:t>otherwise replication bought us no fault tolerance at all</a:t>
            </a:r>
          </a:p>
          <a:p>
            <a:pPr marL="800100" lvl="1" indent="-342900">
              <a:buFont typeface="Arial" panose="020B0604020202020204" pitchFamily="34" charset="0"/>
              <a:buChar char="•"/>
            </a:pPr>
            <a:r>
              <a:rPr lang="en-US" sz="2400" dirty="0"/>
              <a:t>requiring both servers would be worse than not replicating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dissolve">
                                      <p:cBhvr>
                                        <p:cTn id="7" dur="500"/>
                                        <p:tgtEl>
                                          <p:spTgt spid="106"/>
                                        </p:tgtEl>
                                      </p:cBhvr>
                                    </p:animEffect>
                                  </p:childTnLst>
                                </p:cTn>
                              </p:par>
                              <p:par>
                                <p:cTn id="8" presetID="9" presetClass="entr" presetSubtype="0" fill="hold" nodeType="withEffect">
                                  <p:stCondLst>
                                    <p:cond delay="0"/>
                                  </p:stCondLst>
                                  <p:childTnLst>
                                    <p:set>
                                      <p:cBhvr>
                                        <p:cTn id="9" dur="1" fill="hold">
                                          <p:stCondLst>
                                            <p:cond delay="0"/>
                                          </p:stCondLst>
                                        </p:cTn>
                                        <p:tgtEl>
                                          <p:spTgt spid="107"/>
                                        </p:tgtEl>
                                        <p:attrNameLst>
                                          <p:attrName>style.visibility</p:attrName>
                                        </p:attrNameLst>
                                      </p:cBhvr>
                                      <p:to>
                                        <p:strVal val="visible"/>
                                      </p:to>
                                    </p:set>
                                    <p:animEffect transition="in" filter="dissolve">
                                      <p:cBhvr>
                                        <p:cTn id="10" dur="500"/>
                                        <p:tgtEl>
                                          <p:spTgt spid="10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08"/>
                                        </p:tgtEl>
                                        <p:attrNameLst>
                                          <p:attrName>style.visibility</p:attrName>
                                        </p:attrNameLst>
                                      </p:cBhvr>
                                      <p:to>
                                        <p:strVal val="visible"/>
                                      </p:to>
                                    </p:set>
                                    <p:animEffect transition="in" filter="dissolve">
                                      <p:cBhvr>
                                        <p:cTn id="15"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DDA-DAAE-4AA1-96C9-8C4BD2ADB5A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D98607-09B9-2E87-08EA-45C5C21C97B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Two Servers Are Not Enough</a:t>
            </a:r>
          </a:p>
        </p:txBody>
      </p:sp>
      <p:sp>
        <p:nvSpPr>
          <p:cNvPr id="8" name="Slide Number Placeholder 4">
            <a:extLst>
              <a:ext uri="{FF2B5EF4-FFF2-40B4-BE49-F238E27FC236}">
                <a16:creationId xmlns:a16="http://schemas.microsoft.com/office/drawing/2014/main" id="{CB3C051F-CA88-79F3-A501-F305062BA8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6</a:t>
            </a:fld>
            <a:endParaRPr lang="en-US"/>
          </a:p>
        </p:txBody>
      </p:sp>
      <p:sp>
        <p:nvSpPr>
          <p:cNvPr id="109" name="TextBox 109"/>
          <p:cNvSpPr txBox="1"/>
          <p:nvPr/>
        </p:nvSpPr>
        <p:spPr>
          <a:xfrm>
            <a:off x="300000" y="1150000"/>
            <a:ext cx="11500000" cy="600000"/>
          </a:xfrm>
          <a:prstGeom prst="rect">
            <a:avLst/>
          </a:prstGeom>
          <a:noFill/>
        </p:spPr>
        <p:txBody>
          <a:bodyPr wrap="square" rtlCol="0"/>
          <a:lstStyle/>
          <a:p>
            <a:r>
              <a:rPr lang="en-US" sz="2800" b="1" dirty="0"/>
              <a:t>Now suppose S2 did not crash</a:t>
            </a:r>
          </a:p>
        </p:txBody>
      </p:sp>
      <p:sp>
        <p:nvSpPr>
          <p:cNvPr id="110" name="d110"/>
          <p:cNvSpPr/>
          <p:nvPr/>
        </p:nvSpPr>
        <p:spPr>
          <a:xfrm>
            <a:off x="13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C1</a:t>
            </a:r>
          </a:p>
        </p:txBody>
      </p:sp>
      <p:sp>
        <p:nvSpPr>
          <p:cNvPr id="111" name="c111"/>
          <p:cNvSpPr/>
          <p:nvPr/>
        </p:nvSpPr>
        <p:spPr>
          <a:xfrm>
            <a:off x="2800000" y="2537300"/>
            <a:ext cx="1200000" cy="25400"/>
          </a:xfrm>
          <a:prstGeom prst="rect">
            <a:avLst/>
          </a:prstGeom>
          <a:solidFill>
            <a:srgbClr val="5B6573"/>
          </a:solidFill>
          <a:ln>
            <a:noFill/>
          </a:ln>
        </p:spPr>
        <p:txBody>
          <a:bodyPr/>
          <a:lstStyle/>
          <a:p>
            <a:endParaRPr/>
          </a:p>
        </p:txBody>
      </p:sp>
      <p:sp>
        <p:nvSpPr>
          <p:cNvPr id="112" name="d112"/>
          <p:cNvSpPr/>
          <p:nvPr/>
        </p:nvSpPr>
        <p:spPr>
          <a:xfrm>
            <a:off x="40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S1</a:t>
            </a:r>
          </a:p>
        </p:txBody>
      </p:sp>
      <p:sp>
        <p:nvSpPr>
          <p:cNvPr id="113" name="p113"/>
          <p:cNvSpPr/>
          <p:nvPr/>
        </p:nvSpPr>
        <p:spPr>
          <a:xfrm>
            <a:off x="6750000" y="1800000"/>
            <a:ext cx="0" cy="2050000"/>
          </a:xfrm>
          <a:prstGeom prst="line">
            <a:avLst/>
          </a:prstGeom>
          <a:ln w="38100">
            <a:solidFill>
              <a:srgbClr val="A02B93"/>
            </a:solidFill>
            <a:prstDash val="dash"/>
          </a:ln>
        </p:spPr>
        <p:txBody>
          <a:bodyPr/>
          <a:lstStyle/>
          <a:p>
            <a:endParaRPr/>
          </a:p>
        </p:txBody>
      </p:sp>
      <p:sp>
        <p:nvSpPr>
          <p:cNvPr id="114" name="t114"/>
          <p:cNvSpPr txBox="1"/>
          <p:nvPr/>
        </p:nvSpPr>
        <p:spPr>
          <a:xfrm>
            <a:off x="6000000" y="3620000"/>
            <a:ext cx="1500000" cy="380000"/>
          </a:xfrm>
          <a:prstGeom prst="rect">
            <a:avLst/>
          </a:prstGeom>
          <a:noFill/>
        </p:spPr>
        <p:txBody>
          <a:bodyPr wrap="square" lIns="0" tIns="0" rIns="0" bIns="0" anchor="ctr"/>
          <a:lstStyle/>
          <a:p>
            <a:pPr algn="ctr"/>
            <a:r>
              <a:rPr lang="en-US" sz="1500" b="0" i="1" dirty="0">
                <a:solidFill>
                  <a:srgbClr val="A02B93"/>
                </a:solidFill>
                <a:latin typeface="Aptos"/>
              </a:rPr>
              <a:t>partition</a:t>
            </a:r>
          </a:p>
        </p:txBody>
      </p:sp>
      <p:sp>
        <p:nvSpPr>
          <p:cNvPr id="115" name="d115"/>
          <p:cNvSpPr/>
          <p:nvPr/>
        </p:nvSpPr>
        <p:spPr>
          <a:xfrm>
            <a:off x="80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S2</a:t>
            </a:r>
          </a:p>
        </p:txBody>
      </p:sp>
      <p:sp>
        <p:nvSpPr>
          <p:cNvPr id="116" name="c116"/>
          <p:cNvSpPr/>
          <p:nvPr/>
        </p:nvSpPr>
        <p:spPr>
          <a:xfrm>
            <a:off x="9500000" y="2537300"/>
            <a:ext cx="900000" cy="25400"/>
          </a:xfrm>
          <a:prstGeom prst="rect">
            <a:avLst/>
          </a:prstGeom>
          <a:solidFill>
            <a:srgbClr val="5B6573"/>
          </a:solidFill>
          <a:ln>
            <a:noFill/>
          </a:ln>
        </p:spPr>
        <p:txBody>
          <a:bodyPr/>
          <a:lstStyle/>
          <a:p>
            <a:endParaRPr/>
          </a:p>
        </p:txBody>
      </p:sp>
      <p:sp>
        <p:nvSpPr>
          <p:cNvPr id="117" name="d117"/>
          <p:cNvSpPr/>
          <p:nvPr/>
        </p:nvSpPr>
        <p:spPr>
          <a:xfrm>
            <a:off x="10400000" y="215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C2</a:t>
            </a:r>
          </a:p>
        </p:txBody>
      </p:sp>
      <p:sp>
        <p:nvSpPr>
          <p:cNvPr id="118" name="t118"/>
          <p:cNvSpPr txBox="1"/>
          <p:nvPr/>
        </p:nvSpPr>
        <p:spPr>
          <a:xfrm>
            <a:off x="3600000" y="3070000"/>
            <a:ext cx="2300000" cy="400000"/>
          </a:xfrm>
          <a:prstGeom prst="rect">
            <a:avLst/>
          </a:prstGeom>
          <a:noFill/>
        </p:spPr>
        <p:txBody>
          <a:bodyPr wrap="square" lIns="0" tIns="0" rIns="0" bIns="0" anchor="ctr"/>
          <a:lstStyle/>
          <a:p>
            <a:pPr algn="ctr"/>
            <a:r>
              <a:rPr lang="en-US" sz="1600" b="0" i="0" dirty="0">
                <a:solidFill>
                  <a:srgbClr val="0E2841"/>
                </a:solidFill>
                <a:latin typeface="Aptos"/>
              </a:rPr>
              <a:t>0 → 1, returns 0</a:t>
            </a:r>
          </a:p>
        </p:txBody>
      </p:sp>
      <p:sp>
        <p:nvSpPr>
          <p:cNvPr id="119" name="t119"/>
          <p:cNvSpPr txBox="1"/>
          <p:nvPr/>
        </p:nvSpPr>
        <p:spPr>
          <a:xfrm>
            <a:off x="1000000" y="3070000"/>
            <a:ext cx="2100000" cy="400000"/>
          </a:xfrm>
          <a:prstGeom prst="rect">
            <a:avLst/>
          </a:prstGeom>
          <a:noFill/>
        </p:spPr>
        <p:txBody>
          <a:bodyPr wrap="square" lIns="0" tIns="0" rIns="0" bIns="0" anchor="ctr"/>
          <a:lstStyle/>
          <a:p>
            <a:pPr algn="ctr"/>
            <a:r>
              <a:rPr lang="en-US" sz="1600" b="1" i="0" dirty="0">
                <a:solidFill>
                  <a:srgbClr val="A02B93"/>
                </a:solidFill>
                <a:latin typeface="Aptos"/>
              </a:rPr>
              <a:t>C1 holds the lock</a:t>
            </a:r>
          </a:p>
        </p:txBody>
      </p:sp>
      <p:sp>
        <p:nvSpPr>
          <p:cNvPr id="120" name="t120"/>
          <p:cNvSpPr txBox="1"/>
          <p:nvPr/>
        </p:nvSpPr>
        <p:spPr>
          <a:xfrm>
            <a:off x="7600000" y="3070000"/>
            <a:ext cx="2300000" cy="400000"/>
          </a:xfrm>
          <a:prstGeom prst="rect">
            <a:avLst/>
          </a:prstGeom>
          <a:noFill/>
        </p:spPr>
        <p:txBody>
          <a:bodyPr wrap="square" lIns="0" tIns="0" rIns="0" bIns="0" anchor="ctr"/>
          <a:lstStyle/>
          <a:p>
            <a:pPr algn="ctr"/>
            <a:r>
              <a:rPr lang="en-US" sz="1600" b="0" i="0" dirty="0">
                <a:solidFill>
                  <a:srgbClr val="0E2841"/>
                </a:solidFill>
                <a:latin typeface="Aptos"/>
              </a:rPr>
              <a:t>0 → 1, returns 0</a:t>
            </a:r>
          </a:p>
        </p:txBody>
      </p:sp>
      <p:sp>
        <p:nvSpPr>
          <p:cNvPr id="121" name="t121"/>
          <p:cNvSpPr txBox="1"/>
          <p:nvPr/>
        </p:nvSpPr>
        <p:spPr>
          <a:xfrm>
            <a:off x="10150000" y="3070000"/>
            <a:ext cx="2000000" cy="400000"/>
          </a:xfrm>
          <a:prstGeom prst="rect">
            <a:avLst/>
          </a:prstGeom>
          <a:noFill/>
        </p:spPr>
        <p:txBody>
          <a:bodyPr wrap="square" lIns="0" tIns="0" rIns="0" bIns="0" anchor="ctr"/>
          <a:lstStyle/>
          <a:p>
            <a:pPr algn="ctr"/>
            <a:r>
              <a:rPr lang="en-US" sz="1600" b="1" i="0" dirty="0">
                <a:solidFill>
                  <a:srgbClr val="A02B93"/>
                </a:solidFill>
                <a:latin typeface="Aptos"/>
              </a:rPr>
              <a:t>C2 holds the lock</a:t>
            </a:r>
          </a:p>
        </p:txBody>
      </p:sp>
      <p:sp>
        <p:nvSpPr>
          <p:cNvPr id="122" name="TextBox 122"/>
          <p:cNvSpPr txBox="1"/>
          <p:nvPr/>
        </p:nvSpPr>
        <p:spPr>
          <a:xfrm>
            <a:off x="300000" y="4350000"/>
            <a:ext cx="11500000" cy="900000"/>
          </a:xfrm>
          <a:prstGeom prst="rect">
            <a:avLst/>
          </a:prstGeom>
          <a:noFill/>
        </p:spPr>
        <p:txBody>
          <a:bodyPr wrap="square" rtlCol="0"/>
          <a:lstStyle/>
          <a:p>
            <a:r>
              <a:rPr lang="en-US" sz="2800" b="1" dirty="0"/>
              <a:t>If S2 is alive and only the network broke, C1 must not proceed</a:t>
            </a:r>
          </a:p>
          <a:p>
            <a:pPr marL="800100" lvl="1" indent="-342900">
              <a:buFont typeface="Arial" panose="020B0604020202020204" pitchFamily="34" charset="0"/>
              <a:buChar char="•"/>
            </a:pPr>
            <a:r>
              <a:rPr lang="en-US" sz="2400" dirty="0"/>
              <a:t>both clients get 0 back, both think they hold the lock</a:t>
            </a:r>
          </a:p>
        </p:txBody>
      </p:sp>
      <p:sp>
        <p:nvSpPr>
          <p:cNvPr id="123" name="TextBox 123"/>
          <p:cNvSpPr txBox="1"/>
          <p:nvPr/>
        </p:nvSpPr>
        <p:spPr>
          <a:xfrm>
            <a:off x="300000" y="5300000"/>
            <a:ext cx="11500000" cy="1300000"/>
          </a:xfrm>
          <a:prstGeom prst="rect">
            <a:avLst/>
          </a:prstGeom>
          <a:noFill/>
        </p:spPr>
        <p:txBody>
          <a:bodyPr wrap="square" rtlCol="0"/>
          <a:lstStyle/>
          <a:p>
            <a:r>
              <a:rPr lang="en-US" sz="2800" b="1" dirty="0"/>
              <a:t>And C1 cannot tell which case it is in</a:t>
            </a:r>
          </a:p>
          <a:p>
            <a:pPr marL="800100" lvl="1" indent="-342900">
              <a:buFont typeface="Arial" panose="020B0604020202020204" pitchFamily="34" charset="0"/>
              <a:buChar char="•"/>
            </a:pPr>
            <a:r>
              <a:rPr lang="en-US" sz="2400" dirty="0"/>
              <a:t>the left half of this picture is identical to the last slide</a:t>
            </a:r>
          </a:p>
          <a:p>
            <a:pPr marL="800100" lvl="1" indent="-342900">
              <a:buFont typeface="Arial" panose="020B0604020202020204" pitchFamily="34" charset="0"/>
              <a:buChar char="•"/>
            </a:pPr>
            <a:r>
              <a:rPr lang="en-US" sz="2400" dirty="0"/>
              <a:t>no fault tolerance, or split brain — pick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dissolve">
                                      <p:cBhvr>
                                        <p:cTn id="7" dur="500"/>
                                        <p:tgtEl>
                                          <p:spTgt spid="118"/>
                                        </p:tgtEl>
                                      </p:cBhvr>
                                    </p:animEffect>
                                  </p:childTnLst>
                                </p:cTn>
                              </p:par>
                              <p:par>
                                <p:cTn id="8" presetID="9" presetClass="entr" presetSubtype="0" fill="hold" nodeType="withEffect">
                                  <p:stCondLst>
                                    <p:cond delay="0"/>
                                  </p:stCondLst>
                                  <p:childTnLst>
                                    <p:set>
                                      <p:cBhvr>
                                        <p:cTn id="9" dur="1" fill="hold">
                                          <p:stCondLst>
                                            <p:cond delay="0"/>
                                          </p:stCondLst>
                                        </p:cTn>
                                        <p:tgtEl>
                                          <p:spTgt spid="119"/>
                                        </p:tgtEl>
                                        <p:attrNameLst>
                                          <p:attrName>style.visibility</p:attrName>
                                        </p:attrNameLst>
                                      </p:cBhvr>
                                      <p:to>
                                        <p:strVal val="visible"/>
                                      </p:to>
                                    </p:set>
                                    <p:animEffect transition="in" filter="dissolve">
                                      <p:cBhvr>
                                        <p:cTn id="10" dur="500"/>
                                        <p:tgtEl>
                                          <p:spTgt spid="11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20"/>
                                        </p:tgtEl>
                                        <p:attrNameLst>
                                          <p:attrName>style.visibility</p:attrName>
                                        </p:attrNameLst>
                                      </p:cBhvr>
                                      <p:to>
                                        <p:strVal val="visible"/>
                                      </p:to>
                                    </p:set>
                                    <p:animEffect transition="in" filter="dissolve">
                                      <p:cBhvr>
                                        <p:cTn id="15" dur="500"/>
                                        <p:tgtEl>
                                          <p:spTgt spid="120"/>
                                        </p:tgtEl>
                                      </p:cBhvr>
                                    </p:animEffect>
                                  </p:childTnLst>
                                </p:cTn>
                              </p:par>
                              <p:par>
                                <p:cTn id="16" presetID="9" presetClass="entr" presetSubtype="0" fill="hold" nodeType="withEffect">
                                  <p:stCondLst>
                                    <p:cond delay="0"/>
                                  </p:stCondLst>
                                  <p:childTnLst>
                                    <p:set>
                                      <p:cBhvr>
                                        <p:cTn id="17" dur="1" fill="hold">
                                          <p:stCondLst>
                                            <p:cond delay="0"/>
                                          </p:stCondLst>
                                        </p:cTn>
                                        <p:tgtEl>
                                          <p:spTgt spid="121"/>
                                        </p:tgtEl>
                                        <p:attrNameLst>
                                          <p:attrName>style.visibility</p:attrName>
                                        </p:attrNameLst>
                                      </p:cBhvr>
                                      <p:to>
                                        <p:strVal val="visible"/>
                                      </p:to>
                                    </p:set>
                                    <p:animEffect transition="in" filter="dissolve">
                                      <p:cBhvr>
                                        <p:cTn id="18" dur="500"/>
                                        <p:tgtEl>
                                          <p:spTgt spid="12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22"/>
                                        </p:tgtEl>
                                        <p:attrNameLst>
                                          <p:attrName>style.visibility</p:attrName>
                                        </p:attrNameLst>
                                      </p:cBhvr>
                                      <p:to>
                                        <p:strVal val="visible"/>
                                      </p:to>
                                    </p:set>
                                    <p:animEffect transition="in" filter="dissolve">
                                      <p:cBhvr>
                                        <p:cTn id="23" dur="500"/>
                                        <p:tgtEl>
                                          <p:spTgt spid="12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23"/>
                                        </p:tgtEl>
                                        <p:attrNameLst>
                                          <p:attrName>style.visibility</p:attrName>
                                        </p:attrNameLst>
                                      </p:cBhvr>
                                      <p:to>
                                        <p:strVal val="visible"/>
                                      </p:to>
                                    </p:set>
                                    <p:animEffect transition="in" filter="dissolve">
                                      <p:cBhvr>
                                        <p:cTn id="28"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DDA-DAAE-4AA1-96C9-8C4BD2ADB5A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D98607-09B9-2E87-08EA-45C5C21C97B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“Server Crashed” vs “Network Broken”</a:t>
            </a:r>
          </a:p>
        </p:txBody>
      </p:sp>
      <p:sp>
        <p:nvSpPr>
          <p:cNvPr id="8" name="Slide Number Placeholder 4">
            <a:extLst>
              <a:ext uri="{FF2B5EF4-FFF2-40B4-BE49-F238E27FC236}">
                <a16:creationId xmlns:a16="http://schemas.microsoft.com/office/drawing/2014/main" id="{CB3C051F-CA88-79F3-A501-F305062BA8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7</a:t>
            </a:fld>
            <a:endParaRPr lang="en-US"/>
          </a:p>
        </p:txBody>
      </p:sp>
      <p:sp>
        <p:nvSpPr>
          <p:cNvPr id="2" name="TextBox 1">
            <a:extLst>
              <a:ext uri="{FF2B5EF4-FFF2-40B4-BE49-F238E27FC236}">
                <a16:creationId xmlns:a16="http://schemas.microsoft.com/office/drawing/2014/main" id="{0B9BC33A-1F9B-99C1-6345-E826211F43E3}"/>
              </a:ext>
            </a:extLst>
          </p:cNvPr>
          <p:cNvSpPr txBox="1"/>
          <p:nvPr/>
        </p:nvSpPr>
        <p:spPr>
          <a:xfrm>
            <a:off x="175490" y="914401"/>
            <a:ext cx="11730183" cy="4800000"/>
          </a:xfrm>
          <a:prstGeom prst="rect">
            <a:avLst/>
          </a:prstGeom>
          <a:noFill/>
        </p:spPr>
        <p:txBody>
          <a:bodyPr wrap="square" rtlCol="0">
            <a:spAutoFit/>
          </a:bodyPr>
          <a:lstStyle/>
          <a:p>
            <a:r>
              <a:rPr lang="en-US" sz="2800" b="1" dirty="0"/>
              <a:t>Same symptom, two worlds — and no replica can tell which</a:t>
            </a:r>
          </a:p>
          <a:p>
            <a:r>
              <a:rPr lang="en-US" sz="2400" dirty="0"/>
              <a:t>        </a:t>
            </a:r>
          </a:p>
          <a:p>
            <a:r>
              <a:rPr lang="en-US" sz="2800" b="1" dirty="0"/>
              <a:t>This is a network partition: each side can still talk to itself, neither can reach the other</a:t>
            </a:r>
          </a:p>
          <a:p>
            <a:endParaRPr lang="en-US" sz="2400" dirty="0"/>
          </a:p>
          <a:p>
            <a:r>
              <a:rPr lang="en-US" sz="2800" b="1" dirty="0"/>
              <a:t>Solution?</a:t>
            </a:r>
          </a:p>
          <a:p>
            <a:pPr marL="800100" lvl="1" indent="-342900">
              <a:buFont typeface="Arial" panose="020B0604020202020204" pitchFamily="34" charset="0"/>
              <a:buChar char="•"/>
            </a:pPr>
            <a:r>
              <a:rPr lang="en-US" sz="2400" dirty="0"/>
              <a:t>a perfectly reliable network </a:t>
            </a:r>
          </a:p>
          <a:p>
            <a:pPr marL="800100" lvl="1" indent="-342900">
              <a:buFont typeface="Arial" panose="020B0604020202020204" pitchFamily="34" charset="0"/>
              <a:buChar char="•"/>
            </a:pPr>
            <a:r>
              <a:rPr lang="en-US" sz="2400" dirty="0"/>
              <a:t>human to decide </a:t>
            </a:r>
          </a:p>
          <a:p>
            <a:pPr marL="800100" lvl="1" indent="-342900">
              <a:buFont typeface="Arial" panose="020B0604020202020204" pitchFamily="34" charset="0"/>
              <a:buChar char="•"/>
            </a:pPr>
            <a:r>
              <a:rPr lang="en-US" sz="2400" dirty="0"/>
              <a:t>a single perfectly reliable arbiter</a:t>
            </a:r>
          </a:p>
          <a:p>
            <a:endParaRPr lang="en-US" sz="1400" dirty="0"/>
          </a:p>
          <a:p>
            <a:r>
              <a:rPr lang="en-US" sz="2800" b="1" dirty="0"/>
              <a:t>But all three are single points of failure — can we do better?</a:t>
            </a:r>
          </a:p>
        </p:txBody>
      </p:sp>
    </p:spTree>
    <p:extLst>
      <p:ext uri="{BB962C8B-B14F-4D97-AF65-F5344CB8AC3E}">
        <p14:creationId xmlns:p14="http://schemas.microsoft.com/office/powerpoint/2010/main" val="24648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dissolv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dissolve">
                                      <p:cBhvr>
                                        <p:cTn id="12" dur="500"/>
                                        <p:tgtEl>
                                          <p:spTgt spid="2">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dissolve">
                                      <p:cBhvr>
                                        <p:cTn id="15" dur="500"/>
                                        <p:tgtEl>
                                          <p:spTgt spid="2">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dissolve">
                                      <p:cBhvr>
                                        <p:cTn id="18" dur="500"/>
                                        <p:tgtEl>
                                          <p:spTgt spid="2">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Effect transition="in" filter="dissolve">
                                      <p:cBhvr>
                                        <p:cTn id="21" dur="500"/>
                                        <p:tgtEl>
                                          <p:spTgt spid="2">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
                                            <p:txEl>
                                              <p:pRg st="9" end="9"/>
                                            </p:txEl>
                                          </p:spTgt>
                                        </p:tgtEl>
                                        <p:attrNameLst>
                                          <p:attrName>style.visibility</p:attrName>
                                        </p:attrNameLst>
                                      </p:cBhvr>
                                      <p:to>
                                        <p:strVal val="visible"/>
                                      </p:to>
                                    </p:set>
                                    <p:animEffect transition="in" filter="dissolve">
                                      <p:cBhvr>
                                        <p:cTn id="26"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99FF0-DDB1-D532-B333-48D124AB55A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6C31585-53EE-1123-09F0-F796046949D7}"/>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Consensus Protocols</a:t>
            </a:r>
          </a:p>
        </p:txBody>
      </p:sp>
      <p:sp>
        <p:nvSpPr>
          <p:cNvPr id="8" name="Slide Number Placeholder 4">
            <a:extLst>
              <a:ext uri="{FF2B5EF4-FFF2-40B4-BE49-F238E27FC236}">
                <a16:creationId xmlns:a16="http://schemas.microsoft.com/office/drawing/2014/main" id="{347CFF81-DAF9-845C-71DA-EF1644D15CC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8</a:t>
            </a:fld>
            <a:endParaRPr lang="en-US"/>
          </a:p>
        </p:txBody>
      </p:sp>
      <p:sp>
        <p:nvSpPr>
          <p:cNvPr id="2" name="TextBox 1">
            <a:extLst>
              <a:ext uri="{FF2B5EF4-FFF2-40B4-BE49-F238E27FC236}">
                <a16:creationId xmlns:a16="http://schemas.microsoft.com/office/drawing/2014/main" id="{14E4CA9A-93A2-27F8-63D3-19D7400077E7}"/>
              </a:ext>
            </a:extLst>
          </p:cNvPr>
          <p:cNvSpPr txBox="1"/>
          <p:nvPr/>
        </p:nvSpPr>
        <p:spPr>
          <a:xfrm>
            <a:off x="86062" y="914401"/>
            <a:ext cx="11443854" cy="4400000"/>
          </a:xfrm>
          <a:prstGeom prst="rect">
            <a:avLst/>
          </a:prstGeom>
          <a:noFill/>
        </p:spPr>
        <p:txBody>
          <a:bodyPr wrap="square" rtlCol="0">
            <a:spAutoFit/>
          </a:bodyPr>
          <a:lstStyle/>
          <a:p>
            <a:r>
              <a:rPr lang="en-US" sz="2800" b="1" dirty="0"/>
              <a:t>Require only a majority of nodes to be up at any time in order to make progress. </a:t>
            </a:r>
          </a:p>
          <a:p>
            <a:endParaRPr lang="en-US" sz="2800" dirty="0"/>
          </a:p>
          <a:p>
            <a:r>
              <a:rPr lang="en-US" sz="2800" b="1" dirty="0"/>
              <a:t>Two papers, both around 1990:</a:t>
            </a:r>
          </a:p>
          <a:p>
            <a:pPr marL="914400" lvl="1" indent="-457200">
              <a:buFont typeface="Arial" panose="020B0604020202020204" pitchFamily="34" charset="0"/>
              <a:buChar char="•"/>
            </a:pPr>
            <a:r>
              <a:rPr lang="en-US" sz="2800" dirty="0"/>
              <a:t>Paxos — Leslie Lamport</a:t>
            </a:r>
          </a:p>
          <a:p>
            <a:pPr marL="914400" lvl="1" indent="-457200">
              <a:buFont typeface="Arial" panose="020B0604020202020204" pitchFamily="34" charset="0"/>
              <a:buChar char="•"/>
            </a:pPr>
            <a:r>
              <a:rPr lang="en-US" sz="2800" dirty="0"/>
              <a:t>Viewstamped Replication — Liskov &amp; Oki</a:t>
            </a:r>
          </a:p>
          <a:p>
            <a:endParaRPr lang="en-US" sz="2800" dirty="0"/>
          </a:p>
          <a:p>
            <a:r>
              <a:rPr lang="en-US" sz="2800" b="1" dirty="0"/>
              <a:t>Raft: the same guarantees, designed to be understandable</a:t>
            </a:r>
          </a:p>
          <a:p>
            <a:pPr marL="914400" lvl="1" indent="-457200">
              <a:buFont typeface="Arial" panose="020B0604020202020204" pitchFamily="34" charset="0"/>
              <a:buChar char="•"/>
            </a:pPr>
            <a:r>
              <a:rPr lang="en-US" sz="2800" dirty="0"/>
              <a:t>Splits into leader election, log replication, and safety</a:t>
            </a:r>
          </a:p>
          <a:p>
            <a:pPr marL="914400" lvl="1" indent="-457200">
              <a:buFont typeface="Arial" panose="020B0604020202020204" pitchFamily="34" charset="0"/>
              <a:buChar char="•"/>
            </a:pPr>
            <a:r>
              <a:rPr lang="en-US" sz="2800" dirty="0"/>
              <a:t>As capable as multi-Paxos — you can just learn it</a:t>
            </a:r>
          </a:p>
        </p:txBody>
      </p:sp>
      <p:pic>
        <p:nvPicPr>
          <p:cNvPr id="4" name="Picture 3" descr="A close-up of a pink text&#10;&#10;Description automatically generated">
            <a:extLst>
              <a:ext uri="{FF2B5EF4-FFF2-40B4-BE49-F238E27FC236}">
                <a16:creationId xmlns:a16="http://schemas.microsoft.com/office/drawing/2014/main" id="{65F29A61-1F1E-A1AB-E061-64F41C4864B9}"/>
              </a:ext>
            </a:extLst>
          </p:cNvPr>
          <p:cNvPicPr>
            <a:picLocks noChangeAspect="1"/>
          </p:cNvPicPr>
          <p:nvPr/>
        </p:nvPicPr>
        <p:blipFill>
          <a:blip r:embed="rId3"/>
          <a:stretch>
            <a:fillRect/>
          </a:stretch>
        </p:blipFill>
        <p:spPr>
          <a:xfrm>
            <a:off x="10225957" y="2684116"/>
            <a:ext cx="1339492" cy="1339492"/>
          </a:xfrm>
          <a:prstGeom prst="rect">
            <a:avLst/>
          </a:prstGeom>
        </p:spPr>
      </p:pic>
      <p:pic>
        <p:nvPicPr>
          <p:cNvPr id="6" name="Graphic 5">
            <a:extLst>
              <a:ext uri="{FF2B5EF4-FFF2-40B4-BE49-F238E27FC236}">
                <a16:creationId xmlns:a16="http://schemas.microsoft.com/office/drawing/2014/main" id="{39DCDA4B-ECAE-B40D-E152-07157C0B98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75067" y="3933993"/>
            <a:ext cx="2604919" cy="2604919"/>
          </a:xfrm>
          <a:prstGeom prst="rect">
            <a:avLst/>
          </a:prstGeom>
        </p:spPr>
      </p:pic>
    </p:spTree>
    <p:extLst>
      <p:ext uri="{BB962C8B-B14F-4D97-AF65-F5344CB8AC3E}">
        <p14:creationId xmlns:p14="http://schemas.microsoft.com/office/powerpoint/2010/main" val="77584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dissolve">
                                      <p:cBhvr>
                                        <p:cTn id="7" dur="500"/>
                                        <p:tgtEl>
                                          <p:spTgt spid="2">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dissolve">
                                      <p:cBhvr>
                                        <p:cTn id="10" dur="500"/>
                                        <p:tgtEl>
                                          <p:spTgt spid="2">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dissolve">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dissolve">
                                      <p:cBhvr>
                                        <p:cTn id="18" dur="500"/>
                                        <p:tgtEl>
                                          <p:spTgt spid="2">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Effect transition="in" filter="dissolve">
                                      <p:cBhvr>
                                        <p:cTn id="21" dur="500"/>
                                        <p:tgtEl>
                                          <p:spTgt spid="2">
                                            <p:txEl>
                                              <p:pRg st="7" end="7"/>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2">
                                            <p:txEl>
                                              <p:pRg st="8" end="8"/>
                                            </p:txEl>
                                          </p:spTgt>
                                        </p:tgtEl>
                                        <p:attrNameLst>
                                          <p:attrName>style.visibility</p:attrName>
                                        </p:attrNameLst>
                                      </p:cBhvr>
                                      <p:to>
                                        <p:strVal val="visible"/>
                                      </p:to>
                                    </p:set>
                                    <p:animEffect transition="in" filter="dissolve">
                                      <p:cBhvr>
                                        <p:cTn id="24"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49EE2B-A381-6356-6A86-FED71F6C47E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6C9F22F-6F99-E5F2-A145-690AF864B19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Where Consensus Came From</a:t>
            </a:r>
          </a:p>
        </p:txBody>
      </p:sp>
      <p:sp>
        <p:nvSpPr>
          <p:cNvPr id="8" name="Slide Number Placeholder 4">
            <a:extLst>
              <a:ext uri="{FF2B5EF4-FFF2-40B4-BE49-F238E27FC236}">
                <a16:creationId xmlns:a16="http://schemas.microsoft.com/office/drawing/2014/main" id="{3148BC6E-F18A-451D-AA84-2062BE9F30F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9</a:t>
            </a:fld>
            <a:endParaRPr lang="en-US"/>
          </a:p>
        </p:txBody>
      </p:sp>
      <p:sp>
        <p:nvSpPr>
          <p:cNvPr id="5" name="TextBox 4">
            <a:extLst>
              <a:ext uri="{FF2B5EF4-FFF2-40B4-BE49-F238E27FC236}">
                <a16:creationId xmlns:a16="http://schemas.microsoft.com/office/drawing/2014/main" id="{153AB667-99DD-AADA-6E41-57D6990A17E5}"/>
              </a:ext>
            </a:extLst>
          </p:cNvPr>
          <p:cNvSpPr txBox="1"/>
          <p:nvPr/>
        </p:nvSpPr>
        <p:spPr>
          <a:xfrm>
            <a:off x="366764" y="1050052"/>
            <a:ext cx="7913077" cy="4462760"/>
          </a:xfrm>
          <a:prstGeom prst="rect">
            <a:avLst/>
          </a:prstGeom>
          <a:noFill/>
        </p:spPr>
        <p:txBody>
          <a:bodyPr wrap="square">
            <a:spAutoFit/>
          </a:bodyPr>
          <a:lstStyle/>
          <a:p>
            <a:r>
              <a:rPr lang="en-US" sz="2800" b="1" dirty="0"/>
              <a:t>Two partition-tolerant schemes, both around 1990</a:t>
            </a:r>
          </a:p>
          <a:p>
            <a:pPr marL="285750" indent="-285750">
              <a:buFont typeface="Arial" panose="020B0604020202020204" pitchFamily="34" charset="0"/>
              <a:buChar char="•"/>
            </a:pPr>
            <a:r>
              <a:rPr lang="en-US" sz="2400" dirty="0"/>
              <a:t>Viewstamped Replication - Liskov &amp; Oki</a:t>
            </a:r>
          </a:p>
          <a:p>
            <a:pPr marL="285750" indent="-285750">
              <a:buFont typeface="Arial" panose="020B0604020202020204" pitchFamily="34" charset="0"/>
              <a:buChar char="•"/>
            </a:pPr>
            <a:r>
              <a:rPr lang="en-US" sz="2400" dirty="0"/>
              <a:t>Paxos - Leslie Lamport, “The Part-Time Parliament”</a:t>
            </a:r>
          </a:p>
          <a:p>
            <a:endParaRPr lang="en-US" sz="1600" dirty="0"/>
          </a:p>
          <a:p>
            <a:r>
              <a:rPr lang="en-US" sz="2800" b="1" dirty="0"/>
              <a:t>Submitted 1990, published 1998 - the first draft was famously hard to read</a:t>
            </a:r>
          </a:p>
          <a:p>
            <a:pPr marL="285750" indent="-285750">
              <a:buFont typeface="Arial" panose="020B0604020202020204" pitchFamily="34" charset="0"/>
              <a:buChar char="•"/>
            </a:pPr>
            <a:r>
              <a:rPr lang="en-US" sz="2400" dirty="0"/>
              <a:t>Lamport later rewrote it as “Paxos Made Simple”; SIGOPS Hall of Fame 2012, Turing Award 2013</a:t>
            </a:r>
          </a:p>
          <a:p>
            <a:pPr marL="285750" indent="-285750">
              <a:buFont typeface="Arial" panose="020B0604020202020204" pitchFamily="34" charset="0"/>
              <a:buChar char="•"/>
            </a:pPr>
            <a:r>
              <a:rPr lang="en-US" sz="2400" dirty="0"/>
              <a:t>He is also behind LaTeX, Byzantine fault tolerance, and TLA+</a:t>
            </a:r>
          </a:p>
          <a:p>
            <a:endParaRPr lang="en-US" sz="1600" dirty="0"/>
          </a:p>
          <a:p>
            <a:r>
              <a:rPr lang="en-US" sz="2800" b="1" dirty="0"/>
              <a:t>The theory sat mostly unused for a decade</a:t>
            </a:r>
          </a:p>
          <a:p>
            <a:pPr marL="285750" indent="-285750">
              <a:buFont typeface="Arial" panose="020B0604020202020204" pitchFamily="34" charset="0"/>
              <a:buChar char="•"/>
            </a:pPr>
            <a:r>
              <a:rPr lang="en-US" sz="2400" dirty="0"/>
              <a:t>Widespread production use only arrived in the last fifteen years or so</a:t>
            </a:r>
          </a:p>
        </p:txBody>
      </p:sp>
      <p:pic>
        <p:nvPicPr>
          <p:cNvPr id="9" name="Picture 8">
            <a:extLst>
              <a:ext uri="{FF2B5EF4-FFF2-40B4-BE49-F238E27FC236}">
                <a16:creationId xmlns:a16="http://schemas.microsoft.com/office/drawing/2014/main" id="{0C149E7F-7DCF-6F9F-462F-75B6F0F7068B}"/>
              </a:ext>
            </a:extLst>
          </p:cNvPr>
          <p:cNvPicPr>
            <a:picLocks noChangeAspect="1"/>
          </p:cNvPicPr>
          <p:nvPr/>
        </p:nvPicPr>
        <p:blipFill>
          <a:blip r:embed="rId3"/>
          <a:stretch>
            <a:fillRect/>
          </a:stretch>
        </p:blipFill>
        <p:spPr>
          <a:xfrm>
            <a:off x="8292194" y="2019718"/>
            <a:ext cx="2892424" cy="3679929"/>
          </a:xfrm>
          <a:prstGeom prst="rect">
            <a:avLst/>
          </a:prstGeom>
        </p:spPr>
      </p:pic>
    </p:spTree>
    <p:extLst>
      <p:ext uri="{BB962C8B-B14F-4D97-AF65-F5344CB8AC3E}">
        <p14:creationId xmlns:p14="http://schemas.microsoft.com/office/powerpoint/2010/main" val="1754632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C2F7FB-7C0E-F011-E9A8-02C3681B354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9F68EFD-489C-2AF8-D724-8BAB7DE3200F}"/>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Raft</a:t>
            </a:r>
          </a:p>
        </p:txBody>
      </p:sp>
      <p:sp>
        <p:nvSpPr>
          <p:cNvPr id="8" name="Slide Number Placeholder 4">
            <a:extLst>
              <a:ext uri="{FF2B5EF4-FFF2-40B4-BE49-F238E27FC236}">
                <a16:creationId xmlns:a16="http://schemas.microsoft.com/office/drawing/2014/main" id="{C3D8DEA6-F42B-152B-4085-E8512B090638}"/>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10</a:t>
            </a:fld>
            <a:endParaRPr lang="en-US"/>
          </a:p>
        </p:txBody>
      </p:sp>
      <p:pic>
        <p:nvPicPr>
          <p:cNvPr id="2" name="Picture 1">
            <a:extLst>
              <a:ext uri="{FF2B5EF4-FFF2-40B4-BE49-F238E27FC236}">
                <a16:creationId xmlns:a16="http://schemas.microsoft.com/office/drawing/2014/main" id="{B7D6EA28-2727-A279-69BA-F6C21844B59C}"/>
              </a:ext>
            </a:extLst>
          </p:cNvPr>
          <p:cNvPicPr>
            <a:picLocks noChangeAspect="1"/>
          </p:cNvPicPr>
          <p:nvPr/>
        </p:nvPicPr>
        <p:blipFill>
          <a:blip r:embed="rId3"/>
          <a:stretch>
            <a:fillRect/>
          </a:stretch>
        </p:blipFill>
        <p:spPr>
          <a:xfrm>
            <a:off x="2209799" y="1449388"/>
            <a:ext cx="7772400" cy="2185987"/>
          </a:xfrm>
          <a:prstGeom prst="rect">
            <a:avLst/>
          </a:prstGeom>
        </p:spPr>
      </p:pic>
      <p:pic>
        <p:nvPicPr>
          <p:cNvPr id="3" name="Picture 2">
            <a:extLst>
              <a:ext uri="{FF2B5EF4-FFF2-40B4-BE49-F238E27FC236}">
                <a16:creationId xmlns:a16="http://schemas.microsoft.com/office/drawing/2014/main" id="{C39743FC-43FB-6F41-838E-679365F6B8DA}"/>
              </a:ext>
            </a:extLst>
          </p:cNvPr>
          <p:cNvPicPr>
            <a:picLocks noChangeAspect="1"/>
          </p:cNvPicPr>
          <p:nvPr/>
        </p:nvPicPr>
        <p:blipFill>
          <a:blip r:embed="rId4"/>
          <a:stretch>
            <a:fillRect/>
          </a:stretch>
        </p:blipFill>
        <p:spPr>
          <a:xfrm>
            <a:off x="1989574" y="3875812"/>
            <a:ext cx="7992625" cy="834692"/>
          </a:xfrm>
          <a:prstGeom prst="rect">
            <a:avLst/>
          </a:prstGeom>
        </p:spPr>
      </p:pic>
    </p:spTree>
    <p:extLst>
      <p:ext uri="{BB962C8B-B14F-4D97-AF65-F5344CB8AC3E}">
        <p14:creationId xmlns:p14="http://schemas.microsoft.com/office/powerpoint/2010/main" val="526966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DDA-DAAE-4AA1-96C9-8C4BD2ADB5A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D98607-09B9-2E87-08EA-45C5C21C97B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Majority Vote</a:t>
            </a:r>
          </a:p>
        </p:txBody>
      </p:sp>
      <p:sp>
        <p:nvSpPr>
          <p:cNvPr id="8" name="Slide Number Placeholder 4">
            <a:extLst>
              <a:ext uri="{FF2B5EF4-FFF2-40B4-BE49-F238E27FC236}">
                <a16:creationId xmlns:a16="http://schemas.microsoft.com/office/drawing/2014/main" id="{CB3C051F-CA88-79F3-A501-F305062BA8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11</a:t>
            </a:fld>
            <a:endParaRPr lang="en-US"/>
          </a:p>
        </p:txBody>
      </p:sp>
      <p:sp>
        <p:nvSpPr>
          <p:cNvPr id="200" name="TextBox 200"/>
          <p:cNvSpPr txBox="1"/>
          <p:nvPr/>
        </p:nvSpPr>
        <p:spPr>
          <a:xfrm>
            <a:off x="300000" y="1000000"/>
            <a:ext cx="11500000" cy="950000"/>
          </a:xfrm>
          <a:prstGeom prst="rect">
            <a:avLst/>
          </a:prstGeom>
          <a:noFill/>
        </p:spPr>
        <p:txBody>
          <a:bodyPr wrap="square" rtlCol="0"/>
          <a:lstStyle/>
          <a:p>
            <a:r>
              <a:rPr lang="en-US" sz="2800" b="1" dirty="0"/>
              <a:t>An important decision needs approval from a majority of all servers</a:t>
            </a:r>
          </a:p>
          <a:p>
            <a:pPr marL="800100" lvl="1" indent="-342900">
              <a:buFont typeface="Arial" panose="020B0604020202020204" pitchFamily="34" charset="0"/>
              <a:buChar char="•"/>
            </a:pPr>
            <a:r>
              <a:rPr lang="en-US" sz="2400" dirty="0"/>
              <a:t>use an odd number — two equal halves look alike and would both proceed</a:t>
            </a:r>
          </a:p>
        </p:txBody>
      </p:sp>
      <p:sp>
        <p:nvSpPr>
          <p:cNvPr id="201" name="d201"/>
          <p:cNvSpPr/>
          <p:nvPr/>
        </p:nvSpPr>
        <p:spPr>
          <a:xfrm>
            <a:off x="1921000" y="2200000"/>
            <a:ext cx="14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S1</a:t>
            </a:r>
          </a:p>
        </p:txBody>
      </p:sp>
      <p:sp>
        <p:nvSpPr>
          <p:cNvPr id="202" name="d202"/>
          <p:cNvSpPr/>
          <p:nvPr/>
        </p:nvSpPr>
        <p:spPr>
          <a:xfrm>
            <a:off x="3471000" y="2200000"/>
            <a:ext cx="14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S2</a:t>
            </a:r>
          </a:p>
        </p:txBody>
      </p:sp>
      <p:sp>
        <p:nvSpPr>
          <p:cNvPr id="203" name="d203"/>
          <p:cNvSpPr/>
          <p:nvPr/>
        </p:nvSpPr>
        <p:spPr>
          <a:xfrm>
            <a:off x="5021000" y="2200000"/>
            <a:ext cx="14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S3</a:t>
            </a:r>
          </a:p>
        </p:txBody>
      </p:sp>
      <p:sp>
        <p:nvSpPr>
          <p:cNvPr id="204" name="d204"/>
          <p:cNvSpPr/>
          <p:nvPr/>
        </p:nvSpPr>
        <p:spPr>
          <a:xfrm>
            <a:off x="7321000" y="2200000"/>
            <a:ext cx="14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S4</a:t>
            </a:r>
          </a:p>
        </p:txBody>
      </p:sp>
      <p:sp>
        <p:nvSpPr>
          <p:cNvPr id="205" name="d205"/>
          <p:cNvSpPr/>
          <p:nvPr/>
        </p:nvSpPr>
        <p:spPr>
          <a:xfrm>
            <a:off x="8871000" y="2200000"/>
            <a:ext cx="14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S5</a:t>
            </a:r>
          </a:p>
        </p:txBody>
      </p:sp>
      <p:sp>
        <p:nvSpPr>
          <p:cNvPr id="206" name="v206"/>
          <p:cNvSpPr/>
          <p:nvPr/>
        </p:nvSpPr>
        <p:spPr>
          <a:xfrm>
            <a:off x="6871000" y="1950000"/>
            <a:ext cx="0" cy="1500000"/>
          </a:xfrm>
          <a:prstGeom prst="line">
            <a:avLst/>
          </a:prstGeom>
          <a:ln w="28575">
            <a:solidFill>
              <a:srgbClr val="A02B93"/>
            </a:solidFill>
            <a:prstDash val="dash"/>
          </a:ln>
        </p:spPr>
        <p:txBody>
          <a:bodyPr/>
          <a:lstStyle/>
          <a:p/>
        </p:txBody>
      </p:sp>
      <p:sp>
        <p:nvSpPr>
          <p:cNvPr id="207" name="t207"/>
          <p:cNvSpPr txBox="1"/>
          <p:nvPr/>
        </p:nvSpPr>
        <p:spPr>
          <a:xfrm>
            <a:off x="6121000" y="3520000"/>
            <a:ext cx="1500000" cy="340000"/>
          </a:xfrm>
          <a:prstGeom prst="rect">
            <a:avLst/>
          </a:prstGeom>
          <a:noFill/>
        </p:spPr>
        <p:txBody>
          <a:bodyPr wrap="square" lIns="0" tIns="0" rIns="0" bIns="0" anchor="ctr"/>
          <a:lstStyle/>
          <a:p>
            <a:pPr algn="ctr"/>
            <a:r>
              <a:rPr lang="en-US" sz="1500" b="0" i="1" dirty="0">
                <a:solidFill>
                  <a:srgbClr val="A02B93"/>
                </a:solidFill>
                <a:latin typeface="Aptos"/>
              </a:rPr>
              <a:t>partition</a:t>
            </a:r>
          </a:p>
        </p:txBody>
      </p:sp>
      <p:sp>
        <p:nvSpPr>
          <p:cNvPr id="208" name="t208"/>
          <p:cNvSpPr txBox="1"/>
          <p:nvPr/>
        </p:nvSpPr>
        <p:spPr>
          <a:xfrm>
            <a:off x="1921000" y="3080000"/>
            <a:ext cx="4500000" cy="360000"/>
          </a:xfrm>
          <a:prstGeom prst="rect">
            <a:avLst/>
          </a:prstGeom>
          <a:noFill/>
        </p:spPr>
        <p:txBody>
          <a:bodyPr wrap="square" lIns="0" tIns="0" rIns="0" bIns="0" anchor="ctr"/>
          <a:lstStyle/>
          <a:p>
            <a:pPr algn="ctr"/>
            <a:r>
              <a:rPr lang="en-US" sz="1600" b="1" i="0" dirty="0">
                <a:solidFill>
                  <a:srgbClr val="0E2841"/>
                </a:solidFill>
                <a:latin typeface="Aptos"/>
              </a:rPr>
              <a:t>3 of 5 — a majority, can act</a:t>
            </a:r>
          </a:p>
        </p:txBody>
      </p:sp>
      <p:sp>
        <p:nvSpPr>
          <p:cNvPr id="209" name="t209"/>
          <p:cNvSpPr txBox="1"/>
          <p:nvPr/>
        </p:nvSpPr>
        <p:spPr>
          <a:xfrm>
            <a:off x="7321000" y="3080000"/>
            <a:ext cx="2950000" cy="360000"/>
          </a:xfrm>
          <a:prstGeom prst="rect">
            <a:avLst/>
          </a:prstGeom>
          <a:noFill/>
        </p:spPr>
        <p:txBody>
          <a:bodyPr wrap="square" lIns="0" tIns="0" rIns="0" bIns="0" anchor="ctr"/>
          <a:lstStyle/>
          <a:p>
            <a:pPr algn="ctr"/>
            <a:r>
              <a:rPr lang="en-US" sz="1600" b="0" i="0" dirty="0">
                <a:solidFill>
                  <a:srgbClr val="5B6573"/>
                </a:solidFill>
                <a:latin typeface="Aptos"/>
              </a:rPr>
              <a:t>2 of 5 — never a majority</a:t>
            </a:r>
          </a:p>
        </p:txBody>
      </p:sp>
      <p:sp>
        <p:nvSpPr>
          <p:cNvPr id="210" name="b210"/>
          <p:cNvSpPr txBox="1"/>
          <p:nvPr/>
        </p:nvSpPr>
        <p:spPr>
          <a:xfrm>
            <a:off x="300000" y="4150000"/>
            <a:ext cx="11500000" cy="720000"/>
          </a:xfrm>
          <a:prstGeom prst="rect">
            <a:avLst/>
          </a:prstGeom>
          <a:noFill/>
        </p:spPr>
        <p:txBody>
          <a:bodyPr wrap="square" lIns="0" tIns="0" rIns="0" bIns="0" anchor="t"/>
          <a:lstStyle/>
          <a:p>
            <a:pPr algn="l"/>
            <a:r>
              <a:rPr lang="en-US" sz="2400" b="1" dirty="0">
                <a:solidFill>
                  <a:srgbClr val="0E2841"/>
                </a:solidFill>
                <a:latin typeface="Aptos"/>
              </a:rPr>
              <a:t>At most one side can hold a majority</a:t>
            </a:r>
          </a:p>
          <a:p>
            <a:pPr algn="l"/>
            <a:r>
              <a:rPr lang="en-US" sz="2000" dirty="0">
                <a:solidFill>
                  <a:srgbClr val="5B6573"/>
                </a:solidFill>
                <a:latin typeface="Aptos"/>
              </a:rPr>
              <a:t>so only one side can ever act — split brain ruled out by counting</a:t>
            </a:r>
          </a:p>
        </p:txBody>
      </p:sp>
      <p:sp>
        <p:nvSpPr>
          <p:cNvPr id="211" name="b211"/>
          <p:cNvSpPr txBox="1"/>
          <p:nvPr/>
        </p:nvSpPr>
        <p:spPr>
          <a:xfrm>
            <a:off x="300000" y="5120000"/>
            <a:ext cx="11500000" cy="720000"/>
          </a:xfrm>
          <a:prstGeom prst="rect">
            <a:avLst/>
          </a:prstGeom>
          <a:noFill/>
        </p:spPr>
        <p:txBody>
          <a:bodyPr wrap="square" lIns="0" tIns="0" rIns="0" bIns="0" anchor="t"/>
          <a:lstStyle/>
          <a:p>
            <a:pPr algn="l"/>
            <a:r>
              <a:rPr lang="en-US" sz="2400" b="1" dirty="0">
                <a:solidFill>
                  <a:srgbClr val="0E2841"/>
                </a:solidFill>
                <a:latin typeface="Aptos"/>
              </a:rPr>
              <a:t>The denominator is every server, not the live ones</a:t>
            </a:r>
          </a:p>
          <a:p>
            <a:pPr algn="l"/>
            <a:r>
              <a:rPr lang="en-US" sz="2000" dirty="0">
                <a:solidFill>
                  <a:srgbClr val="5B6573"/>
                </a:solidFill>
                <a:latin typeface="Aptos"/>
              </a:rPr>
              <a:t>three servers still need two votes even when you know one is dead</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210"/>
                                        </p:tgtEl>
                                        <p:attrNameLst>
                                          <p:attrName>style.visibility</p:attrName>
                                        </p:attrNameLst>
                                      </p:cBhvr>
                                      <p:to>
                                        <p:strVal val="visible"/>
                                      </p:to>
                                    </p:set>
                                    <p:animEffect transition="in" filter="dissolve">
                                      <p:cBhvr>
                                        <p:cTn id="5" dur="500"/>
                                        <p:tgtEl>
                                          <p:spTgt spid="210"/>
                                        </p:tgtEl>
                                      </p:cBhvr>
                                    </p:animEffect>
                                  </p:childTnLst>
                                </p:cTn>
                              </p:par>
                            </p:childTnLst>
                          </p:cTn>
                        </p:par>
                      </p:childTnLst>
                    </p:cTn>
                  </p:par>
                  <p:par>
                    <p:cTn id="11" fill="hold">
                      <p:stCondLst>
                        <p:cond delay="indefinite"/>
                      </p:stCondLst>
                      <p:childTnLst>
                        <p:par>
                          <p:cTn id="12" fill="hold">
                            <p:stCondLst>
                              <p:cond delay="0"/>
                            </p:stCondLst>
                            <p:childTnLst>
                              <p:par>
                                <p:cTn id="8" presetID="9" presetClass="entr" presetSubtype="0" fill="hold" nodeType="clickEffect">
                                  <p:stCondLst>
                                    <p:cond delay="0"/>
                                  </p:stCondLst>
                                  <p:childTnLst>
                                    <p:set>
                                      <p:cBhvr>
                                        <p:cTn id="9" dur="1" fill="hold">
                                          <p:stCondLst>
                                            <p:cond delay="0"/>
                                          </p:stCondLst>
                                        </p:cTn>
                                        <p:tgtEl>
                                          <p:spTgt spid="211"/>
                                        </p:tgtEl>
                                        <p:attrNameLst>
                                          <p:attrName>style.visibility</p:attrName>
                                        </p:attrNameLst>
                                      </p:cBhvr>
                                      <p:to>
                                        <p:strVal val="visible"/>
                                      </p:to>
                                    </p:set>
                                    <p:animEffect transition="in" filter="dissolve">
                                      <p:cBhvr>
                                        <p:cTn id="10"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FDDA-DAAE-4AA1-96C9-8C4BD2ADB5A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6D98607-09B9-2E87-08EA-45C5C21C97B9}"/>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Any Two Majorities Overlap</a:t>
            </a:r>
          </a:p>
        </p:txBody>
      </p:sp>
      <p:sp>
        <p:nvSpPr>
          <p:cNvPr id="8" name="Slide Number Placeholder 4">
            <a:extLst>
              <a:ext uri="{FF2B5EF4-FFF2-40B4-BE49-F238E27FC236}">
                <a16:creationId xmlns:a16="http://schemas.microsoft.com/office/drawing/2014/main" id="{CB3C051F-CA88-79F3-A501-F305062BA8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12</a:t>
            </a:fld>
            <a:endParaRPr lang="en-US"/>
          </a:p>
        </p:txBody>
      </p:sp>
      <p:sp>
        <p:nvSpPr>
          <p:cNvPr id="300" name="TextBox 300"/>
          <p:cNvSpPr txBox="1"/>
          <p:nvPr/>
        </p:nvSpPr>
        <p:spPr>
          <a:xfrm>
            <a:off x="300000" y="1000000"/>
            <a:ext cx="11500000" cy="950000"/>
          </a:xfrm>
          <a:prstGeom prst="rect">
            <a:avLst/>
          </a:prstGeom>
          <a:noFill/>
        </p:spPr>
        <p:txBody>
          <a:bodyPr wrap="square" rtlCol="0"/>
          <a:lstStyle/>
          <a:p>
            <a:r>
              <a:rPr lang="en-US" sz="2800" b="1" dirty="0"/>
              <a:t>Any two majorities must share at least one server</a:t>
            </a:r>
          </a:p>
          <a:p>
            <a:pPr marL="800100" lvl="1" indent="-342900">
              <a:buFont typeface="Arial" panose="020B0604020202020204" pitchFamily="34" charset="0"/>
              <a:buChar char="•"/>
            </a:pPr>
            <a:r>
              <a:rPr lang="en-US" sz="2400" dirty="0"/>
              <a:t>3 + 3 &gt; 5 — two majorities cannot be disjoint</a:t>
            </a:r>
          </a:p>
        </p:txBody>
      </p:sp>
      <p:sp>
        <p:nvSpPr>
          <p:cNvPr id="301" name="t301"/>
          <p:cNvSpPr txBox="1"/>
          <p:nvPr/>
        </p:nvSpPr>
        <p:spPr>
          <a:xfrm>
            <a:off x="1946000" y="1960000"/>
            <a:ext cx="4900000" cy="300000"/>
          </a:xfrm>
          <a:prstGeom prst="rect">
            <a:avLst/>
          </a:prstGeom>
          <a:noFill/>
        </p:spPr>
        <p:txBody>
          <a:bodyPr wrap="square" lIns="0" tIns="0" rIns="0" bIns="0" anchor="ctr"/>
          <a:lstStyle/>
          <a:p>
            <a:pPr algn="ctr"/>
            <a:r>
              <a:rPr lang="en-US" sz="1500" b="1" i="0" dirty="0">
                <a:solidFill>
                  <a:srgbClr val="0E2841"/>
                </a:solidFill>
                <a:latin typeface="Aptos"/>
              </a:rPr>
              <a:t>majority that elected the term-5 leader</a:t>
            </a:r>
          </a:p>
        </p:txBody>
      </p:sp>
      <p:sp>
        <p:nvSpPr>
          <p:cNvPr id="302" name="d302"/>
          <p:cNvSpPr/>
          <p:nvPr/>
        </p:nvSpPr>
        <p:spPr>
          <a:xfrm>
            <a:off x="1946000" y="2300000"/>
            <a:ext cx="4900000" cy="300000"/>
          </a:xfrm>
          <a:prstGeom prst="roundRect">
            <a:avLst/>
          </a:prstGeom>
          <a:solidFill>
            <a:srgbClr val="0E2841"/>
          </a:solidFill>
          <a:ln w="19050">
            <a:solidFill>
              <a:srgbClr val="0E2841"/>
            </a:solidFill>
          </a:ln>
        </p:spPr>
        <p:txBody>
          <a:bodyPr wrap="square" lIns="27432" tIns="27432" rIns="27432" bIns="27432" anchor="ctr"/>
          <a:lstStyle/>
          <a:p>
            <a:pPr algn="ctr"/>
            <a:r>
              <a:rPr lang="en-US" sz="1200" b="1" dirty="0">
                <a:solidFill>
                  <a:srgbClr val="0E2841"/>
                </a:solidFill>
                <a:latin typeface="Aptos"/>
              </a:rPr>
              <a:t/>
            </a:r>
          </a:p>
        </p:txBody>
      </p:sp>
      <p:sp>
        <p:nvSpPr>
          <p:cNvPr id="303" name="d303"/>
          <p:cNvSpPr/>
          <p:nvPr/>
        </p:nvSpPr>
        <p:spPr>
          <a:xfrm>
            <a:off x="1946000" y="270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S1</a:t>
            </a:r>
          </a:p>
        </p:txBody>
      </p:sp>
      <p:sp>
        <p:nvSpPr>
          <p:cNvPr id="304" name="d304"/>
          <p:cNvSpPr/>
          <p:nvPr/>
        </p:nvSpPr>
        <p:spPr>
          <a:xfrm>
            <a:off x="3646000" y="270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S2</a:t>
            </a:r>
          </a:p>
        </p:txBody>
      </p:sp>
      <p:sp>
        <p:nvSpPr>
          <p:cNvPr id="305" name="d305"/>
          <p:cNvSpPr/>
          <p:nvPr/>
        </p:nvSpPr>
        <p:spPr>
          <a:xfrm>
            <a:off x="5346000" y="270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S3</a:t>
            </a:r>
          </a:p>
        </p:txBody>
      </p:sp>
      <p:sp>
        <p:nvSpPr>
          <p:cNvPr id="306" name="d306"/>
          <p:cNvSpPr/>
          <p:nvPr/>
        </p:nvSpPr>
        <p:spPr>
          <a:xfrm>
            <a:off x="7046000" y="270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S4</a:t>
            </a:r>
          </a:p>
        </p:txBody>
      </p:sp>
      <p:sp>
        <p:nvSpPr>
          <p:cNvPr id="307" name="d307"/>
          <p:cNvSpPr/>
          <p:nvPr/>
        </p:nvSpPr>
        <p:spPr>
          <a:xfrm>
            <a:off x="8746000" y="2700000"/>
            <a:ext cx="1500000" cy="800000"/>
          </a:xfrm>
          <a:prstGeom prst="rect">
            <a:avLst/>
          </a:prstGeom>
          <a:solidFill>
            <a:srgbClr val="E8F0F5"/>
          </a:solidFill>
          <a:ln w="19050">
            <a:solidFill>
              <a:srgbClr val="0E2841"/>
            </a:solidFill>
          </a:ln>
        </p:spPr>
        <p:txBody>
          <a:bodyPr wrap="square" lIns="27432" tIns="27432" rIns="27432" bIns="27432" anchor="ctr"/>
          <a:lstStyle/>
          <a:p>
            <a:pPr algn="ctr"/>
            <a:r>
              <a:rPr lang="en-US" sz="2400" b="1" dirty="0">
                <a:solidFill>
                  <a:srgbClr val="0E2841"/>
                </a:solidFill>
                <a:latin typeface="Aptos"/>
              </a:rPr>
              <a:t>S5</a:t>
            </a:r>
          </a:p>
        </p:txBody>
      </p:sp>
      <p:sp>
        <p:nvSpPr>
          <p:cNvPr id="308" name="d308"/>
          <p:cNvSpPr/>
          <p:nvPr/>
        </p:nvSpPr>
        <p:spPr>
          <a:xfrm>
            <a:off x="5346000" y="3840000"/>
            <a:ext cx="4900000" cy="300000"/>
          </a:xfrm>
          <a:prstGeom prst="roundRect">
            <a:avLst/>
          </a:prstGeom>
          <a:solidFill>
            <a:srgbClr val="A02B93"/>
          </a:solidFill>
          <a:ln w="19050">
            <a:solidFill>
              <a:srgbClr val="A02B93"/>
            </a:solidFill>
          </a:ln>
        </p:spPr>
        <p:txBody>
          <a:bodyPr wrap="square" lIns="27432" tIns="27432" rIns="27432" bIns="27432" anchor="ctr"/>
          <a:lstStyle/>
          <a:p>
            <a:pPr algn="ctr"/>
            <a:r>
              <a:rPr lang="en-US" sz="1200" b="1" dirty="0">
                <a:solidFill>
                  <a:srgbClr val="A02B93"/>
                </a:solidFill>
                <a:latin typeface="Aptos"/>
              </a:rPr>
              <a:t/>
            </a:r>
          </a:p>
        </p:txBody>
      </p:sp>
      <p:sp>
        <p:nvSpPr>
          <p:cNvPr id="309" name="t309"/>
          <p:cNvSpPr txBox="1"/>
          <p:nvPr/>
        </p:nvSpPr>
        <p:spPr>
          <a:xfrm>
            <a:off x="5346000" y="4180000"/>
            <a:ext cx="4900000" cy="300000"/>
          </a:xfrm>
          <a:prstGeom prst="rect">
            <a:avLst/>
          </a:prstGeom>
          <a:noFill/>
        </p:spPr>
        <p:txBody>
          <a:bodyPr wrap="square" lIns="0" tIns="0" rIns="0" bIns="0" anchor="ctr"/>
          <a:lstStyle/>
          <a:p>
            <a:pPr algn="ctr"/>
            <a:r>
              <a:rPr lang="en-US" sz="1500" b="1" i="0" dirty="0">
                <a:solidFill>
                  <a:srgbClr val="A02B93"/>
                </a:solidFill>
                <a:latin typeface="Aptos"/>
              </a:rPr>
              <a:t>majority that elects the term-6 leader</a:t>
            </a:r>
          </a:p>
        </p:txBody>
      </p:sp>
      <p:sp>
        <p:nvSpPr>
          <p:cNvPr id="310" name="d310"/>
          <p:cNvSpPr/>
          <p:nvPr/>
        </p:nvSpPr>
        <p:spPr>
          <a:xfrm>
            <a:off x="5346000" y="2700000"/>
            <a:ext cx="1500000" cy="800000"/>
          </a:xfrm>
          <a:prstGeom prst="rect">
            <a:avLst/>
          </a:prstGeom>
          <a:solidFill>
            <a:srgbClr val="F7E8F5"/>
          </a:solidFill>
          <a:ln w="19050">
            <a:solidFill>
              <a:srgbClr val="A02B93"/>
            </a:solidFill>
          </a:ln>
        </p:spPr>
        <p:txBody>
          <a:bodyPr wrap="square" lIns="27432" tIns="27432" rIns="27432" bIns="27432" anchor="ctr"/>
          <a:lstStyle/>
          <a:p>
            <a:pPr algn="ctr"/>
            <a:r>
              <a:rPr lang="en-US" sz="2400" b="1" dirty="0">
                <a:solidFill>
                  <a:srgbClr val="A02B93"/>
                </a:solidFill>
                <a:latin typeface="Aptos"/>
              </a:rPr>
              <a:t>S3</a:t>
            </a:r>
          </a:p>
        </p:txBody>
      </p:sp>
      <p:sp>
        <p:nvSpPr>
          <p:cNvPr id="311" name="t311"/>
          <p:cNvSpPr txBox="1"/>
          <p:nvPr/>
        </p:nvSpPr>
        <p:spPr>
          <a:xfrm>
            <a:off x="4996000" y="3520000"/>
            <a:ext cx="2200000" cy="260000"/>
          </a:xfrm>
          <a:prstGeom prst="rect">
            <a:avLst/>
          </a:prstGeom>
          <a:noFill/>
        </p:spPr>
        <p:txBody>
          <a:bodyPr wrap="square" lIns="0" tIns="0" rIns="0" bIns="0" anchor="ctr"/>
          <a:lstStyle/>
          <a:p>
            <a:pPr algn="ctr"/>
            <a:r>
              <a:rPr lang="en-US" sz="1400" b="0" i="1" dirty="0">
                <a:solidFill>
                  <a:srgbClr val="A02B93"/>
                </a:solidFill>
                <a:latin typeface="Aptos"/>
              </a:rPr>
              <a:t>in both majorities</a:t>
            </a:r>
          </a:p>
        </p:txBody>
      </p:sp>
      <p:sp>
        <p:nvSpPr>
          <p:cNvPr id="312" name="b312"/>
          <p:cNvSpPr txBox="1"/>
          <p:nvPr/>
        </p:nvSpPr>
        <p:spPr>
          <a:xfrm>
            <a:off x="300000" y="4620000"/>
            <a:ext cx="11500000" cy="720000"/>
          </a:xfrm>
          <a:prstGeom prst="rect">
            <a:avLst/>
          </a:prstGeom>
          <a:noFill/>
        </p:spPr>
        <p:txBody>
          <a:bodyPr wrap="square" lIns="0" tIns="0" rIns="0" bIns="0" anchor="t"/>
          <a:lstStyle/>
          <a:p>
            <a:pPr algn="l"/>
            <a:r>
              <a:rPr lang="en-US" sz="2400" b="1" dirty="0">
                <a:solidFill>
                  <a:srgbClr val="0E2841"/>
                </a:solidFill>
                <a:latin typeface="Aptos"/>
              </a:rPr>
              <a:t>Terms can never go backwards</a:t>
            </a:r>
          </a:p>
          <a:p>
            <a:pPr algn="l"/>
            <a:r>
              <a:rPr lang="en-US" sz="2000" dirty="0">
                <a:solidFill>
                  <a:srgbClr val="5B6573"/>
                </a:solidFill>
                <a:latin typeface="Aptos"/>
              </a:rPr>
              <a:t>the shared server knows the term-5 leader’s term, so the next leader starts higher</a:t>
            </a:r>
          </a:p>
        </p:txBody>
      </p:sp>
      <p:sp>
        <p:nvSpPr>
          <p:cNvPr id="313" name="b313"/>
          <p:cNvSpPr txBox="1"/>
          <p:nvPr/>
        </p:nvSpPr>
        <p:spPr>
          <a:xfrm>
            <a:off x="300000" y="5420000"/>
            <a:ext cx="11500000" cy="720000"/>
          </a:xfrm>
          <a:prstGeom prst="rect">
            <a:avLst/>
          </a:prstGeom>
          <a:noFill/>
        </p:spPr>
        <p:txBody>
          <a:bodyPr wrap="square" lIns="0" tIns="0" rIns="0" bIns="0" anchor="t"/>
          <a:lstStyle/>
          <a:p>
            <a:pPr algn="l"/>
            <a:r>
              <a:rPr lang="en-US" sz="2400" b="1" dirty="0">
                <a:solidFill>
                  <a:srgbClr val="0E2841"/>
                </a:solidFill>
                <a:latin typeface="Aptos"/>
              </a:rPr>
              <a:t>Nothing committed can be lost</a:t>
            </a:r>
          </a:p>
          <a:p>
            <a:pPr algn="l"/>
            <a:r>
              <a:rPr lang="en-US" sz="2000" dirty="0">
                <a:solidFill>
                  <a:srgbClr val="5B6573"/>
                </a:solidFill>
                <a:latin typeface="Aptos"/>
              </a:rPr>
              <a:t>the shared server holds every entry the term-5 leader committed</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308"/>
                                        </p:tgtEl>
                                        <p:attrNameLst>
                                          <p:attrName>style.visibility</p:attrName>
                                        </p:attrNameLst>
                                      </p:cBhvr>
                                      <p:to>
                                        <p:strVal val="visible"/>
                                      </p:to>
                                    </p:set>
                                    <p:animEffect transition="in" filter="dissolve">
                                      <p:cBhvr>
                                        <p:cTn id="5" dur="500"/>
                                        <p:tgtEl>
                                          <p:spTgt spid="308"/>
                                        </p:tgtEl>
                                      </p:cBhvr>
                                    </p:animEffect>
                                  </p:childTnLst>
                                </p:cTn>
                              </p:par>
                              <p:par>
                                <p:cTn id="6" presetID="9" presetClass="entr" presetSubtype="0" fill="hold" nodeType="withEffect">
                                  <p:stCondLst>
                                    <p:cond delay="0"/>
                                  </p:stCondLst>
                                  <p:childTnLst>
                                    <p:set>
                                      <p:cBhvr>
                                        <p:cTn id="7" dur="1" fill="hold">
                                          <p:stCondLst>
                                            <p:cond delay="0"/>
                                          </p:stCondLst>
                                        </p:cTn>
                                        <p:tgtEl>
                                          <p:spTgt spid="309"/>
                                        </p:tgtEl>
                                        <p:attrNameLst>
                                          <p:attrName>style.visibility</p:attrName>
                                        </p:attrNameLst>
                                      </p:cBhvr>
                                      <p:to>
                                        <p:strVal val="visible"/>
                                      </p:to>
                                    </p:set>
                                    <p:animEffect transition="in" filter="dissolve">
                                      <p:cBhvr>
                                        <p:cTn id="8" dur="500"/>
                                        <p:tgtEl>
                                          <p:spTgt spid="309"/>
                                        </p:tgtEl>
                                      </p:cBhvr>
                                    </p:animEffect>
                                  </p:childTnLst>
                                </p:cTn>
                              </p:par>
                            </p:childTnLst>
                          </p:cTn>
                        </p:par>
                      </p:childTnLst>
                    </p:cTn>
                  </p:par>
                  <p:par>
                    <p:cTn id="17" fill="hold">
                      <p:stCondLst>
                        <p:cond delay="indefinite"/>
                      </p:stCondLst>
                      <p:childTnLst>
                        <p:par>
                          <p:cTn id="18"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10"/>
                                        </p:tgtEl>
                                        <p:attrNameLst>
                                          <p:attrName>style.visibility</p:attrName>
                                        </p:attrNameLst>
                                      </p:cBhvr>
                                      <p:to>
                                        <p:strVal val="visible"/>
                                      </p:to>
                                    </p:set>
                                    <p:animEffect transition="in" filter="dissolve">
                                      <p:cBhvr>
                                        <p:cTn id="13" dur="500"/>
                                        <p:tgtEl>
                                          <p:spTgt spid="310"/>
                                        </p:tgtEl>
                                      </p:cBhvr>
                                    </p:animEffect>
                                  </p:childTnLst>
                                </p:cTn>
                              </p:par>
                              <p:par>
                                <p:cTn id="14" presetID="9" presetClass="entr" presetSubtype="0" fill="hold" nodeType="withEffect">
                                  <p:stCondLst>
                                    <p:cond delay="0"/>
                                  </p:stCondLst>
                                  <p:childTnLst>
                                    <p:set>
                                      <p:cBhvr>
                                        <p:cTn id="15" dur="1" fill="hold">
                                          <p:stCondLst>
                                            <p:cond delay="0"/>
                                          </p:stCondLst>
                                        </p:cTn>
                                        <p:tgtEl>
                                          <p:spTgt spid="311"/>
                                        </p:tgtEl>
                                        <p:attrNameLst>
                                          <p:attrName>style.visibility</p:attrName>
                                        </p:attrNameLst>
                                      </p:cBhvr>
                                      <p:to>
                                        <p:strVal val="visible"/>
                                      </p:to>
                                    </p:set>
                                    <p:animEffect transition="in" filter="dissolve">
                                      <p:cBhvr>
                                        <p:cTn id="16" dur="500"/>
                                        <p:tgtEl>
                                          <p:spTgt spid="311"/>
                                        </p:tgtEl>
                                      </p:cBhvr>
                                    </p:animEffect>
                                  </p:childTnLst>
                                </p:cTn>
                              </p:par>
                            </p:childTnLst>
                          </p:cTn>
                        </p:par>
                      </p:childTnLst>
                    </p:cTn>
                  </p:par>
                  <p:par>
                    <p:cTn id="22" fill="hold">
                      <p:stCondLst>
                        <p:cond delay="indefinite"/>
                      </p:stCondLst>
                      <p:childTnLst>
                        <p:par>
                          <p:cTn id="23"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12"/>
                                        </p:tgtEl>
                                        <p:attrNameLst>
                                          <p:attrName>style.visibility</p:attrName>
                                        </p:attrNameLst>
                                      </p:cBhvr>
                                      <p:to>
                                        <p:strVal val="visible"/>
                                      </p:to>
                                    </p:set>
                                    <p:animEffect transition="in" filter="dissolve">
                                      <p:cBhvr>
                                        <p:cTn id="21" dur="500"/>
                                        <p:tgtEl>
                                          <p:spTgt spid="312"/>
                                        </p:tgtEl>
                                      </p:cBhvr>
                                    </p:animEffect>
                                  </p:childTnLst>
                                </p:cTn>
                              </p:par>
                            </p:childTnLst>
                          </p:cTn>
                        </p:par>
                      </p:childTnLst>
                    </p:cTn>
                  </p:par>
                  <p:par>
                    <p:cTn id="27" fill="hold">
                      <p:stCondLst>
                        <p:cond delay="indefinite"/>
                      </p:stCondLst>
                      <p:childTnLst>
                        <p:par>
                          <p:cTn id="28"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13"/>
                                        </p:tgtEl>
                                        <p:attrNameLst>
                                          <p:attrName>style.visibility</p:attrName>
                                        </p:attrNameLst>
                                      </p:cBhvr>
                                      <p:to>
                                        <p:strVal val="visible"/>
                                      </p:to>
                                    </p:set>
                                    <p:animEffect transition="in" filter="dissolve">
                                      <p:cBhvr>
                                        <p:cTn id="26"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24F19-E3E0-2A01-2908-AA305BC5235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824674D-F274-E28F-89E4-D25B1DD8B24D}"/>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Raft Overview</a:t>
            </a:r>
          </a:p>
        </p:txBody>
      </p:sp>
      <p:sp>
        <p:nvSpPr>
          <p:cNvPr id="8" name="Slide Number Placeholder 4">
            <a:extLst>
              <a:ext uri="{FF2B5EF4-FFF2-40B4-BE49-F238E27FC236}">
                <a16:creationId xmlns:a16="http://schemas.microsoft.com/office/drawing/2014/main" id="{53AEEAC9-025C-224A-F892-8E2BAAC57634}"/>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13</a:t>
            </a:fld>
            <a:endParaRPr lang="en-US"/>
          </a:p>
        </p:txBody>
      </p:sp>
      <p:pic>
        <p:nvPicPr>
          <p:cNvPr id="2" name="object 4">
            <a:extLst>
              <a:ext uri="{FF2B5EF4-FFF2-40B4-BE49-F238E27FC236}">
                <a16:creationId xmlns:a16="http://schemas.microsoft.com/office/drawing/2014/main" id="{975E0D53-965A-E229-62E8-C650607B42CC}"/>
              </a:ext>
            </a:extLst>
          </p:cNvPr>
          <p:cNvPicPr>
            <a:picLocks noChangeAspect="1"/>
          </p:cNvPicPr>
          <p:nvPr/>
        </p:nvPicPr>
        <p:blipFill>
          <a:blip r:embed="rId3" cstate="print"/>
          <a:stretch>
            <a:fillRect/>
          </a:stretch>
        </p:blipFill>
        <p:spPr>
          <a:xfrm>
            <a:off x="2846399" y="1452008"/>
            <a:ext cx="6499202" cy="2373409"/>
          </a:xfrm>
          <a:prstGeom prst="rect">
            <a:avLst/>
          </a:prstGeom>
        </p:spPr>
      </p:pic>
      <p:sp>
        <p:nvSpPr>
          <p:cNvPr id="4" name="TextBox 3">
            <a:extLst>
              <a:ext uri="{FF2B5EF4-FFF2-40B4-BE49-F238E27FC236}">
                <a16:creationId xmlns:a16="http://schemas.microsoft.com/office/drawing/2014/main" id="{D9383062-E727-D13E-F26B-9591ACA00B18}"/>
              </a:ext>
            </a:extLst>
          </p:cNvPr>
          <p:cNvSpPr txBox="1"/>
          <p:nvPr/>
        </p:nvSpPr>
        <p:spPr>
          <a:xfrm>
            <a:off x="443752" y="4213720"/>
            <a:ext cx="8549640" cy="1754326"/>
          </a:xfrm>
          <a:prstGeom prst="rect">
            <a:avLst/>
          </a:prstGeom>
          <a:noFill/>
        </p:spPr>
        <p:txBody>
          <a:bodyPr wrap="square">
            <a:spAutoFit/>
          </a:bodyPr>
          <a:lstStyle/>
          <a:p>
            <a:r>
              <a:rPr lang="en-US" sz="2800" b="1" dirty="0"/>
              <a:t>Replicated log =&gt; replicated state machine </a:t>
            </a:r>
          </a:p>
          <a:p>
            <a:pPr marL="800100" lvl="1" indent="-342900">
              <a:buFont typeface="Arial" panose="020B0604020202020204" pitchFamily="34" charset="0"/>
              <a:buChar char="•"/>
            </a:pPr>
            <a:r>
              <a:rPr lang="en-US" sz="2400" dirty="0"/>
              <a:t>All servers execute same commands in same order </a:t>
            </a:r>
          </a:p>
          <a:p>
            <a:endParaRPr lang="en-US" sz="2800" b="1" dirty="0"/>
          </a:p>
          <a:p>
            <a:r>
              <a:rPr lang="en-US" sz="2800" b="1" dirty="0"/>
              <a:t>Consensus module ensures proper log replication</a:t>
            </a:r>
          </a:p>
        </p:txBody>
      </p:sp>
    </p:spTree>
    <p:extLst>
      <p:ext uri="{BB962C8B-B14F-4D97-AF65-F5344CB8AC3E}">
        <p14:creationId xmlns:p14="http://schemas.microsoft.com/office/powerpoint/2010/main" val="3304664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182BC-E0C6-DEDE-6C12-6DE06C412B2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99888BF-27EC-A31A-74AC-37F97586CED7}"/>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Normal Operation</a:t>
            </a:r>
          </a:p>
        </p:txBody>
      </p:sp>
      <p:sp>
        <p:nvSpPr>
          <p:cNvPr id="8" name="Slide Number Placeholder 4">
            <a:extLst>
              <a:ext uri="{FF2B5EF4-FFF2-40B4-BE49-F238E27FC236}">
                <a16:creationId xmlns:a16="http://schemas.microsoft.com/office/drawing/2014/main" id="{156EA56B-15EB-4EE0-8E20-878A1985794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14</a:t>
            </a:fld>
            <a:endParaRPr lang="en-US"/>
          </a:p>
        </p:txBody>
      </p:sp>
      <p:sp>
        <p:nvSpPr>
          <p:cNvPr id="400" name="d400"/>
          <p:cNvSpPr/>
          <p:nvPr/>
        </p:nvSpPr>
        <p:spPr>
          <a:xfrm>
            <a:off x="500000" y="1000000"/>
            <a:ext cx="1700000" cy="500000"/>
          </a:xfrm>
          <a:prstGeom prst="rect">
            <a:avLst/>
          </a:prstGeom>
          <a:solidFill>
            <a:srgbClr val="E8F0F5"/>
          </a:solidFill>
          <a:ln w="19050">
            <a:solidFill>
              <a:srgbClr val="0E2841"/>
            </a:solidFill>
          </a:ln>
        </p:spPr>
        <p:txBody>
          <a:bodyPr wrap="square" lIns="27432" tIns="13716" rIns="27432" bIns="13716" anchor="ctr"/>
          <a:lstStyle/>
          <a:p>
            <a:pPr algn="ctr"/>
            <a:r>
              <a:rPr lang="en-US" sz="1800" b="1" dirty="0">
                <a:solidFill>
                  <a:srgbClr val="0E2841"/>
                </a:solidFill>
                <a:latin typeface="Aptos"/>
              </a:rPr>
              <a:t>Client</a:t>
            </a:r>
          </a:p>
        </p:txBody>
      </p:sp>
      <p:sp>
        <p:nvSpPr>
          <p:cNvPr id="401" name="d401"/>
          <p:cNvSpPr/>
          <p:nvPr/>
        </p:nvSpPr>
        <p:spPr>
          <a:xfrm>
            <a:off x="3400000" y="1000000"/>
            <a:ext cx="1700000" cy="500000"/>
          </a:xfrm>
          <a:prstGeom prst="rect">
            <a:avLst/>
          </a:prstGeom>
          <a:solidFill>
            <a:srgbClr val="F7E8F5"/>
          </a:solidFill>
          <a:ln w="19050">
            <a:solidFill>
              <a:srgbClr val="A02B93"/>
            </a:solidFill>
          </a:ln>
        </p:spPr>
        <p:txBody>
          <a:bodyPr wrap="square" lIns="27432" tIns="13716" rIns="27432" bIns="13716" anchor="ctr"/>
          <a:lstStyle/>
          <a:p>
            <a:pPr algn="ctr"/>
            <a:r>
              <a:rPr lang="en-US" sz="1800" b="1" dirty="0">
                <a:solidFill>
                  <a:srgbClr val="A02B93"/>
                </a:solidFill>
                <a:latin typeface="Aptos"/>
              </a:rPr>
              <a:t>S1  leader</a:t>
            </a:r>
          </a:p>
        </p:txBody>
      </p:sp>
      <p:sp>
        <p:nvSpPr>
          <p:cNvPr id="402" name="d402"/>
          <p:cNvSpPr/>
          <p:nvPr/>
        </p:nvSpPr>
        <p:spPr>
          <a:xfrm>
            <a:off x="6600000" y="1000000"/>
            <a:ext cx="1700000" cy="500000"/>
          </a:xfrm>
          <a:prstGeom prst="rect">
            <a:avLst/>
          </a:prstGeom>
          <a:solidFill>
            <a:srgbClr val="E8F0F5"/>
          </a:solidFill>
          <a:ln w="19050">
            <a:solidFill>
              <a:srgbClr val="0E2841"/>
            </a:solidFill>
          </a:ln>
        </p:spPr>
        <p:txBody>
          <a:bodyPr wrap="square" lIns="27432" tIns="13716" rIns="27432" bIns="13716" anchor="ctr"/>
          <a:lstStyle/>
          <a:p>
            <a:pPr algn="ctr"/>
            <a:r>
              <a:rPr lang="en-US" sz="1800" b="1" dirty="0">
                <a:solidFill>
                  <a:srgbClr val="0E2841"/>
                </a:solidFill>
                <a:latin typeface="Aptos"/>
              </a:rPr>
              <a:t>S2</a:t>
            </a:r>
          </a:p>
        </p:txBody>
      </p:sp>
      <p:sp>
        <p:nvSpPr>
          <p:cNvPr id="403" name="d403"/>
          <p:cNvSpPr/>
          <p:nvPr/>
        </p:nvSpPr>
        <p:spPr>
          <a:xfrm>
            <a:off x="9300000" y="1000000"/>
            <a:ext cx="1700000" cy="500000"/>
          </a:xfrm>
          <a:prstGeom prst="rect">
            <a:avLst/>
          </a:prstGeom>
          <a:solidFill>
            <a:srgbClr val="E8F0F5"/>
          </a:solidFill>
          <a:ln w="19050">
            <a:solidFill>
              <a:srgbClr val="0E2841"/>
            </a:solidFill>
          </a:ln>
        </p:spPr>
        <p:txBody>
          <a:bodyPr wrap="square" lIns="27432" tIns="13716" rIns="27432" bIns="13716" anchor="ctr"/>
          <a:lstStyle/>
          <a:p>
            <a:pPr algn="ctr"/>
            <a:r>
              <a:rPr lang="en-US" sz="1800" b="1" dirty="0">
                <a:solidFill>
                  <a:srgbClr val="0E2841"/>
                </a:solidFill>
                <a:latin typeface="Aptos"/>
              </a:rPr>
              <a:t>S3</a:t>
            </a:r>
          </a:p>
        </p:txBody>
      </p:sp>
      <p:sp>
        <p:nvSpPr>
          <p:cNvPr id="404" name="l404"/>
          <p:cNvSpPr/>
          <p:nvPr/>
        </p:nvSpPr>
        <p:spPr>
          <a:xfrm>
            <a:off x="1350000" y="1590000"/>
            <a:ext cx="0" cy="3590000"/>
          </a:xfrm>
          <a:prstGeom prst="line">
            <a:avLst/>
          </a:prstGeom>
          <a:ln w="12700">
            <a:solidFill>
              <a:srgbClr val="5B6573"/>
            </a:solidFill>
            <a:prstDash val="sysDash"/>
          </a:ln>
        </p:spPr>
        <p:txBody>
          <a:bodyPr/>
          <a:lstStyle/>
          <a:p/>
        </p:txBody>
      </p:sp>
      <p:sp>
        <p:nvSpPr>
          <p:cNvPr id="405" name="l405"/>
          <p:cNvSpPr/>
          <p:nvPr/>
        </p:nvSpPr>
        <p:spPr>
          <a:xfrm>
            <a:off x="4250000" y="1590000"/>
            <a:ext cx="0" cy="3590000"/>
          </a:xfrm>
          <a:prstGeom prst="line">
            <a:avLst/>
          </a:prstGeom>
          <a:ln w="12700">
            <a:solidFill>
              <a:srgbClr val="5B6573"/>
            </a:solidFill>
            <a:prstDash val="sysDash"/>
          </a:ln>
        </p:spPr>
        <p:txBody>
          <a:bodyPr/>
          <a:lstStyle/>
          <a:p/>
        </p:txBody>
      </p:sp>
      <p:sp>
        <p:nvSpPr>
          <p:cNvPr id="406" name="l406"/>
          <p:cNvSpPr/>
          <p:nvPr/>
        </p:nvSpPr>
        <p:spPr>
          <a:xfrm>
            <a:off x="7450000" y="1590000"/>
            <a:ext cx="0" cy="3590000"/>
          </a:xfrm>
          <a:prstGeom prst="line">
            <a:avLst/>
          </a:prstGeom>
          <a:ln w="12700">
            <a:solidFill>
              <a:srgbClr val="5B6573"/>
            </a:solidFill>
            <a:prstDash val="sysDash"/>
          </a:ln>
        </p:spPr>
        <p:txBody>
          <a:bodyPr/>
          <a:lstStyle/>
          <a:p/>
        </p:txBody>
      </p:sp>
      <p:sp>
        <p:nvSpPr>
          <p:cNvPr id="407" name="l407"/>
          <p:cNvSpPr/>
          <p:nvPr/>
        </p:nvSpPr>
        <p:spPr>
          <a:xfrm>
            <a:off x="10150000" y="1590000"/>
            <a:ext cx="0" cy="3590000"/>
          </a:xfrm>
          <a:prstGeom prst="line">
            <a:avLst/>
          </a:prstGeom>
          <a:ln w="12700">
            <a:solidFill>
              <a:srgbClr val="5B6573"/>
            </a:solidFill>
            <a:prstDash val="sysDash"/>
          </a:ln>
        </p:spPr>
        <p:txBody>
          <a:bodyPr/>
          <a:lstStyle/>
          <a:p/>
        </p:txBody>
      </p:sp>
      <p:sp>
        <p:nvSpPr>
          <p:cNvPr id="408" name="a408"/>
          <p:cNvSpPr/>
          <p:nvPr/>
        </p:nvSpPr>
        <p:spPr>
          <a:xfrm>
            <a:off x="1350000" y="1830000"/>
            <a:ext cx="2900000" cy="0"/>
          </a:xfrm>
          <a:prstGeom prst="line">
            <a:avLst/>
          </a:prstGeom>
          <a:ln w="19050">
            <a:solidFill>
              <a:srgbClr val="0E2841"/>
            </a:solidFill>
            <a:tailEnd type="triangle"/>
          </a:ln>
        </p:spPr>
        <p:txBody>
          <a:bodyPr/>
          <a:lstStyle/>
          <a:p/>
        </p:txBody>
      </p:sp>
      <p:sp>
        <p:nvSpPr>
          <p:cNvPr id="409" name="t409"/>
          <p:cNvSpPr txBox="1"/>
          <p:nvPr/>
        </p:nvSpPr>
        <p:spPr>
          <a:xfrm>
            <a:off x="1350000" y="1580000"/>
            <a:ext cx="2900000" cy="240000"/>
          </a:xfrm>
          <a:prstGeom prst="rect">
            <a:avLst/>
          </a:prstGeom>
          <a:noFill/>
        </p:spPr>
        <p:txBody>
          <a:bodyPr wrap="square" lIns="0" tIns="0" rIns="0" bIns="0" anchor="ctr"/>
          <a:lstStyle/>
          <a:p>
            <a:pPr algn="ctr"/>
            <a:r>
              <a:rPr lang="en-US" sz="1400" b="0" i="0" dirty="0">
                <a:solidFill>
                  <a:srgbClr val="0E2841"/>
                </a:solidFill>
                <a:latin typeface="Aptos"/>
              </a:rPr>
              <a:t>Put(x, 3)</a:t>
            </a:r>
          </a:p>
        </p:txBody>
      </p:sp>
      <p:sp>
        <p:nvSpPr>
          <p:cNvPr id="410" name="d410"/>
          <p:cNvSpPr/>
          <p:nvPr/>
        </p:nvSpPr>
        <p:spPr>
          <a:xfrm>
            <a:off x="2800000" y="1980000"/>
            <a:ext cx="2900000" cy="420000"/>
          </a:xfrm>
          <a:prstGeom prst="rect">
            <a:avLst/>
          </a:prstGeom>
          <a:solidFill>
            <a:srgbClr val="F7E8F5"/>
          </a:solidFill>
          <a:ln w="19050">
            <a:solidFill>
              <a:srgbClr val="A02B93"/>
            </a:solidFill>
          </a:ln>
        </p:spPr>
        <p:txBody>
          <a:bodyPr wrap="square" lIns="27432" tIns="13716" rIns="27432" bIns="13716" anchor="ctr"/>
          <a:lstStyle/>
          <a:p>
            <a:pPr algn="ctr"/>
            <a:r>
              <a:rPr lang="en-US" sz="1300" b="0" dirty="0">
                <a:solidFill>
                  <a:srgbClr val="0E2841"/>
                </a:solidFill>
                <a:latin typeface="Aptos"/>
              </a:rPr>
              <a:t>append to own log, persist</a:t>
            </a:r>
          </a:p>
        </p:txBody>
      </p:sp>
      <p:sp>
        <p:nvSpPr>
          <p:cNvPr id="411" name="a411"/>
          <p:cNvSpPr/>
          <p:nvPr/>
        </p:nvSpPr>
        <p:spPr>
          <a:xfrm>
            <a:off x="4250000" y="2620000"/>
            <a:ext cx="3200000" cy="0"/>
          </a:xfrm>
          <a:prstGeom prst="line">
            <a:avLst/>
          </a:prstGeom>
          <a:ln w="19050">
            <a:solidFill>
              <a:srgbClr val="0E2841"/>
            </a:solidFill>
            <a:tailEnd type="triangle"/>
          </a:ln>
        </p:spPr>
        <p:txBody>
          <a:bodyPr/>
          <a:lstStyle/>
          <a:p/>
        </p:txBody>
      </p:sp>
      <p:sp>
        <p:nvSpPr>
          <p:cNvPr id="412" name="a412"/>
          <p:cNvSpPr/>
          <p:nvPr/>
        </p:nvSpPr>
        <p:spPr>
          <a:xfrm>
            <a:off x="4250000" y="2620000"/>
            <a:ext cx="5900000" cy="0"/>
          </a:xfrm>
          <a:prstGeom prst="line">
            <a:avLst/>
          </a:prstGeom>
          <a:ln w="19050">
            <a:solidFill>
              <a:srgbClr val="0E2841"/>
            </a:solidFill>
            <a:tailEnd type="triangle"/>
          </a:ln>
        </p:spPr>
        <p:txBody>
          <a:bodyPr/>
          <a:lstStyle/>
          <a:p/>
        </p:txBody>
      </p:sp>
      <p:sp>
        <p:nvSpPr>
          <p:cNvPr id="413" name="t413"/>
          <p:cNvSpPr txBox="1"/>
          <p:nvPr/>
        </p:nvSpPr>
        <p:spPr>
          <a:xfrm>
            <a:off x="4250000" y="2370000"/>
            <a:ext cx="5900000" cy="240000"/>
          </a:xfrm>
          <a:prstGeom prst="rect">
            <a:avLst/>
          </a:prstGeom>
          <a:noFill/>
        </p:spPr>
        <p:txBody>
          <a:bodyPr wrap="square" lIns="0" tIns="0" rIns="0" bIns="0" anchor="ctr"/>
          <a:lstStyle/>
          <a:p>
            <a:pPr algn="ctr"/>
            <a:r>
              <a:rPr lang="en-US" sz="1400" b="0" i="0" dirty="0">
                <a:solidFill>
                  <a:srgbClr val="0E2841"/>
                </a:solidFill>
                <a:latin typeface="Aptos"/>
              </a:rPr>
              <a:t>AppendEntries</a:t>
            </a:r>
          </a:p>
        </p:txBody>
      </p:sp>
      <p:sp>
        <p:nvSpPr>
          <p:cNvPr id="414" name="a414"/>
          <p:cNvSpPr/>
          <p:nvPr/>
        </p:nvSpPr>
        <p:spPr>
          <a:xfrm>
            <a:off x="4250000" y="3080000"/>
            <a:ext cx="3200000" cy="0"/>
          </a:xfrm>
          <a:prstGeom prst="line">
            <a:avLst/>
          </a:prstGeom>
          <a:ln w="19050">
            <a:solidFill>
              <a:srgbClr val="0E2841"/>
            </a:solidFill>
            <a:headEnd type="triangle"/>
          </a:ln>
        </p:spPr>
        <p:txBody>
          <a:bodyPr/>
          <a:lstStyle/>
          <a:p/>
        </p:txBody>
      </p:sp>
      <p:sp>
        <p:nvSpPr>
          <p:cNvPr id="415" name="t415"/>
          <p:cNvSpPr txBox="1"/>
          <p:nvPr/>
        </p:nvSpPr>
        <p:spPr>
          <a:xfrm>
            <a:off x="4250000" y="2830000"/>
            <a:ext cx="3200000" cy="240000"/>
          </a:xfrm>
          <a:prstGeom prst="rect">
            <a:avLst/>
          </a:prstGeom>
          <a:noFill/>
        </p:spPr>
        <p:txBody>
          <a:bodyPr wrap="square" lIns="0" tIns="0" rIns="0" bIns="0" anchor="ctr"/>
          <a:lstStyle/>
          <a:p>
            <a:pPr algn="ctr"/>
            <a:r>
              <a:rPr lang="en-US" sz="1400" b="0" i="0" dirty="0">
                <a:solidFill>
                  <a:srgbClr val="0E2841"/>
                </a:solidFill>
                <a:latin typeface="Aptos"/>
              </a:rPr>
              <a:t>ok</a:t>
            </a:r>
          </a:p>
        </p:txBody>
      </p:sp>
      <p:sp>
        <p:nvSpPr>
          <p:cNvPr id="416" name="a416"/>
          <p:cNvSpPr/>
          <p:nvPr/>
        </p:nvSpPr>
        <p:spPr>
          <a:xfrm>
            <a:off x="4250000" y="3380000"/>
            <a:ext cx="5900000" cy="0"/>
          </a:xfrm>
          <a:prstGeom prst="line">
            <a:avLst/>
          </a:prstGeom>
          <a:ln w="19050">
            <a:solidFill>
              <a:srgbClr val="5B6573"/>
            </a:solidFill>
            <a:prstDash val="dash"/>
            <a:headEnd type="triangle"/>
          </a:ln>
        </p:spPr>
        <p:txBody>
          <a:bodyPr/>
          <a:lstStyle/>
          <a:p/>
        </p:txBody>
      </p:sp>
      <p:sp>
        <p:nvSpPr>
          <p:cNvPr id="417" name="t417"/>
          <p:cNvSpPr txBox="1"/>
          <p:nvPr/>
        </p:nvSpPr>
        <p:spPr>
          <a:xfrm>
            <a:off x="7450000" y="3140000"/>
            <a:ext cx="3600000" cy="240000"/>
          </a:xfrm>
          <a:prstGeom prst="rect">
            <a:avLst/>
          </a:prstGeom>
          <a:noFill/>
        </p:spPr>
        <p:txBody>
          <a:bodyPr wrap="square" lIns="0" tIns="0" rIns="0" bIns="0" anchor="ctr"/>
          <a:lstStyle/>
          <a:p>
            <a:pPr algn="ctr"/>
            <a:r>
              <a:rPr lang="en-US" sz="1300" b="0" i="1" dirty="0">
                <a:solidFill>
                  <a:srgbClr val="5B6573"/>
                </a:solidFill>
                <a:latin typeface="Aptos"/>
              </a:rPr>
              <a:t>slow, or down</a:t>
            </a:r>
          </a:p>
        </p:txBody>
      </p:sp>
      <p:sp>
        <p:nvSpPr>
          <p:cNvPr id="418" name="d418"/>
          <p:cNvSpPr/>
          <p:nvPr/>
        </p:nvSpPr>
        <p:spPr>
          <a:xfrm>
            <a:off x="2800000" y="3720000"/>
            <a:ext cx="2900000" cy="420000"/>
          </a:xfrm>
          <a:prstGeom prst="rect">
            <a:avLst/>
          </a:prstGeom>
          <a:solidFill>
            <a:srgbClr val="F7E8F5"/>
          </a:solidFill>
          <a:ln w="19050">
            <a:solidFill>
              <a:srgbClr val="A02B93"/>
            </a:solidFill>
          </a:ln>
        </p:spPr>
        <p:txBody>
          <a:bodyPr wrap="square" lIns="27432" tIns="13716" rIns="27432" bIns="13716" anchor="ctr"/>
          <a:lstStyle/>
          <a:p>
            <a:pPr algn="ctr"/>
            <a:r>
              <a:rPr lang="en-US" sz="1400" b="1" dirty="0">
                <a:solidFill>
                  <a:srgbClr val="A02B93"/>
                </a:solidFill>
                <a:latin typeface="Aptos"/>
              </a:rPr>
              <a:t>committed → apply</a:t>
            </a:r>
          </a:p>
        </p:txBody>
      </p:sp>
      <p:sp>
        <p:nvSpPr>
          <p:cNvPr id="419" name="a419"/>
          <p:cNvSpPr/>
          <p:nvPr/>
        </p:nvSpPr>
        <p:spPr>
          <a:xfrm>
            <a:off x="1350000" y="4280000"/>
            <a:ext cx="2900000" cy="0"/>
          </a:xfrm>
          <a:prstGeom prst="line">
            <a:avLst/>
          </a:prstGeom>
          <a:ln w="19050">
            <a:solidFill>
              <a:srgbClr val="0E2841"/>
            </a:solidFill>
            <a:headEnd type="triangle"/>
          </a:ln>
        </p:spPr>
        <p:txBody>
          <a:bodyPr/>
          <a:lstStyle/>
          <a:p/>
        </p:txBody>
      </p:sp>
      <p:sp>
        <p:nvSpPr>
          <p:cNvPr id="420" name="t420"/>
          <p:cNvSpPr txBox="1"/>
          <p:nvPr/>
        </p:nvSpPr>
        <p:spPr>
          <a:xfrm>
            <a:off x="1350000" y="4030000"/>
            <a:ext cx="2900000" cy="240000"/>
          </a:xfrm>
          <a:prstGeom prst="rect">
            <a:avLst/>
          </a:prstGeom>
          <a:noFill/>
        </p:spPr>
        <p:txBody>
          <a:bodyPr wrap="square" lIns="0" tIns="0" rIns="0" bIns="0" anchor="ctr"/>
          <a:lstStyle/>
          <a:p>
            <a:pPr algn="ctr"/>
            <a:r>
              <a:rPr lang="en-US" sz="1400" b="0" i="0" dirty="0">
                <a:solidFill>
                  <a:srgbClr val="0E2841"/>
                </a:solidFill>
                <a:latin typeface="Aptos"/>
              </a:rPr>
              <a:t>result</a:t>
            </a:r>
          </a:p>
        </p:txBody>
      </p:sp>
      <p:sp>
        <p:nvSpPr>
          <p:cNvPr id="421" name="a421"/>
          <p:cNvSpPr/>
          <p:nvPr/>
        </p:nvSpPr>
        <p:spPr>
          <a:xfrm>
            <a:off x="4250000" y="4700000"/>
            <a:ext cx="3200000" cy="0"/>
          </a:xfrm>
          <a:prstGeom prst="line">
            <a:avLst/>
          </a:prstGeom>
          <a:ln w="19050">
            <a:solidFill>
              <a:srgbClr val="A02B93"/>
            </a:solidFill>
            <a:tailEnd type="triangle"/>
          </a:ln>
        </p:spPr>
        <p:txBody>
          <a:bodyPr/>
          <a:lstStyle/>
          <a:p/>
        </p:txBody>
      </p:sp>
      <p:sp>
        <p:nvSpPr>
          <p:cNvPr id="422" name="a422"/>
          <p:cNvSpPr/>
          <p:nvPr/>
        </p:nvSpPr>
        <p:spPr>
          <a:xfrm>
            <a:off x="4250000" y="4700000"/>
            <a:ext cx="5900000" cy="0"/>
          </a:xfrm>
          <a:prstGeom prst="line">
            <a:avLst/>
          </a:prstGeom>
          <a:ln w="19050">
            <a:solidFill>
              <a:srgbClr val="A02B93"/>
            </a:solidFill>
            <a:tailEnd type="triangle"/>
          </a:ln>
        </p:spPr>
        <p:txBody>
          <a:bodyPr/>
          <a:lstStyle/>
          <a:p/>
        </p:txBody>
      </p:sp>
      <p:sp>
        <p:nvSpPr>
          <p:cNvPr id="423" name="t423"/>
          <p:cNvSpPr txBox="1"/>
          <p:nvPr/>
        </p:nvSpPr>
        <p:spPr>
          <a:xfrm>
            <a:off x="4250000" y="4450000"/>
            <a:ext cx="5900000" cy="240000"/>
          </a:xfrm>
          <a:prstGeom prst="rect">
            <a:avLst/>
          </a:prstGeom>
          <a:noFill/>
        </p:spPr>
        <p:txBody>
          <a:bodyPr wrap="square" lIns="0" tIns="0" rIns="0" bIns="0" anchor="ctr"/>
          <a:lstStyle/>
          <a:p>
            <a:pPr algn="ctr"/>
            <a:r>
              <a:rPr lang="en-US" sz="1300" b="0" i="0" dirty="0">
                <a:solidFill>
                  <a:srgbClr val="A02B93"/>
                </a:solidFill>
                <a:latin typeface="Aptos"/>
              </a:rPr>
              <a:t>next AppendEntries, now carrying commitIndex</a:t>
            </a:r>
          </a:p>
        </p:txBody>
      </p:sp>
      <p:sp>
        <p:nvSpPr>
          <p:cNvPr id="424" name="t424"/>
          <p:cNvSpPr txBox="1"/>
          <p:nvPr/>
        </p:nvSpPr>
        <p:spPr>
          <a:xfrm>
            <a:off x="6550000" y="4930000"/>
            <a:ext cx="1800000" cy="260000"/>
          </a:xfrm>
          <a:prstGeom prst="rect">
            <a:avLst/>
          </a:prstGeom>
          <a:noFill/>
        </p:spPr>
        <p:txBody>
          <a:bodyPr wrap="square" lIns="0" tIns="0" rIns="0" bIns="0" anchor="ctr"/>
          <a:lstStyle/>
          <a:p>
            <a:pPr algn="ctr"/>
            <a:r>
              <a:rPr lang="en-US" sz="1300" b="0" i="1" dirty="0">
                <a:solidFill>
                  <a:srgbClr val="A02B93"/>
                </a:solidFill>
                <a:latin typeface="Aptos"/>
              </a:rPr>
              <a:t>apply</a:t>
            </a:r>
          </a:p>
        </p:txBody>
      </p:sp>
      <p:sp>
        <p:nvSpPr>
          <p:cNvPr id="425" name="t425"/>
          <p:cNvSpPr txBox="1"/>
          <p:nvPr/>
        </p:nvSpPr>
        <p:spPr>
          <a:xfrm>
            <a:off x="9250000" y="4930000"/>
            <a:ext cx="1800000" cy="260000"/>
          </a:xfrm>
          <a:prstGeom prst="rect">
            <a:avLst/>
          </a:prstGeom>
          <a:noFill/>
        </p:spPr>
        <p:txBody>
          <a:bodyPr wrap="square" lIns="0" tIns="0" rIns="0" bIns="0" anchor="ctr"/>
          <a:lstStyle/>
          <a:p>
            <a:pPr algn="ctr"/>
            <a:r>
              <a:rPr lang="en-US" sz="1300" b="0" i="1" dirty="0">
                <a:solidFill>
                  <a:srgbClr val="A02B93"/>
                </a:solidFill>
                <a:latin typeface="Aptos"/>
              </a:rPr>
              <a:t>apply</a:t>
            </a:r>
          </a:p>
        </p:txBody>
      </p:sp>
      <p:sp>
        <p:nvSpPr>
          <p:cNvPr id="426" name="b426"/>
          <p:cNvSpPr txBox="1"/>
          <p:nvPr/>
        </p:nvSpPr>
        <p:spPr>
          <a:xfrm>
            <a:off x="420000" y="5380000"/>
            <a:ext cx="11350000" cy="420000"/>
          </a:xfrm>
          <a:prstGeom prst="rect">
            <a:avLst/>
          </a:prstGeom>
          <a:noFill/>
        </p:spPr>
        <p:txBody>
          <a:bodyPr wrap="square" lIns="0" tIns="0" rIns="0" bIns="0" anchor="t"/>
          <a:lstStyle/>
          <a:p>
            <a:pPr algn="l"/>
            <a:r>
              <a:rPr lang="en-US" sz="2000" b="1" dirty="0">
                <a:solidFill>
                  <a:srgbClr val="0E2841"/>
                </a:solidFill>
                <a:latin typeface="Aptos"/>
              </a:rPr>
              <a:t>The leader counts itself — with three servers it waits for one reply</a:t>
            </a:r>
          </a:p>
        </p:txBody>
      </p:sp>
      <p:sp>
        <p:nvSpPr>
          <p:cNvPr id="427" name="b427"/>
          <p:cNvSpPr txBox="1"/>
          <p:nvPr/>
        </p:nvSpPr>
        <p:spPr>
          <a:xfrm>
            <a:off x="420000" y="5860000"/>
            <a:ext cx="11350000" cy="420000"/>
          </a:xfrm>
          <a:prstGeom prst="rect">
            <a:avLst/>
          </a:prstGeom>
          <a:noFill/>
        </p:spPr>
        <p:txBody>
          <a:bodyPr wrap="square" lIns="0" tIns="0" rIns="0" bIns="0" anchor="t"/>
          <a:lstStyle/>
          <a:p>
            <a:pPr algn="l"/>
            <a:r>
              <a:rPr lang="en-US" sz="2000" b="1" dirty="0">
                <a:solidFill>
                  <a:srgbClr val="0E2841"/>
                </a:solidFill>
                <a:latin typeface="Aptos"/>
              </a:rPr>
              <a:t>There is no commit message — the commit index rides on the next AppendEntries</a:t>
            </a:r>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408"/>
                                        </p:tgtEl>
                                        <p:attrNameLst>
                                          <p:attrName>style.visibility</p:attrName>
                                        </p:attrNameLst>
                                      </p:cBhvr>
                                      <p:to>
                                        <p:strVal val="visible"/>
                                      </p:to>
                                    </p:set>
                                    <p:animEffect transition="in" filter="dissolve">
                                      <p:cBhvr>
                                        <p:cTn id="5" dur="500"/>
                                        <p:tgtEl>
                                          <p:spTgt spid="408"/>
                                        </p:tgtEl>
                                      </p:cBhvr>
                                    </p:animEffect>
                                  </p:childTnLst>
                                </p:cTn>
                              </p:par>
                              <p:par>
                                <p:cTn id="6" presetID="9" presetClass="entr" presetSubtype="0" fill="hold" nodeType="withEffect">
                                  <p:stCondLst>
                                    <p:cond delay="0"/>
                                  </p:stCondLst>
                                  <p:childTnLst>
                                    <p:set>
                                      <p:cBhvr>
                                        <p:cTn id="7" dur="1" fill="hold">
                                          <p:stCondLst>
                                            <p:cond delay="0"/>
                                          </p:stCondLst>
                                        </p:cTn>
                                        <p:tgtEl>
                                          <p:spTgt spid="409"/>
                                        </p:tgtEl>
                                        <p:attrNameLst>
                                          <p:attrName>style.visibility</p:attrName>
                                        </p:attrNameLst>
                                      </p:cBhvr>
                                      <p:to>
                                        <p:strVal val="visible"/>
                                      </p:to>
                                    </p:set>
                                    <p:animEffect transition="in" filter="dissolve">
                                      <p:cBhvr>
                                        <p:cTn id="8" dur="500"/>
                                        <p:tgtEl>
                                          <p:spTgt spid="409"/>
                                        </p:tgtEl>
                                      </p:cBhvr>
                                    </p:animEffect>
                                  </p:childTnLst>
                                </p:cTn>
                              </p:par>
                              <p:par>
                                <p:cTn id="9" presetID="9" presetClass="entr" presetSubtype="0" fill="hold" nodeType="withEffect">
                                  <p:stCondLst>
                                    <p:cond delay="0"/>
                                  </p:stCondLst>
                                  <p:childTnLst>
                                    <p:set>
                                      <p:cBhvr>
                                        <p:cTn id="10" dur="1" fill="hold">
                                          <p:stCondLst>
                                            <p:cond delay="0"/>
                                          </p:stCondLst>
                                        </p:cTn>
                                        <p:tgtEl>
                                          <p:spTgt spid="410"/>
                                        </p:tgtEl>
                                        <p:attrNameLst>
                                          <p:attrName>style.visibility</p:attrName>
                                        </p:attrNameLst>
                                      </p:cBhvr>
                                      <p:to>
                                        <p:strVal val="visible"/>
                                      </p:to>
                                    </p:set>
                                    <p:animEffect transition="in" filter="dissolve">
                                      <p:cBhvr>
                                        <p:cTn id="11" dur="500"/>
                                        <p:tgtEl>
                                          <p:spTgt spid="410"/>
                                        </p:tgtEl>
                                      </p:cBhvr>
                                    </p:animEffect>
                                  </p:childTnLst>
                                </p:cTn>
                              </p:par>
                            </p:childTnLst>
                          </p:cTn>
                        </p:par>
                      </p:childTnLst>
                    </p:cTn>
                  </p:par>
                  <p:par>
                    <p:cTn id="35" fill="hold">
                      <p:stCondLst>
                        <p:cond delay="indefinite"/>
                      </p:stCondLst>
                      <p:childTnLst>
                        <p:par>
                          <p:cTn id="36"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11"/>
                                        </p:tgtEl>
                                        <p:attrNameLst>
                                          <p:attrName>style.visibility</p:attrName>
                                        </p:attrNameLst>
                                      </p:cBhvr>
                                      <p:to>
                                        <p:strVal val="visible"/>
                                      </p:to>
                                    </p:set>
                                    <p:animEffect transition="in" filter="dissolve">
                                      <p:cBhvr>
                                        <p:cTn id="16" dur="500"/>
                                        <p:tgtEl>
                                          <p:spTgt spid="411"/>
                                        </p:tgtEl>
                                      </p:cBhvr>
                                    </p:animEffect>
                                  </p:childTnLst>
                                </p:cTn>
                              </p:par>
                              <p:par>
                                <p:cTn id="17" presetID="9" presetClass="entr" presetSubtype="0" fill="hold" nodeType="withEffect">
                                  <p:stCondLst>
                                    <p:cond delay="0"/>
                                  </p:stCondLst>
                                  <p:childTnLst>
                                    <p:set>
                                      <p:cBhvr>
                                        <p:cTn id="18" dur="1" fill="hold">
                                          <p:stCondLst>
                                            <p:cond delay="0"/>
                                          </p:stCondLst>
                                        </p:cTn>
                                        <p:tgtEl>
                                          <p:spTgt spid="412"/>
                                        </p:tgtEl>
                                        <p:attrNameLst>
                                          <p:attrName>style.visibility</p:attrName>
                                        </p:attrNameLst>
                                      </p:cBhvr>
                                      <p:to>
                                        <p:strVal val="visible"/>
                                      </p:to>
                                    </p:set>
                                    <p:animEffect transition="in" filter="dissolve">
                                      <p:cBhvr>
                                        <p:cTn id="19" dur="500"/>
                                        <p:tgtEl>
                                          <p:spTgt spid="412"/>
                                        </p:tgtEl>
                                      </p:cBhvr>
                                    </p:animEffect>
                                  </p:childTnLst>
                                </p:cTn>
                              </p:par>
                              <p:par>
                                <p:cTn id="20" presetID="9" presetClass="entr" presetSubtype="0" fill="hold" nodeType="withEffect">
                                  <p:stCondLst>
                                    <p:cond delay="0"/>
                                  </p:stCondLst>
                                  <p:childTnLst>
                                    <p:set>
                                      <p:cBhvr>
                                        <p:cTn id="21" dur="1" fill="hold">
                                          <p:stCondLst>
                                            <p:cond delay="0"/>
                                          </p:stCondLst>
                                        </p:cTn>
                                        <p:tgtEl>
                                          <p:spTgt spid="413"/>
                                        </p:tgtEl>
                                        <p:attrNameLst>
                                          <p:attrName>style.visibility</p:attrName>
                                        </p:attrNameLst>
                                      </p:cBhvr>
                                      <p:to>
                                        <p:strVal val="visible"/>
                                      </p:to>
                                    </p:set>
                                    <p:animEffect transition="in" filter="dissolve">
                                      <p:cBhvr>
                                        <p:cTn id="22" dur="500"/>
                                        <p:tgtEl>
                                          <p:spTgt spid="413"/>
                                        </p:tgtEl>
                                      </p:cBhvr>
                                    </p:animEffect>
                                  </p:childTnLst>
                                </p:cTn>
                              </p:par>
                              <p:par>
                                <p:cTn id="23" presetID="9" presetClass="entr" presetSubtype="0" fill="hold" nodeType="withEffect">
                                  <p:stCondLst>
                                    <p:cond delay="0"/>
                                  </p:stCondLst>
                                  <p:childTnLst>
                                    <p:set>
                                      <p:cBhvr>
                                        <p:cTn id="24" dur="1" fill="hold">
                                          <p:stCondLst>
                                            <p:cond delay="0"/>
                                          </p:stCondLst>
                                        </p:cTn>
                                        <p:tgtEl>
                                          <p:spTgt spid="414"/>
                                        </p:tgtEl>
                                        <p:attrNameLst>
                                          <p:attrName>style.visibility</p:attrName>
                                        </p:attrNameLst>
                                      </p:cBhvr>
                                      <p:to>
                                        <p:strVal val="visible"/>
                                      </p:to>
                                    </p:set>
                                    <p:animEffect transition="in" filter="dissolve">
                                      <p:cBhvr>
                                        <p:cTn id="25" dur="500"/>
                                        <p:tgtEl>
                                          <p:spTgt spid="414"/>
                                        </p:tgtEl>
                                      </p:cBhvr>
                                    </p:animEffect>
                                  </p:childTnLst>
                                </p:cTn>
                              </p:par>
                              <p:par>
                                <p:cTn id="26" presetID="9" presetClass="entr" presetSubtype="0" fill="hold" nodeType="withEffect">
                                  <p:stCondLst>
                                    <p:cond delay="0"/>
                                  </p:stCondLst>
                                  <p:childTnLst>
                                    <p:set>
                                      <p:cBhvr>
                                        <p:cTn id="27" dur="1" fill="hold">
                                          <p:stCondLst>
                                            <p:cond delay="0"/>
                                          </p:stCondLst>
                                        </p:cTn>
                                        <p:tgtEl>
                                          <p:spTgt spid="415"/>
                                        </p:tgtEl>
                                        <p:attrNameLst>
                                          <p:attrName>style.visibility</p:attrName>
                                        </p:attrNameLst>
                                      </p:cBhvr>
                                      <p:to>
                                        <p:strVal val="visible"/>
                                      </p:to>
                                    </p:set>
                                    <p:animEffect transition="in" filter="dissolve">
                                      <p:cBhvr>
                                        <p:cTn id="28" dur="500"/>
                                        <p:tgtEl>
                                          <p:spTgt spid="415"/>
                                        </p:tgtEl>
                                      </p:cBhvr>
                                    </p:animEffect>
                                  </p:childTnLst>
                                </p:cTn>
                              </p:par>
                              <p:par>
                                <p:cTn id="29" presetID="9" presetClass="entr" presetSubtype="0" fill="hold" nodeType="withEffect">
                                  <p:stCondLst>
                                    <p:cond delay="0"/>
                                  </p:stCondLst>
                                  <p:childTnLst>
                                    <p:set>
                                      <p:cBhvr>
                                        <p:cTn id="30" dur="1" fill="hold">
                                          <p:stCondLst>
                                            <p:cond delay="0"/>
                                          </p:stCondLst>
                                        </p:cTn>
                                        <p:tgtEl>
                                          <p:spTgt spid="416"/>
                                        </p:tgtEl>
                                        <p:attrNameLst>
                                          <p:attrName>style.visibility</p:attrName>
                                        </p:attrNameLst>
                                      </p:cBhvr>
                                      <p:to>
                                        <p:strVal val="visible"/>
                                      </p:to>
                                    </p:set>
                                    <p:animEffect transition="in" filter="dissolve">
                                      <p:cBhvr>
                                        <p:cTn id="31" dur="500"/>
                                        <p:tgtEl>
                                          <p:spTgt spid="416"/>
                                        </p:tgtEl>
                                      </p:cBhvr>
                                    </p:animEffect>
                                  </p:childTnLst>
                                </p:cTn>
                              </p:par>
                              <p:par>
                                <p:cTn id="32" presetID="9" presetClass="entr" presetSubtype="0" fill="hold" nodeType="withEffect">
                                  <p:stCondLst>
                                    <p:cond delay="0"/>
                                  </p:stCondLst>
                                  <p:childTnLst>
                                    <p:set>
                                      <p:cBhvr>
                                        <p:cTn id="33" dur="1" fill="hold">
                                          <p:stCondLst>
                                            <p:cond delay="0"/>
                                          </p:stCondLst>
                                        </p:cTn>
                                        <p:tgtEl>
                                          <p:spTgt spid="417"/>
                                        </p:tgtEl>
                                        <p:attrNameLst>
                                          <p:attrName>style.visibility</p:attrName>
                                        </p:attrNameLst>
                                      </p:cBhvr>
                                      <p:to>
                                        <p:strVal val="visible"/>
                                      </p:to>
                                    </p:set>
                                    <p:animEffect transition="in" filter="dissolve">
                                      <p:cBhvr>
                                        <p:cTn id="34" dur="500"/>
                                        <p:tgtEl>
                                          <p:spTgt spid="417"/>
                                        </p:tgtEl>
                                      </p:cBhvr>
                                    </p:animEffect>
                                  </p:childTnLst>
                                </p:cTn>
                              </p:par>
                            </p:childTnLst>
                          </p:cTn>
                        </p:par>
                      </p:childTnLst>
                    </p:cTn>
                  </p:par>
                  <p:par>
                    <p:cTn id="46" fill="hold">
                      <p:stCondLst>
                        <p:cond delay="indefinite"/>
                      </p:stCondLst>
                      <p:childTnLst>
                        <p:par>
                          <p:cTn id="47"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18"/>
                                        </p:tgtEl>
                                        <p:attrNameLst>
                                          <p:attrName>style.visibility</p:attrName>
                                        </p:attrNameLst>
                                      </p:cBhvr>
                                      <p:to>
                                        <p:strVal val="visible"/>
                                      </p:to>
                                    </p:set>
                                    <p:animEffect transition="in" filter="dissolve">
                                      <p:cBhvr>
                                        <p:cTn id="39" dur="500"/>
                                        <p:tgtEl>
                                          <p:spTgt spid="418"/>
                                        </p:tgtEl>
                                      </p:cBhvr>
                                    </p:animEffect>
                                  </p:childTnLst>
                                </p:cTn>
                              </p:par>
                              <p:par>
                                <p:cTn id="40" presetID="9" presetClass="entr" presetSubtype="0" fill="hold" nodeType="withEffect">
                                  <p:stCondLst>
                                    <p:cond delay="0"/>
                                  </p:stCondLst>
                                  <p:childTnLst>
                                    <p:set>
                                      <p:cBhvr>
                                        <p:cTn id="41" dur="1" fill="hold">
                                          <p:stCondLst>
                                            <p:cond delay="0"/>
                                          </p:stCondLst>
                                        </p:cTn>
                                        <p:tgtEl>
                                          <p:spTgt spid="419"/>
                                        </p:tgtEl>
                                        <p:attrNameLst>
                                          <p:attrName>style.visibility</p:attrName>
                                        </p:attrNameLst>
                                      </p:cBhvr>
                                      <p:to>
                                        <p:strVal val="visible"/>
                                      </p:to>
                                    </p:set>
                                    <p:animEffect transition="in" filter="dissolve">
                                      <p:cBhvr>
                                        <p:cTn id="42" dur="500"/>
                                        <p:tgtEl>
                                          <p:spTgt spid="419"/>
                                        </p:tgtEl>
                                      </p:cBhvr>
                                    </p:animEffect>
                                  </p:childTnLst>
                                </p:cTn>
                              </p:par>
                              <p:par>
                                <p:cTn id="43" presetID="9" presetClass="entr" presetSubtype="0" fill="hold" nodeType="withEffect">
                                  <p:stCondLst>
                                    <p:cond delay="0"/>
                                  </p:stCondLst>
                                  <p:childTnLst>
                                    <p:set>
                                      <p:cBhvr>
                                        <p:cTn id="44" dur="1" fill="hold">
                                          <p:stCondLst>
                                            <p:cond delay="0"/>
                                          </p:stCondLst>
                                        </p:cTn>
                                        <p:tgtEl>
                                          <p:spTgt spid="420"/>
                                        </p:tgtEl>
                                        <p:attrNameLst>
                                          <p:attrName>style.visibility</p:attrName>
                                        </p:attrNameLst>
                                      </p:cBhvr>
                                      <p:to>
                                        <p:strVal val="visible"/>
                                      </p:to>
                                    </p:set>
                                    <p:animEffect transition="in" filter="dissolve">
                                      <p:cBhvr>
                                        <p:cTn id="45" dur="500"/>
                                        <p:tgtEl>
                                          <p:spTgt spid="420"/>
                                        </p:tgtEl>
                                      </p:cBhvr>
                                    </p:animEffect>
                                  </p:childTnLst>
                                </p:cTn>
                              </p:par>
                            </p:childTnLst>
                          </p:cTn>
                        </p:par>
                      </p:childTnLst>
                    </p:cTn>
                  </p:par>
                  <p:par>
                    <p:cTn id="66" fill="hold">
                      <p:stCondLst>
                        <p:cond delay="indefinite"/>
                      </p:stCondLst>
                      <p:childTnLst>
                        <p:par>
                          <p:cTn id="6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21"/>
                                        </p:tgtEl>
                                        <p:attrNameLst>
                                          <p:attrName>style.visibility</p:attrName>
                                        </p:attrNameLst>
                                      </p:cBhvr>
                                      <p:to>
                                        <p:strVal val="visible"/>
                                      </p:to>
                                    </p:set>
                                    <p:animEffect transition="in" filter="dissolve">
                                      <p:cBhvr>
                                        <p:cTn id="50" dur="500"/>
                                        <p:tgtEl>
                                          <p:spTgt spid="421"/>
                                        </p:tgtEl>
                                      </p:cBhvr>
                                    </p:animEffect>
                                  </p:childTnLst>
                                </p:cTn>
                              </p:par>
                              <p:par>
                                <p:cTn id="51" presetID="9" presetClass="entr" presetSubtype="0" fill="hold" nodeType="withEffect">
                                  <p:stCondLst>
                                    <p:cond delay="0"/>
                                  </p:stCondLst>
                                  <p:childTnLst>
                                    <p:set>
                                      <p:cBhvr>
                                        <p:cTn id="52" dur="1" fill="hold">
                                          <p:stCondLst>
                                            <p:cond delay="0"/>
                                          </p:stCondLst>
                                        </p:cTn>
                                        <p:tgtEl>
                                          <p:spTgt spid="422"/>
                                        </p:tgtEl>
                                        <p:attrNameLst>
                                          <p:attrName>style.visibility</p:attrName>
                                        </p:attrNameLst>
                                      </p:cBhvr>
                                      <p:to>
                                        <p:strVal val="visible"/>
                                      </p:to>
                                    </p:set>
                                    <p:animEffect transition="in" filter="dissolve">
                                      <p:cBhvr>
                                        <p:cTn id="53" dur="500"/>
                                        <p:tgtEl>
                                          <p:spTgt spid="422"/>
                                        </p:tgtEl>
                                      </p:cBhvr>
                                    </p:animEffect>
                                  </p:childTnLst>
                                </p:cTn>
                              </p:par>
                              <p:par>
                                <p:cTn id="54" presetID="9" presetClass="entr" presetSubtype="0" fill="hold" nodeType="withEffect">
                                  <p:stCondLst>
                                    <p:cond delay="0"/>
                                  </p:stCondLst>
                                  <p:childTnLst>
                                    <p:set>
                                      <p:cBhvr>
                                        <p:cTn id="55" dur="1" fill="hold">
                                          <p:stCondLst>
                                            <p:cond delay="0"/>
                                          </p:stCondLst>
                                        </p:cTn>
                                        <p:tgtEl>
                                          <p:spTgt spid="423"/>
                                        </p:tgtEl>
                                        <p:attrNameLst>
                                          <p:attrName>style.visibility</p:attrName>
                                        </p:attrNameLst>
                                      </p:cBhvr>
                                      <p:to>
                                        <p:strVal val="visible"/>
                                      </p:to>
                                    </p:set>
                                    <p:animEffect transition="in" filter="dissolve">
                                      <p:cBhvr>
                                        <p:cTn id="56" dur="500"/>
                                        <p:tgtEl>
                                          <p:spTgt spid="423"/>
                                        </p:tgtEl>
                                      </p:cBhvr>
                                    </p:animEffect>
                                  </p:childTnLst>
                                </p:cTn>
                              </p:par>
                              <p:par>
                                <p:cTn id="57" presetID="9" presetClass="entr" presetSubtype="0" fill="hold" nodeType="withEffect">
                                  <p:stCondLst>
                                    <p:cond delay="0"/>
                                  </p:stCondLst>
                                  <p:childTnLst>
                                    <p:set>
                                      <p:cBhvr>
                                        <p:cTn id="58" dur="1" fill="hold">
                                          <p:stCondLst>
                                            <p:cond delay="0"/>
                                          </p:stCondLst>
                                        </p:cTn>
                                        <p:tgtEl>
                                          <p:spTgt spid="424"/>
                                        </p:tgtEl>
                                        <p:attrNameLst>
                                          <p:attrName>style.visibility</p:attrName>
                                        </p:attrNameLst>
                                      </p:cBhvr>
                                      <p:to>
                                        <p:strVal val="visible"/>
                                      </p:to>
                                    </p:set>
                                    <p:animEffect transition="in" filter="dissolve">
                                      <p:cBhvr>
                                        <p:cTn id="59" dur="500"/>
                                        <p:tgtEl>
                                          <p:spTgt spid="424"/>
                                        </p:tgtEl>
                                      </p:cBhvr>
                                    </p:animEffect>
                                  </p:childTnLst>
                                </p:cTn>
                              </p:par>
                              <p:par>
                                <p:cTn id="60" presetID="9" presetClass="entr" presetSubtype="0" fill="hold" nodeType="withEffect">
                                  <p:stCondLst>
                                    <p:cond delay="0"/>
                                  </p:stCondLst>
                                  <p:childTnLst>
                                    <p:set>
                                      <p:cBhvr>
                                        <p:cTn id="61" dur="1" fill="hold">
                                          <p:stCondLst>
                                            <p:cond delay="0"/>
                                          </p:stCondLst>
                                        </p:cTn>
                                        <p:tgtEl>
                                          <p:spTgt spid="425"/>
                                        </p:tgtEl>
                                        <p:attrNameLst>
                                          <p:attrName>style.visibility</p:attrName>
                                        </p:attrNameLst>
                                      </p:cBhvr>
                                      <p:to>
                                        <p:strVal val="visible"/>
                                      </p:to>
                                    </p:set>
                                    <p:animEffect transition="in" filter="dissolve">
                                      <p:cBhvr>
                                        <p:cTn id="62" dur="500"/>
                                        <p:tgtEl>
                                          <p:spTgt spid="425"/>
                                        </p:tgtEl>
                                      </p:cBhvr>
                                    </p:animEffect>
                                  </p:childTnLst>
                                </p:cTn>
                              </p:par>
                              <p:par>
                                <p:cTn id="63" presetID="9" presetClass="entr" presetSubtype="0" fill="hold" nodeType="withEffect">
                                  <p:stCondLst>
                                    <p:cond delay="0"/>
                                  </p:stCondLst>
                                  <p:childTnLst>
                                    <p:set>
                                      <p:cBhvr>
                                        <p:cTn id="64" dur="1" fill="hold">
                                          <p:stCondLst>
                                            <p:cond delay="0"/>
                                          </p:stCondLst>
                                        </p:cTn>
                                        <p:tgtEl>
                                          <p:spTgt spid="426"/>
                                        </p:tgtEl>
                                        <p:attrNameLst>
                                          <p:attrName>style.visibility</p:attrName>
                                        </p:attrNameLst>
                                      </p:cBhvr>
                                      <p:to>
                                        <p:strVal val="visible"/>
                                      </p:to>
                                    </p:set>
                                    <p:animEffect transition="in" filter="dissolve">
                                      <p:cBhvr>
                                        <p:cTn id="65" dur="500"/>
                                        <p:tgtEl>
                                          <p:spTgt spid="426"/>
                                        </p:tgtEl>
                                      </p:cBhvr>
                                    </p:animEffect>
                                  </p:childTnLst>
                                </p:cTn>
                              </p:par>
                            </p:childTnLst>
                          </p:cTn>
                        </p:par>
                      </p:childTnLst>
                    </p:cTn>
                  </p:par>
                  <p:par>
                    <p:cTn id="71" fill="hold">
                      <p:stCondLst>
                        <p:cond delay="indefinite"/>
                      </p:stCondLst>
                      <p:childTnLst>
                        <p:par>
                          <p:cTn id="72"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427"/>
                                        </p:tgtEl>
                                        <p:attrNameLst>
                                          <p:attrName>style.visibility</p:attrName>
                                        </p:attrNameLst>
                                      </p:cBhvr>
                                      <p:to>
                                        <p:strVal val="visible"/>
                                      </p:to>
                                    </p:set>
                                    <p:animEffect transition="in" filter="dissolve">
                                      <p:cBhvr>
                                        <p:cTn id="70" dur="500"/>
                                        <p:tgtEl>
                                          <p:spTgt spid="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07FE6-7D61-FE9B-6DF6-0DD8426F204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C0D9A5D-1242-A04C-60B3-38E846AF123C}"/>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Leader</a:t>
            </a:r>
          </a:p>
        </p:txBody>
      </p:sp>
      <p:sp>
        <p:nvSpPr>
          <p:cNvPr id="8" name="Slide Number Placeholder 4">
            <a:extLst>
              <a:ext uri="{FF2B5EF4-FFF2-40B4-BE49-F238E27FC236}">
                <a16:creationId xmlns:a16="http://schemas.microsoft.com/office/drawing/2014/main" id="{2F053773-D081-1C44-E378-E07F83DF0A0B}"/>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15</a:t>
            </a:fld>
            <a:endParaRPr lang="en-US"/>
          </a:p>
        </p:txBody>
      </p:sp>
      <p:sp>
        <p:nvSpPr>
          <p:cNvPr id="4" name="TextBox 3">
            <a:extLst>
              <a:ext uri="{FF2B5EF4-FFF2-40B4-BE49-F238E27FC236}">
                <a16:creationId xmlns:a16="http://schemas.microsoft.com/office/drawing/2014/main" id="{8583B697-73F0-AF23-029A-B7B24B2542F9}"/>
              </a:ext>
            </a:extLst>
          </p:cNvPr>
          <p:cNvSpPr txBox="1"/>
          <p:nvPr/>
        </p:nvSpPr>
        <p:spPr>
          <a:xfrm>
            <a:off x="129092" y="836986"/>
            <a:ext cx="11623546" cy="1261884"/>
          </a:xfrm>
          <a:prstGeom prst="rect">
            <a:avLst/>
          </a:prstGeom>
          <a:noFill/>
        </p:spPr>
        <p:txBody>
          <a:bodyPr wrap="square">
            <a:spAutoFit/>
          </a:bodyPr>
          <a:lstStyle/>
          <a:p>
            <a:r>
              <a:rPr lang="en-US" sz="2800" b="1" dirty="0"/>
              <a:t>Why a leader? </a:t>
            </a:r>
          </a:p>
          <a:p>
            <a:pPr marL="800100" lvl="1" indent="-342900">
              <a:buFont typeface="Arial" panose="020B0604020202020204" pitchFamily="34" charset="0"/>
              <a:buChar char="•"/>
            </a:pPr>
            <a:r>
              <a:rPr lang="en-US" sz="2400" dirty="0"/>
              <a:t>  ensures all replicas execute the same commands, in the same order</a:t>
            </a:r>
          </a:p>
          <a:p>
            <a:endParaRPr lang="en-US" sz="2400" dirty="0"/>
          </a:p>
        </p:txBody>
      </p:sp>
    </p:spTree>
    <p:extLst>
      <p:ext uri="{BB962C8B-B14F-4D97-AF65-F5344CB8AC3E}">
        <p14:creationId xmlns:p14="http://schemas.microsoft.com/office/powerpoint/2010/main" val="266362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E61C5-8BF7-E504-93DF-F8CA683FC7C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55EC2CF-6B2A-25FE-F970-FD0395758D52}"/>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Term (aka Epochs)</a:t>
            </a:r>
          </a:p>
        </p:txBody>
      </p:sp>
      <p:sp>
        <p:nvSpPr>
          <p:cNvPr id="8" name="Slide Number Placeholder 4">
            <a:extLst>
              <a:ext uri="{FF2B5EF4-FFF2-40B4-BE49-F238E27FC236}">
                <a16:creationId xmlns:a16="http://schemas.microsoft.com/office/drawing/2014/main" id="{BF318047-D4B5-34F0-9DFF-F79BF1720A70}"/>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16</a:t>
            </a:fld>
            <a:endParaRPr lang="en-US"/>
          </a:p>
        </p:txBody>
      </p:sp>
      <p:pic>
        <p:nvPicPr>
          <p:cNvPr id="2" name="object 4">
            <a:extLst>
              <a:ext uri="{FF2B5EF4-FFF2-40B4-BE49-F238E27FC236}">
                <a16:creationId xmlns:a16="http://schemas.microsoft.com/office/drawing/2014/main" id="{346DFAF4-8AD7-BED2-D099-6BB22D031117}"/>
              </a:ext>
            </a:extLst>
          </p:cNvPr>
          <p:cNvPicPr>
            <a:picLocks noChangeAspect="1"/>
          </p:cNvPicPr>
          <p:nvPr/>
        </p:nvPicPr>
        <p:blipFill>
          <a:blip r:embed="rId3" cstate="print"/>
          <a:stretch>
            <a:fillRect/>
          </a:stretch>
        </p:blipFill>
        <p:spPr>
          <a:xfrm>
            <a:off x="2408182" y="1413768"/>
            <a:ext cx="7375636" cy="1856482"/>
          </a:xfrm>
          <a:prstGeom prst="rect">
            <a:avLst/>
          </a:prstGeom>
        </p:spPr>
      </p:pic>
      <p:sp>
        <p:nvSpPr>
          <p:cNvPr id="3" name="TextBox 2">
            <a:extLst>
              <a:ext uri="{FF2B5EF4-FFF2-40B4-BE49-F238E27FC236}">
                <a16:creationId xmlns:a16="http://schemas.microsoft.com/office/drawing/2014/main" id="{17E13543-8ABA-6C1B-85F0-0ABA2AE32AC2}"/>
              </a:ext>
            </a:extLst>
          </p:cNvPr>
          <p:cNvSpPr txBox="1"/>
          <p:nvPr/>
        </p:nvSpPr>
        <p:spPr>
          <a:xfrm>
            <a:off x="307670" y="3289806"/>
            <a:ext cx="7927106" cy="2862322"/>
          </a:xfrm>
          <a:prstGeom prst="rect">
            <a:avLst/>
          </a:prstGeom>
          <a:noFill/>
        </p:spPr>
        <p:txBody>
          <a:bodyPr wrap="none" rtlCol="0">
            <a:spAutoFit/>
          </a:bodyPr>
          <a:lstStyle/>
          <a:p>
            <a:r>
              <a:rPr lang="en-US" sz="2800" b="1" dirty="0"/>
              <a:t>Raft divides time into terms: </a:t>
            </a:r>
          </a:p>
          <a:p>
            <a:pPr marL="742950" lvl="1" indent="-285750">
              <a:buFont typeface="Arial" panose="020B0604020202020204" pitchFamily="34" charset="0"/>
              <a:buChar char="•"/>
            </a:pPr>
            <a:r>
              <a:rPr lang="en-US" sz="2400" dirty="0"/>
              <a:t>In each term, election (new leader -&gt; new term)</a:t>
            </a:r>
          </a:p>
          <a:p>
            <a:pPr marL="742950" lvl="1" indent="-285750">
              <a:buFont typeface="Arial" panose="020B0604020202020204" pitchFamily="34" charset="0"/>
              <a:buChar char="•"/>
            </a:pPr>
            <a:r>
              <a:rPr lang="en-US" sz="2400" dirty="0"/>
              <a:t>A term has at most one leader; might have no leader</a:t>
            </a:r>
          </a:p>
          <a:p>
            <a:endParaRPr lang="en-US" sz="2400" dirty="0"/>
          </a:p>
          <a:p>
            <a:r>
              <a:rPr lang="en-US" sz="2800" b="1" dirty="0"/>
              <a:t>Each server maintains current term value </a:t>
            </a:r>
          </a:p>
          <a:p>
            <a:endParaRPr lang="en-US" sz="2400" dirty="0"/>
          </a:p>
          <a:p>
            <a:r>
              <a:rPr lang="en-US" sz="2800" b="1" dirty="0"/>
              <a:t>Key role of terms: identify obsolete information </a:t>
            </a:r>
          </a:p>
        </p:txBody>
      </p:sp>
    </p:spTree>
    <p:extLst>
      <p:ext uri="{BB962C8B-B14F-4D97-AF65-F5344CB8AC3E}">
        <p14:creationId xmlns:p14="http://schemas.microsoft.com/office/powerpoint/2010/main" val="1904293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9602-B600-7274-2982-9B89EEE3B58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1265E9D-C5B3-CFA6-30D0-63329D20BF85}"/>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Server States</a:t>
            </a:r>
          </a:p>
        </p:txBody>
      </p:sp>
      <p:sp>
        <p:nvSpPr>
          <p:cNvPr id="8" name="Slide Number Placeholder 4">
            <a:extLst>
              <a:ext uri="{FF2B5EF4-FFF2-40B4-BE49-F238E27FC236}">
                <a16:creationId xmlns:a16="http://schemas.microsoft.com/office/drawing/2014/main" id="{1D3A679F-66CC-98A1-DA65-CEC7F960B83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17</a:t>
            </a:fld>
            <a:endParaRPr lang="en-US"/>
          </a:p>
        </p:txBody>
      </p:sp>
      <p:sp>
        <p:nvSpPr>
          <p:cNvPr id="3" name="TextBox 2">
            <a:extLst>
              <a:ext uri="{FF2B5EF4-FFF2-40B4-BE49-F238E27FC236}">
                <a16:creationId xmlns:a16="http://schemas.microsoft.com/office/drawing/2014/main" id="{7EC7E610-033A-6C9B-4409-67291BFC5076}"/>
              </a:ext>
            </a:extLst>
          </p:cNvPr>
          <p:cNvSpPr txBox="1"/>
          <p:nvPr/>
        </p:nvSpPr>
        <p:spPr>
          <a:xfrm>
            <a:off x="217844" y="914401"/>
            <a:ext cx="8392756" cy="2800767"/>
          </a:xfrm>
          <a:prstGeom prst="rect">
            <a:avLst/>
          </a:prstGeom>
          <a:noFill/>
        </p:spPr>
        <p:txBody>
          <a:bodyPr wrap="square">
            <a:spAutoFit/>
          </a:bodyPr>
          <a:lstStyle/>
          <a:p>
            <a:r>
              <a:rPr lang="en-US" sz="2800" b="1" dirty="0"/>
              <a:t>At any given time, each server is either:</a:t>
            </a:r>
          </a:p>
          <a:p>
            <a:pPr marL="742950" lvl="1" indent="-285750">
              <a:buFont typeface="Arial" panose="020B0604020202020204" pitchFamily="34" charset="0"/>
              <a:buChar char="•"/>
            </a:pPr>
            <a:r>
              <a:rPr lang="en-US" sz="2400" dirty="0"/>
              <a:t>Leader: handles all client interactions, log replication </a:t>
            </a:r>
          </a:p>
          <a:p>
            <a:pPr marL="742950" lvl="1" indent="-285750">
              <a:buFont typeface="Arial" panose="020B0604020202020204" pitchFamily="34" charset="0"/>
              <a:buChar char="•"/>
            </a:pPr>
            <a:r>
              <a:rPr lang="en-US" sz="2400" dirty="0"/>
              <a:t>Follower: completely passive </a:t>
            </a:r>
          </a:p>
          <a:p>
            <a:pPr marL="742950" lvl="1" indent="-285750">
              <a:buFont typeface="Arial" panose="020B0604020202020204" pitchFamily="34" charset="0"/>
              <a:buChar char="•"/>
            </a:pPr>
            <a:r>
              <a:rPr lang="en-US" sz="2400" dirty="0"/>
              <a:t>Candidate: used to elect a new leader </a:t>
            </a:r>
          </a:p>
          <a:p>
            <a:endParaRPr lang="en-US" sz="2400" dirty="0"/>
          </a:p>
          <a:p>
            <a:r>
              <a:rPr lang="en-US" sz="2800" b="1" dirty="0"/>
              <a:t>Normal operation: 1 leader, N-1 followers </a:t>
            </a:r>
          </a:p>
          <a:p>
            <a:pPr marL="742950" lvl="1" indent="-285750">
              <a:buFont typeface="Arial" panose="020B0604020202020204" pitchFamily="34" charset="0"/>
              <a:buChar char="•"/>
            </a:pPr>
            <a:r>
              <a:rPr lang="en-US" sz="2400" dirty="0"/>
              <a:t>Exercise: how do the states transit to one another?</a:t>
            </a:r>
          </a:p>
        </p:txBody>
      </p:sp>
      <p:pic>
        <p:nvPicPr>
          <p:cNvPr id="4" name="object 4">
            <a:extLst>
              <a:ext uri="{FF2B5EF4-FFF2-40B4-BE49-F238E27FC236}">
                <a16:creationId xmlns:a16="http://schemas.microsoft.com/office/drawing/2014/main" id="{BC7C4F68-F6CC-AB9A-8478-D8DC6A7A091A}"/>
              </a:ext>
            </a:extLst>
          </p:cNvPr>
          <p:cNvPicPr/>
          <p:nvPr/>
        </p:nvPicPr>
        <p:blipFill>
          <a:blip r:embed="rId3" cstate="print"/>
          <a:stretch>
            <a:fillRect/>
          </a:stretch>
        </p:blipFill>
        <p:spPr>
          <a:xfrm>
            <a:off x="1752889" y="4624326"/>
            <a:ext cx="8229311" cy="689090"/>
          </a:xfrm>
          <a:prstGeom prst="rect">
            <a:avLst/>
          </a:prstGeom>
        </p:spPr>
      </p:pic>
    </p:spTree>
    <p:extLst>
      <p:ext uri="{BB962C8B-B14F-4D97-AF65-F5344CB8AC3E}">
        <p14:creationId xmlns:p14="http://schemas.microsoft.com/office/powerpoint/2010/main" val="2460840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2F393-D8BC-9D7B-3FDF-32D1933AD0D6}"/>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EDF6F76-5A9C-F9C3-FD15-830EAADA49B4}"/>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Leader State Transition</a:t>
            </a:r>
          </a:p>
        </p:txBody>
      </p:sp>
      <p:sp>
        <p:nvSpPr>
          <p:cNvPr id="8" name="Slide Number Placeholder 4">
            <a:extLst>
              <a:ext uri="{FF2B5EF4-FFF2-40B4-BE49-F238E27FC236}">
                <a16:creationId xmlns:a16="http://schemas.microsoft.com/office/drawing/2014/main" id="{ABE7E709-556E-E045-D90E-BCB1CA5AE655}"/>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18</a:t>
            </a:fld>
            <a:endParaRPr lang="en-US"/>
          </a:p>
        </p:txBody>
      </p:sp>
      <p:sp>
        <p:nvSpPr>
          <p:cNvPr id="3" name="TextBox 2">
            <a:extLst>
              <a:ext uri="{FF2B5EF4-FFF2-40B4-BE49-F238E27FC236}">
                <a16:creationId xmlns:a16="http://schemas.microsoft.com/office/drawing/2014/main" id="{F7D87799-2BC2-DE5B-3C4D-7B4912A7A73D}"/>
              </a:ext>
            </a:extLst>
          </p:cNvPr>
          <p:cNvSpPr txBox="1"/>
          <p:nvPr/>
        </p:nvSpPr>
        <p:spPr>
          <a:xfrm>
            <a:off x="250115" y="914401"/>
            <a:ext cx="10991625" cy="1938992"/>
          </a:xfrm>
          <a:prstGeom prst="rect">
            <a:avLst/>
          </a:prstGeom>
          <a:noFill/>
        </p:spPr>
        <p:txBody>
          <a:bodyPr wrap="square">
            <a:spAutoFit/>
          </a:bodyPr>
          <a:lstStyle/>
          <a:p>
            <a:pPr marL="514350" indent="-514350">
              <a:buFont typeface="+mj-lt"/>
              <a:buAutoNum type="arabicPeriod"/>
            </a:pPr>
            <a:r>
              <a:rPr lang="en-US" sz="2400" dirty="0"/>
              <a:t>Servers start as followers </a:t>
            </a:r>
          </a:p>
          <a:p>
            <a:pPr marL="514350" indent="-514350">
              <a:buFont typeface="+mj-lt"/>
              <a:buAutoNum type="arabicPeriod"/>
            </a:pPr>
            <a:r>
              <a:rPr lang="en-US" sz="2400" dirty="0"/>
              <a:t>Leaders send heartbeats (empty </a:t>
            </a:r>
            <a:r>
              <a:rPr lang="en-US" sz="2400" dirty="0" err="1"/>
              <a:t>AppendEntries</a:t>
            </a:r>
            <a:r>
              <a:rPr lang="en-US" sz="2400" dirty="0"/>
              <a:t> RPCs) to maintain authority over followers </a:t>
            </a:r>
          </a:p>
          <a:p>
            <a:pPr marL="514350" indent="-514350">
              <a:buFont typeface="+mj-lt"/>
              <a:buAutoNum type="arabicPeriod"/>
            </a:pPr>
            <a:r>
              <a:rPr lang="en-US" sz="2400" dirty="0"/>
              <a:t>If election Timeout elapses with no RPCs (100-500ms), follower assumes leader has crashed and starts new election</a:t>
            </a:r>
          </a:p>
        </p:txBody>
      </p:sp>
      <p:pic>
        <p:nvPicPr>
          <p:cNvPr id="4" name="object 4">
            <a:extLst>
              <a:ext uri="{FF2B5EF4-FFF2-40B4-BE49-F238E27FC236}">
                <a16:creationId xmlns:a16="http://schemas.microsoft.com/office/drawing/2014/main" id="{4A75A896-237D-FAA8-8D64-472231E35D4C}"/>
              </a:ext>
            </a:extLst>
          </p:cNvPr>
          <p:cNvPicPr>
            <a:picLocks noChangeAspect="1"/>
          </p:cNvPicPr>
          <p:nvPr/>
        </p:nvPicPr>
        <p:blipFill>
          <a:blip r:embed="rId3" cstate="print"/>
          <a:stretch>
            <a:fillRect/>
          </a:stretch>
        </p:blipFill>
        <p:spPr>
          <a:xfrm>
            <a:off x="2637956" y="3265534"/>
            <a:ext cx="6215941" cy="2303647"/>
          </a:xfrm>
          <a:prstGeom prst="rect">
            <a:avLst/>
          </a:prstGeom>
        </p:spPr>
      </p:pic>
    </p:spTree>
    <p:extLst>
      <p:ext uri="{BB962C8B-B14F-4D97-AF65-F5344CB8AC3E}">
        <p14:creationId xmlns:p14="http://schemas.microsoft.com/office/powerpoint/2010/main" val="2637425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063E-4FD9-BAFC-F406-C4B096F4CB7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29ABEFB-C568-F4A1-2D15-031AF97AF20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 Preview of Raft with Visualization</a:t>
            </a:r>
          </a:p>
        </p:txBody>
      </p:sp>
      <p:sp>
        <p:nvSpPr>
          <p:cNvPr id="8" name="Slide Number Placeholder 4">
            <a:extLst>
              <a:ext uri="{FF2B5EF4-FFF2-40B4-BE49-F238E27FC236}">
                <a16:creationId xmlns:a16="http://schemas.microsoft.com/office/drawing/2014/main" id="{79B8A0AF-0A9A-01C9-1251-4B6149BC2313}"/>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19</a:t>
            </a:fld>
            <a:endParaRPr lang="en-US"/>
          </a:p>
        </p:txBody>
      </p:sp>
      <p:sp>
        <p:nvSpPr>
          <p:cNvPr id="3" name="TextBox 2">
            <a:extLst>
              <a:ext uri="{FF2B5EF4-FFF2-40B4-BE49-F238E27FC236}">
                <a16:creationId xmlns:a16="http://schemas.microsoft.com/office/drawing/2014/main" id="{8DF55EF0-8D4C-6F5B-7C34-9323B2375FEE}"/>
              </a:ext>
            </a:extLst>
          </p:cNvPr>
          <p:cNvSpPr txBox="1"/>
          <p:nvPr/>
        </p:nvSpPr>
        <p:spPr>
          <a:xfrm>
            <a:off x="3047104" y="3203993"/>
            <a:ext cx="6094206" cy="523220"/>
          </a:xfrm>
          <a:prstGeom prst="rect">
            <a:avLst/>
          </a:prstGeom>
          <a:noFill/>
        </p:spPr>
        <p:txBody>
          <a:bodyPr wrap="square">
            <a:spAutoFit/>
          </a:bodyPr>
          <a:lstStyle/>
          <a:p>
            <a:r>
              <a:rPr lang="en-US" sz="2800" dirty="0">
                <a:hlinkClick r:id="rId3"/>
              </a:rPr>
              <a:t>https://raft.github.io/</a:t>
            </a:r>
            <a:endParaRPr lang="en-US" sz="2800" dirty="0"/>
          </a:p>
        </p:txBody>
      </p:sp>
    </p:spTree>
    <p:extLst>
      <p:ext uri="{BB962C8B-B14F-4D97-AF65-F5344CB8AC3E}">
        <p14:creationId xmlns:p14="http://schemas.microsoft.com/office/powerpoint/2010/main" val="3327707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6E4C-3657-DDC3-27B1-BFC22D24679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9587B4C-70A9-4D9F-64C7-9389BF077604}"/>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Elections</a:t>
            </a:r>
          </a:p>
        </p:txBody>
      </p:sp>
      <p:sp>
        <p:nvSpPr>
          <p:cNvPr id="8" name="Slide Number Placeholder 4">
            <a:extLst>
              <a:ext uri="{FF2B5EF4-FFF2-40B4-BE49-F238E27FC236}">
                <a16:creationId xmlns:a16="http://schemas.microsoft.com/office/drawing/2014/main" id="{345ECA6A-3549-01B5-0117-75B20002B18D}"/>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20</a:t>
            </a:fld>
            <a:endParaRPr lang="en-US"/>
          </a:p>
        </p:txBody>
      </p:sp>
      <p:sp>
        <p:nvSpPr>
          <p:cNvPr id="2" name="TextBox 1">
            <a:extLst>
              <a:ext uri="{FF2B5EF4-FFF2-40B4-BE49-F238E27FC236}">
                <a16:creationId xmlns:a16="http://schemas.microsoft.com/office/drawing/2014/main" id="{C418C5C9-2FE4-C872-E1A5-FE4595B02683}"/>
              </a:ext>
            </a:extLst>
          </p:cNvPr>
          <p:cNvSpPr txBox="1"/>
          <p:nvPr/>
        </p:nvSpPr>
        <p:spPr>
          <a:xfrm>
            <a:off x="58271" y="828339"/>
            <a:ext cx="11295529" cy="4278094"/>
          </a:xfrm>
          <a:prstGeom prst="rect">
            <a:avLst/>
          </a:prstGeom>
          <a:noFill/>
        </p:spPr>
        <p:txBody>
          <a:bodyPr wrap="square" rtlCol="0">
            <a:spAutoFit/>
          </a:bodyPr>
          <a:lstStyle/>
          <a:p>
            <a:r>
              <a:rPr lang="en-US" sz="2800" b="1" dirty="0"/>
              <a:t>Start election:</a:t>
            </a:r>
          </a:p>
          <a:p>
            <a:pPr marL="800100" lvl="1" indent="-342900">
              <a:buFont typeface="Arial" panose="020B0604020202020204" pitchFamily="34" charset="0"/>
              <a:buChar char="•"/>
            </a:pPr>
            <a:r>
              <a:rPr lang="en-US" sz="2400" dirty="0"/>
              <a:t>Increment current term, change to candidate state, vote for self</a:t>
            </a:r>
          </a:p>
          <a:p>
            <a:endParaRPr lang="en-US" sz="2400" dirty="0"/>
          </a:p>
          <a:p>
            <a:r>
              <a:rPr lang="en-US" sz="2400" dirty="0"/>
              <a:t>Send RequestVote to all other servers, retry until either:</a:t>
            </a:r>
          </a:p>
          <a:p>
            <a:pPr lvl="1"/>
            <a:r>
              <a:rPr lang="en-US" sz="2400" dirty="0"/>
              <a:t>1. Receive votes from a majority of servers:</a:t>
            </a:r>
          </a:p>
          <a:p>
            <a:pPr marL="1257300" lvl="2" indent="-342900">
              <a:buFont typeface="Arial" panose="020B0604020202020204" pitchFamily="34" charset="0"/>
              <a:buChar char="•"/>
            </a:pPr>
            <a:r>
              <a:rPr lang="en-US" sz="2400" dirty="0"/>
              <a:t>Become leader </a:t>
            </a:r>
          </a:p>
          <a:p>
            <a:pPr marL="1257300" lvl="2" indent="-342900">
              <a:buFont typeface="Arial" panose="020B0604020202020204" pitchFamily="34" charset="0"/>
              <a:buChar char="•"/>
            </a:pPr>
            <a:r>
              <a:rPr lang="en-US" sz="2400" dirty="0"/>
              <a:t>Send </a:t>
            </a:r>
            <a:r>
              <a:rPr lang="en-US" sz="2400" dirty="0" err="1"/>
              <a:t>AppendEntries</a:t>
            </a:r>
            <a:r>
              <a:rPr lang="en-US" sz="2400" dirty="0"/>
              <a:t> heartbeats to all other servers </a:t>
            </a:r>
          </a:p>
          <a:p>
            <a:pPr lvl="1"/>
            <a:r>
              <a:rPr lang="en-US" sz="2400" dirty="0"/>
              <a:t>2. Receive RPC from a valid leader:</a:t>
            </a:r>
          </a:p>
          <a:p>
            <a:pPr marL="1257300" lvl="2" indent="-342900">
              <a:buFont typeface="Arial" panose="020B0604020202020204" pitchFamily="34" charset="0"/>
              <a:buChar char="•"/>
            </a:pPr>
            <a:r>
              <a:rPr lang="en-US" sz="2400" dirty="0"/>
              <a:t>Return to follower state </a:t>
            </a:r>
          </a:p>
          <a:p>
            <a:pPr lvl="1"/>
            <a:r>
              <a:rPr lang="en-US" sz="2400" dirty="0"/>
              <a:t>3. No one wins (election timeout elapses):</a:t>
            </a:r>
          </a:p>
          <a:p>
            <a:pPr marL="1257300" lvl="2" indent="-342900">
              <a:buFont typeface="Arial" panose="020B0604020202020204" pitchFamily="34" charset="0"/>
              <a:buChar char="•"/>
            </a:pPr>
            <a:r>
              <a:rPr lang="en-US" sz="2400" dirty="0"/>
              <a:t>Increment term, start new election </a:t>
            </a:r>
          </a:p>
          <a:p>
            <a:endParaRPr lang="en-US" sz="2400" dirty="0"/>
          </a:p>
          <a:p>
            <a:r>
              <a:rPr lang="en-US" sz="2800" b="1" dirty="0"/>
              <a:t>A dead leader is not required — a few dropped heartbeats are enough</a:t>
            </a:r>
          </a:p>
          <a:p>
            <a:pPr marL="800100" lvl="1" indent="-342900">
              <a:buFont typeface="Arial" panose="020B0604020202020204" pitchFamily="34" charset="0"/>
              <a:buChar char="•"/>
            </a:pPr>
            <a:r>
              <a:rPr lang="en-US" sz="2400" dirty="0"/>
              <a:t>so the old leader may still be running, and does not know it was replaced</a:t>
            </a:r>
          </a:p>
        </p:txBody>
      </p:sp>
    </p:spTree>
    <p:extLst>
      <p:ext uri="{BB962C8B-B14F-4D97-AF65-F5344CB8AC3E}">
        <p14:creationId xmlns:p14="http://schemas.microsoft.com/office/powerpoint/2010/main" val="2589717027"/>
      </p:ext>
    </p:extLst>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2">
                                            <p:txEl>
                                              <p:pRg st="3" end="3"/>
                                            </p:txEl>
                                          </p:spTgt>
                                        </p:tgtEl>
                                        <p:attrNameLst>
                                          <p:attrName>style.visibility</p:attrName>
                                        </p:attrNameLst>
                                      </p:cBhvr>
                                      <p:to>
                                        <p:strVal val="visible"/>
                                      </p:to>
                                    </p:set>
                                    <p:animEffect transition="in" filter="dissolve">
                                      <p:cBhvr>
                                        <p:cTn id="5" dur="500"/>
                                        <p:tgtEl>
                                          <p:spTgt spid="2">
                                            <p:txEl>
                                              <p:pRg st="3" end="3"/>
                                            </p:txEl>
                                          </p:spTgt>
                                        </p:tgtEl>
                                      </p:cBhvr>
                                    </p:animEffect>
                                  </p:childTnLst>
                                </p:cTn>
                              </p:par>
                              <p:par>
                                <p:cTn id="6" presetID="9" presetClass="entr" presetSubtype="0" fill="hold" nodeType="withEffect">
                                  <p:stCondLst>
                                    <p:cond delay="0"/>
                                  </p:stCondLst>
                                  <p:childTnLst>
                                    <p:set>
                                      <p:cBhvr>
                                        <p:cTn id="7" dur="1" fill="hold">
                                          <p:stCondLst>
                                            <p:cond delay="0"/>
                                          </p:stCondLst>
                                        </p:cTn>
                                        <p:tgtEl>
                                          <p:spTgt spid="2">
                                            <p:txEl>
                                              <p:pRg st="4" end="4"/>
                                            </p:txEl>
                                          </p:spTgt>
                                        </p:tgtEl>
                                        <p:attrNameLst>
                                          <p:attrName>style.visibility</p:attrName>
                                        </p:attrNameLst>
                                      </p:cBhvr>
                                      <p:to>
                                        <p:strVal val="visible"/>
                                      </p:to>
                                    </p:set>
                                    <p:animEffect transition="in" filter="dissolve">
                                      <p:cBhvr>
                                        <p:cTn id="8" dur="500"/>
                                        <p:tgtEl>
                                          <p:spTgt spid="2">
                                            <p:txEl>
                                              <p:pRg st="4" end="4"/>
                                            </p:txEl>
                                          </p:spTgt>
                                        </p:tgtEl>
                                      </p:cBhvr>
                                    </p:animEffect>
                                  </p:childTnLst>
                                </p:cTn>
                              </p:par>
                              <p:par>
                                <p:cTn id="9" presetID="9"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animEffect transition="in" filter="dissolve">
                                      <p:cBhvr>
                                        <p:cTn id="11" dur="500"/>
                                        <p:tgtEl>
                                          <p:spTgt spid="2">
                                            <p:txEl>
                                              <p:pRg st="5" end="5"/>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2">
                                            <p:txEl>
                                              <p:pRg st="6" end="6"/>
                                            </p:txEl>
                                          </p:spTgt>
                                        </p:tgtEl>
                                        <p:attrNameLst>
                                          <p:attrName>style.visibility</p:attrName>
                                        </p:attrNameLst>
                                      </p:cBhvr>
                                      <p:to>
                                        <p:strVal val="visible"/>
                                      </p:to>
                                    </p:set>
                                    <p:animEffect transition="in" filter="dissolve">
                                      <p:cBhvr>
                                        <p:cTn id="14" dur="500"/>
                                        <p:tgtEl>
                                          <p:spTgt spid="2">
                                            <p:txEl>
                                              <p:pRg st="6" end="6"/>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dissolve">
                                      <p:cBhvr>
                                        <p:cTn id="17" dur="500"/>
                                        <p:tgtEl>
                                          <p:spTgt spid="2">
                                            <p:txEl>
                                              <p:pRg st="7" end="7"/>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2">
                                            <p:txEl>
                                              <p:pRg st="8" end="8"/>
                                            </p:txEl>
                                          </p:spTgt>
                                        </p:tgtEl>
                                        <p:attrNameLst>
                                          <p:attrName>style.visibility</p:attrName>
                                        </p:attrNameLst>
                                      </p:cBhvr>
                                      <p:to>
                                        <p:strVal val="visible"/>
                                      </p:to>
                                    </p:set>
                                    <p:animEffect transition="in" filter="dissolve">
                                      <p:cBhvr>
                                        <p:cTn id="20" dur="500"/>
                                        <p:tgtEl>
                                          <p:spTgt spid="2">
                                            <p:txEl>
                                              <p:pRg st="8" end="8"/>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animEffect transition="in" filter="dissolve">
                                      <p:cBhvr>
                                        <p:cTn id="23" dur="500"/>
                                        <p:tgtEl>
                                          <p:spTgt spid="2">
                                            <p:txEl>
                                              <p:pRg st="9" end="9"/>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2">
                                            <p:txEl>
                                              <p:pRg st="10" end="10"/>
                                            </p:txEl>
                                          </p:spTgt>
                                        </p:tgtEl>
                                        <p:attrNameLst>
                                          <p:attrName>style.visibility</p:attrName>
                                        </p:attrNameLst>
                                      </p:cBhvr>
                                      <p:to>
                                        <p:strVal val="visible"/>
                                      </p:to>
                                    </p:set>
                                    <p:animEffect transition="in" filter="dissolve">
                                      <p:cBhvr>
                                        <p:cTn id="26" dur="500"/>
                                        <p:tgtEl>
                                          <p:spTgt spid="2">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
                                            <p:txEl>
                                              <p:pRg st="12" end="12"/>
                                            </p:txEl>
                                          </p:spTgt>
                                        </p:tgtEl>
                                        <p:attrNameLst>
                                          <p:attrName>style.visibility</p:attrName>
                                        </p:attrNameLst>
                                      </p:cBhvr>
                                      <p:to>
                                        <p:strVal val="visible"/>
                                      </p:to>
                                    </p:set>
                                    <p:animEffect transition="in" filter="dissolve">
                                      <p:cBhvr>
                                        <p:cTn id="31" dur="500"/>
                                        <p:tgtEl>
                                          <p:spTgt spid="2">
                                            <p:txEl>
                                              <p:pRg st="12" end="12"/>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2">
                                            <p:txEl>
                                              <p:pRg st="13" end="13"/>
                                            </p:txEl>
                                          </p:spTgt>
                                        </p:tgtEl>
                                        <p:attrNameLst>
                                          <p:attrName>style.visibility</p:attrName>
                                        </p:attrNameLst>
                                      </p:cBhvr>
                                      <p:to>
                                        <p:strVal val="visible"/>
                                      </p:to>
                                    </p:set>
                                    <p:animEffect transition="in" filter="dissolve">
                                      <p:cBhvr>
                                        <p:cTn id="34"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D25E-BF5F-F9DB-33E3-251EB0F9D16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955AEA33-C1E1-8708-BDA5-3A3F5F52E2B0}"/>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At Most One Leader Per Term</a:t>
            </a:r>
          </a:p>
        </p:txBody>
      </p:sp>
      <p:sp>
        <p:nvSpPr>
          <p:cNvPr id="8" name="Slide Number Placeholder 4">
            <a:extLst>
              <a:ext uri="{FF2B5EF4-FFF2-40B4-BE49-F238E27FC236}">
                <a16:creationId xmlns:a16="http://schemas.microsoft.com/office/drawing/2014/main" id="{DE0F974A-4E52-13AD-270A-6B4F7DE31501}"/>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21</a:t>
            </a:fld>
            <a:endParaRPr lang="en-US"/>
          </a:p>
        </p:txBody>
      </p:sp>
      <p:sp>
        <p:nvSpPr>
          <p:cNvPr id="3" name="TextBox 2">
            <a:extLst>
              <a:ext uri="{FF2B5EF4-FFF2-40B4-BE49-F238E27FC236}">
                <a16:creationId xmlns:a16="http://schemas.microsoft.com/office/drawing/2014/main" id="{1CF4E90F-5F03-513D-C52D-6CF9A4587C01}"/>
              </a:ext>
            </a:extLst>
          </p:cNvPr>
          <p:cNvSpPr txBox="1"/>
          <p:nvPr/>
        </p:nvSpPr>
        <p:spPr>
          <a:xfrm>
            <a:off x="196325" y="914401"/>
            <a:ext cx="10744201" cy="3908762"/>
          </a:xfrm>
          <a:prstGeom prst="rect">
            <a:avLst/>
          </a:prstGeom>
          <a:noFill/>
        </p:spPr>
        <p:txBody>
          <a:bodyPr wrap="square">
            <a:spAutoFit/>
          </a:bodyPr>
          <a:lstStyle/>
          <a:p>
            <a:r>
              <a:rPr lang="en-US" sz="2800" b="1" dirty="0"/>
              <a:t>At most one winner per term</a:t>
            </a:r>
          </a:p>
          <a:p>
            <a:pPr marL="800100" lvl="1" indent="-342900">
              <a:buFont typeface="Arial" panose="020B0604020202020204" pitchFamily="34" charset="0"/>
              <a:buChar char="•"/>
            </a:pPr>
            <a:r>
              <a:rPr lang="en-US" sz="2400" dirty="0"/>
              <a:t>each server votes only once per term, and records it on disk before replying</a:t>
            </a:r>
          </a:p>
          <a:p>
            <a:pPr marL="800100" lvl="1" indent="-342900">
              <a:buFont typeface="Arial" panose="020B0604020202020204" pitchFamily="34" charset="0"/>
              <a:buChar char="•"/>
            </a:pPr>
            <a:r>
              <a:rPr lang="en-US" sz="2400" dirty="0"/>
              <a:t>two candidates cannot both collect a majority</a:t>
            </a:r>
          </a:p>
          <a:p>
            <a:endParaRPr lang="en-US" sz="2400" dirty="0"/>
          </a:p>
          <a:p>
            <a:r>
              <a:rPr lang="en-US" sz="2800" b="1" dirty="0"/>
              <a:t>A minority being down does not stop an election</a:t>
            </a:r>
          </a:p>
          <a:p>
            <a:pPr marL="800100" lvl="1" indent="-342900">
              <a:buFont typeface="Arial" panose="020B0604020202020204" pitchFamily="34" charset="0"/>
              <a:buChar char="•"/>
            </a:pPr>
            <a:r>
              <a:rPr lang="en-US" sz="2400" dirty="0"/>
              <a:t>but with fewer than a majority reachable, Raft keeps trying and never elects</a:t>
            </a:r>
          </a:p>
          <a:p>
            <a:endParaRPr lang="en-US" sz="2400" dirty="0"/>
          </a:p>
          <a:p>
            <a:r>
              <a:rPr lang="en-US" sz="2800" b="1" dirty="0"/>
              <a:t>How does everyone else find out who won?</a:t>
            </a:r>
          </a:p>
          <a:p>
            <a:pPr marL="800100" lvl="1" indent="-342900">
              <a:buFont typeface="Arial" panose="020B0604020202020204" pitchFamily="34" charset="0"/>
              <a:buChar char="•"/>
            </a:pPr>
            <a:r>
              <a:rPr lang="en-US" sz="2400" dirty="0"/>
              <a:t>the winner knows directly — it saw yes votes from a majority</a:t>
            </a:r>
          </a:p>
          <a:p>
            <a:pPr marL="800100" lvl="1" indent="-342900">
              <a:buFont typeface="Arial" panose="020B0604020202020204" pitchFamily="34" charset="0"/>
              <a:buChar char="•"/>
            </a:pPr>
            <a:r>
              <a:rPr lang="en-US" sz="2400" dirty="0"/>
              <a:t>nobody else does, so the winner immediately sends AppendEntries</a:t>
            </a:r>
          </a:p>
          <a:p>
            <a:pPr marL="800100" lvl="1" indent="-342900">
              <a:buFont typeface="Arial" panose="020B0604020202020204" pitchFamily="34" charset="0"/>
              <a:buChar char="•"/>
            </a:pPr>
            <a:r>
              <a:rPr lang="en-US" sz="2400" dirty="0"/>
              <a:t>only a leader may send AppendEntries for a term, so one for term 19 proves somebody won term 19</a:t>
            </a:r>
          </a:p>
          <a:p>
            <a:pPr marL="800100" lvl="1" indent="-342900">
              <a:buFont typeface="Arial" panose="020B0604020202020204" pitchFamily="34" charset="0"/>
              <a:buChar char="•"/>
            </a:pPr>
            <a:r>
              <a:rPr lang="en-US" sz="2400" dirty="0"/>
              <a:t>and it resets every election timer, suppressing further elections</a:t>
            </a:r>
          </a:p>
        </p:txBody>
      </p:sp>
      <p:pic>
        <p:nvPicPr>
          <p:cNvPr id="4" name="object 5">
            <a:extLst>
              <a:ext uri="{FF2B5EF4-FFF2-40B4-BE49-F238E27FC236}">
                <a16:creationId xmlns:a16="http://schemas.microsoft.com/office/drawing/2014/main" id="{380FA5BE-6813-2CEB-FCED-32CDE7F9772E}"/>
              </a:ext>
            </a:extLst>
          </p:cNvPr>
          <p:cNvPicPr>
            <a:picLocks noChangeAspect="1"/>
          </p:cNvPicPr>
          <p:nvPr/>
        </p:nvPicPr>
        <p:blipFill>
          <a:blip r:embed="rId3" cstate="print"/>
          <a:stretch>
            <a:fillRect/>
          </a:stretch>
        </p:blipFill>
        <p:spPr>
          <a:xfrm>
            <a:off x="2889785" y="2264129"/>
            <a:ext cx="5081632" cy="678028"/>
          </a:xfrm>
          <a:prstGeom prst="rect">
            <a:avLst/>
          </a:prstGeom>
        </p:spPr>
      </p:pic>
    </p:spTree>
    <p:extLst>
      <p:ext uri="{BB962C8B-B14F-4D97-AF65-F5344CB8AC3E}">
        <p14:creationId xmlns:p14="http://schemas.microsoft.com/office/powerpoint/2010/main" val="3151646137"/>
      </p:ext>
    </p:extLst>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3">
                                            <p:txEl>
                                              <p:pRg st="4" end="4"/>
                                            </p:txEl>
                                          </p:spTgt>
                                        </p:tgtEl>
                                        <p:attrNameLst>
                                          <p:attrName>style.visibility</p:attrName>
                                        </p:attrNameLst>
                                      </p:cBhvr>
                                      <p:to>
                                        <p:strVal val="visible"/>
                                      </p:to>
                                    </p:set>
                                    <p:animEffect transition="in" filter="dissolve">
                                      <p:cBhvr>
                                        <p:cTn id="5" dur="500"/>
                                        <p:tgtEl>
                                          <p:spTgt spid="3">
                                            <p:txEl>
                                              <p:pRg st="4" end="4"/>
                                            </p:txEl>
                                          </p:spTgt>
                                        </p:tgtEl>
                                      </p:cBhvr>
                                    </p:animEffect>
                                  </p:childTnLst>
                                </p:cTn>
                              </p:par>
                              <p:par>
                                <p:cTn id="6" presetID="9" presetClass="entr" presetSubtype="0" fill="hold" nodeType="withEffect">
                                  <p:stCondLst>
                                    <p:cond delay="0"/>
                                  </p:stCondLst>
                                  <p:childTnLst>
                                    <p:set>
                                      <p:cBhvr>
                                        <p:cTn id="7" dur="1" fill="hold">
                                          <p:stCondLst>
                                            <p:cond delay="0"/>
                                          </p:stCondLst>
                                        </p:cTn>
                                        <p:tgtEl>
                                          <p:spTgt spid="3">
                                            <p:txEl>
                                              <p:pRg st="5" end="5"/>
                                            </p:txEl>
                                          </p:spTgt>
                                        </p:tgtEl>
                                        <p:attrNameLst>
                                          <p:attrName>style.visibility</p:attrName>
                                        </p:attrNameLst>
                                      </p:cBhvr>
                                      <p:to>
                                        <p:strVal val="visible"/>
                                      </p:to>
                                    </p:set>
                                    <p:animEffect transition="in" filter="dissolve">
                                      <p:cBhvr>
                                        <p:cTn id="8"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dissolve">
                                      <p:cBhvr>
                                        <p:cTn id="13" dur="500"/>
                                        <p:tgtEl>
                                          <p:spTgt spid="3">
                                            <p:txEl>
                                              <p:pRg st="7" end="7"/>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dissolve">
                                      <p:cBhvr>
                                        <p:cTn id="16" dur="500"/>
                                        <p:tgtEl>
                                          <p:spTgt spid="3">
                                            <p:txEl>
                                              <p:pRg st="8" end="8"/>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dissolve">
                                      <p:cBhvr>
                                        <p:cTn id="19" dur="500"/>
                                        <p:tgtEl>
                                          <p:spTgt spid="3">
                                            <p:txEl>
                                              <p:pRg st="9" end="9"/>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dissolve">
                                      <p:cBhvr>
                                        <p:cTn id="22" dur="500"/>
                                        <p:tgtEl>
                                          <p:spTgt spid="3">
                                            <p:txEl>
                                              <p:pRg st="10" end="10"/>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dissolve">
                                      <p:cBhvr>
                                        <p:cTn id="2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9ED7-3772-3596-99F2-9F32323125D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D9FD9D9-5CEB-726E-FF97-864EEC73134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When Elections Fail</a:t>
            </a:r>
          </a:p>
        </p:txBody>
      </p:sp>
      <p:sp>
        <p:nvSpPr>
          <p:cNvPr id="8" name="Slide Number Placeholder 4">
            <a:extLst>
              <a:ext uri="{FF2B5EF4-FFF2-40B4-BE49-F238E27FC236}">
                <a16:creationId xmlns:a16="http://schemas.microsoft.com/office/drawing/2014/main" id="{4D632C84-AC14-BE97-F833-F2393FB7181F}"/>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22</a:t>
            </a:fld>
            <a:endParaRPr lang="en-US"/>
          </a:p>
        </p:txBody>
      </p:sp>
      <p:sp>
        <p:nvSpPr>
          <p:cNvPr id="2" name="TextBox 1">
            <a:extLst>
              <a:ext uri="{FF2B5EF4-FFF2-40B4-BE49-F238E27FC236}">
                <a16:creationId xmlns:a16="http://schemas.microsoft.com/office/drawing/2014/main" id="{9377D12E-C23C-4D63-5CB9-08661CDAED0F}"/>
              </a:ext>
            </a:extLst>
          </p:cNvPr>
          <p:cNvSpPr txBox="1"/>
          <p:nvPr/>
        </p:nvSpPr>
        <p:spPr>
          <a:xfrm>
            <a:off x="116411" y="726888"/>
            <a:ext cx="10759571" cy="5877937"/>
          </a:xfrm>
          <a:prstGeom prst="rect">
            <a:avLst/>
          </a:prstGeom>
          <a:noFill/>
        </p:spPr>
        <p:txBody>
          <a:bodyPr wrap="square" rtlCol="0">
            <a:spAutoFit/>
          </a:bodyPr>
          <a:lstStyle/>
          <a:p>
            <a:r>
              <a:rPr lang="en-US" sz="2800" b="1" dirty="0"/>
              <a:t>An election may fail in two ways:</a:t>
            </a:r>
          </a:p>
          <a:p>
            <a:pPr marL="800100" lvl="1" indent="-342900">
              <a:buFont typeface="Arial" panose="020B0604020202020204" pitchFamily="34" charset="0"/>
              <a:buChar char="•"/>
            </a:pPr>
            <a:r>
              <a:rPr lang="en-US" sz="2400" dirty="0"/>
              <a:t>fewer than a majority reachable — nothing happens, and that is safe</a:t>
            </a:r>
          </a:p>
          <a:p>
            <a:pPr marL="800100" lvl="1" indent="-342900">
              <a:buFont typeface="Arial" panose="020B0604020202020204" pitchFamily="34" charset="0"/>
              <a:buChar char="•"/>
            </a:pPr>
            <a:r>
              <a:rPr lang="en-US" sz="2400" dirty="0"/>
              <a:t>simultaneous candidates split the vote, nobody gets a majority</a:t>
            </a:r>
          </a:p>
          <a:p>
            <a:endParaRPr lang="en-US" sz="1400" dirty="0"/>
          </a:p>
          <a:p>
            <a:r>
              <a:rPr lang="en-US" sz="2800" b="1" dirty="0"/>
              <a:t>Three servers, all timers fire together:</a:t>
            </a:r>
          </a:p>
          <a:p>
            <a:pPr marL="800100" lvl="1" indent="-342900">
              <a:buFont typeface="Arial" panose="020B0604020202020204" pitchFamily="34" charset="0"/>
              <a:buChar char="•"/>
            </a:pPr>
            <a:r>
              <a:rPr lang="en-US" sz="2400" dirty="0"/>
              <a:t>each votes for itself and refuses the other two — one vote each, nobody wins</a:t>
            </a:r>
          </a:p>
          <a:p>
            <a:pPr marL="800100" lvl="1" indent="-342900">
              <a:buFont typeface="Arial" panose="020B0604020202020204" pitchFamily="34" charset="0"/>
              <a:buChar char="•"/>
            </a:pPr>
            <a:r>
              <a:rPr lang="en-US" sz="2400" dirty="0"/>
              <a:t>the timers fire again, and may collide again, forever</a:t>
            </a:r>
          </a:p>
          <a:p>
            <a:endParaRPr lang="en-US" sz="1400" dirty="0"/>
          </a:p>
          <a:p>
            <a:r>
              <a:rPr lang="en-US" sz="2800" b="1" dirty="0"/>
              <a:t>Solution: randomize the election timeout</a:t>
            </a:r>
          </a:p>
          <a:p>
            <a:pPr marL="800100" lvl="1" indent="-342900">
              <a:buFont typeface="Arial" panose="020B0604020202020204" pitchFamily="34" charset="0"/>
              <a:buChar char="•"/>
            </a:pPr>
            <a:r>
              <a:rPr lang="en-US" sz="2400" dirty="0"/>
              <a:t>all reset on the same heartbeat, but to different random deadlines</a:t>
            </a:r>
          </a:p>
          <a:p>
            <a:pPr marL="800100" lvl="1" indent="-342900">
              <a:buFont typeface="Arial" panose="020B0604020202020204" pitchFamily="34" charset="0"/>
              <a:buChar char="•"/>
            </a:pPr>
            <a:r>
              <a:rPr lang="en-US" sz="2400" dirty="0"/>
              <a:t>the earliest candidate collects its votes before the next timer fires</a:t>
            </a:r>
          </a:p>
        </p:txBody>
      </p:sp>
    </p:spTree>
    <p:extLst>
      <p:ext uri="{BB962C8B-B14F-4D97-AF65-F5344CB8AC3E}">
        <p14:creationId xmlns:p14="http://schemas.microsoft.com/office/powerpoint/2010/main" val="1751667556"/>
      </p:ext>
    </p:extLst>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2">
                                            <p:txEl>
                                              <p:pRg st="4" end="4"/>
                                            </p:txEl>
                                          </p:spTgt>
                                        </p:tgtEl>
                                        <p:attrNameLst>
                                          <p:attrName>style.visibility</p:attrName>
                                        </p:attrNameLst>
                                      </p:cBhvr>
                                      <p:to>
                                        <p:strVal val="visible"/>
                                      </p:to>
                                    </p:set>
                                    <p:animEffect transition="in" filter="dissolve">
                                      <p:cBhvr>
                                        <p:cTn id="5" dur="500"/>
                                        <p:tgtEl>
                                          <p:spTgt spid="2">
                                            <p:txEl>
                                              <p:pRg st="4" end="4"/>
                                            </p:txEl>
                                          </p:spTgt>
                                        </p:tgtEl>
                                      </p:cBhvr>
                                    </p:animEffect>
                                  </p:childTnLst>
                                </p:cTn>
                              </p:par>
                              <p:par>
                                <p:cTn id="6" presetID="9" presetClass="entr" presetSubtype="0" fill="hold" nodeType="withEffect">
                                  <p:stCondLst>
                                    <p:cond delay="0"/>
                                  </p:stCondLst>
                                  <p:childTnLst>
                                    <p:set>
                                      <p:cBhvr>
                                        <p:cTn id="7" dur="1" fill="hold">
                                          <p:stCondLst>
                                            <p:cond delay="0"/>
                                          </p:stCondLst>
                                        </p:cTn>
                                        <p:tgtEl>
                                          <p:spTgt spid="2">
                                            <p:txEl>
                                              <p:pRg st="5" end="5"/>
                                            </p:txEl>
                                          </p:spTgt>
                                        </p:tgtEl>
                                        <p:attrNameLst>
                                          <p:attrName>style.visibility</p:attrName>
                                        </p:attrNameLst>
                                      </p:cBhvr>
                                      <p:to>
                                        <p:strVal val="visible"/>
                                      </p:to>
                                    </p:set>
                                    <p:animEffect transition="in" filter="dissolve">
                                      <p:cBhvr>
                                        <p:cTn id="8" dur="500"/>
                                        <p:tgtEl>
                                          <p:spTgt spid="2">
                                            <p:txEl>
                                              <p:pRg st="5" end="5"/>
                                            </p:txEl>
                                          </p:spTgt>
                                        </p:tgtEl>
                                      </p:cBhvr>
                                    </p:animEffect>
                                  </p:childTnLst>
                                </p:cTn>
                              </p:par>
                              <p:par>
                                <p:cTn id="9" presetID="9"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animEffect transition="in" filter="dissolve">
                                      <p:cBhvr>
                                        <p:cTn id="11"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dissolve">
                                      <p:cBhvr>
                                        <p:cTn id="16" dur="500"/>
                                        <p:tgtEl>
                                          <p:spTgt spid="2">
                                            <p:txEl>
                                              <p:pRg st="8" end="8"/>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dissolve">
                                      <p:cBhvr>
                                        <p:cTn id="19" dur="500"/>
                                        <p:tgtEl>
                                          <p:spTgt spid="2">
                                            <p:txEl>
                                              <p:pRg st="9" end="9"/>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2">
                                            <p:txEl>
                                              <p:pRg st="10" end="10"/>
                                            </p:txEl>
                                          </p:spTgt>
                                        </p:tgtEl>
                                        <p:attrNameLst>
                                          <p:attrName>style.visibility</p:attrName>
                                        </p:attrNameLst>
                                      </p:cBhvr>
                                      <p:to>
                                        <p:strVal val="visible"/>
                                      </p:to>
                                    </p:set>
                                    <p:animEffect transition="in" filter="dissolve">
                                      <p:cBhvr>
                                        <p:cTn id="2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9ED7-3772-3596-99F2-9F32323125D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D9FD9D9-5CEB-726E-FF97-864EEC73134E}"/>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Choosing the Election Timeout</a:t>
            </a:r>
          </a:p>
        </p:txBody>
      </p:sp>
      <p:sp>
        <p:nvSpPr>
          <p:cNvPr id="8" name="Slide Number Placeholder 4">
            <a:extLst>
              <a:ext uri="{FF2B5EF4-FFF2-40B4-BE49-F238E27FC236}">
                <a16:creationId xmlns:a16="http://schemas.microsoft.com/office/drawing/2014/main" id="{4D632C84-AC14-BE97-F833-F2393FB7181F}"/>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23</a:t>
            </a:fld>
            <a:endParaRPr lang="en-US"/>
          </a:p>
        </p:txBody>
      </p:sp>
      <p:sp>
        <p:nvSpPr>
          <p:cNvPr id="2" name="TextBox 1">
            <a:extLst>
              <a:ext uri="{FF2B5EF4-FFF2-40B4-BE49-F238E27FC236}">
                <a16:creationId xmlns:a16="http://schemas.microsoft.com/office/drawing/2014/main" id="{9377D12E-C23C-4D63-5CB9-08661CDAED0F}"/>
              </a:ext>
            </a:extLst>
          </p:cNvPr>
          <p:cNvSpPr txBox="1"/>
          <p:nvPr/>
        </p:nvSpPr>
        <p:spPr>
          <a:xfrm>
            <a:off x="116411" y="726888"/>
            <a:ext cx="10759571" cy="5877937"/>
          </a:xfrm>
          <a:prstGeom prst="rect">
            <a:avLst/>
          </a:prstGeom>
          <a:noFill/>
        </p:spPr>
        <p:txBody>
          <a:bodyPr wrap="square" rtlCol="0">
            <a:spAutoFit/>
          </a:bodyPr>
          <a:lstStyle/>
          <a:p>
            <a:r>
              <a:rPr lang="en-US" sz="2800" b="1" dirty="0"/>
              <a:t>Minimum: a few heartbeat intervals</a:t>
            </a:r>
          </a:p>
          <a:p>
            <a:pPr marL="800100" lvl="1" indent="-342900">
              <a:buFont typeface="Arial" panose="020B0604020202020204" pitchFamily="34" charset="0"/>
              <a:buChar char="•"/>
            </a:pPr>
            <a:r>
              <a:rPr lang="en-US" sz="2400" dirty="0"/>
              <a:t>one interval at least — but packets drop, so with 100 ms heartbeats use a ~300 ms floor</a:t>
            </a:r>
          </a:p>
          <a:p>
            <a:endParaRPr lang="en-US" sz="1400" dirty="0"/>
          </a:p>
          <a:p>
            <a:r>
              <a:rPr lang="en-US" sz="2800" b="1" dirty="0"/>
              <a:t>Maximum: two forces pulling against each other</a:t>
            </a:r>
          </a:p>
          <a:p>
            <a:pPr marL="800100" lvl="1" indent="-342900">
              <a:buFont typeface="Arial" panose="020B0604020202020204" pitchFamily="34" charset="0"/>
              <a:buChar char="•"/>
            </a:pPr>
            <a:r>
              <a:rPr lang="en-US" sz="2400" dirty="0"/>
              <a:t>longer means clients wait longer with no leader after a failure</a:t>
            </a:r>
          </a:p>
          <a:p>
            <a:pPr marL="800100" lvl="1" indent="-342900">
              <a:buFont typeface="Arial" panose="020B0604020202020204" pitchFamily="34" charset="0"/>
              <a:buChar char="•"/>
            </a:pPr>
            <a:r>
              <a:rPr lang="en-US" sz="2400" dirty="0"/>
              <a:t>but the gap between the first and second timer must exceed one RPC round trip</a:t>
            </a:r>
          </a:p>
          <a:p>
            <a:pPr marL="800100" lvl="1" indent="-342900">
              <a:buFont typeface="Arial" panose="020B0604020202020204" pitchFamily="34" charset="0"/>
              <a:buChar char="•"/>
            </a:pPr>
            <a:r>
              <a:rPr lang="en-US" sz="2400" dirty="0"/>
              <a:t>otherwise the first candidate cannot finish collecting votes before the next one starts</a:t>
            </a:r>
          </a:p>
          <a:p>
            <a:endParaRPr lang="en-US" sz="1400" dirty="0"/>
          </a:p>
          <a:p>
            <a:r>
              <a:rPr lang="en-US" sz="2800" b="1" dirty="0"/>
              <a:t>Draw a fresh value on every reset</a:t>
            </a:r>
          </a:p>
          <a:p>
            <a:pPr marL="800100" lvl="1" indent="-342900">
              <a:buFont typeface="Arial" panose="020B0604020202020204" pitchFamily="34" charset="0"/>
              <a:buChar char="•"/>
            </a:pPr>
            <a:r>
              <a:rPr lang="en-US" sz="2400" dirty="0"/>
              <a:t>pick once at startup and two unlucky servers collide in every term, forever</a:t>
            </a:r>
          </a:p>
        </p:txBody>
      </p:sp>
    </p:spTree>
    <p:extLst>
      <p:ext uri="{BB962C8B-B14F-4D97-AF65-F5344CB8AC3E}">
        <p14:creationId xmlns:p14="http://schemas.microsoft.com/office/powerpoint/2010/main" val="1751667556"/>
      </p:ext>
    </p:extLst>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9" presetClass="entr" presetSubtype="0" fill="hold" nodeType="clickEffect">
                                  <p:stCondLst>
                                    <p:cond delay="0"/>
                                  </p:stCondLst>
                                  <p:childTnLst>
                                    <p:set>
                                      <p:cBhvr>
                                        <p:cTn id="4" dur="1" fill="hold">
                                          <p:stCondLst>
                                            <p:cond delay="0"/>
                                          </p:stCondLst>
                                        </p:cTn>
                                        <p:tgtEl>
                                          <p:spTgt spid="2">
                                            <p:txEl>
                                              <p:pRg st="3" end="3"/>
                                            </p:txEl>
                                          </p:spTgt>
                                        </p:tgtEl>
                                        <p:attrNameLst>
                                          <p:attrName>style.visibility</p:attrName>
                                        </p:attrNameLst>
                                      </p:cBhvr>
                                      <p:to>
                                        <p:strVal val="visible"/>
                                      </p:to>
                                    </p:set>
                                    <p:animEffect transition="in" filter="dissolve">
                                      <p:cBhvr>
                                        <p:cTn id="5" dur="500"/>
                                        <p:tgtEl>
                                          <p:spTgt spid="2">
                                            <p:txEl>
                                              <p:pRg st="3" end="3"/>
                                            </p:txEl>
                                          </p:spTgt>
                                        </p:tgtEl>
                                      </p:cBhvr>
                                    </p:animEffect>
                                  </p:childTnLst>
                                </p:cTn>
                              </p:par>
                              <p:par>
                                <p:cTn id="6" presetID="9" presetClass="entr" presetSubtype="0" fill="hold" nodeType="withEffect">
                                  <p:stCondLst>
                                    <p:cond delay="0"/>
                                  </p:stCondLst>
                                  <p:childTnLst>
                                    <p:set>
                                      <p:cBhvr>
                                        <p:cTn id="7" dur="1" fill="hold">
                                          <p:stCondLst>
                                            <p:cond delay="0"/>
                                          </p:stCondLst>
                                        </p:cTn>
                                        <p:tgtEl>
                                          <p:spTgt spid="2">
                                            <p:txEl>
                                              <p:pRg st="4" end="4"/>
                                            </p:txEl>
                                          </p:spTgt>
                                        </p:tgtEl>
                                        <p:attrNameLst>
                                          <p:attrName>style.visibility</p:attrName>
                                        </p:attrNameLst>
                                      </p:cBhvr>
                                      <p:to>
                                        <p:strVal val="visible"/>
                                      </p:to>
                                    </p:set>
                                    <p:animEffect transition="in" filter="dissolve">
                                      <p:cBhvr>
                                        <p:cTn id="8" dur="500"/>
                                        <p:tgtEl>
                                          <p:spTgt spid="2">
                                            <p:txEl>
                                              <p:pRg st="4" end="4"/>
                                            </p:txEl>
                                          </p:spTgt>
                                        </p:tgtEl>
                                      </p:cBhvr>
                                    </p:animEffect>
                                  </p:childTnLst>
                                </p:cTn>
                              </p:par>
                              <p:par>
                                <p:cTn id="9" presetID="9"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animEffect transition="in" filter="dissolve">
                                      <p:cBhvr>
                                        <p:cTn id="11" dur="500"/>
                                        <p:tgtEl>
                                          <p:spTgt spid="2">
                                            <p:txEl>
                                              <p:pRg st="5" end="5"/>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2">
                                            <p:txEl>
                                              <p:pRg st="6" end="6"/>
                                            </p:txEl>
                                          </p:spTgt>
                                        </p:tgtEl>
                                        <p:attrNameLst>
                                          <p:attrName>style.visibility</p:attrName>
                                        </p:attrNameLst>
                                      </p:cBhvr>
                                      <p:to>
                                        <p:strVal val="visible"/>
                                      </p:to>
                                    </p:set>
                                    <p:animEffect transition="in" filter="dissolve">
                                      <p:cBhvr>
                                        <p:cTn id="14"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animEffect transition="in" filter="dissolve">
                                      <p:cBhvr>
                                        <p:cTn id="19" dur="500"/>
                                        <p:tgtEl>
                                          <p:spTgt spid="2">
                                            <p:txEl>
                                              <p:pRg st="8" end="8"/>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dissolve">
                                      <p:cBhvr>
                                        <p:cTn id="2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 Attendance</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24</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https://forms.gle/oKYS9zxkogM5N4uq9</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3F045-0E6B-6239-C2C4-759DA78E7AF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2DD144C-0540-859E-55B4-0168450DCFDA}"/>
              </a:ext>
            </a:extLst>
          </p:cNvPr>
          <p:cNvSpPr>
            <a:spLocks noGrp="1"/>
          </p:cNvSpPr>
          <p:nvPr>
            <p:ph type="title"/>
          </p:nvPr>
        </p:nvSpPr>
        <p:spPr>
          <a:xfrm>
            <a:off x="0" y="1"/>
            <a:ext cx="12191999" cy="914400"/>
          </a:xfrm>
        </p:spPr>
        <p:txBody>
          <a:bodyPr>
            <a:normAutofit/>
          </a:bodyPr>
          <a:lstStyle/>
          <a:p>
            <a:pPr algn="ctr"/>
            <a:r>
              <a:rPr lang="en-US" b="1" dirty="0">
                <a:latin typeface="Helvetica" panose="020B0604020202020204" pitchFamily="34" charset="0"/>
                <a:cs typeface="Helvetica" panose="020B0604020202020204" pitchFamily="34" charset="0"/>
              </a:rPr>
              <a:t>Quiz</a:t>
            </a:r>
          </a:p>
        </p:txBody>
      </p:sp>
      <p:sp>
        <p:nvSpPr>
          <p:cNvPr id="8" name="Slide Number Placeholder 4">
            <a:extLst>
              <a:ext uri="{FF2B5EF4-FFF2-40B4-BE49-F238E27FC236}">
                <a16:creationId xmlns:a16="http://schemas.microsoft.com/office/drawing/2014/main" id="{C636C29B-B531-1445-ABBD-A7580D3983A7}"/>
              </a:ext>
            </a:extLst>
          </p:cNvPr>
          <p:cNvSpPr>
            <a:spLocks noGrp="1"/>
          </p:cNvSpPr>
          <p:nvPr>
            <p:ph type="sldNum" sz="quarter" idx="12"/>
          </p:nvPr>
        </p:nvSpPr>
        <p:spPr>
          <a:xfrm>
            <a:off x="8610600" y="6356350"/>
            <a:ext cx="2743200" cy="365125"/>
          </a:xfrm>
        </p:spPr>
        <p:txBody>
          <a:bodyPr/>
          <a:lstStyle/>
          <a:p>
            <a:fld id="{212DA15D-5F50-8B40-811F-34F736B90848}" type="slidenum">
              <a:rPr lang="en-US" smtClean="0"/>
              <a:t>25</a:t>
            </a:fld>
            <a:endParaRPr lang="en-US"/>
          </a:p>
        </p:txBody>
      </p:sp>
      <p:sp>
        <p:nvSpPr>
          <p:cNvPr id="3" name="TextBox 2">
            <a:extLst>
              <a:ext uri="{FF2B5EF4-FFF2-40B4-BE49-F238E27FC236}">
                <a16:creationId xmlns:a16="http://schemas.microsoft.com/office/drawing/2014/main" id="{4DB265F8-3D7F-16A8-0CDB-566062C652CC}"/>
              </a:ext>
            </a:extLst>
          </p:cNvPr>
          <p:cNvSpPr txBox="1"/>
          <p:nvPr/>
        </p:nvSpPr>
        <p:spPr>
          <a:xfrm>
            <a:off x="2924735" y="5351944"/>
            <a:ext cx="6096000" cy="461665"/>
          </a:xfrm>
          <a:prstGeom prst="rect">
            <a:avLst/>
          </a:prstGeom>
          <a:noFill/>
        </p:spPr>
        <p:txBody>
          <a:bodyPr wrap="square">
            <a:spAutoFit/>
          </a:bodyPr>
          <a:lstStyle/>
          <a:p>
            <a:r>
              <a:rPr lang="en-US" sz="2400" dirty="0">
                <a:hlinkClick r:id="rId3"/>
              </a:rPr>
              <a:t>https://forms.gle/G5GTvLLCUXB4P36q6</a:t>
            </a:r>
            <a:endParaRPr lang="en-US" sz="2400" dirty="0"/>
          </a:p>
        </p:txBody>
      </p:sp>
      <p:pic>
        <p:nvPicPr>
          <p:cNvPr id="5" name="Picture 4" descr="A qr code on a white background&#10;&#10;Description automatically generated">
            <a:extLst>
              <a:ext uri="{FF2B5EF4-FFF2-40B4-BE49-F238E27FC236}">
                <a16:creationId xmlns:a16="http://schemas.microsoft.com/office/drawing/2014/main" id="{BB734B0F-09F5-4438-846E-213D00D31C96}"/>
              </a:ext>
            </a:extLst>
          </p:cNvPr>
          <p:cNvPicPr>
            <a:picLocks noChangeAspect="1"/>
          </p:cNvPicPr>
          <p:nvPr/>
        </p:nvPicPr>
        <p:blipFill>
          <a:blip r:embed="rId4"/>
          <a:stretch>
            <a:fillRect/>
          </a:stretch>
        </p:blipFill>
        <p:spPr>
          <a:xfrm>
            <a:off x="3756212" y="730623"/>
            <a:ext cx="4433047" cy="4433047"/>
          </a:xfrm>
          <a:prstGeom prst="rect">
            <a:avLst/>
          </a:prstGeom>
        </p:spPr>
      </p:pic>
    </p:spTree>
    <p:extLst>
      <p:ext uri="{BB962C8B-B14F-4D97-AF65-F5344CB8AC3E}">
        <p14:creationId xmlns:p14="http://schemas.microsoft.com/office/powerpoint/2010/main" val="2824935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3468</TotalTime>
  <Words>7020</Words>
  <Application>Microsoft Macintosh PowerPoint</Application>
  <PresentationFormat>Widescreen</PresentationFormat>
  <Paragraphs>472</Paragraphs>
  <Slides>25</Slides>
  <Notes>25</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Courier New</vt:lpstr>
      <vt:lpstr>Helvetica</vt:lpstr>
      <vt:lpstr>Helvetica Neue</vt:lpstr>
      <vt:lpstr>Office Theme</vt:lpstr>
      <vt:lpstr>Lecture 6: Consensus I Fall 2026                            </vt:lpstr>
      <vt:lpstr>Quiz Attendance: GFS</vt:lpstr>
      <vt:lpstr>Quiz: GFS</vt:lpstr>
      <vt:lpstr>Motivation </vt:lpstr>
      <vt:lpstr>Two Servers Are Not Enough</vt:lpstr>
      <vt:lpstr>Two Servers Are Not Enough</vt:lpstr>
      <vt:lpstr>“Server Crashed” vs “Network Broken”</vt:lpstr>
      <vt:lpstr>Consensus Protocols</vt:lpstr>
      <vt:lpstr>Where Consensus Came From</vt:lpstr>
      <vt:lpstr>Raft</vt:lpstr>
      <vt:lpstr>Majority Vote</vt:lpstr>
      <vt:lpstr>Any Two Majorities Overlap</vt:lpstr>
      <vt:lpstr>A Preview of Raft with Visualization</vt:lpstr>
      <vt:lpstr>Server States</vt:lpstr>
      <vt:lpstr>Raft Overview</vt:lpstr>
      <vt:lpstr>Normal Operation</vt:lpstr>
      <vt:lpstr>Leader</vt:lpstr>
      <vt:lpstr>Term (aka Epochs)</vt:lpstr>
      <vt:lpstr>Leader State Transition</vt:lpstr>
      <vt:lpstr>Elections</vt:lpstr>
      <vt:lpstr>Elections</vt:lpstr>
      <vt:lpstr>Election Success </vt:lpstr>
      <vt:lpstr>Quiz Attendance</vt:lpstr>
      <vt:lpstr>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Yigong</dc:creator>
  <cp:lastModifiedBy>Hu, Yigong</cp:lastModifiedBy>
  <cp:revision>5</cp:revision>
  <dcterms:created xsi:type="dcterms:W3CDTF">2026-02-15T17:21:02Z</dcterms:created>
  <dcterms:modified xsi:type="dcterms:W3CDTF">2026-09-28T14:15:45Z</dcterms:modified>
</cp:coreProperties>
</file>