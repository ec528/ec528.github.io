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media/image11.jpg" ContentType="image/jpg"/>
  <Override PartName="/ppt/notesSlides/notesSlide15.xml" ContentType="application/vnd.openxmlformats-officedocument.presentationml.notesSlide+xml"/>
  <Override PartName="/ppt/media/image12.jpg" ContentType="image/jpg"/>
  <Override PartName="/ppt/notesSlides/notesSlide16.xml" ContentType="application/vnd.openxmlformats-officedocument.presentationml.notesSlide+xml"/>
  <Override PartName="/ppt/media/image13.jpg" ContentType="image/jpg"/>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media/image15.jpg" ContentType="image/jpg"/>
  <Override PartName="/ppt/notesSlides/notesSlide20.xml" ContentType="application/vnd.openxmlformats-officedocument.presentationml.notesSlide+xml"/>
  <Override PartName="/ppt/notesSlides/notesSlide21.xml" ContentType="application/vnd.openxmlformats-officedocument.presentationml.notesSlide+xml"/>
  <Override PartName="/ppt/media/image16.jpg" ContentType="image/jpg"/>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media/image17.jpg" ContentType="image/jpg"/>
  <Override PartName="/ppt/media/image18.jpg" ContentType="image/jpg"/>
  <Override PartName="/ppt/media/image20.jpg" ContentType="image/jpg"/>
  <Override PartName="/ppt/media/image21.jpg" ContentType="image/jpg"/>
  <Override PartName="/ppt/media/image22.jpg" ContentType="image/jpg"/>
  <Override PartName="/ppt/media/image25.jpg" ContentType="image/jpg"/>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422" r:id="rId2"/>
    <p:sldId id="426" r:id="rId3"/>
    <p:sldId id="470" r:id="rId52"/>
    <p:sldId id="471" r:id="rId53"/>
    <p:sldId id="427" r:id="rId4"/>
    <p:sldId id="428" r:id="rId5"/>
    <p:sldId id="429" r:id="rId6"/>
    <p:sldId id="431" r:id="rId7"/>
    <p:sldId id="464" r:id="rId8"/>
    <p:sldId id="465" r:id="rId9"/>
    <p:sldId id="468" r:id="rId10"/>
    <p:sldId id="466" r:id="rId11"/>
    <p:sldId id="469" r:id="rId12"/>
    <p:sldId id="430" r:id="rId13"/>
    <p:sldId id="432" r:id="rId14"/>
    <p:sldId id="436" r:id="rId15"/>
    <p:sldId id="433" r:id="rId16"/>
    <p:sldId id="434" r:id="rId17"/>
    <p:sldId id="437" r:id="rId18"/>
    <p:sldId id="438" r:id="rId19"/>
    <p:sldId id="439" r:id="rId20"/>
    <p:sldId id="440" r:id="rId21"/>
    <p:sldId id="441" r:id="rId22"/>
    <p:sldId id="442" r:id="rId23"/>
    <p:sldId id="444" r:id="rId24"/>
    <p:sldId id="443" r:id="rId25"/>
    <p:sldId id="472" r:id="rId54"/>
    <p:sldId id="473"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6478294-79E4-AF40-BA36-FB117090586D}" v="263" dt="2026-02-18T23:15:57.02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22"/>
    <p:restoredTop sz="82961"/>
  </p:normalViewPr>
  <p:slideViewPr>
    <p:cSldViewPr snapToGrid="0">
      <p:cViewPr varScale="1">
        <p:scale>
          <a:sx n="104" d="100"/>
          <a:sy n="104" d="100"/>
        </p:scale>
        <p:origin x="1040"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1" Type="http://schemas.openxmlformats.org/officeDocument/2006/relationships/slide" Target="slides/slide20.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46" Type="http://schemas.openxmlformats.org/officeDocument/2006/relationships/notesMaster" Target="notesMasters/notesMaster1.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52" Type="http://schemas.openxmlformats.org/officeDocument/2006/relationships/slide" Target="slides/slide25.xml"/><Relationship Id="rId53" Type="http://schemas.openxmlformats.org/officeDocument/2006/relationships/slide" Target="slides/slide26.xml"/><Relationship Id="rId54" Type="http://schemas.openxmlformats.org/officeDocument/2006/relationships/slide" Target="slides/slide27.xml"/><Relationship Id="rId5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925FE0-5DDB-2F4E-91E7-FAC86E881550}"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A28AC95-C6B4-494F-AAA3-33FE4B129223}" type="slidenum">
              <a:rPr lang="en-US" smtClean="0"/>
              <a:t>‹#›</a:t>
            </a:fld>
            <a:endParaRPr lang="en-US"/>
          </a:p>
        </p:txBody>
      </p:sp>
    </p:spTree>
    <p:extLst>
      <p:ext uri="{BB962C8B-B14F-4D97-AF65-F5344CB8AC3E}">
        <p14:creationId xmlns:p14="http://schemas.microsoft.com/office/powerpoint/2010/main" val="12190349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lang="en-US" dirty="0"/>
              <a:t>Today we move from replication systems that still depend on one coordinator to consensus, which lets us replicate the coordinator itself.</a:t>
            </a:r>
          </a:p>
          <a:p>
            <a:endParaRPr lang="en-US" dirty="0"/>
          </a:p>
          <a:p>
            <a:r>
              <a:rPr lang="en-US" dirty="0"/>
              <a:t>MapReduce has one master. GFS has one master that chooses primaries. Those systems replicate a great deal of work and data, but one machine still makes decisions that must be unique. Raft shows how a group of machines can make those decisions while surviving machine crashes and network partitions.</a:t>
            </a:r>
          </a:p>
          <a:p>
            <a:endParaRPr lang="en-US" dirty="0"/>
          </a:p>
          <a:p>
            <a:r>
              <a:rPr lang="en-US" dirty="0"/>
              <a:t>We will cover Raft in two lectures. Today we build the basic model, explain majority voting, and follow leader election. We will also introduce the replicated log. The next lecture will examine how a new leader repairs different logs without losing a command that has already been committed.</a:t>
            </a:r>
          </a:p>
          <a:p>
            <a:endParaRPr lang="en-US" dirty="0"/>
          </a:p>
          <a:p>
            <a:r>
              <a:rPr lang="en-US" dirty="0"/>
              <a:t>SOURCE
MIT 6.824, Spring 2020, Lecture 6 transcript/video, 00:00–02:16.
Local transcript: fall2026/lectures/references/mit-6824-2020-lecture6-raft1-transcript.txt
https://www.youtube.com/watch?v=64Zp3tzNbpE
Ongaro and Ousterhout, In Search of an Understandable Consensus Algorithm, Sections 1–2.
https://pdos.csail.mit.edu/6.824/papers/raft-extended.pdf</a:t>
            </a:r>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Please submit the AWS account ID that your team will use by tonight. We need the account ID to assign the course credits correctly. Use the form on the slide, and submit only the account that your team has decided to use.</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81F1A-9132-55E3-1978-94CE4DDB9C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62A9C1-FDBC-83DC-2FB6-D88896653F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418E56-AF9B-9AA5-B135-EB02BC5D0579}"/>
              </a:ext>
            </a:extLst>
          </p:cNvPr>
          <p:cNvSpPr>
            <a:spLocks noGrp="1"/>
          </p:cNvSpPr>
          <p:nvPr>
            <p:ph type="body" idx="1"/>
          </p:nvPr>
        </p:nvSpPr>
        <p:spPr/>
        <p:txBody>
          <a:bodyPr/>
          <a:lstStyle/>
          <a:p>
            <a:r>
              <a:rPr lang="en-US" dirty="0"/>
              <a:t>There is a pattern in the fault-tolerant systems we have studied.</a:t>
            </a:r>
          </a:p>
          <a:p>
            <a:endParaRPr lang="en-US" dirty="0"/>
          </a:p>
          <a:p>
            <a:r>
              <a:rPr lang="en-US" dirty="0"/>
              <a:t>MapReduce runs duplicate tasks and can restart failed work, but one master assigns the tasks and decides which output counts. GFS stores several copies of each chunk, but one master decides which replica may act as the primary. Replication protects most of the system, while one machine still makes the critical coordination decision.</a:t>
            </a:r>
          </a:p>
          <a:p>
            <a:endParaRPr lang="en-US" dirty="0"/>
          </a:p>
          <a:p>
            <a:r>
              <a:rPr lang="en-US" dirty="0"/>
              <a:t>Using one decision maker has a major advantage. One machine cannot disagree with itself, so it naturally prevents two primaries from being chosen at the same time.</a:t>
            </a:r>
          </a:p>
          <a:p>
            <a:endParaRPr lang="en-US" dirty="0"/>
          </a:p>
          <a:p>
            <a:r>
              <a:rPr lang="en-US" dirty="0"/>
              <a:t>The problem is that the decision maker becomes the final single point of failure. If it crashes, the replicas may still contain all the data, but they cannot safely decide who should take over.</a:t>
            </a:r>
          </a:p>
          <a:p>
            <a:endParaRPr lang="en-US" dirty="0"/>
          </a:p>
          <a:p>
            <a:r>
              <a:rPr lang="en-US" dirty="0"/>
              <a:t>Consensus addresses that remaining problem. Instead of trusting one machine to make the unique decision, a group of machines reaches agreement on the decision.</a:t>
            </a:r>
          </a:p>
          <a:p>
            <a:endParaRPr lang="en-US" dirty="0"/>
          </a:p>
          <a:p>
            <a:r>
              <a:rPr lang="en-US" dirty="0"/>
              <a:t>SOURCE
MIT 6.824, Spring 2020, Lecture 6 transcript/video, 00:00–02:16.
Local transcript: fall2026/lectures/references/mit-6824-2020-lecture6-raft1-transcript.txt
https://www.youtube.com/watch?v=64Zp3tzNbpE
Ongaro and Ousterhout, In Search of an Understandable Consensus Algorithm, Sections 1–2.
https://pdos.csail.mit.edu/6.824/papers/raft-extended.pdf</a:t>
            </a:r>
          </a:p>
        </p:txBody>
      </p:sp>
      <p:sp>
        <p:nvSpPr>
          <p:cNvPr id="4" name="Slide Number Placeholder 3">
            <a:extLst>
              <a:ext uri="{FF2B5EF4-FFF2-40B4-BE49-F238E27FC236}">
                <a16:creationId xmlns:a16="http://schemas.microsoft.com/office/drawing/2014/main" id="{7CCE848B-7B9A-6EEA-8449-2C6C04B15FA3}"/>
              </a:ext>
            </a:extLst>
          </p:cNvPr>
          <p:cNvSpPr>
            <a:spLocks noGrp="1"/>
          </p:cNvSpPr>
          <p:nvPr>
            <p:ph type="sldNum" sz="quarter" idx="5"/>
          </p:nvPr>
        </p:nvSpPr>
        <p:spPr/>
        <p:txBody>
          <a:bodyPr/>
          <a:lstStyle/>
          <a:p>
            <a:fld id="{1C9584DC-3658-4054-9DA4-7B68A1D8CC6D}" type="slidenum">
              <a:rPr lang="zh-CN" altLang="en-US" smtClean="0"/>
              <a:t>3</a:t>
            </a:fld>
            <a:endParaRPr lang="zh-CN" altLang="en-US"/>
          </a:p>
        </p:txBody>
      </p:sp>
    </p:spTree>
    <p:extLst>
      <p:ext uri="{BB962C8B-B14F-4D97-AF65-F5344CB8AC3E}">
        <p14:creationId xmlns:p14="http://schemas.microsoft.com/office/powerpoint/2010/main" val="10144322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BDA95-0AF2-9D21-76D2-777460DA3D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969C37-424B-1118-6DF0-56A2F4E497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540B72-C4DA-3420-815C-D3BF05D173E4}"/>
              </a:ext>
            </a:extLst>
          </p:cNvPr>
          <p:cNvSpPr>
            <a:spLocks noGrp="1"/>
          </p:cNvSpPr>
          <p:nvPr>
            <p:ph type="body" idx="1"/>
          </p:nvPr>
        </p:nvSpPr>
        <p:spPr/>
        <p:txBody>
          <a:bodyPr/>
          <a:lstStyle/>
          <a:p>
            <a:r>
              <a:rPr lang="en-US" dirty="0"/>
              <a:t>Recall why choosing a new primary is dangerous.</a:t>
            </a:r>
          </a:p>
          <a:p>
            <a:endParaRPr lang="en-US" dirty="0"/>
          </a:p>
          <a:p>
            <a:r>
              <a:rPr lang="en-US" dirty="0"/>
              <a:t>Suppose the coordinator stops receiving messages from the current primary. The primary may have crashed, in which case the system must choose a replacement to remain available. But the primary may still be running, with only the network connection broken.</a:t>
            </a:r>
          </a:p>
          <a:p>
            <a:endParaRPr lang="en-US" dirty="0"/>
          </a:p>
          <a:p>
            <a:r>
              <a:rPr lang="en-US" dirty="0"/>
              <a:t>If the coordinator promotes another replica while the old primary is still serving clients, both machines may believe they are primary. Client one can write through P1 while client two reads from P2 and fails to see that write. The system now has two histories for what should be one service.</a:t>
            </a:r>
          </a:p>
          <a:p>
            <a:endParaRPr lang="en-US" dirty="0"/>
          </a:p>
          <a:p>
            <a:r>
              <a:rPr lang="en-US" dirty="0"/>
              <a:t>That is split brain. The difficult part is not noticing that a message is missing. The difficult part is deciding whether the missing response means that a machine has stopped, or that the network has separated two live machines.</a:t>
            </a:r>
          </a:p>
          <a:p>
            <a:endParaRPr lang="en-US" dirty="0"/>
          </a:p>
          <a:p>
            <a:r>
              <a:rPr lang="en-US" dirty="0"/>
              <a:t>SOURCE
MIT 6.824, Spring 2020, Lecture 6 transcript/video, 02:16–07:39.
Local transcript: fall2026/lectures/references/mit-6824-2020-lecture6-raft1-transcript.txt
https://www.youtube.com/watch?v=64Zp3tzNbpE</a:t>
            </a:r>
          </a:p>
        </p:txBody>
      </p:sp>
      <p:sp>
        <p:nvSpPr>
          <p:cNvPr id="4" name="Slide Number Placeholder 3">
            <a:extLst>
              <a:ext uri="{FF2B5EF4-FFF2-40B4-BE49-F238E27FC236}">
                <a16:creationId xmlns:a16="http://schemas.microsoft.com/office/drawing/2014/main" id="{E9E66C3C-E1DE-4819-7F44-795BAB14AEB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24320971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B6D73-8CC7-4C2D-F5B0-9FBF299D05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D4A8F8-B794-DE7F-55D5-BB366DA3B6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10DA39-D522-F3A2-3BE4-1C3709952941}"/>
              </a:ext>
            </a:extLst>
          </p:cNvPr>
          <p:cNvSpPr>
            <a:spLocks noGrp="1"/>
          </p:cNvSpPr>
          <p:nvPr>
            <p:ph type="body" idx="1"/>
          </p:nvPr>
        </p:nvSpPr>
        <p:spPr/>
        <p:txBody>
          <a:bodyPr/>
          <a:lstStyle/>
          <a:p>
            <a:r>
              <a:rPr lang="en-US" dirty="0"/>
              <a:t>A crash and a broken network produce the same observation: no reply arrives.</a:t>
            </a:r>
          </a:p>
          <a:p>
            <a:endParaRPr lang="en-US" dirty="0"/>
          </a:p>
          <a:p>
            <a:r>
              <a:rPr lang="en-US" dirty="0"/>
              <a:t>Imagine two replicas, S1 and S2. If S2 really crashed, client C1 must be able to continue with S1. Otherwise replication has provided no fault tolerance. But if S2 is alive on the other side of a network partition, allowing C1 to proceed with S1 may create one active service on each side.</a:t>
            </a:r>
          </a:p>
          <a:p>
            <a:endParaRPr lang="en-US" dirty="0"/>
          </a:p>
          <a:p>
            <a:r>
              <a:rPr lang="en-US" dirty="0"/>
              <a:t>Waiting for both replicas preserves agreement, but a failure stops all progress. Proceeding with either replica preserves availability, but both sides may proceed independently and violate correctness.</a:t>
            </a:r>
          </a:p>
          <a:p>
            <a:endParaRPr lang="en-US" dirty="0"/>
          </a:p>
          <a:p>
            <a:r>
              <a:rPr lang="en-US" dirty="0"/>
              <a:t>For many years, systems avoided this choice with an external assumption. They used a network engineered never to partition, or they stopped automatically and asked a human operator to determine which machine was really alive. Both approaches can work, but recovery is expensive or slow, and the supposedly reliable component becomes another point of failure.</a:t>
            </a:r>
          </a:p>
          <a:p>
            <a:endParaRPr lang="en-US" dirty="0"/>
          </a:p>
          <a:p>
            <a:r>
              <a:rPr lang="en-US" dirty="0"/>
              <a:t>Consensus protocols replace that external decision with a rule that the replicas can apply themselves.</a:t>
            </a:r>
          </a:p>
          <a:p>
            <a:endParaRPr lang="en-US" dirty="0"/>
          </a:p>
          <a:p>
            <a:r>
              <a:rPr lang="en-US" dirty="0"/>
              <a:t>SOURCE
MIT 6.824, Spring 2020, Lecture 6 transcript/video, 03:01–10:41.
Local transcript: fall2026/lectures/references/mit-6824-2020-lecture6-raft1-transcript.txt
https://www.youtube.com/watch?v=64Zp3tzNbpE</a:t>
            </a:r>
          </a:p>
        </p:txBody>
      </p:sp>
      <p:sp>
        <p:nvSpPr>
          <p:cNvPr id="4" name="Slide Number Placeholder 3">
            <a:extLst>
              <a:ext uri="{FF2B5EF4-FFF2-40B4-BE49-F238E27FC236}">
                <a16:creationId xmlns:a16="http://schemas.microsoft.com/office/drawing/2014/main" id="{FBA4E65C-A9BA-2C2B-BDD5-C60C243BF84F}"/>
              </a:ext>
            </a:extLst>
          </p:cNvPr>
          <p:cNvSpPr>
            <a:spLocks noGrp="1"/>
          </p:cNvSpPr>
          <p:nvPr>
            <p:ph type="sldNum" sz="quarter" idx="5"/>
          </p:nvPr>
        </p:nvSpPr>
        <p:spPr/>
        <p:txBody>
          <a:bodyPr/>
          <a:lstStyle/>
          <a:p>
            <a:fld id="{1C9584DC-3658-4054-9DA4-7B68A1D8CC6D}" type="slidenum">
              <a:rPr lang="zh-CN" altLang="en-US" smtClean="0"/>
              <a:t>5</a:t>
            </a:fld>
            <a:endParaRPr lang="zh-CN" altLang="en-US"/>
          </a:p>
        </p:txBody>
      </p:sp>
    </p:spTree>
    <p:extLst>
      <p:ext uri="{BB962C8B-B14F-4D97-AF65-F5344CB8AC3E}">
        <p14:creationId xmlns:p14="http://schemas.microsoft.com/office/powerpoint/2010/main" val="35522309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C6C51-D272-8248-9952-4F450B626F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4B083E-9C78-B6FA-2DD5-4888DE53E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5C7B81-6131-B94D-E76A-CEB4C16E82A6}"/>
              </a:ext>
            </a:extLst>
          </p:cNvPr>
          <p:cNvSpPr>
            <a:spLocks noGrp="1"/>
          </p:cNvSpPr>
          <p:nvPr>
            <p:ph type="body" idx="1"/>
          </p:nvPr>
        </p:nvSpPr>
        <p:spPr/>
        <p:txBody>
          <a:bodyPr/>
          <a:lstStyle/>
          <a:p>
            <a:r>
              <a:rPr lang="en-US" dirty="0"/>
              <a:t>Consensus protocols let a replicated system fail over automatically even when the network can partition.</a:t>
            </a:r>
          </a:p>
          <a:p>
            <a:endParaRPr lang="en-US" dirty="0"/>
          </a:p>
          <a:p>
            <a:r>
              <a:rPr lang="en-US" dirty="0"/>
              <a:t>The basic rule is that an important decision requires approval from a majority of all servers. A partition with a minority must stop. The partition containing a majority can continue, so the system avoids two independent decision makers while still tolerating some failures.</a:t>
            </a:r>
          </a:p>
          <a:p>
            <a:endParaRPr lang="en-US" dirty="0"/>
          </a:p>
          <a:p>
            <a:r>
              <a:rPr lang="en-US" dirty="0"/>
              <a:t>Paxos and Viewstamped Replication introduced this style of solution around 1990. Paxos starts with agreement on one value and can be extended to a sequence of values. Raft is newer and organizes the problem directly around a replicated log, which is the abstraction practical services usually need.</a:t>
            </a:r>
          </a:p>
          <a:p>
            <a:endParaRPr lang="en-US" dirty="0"/>
          </a:p>
          <a:p>
            <a:r>
              <a:rPr lang="en-US" dirty="0"/>
              <a:t>The goal is safety under message loss, delay, reordering, and network partitions. Progress requires a majority of the cluster to remain alive and able to communicate. If no majority exists, the protocol waits rather than inventing two answers.</a:t>
            </a:r>
          </a:p>
          <a:p>
            <a:endParaRPr lang="en-US" dirty="0"/>
          </a:p>
          <a:p>
            <a:r>
              <a:rPr lang="en-US" dirty="0"/>
              <a:t>SOURCE
MIT 6.824, Spring 2020, Lecture 6 transcript/video, 10:41–18:59.
Local transcript: fall2026/lectures/references/mit-6824-2020-lecture6-raft1-transcript.txt
https://www.youtube.com/watch?v=64Zp3tzNbpE
Ongaro and Ousterhout, In Search of an Understandable Consensus Algorithm, Sections 1–3.
https://pdos.csail.mit.edu/6.824/papers/raft-extended.pdf</a:t>
            </a:r>
          </a:p>
        </p:txBody>
      </p:sp>
      <p:sp>
        <p:nvSpPr>
          <p:cNvPr id="4" name="Slide Number Placeholder 3">
            <a:extLst>
              <a:ext uri="{FF2B5EF4-FFF2-40B4-BE49-F238E27FC236}">
                <a16:creationId xmlns:a16="http://schemas.microsoft.com/office/drawing/2014/main" id="{F7380AB5-97BD-2121-26DB-47850F470F4E}"/>
              </a:ext>
            </a:extLst>
          </p:cNvPr>
          <p:cNvSpPr>
            <a:spLocks noGrp="1"/>
          </p:cNvSpPr>
          <p:nvPr>
            <p:ph type="sldNum" sz="quarter" idx="5"/>
          </p:nvPr>
        </p:nvSpPr>
        <p:spPr/>
        <p:txBody>
          <a:bodyPr/>
          <a:lstStyle/>
          <a:p>
            <a:fld id="{1C9584DC-3658-4054-9DA4-7B68A1D8CC6D}" type="slidenum">
              <a:rPr lang="zh-CN" altLang="en-US" smtClean="0"/>
              <a:t>6</a:t>
            </a:fld>
            <a:endParaRPr lang="zh-CN" altLang="en-US"/>
          </a:p>
        </p:txBody>
      </p:sp>
    </p:spTree>
    <p:extLst>
      <p:ext uri="{BB962C8B-B14F-4D97-AF65-F5344CB8AC3E}">
        <p14:creationId xmlns:p14="http://schemas.microsoft.com/office/powerpoint/2010/main" val="18638188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952FF3-E0C7-0CDD-3F4C-E95B837B7F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62C17E-F033-F2B7-53ED-BD79A1F840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86B07D-607A-66C9-0449-8E6D69CC4172}"/>
              </a:ext>
            </a:extLst>
          </p:cNvPr>
          <p:cNvSpPr>
            <a:spLocks noGrp="1"/>
          </p:cNvSpPr>
          <p:nvPr>
            <p:ph type="body" idx="1"/>
          </p:nvPr>
        </p:nvSpPr>
        <p:spPr/>
        <p:txBody>
          <a:bodyPr/>
          <a:lstStyle/>
          <a:p>
            <a:r>
              <a:rPr lang="en-US" dirty="0"/>
              <a:t>Leslie Lamport is central to the history of distributed systems because he gave precise language to problems that otherwise look chaotic. His work on logical clocks explains how to reason about order when machines do not share one clock. His work on Byzantine failures asks what agreement is possible when participants may behave incorrectly. Paxos addresses agreement when machines can crash and messages can be delayed or lost.</a:t>
            </a:r>
          </a:p>
          <a:p>
            <a:endParaRPr lang="en-US" dirty="0"/>
          </a:p>
          <a:p>
            <a:r>
              <a:rPr lang="en-US" dirty="0"/>
              <a:t>Lamport also created LaTeX, but for this lecture the important contribution is the way Paxos made consensus a problem that could be specified and proved. That work earned him the 2013 Turing Award.</a:t>
            </a:r>
          </a:p>
          <a:p>
            <a:endParaRPr lang="en-US" dirty="0"/>
          </a:p>
          <a:p>
            <a:r>
              <a:rPr lang="en-US" dirty="0"/>
              <a:t>The surprising part of the history is that a correct and influential protocol can still be very difficult to learn and turn into a complete system.</a:t>
            </a:r>
          </a:p>
          <a:p>
            <a:endParaRPr lang="en-US" dirty="0"/>
          </a:p>
          <a:p>
            <a:r>
              <a:rPr lang="en-US" dirty="0"/>
              <a:t>SOURCE
ACM, Leslie Lamport, 2013 A.M. Turing Award recipient.
https://amturing.acm.org/award_winners/lamport_1205376.cfm
Ongaro and Ousterhout, In Search of an Understandable Consensus Algorithm, Sections 1 and 3.
https://pdos.csail.mit.edu/6.824/papers/raft-extended.pdf</a:t>
            </a:r>
          </a:p>
        </p:txBody>
      </p:sp>
      <p:sp>
        <p:nvSpPr>
          <p:cNvPr id="4" name="Slide Number Placeholder 3">
            <a:extLst>
              <a:ext uri="{FF2B5EF4-FFF2-40B4-BE49-F238E27FC236}">
                <a16:creationId xmlns:a16="http://schemas.microsoft.com/office/drawing/2014/main" id="{90EDE57D-F7F1-A0D4-64FD-F5CC4B27270D}"/>
              </a:ext>
            </a:extLst>
          </p:cNvPr>
          <p:cNvSpPr>
            <a:spLocks noGrp="1"/>
          </p:cNvSpPr>
          <p:nvPr>
            <p:ph type="sldNum" sz="quarter" idx="5"/>
          </p:nvPr>
        </p:nvSpPr>
        <p:spPr/>
        <p:txBody>
          <a:bodyPr/>
          <a:lstStyle/>
          <a:p>
            <a:fld id="{1C9584DC-3658-4054-9DA4-7B68A1D8CC6D}" type="slidenum">
              <a:rPr lang="zh-CN" altLang="en-US" smtClean="0"/>
              <a:t>7</a:t>
            </a:fld>
            <a:endParaRPr lang="zh-CN" altLang="en-US"/>
          </a:p>
        </p:txBody>
      </p:sp>
    </p:spTree>
    <p:extLst>
      <p:ext uri="{BB962C8B-B14F-4D97-AF65-F5344CB8AC3E}">
        <p14:creationId xmlns:p14="http://schemas.microsoft.com/office/powerpoint/2010/main" val="36569152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3C065-819D-A30E-3062-2BE310424E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D4293F-6B58-8651-94CE-A47E362114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564930-E2F8-D898-1B80-FE2393DCE29C}"/>
              </a:ext>
            </a:extLst>
          </p:cNvPr>
          <p:cNvSpPr>
            <a:spLocks noGrp="1"/>
          </p:cNvSpPr>
          <p:nvPr>
            <p:ph type="body" idx="1"/>
          </p:nvPr>
        </p:nvSpPr>
        <p:spPr/>
        <p:txBody>
          <a:bodyPr/>
          <a:lstStyle/>
          <a:p>
            <a:r>
              <a:rPr lang="en-US" dirty="0"/>
              <a:t>Viewstamped Replication and Paxos appeared at roughly the same time in the late 1980s and early 1990s. Both showed that a group could make consistent decisions through majority voting even when machines or network links failed.</a:t>
            </a:r>
          </a:p>
          <a:p>
            <a:endParaRPr lang="en-US" dirty="0"/>
          </a:p>
          <a:p>
            <a:r>
              <a:rPr lang="en-US" dirty="0"/>
              <a:t>Lamport submitted the original Paxos paper in 1990, but it was not published until 1998. Practical deployments followed later. Large distributed services eventually needed an automatic way to replicate configuration, elect leaders, and keep critical metadata available, so consensus moved from theory into production systems.</a:t>
            </a:r>
          </a:p>
          <a:p>
            <a:endParaRPr lang="en-US" dirty="0"/>
          </a:p>
          <a:p>
            <a:r>
              <a:rPr lang="en-US" dirty="0"/>
              <a:t>By the 2010s, Paxos and related protocols were widely used, but implementations often differed substantially from the original description. That gap between the proof-oriented protocol and the system engineers needed to build is part of the motivation for Raft.</a:t>
            </a:r>
          </a:p>
          <a:p>
            <a:endParaRPr lang="en-US" dirty="0"/>
          </a:p>
          <a:p>
            <a:r>
              <a:rPr lang="en-US" dirty="0"/>
              <a:t>SOURCE
MIT 6.824, Spring 2020, Lecture 6 transcript/video, 16:44–18:59.
Local transcript: fall2026/lectures/references/mit-6824-2020-lecture6-raft1-transcript.txt
https://www.youtube.com/watch?v=64Zp3tzNbpE
Ongaro and Ousterhout, In Search of an Understandable Consensus Algorithm, Sections 1 and 3.
https://pdos.csail.mit.edu/6.824/papers/raft-extended.pdf</a:t>
            </a:r>
          </a:p>
        </p:txBody>
      </p:sp>
      <p:sp>
        <p:nvSpPr>
          <p:cNvPr id="4" name="Slide Number Placeholder 3">
            <a:extLst>
              <a:ext uri="{FF2B5EF4-FFF2-40B4-BE49-F238E27FC236}">
                <a16:creationId xmlns:a16="http://schemas.microsoft.com/office/drawing/2014/main" id="{FCDD2A1E-F102-8FFA-8CAA-4BF7617846B3}"/>
              </a:ext>
            </a:extLst>
          </p:cNvPr>
          <p:cNvSpPr>
            <a:spLocks noGrp="1"/>
          </p:cNvSpPr>
          <p:nvPr>
            <p:ph type="sldNum" sz="quarter" idx="5"/>
          </p:nvPr>
        </p:nvSpPr>
        <p:spPr/>
        <p:txBody>
          <a:bodyPr/>
          <a:lstStyle/>
          <a:p>
            <a:fld id="{1C9584DC-3658-4054-9DA4-7B68A1D8CC6D}" type="slidenum">
              <a:rPr lang="zh-CN" altLang="en-US" smtClean="0"/>
              <a:t>8</a:t>
            </a:fld>
            <a:endParaRPr lang="zh-CN" altLang="en-US"/>
          </a:p>
        </p:txBody>
      </p:sp>
    </p:spTree>
    <p:extLst>
      <p:ext uri="{BB962C8B-B14F-4D97-AF65-F5344CB8AC3E}">
        <p14:creationId xmlns:p14="http://schemas.microsoft.com/office/powerpoint/2010/main" val="1307549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3DCFF-5A56-0A19-2876-E1139F39BC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F6C5A3-41A5-8CE7-A342-5D618E9FB3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A0A010-5F85-AAC5-E10A-9913A2847758}"/>
              </a:ext>
            </a:extLst>
          </p:cNvPr>
          <p:cNvSpPr>
            <a:spLocks noGrp="1"/>
          </p:cNvSpPr>
          <p:nvPr>
            <p:ph type="body" idx="1"/>
          </p:nvPr>
        </p:nvSpPr>
        <p:spPr/>
        <p:txBody>
          <a:bodyPr/>
          <a:lstStyle/>
          <a:p>
            <a:r>
              <a:rPr lang="en-US" dirty="0"/>
              <a:t>The original Paxos paper explains consensus through the story of a part-time parliament on the fictional island of Paxos. Legislators move in and out of the chamber, messages arrive late, and the parliament must still avoid passing contradictory laws.</a:t>
            </a:r>
          </a:p>
          <a:p>
            <a:endParaRPr lang="en-US" dirty="0"/>
          </a:p>
          <a:p>
            <a:r>
              <a:rPr lang="en-US" dirty="0"/>
              <a:t>The story maps to a real distributed system, but readers must first decode the archaeology and then recover the protocol. Lamport first submitted the paper in 1990. It was finally published in 1998, and it later received the SIGOPS Hall of Fame Award because the underlying result proved so important.</a:t>
            </a:r>
          </a:p>
          <a:p>
            <a:endParaRPr lang="en-US" dirty="0"/>
          </a:p>
          <a:p>
            <a:r>
              <a:rPr lang="en-US" dirty="0"/>
              <a:t>The history matters because difficulty of explanation has practical consequences. If engineers cannot form a clear model of the protocol, they have trouble filling in missing implementation details and reasoning about failures.</a:t>
            </a:r>
          </a:p>
          <a:p>
            <a:endParaRPr lang="en-US" dirty="0"/>
          </a:p>
          <a:p>
            <a:r>
              <a:rPr lang="en-US" dirty="0"/>
              <a:t>SOURCE
Lamport, The Part-Time Parliament, ACM Transactions on Computer Systems, 1998.
https://lamport.azurewebsites.net/pubs/lamport-paxos.pdf
Ongaro and Ousterhout, In Search of an Understandable Consensus Algorithm, Section 3.
https://pdos.csail.mit.edu/6.824/papers/raft-extended.pdf</a:t>
            </a:r>
          </a:p>
        </p:txBody>
      </p:sp>
      <p:sp>
        <p:nvSpPr>
          <p:cNvPr id="4" name="Slide Number Placeholder 3">
            <a:extLst>
              <a:ext uri="{FF2B5EF4-FFF2-40B4-BE49-F238E27FC236}">
                <a16:creationId xmlns:a16="http://schemas.microsoft.com/office/drawing/2014/main" id="{5E807648-29DD-E43E-7852-7E8A1E83286F}"/>
              </a:ext>
            </a:extLst>
          </p:cNvPr>
          <p:cNvSpPr>
            <a:spLocks noGrp="1"/>
          </p:cNvSpPr>
          <p:nvPr>
            <p:ph type="sldNum" sz="quarter" idx="5"/>
          </p:nvPr>
        </p:nvSpPr>
        <p:spPr/>
        <p:txBody>
          <a:bodyPr/>
          <a:lstStyle/>
          <a:p>
            <a:fld id="{1C9584DC-3658-4054-9DA4-7B68A1D8CC6D}" type="slidenum">
              <a:rPr lang="zh-CN" altLang="en-US" smtClean="0"/>
              <a:t>9</a:t>
            </a:fld>
            <a:endParaRPr lang="zh-CN" altLang="en-US"/>
          </a:p>
        </p:txBody>
      </p:sp>
    </p:spTree>
    <p:extLst>
      <p:ext uri="{BB962C8B-B14F-4D97-AF65-F5344CB8AC3E}">
        <p14:creationId xmlns:p14="http://schemas.microsoft.com/office/powerpoint/2010/main" val="11056917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02E29-B720-724C-8CEB-D23A0E6025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2A31E0-6827-787C-A956-DF3D6F8CA5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860BE5-0818-A2BB-5792-244C245E6E56}"/>
              </a:ext>
            </a:extLst>
          </p:cNvPr>
          <p:cNvSpPr>
            <a:spLocks noGrp="1"/>
          </p:cNvSpPr>
          <p:nvPr>
            <p:ph type="body" idx="1"/>
          </p:nvPr>
        </p:nvSpPr>
        <p:spPr/>
        <p:txBody>
          <a:bodyPr/>
          <a:lstStyle/>
          <a:p>
            <a:r>
              <a:rPr lang="en-US" dirty="0"/>
              <a:t>Lamport responded with Paxos Made Simple in 2001. It removes the parliament story and explains the core protocol directly. The paper is thirteen pages long, and the most complicated formula is simply a comparison between two proposal numbers.</a:t>
            </a:r>
          </a:p>
          <a:p>
            <a:endParaRPr lang="en-US" dirty="0"/>
          </a:p>
          <a:p>
            <a:r>
              <a:rPr lang="en-US" dirty="0"/>
              <a:t>That explanation helped, but it concentrates on single-decree Paxos, where the group chooses one value. A real service needs to choose a continuing sequence of commands. Engineers must build multi-Paxos, add leadership, recover logs, change membership, and decide many operational details that the short paper does not fully specify.</a:t>
            </a:r>
          </a:p>
          <a:p>
            <a:endParaRPr lang="en-US" dirty="0"/>
          </a:p>
          <a:p>
            <a:r>
              <a:rPr lang="en-US" dirty="0"/>
              <a:t>Raft does not claim a stronger result than Paxos. It solves the same consensus problem. Its contribution is a complete structure for a replicated log that engineers and students can reason about more directly.</a:t>
            </a:r>
          </a:p>
          <a:p>
            <a:endParaRPr lang="en-US" dirty="0"/>
          </a:p>
          <a:p>
            <a:r>
              <a:rPr lang="en-US" dirty="0"/>
              <a:t>SOURCE
Lamport, Paxos Made Simple, 2001.
https://lamport.azurewebsites.net/pubs/paxos-simple.pdf
Ongaro and Ousterhout, In Search of an Understandable Consensus Algorithm, Sections 1, 3, and 4.
https://pdos.csail.mit.edu/6.824/papers/raft-extended.pdf</a:t>
            </a:r>
          </a:p>
        </p:txBody>
      </p:sp>
      <p:sp>
        <p:nvSpPr>
          <p:cNvPr id="4" name="Slide Number Placeholder 3">
            <a:extLst>
              <a:ext uri="{FF2B5EF4-FFF2-40B4-BE49-F238E27FC236}">
                <a16:creationId xmlns:a16="http://schemas.microsoft.com/office/drawing/2014/main" id="{047C560A-F1A1-757A-B458-0ECDB8479B2B}"/>
              </a:ext>
            </a:extLst>
          </p:cNvPr>
          <p:cNvSpPr>
            <a:spLocks noGrp="1"/>
          </p:cNvSpPr>
          <p:nvPr>
            <p:ph type="sldNum" sz="quarter" idx="5"/>
          </p:nvPr>
        </p:nvSpPr>
        <p:spPr/>
        <p:txBody>
          <a:bodyPr/>
          <a:lstStyle/>
          <a:p>
            <a:fld id="{1C9584DC-3658-4054-9DA4-7B68A1D8CC6D}" type="slidenum">
              <a:rPr lang="zh-CN" altLang="en-US" smtClean="0"/>
              <a:t>10</a:t>
            </a:fld>
            <a:endParaRPr lang="zh-CN" altLang="en-US"/>
          </a:p>
        </p:txBody>
      </p:sp>
    </p:spTree>
    <p:extLst>
      <p:ext uri="{BB962C8B-B14F-4D97-AF65-F5344CB8AC3E}">
        <p14:creationId xmlns:p14="http://schemas.microsoft.com/office/powerpoint/2010/main" val="21270746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06567-B5EA-EAF0-8080-AD422494E0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F18925-DCFF-D68D-2436-8AF00F4670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E0324B-AB2F-337D-2E9E-FE6927920199}"/>
              </a:ext>
            </a:extLst>
          </p:cNvPr>
          <p:cNvSpPr>
            <a:spLocks noGrp="1"/>
          </p:cNvSpPr>
          <p:nvPr>
            <p:ph type="body" idx="1"/>
          </p:nvPr>
        </p:nvSpPr>
        <p:spPr/>
        <p:txBody>
          <a:bodyPr/>
          <a:lstStyle/>
          <a:p>
            <a:r>
              <a:rPr lang="en-US" dirty="0"/>
              <a:t>Raft was designed by Diego Ongaro and John Ousterhout with understandability as a primary goal.</a:t>
            </a:r>
          </a:p>
          <a:p>
            <a:endParaRPr lang="en-US" dirty="0"/>
          </a:p>
          <a:p>
            <a:r>
              <a:rPr lang="en-US" dirty="0"/>
              <a:t>They decomposed consensus into leader election, log replication, and safety. They also reduced the number of states the system can enter. Raft uses a strong leader, so log entries flow from the leader to followers. It uses randomized election timeouts to resolve competing candidates without adding a complicated ranking protocol.</a:t>
            </a:r>
          </a:p>
          <a:p>
            <a:endParaRPr lang="en-US" dirty="0"/>
          </a:p>
          <a:p>
            <a:r>
              <a:rPr lang="en-US" dirty="0"/>
              <a:t>The result is equivalent to multi-Paxos in what it can achieve and comparable in normal-case performance. The different structure gives us a clearer path from the protocol rules to an implementation.</a:t>
            </a:r>
          </a:p>
          <a:p>
            <a:endParaRPr lang="en-US" dirty="0"/>
          </a:p>
          <a:p>
            <a:r>
              <a:rPr lang="en-US" dirty="0"/>
              <a:t>SOURCE
Ongaro and Ousterhout, In Search of an Understandable Consensus Algorithm, Abstract and Sections 1, 4, and 5.
https://pdos.csail.mit.edu/6.824/papers/raft-extended.pdf
MIT 6.824, Spring 2020, Lecture 6 transcript/video, 18:14–20:32.
Local transcript: fall2026/lectures/references/mit-6824-2020-lecture6-raft1-transcript.txt
https://www.youtube.com/watch?v=64Zp3tzNbpE</a:t>
            </a:r>
          </a:p>
        </p:txBody>
      </p:sp>
      <p:sp>
        <p:nvSpPr>
          <p:cNvPr id="4" name="Slide Number Placeholder 3">
            <a:extLst>
              <a:ext uri="{FF2B5EF4-FFF2-40B4-BE49-F238E27FC236}">
                <a16:creationId xmlns:a16="http://schemas.microsoft.com/office/drawing/2014/main" id="{CFBD61E8-4826-6788-74B8-A7FCC08F0EAC}"/>
              </a:ext>
            </a:extLst>
          </p:cNvPr>
          <p:cNvSpPr>
            <a:spLocks noGrp="1"/>
          </p:cNvSpPr>
          <p:nvPr>
            <p:ph type="sldNum" sz="quarter" idx="5"/>
          </p:nvPr>
        </p:nvSpPr>
        <p:spPr/>
        <p:txBody>
          <a:bodyPr/>
          <a:lstStyle/>
          <a:p>
            <a:fld id="{1C9584DC-3658-4054-9DA4-7B68A1D8CC6D}" type="slidenum">
              <a:rPr lang="zh-CN" altLang="en-US" smtClean="0"/>
              <a:t>11</a:t>
            </a:fld>
            <a:endParaRPr lang="zh-CN" altLang="en-US"/>
          </a:p>
        </p:txBody>
      </p:sp>
    </p:spTree>
    <p:extLst>
      <p:ext uri="{BB962C8B-B14F-4D97-AF65-F5344CB8AC3E}">
        <p14:creationId xmlns:p14="http://schemas.microsoft.com/office/powerpoint/2010/main" val="29603876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C0317-2B2C-7031-2296-C340ED4B34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F58D4B-F0EE-7F7A-811D-CD91040B84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C32DE3-5E09-496F-3C0C-9A98EA5E7E73}"/>
              </a:ext>
            </a:extLst>
          </p:cNvPr>
          <p:cNvSpPr>
            <a:spLocks noGrp="1"/>
          </p:cNvSpPr>
          <p:nvPr>
            <p:ph type="body" idx="1"/>
          </p:nvPr>
        </p:nvSpPr>
        <p:spPr/>
        <p:txBody>
          <a:bodyPr/>
          <a:lstStyle/>
          <a:p>
            <a:r>
              <a:rPr lang="en-US" dirty="0"/>
              <a:t>The key rule is that a server needs approval from a majority of the entire cluster before it can make a decision that other machines must trust.</a:t>
            </a:r>
          </a:p>
          <a:p>
            <a:endParaRPr lang="en-US" dirty="0"/>
          </a:p>
          <a:p>
            <a:r>
              <a:rPr lang="en-US" dirty="0"/>
              <a:t>With three servers, a majority is two. The system can therefore tolerate one failed or unreachable server. With five servers, a majority is three, so the system can tolerate two failures. In general, 2f plus 1 servers can continue after f failures.</a:t>
            </a:r>
          </a:p>
          <a:p>
            <a:endParaRPr lang="en-US" dirty="0"/>
          </a:p>
          <a:p>
            <a:r>
              <a:rPr lang="en-US" dirty="0"/>
              <a:t>The denominator never changes when a server fails. A three-server cluster still requires two votes even if only one server is currently reachable. Otherwise each side of a partition could redefine itself as a majority and make progress independently.</a:t>
            </a:r>
          </a:p>
          <a:p>
            <a:endParaRPr lang="en-US" dirty="0"/>
          </a:p>
          <a:p>
            <a:r>
              <a:rPr lang="en-US" dirty="0"/>
              <a:t>Majorities provide two useful properties. Only one side of a network partition can contain more than half of the servers. Also, any two majorities must share at least one server. A new majority therefore overlaps every earlier majority.</a:t>
            </a:r>
          </a:p>
          <a:p>
            <a:endParaRPr lang="en-US" dirty="0"/>
          </a:p>
          <a:p>
            <a:r>
              <a:rPr lang="en-US" dirty="0"/>
              <a:t>Raft combines that overlap with rules about what a server may vote for and what information it must retain. The overlapping server can carry knowledge of an earlier leader or a committed log entry into the next decision.</a:t>
            </a:r>
          </a:p>
          <a:p>
            <a:endParaRPr lang="en-US" dirty="0"/>
          </a:p>
          <a:p>
            <a:r>
              <a:rPr lang="en-US" dirty="0"/>
              <a:t>Majority voting preserves safety, but it does not guarantee progress during every failure. If fewer than a majority can communicate, Raft deliberately stops.</a:t>
            </a:r>
          </a:p>
          <a:p>
            <a:endParaRPr lang="en-US" dirty="0"/>
          </a:p>
          <a:p>
            <a:r>
              <a:rPr lang="en-US" dirty="0"/>
              <a:t>SOURCE
MIT 6.824, Spring 2020, Lecture 6 transcript/video, 10:41–15:59.
Local transcript: fall2026/lectures/references/mit-6824-2020-lecture6-raft1-transcript.txt
https://www.youtube.com/watch?v=64Zp3tzNbpE
Ongaro and Ousterhout, In Search of an Understandable Consensus Algorithm, Section 2.
https://pdos.csail.mit.edu/6.824/papers/raft-extended.pdf</a:t>
            </a:r>
          </a:p>
        </p:txBody>
      </p:sp>
      <p:sp>
        <p:nvSpPr>
          <p:cNvPr id="4" name="Slide Number Placeholder 3">
            <a:extLst>
              <a:ext uri="{FF2B5EF4-FFF2-40B4-BE49-F238E27FC236}">
                <a16:creationId xmlns:a16="http://schemas.microsoft.com/office/drawing/2014/main" id="{7C32A7BC-CA92-D291-1498-BAAC83C316CA}"/>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7752180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F64710-2BD5-C137-A624-434B81EA17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511E4E-CFC0-7193-0527-6F73F3AC1C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572825-35B5-5E37-1910-489383C58E25}"/>
              </a:ext>
            </a:extLst>
          </p:cNvPr>
          <p:cNvSpPr>
            <a:spLocks noGrp="1"/>
          </p:cNvSpPr>
          <p:nvPr>
            <p:ph type="body" idx="1"/>
          </p:nvPr>
        </p:nvSpPr>
        <p:spPr/>
        <p:txBody>
          <a:bodyPr/>
          <a:lstStyle/>
          <a:p>
            <a:r>
              <a:rPr lang="en-US" dirty="0"/>
              <a:t>Let us preview the protocol before examining each rule.</a:t>
            </a:r>
          </a:p>
          <a:p>
            <a:endParaRPr lang="en-US" dirty="0"/>
          </a:p>
          <a:p>
            <a:r>
              <a:rPr lang="en-US" dirty="0"/>
              <a:t>The visualization begins with three servers. One becomes leader and sends regular heartbeats to the other two followers. Client commands go to the leader, and the leader replicates each command through the log.</a:t>
            </a:r>
          </a:p>
          <a:p>
            <a:endParaRPr lang="en-US" dirty="0"/>
          </a:p>
          <a:p>
            <a:r>
              <a:rPr lang="en-US" dirty="0"/>
              <a:t>Pause the leader. The followers stop receiving heartbeats. Each has a different randomized election timeout, so one follower usually times out first, becomes a candidate, and requests votes. Once it receives votes from a majority, it becomes the new leader and begins sending heartbeats.</a:t>
            </a:r>
          </a:p>
          <a:p>
            <a:endParaRPr lang="en-US" dirty="0"/>
          </a:p>
          <a:p>
            <a:r>
              <a:rPr lang="en-US" dirty="0"/>
              <a:t>Bring the old leader back. It learns that the cluster has moved to a higher term and returns as a follower. The term number prevents its old authority from continuing.</a:t>
            </a:r>
          </a:p>
          <a:p>
            <a:endParaRPr lang="en-US" dirty="0"/>
          </a:p>
          <a:p>
            <a:r>
              <a:rPr lang="en-US" dirty="0"/>
              <a:t>For now, focus on four ideas: the three server states, heartbeats, majority voting, and increasing term numbers. We will explain the log animation after the election mechanism is clear.</a:t>
            </a:r>
          </a:p>
          <a:p>
            <a:endParaRPr lang="en-US" dirty="0"/>
          </a:p>
          <a:p>
            <a:r>
              <a:rPr lang="en-US" dirty="0"/>
              <a:t>SOURCE
Raft visualization.
https://thesecretlivesofdata.com/raft/
Ongaro and Ousterhout, In Search of an Understandable Consensus Algorithm, Sections 5.1–5.3.
https://pdos.csail.mit.edu/6.824/papers/raft-extended.pdf</a:t>
            </a:r>
          </a:p>
        </p:txBody>
      </p:sp>
      <p:sp>
        <p:nvSpPr>
          <p:cNvPr id="4" name="Slide Number Placeholder 3">
            <a:extLst>
              <a:ext uri="{FF2B5EF4-FFF2-40B4-BE49-F238E27FC236}">
                <a16:creationId xmlns:a16="http://schemas.microsoft.com/office/drawing/2014/main" id="{0304F2E8-5305-0F89-E5B4-B6DF1D0CB993}"/>
              </a:ext>
            </a:extLst>
          </p:cNvPr>
          <p:cNvSpPr>
            <a:spLocks noGrp="1"/>
          </p:cNvSpPr>
          <p:nvPr>
            <p:ph type="sldNum" sz="quarter" idx="5"/>
          </p:nvPr>
        </p:nvSpPr>
        <p:spPr/>
        <p:txBody>
          <a:bodyPr/>
          <a:lstStyle/>
          <a:p>
            <a:fld id="{1C9584DC-3658-4054-9DA4-7B68A1D8CC6D}" type="slidenum">
              <a:rPr lang="zh-CN" altLang="en-US" smtClean="0"/>
              <a:t>13</a:t>
            </a:fld>
            <a:endParaRPr lang="zh-CN" altLang="en-US"/>
          </a:p>
        </p:txBody>
      </p:sp>
    </p:spTree>
    <p:extLst>
      <p:ext uri="{BB962C8B-B14F-4D97-AF65-F5344CB8AC3E}">
        <p14:creationId xmlns:p14="http://schemas.microsoft.com/office/powerpoint/2010/main" val="10498451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DC2449-9D41-DEFC-B687-1D136DC43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7FCFFC-2F13-3C62-E6E1-99EADBE910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597501-5346-6B29-38F4-0A7A46465B30}"/>
              </a:ext>
            </a:extLst>
          </p:cNvPr>
          <p:cNvSpPr>
            <a:spLocks noGrp="1"/>
          </p:cNvSpPr>
          <p:nvPr>
            <p:ph type="body" idx="1"/>
          </p:nvPr>
        </p:nvSpPr>
        <p:spPr/>
        <p:txBody>
          <a:bodyPr/>
          <a:lstStyle/>
          <a:p>
            <a:r>
              <a:rPr lang="en-US" dirty="0"/>
              <a:t>Every Raft server is in one of three states.</a:t>
            </a:r>
          </a:p>
          <a:p>
            <a:endParaRPr lang="en-US" dirty="0"/>
          </a:p>
          <a:p>
            <a:r>
              <a:rPr lang="en-US" dirty="0"/>
              <a:t>A follower is passive. It responds to requests from a leader or candidate, but it does not initiate normal protocol work. A leader handles client requests and manages log replication. A candidate is a temporary state used while trying to become leader.</a:t>
            </a:r>
          </a:p>
          <a:p>
            <a:endParaRPr lang="en-US" dirty="0"/>
          </a:p>
          <a:p>
            <a:r>
              <a:rPr lang="en-US" dirty="0"/>
              <a:t>Normal operation has one leader and all remaining servers as followers. The interesting transitions happen when communication changes.</a:t>
            </a:r>
          </a:p>
          <a:p>
            <a:endParaRPr lang="en-US" dirty="0"/>
          </a:p>
          <a:p>
            <a:r>
              <a:rPr lang="en-US" dirty="0"/>
              <a:t>A follower that stops hearing from a leader becomes a candidate. A candidate that wins votes from a majority becomes leader. A candidate that hears from a valid leader returns to follower. A leader or candidate that discovers a higher term also returns to follower.</a:t>
            </a:r>
          </a:p>
          <a:p>
            <a:endParaRPr lang="en-US" dirty="0"/>
          </a:p>
          <a:p>
            <a:r>
              <a:rPr lang="en-US" dirty="0"/>
              <a:t>These transitions let the cluster replace a failed leader while ensuring that only one server can win a particular term.</a:t>
            </a:r>
          </a:p>
          <a:p>
            <a:endParaRPr lang="en-US" dirty="0"/>
          </a:p>
          <a:p>
            <a:r>
              <a:rPr lang="en-US" dirty="0"/>
              <a:t>SOURCE
Ongaro and Ousterhout, In Search of an Understandable Consensus Algorithm, Section 5.1 and Figure 4.
https://pdos.csail.mit.edu/6.824/papers/raft-extended.pdf
MIT 6.824, Spring 2020, Lecture 6 transcript/video, 46:21–53:59.
Local transcript: fall2026/lectures/references/mit-6824-2020-lecture6-raft1-transcript.txt
https://www.youtube.com/watch?v=64Zp3tzNbpE</a:t>
            </a:r>
          </a:p>
        </p:txBody>
      </p:sp>
      <p:sp>
        <p:nvSpPr>
          <p:cNvPr id="4" name="Slide Number Placeholder 3">
            <a:extLst>
              <a:ext uri="{FF2B5EF4-FFF2-40B4-BE49-F238E27FC236}">
                <a16:creationId xmlns:a16="http://schemas.microsoft.com/office/drawing/2014/main" id="{F5FF6DED-FD61-55E0-2FA1-5A7AE04D1F37}"/>
              </a:ext>
            </a:extLst>
          </p:cNvPr>
          <p:cNvSpPr>
            <a:spLocks noGrp="1"/>
          </p:cNvSpPr>
          <p:nvPr>
            <p:ph type="sldNum" sz="quarter" idx="5"/>
          </p:nvPr>
        </p:nvSpPr>
        <p:spPr/>
        <p:txBody>
          <a:bodyPr/>
          <a:lstStyle/>
          <a:p>
            <a:fld id="{1C9584DC-3658-4054-9DA4-7B68A1D8CC6D}" type="slidenum">
              <a:rPr lang="zh-CN" altLang="en-US" smtClean="0"/>
              <a:t>14</a:t>
            </a:fld>
            <a:endParaRPr lang="zh-CN" altLang="en-US"/>
          </a:p>
        </p:txBody>
      </p:sp>
    </p:spTree>
    <p:extLst>
      <p:ext uri="{BB962C8B-B14F-4D97-AF65-F5344CB8AC3E}">
        <p14:creationId xmlns:p14="http://schemas.microsoft.com/office/powerpoint/2010/main" val="24574835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BB43E9-C695-744A-DBEA-1676E4C287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8A86EF-AD08-F16F-16E8-DDB9ABC36F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633DA6-0B88-E7FD-1A74-8EA77681A17D}"/>
              </a:ext>
            </a:extLst>
          </p:cNvPr>
          <p:cNvSpPr>
            <a:spLocks noGrp="1"/>
          </p:cNvSpPr>
          <p:nvPr>
            <p:ph type="body" idx="1"/>
          </p:nvPr>
        </p:nvSpPr>
        <p:spPr/>
        <p:txBody>
          <a:bodyPr/>
          <a:lstStyle/>
          <a:p>
            <a:r>
              <a:rPr lang="en-US" dirty="0"/>
              <a:t>The replicated log connects Raft to the service we actually want to build.</a:t>
            </a:r>
          </a:p>
          <a:p>
            <a:endParaRPr lang="en-US" dirty="0"/>
          </a:p>
          <a:p>
            <a:r>
              <a:rPr lang="en-US" dirty="0"/>
              <a:t>Each server has an application layer, such as a key-value store, and a Raft module underneath it. The application owns the state, perhaps a table of keys and values. Raft owns an ordered log of commands that change that state.</a:t>
            </a:r>
          </a:p>
          <a:p>
            <a:endParaRPr lang="en-US" dirty="0"/>
          </a:p>
          <a:p>
            <a:r>
              <a:rPr lang="en-US" dirty="0"/>
              <a:t>When a client sends a Put or Get to the leader, the service does not execute the command immediately. It calls Start with the command. Start asks Raft to place the command in the replicated log. It returns an index, the current term, and whether this server believes it is the leader. It returns before agreement has completed.</a:t>
            </a:r>
          </a:p>
          <a:p>
            <a:endParaRPr lang="en-US" dirty="0"/>
          </a:p>
          <a:p>
            <a:r>
              <a:rPr lang="en-US" dirty="0"/>
              <a:t>After Raft commits an entry, every server sends an ApplyMsg on its apply channel. The local service executes the committed command in log order. Because every replica receives the same commands in the same order and the state machine is deterministic, the replicas reach the same state.</a:t>
            </a:r>
          </a:p>
          <a:p>
            <a:endParaRPr lang="en-US" dirty="0"/>
          </a:p>
          <a:p>
            <a:r>
              <a:rPr lang="en-US" dirty="0"/>
              <a:t>On the leader, the service uses the index and term to match the ApplyMsg with the waiting client request. Only then can it return the result. If the server loses leadership before the command commits, the entry may never be applied, and the client must retry with another leader.</a:t>
            </a:r>
          </a:p>
          <a:p>
            <a:endParaRPr lang="en-US" dirty="0"/>
          </a:p>
          <a:p>
            <a:r>
              <a:rPr lang="en-US" dirty="0"/>
              <a:t>So Raft does not replicate the entire application state after every request. It reaches agreement on the ordered commands that deterministically produce that state.</a:t>
            </a:r>
          </a:p>
          <a:p>
            <a:endParaRPr lang="en-US" dirty="0"/>
          </a:p>
          <a:p>
            <a:r>
              <a:rPr lang="en-US" dirty="0"/>
              <a:t>SOURCE
MIT 6.824, Spring 2020, Lecture 6 transcript/video, 18:14–24:18 and 39:33–44:49.
Local transcript: fall2026/lectures/references/mit-6824-2020-lecture6-raft1-transcript.txt
https://www.youtube.com/watch?v=64Zp3tzNbpE
Ongaro and Ousterhout, In Search of an Understandable Consensus Algorithm, Section 2 and Figure 1.
https://pdos.csail.mit.edu/6.824/papers/raft-extended.pdf</a:t>
            </a:r>
          </a:p>
        </p:txBody>
      </p:sp>
      <p:sp>
        <p:nvSpPr>
          <p:cNvPr id="4" name="Slide Number Placeholder 3">
            <a:extLst>
              <a:ext uri="{FF2B5EF4-FFF2-40B4-BE49-F238E27FC236}">
                <a16:creationId xmlns:a16="http://schemas.microsoft.com/office/drawing/2014/main" id="{EF9A0FA2-0D7E-5565-5AE9-7AB31FA3082A}"/>
              </a:ext>
            </a:extLst>
          </p:cNvPr>
          <p:cNvSpPr>
            <a:spLocks noGrp="1"/>
          </p:cNvSpPr>
          <p:nvPr>
            <p:ph type="sldNum" sz="quarter" idx="5"/>
          </p:nvPr>
        </p:nvSpPr>
        <p:spPr/>
        <p:txBody>
          <a:bodyPr/>
          <a:lstStyle/>
          <a:p>
            <a:fld id="{1C9584DC-3658-4054-9DA4-7B68A1D8CC6D}" type="slidenum">
              <a:rPr lang="zh-CN" altLang="en-US" smtClean="0"/>
              <a:t>15</a:t>
            </a:fld>
            <a:endParaRPr lang="zh-CN" altLang="en-US"/>
          </a:p>
        </p:txBody>
      </p:sp>
    </p:spTree>
    <p:extLst>
      <p:ext uri="{BB962C8B-B14F-4D97-AF65-F5344CB8AC3E}">
        <p14:creationId xmlns:p14="http://schemas.microsoft.com/office/powerpoint/2010/main" val="33297007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8697F5-0ED4-48FE-3801-932230E827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CA3966-23BF-DEE9-004B-0E245F8993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B12859-9EE0-093D-E55E-BE20B02A69A1}"/>
              </a:ext>
            </a:extLst>
          </p:cNvPr>
          <p:cNvSpPr>
            <a:spLocks noGrp="1"/>
          </p:cNvSpPr>
          <p:nvPr>
            <p:ph type="body" idx="1"/>
          </p:nvPr>
        </p:nvSpPr>
        <p:spPr/>
        <p:txBody>
          <a:bodyPr/>
          <a:lstStyle/>
          <a:p>
            <a:r>
              <a:rPr lang="en-US" dirty="0"/>
              <a:t>Here is the normal path for one client command when there are no failures.</a:t>
            </a:r>
          </a:p>
          <a:p>
            <a:endParaRPr lang="en-US" dirty="0"/>
          </a:p>
          <a:p>
            <a:r>
              <a:rPr lang="en-US" dirty="0"/>
              <a:t>The client sends the command to the leader. The leader first appends a new entry to its own log and persists it. It then sends AppendEntries RPCs to the followers in parallel.</a:t>
            </a:r>
          </a:p>
          <a:p>
            <a:endParaRPr lang="en-US" dirty="0"/>
          </a:p>
          <a:p>
            <a:r>
              <a:rPr lang="en-US" dirty="0"/>
              <a:t>The leader counts itself as one replica. In a three-server cluster, it needs a successful reply from only one follower to reach a majority. It does not wait for the slowest follower.</a:t>
            </a:r>
          </a:p>
          <a:p>
            <a:endParaRPr lang="en-US" dirty="0"/>
          </a:p>
          <a:p>
            <a:r>
              <a:rPr lang="en-US" dirty="0"/>
              <a:t>Once the entry is safely replicated on a majority, the leader marks it committed, applies the command to its local state machine, and returns the result to the client.</a:t>
            </a:r>
          </a:p>
          <a:p>
            <a:endParaRPr lang="en-US" dirty="0"/>
          </a:p>
          <a:p>
            <a:r>
              <a:rPr lang="en-US" dirty="0"/>
              <a:t>The followers may have stored the entry without knowing whether a majority received it. The leader therefore includes its commit index in later AppendEntries RPCs. A heartbeat is an AppendEntries RPC with no new log entries, so it can carry the updated commit index. When followers learn that the entry is committed, they apply it to their state machines in log order.</a:t>
            </a:r>
          </a:p>
          <a:p>
            <a:endParaRPr lang="en-US" dirty="0"/>
          </a:p>
          <a:p>
            <a:r>
              <a:rPr lang="en-US" dirty="0"/>
              <a:t>This path takes network communication before the client receives a reply. That cost buys durability across a minority of failures and one common execution order.</a:t>
            </a:r>
          </a:p>
          <a:p>
            <a:endParaRPr lang="en-US" dirty="0"/>
          </a:p>
          <a:p>
            <a:r>
              <a:rPr lang="en-US" dirty="0"/>
              <a:t>SOURCE
MIT 6.824, Spring 2020, Lecture 6 transcript/video, 20:32–30:21.
Local transcript: fall2026/lectures/references/mit-6824-2020-lecture6-raft1-transcript.txt
https://www.youtube.com/watch?v=64Zp3tzNbpE
Ongaro and Ousterhout, In Search of an Understandable Consensus Algorithm, Section 5.3.
https://pdos.csail.mit.edu/6.824/papers/raft-extended.pdf</a:t>
            </a:r>
          </a:p>
        </p:txBody>
      </p:sp>
      <p:sp>
        <p:nvSpPr>
          <p:cNvPr id="4" name="Slide Number Placeholder 3">
            <a:extLst>
              <a:ext uri="{FF2B5EF4-FFF2-40B4-BE49-F238E27FC236}">
                <a16:creationId xmlns:a16="http://schemas.microsoft.com/office/drawing/2014/main" id="{7C4724D4-CE97-CD53-B87B-4FDAA5C6DF84}"/>
              </a:ext>
            </a:extLst>
          </p:cNvPr>
          <p:cNvSpPr>
            <a:spLocks noGrp="1"/>
          </p:cNvSpPr>
          <p:nvPr>
            <p:ph type="sldNum" sz="quarter" idx="5"/>
          </p:nvPr>
        </p:nvSpPr>
        <p:spPr/>
        <p:txBody>
          <a:bodyPr/>
          <a:lstStyle/>
          <a:p>
            <a:fld id="{1C9584DC-3658-4054-9DA4-7B68A1D8CC6D}" type="slidenum">
              <a:rPr lang="zh-CN" altLang="en-US" smtClean="0"/>
              <a:t>16</a:t>
            </a:fld>
            <a:endParaRPr lang="zh-CN" altLang="en-US"/>
          </a:p>
        </p:txBody>
      </p:sp>
    </p:spTree>
    <p:extLst>
      <p:ext uri="{BB962C8B-B14F-4D97-AF65-F5344CB8AC3E}">
        <p14:creationId xmlns:p14="http://schemas.microsoft.com/office/powerpoint/2010/main" val="35232490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702A4-168D-1CF1-7D2B-E75BF78BA1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BA5D66-587F-44BD-BDEA-3AE880AB4D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B9A3D0-5E9E-6410-4631-AF6DCB3AE918}"/>
              </a:ext>
            </a:extLst>
          </p:cNvPr>
          <p:cNvSpPr>
            <a:spLocks noGrp="1"/>
          </p:cNvSpPr>
          <p:nvPr>
            <p:ph type="body" idx="1"/>
          </p:nvPr>
        </p:nvSpPr>
        <p:spPr/>
        <p:txBody>
          <a:bodyPr/>
          <a:lstStyle/>
          <a:p>
            <a:r>
              <a:rPr lang="en-US" dirty="0"/>
              <a:t>Raft uses a leader because one server can choose the order of concurrent client commands and send that order to the followers.</a:t>
            </a:r>
          </a:p>
          <a:p>
            <a:endParaRPr lang="en-US" dirty="0"/>
          </a:p>
          <a:p>
            <a:r>
              <a:rPr lang="en-US" dirty="0"/>
              <a:t>A leader is not mathematically required for consensus. Original Paxos can reach agreement without a permanent leader. For a continuing stream of commands, however, leadership makes the common case simpler and faster. Clients know where to send requests, and one round of AppendEntries RPCs can replicate each new command.</a:t>
            </a:r>
          </a:p>
          <a:p>
            <a:endParaRPr lang="en-US" dirty="0"/>
          </a:p>
          <a:p>
            <a:r>
              <a:rPr lang="en-US" dirty="0"/>
              <a:t>The leader's authority still depends on a majority. An old leader isolated in a minority partition may continue to believe that it is leader. It can accept a request and append it locally, but it cannot collect a majority, so it cannot commit the entry or safely reply to the client.</a:t>
            </a:r>
          </a:p>
          <a:p>
            <a:endParaRPr lang="en-US" dirty="0"/>
          </a:p>
          <a:p>
            <a:r>
              <a:rPr lang="en-US" dirty="0"/>
              <a:t>The leader chooses the order. Majority approval makes that order durable. Terms tell everyone which leader is current.</a:t>
            </a:r>
          </a:p>
          <a:p>
            <a:endParaRPr lang="en-US" dirty="0"/>
          </a:p>
          <a:p>
            <a:r>
              <a:rPr lang="en-US" dirty="0"/>
              <a:t>SOURCE
MIT 6.824, Spring 2020, Lecture 6 transcript/video, 46:21–47:52 and 64:37–67:42.
Local transcript: fall2026/lectures/references/mit-6824-2020-lecture6-raft1-transcript.txt
https://www.youtube.com/watch?v=64Zp3tzNbpE
Ongaro and Ousterhout, In Search of an Understandable Consensus Algorithm, Sections 3 and 5.
https://pdos.csail.mit.edu/6.824/papers/raft-extended.pdf</a:t>
            </a:r>
          </a:p>
        </p:txBody>
      </p:sp>
      <p:sp>
        <p:nvSpPr>
          <p:cNvPr id="4" name="Slide Number Placeholder 3">
            <a:extLst>
              <a:ext uri="{FF2B5EF4-FFF2-40B4-BE49-F238E27FC236}">
                <a16:creationId xmlns:a16="http://schemas.microsoft.com/office/drawing/2014/main" id="{AA879406-CC4E-722C-E4D2-B7CA1336D89F}"/>
              </a:ext>
            </a:extLst>
          </p:cNvPr>
          <p:cNvSpPr>
            <a:spLocks noGrp="1"/>
          </p:cNvSpPr>
          <p:nvPr>
            <p:ph type="sldNum" sz="quarter" idx="5"/>
          </p:nvPr>
        </p:nvSpPr>
        <p:spPr/>
        <p:txBody>
          <a:bodyPr/>
          <a:lstStyle/>
          <a:p>
            <a:fld id="{1C9584DC-3658-4054-9DA4-7B68A1D8CC6D}" type="slidenum">
              <a:rPr lang="zh-CN" altLang="en-US" smtClean="0"/>
              <a:t>17</a:t>
            </a:fld>
            <a:endParaRPr lang="zh-CN" altLang="en-US"/>
          </a:p>
        </p:txBody>
      </p:sp>
    </p:spTree>
    <p:extLst>
      <p:ext uri="{BB962C8B-B14F-4D97-AF65-F5344CB8AC3E}">
        <p14:creationId xmlns:p14="http://schemas.microsoft.com/office/powerpoint/2010/main" val="3414558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5CBDCD-F3F3-416E-D1C3-225443B9D9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75CB80-9E7B-84AE-3971-9CE6F8F64C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A052E8-70F6-F793-D331-845DACF7216F}"/>
              </a:ext>
            </a:extLst>
          </p:cNvPr>
          <p:cNvSpPr>
            <a:spLocks noGrp="1"/>
          </p:cNvSpPr>
          <p:nvPr>
            <p:ph type="body" idx="1"/>
          </p:nvPr>
        </p:nvSpPr>
        <p:spPr/>
        <p:txBody>
          <a:bodyPr/>
          <a:lstStyle/>
          <a:p>
            <a:r>
              <a:rPr lang="en-US" dirty="0"/>
              <a:t>Raft divides time into numbered terms. A term is a logical period associated with one election and, if that election succeeds, one leader.</a:t>
            </a:r>
          </a:p>
          <a:p>
            <a:endParaRPr lang="en-US" dirty="0"/>
          </a:p>
          <a:p>
            <a:r>
              <a:rPr lang="en-US" dirty="0"/>
              <a:t>Every term begins with an election. A term may contain one leader, or it may end with no leader if the vote splits. Raft never allows two candidates to win the same term.</a:t>
            </a:r>
          </a:p>
          <a:p>
            <a:endParaRPr lang="en-US" dirty="0"/>
          </a:p>
          <a:p>
            <a:r>
              <a:rPr lang="en-US" dirty="0"/>
              <a:t>Each server stores its current term on stable storage, and the number only increases. Servers include the term in every RequestVote and AppendEntries RPC and in their replies.</a:t>
            </a:r>
          </a:p>
          <a:p>
            <a:endParaRPr lang="en-US" dirty="0"/>
          </a:p>
          <a:p>
            <a:r>
              <a:rPr lang="en-US" dirty="0"/>
              <a:t>If a server sees a higher term, it updates its current term and becomes a follower. If it receives an RPC from an older term, it rejects that request. Terms therefore identify obsolete information and remove authority from an old leader once it reconnects with a newer part of the cluster.</a:t>
            </a:r>
          </a:p>
          <a:p>
            <a:endParaRPr lang="en-US" dirty="0"/>
          </a:p>
          <a:p>
            <a:r>
              <a:rPr lang="en-US" dirty="0"/>
              <a:t>Different servers can learn about a new term at different times. They do not need synchronized clocks or synchronized term transitions for safety.</a:t>
            </a:r>
          </a:p>
          <a:p>
            <a:endParaRPr lang="en-US" dirty="0"/>
          </a:p>
          <a:p>
            <a:r>
              <a:rPr lang="en-US" dirty="0"/>
              <a:t>SOURCE
MIT 6.824, Spring 2020, Lecture 6 transcript/video, 47:52–50:58.
Local transcript: fall2026/lectures/references/mit-6824-2020-lecture6-raft1-transcript.txt
https://www.youtube.com/watch?v=64Zp3tzNbpE
Ongaro and Ousterhout, In Search of an Understandable Consensus Algorithm, Section 5.1 and Figure 5.
https://pdos.csail.mit.edu/6.824/papers/raft-extended.pdf</a:t>
            </a:r>
          </a:p>
        </p:txBody>
      </p:sp>
      <p:sp>
        <p:nvSpPr>
          <p:cNvPr id="4" name="Slide Number Placeholder 3">
            <a:extLst>
              <a:ext uri="{FF2B5EF4-FFF2-40B4-BE49-F238E27FC236}">
                <a16:creationId xmlns:a16="http://schemas.microsoft.com/office/drawing/2014/main" id="{3F8FC463-153C-CA90-6FC3-9DE3B4270E2C}"/>
              </a:ext>
            </a:extLst>
          </p:cNvPr>
          <p:cNvSpPr>
            <a:spLocks noGrp="1"/>
          </p:cNvSpPr>
          <p:nvPr>
            <p:ph type="sldNum" sz="quarter" idx="5"/>
          </p:nvPr>
        </p:nvSpPr>
        <p:spPr/>
        <p:txBody>
          <a:bodyPr/>
          <a:lstStyle/>
          <a:p>
            <a:fld id="{1C9584DC-3658-4054-9DA4-7B68A1D8CC6D}" type="slidenum">
              <a:rPr lang="zh-CN" altLang="en-US" smtClean="0"/>
              <a:t>18</a:t>
            </a:fld>
            <a:endParaRPr lang="zh-CN" altLang="en-US"/>
          </a:p>
        </p:txBody>
      </p:sp>
    </p:spTree>
    <p:extLst>
      <p:ext uri="{BB962C8B-B14F-4D97-AF65-F5344CB8AC3E}">
        <p14:creationId xmlns:p14="http://schemas.microsoft.com/office/powerpoint/2010/main" val="68360414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40E03-9CD2-5619-F912-10053D34FD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101AC0-56E2-53BE-5114-4AC9B7B84C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CE8306-288E-0B53-02BA-630DB855F29A}"/>
              </a:ext>
            </a:extLst>
          </p:cNvPr>
          <p:cNvSpPr>
            <a:spLocks noGrp="1"/>
          </p:cNvSpPr>
          <p:nvPr>
            <p:ph type="body" idx="1"/>
          </p:nvPr>
        </p:nvSpPr>
        <p:spPr/>
        <p:txBody>
          <a:bodyPr/>
          <a:lstStyle/>
          <a:p>
            <a:r>
              <a:rPr lang="en-US" dirty="0"/>
              <a:t>All servers begin as followers.</a:t>
            </a:r>
          </a:p>
          <a:p>
            <a:endParaRPr lang="en-US" dirty="0"/>
          </a:p>
          <a:p>
            <a:r>
              <a:rPr lang="en-US" dirty="0"/>
              <a:t>The leader periodically sends heartbeats, which are empty AppendEntries RPCs. A follower resets its election timer when it receives a valid heartbeat. As long as those messages arrive often enough, the followers remain passive.</a:t>
            </a:r>
          </a:p>
          <a:p>
            <a:endParaRPr lang="en-US" dirty="0"/>
          </a:p>
          <a:p>
            <a:r>
              <a:rPr lang="en-US" dirty="0"/>
              <a:t>If a follower's election timeout expires, it assumes that there is no usable leader. It increments its term, changes to candidate, votes for itself, and requests votes from the other servers.</a:t>
            </a:r>
          </a:p>
          <a:p>
            <a:endParaRPr lang="en-US" dirty="0"/>
          </a:p>
          <a:p>
            <a:r>
              <a:rPr lang="en-US" dirty="0"/>
              <a:t>A candidate that receives votes from a majority becomes leader and immediately sends heartbeats. A candidate that receives AppendEntries from a valid leader returns to follower. If no candidate wins before another timeout, the candidate starts a new election in a higher term.</a:t>
            </a:r>
          </a:p>
          <a:p>
            <a:endParaRPr lang="en-US" dirty="0"/>
          </a:p>
          <a:p>
            <a:r>
              <a:rPr lang="en-US" dirty="0"/>
              <a:t>Any server returns to follower when it discovers a higher term. This includes an old leader. The transition is driven by protocol messages, not by a perfect failure detector.</a:t>
            </a:r>
          </a:p>
          <a:p>
            <a:endParaRPr lang="en-US" dirty="0"/>
          </a:p>
          <a:p>
            <a:r>
              <a:rPr lang="en-US" dirty="0"/>
              <a:t>Election timeouts can cause an unnecessary election when a leader is alive but messages are delayed. That may hurt availability briefly, but the voting rules must keep it safe.</a:t>
            </a:r>
          </a:p>
          <a:p>
            <a:endParaRPr lang="en-US" dirty="0"/>
          </a:p>
          <a:p>
            <a:r>
              <a:rPr lang="en-US" dirty="0"/>
              <a:t>SOURCE
MIT 6.824, Spring 2020, Lecture 6 transcript/video, 48:40–56:14.
Local transcript: fall2026/lectures/references/mit-6824-2020-lecture6-raft1-transcript.txt
https://www.youtube.com/watch?v=64Zp3tzNbpE
Ongaro and Ousterhout, In Search of an Understandable Consensus Algorithm, Sections 5.1–5.2 and Figure 4.
https://pdos.csail.mit.edu/6.824/papers/raft-extended.pdf</a:t>
            </a:r>
          </a:p>
        </p:txBody>
      </p:sp>
      <p:sp>
        <p:nvSpPr>
          <p:cNvPr id="4" name="Slide Number Placeholder 3">
            <a:extLst>
              <a:ext uri="{FF2B5EF4-FFF2-40B4-BE49-F238E27FC236}">
                <a16:creationId xmlns:a16="http://schemas.microsoft.com/office/drawing/2014/main" id="{54A4C696-2BCE-F1AD-A7EE-0451F1A09DAE}"/>
              </a:ext>
            </a:extLst>
          </p:cNvPr>
          <p:cNvSpPr>
            <a:spLocks noGrp="1"/>
          </p:cNvSpPr>
          <p:nvPr>
            <p:ph type="sldNum" sz="quarter" idx="5"/>
          </p:nvPr>
        </p:nvSpPr>
        <p:spPr/>
        <p:txBody>
          <a:bodyPr/>
          <a:lstStyle/>
          <a:p>
            <a:fld id="{1C9584DC-3658-4054-9DA4-7B68A1D8CC6D}" type="slidenum">
              <a:rPr lang="zh-CN" altLang="en-US" smtClean="0"/>
              <a:t>19</a:t>
            </a:fld>
            <a:endParaRPr lang="zh-CN" altLang="en-US"/>
          </a:p>
        </p:txBody>
      </p:sp>
    </p:spTree>
    <p:extLst>
      <p:ext uri="{BB962C8B-B14F-4D97-AF65-F5344CB8AC3E}">
        <p14:creationId xmlns:p14="http://schemas.microsoft.com/office/powerpoint/2010/main" val="34954280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61E1A-B23E-193A-0C4C-94C7685459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8A1254-FC93-DCAB-F406-F1EC6C7795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03AFA5-529E-78EF-0425-AF8FA448D9A6}"/>
              </a:ext>
            </a:extLst>
          </p:cNvPr>
          <p:cNvSpPr>
            <a:spLocks noGrp="1"/>
          </p:cNvSpPr>
          <p:nvPr>
            <p:ph type="body" idx="1"/>
          </p:nvPr>
        </p:nvSpPr>
        <p:spPr/>
        <p:txBody>
          <a:bodyPr/>
          <a:lstStyle/>
          <a:p>
            <a:r>
              <a:rPr lang="en-US" dirty="0"/>
              <a:t>A follower begins an election by advancing to a new term, becoming a candidate, and voting for itself. It then sends RequestVote RPCs to all other servers in parallel.</a:t>
            </a:r>
          </a:p>
          <a:p>
            <a:endParaRPr lang="en-US" dirty="0"/>
          </a:p>
          <a:p>
            <a:r>
              <a:rPr lang="en-US" dirty="0"/>
              <a:t>Three outcomes are possible.</a:t>
            </a:r>
          </a:p>
          <a:p>
            <a:endParaRPr lang="en-US" dirty="0"/>
          </a:p>
          <a:p>
            <a:r>
              <a:rPr lang="en-US" dirty="0"/>
              <a:t>First, the candidate receives votes from a majority of the full cluster. It becomes leader and sends AppendEntries heartbeats immediately to establish its authority and suppress other elections.</a:t>
            </a:r>
          </a:p>
          <a:p>
            <a:endParaRPr lang="en-US" dirty="0"/>
          </a:p>
          <a:p>
            <a:r>
              <a:rPr lang="en-US" dirty="0"/>
              <a:t>Second, it receives AppendEntries from a leader whose term is at least as new as its own. It accepts that another server has won and returns to follower. A message from an older term does not have that effect.</a:t>
            </a:r>
          </a:p>
          <a:p>
            <a:endParaRPr lang="en-US" dirty="0"/>
          </a:p>
          <a:p>
            <a:r>
              <a:rPr lang="en-US" dirty="0"/>
              <a:t>Third, no candidate obtains a majority before the election timeout expires. The candidate increments its term again and begins another election with a fresh set of RequestVote RPCs.</a:t>
            </a:r>
          </a:p>
          <a:p>
            <a:endParaRPr lang="en-US" dirty="0"/>
          </a:p>
          <a:p>
            <a:r>
              <a:rPr lang="en-US" dirty="0"/>
              <a:t>An election can begin even when the old leader has not crashed. Delayed or lost heartbeats are enough. The protocol must therefore remain correct while an old leader still believes it has authority.</a:t>
            </a:r>
          </a:p>
          <a:p>
            <a:endParaRPr lang="en-US" dirty="0"/>
          </a:p>
          <a:p>
            <a:r>
              <a:rPr lang="en-US" dirty="0"/>
              <a:t>SOURCE
MIT 6.824, Spring 2020, Lecture 6 transcript/video, 48:40–57:47.
Local transcript: fall2026/lectures/references/mit-6824-2020-lecture6-raft1-transcript.txt
https://www.youtube.com/watch?v=64Zp3tzNbpE
Ongaro and Ousterhout, In Search of an Understandable Consensus Algorithm, Section 5.2 and Figure 2.
https://pdos.csail.mit.edu/6.824/papers/raft-extended.pdf</a:t>
            </a:r>
          </a:p>
        </p:txBody>
      </p:sp>
      <p:sp>
        <p:nvSpPr>
          <p:cNvPr id="4" name="Slide Number Placeholder 3">
            <a:extLst>
              <a:ext uri="{FF2B5EF4-FFF2-40B4-BE49-F238E27FC236}">
                <a16:creationId xmlns:a16="http://schemas.microsoft.com/office/drawing/2014/main" id="{D9B938E2-B444-A879-5194-E8EA9AB38585}"/>
              </a:ext>
            </a:extLst>
          </p:cNvPr>
          <p:cNvSpPr>
            <a:spLocks noGrp="1"/>
          </p:cNvSpPr>
          <p:nvPr>
            <p:ph type="sldNum" sz="quarter" idx="5"/>
          </p:nvPr>
        </p:nvSpPr>
        <p:spPr/>
        <p:txBody>
          <a:bodyPr/>
          <a:lstStyle/>
          <a:p>
            <a:fld id="{1C9584DC-3658-4054-9DA4-7B68A1D8CC6D}" type="slidenum">
              <a:rPr lang="zh-CN" altLang="en-US" smtClean="0"/>
              <a:t>20</a:t>
            </a:fld>
            <a:endParaRPr lang="zh-CN" altLang="en-US"/>
          </a:p>
        </p:txBody>
      </p:sp>
    </p:spTree>
    <p:extLst>
      <p:ext uri="{BB962C8B-B14F-4D97-AF65-F5344CB8AC3E}">
        <p14:creationId xmlns:p14="http://schemas.microsoft.com/office/powerpoint/2010/main" val="7126782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BA351-7DA4-C06C-DC0E-C6635E244F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5E58DC-1303-032D-6619-0DE07CBCC3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A72BFA-E2EE-0CB2-59E0-0EFDECEABFA7}"/>
              </a:ext>
            </a:extLst>
          </p:cNvPr>
          <p:cNvSpPr>
            <a:spLocks noGrp="1"/>
          </p:cNvSpPr>
          <p:nvPr>
            <p:ph type="body" idx="1"/>
          </p:nvPr>
        </p:nvSpPr>
        <p:spPr/>
        <p:txBody>
          <a:bodyPr/>
          <a:lstStyle/>
          <a:p>
            <a:r>
              <a:rPr lang="en-US" dirty="0"/>
              <a:t>The election rules address safety and liveness separately.</a:t>
            </a:r>
          </a:p>
          <a:p>
            <a:endParaRPr lang="en-US" dirty="0"/>
          </a:p>
          <a:p>
            <a:r>
              <a:rPr lang="en-US" dirty="0"/>
              <a:t>For safety, each server can grant at most one vote in a term, and it records that vote on stable storage before replying. A candidate must collect votes from a majority. Since any two majorities overlap, two candidates cannot both collect a majority of distinct one-time votes in the same term. At most one leader can win that term.</a:t>
            </a:r>
          </a:p>
          <a:p>
            <a:endParaRPr lang="en-US" dirty="0"/>
          </a:p>
          <a:p>
            <a:r>
              <a:rPr lang="en-US" dirty="0"/>
              <a:t>That rule remains true even if messages are delayed or the network partitions. Raft does not depend on timing for election safety.</a:t>
            </a:r>
          </a:p>
          <a:p>
            <a:endParaRPr lang="en-US" dirty="0"/>
          </a:p>
          <a:p>
            <a:r>
              <a:rPr lang="en-US" dirty="0"/>
              <a:t>For liveness, some candidate must eventually win. If every follower times out at the same moment, each may vote for itself and the vote can split. Raft reduces that risk by choosing each election timeout randomly from an interval. Usually one server times out first and completes its election before the others become candidates.</a:t>
            </a:r>
          </a:p>
          <a:p>
            <a:endParaRPr lang="en-US" dirty="0"/>
          </a:p>
          <a:p>
            <a:r>
              <a:rPr lang="en-US" dirty="0"/>
              <a:t>Timing affects how quickly the system recovers, but a poor timeout does not permit two leaders to win the same term. It causes extra elections or a period without progress.</a:t>
            </a:r>
          </a:p>
          <a:p>
            <a:endParaRPr lang="en-US" dirty="0"/>
          </a:p>
          <a:p>
            <a:r>
              <a:rPr lang="en-US" dirty="0"/>
              <a:t>SOURCE
MIT 6.824, Spring 2020, Lecture 6 transcript/video, 53:14–64:37.
Local transcript: fall2026/lectures/references/mit-6824-2020-lecture6-raft1-transcript.txt
https://www.youtube.com/watch?v=64Zp3tzNbpE
Ongaro and Ousterhout, In Search of an Understandable Consensus Algorithm, Sections 2 and 5.2.
https://pdos.csail.mit.edu/6.824/papers/raft-extended.pdf</a:t>
            </a:r>
          </a:p>
        </p:txBody>
      </p:sp>
      <p:sp>
        <p:nvSpPr>
          <p:cNvPr id="4" name="Slide Number Placeholder 3">
            <a:extLst>
              <a:ext uri="{FF2B5EF4-FFF2-40B4-BE49-F238E27FC236}">
                <a16:creationId xmlns:a16="http://schemas.microsoft.com/office/drawing/2014/main" id="{A9975858-62E0-D101-346F-5824D8A139C4}"/>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21731067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27F80E-BFAE-90AE-9B27-97F5BB52F8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6E09EF-7DB3-A805-D989-D89263861B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AC7CCB-327C-3329-6CAD-F64BC686F1A1}"/>
              </a:ext>
            </a:extLst>
          </p:cNvPr>
          <p:cNvSpPr>
            <a:spLocks noGrp="1"/>
          </p:cNvSpPr>
          <p:nvPr>
            <p:ph type="body" idx="1"/>
          </p:nvPr>
        </p:nvSpPr>
        <p:spPr/>
        <p:txBody>
          <a:bodyPr/>
          <a:lstStyle/>
          <a:p>
            <a:r>
              <a:rPr lang="en-US" dirty="0"/>
              <a:t>The winning candidate knows it has become leader because it directly receives yes votes from a majority. The other servers learn indirectly. The new leader immediately sends AppendEntries RPCs with its term. Only a leader sends AppendEntries, so receiving a valid one tells a server that the term now has a leader. The heartbeat also resets the receiver's election timer.</a:t>
            </a:r>
          </a:p>
          <a:p>
            <a:endParaRPr lang="en-US" dirty="0"/>
          </a:p>
          <a:p>
            <a:r>
              <a:rPr lang="en-US" dirty="0"/>
              <a:t>An election can fail because a majority is unreachable. In that case no protocol can safely create a leader, so Raft waits. It can also fail because several candidates start together and split the votes.</a:t>
            </a:r>
          </a:p>
          <a:p>
            <a:endParaRPr lang="en-US" dirty="0"/>
          </a:p>
          <a:p>
            <a:r>
              <a:rPr lang="en-US" dirty="0"/>
              <a:t>Randomized timeouts break that symmetry. After the last heartbeat, every follower chooses a different random deadline. The first server to time out becomes candidate. If the gap before the second timeout is longer than one RequestVote round trip, the first candidate can collect a majority and send heartbeats before another election starts.</a:t>
            </a:r>
          </a:p>
          <a:p>
            <a:endParaRPr lang="en-US" dirty="0"/>
          </a:p>
          <a:p>
            <a:r>
              <a:rPr lang="en-US" dirty="0"/>
              <a:t>The timeout range requires balance. Its minimum should be several heartbeat intervals so that one delayed heartbeat does not cause constant elections. The range should be wide relative to the network round-trip time so that candidates rarely collide. A very large timeout makes recovery after a real failure slow.</a:t>
            </a:r>
          </a:p>
          <a:p>
            <a:endParaRPr lang="en-US" dirty="0"/>
          </a:p>
          <a:p>
            <a:r>
              <a:rPr lang="en-US" dirty="0"/>
              <a:t>Each reset should choose a fresh random timeout. Reusing one unlucky value could make the same candidates collide in every term.</a:t>
            </a:r>
          </a:p>
          <a:p>
            <a:endParaRPr lang="en-US" dirty="0"/>
          </a:p>
          <a:p>
            <a:r>
              <a:rPr lang="en-US" dirty="0"/>
              <a:t>SOURCE
MIT 6.824, Spring 2020, Lecture 6 transcript/video, 54:44–64:37.
Local transcript: fall2026/lectures/references/mit-6824-2020-lecture6-raft1-transcript.txt
https://www.youtube.com/watch?v=64Zp3tzNbpE
Ongaro and Ousterhout, In Search of an Understandable Consensus Algorithm, Section 5.2.
https://pdos.csail.mit.edu/6.824/papers/raft-extended.pdf</a:t>
            </a:r>
          </a:p>
        </p:txBody>
      </p:sp>
      <p:sp>
        <p:nvSpPr>
          <p:cNvPr id="4" name="Slide Number Placeholder 3">
            <a:extLst>
              <a:ext uri="{FF2B5EF4-FFF2-40B4-BE49-F238E27FC236}">
                <a16:creationId xmlns:a16="http://schemas.microsoft.com/office/drawing/2014/main" id="{AE8A4628-1A5D-D191-7009-1225E86A5116}"/>
              </a:ext>
            </a:extLst>
          </p:cNvPr>
          <p:cNvSpPr>
            <a:spLocks noGrp="1"/>
          </p:cNvSpPr>
          <p:nvPr>
            <p:ph type="sldNum" sz="quarter" idx="5"/>
          </p:nvPr>
        </p:nvSpPr>
        <p:spPr/>
        <p:txBody>
          <a:bodyPr/>
          <a:lstStyle/>
          <a:p>
            <a:fld id="{1C9584DC-3658-4054-9DA4-7B68A1D8CC6D}" type="slidenum">
              <a:rPr lang="zh-CN" altLang="en-US" smtClean="0"/>
              <a:t>22</a:t>
            </a:fld>
            <a:endParaRPr lang="zh-CN" altLang="en-US"/>
          </a:p>
        </p:txBody>
      </p:sp>
    </p:spTree>
    <p:extLst>
      <p:ext uri="{BB962C8B-B14F-4D97-AF65-F5344CB8AC3E}">
        <p14:creationId xmlns:p14="http://schemas.microsoft.com/office/powerpoint/2010/main" val="272247168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8D4EA-C8D1-5457-1992-25C11517D4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0437C0-189D-543F-0C04-FF3D0661DA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12A411-3A9F-4EC5-4159-58FBB292FAF1}"/>
              </a:ext>
            </a:extLst>
          </p:cNvPr>
          <p:cNvSpPr>
            <a:spLocks noGrp="1"/>
          </p:cNvSpPr>
          <p:nvPr>
            <p:ph type="body" idx="1"/>
          </p:nvPr>
        </p:nvSpPr>
        <p:spPr/>
        <p:txBody>
          <a:bodyPr/>
          <a:lstStyle/>
          <a:p>
            <a:r>
              <a:rPr lang="en-US" dirty="0"/>
              <a:t>Leader election answers who may choose the order. The log records the order that was chosen.</a:t>
            </a:r>
          </a:p>
          <a:p>
            <a:endParaRPr lang="en-US" dirty="0"/>
          </a:p>
          <a:p>
            <a:r>
              <a:rPr lang="en-US" dirty="0"/>
              <a:t>The first job of the log is to give every command a numbered position. If ten clients send commands concurrently, the leader selects one sequence. Replicas that execute the same deterministic commands in that sequence reach the same state.</a:t>
            </a:r>
          </a:p>
          <a:p>
            <a:endParaRPr lang="en-US" dirty="0"/>
          </a:p>
          <a:p>
            <a:r>
              <a:rPr lang="en-US" dirty="0"/>
              <a:t>The log also holds tentative commands. A follower may receive an entry before it knows whether a majority stored it. It cannot apply that command yet, so it keeps the entry in its log until the leader communicates the commit index.</a:t>
            </a:r>
          </a:p>
          <a:p>
            <a:endParaRPr lang="en-US" dirty="0"/>
          </a:p>
          <a:p>
            <a:r>
              <a:rPr lang="en-US" dirty="0"/>
              <a:t>The leader retains committed entries because a follower may be offline or miss a message. When that follower returns, the leader can resend everything it lacks.</a:t>
            </a:r>
          </a:p>
          <a:p>
            <a:endParaRPr lang="en-US" dirty="0"/>
          </a:p>
          <a:p>
            <a:r>
              <a:rPr lang="en-US" dirty="0"/>
              <a:t>Finally, the log is persistent. After a server crashes and restarts, it reads the log from stable storage. Once it learns the safe commit point, it can replay committed commands to reconstruct the application state. Practical systems add snapshots so they do not replay an unbounded history.</a:t>
            </a:r>
          </a:p>
          <a:p>
            <a:endParaRPr lang="en-US" dirty="0"/>
          </a:p>
          <a:p>
            <a:r>
              <a:rPr lang="en-US" dirty="0"/>
              <a:t>The logs are not exact replicas at every instant. A slow follower may lag, and a leader can crash after sending an entry to only some followers. Raft permits temporary differences. Its safety rules ensure that servers apply only committed entries, and its repair mechanism eventually makes followers match the leader.</a:t>
            </a:r>
          </a:p>
          <a:p>
            <a:endParaRPr lang="en-US" dirty="0"/>
          </a:p>
          <a:p>
            <a:r>
              <a:rPr lang="en-US" dirty="0"/>
              <a:t>SOURCE
MIT 6.824, Spring 2020, Lecture 6 transcript/video, 30:21–39:33 and 44:49–46:21.
Local transcript: fall2026/lectures/references/mit-6824-2020-lecture6-raft1-transcript.txt
https://www.youtube.com/watch?v=64Zp3tzNbpE
Ongaro and Ousterhout, In Search of an Understandable Consensus Algorithm, Sections 2 and 5.3.
https://pdos.csail.mit.edu/6.824/papers/raft-extended.pdf</a:t>
            </a:r>
          </a:p>
        </p:txBody>
      </p:sp>
      <p:sp>
        <p:nvSpPr>
          <p:cNvPr id="4" name="Slide Number Placeholder 3">
            <a:extLst>
              <a:ext uri="{FF2B5EF4-FFF2-40B4-BE49-F238E27FC236}">
                <a16:creationId xmlns:a16="http://schemas.microsoft.com/office/drawing/2014/main" id="{72E7E141-640B-3C98-6BD5-7FB1E0725A73}"/>
              </a:ext>
            </a:extLst>
          </p:cNvPr>
          <p:cNvSpPr>
            <a:spLocks noGrp="1"/>
          </p:cNvSpPr>
          <p:nvPr>
            <p:ph type="sldNum" sz="quarter" idx="5"/>
          </p:nvPr>
        </p:nvSpPr>
        <p:spPr/>
        <p:txBody>
          <a:bodyPr/>
          <a:lstStyle/>
          <a:p>
            <a:fld id="{1C9584DC-3658-4054-9DA4-7B68A1D8CC6D}" type="slidenum">
              <a:rPr lang="zh-CN" altLang="en-US" smtClean="0"/>
              <a:t>23</a:t>
            </a:fld>
            <a:endParaRPr lang="zh-CN" altLang="en-US"/>
          </a:p>
        </p:txBody>
      </p:sp>
    </p:spTree>
    <p:extLst>
      <p:ext uri="{BB962C8B-B14F-4D97-AF65-F5344CB8AC3E}">
        <p14:creationId xmlns:p14="http://schemas.microsoft.com/office/powerpoint/2010/main" val="20867931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10D10-6B73-F4C2-17CB-5395AA7210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694125-D744-227E-BDCB-DD7E9EA126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D81561-DE67-806F-C097-C4B300B8FEEF}"/>
              </a:ext>
            </a:extLst>
          </p:cNvPr>
          <p:cNvSpPr>
            <a:spLocks noGrp="1"/>
          </p:cNvSpPr>
          <p:nvPr>
            <p:ph type="body" idx="1"/>
          </p:nvPr>
        </p:nvSpPr>
        <p:spPr/>
        <p:txBody>
          <a:bodyPr/>
          <a:lstStyle/>
          <a:p>
            <a:r>
              <a:rPr lang="en-US" dirty="0"/>
              <a:t>Each log entry has three important pieces of information.</a:t>
            </a:r>
          </a:p>
          <a:p>
            <a:endParaRPr lang="en-US" dirty="0"/>
          </a:p>
          <a:p>
            <a:r>
              <a:rPr lang="en-US" dirty="0"/>
              <a:t>The index gives the entry's position in the sequence. The term records which leader created the entry. The command is the operation that the application will execute, such as a Put for a key-value service.</a:t>
            </a:r>
          </a:p>
          <a:p>
            <a:endParaRPr lang="en-US" dirty="0"/>
          </a:p>
          <a:p>
            <a:r>
              <a:rPr lang="en-US" dirty="0"/>
              <a:t>The log is stored on stable storage, so it survives a process or machine restart. Current term and the vote granted in the current term are also persistent because forgetting either one could allow a server to contradict a decision it made before crashing.</a:t>
            </a:r>
          </a:p>
          <a:p>
            <a:endParaRPr lang="en-US" dirty="0"/>
          </a:p>
          <a:p>
            <a:r>
              <a:rPr lang="en-US" dirty="0"/>
              <a:t>During normal operation, the leader appends a new entry locally and replicates it with AppendEntries. Once an entry from the leader's current term is stored on a majority, the leader can mark it committed. A committed entry is durable under the full Raft protocol and will eventually be applied by every available state machine in index order.</a:t>
            </a:r>
          </a:p>
          <a:p>
            <a:endParaRPr lang="en-US" dirty="0"/>
          </a:p>
          <a:p>
            <a:r>
              <a:rPr lang="en-US" dirty="0"/>
              <a:t>The figure also shows that replicas may have different suffixes. Some followers lag, and others may contain uncommitted entries from an earlier leader. The difficult question is how a new leader can overwrite those differences while preserving every entry that might already be committed.</a:t>
            </a:r>
          </a:p>
          <a:p>
            <a:endParaRPr lang="en-US" dirty="0"/>
          </a:p>
          <a:p>
            <a:r>
              <a:rPr lang="en-US" dirty="0"/>
              <a:t>That question connects the two Raft lectures. Majority voting chooses the leader. The election restriction and log-matching rules make sure that the chosen leader can safely repair the replicated log.</a:t>
            </a:r>
          </a:p>
          <a:p>
            <a:endParaRPr lang="en-US" dirty="0"/>
          </a:p>
          <a:p>
            <a:r>
              <a:rPr lang="en-US" dirty="0"/>
              <a:t>SOURCE
MIT 6.824, Spring 2020, Lecture 6 transcript/video, 30:21–39:33 and 67:42–79:46.
Local transcript: fall2026/lectures/references/mit-6824-2020-lecture6-raft1-transcript.txt
https://www.youtube.com/watch?v=64Zp3tzNbpE
Ongaro and Ousterhout, In Search of an Understandable Consensus Algorithm, Sections 5.1–5.4 and Figures 2, 3, and 6.
https://pdos.csail.mit.edu/6.824/papers/raft-extended.pdf</a:t>
            </a:r>
          </a:p>
        </p:txBody>
      </p:sp>
      <p:sp>
        <p:nvSpPr>
          <p:cNvPr id="4" name="Slide Number Placeholder 3">
            <a:extLst>
              <a:ext uri="{FF2B5EF4-FFF2-40B4-BE49-F238E27FC236}">
                <a16:creationId xmlns:a16="http://schemas.microsoft.com/office/drawing/2014/main" id="{7E7C586B-9621-4D86-8F2B-6F0EC4A5489F}"/>
              </a:ext>
            </a:extLst>
          </p:cNvPr>
          <p:cNvSpPr>
            <a:spLocks noGrp="1"/>
          </p:cNvSpPr>
          <p:nvPr>
            <p:ph type="sldNum" sz="quarter" idx="5"/>
          </p:nvPr>
        </p:nvSpPr>
        <p:spPr/>
        <p:txBody>
          <a:bodyPr/>
          <a:lstStyle/>
          <a:p>
            <a:fld id="{1C9584DC-3658-4054-9DA4-7B68A1D8CC6D}" type="slidenum">
              <a:rPr lang="zh-CN" altLang="en-US" smtClean="0"/>
              <a:t>24</a:t>
            </a:fld>
            <a:endParaRPr lang="zh-CN" altLang="en-US"/>
          </a:p>
        </p:txBody>
      </p:sp>
    </p:spTree>
    <p:extLst>
      <p:ext uri="{BB962C8B-B14F-4D97-AF65-F5344CB8AC3E}">
        <p14:creationId xmlns:p14="http://schemas.microsoft.com/office/powerpoint/2010/main" val="24326870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9FD14-02FF-DA1D-2386-E3A333E5C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80FBC3-A446-B040-9B6C-599ED60A01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C3DFCD-14A0-90C1-6B40-D518C30CE389}"/>
              </a:ext>
            </a:extLst>
          </p:cNvPr>
          <p:cNvSpPr>
            <a:spLocks noGrp="1"/>
          </p:cNvSpPr>
          <p:nvPr>
            <p:ph type="body" idx="1"/>
          </p:nvPr>
        </p:nvSpPr>
        <p:spPr/>
        <p:txBody>
          <a:bodyPr/>
          <a:lstStyle/>
          <a:p>
            <a:r>
              <a:rPr lang="en-US" dirty="0"/>
              <a:t>ATTENDANCE CHECK - do this right before the quiz.</a:t>
            </a:r>
          </a:p>
          <a:p>
            <a:r>
              <a:rPr lang="en-US" dirty="0"/>
              <a:t>1. In Google Forms, open 'Quiz 02 Attendance - GFS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p:txBody>
      </p:sp>
      <p:sp>
        <p:nvSpPr>
          <p:cNvPr id="4" name="Slide Number Placeholder 3">
            <a:extLst>
              <a:ext uri="{FF2B5EF4-FFF2-40B4-BE49-F238E27FC236}">
                <a16:creationId xmlns:a16="http://schemas.microsoft.com/office/drawing/2014/main" id="{EA0B9615-41D5-53A4-EBB6-7D46695FD89D}"/>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20233282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9FD14-02FF-DA1D-2386-E3A333E5C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80FBC3-A446-B040-9B6C-599ED60A01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C3DFCD-14A0-90C1-6B40-D518C30CE389}"/>
              </a:ext>
            </a:extLst>
          </p:cNvPr>
          <p:cNvSpPr>
            <a:spLocks noGrp="1"/>
          </p:cNvSpPr>
          <p:nvPr>
            <p:ph type="body" idx="1"/>
          </p:nvPr>
        </p:nvSpPr>
        <p:spPr/>
        <p:txBody>
          <a:bodyPr/>
          <a:lstStyle/>
          <a:p>
            <a:r>
              <a:rPr lang="en-US" dirty="0"/>
              <a:t>BEFORE THE QUIZ: the form was created closed. In Google Forms, turn on 'Accepting responses' when you start the quiz, and turn it off after 10 minutes.</a:t>
            </a:r>
          </a:p>
          <a:p>
            <a:r>
              <a:rPr lang="en-US" dirty="0"/>
              <a:t>Form: 'Quiz 02 - GFS (Fall 2026)' in the Drive folder EC528-Fall26. Students sign in with their BU account and must enter their BU ID.</a:t>
            </a:r>
          </a:p>
          <a:p>
            <a:r>
              <a:rPr lang="en-US" dirty="0"/>
              <a:t>This is the GFS quiz carried over: it was not taken at the end of the GFS lecture, so it runs here at the start of this one. 10 multiple-choice questions, 10 minutes, open book and open internet.</a:t>
            </a:r>
          </a:p>
        </p:txBody>
      </p:sp>
      <p:sp>
        <p:nvSpPr>
          <p:cNvPr id="4" name="Slide Number Placeholder 3">
            <a:extLst>
              <a:ext uri="{FF2B5EF4-FFF2-40B4-BE49-F238E27FC236}">
                <a16:creationId xmlns:a16="http://schemas.microsoft.com/office/drawing/2014/main" id="{EA0B9615-41D5-53A4-EBB6-7D46695FD89D}"/>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202332823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9FD14-02FF-DA1D-2386-E3A333E5C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80FBC3-A446-B040-9B6C-599ED60A01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C3DFCD-14A0-90C1-6B40-D518C30CE389}"/>
              </a:ext>
            </a:extLst>
          </p:cNvPr>
          <p:cNvSpPr>
            <a:spLocks noGrp="1"/>
          </p:cNvSpPr>
          <p:nvPr>
            <p:ph type="body" idx="1"/>
          </p:nvPr>
        </p:nvSpPr>
        <p:spPr/>
        <p:txBody>
          <a:bodyPr/>
          <a:lstStyle/>
          <a:p>
            <a:r>
              <a:rPr lang="en-US" dirty="0"/>
              <a:t>ATTENDANCE CHECK - do this right before the quiz.</a:t>
            </a:r>
          </a:p>
          <a:p>
            <a:r>
              <a:rPr lang="en-US" dirty="0"/>
              <a:t>1. In Google Forms, open 'Quiz 03 Attendance - Raft I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a:p>
            <a:r>
              <a:rPr lang="en-US" dirty="0"/>
              <a:t>TODO: this form does not exist yet. Create it, then put its link and QR on this slide.</a:t>
            </a:r>
          </a:p>
        </p:txBody>
      </p:sp>
      <p:sp>
        <p:nvSpPr>
          <p:cNvPr id="4" name="Slide Number Placeholder 3">
            <a:extLst>
              <a:ext uri="{FF2B5EF4-FFF2-40B4-BE49-F238E27FC236}">
                <a16:creationId xmlns:a16="http://schemas.microsoft.com/office/drawing/2014/main" id="{EA0B9615-41D5-53A4-EBB6-7D46695FD89D}"/>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20233282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9FD14-02FF-DA1D-2386-E3A333E5C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80FBC3-A446-B040-9B6C-599ED60A01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C3DFCD-14A0-90C1-6B40-D518C30CE389}"/>
              </a:ext>
            </a:extLst>
          </p:cNvPr>
          <p:cNvSpPr>
            <a:spLocks noGrp="1"/>
          </p:cNvSpPr>
          <p:nvPr>
            <p:ph type="body" idx="1"/>
          </p:nvPr>
        </p:nvSpPr>
        <p:spPr/>
        <p:txBody>
          <a:bodyPr/>
          <a:lstStyle/>
          <a:p>
            <a:r>
              <a:rPr lang="en-US" dirty="0"/>
              <a:t>BEFORE THE QUIZ: the form was created closed. In Google Forms, turn on 'Accepting responses' when you start the quiz, and turn it off after 10 minutes.</a:t>
            </a:r>
          </a:p>
          <a:p>
            <a:r>
              <a:rPr lang="en-US" dirty="0"/>
              <a:t>Form: 'Quiz 03 - Raft I (Fall 2026)' in the Drive folder EC528-Fall26. Students sign in with their BU account and must enter their BU ID.</a:t>
            </a:r>
          </a:p>
          <a:p>
            <a:r>
              <a:rPr lang="en-US" dirty="0"/>
              <a:t>Covers this lecture only: consensus motivation, split brain, Paxos background, Raft roles and terms, leader election, and what a log entry is.</a:t>
            </a:r>
          </a:p>
          <a:p>
            <a:r>
              <a:rPr lang="en-US" dirty="0"/>
              <a:t>TODO: this form does not exist yet. Create it, then put its link and QR on this slide.</a:t>
            </a:r>
          </a:p>
        </p:txBody>
      </p:sp>
      <p:sp>
        <p:nvSpPr>
          <p:cNvPr id="4" name="Slide Number Placeholder 3">
            <a:extLst>
              <a:ext uri="{FF2B5EF4-FFF2-40B4-BE49-F238E27FC236}">
                <a16:creationId xmlns:a16="http://schemas.microsoft.com/office/drawing/2014/main" id="{EA0B9615-41D5-53A4-EBB6-7D46695FD89D}"/>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20233282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B3560D-66EA-7998-7CB0-0EA38A5BA8D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FBB5BB8-B9E7-76B1-43C5-C260F93CA8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13FEE50-EFC4-AF67-19E2-74B0E9B41CC9}"/>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5" name="Footer Placeholder 4">
            <a:extLst>
              <a:ext uri="{FF2B5EF4-FFF2-40B4-BE49-F238E27FC236}">
                <a16:creationId xmlns:a16="http://schemas.microsoft.com/office/drawing/2014/main" id="{8EDA146C-B886-F412-8467-BE49B13D7A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E0A2C9-0073-D7A7-FD11-A0D4DB016B32}"/>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25125434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FC5B1-52E3-9D18-0A0F-7E798BD14EB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975873A-4E0E-575D-5F0C-C6C5A64FA81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70A51A-6CBA-3F43-FD8C-C6659C0AE8FD}"/>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5" name="Footer Placeholder 4">
            <a:extLst>
              <a:ext uri="{FF2B5EF4-FFF2-40B4-BE49-F238E27FC236}">
                <a16:creationId xmlns:a16="http://schemas.microsoft.com/office/drawing/2014/main" id="{72761E4A-C73A-CB44-A02A-D298DAD91B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1D3859-616D-E491-219A-6E3430974033}"/>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952559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1810A3-2B64-1E44-C455-F3A8CC4068B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924F5AB-2168-C2C7-DB81-E5B36B24B64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2BDAFD1-61B2-6B6D-EAC8-BCF6D14F98E9}"/>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5" name="Footer Placeholder 4">
            <a:extLst>
              <a:ext uri="{FF2B5EF4-FFF2-40B4-BE49-F238E27FC236}">
                <a16:creationId xmlns:a16="http://schemas.microsoft.com/office/drawing/2014/main" id="{3325218D-F848-A5E1-6BB9-E2742E69A7E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5C09E6F-9CB0-4E70-F8E4-9F053225C21E}"/>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32866789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9C8AF4-7F5B-035D-9929-140CE805224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64D96E7-24E5-5606-0ACB-63985A413DA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A0E1AA6-F34D-1833-623F-68C69F16D0D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38BBB1C-F08B-BF51-7097-896CABE31DBF}"/>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6" name="Footer Placeholder 5">
            <a:extLst>
              <a:ext uri="{FF2B5EF4-FFF2-40B4-BE49-F238E27FC236}">
                <a16:creationId xmlns:a16="http://schemas.microsoft.com/office/drawing/2014/main" id="{514DD3DA-5E3E-C3CD-D99D-F1B7D63B65E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23A3AC-59CD-D16B-B981-E06916EB65FE}"/>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3110883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972517-63A6-707A-E447-5E3E63DA3C5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92D39AB-F931-7328-4D23-A07287D4F11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14AD9C7-D857-D07E-8823-1E6D2C81266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538E75-FCFF-1B75-D49C-663B49F71F0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A0F7C20-A201-C475-0EA2-0470CE3AD66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4A697E4-098B-8EF9-3709-7745F585C05C}"/>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8" name="Footer Placeholder 7">
            <a:extLst>
              <a:ext uri="{FF2B5EF4-FFF2-40B4-BE49-F238E27FC236}">
                <a16:creationId xmlns:a16="http://schemas.microsoft.com/office/drawing/2014/main" id="{F2837CB4-FBB0-0B68-6A5D-F3CFD640B5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CFF18A-DE0A-CCB3-BE1B-CCFE307AA25C}"/>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29853456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14AAE1-BF5A-95FD-B8B1-743082DA398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42FDE5C-19E7-CF37-7C4F-FC5817C00EE3}"/>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4" name="Footer Placeholder 3">
            <a:extLst>
              <a:ext uri="{FF2B5EF4-FFF2-40B4-BE49-F238E27FC236}">
                <a16:creationId xmlns:a16="http://schemas.microsoft.com/office/drawing/2014/main" id="{90F575D0-5F48-B58F-67A4-DA23578DA8A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86DB007-3B1D-0F05-6807-FDC879B86D12}"/>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27750120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9F19832-EE05-9B47-9AD0-3FB54B9F0A6E}"/>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3" name="Footer Placeholder 2">
            <a:extLst>
              <a:ext uri="{FF2B5EF4-FFF2-40B4-BE49-F238E27FC236}">
                <a16:creationId xmlns:a16="http://schemas.microsoft.com/office/drawing/2014/main" id="{A2ADC4AF-3766-90DA-0BC1-13A34CD4368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17FB0E7-276C-DECE-C4BC-BB499D08473F}"/>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10530198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F59424-E178-CEE0-ADC4-ED78431C3E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DDDE805-9B23-3B8B-A85B-C2BCDF820A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FC41E0C-85E9-E173-3214-A40B7D1AAEC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6956D6-C4FE-CF0D-5680-EC76F3D32633}"/>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6" name="Footer Placeholder 5">
            <a:extLst>
              <a:ext uri="{FF2B5EF4-FFF2-40B4-BE49-F238E27FC236}">
                <a16:creationId xmlns:a16="http://schemas.microsoft.com/office/drawing/2014/main" id="{A905796A-8400-9F9A-783C-2C606E9E440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3FADE40-C395-65EB-9A6C-1B5227162EC6}"/>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1199984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8B95F0-C095-EAF4-6646-DE3B6984989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333B7A8-1F39-802B-06AE-0B1B779BE02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465CDF5-F55D-E86B-1AF0-BACBF980AA7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9322410-7FB0-0439-91D3-B316421C3728}"/>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6" name="Footer Placeholder 5">
            <a:extLst>
              <a:ext uri="{FF2B5EF4-FFF2-40B4-BE49-F238E27FC236}">
                <a16:creationId xmlns:a16="http://schemas.microsoft.com/office/drawing/2014/main" id="{0C4224E9-F80F-03FE-A286-4257A7378F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4160E55-098E-693D-92E5-CBE720ED5C31}"/>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12253799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EC394D-8F6E-C96A-6E17-7240C20DFBB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8C0753-0EB7-A875-23EC-2D6ACED0EAB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D4F7F6D-BB41-C4B8-DF07-034F5F9EE446}"/>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5" name="Footer Placeholder 4">
            <a:extLst>
              <a:ext uri="{FF2B5EF4-FFF2-40B4-BE49-F238E27FC236}">
                <a16:creationId xmlns:a16="http://schemas.microsoft.com/office/drawing/2014/main" id="{6BF76E41-6B94-3DC2-85FB-EE0314437A2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9CB9B5-22A2-FD06-0AF4-277FC5EA25A2}"/>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31200327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86C42E6-D288-79B9-98A9-C09AA61ADB6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7D34A44-B50E-C2BB-F0B1-503920DC9C2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44255C-3225-BFA6-3020-E43D83D70BE1}"/>
              </a:ext>
            </a:extLst>
          </p:cNvPr>
          <p:cNvSpPr>
            <a:spLocks noGrp="1"/>
          </p:cNvSpPr>
          <p:nvPr>
            <p:ph type="dt" sz="half" idx="10"/>
          </p:nvPr>
        </p:nvSpPr>
        <p:spPr/>
        <p:txBody>
          <a:bodyPr/>
          <a:lstStyle/>
          <a:p>
            <a:fld id="{3C84C5D0-6ABA-684F-A395-755177FC219F}" type="datetimeFigureOut">
              <a:rPr lang="en-US" smtClean="0"/>
              <a:t>9/16/26</a:t>
            </a:fld>
            <a:endParaRPr lang="en-US"/>
          </a:p>
        </p:txBody>
      </p:sp>
      <p:sp>
        <p:nvSpPr>
          <p:cNvPr id="5" name="Footer Placeholder 4">
            <a:extLst>
              <a:ext uri="{FF2B5EF4-FFF2-40B4-BE49-F238E27FC236}">
                <a16:creationId xmlns:a16="http://schemas.microsoft.com/office/drawing/2014/main" id="{E2BAEB22-D721-A554-E8D0-B9C538466C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D16F9D-CFF2-3283-404D-0817AEB14B7A}"/>
              </a:ext>
            </a:extLst>
          </p:cNvPr>
          <p:cNvSpPr>
            <a:spLocks noGrp="1"/>
          </p:cNvSpPr>
          <p:nvPr>
            <p:ph type="sldNum" sz="quarter" idx="12"/>
          </p:nvPr>
        </p:nvSpPr>
        <p:spPr/>
        <p:txBody>
          <a:bodyPr/>
          <a:lstStyle/>
          <a:p>
            <a:fld id="{297B4E2E-854A-2040-B625-D1A594382B5C}" type="slidenum">
              <a:rPr lang="en-US" smtClean="0"/>
              <a:t>‹#›</a:t>
            </a:fld>
            <a:endParaRPr lang="en-US"/>
          </a:p>
        </p:txBody>
      </p:sp>
    </p:spTree>
    <p:extLst>
      <p:ext uri="{BB962C8B-B14F-4D97-AF65-F5344CB8AC3E}">
        <p14:creationId xmlns:p14="http://schemas.microsoft.com/office/powerpoint/2010/main" val="12552499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F73B6BF-1D8B-DD53-010D-2099603F944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6D7824B-50E4-B4E6-4E2F-6968FF3068B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211948-8B12-5503-6186-74B654A91BC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C84C5D0-6ABA-684F-A395-755177FC219F}" type="datetimeFigureOut">
              <a:rPr lang="en-US" smtClean="0"/>
              <a:t>9/16/26</a:t>
            </a:fld>
            <a:endParaRPr lang="en-US"/>
          </a:p>
        </p:txBody>
      </p:sp>
      <p:sp>
        <p:nvSpPr>
          <p:cNvPr id="5" name="Footer Placeholder 4">
            <a:extLst>
              <a:ext uri="{FF2B5EF4-FFF2-40B4-BE49-F238E27FC236}">
                <a16:creationId xmlns:a16="http://schemas.microsoft.com/office/drawing/2014/main" id="{8DB3D78B-35F3-143A-2150-910640F051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60F435D-FE33-B053-DE34-37F2CE8BDBC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97B4E2E-854A-2040-B625-D1A594382B5C}" type="slidenum">
              <a:rPr lang="en-US" smtClean="0"/>
              <a:t>‹#›</a:t>
            </a:fld>
            <a:endParaRPr lang="en-US"/>
          </a:p>
        </p:txBody>
      </p:sp>
    </p:spTree>
    <p:extLst>
      <p:ext uri="{BB962C8B-B14F-4D97-AF65-F5344CB8AC3E}">
        <p14:creationId xmlns:p14="http://schemas.microsoft.com/office/powerpoint/2010/main" val="30231754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forms.gle/C9vuYuMkDJcN2xEF7"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thesecretlivesofdata.com/raft/"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forms.gle/jwbSKDuKGsZVEs3U9" TargetMode="External"/><Relationship Id="rId4"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forms.gle/KX6h17o1A2hE7HMa8" TargetMode="External"/><Relationship Id="rId4" Type="http://schemas.openxmlformats.org/officeDocument/2006/relationships/image" Target="../media/image3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forms.gle/G5GTvLLCUXB4P36q6" TargetMode="External"/><Relationship Id="rId4"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6</a:t>
            </a:r>
            <a: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 Consensus I</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Fall 2026                            </a:t>
            </a: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Helvetica"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
        <p:nvSpPr>
          <p:cNvPr id="5" name="TextBox 4">
            <a:extLst>
              <a:ext uri="{FF2B5EF4-FFF2-40B4-BE49-F238E27FC236}">
                <a16:creationId xmlns:a16="http://schemas.microsoft.com/office/drawing/2014/main" id="{FDF47666-66C3-F436-1A3D-A43CF4347F1F}"/>
              </a:ext>
            </a:extLst>
          </p:cNvPr>
          <p:cNvSpPr txBox="1"/>
          <p:nvPr/>
        </p:nvSpPr>
        <p:spPr>
          <a:xfrm>
            <a:off x="3514411" y="6351268"/>
            <a:ext cx="6325436" cy="369332"/>
          </a:xfrm>
          <a:prstGeom prst="rect">
            <a:avLst/>
          </a:prstGeom>
          <a:noFill/>
        </p:spPr>
        <p:txBody>
          <a:bodyPr wrap="square">
            <a:spAutoFit/>
          </a:bodyPr>
          <a:lstStyle/>
          <a:p>
            <a:r>
              <a:rPr lang="en-US" dirty="0"/>
              <a:t>Slides courtesy of Chang Lou and Robert </a:t>
            </a:r>
            <a:r>
              <a:rPr lang="en-US" dirty="0" err="1"/>
              <a:t>Morrios</a:t>
            </a:r>
            <a:endParaRPr lang="en-US" dirty="0"/>
          </a:p>
        </p:txBody>
      </p:sp>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Administrivia</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a:t>
            </a:fld>
            <a:endParaRPr lang="en-US"/>
          </a:p>
        </p:txBody>
      </p:sp>
      <p:sp>
        <p:nvSpPr>
          <p:cNvPr id="2" name="TextBox 1">
            <a:extLst>
              <a:ext uri="{FF2B5EF4-FFF2-40B4-BE49-F238E27FC236}">
                <a16:creationId xmlns:a16="http://schemas.microsoft.com/office/drawing/2014/main" id="{15D1C793-B8D6-F0A3-1030-E914D6D0F5CB}"/>
              </a:ext>
            </a:extLst>
          </p:cNvPr>
          <p:cNvSpPr txBox="1"/>
          <p:nvPr/>
        </p:nvSpPr>
        <p:spPr>
          <a:xfrm>
            <a:off x="401934" y="914401"/>
            <a:ext cx="5694066" cy="1077218"/>
          </a:xfrm>
          <a:prstGeom prst="rect">
            <a:avLst/>
          </a:prstGeom>
          <a:noFill/>
        </p:spPr>
        <p:txBody>
          <a:bodyPr wrap="square" rtlCol="0">
            <a:spAutoFit/>
          </a:bodyPr>
          <a:lstStyle/>
          <a:p>
            <a:r>
              <a:rPr lang="en-US" altLang="zh-CN" sz="2800" b="1" dirty="0"/>
              <a:t>Share your AWS ID by Tonight</a:t>
            </a:r>
          </a:p>
          <a:p>
            <a:pPr marL="742950" lvl="1" indent="-285750">
              <a:buFont typeface="Arial" panose="020B0604020202020204" pitchFamily="34" charset="0"/>
              <a:buChar char="•"/>
            </a:pPr>
            <a:r>
              <a:rPr lang="en-US" dirty="0">
                <a:hlinkClick r:id="rId3"/>
              </a:rPr>
              <a:t>https://forms.gle/C9vuYuMkDJcN2xEF7</a:t>
            </a:r>
            <a:endParaRPr lang="en-US" dirty="0"/>
          </a:p>
          <a:p>
            <a:pPr marL="742950" lvl="1" indent="-285750">
              <a:buFont typeface="Arial" panose="020B0604020202020204" pitchFamily="34" charset="0"/>
              <a:buChar char="•"/>
            </a:pPr>
            <a:endParaRPr lang="en-US" dirty="0"/>
          </a:p>
        </p:txBody>
      </p:sp>
    </p:spTree>
    <p:extLst>
      <p:ext uri="{BB962C8B-B14F-4D97-AF65-F5344CB8AC3E}">
        <p14:creationId xmlns:p14="http://schemas.microsoft.com/office/powerpoint/2010/main" val="1720670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52628-A274-4FFC-9952-DC4191EC17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345C821-7A5B-0765-F748-9166960B99FB}"/>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Motivation </a:t>
            </a:r>
          </a:p>
        </p:txBody>
      </p:sp>
      <p:sp>
        <p:nvSpPr>
          <p:cNvPr id="8" name="Slide Number Placeholder 4">
            <a:extLst>
              <a:ext uri="{FF2B5EF4-FFF2-40B4-BE49-F238E27FC236}">
                <a16:creationId xmlns:a16="http://schemas.microsoft.com/office/drawing/2014/main" id="{8400AE26-A395-681A-522F-DF752E998150}"/>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a:t>
            </a:fld>
            <a:endParaRPr lang="en-US"/>
          </a:p>
        </p:txBody>
      </p:sp>
      <p:sp>
        <p:nvSpPr>
          <p:cNvPr id="2" name="TextBox 1">
            <a:extLst>
              <a:ext uri="{FF2B5EF4-FFF2-40B4-BE49-F238E27FC236}">
                <a16:creationId xmlns:a16="http://schemas.microsoft.com/office/drawing/2014/main" id="{FA83A39E-460B-EC68-8FA5-228ACDB0F21B}"/>
              </a:ext>
            </a:extLst>
          </p:cNvPr>
          <p:cNvSpPr txBox="1"/>
          <p:nvPr/>
        </p:nvSpPr>
        <p:spPr>
          <a:xfrm>
            <a:off x="226422" y="853439"/>
            <a:ext cx="9911559" cy="2800767"/>
          </a:xfrm>
          <a:prstGeom prst="rect">
            <a:avLst/>
          </a:prstGeom>
          <a:noFill/>
        </p:spPr>
        <p:txBody>
          <a:bodyPr wrap="none" rtlCol="0">
            <a:spAutoFit/>
          </a:bodyPr>
          <a:lstStyle/>
          <a:p>
            <a:r>
              <a:rPr lang="en-US" sz="2800" b="1" dirty="0"/>
              <a:t>A pattern in the fault-tolerant systems:</a:t>
            </a:r>
          </a:p>
          <a:p>
            <a:pPr marL="800100" lvl="1" indent="-342900">
              <a:buFont typeface="Arial" panose="020B0604020202020204" pitchFamily="34" charset="0"/>
              <a:buChar char="•"/>
            </a:pPr>
            <a:r>
              <a:rPr lang="en-US" sz="2400" dirty="0"/>
              <a:t>MR replicates computation but relies on a single master to organize </a:t>
            </a:r>
          </a:p>
          <a:p>
            <a:pPr marL="800100" lvl="1" indent="-342900">
              <a:buFont typeface="Arial" panose="020B0604020202020204" pitchFamily="34" charset="0"/>
              <a:buChar char="•"/>
            </a:pPr>
            <a:r>
              <a:rPr lang="en-US" sz="2400" dirty="0"/>
              <a:t>GFS replicates data but relies on the master to pick primaries</a:t>
            </a:r>
          </a:p>
          <a:p>
            <a:endParaRPr lang="en-US" sz="2400" dirty="0"/>
          </a:p>
          <a:p>
            <a:r>
              <a:rPr lang="en-US" sz="2800" b="1" dirty="0"/>
              <a:t>A single entity to make decision</a:t>
            </a:r>
          </a:p>
          <a:p>
            <a:pPr marL="800100" lvl="1" indent="-342900">
              <a:buFont typeface="Arial" panose="020B0604020202020204" pitchFamily="34" charset="0"/>
              <a:buChar char="•"/>
            </a:pPr>
            <a:r>
              <a:rPr lang="en-US" sz="2400" dirty="0"/>
              <a:t>Avoid split brain</a:t>
            </a:r>
          </a:p>
          <a:p>
            <a:pPr marL="800100" lvl="1" indent="-342900">
              <a:buFont typeface="Arial" panose="020B0604020202020204" pitchFamily="34" charset="0"/>
              <a:buChar char="•"/>
            </a:pPr>
            <a:r>
              <a:rPr lang="en-US" sz="2400" dirty="0"/>
              <a:t>But the single machine can have failure</a:t>
            </a:r>
          </a:p>
        </p:txBody>
      </p:sp>
    </p:spTree>
    <p:extLst>
      <p:ext uri="{BB962C8B-B14F-4D97-AF65-F5344CB8AC3E}">
        <p14:creationId xmlns:p14="http://schemas.microsoft.com/office/powerpoint/2010/main" val="8361995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animEffect transition="in" filter="dissolve">
                                      <p:cBhvr>
                                        <p:cTn id="7" dur="500"/>
                                        <p:tgtEl>
                                          <p:spTgt spid="2">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5" end="5"/>
                                            </p:txEl>
                                          </p:spTgt>
                                        </p:tgtEl>
                                        <p:attrNameLst>
                                          <p:attrName>style.visibility</p:attrName>
                                        </p:attrNameLst>
                                      </p:cBhvr>
                                      <p:to>
                                        <p:strVal val="visible"/>
                                      </p:to>
                                    </p:set>
                                    <p:animEffect transition="in" filter="dissolve">
                                      <p:cBhvr>
                                        <p:cTn id="10" dur="500"/>
                                        <p:tgtEl>
                                          <p:spTgt spid="2">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12EA1-E842-4006-84FF-04807865D1F8}"/>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FB04CF0-14D3-EA16-F9F2-FC58DC1FE3F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Recap: Split Brain</a:t>
            </a:r>
          </a:p>
        </p:txBody>
      </p:sp>
      <p:sp>
        <p:nvSpPr>
          <p:cNvPr id="8" name="Slide Number Placeholder 4">
            <a:extLst>
              <a:ext uri="{FF2B5EF4-FFF2-40B4-BE49-F238E27FC236}">
                <a16:creationId xmlns:a16="http://schemas.microsoft.com/office/drawing/2014/main" id="{4C5CEBB6-81CC-8F86-C570-5006F0930F5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2CD623C4-63E3-EB1B-33C0-584526853C95}"/>
              </a:ext>
            </a:extLst>
          </p:cNvPr>
          <p:cNvSpPr txBox="1"/>
          <p:nvPr/>
        </p:nvSpPr>
        <p:spPr>
          <a:xfrm>
            <a:off x="166253" y="1065286"/>
            <a:ext cx="12025745" cy="2739211"/>
          </a:xfrm>
          <a:prstGeom prst="rect">
            <a:avLst/>
          </a:prstGeom>
          <a:noFill/>
        </p:spPr>
        <p:txBody>
          <a:bodyPr wrap="square" rtlCol="0">
            <a:spAutoFit/>
          </a:bodyPr>
          <a:lstStyle/>
          <a:p>
            <a:r>
              <a:rPr lang="en-US" sz="2800" b="1" dirty="0"/>
              <a:t>In GFS, if the primary crashes:</a:t>
            </a:r>
          </a:p>
          <a:p>
            <a:pPr marL="742950" lvl="1" indent="-285750">
              <a:buFont typeface="Arial" panose="020B0604020202020204" pitchFamily="34" charset="0"/>
              <a:buChar char="•"/>
            </a:pPr>
            <a:r>
              <a:rPr lang="en-US" sz="2400" dirty="0"/>
              <a:t>The coordinator must be able to designate a  new primary if the present primary fails. </a:t>
            </a:r>
          </a:p>
          <a:p>
            <a:pPr marL="742950" lvl="1" indent="-285750">
              <a:buFont typeface="Arial" panose="020B0604020202020204" pitchFamily="34" charset="0"/>
              <a:buChar char="•"/>
            </a:pPr>
            <a:r>
              <a:rPr lang="en-US" sz="2400" dirty="0"/>
              <a:t>But the coordinator cannot distinguish "primary has failed"  from "primary is still alive but the network has a problem." </a:t>
            </a:r>
          </a:p>
          <a:p>
            <a:pPr marL="742950" lvl="1" indent="-285750">
              <a:buFont typeface="Arial" panose="020B0604020202020204" pitchFamily="34" charset="0"/>
              <a:buChar char="•"/>
            </a:pPr>
            <a:r>
              <a:rPr lang="en-US" sz="2400" dirty="0"/>
              <a:t>What if the coordinator designates a new primary while old one is active? </a:t>
            </a:r>
          </a:p>
          <a:p>
            <a:pPr marL="1257300" lvl="2" indent="-342900">
              <a:buFont typeface="Courier New" panose="02070309020205020404" pitchFamily="49" charset="0"/>
              <a:buChar char="o"/>
            </a:pPr>
            <a:r>
              <a:rPr lang="en-US" sz="2400" dirty="0"/>
              <a:t>two active primaries! </a:t>
            </a:r>
          </a:p>
          <a:p>
            <a:pPr marL="1257300" lvl="2" indent="-342900">
              <a:buFont typeface="Courier New" panose="02070309020205020404" pitchFamily="49" charset="0"/>
              <a:buChar char="o"/>
            </a:pPr>
            <a:r>
              <a:rPr lang="en-US" sz="2400" dirty="0"/>
              <a:t>C1 writes to P1, C2 reads from P2, doesn't seen C1's write! </a:t>
            </a:r>
          </a:p>
        </p:txBody>
      </p:sp>
    </p:spTree>
    <p:extLst>
      <p:ext uri="{BB962C8B-B14F-4D97-AF65-F5344CB8AC3E}">
        <p14:creationId xmlns:p14="http://schemas.microsoft.com/office/powerpoint/2010/main" val="1250650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dissolv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CFDDA-DAAE-4AA1-96C9-8C4BD2ADB5A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6D98607-09B9-2E87-08EA-45C5C21C97B9}"/>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“Server Crashed” vs “Network Broken”</a:t>
            </a:r>
          </a:p>
        </p:txBody>
      </p:sp>
      <p:sp>
        <p:nvSpPr>
          <p:cNvPr id="8" name="Slide Number Placeholder 4">
            <a:extLst>
              <a:ext uri="{FF2B5EF4-FFF2-40B4-BE49-F238E27FC236}">
                <a16:creationId xmlns:a16="http://schemas.microsoft.com/office/drawing/2014/main" id="{CB3C051F-CA88-79F3-A501-F305062BA80B}"/>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a:p>
        </p:txBody>
      </p:sp>
      <p:sp>
        <p:nvSpPr>
          <p:cNvPr id="2" name="TextBox 1">
            <a:extLst>
              <a:ext uri="{FF2B5EF4-FFF2-40B4-BE49-F238E27FC236}">
                <a16:creationId xmlns:a16="http://schemas.microsoft.com/office/drawing/2014/main" id="{0B9BC33A-1F9B-99C1-6345-E826211F43E3}"/>
              </a:ext>
            </a:extLst>
          </p:cNvPr>
          <p:cNvSpPr txBox="1"/>
          <p:nvPr/>
        </p:nvSpPr>
        <p:spPr>
          <a:xfrm>
            <a:off x="175490" y="914401"/>
            <a:ext cx="11730183" cy="3600986"/>
          </a:xfrm>
          <a:prstGeom prst="rect">
            <a:avLst/>
          </a:prstGeom>
          <a:noFill/>
        </p:spPr>
        <p:txBody>
          <a:bodyPr wrap="square" rtlCol="0">
            <a:spAutoFit/>
          </a:bodyPr>
          <a:lstStyle/>
          <a:p>
            <a:r>
              <a:rPr lang="en-US" sz="2800" b="1" dirty="0"/>
              <a:t>The symptom is the same: no response to a query over the network </a:t>
            </a:r>
          </a:p>
          <a:p>
            <a:r>
              <a:rPr lang="en-US" sz="2400" dirty="0"/>
              <a:t>        </a:t>
            </a:r>
          </a:p>
          <a:p>
            <a:r>
              <a:rPr lang="en-US" sz="2800" b="1" dirty="0"/>
              <a:t>The bad situation is often called "</a:t>
            </a:r>
            <a:r>
              <a:rPr lang="en-US" sz="2800" b="1" dirty="0">
                <a:solidFill>
                  <a:srgbClr val="C00000"/>
                </a:solidFill>
              </a:rPr>
              <a:t>network partition</a:t>
            </a:r>
            <a:r>
              <a:rPr lang="en-US" sz="2800" b="1" dirty="0"/>
              <a:t>": </a:t>
            </a:r>
          </a:p>
          <a:p>
            <a:pPr marL="800100" lvl="1" indent="-342900">
              <a:buFont typeface="Arial" panose="020B0604020202020204" pitchFamily="34" charset="0"/>
              <a:buChar char="•"/>
            </a:pPr>
            <a:r>
              <a:rPr lang="en-US" sz="2400" dirty="0"/>
              <a:t>C1 can talk to S1, C2 can talk to S2, </a:t>
            </a:r>
          </a:p>
          <a:p>
            <a:pPr marL="800100" lvl="1" indent="-342900">
              <a:buFont typeface="Arial" panose="020B0604020202020204" pitchFamily="34" charset="0"/>
              <a:buChar char="•"/>
            </a:pPr>
            <a:r>
              <a:rPr lang="en-US" sz="2400" dirty="0"/>
              <a:t>but C1+S1 see no responses from C2+S2</a:t>
            </a:r>
          </a:p>
          <a:p>
            <a:endParaRPr lang="en-US" sz="2400" dirty="0"/>
          </a:p>
          <a:p>
            <a:r>
              <a:rPr lang="en-US" sz="2800" b="1" dirty="0"/>
              <a:t>Solution?</a:t>
            </a:r>
          </a:p>
          <a:p>
            <a:pPr marL="800100" lvl="1" indent="-342900">
              <a:buFont typeface="Arial" panose="020B0604020202020204" pitchFamily="34" charset="0"/>
              <a:buChar char="•"/>
            </a:pPr>
            <a:r>
              <a:rPr lang="en-US" sz="2400" dirty="0"/>
              <a:t>a perfectly reliable network </a:t>
            </a:r>
          </a:p>
          <a:p>
            <a:pPr marL="800100" lvl="1" indent="-342900">
              <a:buFont typeface="Arial" panose="020B0604020202020204" pitchFamily="34" charset="0"/>
              <a:buChar char="•"/>
            </a:pPr>
            <a:r>
              <a:rPr lang="en-US" sz="2400" dirty="0"/>
              <a:t>human to decide </a:t>
            </a:r>
          </a:p>
        </p:txBody>
      </p:sp>
    </p:spTree>
    <p:extLst>
      <p:ext uri="{BB962C8B-B14F-4D97-AF65-F5344CB8AC3E}">
        <p14:creationId xmlns:p14="http://schemas.microsoft.com/office/powerpoint/2010/main" val="246483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3" end="3"/>
                                            </p:txEl>
                                          </p:spTgt>
                                        </p:tgtEl>
                                        <p:attrNameLst>
                                          <p:attrName>style.visibility</p:attrName>
                                        </p:attrNameLst>
                                      </p:cBhvr>
                                      <p:to>
                                        <p:strVal val="visible"/>
                                      </p:to>
                                    </p:set>
                                    <p:animEffect transition="in" filter="dissolve">
                                      <p:cBhvr>
                                        <p:cTn id="10" dur="500"/>
                                        <p:tgtEl>
                                          <p:spTgt spid="2">
                                            <p:txEl>
                                              <p:pRg st="3" end="3"/>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animEffect transition="in" filter="dissolve">
                                      <p:cBhvr>
                                        <p:cTn id="13" dur="500"/>
                                        <p:tgtEl>
                                          <p:spTgt spid="2">
                                            <p:txEl>
                                              <p:pRg st="4" end="4"/>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2">
                                            <p:txEl>
                                              <p:pRg st="6" end="6"/>
                                            </p:txEl>
                                          </p:spTgt>
                                        </p:tgtEl>
                                        <p:attrNameLst>
                                          <p:attrName>style.visibility</p:attrName>
                                        </p:attrNameLst>
                                      </p:cBhvr>
                                      <p:to>
                                        <p:strVal val="visible"/>
                                      </p:to>
                                    </p:set>
                                    <p:animEffect transition="in" filter="dissolve">
                                      <p:cBhvr>
                                        <p:cTn id="18" dur="500"/>
                                        <p:tgtEl>
                                          <p:spTgt spid="2">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2">
                                            <p:txEl>
                                              <p:pRg st="7" end="7"/>
                                            </p:txEl>
                                          </p:spTgt>
                                        </p:tgtEl>
                                        <p:attrNameLst>
                                          <p:attrName>style.visibility</p:attrName>
                                        </p:attrNameLst>
                                      </p:cBhvr>
                                      <p:to>
                                        <p:strVal val="visible"/>
                                      </p:to>
                                    </p:set>
                                    <p:animEffect transition="in" filter="dissolve">
                                      <p:cBhvr>
                                        <p:cTn id="21" dur="500"/>
                                        <p:tgtEl>
                                          <p:spTgt spid="2">
                                            <p:txEl>
                                              <p:pRg st="7" end="7"/>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2">
                                            <p:txEl>
                                              <p:pRg st="8" end="8"/>
                                            </p:txEl>
                                          </p:spTgt>
                                        </p:tgtEl>
                                        <p:attrNameLst>
                                          <p:attrName>style.visibility</p:attrName>
                                        </p:attrNameLst>
                                      </p:cBhvr>
                                      <p:to>
                                        <p:strVal val="visible"/>
                                      </p:to>
                                    </p:set>
                                    <p:animEffect transition="in" filter="dissolve">
                                      <p:cBhvr>
                                        <p:cTn id="24"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99FF0-DDB1-D532-B333-48D124AB55AB}"/>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C31585-53EE-1123-09F0-F796046949D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Consensus Protocols</a:t>
            </a:r>
          </a:p>
        </p:txBody>
      </p:sp>
      <p:sp>
        <p:nvSpPr>
          <p:cNvPr id="8" name="Slide Number Placeholder 4">
            <a:extLst>
              <a:ext uri="{FF2B5EF4-FFF2-40B4-BE49-F238E27FC236}">
                <a16:creationId xmlns:a16="http://schemas.microsoft.com/office/drawing/2014/main" id="{347CFF81-DAF9-845C-71DA-EF1644D15C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a:p>
        </p:txBody>
      </p:sp>
      <p:sp>
        <p:nvSpPr>
          <p:cNvPr id="2" name="TextBox 1">
            <a:extLst>
              <a:ext uri="{FF2B5EF4-FFF2-40B4-BE49-F238E27FC236}">
                <a16:creationId xmlns:a16="http://schemas.microsoft.com/office/drawing/2014/main" id="{14E4CA9A-93A2-27F8-63D3-19D7400077E7}"/>
              </a:ext>
            </a:extLst>
          </p:cNvPr>
          <p:cNvSpPr txBox="1"/>
          <p:nvPr/>
        </p:nvSpPr>
        <p:spPr>
          <a:xfrm>
            <a:off x="86062" y="914401"/>
            <a:ext cx="11443854" cy="3108543"/>
          </a:xfrm>
          <a:prstGeom prst="rect">
            <a:avLst/>
          </a:prstGeom>
          <a:noFill/>
        </p:spPr>
        <p:txBody>
          <a:bodyPr wrap="square" rtlCol="0">
            <a:spAutoFit/>
          </a:bodyPr>
          <a:lstStyle/>
          <a:p>
            <a:r>
              <a:rPr lang="en-US" sz="2800" b="1" dirty="0"/>
              <a:t>Require only a majority of nodes to be up at any time in order to make progress. </a:t>
            </a:r>
          </a:p>
          <a:p>
            <a:endParaRPr lang="en-US" sz="2800" dirty="0"/>
          </a:p>
          <a:p>
            <a:r>
              <a:rPr lang="en-US" sz="2800" b="1" dirty="0"/>
              <a:t>Two papers:</a:t>
            </a:r>
          </a:p>
          <a:p>
            <a:pPr marL="914400" lvl="1" indent="-457200">
              <a:buFont typeface="Arial" panose="020B0604020202020204" pitchFamily="34" charset="0"/>
              <a:buChar char="•"/>
            </a:pPr>
            <a:r>
              <a:rPr lang="en-US" sz="2800" dirty="0"/>
              <a:t>Paxos: [Lamport-1998]: Original protocol. Solves the basic consensus problem</a:t>
            </a:r>
          </a:p>
          <a:p>
            <a:pPr marL="914400" lvl="1" indent="-457200">
              <a:buFont typeface="Arial" panose="020B0604020202020204" pitchFamily="34" charset="0"/>
              <a:buChar char="•"/>
            </a:pPr>
            <a:r>
              <a:rPr lang="en-US" sz="2800" dirty="0"/>
              <a:t>Raft: More recent, operates at a higher level of abstraction</a:t>
            </a:r>
          </a:p>
        </p:txBody>
      </p:sp>
      <p:pic>
        <p:nvPicPr>
          <p:cNvPr id="4" name="Picture 3" descr="A close-up of a pink text&#10;&#10;Description automatically generated">
            <a:extLst>
              <a:ext uri="{FF2B5EF4-FFF2-40B4-BE49-F238E27FC236}">
                <a16:creationId xmlns:a16="http://schemas.microsoft.com/office/drawing/2014/main" id="{65F29A61-1F1E-A1AB-E061-64F41C4864B9}"/>
              </a:ext>
            </a:extLst>
          </p:cNvPr>
          <p:cNvPicPr>
            <a:picLocks noChangeAspect="1"/>
          </p:cNvPicPr>
          <p:nvPr/>
        </p:nvPicPr>
        <p:blipFill>
          <a:blip r:embed="rId3"/>
          <a:stretch>
            <a:fillRect/>
          </a:stretch>
        </p:blipFill>
        <p:spPr>
          <a:xfrm>
            <a:off x="10225957" y="2684116"/>
            <a:ext cx="1339492" cy="1339492"/>
          </a:xfrm>
          <a:prstGeom prst="rect">
            <a:avLst/>
          </a:prstGeom>
        </p:spPr>
      </p:pic>
      <p:pic>
        <p:nvPicPr>
          <p:cNvPr id="6" name="Graphic 5">
            <a:extLst>
              <a:ext uri="{FF2B5EF4-FFF2-40B4-BE49-F238E27FC236}">
                <a16:creationId xmlns:a16="http://schemas.microsoft.com/office/drawing/2014/main" id="{39DCDA4B-ECAE-B40D-E152-07157C0B988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575067" y="3933993"/>
            <a:ext cx="2604919" cy="2604919"/>
          </a:xfrm>
          <a:prstGeom prst="rect">
            <a:avLst/>
          </a:prstGeom>
        </p:spPr>
      </p:pic>
    </p:spTree>
    <p:extLst>
      <p:ext uri="{BB962C8B-B14F-4D97-AF65-F5344CB8AC3E}">
        <p14:creationId xmlns:p14="http://schemas.microsoft.com/office/powerpoint/2010/main" val="7758435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3" end="3"/>
                                            </p:txEl>
                                          </p:spTgt>
                                        </p:tgtEl>
                                        <p:attrNameLst>
                                          <p:attrName>style.visibility</p:attrName>
                                        </p:attrNameLst>
                                      </p:cBhvr>
                                      <p:to>
                                        <p:strVal val="visible"/>
                                      </p:to>
                                    </p:set>
                                    <p:animEffect transition="in" filter="dissolve">
                                      <p:cBhvr>
                                        <p:cTn id="10" dur="500"/>
                                        <p:tgtEl>
                                          <p:spTgt spid="2">
                                            <p:txEl>
                                              <p:pRg st="3" end="3"/>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animEffect transition="in" filter="dissolve">
                                      <p:cBhvr>
                                        <p:cTn id="13" dur="500"/>
                                        <p:tgtEl>
                                          <p:spTgt spid="2">
                                            <p:txEl>
                                              <p:pRg st="4" end="4"/>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dissolve">
                                      <p:cBhvr>
                                        <p:cTn id="16" dur="500"/>
                                        <p:tgtEl>
                                          <p:spTgt spid="4"/>
                                        </p:tgtEl>
                                      </p:cBhvr>
                                    </p:animEffect>
                                  </p:childTnLst>
                                </p:cTn>
                              </p:par>
                              <p:par>
                                <p:cTn id="17" presetID="9"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dissolve">
                                      <p:cBhvr>
                                        <p:cTn id="19"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49EE2B-A381-6356-6A86-FED71F6C47E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6C9F22F-6F99-E5F2-A145-690AF864B19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Leslie Lamport</a:t>
            </a:r>
          </a:p>
        </p:txBody>
      </p:sp>
      <p:sp>
        <p:nvSpPr>
          <p:cNvPr id="8" name="Slide Number Placeholder 4">
            <a:extLst>
              <a:ext uri="{FF2B5EF4-FFF2-40B4-BE49-F238E27FC236}">
                <a16:creationId xmlns:a16="http://schemas.microsoft.com/office/drawing/2014/main" id="{3148BC6E-F18A-451D-AA84-2062BE9F30F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5" name="TextBox 4">
            <a:extLst>
              <a:ext uri="{FF2B5EF4-FFF2-40B4-BE49-F238E27FC236}">
                <a16:creationId xmlns:a16="http://schemas.microsoft.com/office/drawing/2014/main" id="{153AB667-99DD-AADA-6E41-57D6990A17E5}"/>
              </a:ext>
            </a:extLst>
          </p:cNvPr>
          <p:cNvSpPr txBox="1"/>
          <p:nvPr/>
        </p:nvSpPr>
        <p:spPr>
          <a:xfrm>
            <a:off x="366764" y="1050052"/>
            <a:ext cx="7913077" cy="4462760"/>
          </a:xfrm>
          <a:prstGeom prst="rect">
            <a:avLst/>
          </a:prstGeom>
          <a:noFill/>
        </p:spPr>
        <p:txBody>
          <a:bodyPr wrap="square">
            <a:spAutoFit/>
          </a:bodyPr>
          <a:lstStyle/>
          <a:p>
            <a:r>
              <a:rPr lang="en-US" sz="2800" b="1" dirty="0"/>
              <a:t>Winner of the 2013 Turing Award</a:t>
            </a:r>
          </a:p>
          <a:p>
            <a:pPr marL="285750" indent="-285750">
              <a:buFont typeface="Arial" panose="020B0604020202020204" pitchFamily="34" charset="0"/>
              <a:buChar char="•"/>
            </a:pPr>
            <a:endParaRPr lang="en-US" sz="2400" dirty="0"/>
          </a:p>
          <a:p>
            <a:r>
              <a:rPr lang="en-US" sz="2800" b="1" dirty="0"/>
              <a:t>Known for imposing clear, well-defined coherence on the seemingly chaotic behavior of distributed computing systems</a:t>
            </a:r>
          </a:p>
          <a:p>
            <a:pPr marL="285750" indent="-285750">
              <a:buFont typeface="Arial" panose="020B0604020202020204" pitchFamily="34" charset="0"/>
              <a:buChar char="•"/>
            </a:pPr>
            <a:endParaRPr lang="en-US" sz="2400" dirty="0"/>
          </a:p>
          <a:p>
            <a:r>
              <a:rPr lang="en-US" sz="2800" b="1" dirty="0"/>
              <a:t>Also known for </a:t>
            </a:r>
          </a:p>
          <a:p>
            <a:pPr marL="742950" lvl="1" indent="-285750">
              <a:buFont typeface="Courier New" panose="02070309020205020404" pitchFamily="49" charset="0"/>
              <a:buChar char="o"/>
            </a:pPr>
            <a:r>
              <a:rPr lang="en-US" sz="2400" dirty="0"/>
              <a:t>LaTeX (typesetting system)</a:t>
            </a:r>
          </a:p>
          <a:p>
            <a:pPr marL="742950" lvl="1" indent="-285750">
              <a:buFont typeface="Courier New" panose="02070309020205020404" pitchFamily="49" charset="0"/>
              <a:buChar char="o"/>
            </a:pPr>
            <a:r>
              <a:rPr lang="en-US" sz="2400" dirty="0"/>
              <a:t>Byzantine Fault Tolerance</a:t>
            </a:r>
          </a:p>
          <a:p>
            <a:pPr marL="742950" lvl="1" indent="-285750">
              <a:buFont typeface="Courier New" panose="02070309020205020404" pitchFamily="49" charset="0"/>
              <a:buChar char="o"/>
            </a:pPr>
            <a:r>
              <a:rPr lang="en-US" sz="2400" dirty="0"/>
              <a:t>TLA+ (formal verification tools)</a:t>
            </a:r>
          </a:p>
          <a:p>
            <a:pPr marL="742950" lvl="1" indent="-285750">
              <a:buFont typeface="Courier New" panose="02070309020205020404" pitchFamily="49" charset="0"/>
              <a:buChar char="o"/>
            </a:pPr>
            <a:r>
              <a:rPr lang="en-US" sz="2400" dirty="0"/>
              <a:t>...</a:t>
            </a:r>
          </a:p>
        </p:txBody>
      </p:sp>
      <p:pic>
        <p:nvPicPr>
          <p:cNvPr id="9" name="Picture 8">
            <a:extLst>
              <a:ext uri="{FF2B5EF4-FFF2-40B4-BE49-F238E27FC236}">
                <a16:creationId xmlns:a16="http://schemas.microsoft.com/office/drawing/2014/main" id="{0C149E7F-7DCF-6F9F-462F-75B6F0F7068B}"/>
              </a:ext>
            </a:extLst>
          </p:cNvPr>
          <p:cNvPicPr>
            <a:picLocks noChangeAspect="1"/>
          </p:cNvPicPr>
          <p:nvPr/>
        </p:nvPicPr>
        <p:blipFill>
          <a:blip r:embed="rId3"/>
          <a:stretch>
            <a:fillRect/>
          </a:stretch>
        </p:blipFill>
        <p:spPr>
          <a:xfrm>
            <a:off x="8292194" y="2019718"/>
            <a:ext cx="2892424" cy="3679929"/>
          </a:xfrm>
          <a:prstGeom prst="rect">
            <a:avLst/>
          </a:prstGeom>
        </p:spPr>
      </p:pic>
    </p:spTree>
    <p:extLst>
      <p:ext uri="{BB962C8B-B14F-4D97-AF65-F5344CB8AC3E}">
        <p14:creationId xmlns:p14="http://schemas.microsoft.com/office/powerpoint/2010/main" val="17546327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4F95C-B63E-CB05-76C2-D4E8C4BC7DC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AD2B832-0AEE-BE6E-00AA-170AC3FBDF2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Brief History of Paxos</a:t>
            </a:r>
          </a:p>
        </p:txBody>
      </p:sp>
      <p:sp>
        <p:nvSpPr>
          <p:cNvPr id="8" name="Slide Number Placeholder 4">
            <a:extLst>
              <a:ext uri="{FF2B5EF4-FFF2-40B4-BE49-F238E27FC236}">
                <a16:creationId xmlns:a16="http://schemas.microsoft.com/office/drawing/2014/main" id="{0AA50207-43FF-4CCA-4078-158AEDF1254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8</a:t>
            </a:fld>
            <a:endParaRPr lang="en-US"/>
          </a:p>
        </p:txBody>
      </p:sp>
      <p:pic>
        <p:nvPicPr>
          <p:cNvPr id="2" name="Picture 1">
            <a:extLst>
              <a:ext uri="{FF2B5EF4-FFF2-40B4-BE49-F238E27FC236}">
                <a16:creationId xmlns:a16="http://schemas.microsoft.com/office/drawing/2014/main" id="{07650D36-2B04-FBFC-8F07-C3D824491B8A}"/>
              </a:ext>
            </a:extLst>
          </p:cNvPr>
          <p:cNvPicPr>
            <a:picLocks noChangeAspect="1"/>
          </p:cNvPicPr>
          <p:nvPr/>
        </p:nvPicPr>
        <p:blipFill>
          <a:blip r:embed="rId3"/>
          <a:stretch>
            <a:fillRect/>
          </a:stretch>
        </p:blipFill>
        <p:spPr>
          <a:xfrm>
            <a:off x="1121942" y="1256044"/>
            <a:ext cx="1891072" cy="4345912"/>
          </a:xfrm>
          <a:prstGeom prst="rect">
            <a:avLst/>
          </a:prstGeom>
        </p:spPr>
      </p:pic>
      <p:pic>
        <p:nvPicPr>
          <p:cNvPr id="4" name="Picture 3">
            <a:extLst>
              <a:ext uri="{FF2B5EF4-FFF2-40B4-BE49-F238E27FC236}">
                <a16:creationId xmlns:a16="http://schemas.microsoft.com/office/drawing/2014/main" id="{B02F8D1C-0185-8F87-CD31-A67D08F86559}"/>
              </a:ext>
            </a:extLst>
          </p:cNvPr>
          <p:cNvPicPr>
            <a:picLocks noChangeAspect="1"/>
          </p:cNvPicPr>
          <p:nvPr/>
        </p:nvPicPr>
        <p:blipFill>
          <a:blip r:embed="rId4"/>
          <a:stretch>
            <a:fillRect/>
          </a:stretch>
        </p:blipFill>
        <p:spPr>
          <a:xfrm>
            <a:off x="1729778" y="1838849"/>
            <a:ext cx="675401" cy="3017520"/>
          </a:xfrm>
          <a:prstGeom prst="rect">
            <a:avLst/>
          </a:prstGeom>
        </p:spPr>
      </p:pic>
      <p:sp>
        <p:nvSpPr>
          <p:cNvPr id="10" name="TextBox 9">
            <a:extLst>
              <a:ext uri="{FF2B5EF4-FFF2-40B4-BE49-F238E27FC236}">
                <a16:creationId xmlns:a16="http://schemas.microsoft.com/office/drawing/2014/main" id="{93755880-831D-C10B-1F21-B2FEB3E85978}"/>
              </a:ext>
            </a:extLst>
          </p:cNvPr>
          <p:cNvSpPr txBox="1"/>
          <p:nvPr/>
        </p:nvSpPr>
        <p:spPr>
          <a:xfrm>
            <a:off x="2511252" y="1838849"/>
            <a:ext cx="6099348" cy="3847207"/>
          </a:xfrm>
          <a:prstGeom prst="rect">
            <a:avLst/>
          </a:prstGeom>
          <a:noFill/>
        </p:spPr>
        <p:txBody>
          <a:bodyPr wrap="square">
            <a:spAutoFit/>
          </a:bodyPr>
          <a:lstStyle/>
          <a:p>
            <a:r>
              <a:rPr lang="en-US" dirty="0" err="1"/>
              <a:t>Viewstamped</a:t>
            </a:r>
            <a:r>
              <a:rPr lang="en-US" dirty="0"/>
              <a:t> Replication – </a:t>
            </a:r>
            <a:r>
              <a:rPr lang="en-US" dirty="0" err="1"/>
              <a:t>Liskov</a:t>
            </a:r>
            <a:r>
              <a:rPr lang="en-US" dirty="0"/>
              <a:t> &amp; Oki</a:t>
            </a:r>
          </a:p>
          <a:p>
            <a:r>
              <a:rPr lang="en-US" dirty="0"/>
              <a:t>Paxos – Leslie Lamport, “</a:t>
            </a:r>
            <a:r>
              <a:rPr lang="en-US" b="1" dirty="0"/>
              <a:t>The Part-Time Parliament</a:t>
            </a:r>
            <a:r>
              <a:rPr lang="en-US" dirty="0"/>
              <a:t>”</a:t>
            </a:r>
          </a:p>
          <a:p>
            <a:endParaRPr lang="en-US" sz="2400" dirty="0"/>
          </a:p>
          <a:p>
            <a:r>
              <a:rPr lang="en-US" dirty="0"/>
              <a:t>Paxos paper published</a:t>
            </a:r>
          </a:p>
          <a:p>
            <a:endParaRPr lang="en-US" sz="2000" dirty="0"/>
          </a:p>
          <a:p>
            <a:endParaRPr lang="en-US" sz="2000" dirty="0"/>
          </a:p>
          <a:p>
            <a:r>
              <a:rPr lang="en-US" dirty="0"/>
              <a:t>First practical deployments</a:t>
            </a:r>
          </a:p>
          <a:p>
            <a:endParaRPr lang="en-US" dirty="0"/>
          </a:p>
          <a:p>
            <a:r>
              <a:rPr lang="en-US" dirty="0"/>
              <a:t>Widespread use!</a:t>
            </a:r>
          </a:p>
          <a:p>
            <a:r>
              <a:rPr lang="en-US" dirty="0"/>
              <a:t>Lamport wins Turing Award</a:t>
            </a:r>
          </a:p>
          <a:p>
            <a:endParaRPr lang="en-US" dirty="0"/>
          </a:p>
          <a:p>
            <a:endParaRPr lang="en-US" dirty="0"/>
          </a:p>
          <a:p>
            <a:endParaRPr lang="en-US" dirty="0"/>
          </a:p>
        </p:txBody>
      </p:sp>
    </p:spTree>
    <p:extLst>
      <p:ext uri="{BB962C8B-B14F-4D97-AF65-F5344CB8AC3E}">
        <p14:creationId xmlns:p14="http://schemas.microsoft.com/office/powerpoint/2010/main" val="8355814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AC288-1CD6-0151-552B-D6B0447AC86B}"/>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EFAF50D-3858-9F54-1921-2178C51E56BB}"/>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 Part-time Parliament</a:t>
            </a:r>
          </a:p>
        </p:txBody>
      </p:sp>
      <p:sp>
        <p:nvSpPr>
          <p:cNvPr id="8" name="Slide Number Placeholder 4">
            <a:extLst>
              <a:ext uri="{FF2B5EF4-FFF2-40B4-BE49-F238E27FC236}">
                <a16:creationId xmlns:a16="http://schemas.microsoft.com/office/drawing/2014/main" id="{AE707396-0909-CA30-B954-E959839FC9C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a:p>
        </p:txBody>
      </p:sp>
      <p:sp>
        <p:nvSpPr>
          <p:cNvPr id="3" name="TextBox 2">
            <a:extLst>
              <a:ext uri="{FF2B5EF4-FFF2-40B4-BE49-F238E27FC236}">
                <a16:creationId xmlns:a16="http://schemas.microsoft.com/office/drawing/2014/main" id="{3DA559D6-ED43-047D-6F99-E510B88EAEDD}"/>
              </a:ext>
            </a:extLst>
          </p:cNvPr>
          <p:cNvSpPr txBox="1"/>
          <p:nvPr/>
        </p:nvSpPr>
        <p:spPr>
          <a:xfrm>
            <a:off x="185893" y="1028337"/>
            <a:ext cx="11028067" cy="2246769"/>
          </a:xfrm>
          <a:prstGeom prst="rect">
            <a:avLst/>
          </a:prstGeom>
          <a:noFill/>
        </p:spPr>
        <p:txBody>
          <a:bodyPr wrap="square">
            <a:spAutoFit/>
          </a:bodyPr>
          <a:lstStyle/>
          <a:p>
            <a:r>
              <a:rPr lang="en-US" sz="2800" b="1" dirty="0">
                <a:solidFill>
                  <a:srgbClr val="1A2039"/>
                </a:solidFill>
              </a:rPr>
              <a:t>F</a:t>
            </a:r>
            <a:r>
              <a:rPr lang="en-US" sz="2800" b="1" dirty="0">
                <a:solidFill>
                  <a:srgbClr val="1A2039"/>
                </a:solidFill>
                <a:effectLst/>
              </a:rPr>
              <a:t>irst submitted in 1990, published in 1998, won ACM SIGOPS Hall of Fame Award in 2012</a:t>
            </a:r>
          </a:p>
          <a:p>
            <a:endParaRPr lang="en-US" sz="2800" b="1" dirty="0">
              <a:solidFill>
                <a:srgbClr val="1A2039"/>
              </a:solidFill>
            </a:endParaRPr>
          </a:p>
          <a:p>
            <a:r>
              <a:rPr lang="en-US" sz="2800" b="1" dirty="0">
                <a:solidFill>
                  <a:srgbClr val="1A2039"/>
                </a:solidFill>
              </a:rPr>
              <a:t>The initial draft was obscure with an "archaeological" tone</a:t>
            </a:r>
          </a:p>
          <a:p>
            <a:endParaRPr lang="en-US" sz="2800" b="1" dirty="0">
              <a:solidFill>
                <a:srgbClr val="1A2039"/>
              </a:solidFill>
              <a:effectLst/>
            </a:endParaRPr>
          </a:p>
        </p:txBody>
      </p:sp>
      <p:pic>
        <p:nvPicPr>
          <p:cNvPr id="4" name="Picture 3">
            <a:extLst>
              <a:ext uri="{FF2B5EF4-FFF2-40B4-BE49-F238E27FC236}">
                <a16:creationId xmlns:a16="http://schemas.microsoft.com/office/drawing/2014/main" id="{F17B121D-A25B-F011-5FCE-7196AE68521E}"/>
              </a:ext>
            </a:extLst>
          </p:cNvPr>
          <p:cNvPicPr>
            <a:picLocks noChangeAspect="1"/>
          </p:cNvPicPr>
          <p:nvPr/>
        </p:nvPicPr>
        <p:blipFill>
          <a:blip r:embed="rId3"/>
          <a:stretch>
            <a:fillRect/>
          </a:stretch>
        </p:blipFill>
        <p:spPr>
          <a:xfrm>
            <a:off x="587731" y="2943972"/>
            <a:ext cx="10224390" cy="3375609"/>
          </a:xfrm>
          <a:prstGeom prst="rect">
            <a:avLst/>
          </a:prstGeom>
        </p:spPr>
      </p:pic>
    </p:spTree>
    <p:extLst>
      <p:ext uri="{BB962C8B-B14F-4D97-AF65-F5344CB8AC3E}">
        <p14:creationId xmlns:p14="http://schemas.microsoft.com/office/powerpoint/2010/main" val="31427346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818AB1-C4CE-174B-5C4C-B3EBFCC4ED3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BCE35C-498F-5CF6-9B1A-4BEEFD99FD6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Paxos Made Simple</a:t>
            </a:r>
          </a:p>
        </p:txBody>
      </p:sp>
      <p:sp>
        <p:nvSpPr>
          <p:cNvPr id="8" name="Slide Number Placeholder 4">
            <a:extLst>
              <a:ext uri="{FF2B5EF4-FFF2-40B4-BE49-F238E27FC236}">
                <a16:creationId xmlns:a16="http://schemas.microsoft.com/office/drawing/2014/main" id="{E830BA3F-FFEF-6E1B-3F3C-4F9ED14F4D6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a:p>
        </p:txBody>
      </p:sp>
      <p:sp>
        <p:nvSpPr>
          <p:cNvPr id="9" name="TextBox 8">
            <a:extLst>
              <a:ext uri="{FF2B5EF4-FFF2-40B4-BE49-F238E27FC236}">
                <a16:creationId xmlns:a16="http://schemas.microsoft.com/office/drawing/2014/main" id="{3FEA6DCE-635D-0AEF-8935-61277F81068C}"/>
              </a:ext>
            </a:extLst>
          </p:cNvPr>
          <p:cNvSpPr txBox="1"/>
          <p:nvPr/>
        </p:nvSpPr>
        <p:spPr>
          <a:xfrm>
            <a:off x="447151" y="914401"/>
            <a:ext cx="10766809" cy="2339102"/>
          </a:xfrm>
          <a:prstGeom prst="rect">
            <a:avLst/>
          </a:prstGeom>
          <a:noFill/>
        </p:spPr>
        <p:txBody>
          <a:bodyPr wrap="square">
            <a:spAutoFit/>
          </a:bodyPr>
          <a:lstStyle/>
          <a:p>
            <a:r>
              <a:rPr lang="en-US" sz="2800" dirty="0"/>
              <a:t>Three years after publishing original Paxos paper, Lamport published a simplified version to explain the protocol</a:t>
            </a:r>
          </a:p>
          <a:p>
            <a:pPr marL="742950" lvl="1" indent="-285750">
              <a:buFont typeface="Arial" panose="020B0604020202020204" pitchFamily="34" charset="0"/>
              <a:buChar char="•"/>
            </a:pPr>
            <a:r>
              <a:rPr lang="en-US" sz="2400" dirty="0"/>
              <a:t>"The current version is 13 pages long, and contains no formula more complicated than n1 &gt; n2."</a:t>
            </a:r>
          </a:p>
          <a:p>
            <a:pPr marL="742950" lvl="1" indent="-285750">
              <a:buFont typeface="Arial" panose="020B0604020202020204" pitchFamily="34" charset="0"/>
              <a:buChar char="•"/>
            </a:pPr>
            <a:r>
              <a:rPr lang="en-US" sz="2400" dirty="0"/>
              <a:t>Maybe a bit over-simplified</a:t>
            </a:r>
            <a:r>
              <a:rPr lang="en-US" dirty="0"/>
              <a:t>..</a:t>
            </a:r>
          </a:p>
          <a:p>
            <a:endParaRPr lang="en-US" dirty="0"/>
          </a:p>
        </p:txBody>
      </p:sp>
      <p:pic>
        <p:nvPicPr>
          <p:cNvPr id="11" name="Picture 10">
            <a:extLst>
              <a:ext uri="{FF2B5EF4-FFF2-40B4-BE49-F238E27FC236}">
                <a16:creationId xmlns:a16="http://schemas.microsoft.com/office/drawing/2014/main" id="{5BCA3DFB-3CD3-B79C-2965-037C37FA2360}"/>
              </a:ext>
            </a:extLst>
          </p:cNvPr>
          <p:cNvPicPr>
            <a:picLocks noChangeAspect="1"/>
          </p:cNvPicPr>
          <p:nvPr/>
        </p:nvPicPr>
        <p:blipFill>
          <a:blip r:embed="rId3"/>
          <a:stretch>
            <a:fillRect/>
          </a:stretch>
        </p:blipFill>
        <p:spPr>
          <a:xfrm>
            <a:off x="1342291" y="3253503"/>
            <a:ext cx="7754834" cy="2263739"/>
          </a:xfrm>
          <a:prstGeom prst="rect">
            <a:avLst/>
          </a:prstGeom>
        </p:spPr>
      </p:pic>
    </p:spTree>
    <p:extLst>
      <p:ext uri="{BB962C8B-B14F-4D97-AF65-F5344CB8AC3E}">
        <p14:creationId xmlns:p14="http://schemas.microsoft.com/office/powerpoint/2010/main" val="6030995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C2F7FB-7C0E-F011-E9A8-02C3681B3544}"/>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9F68EFD-489C-2AF8-D724-8BAB7DE3200F}"/>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Raft</a:t>
            </a:r>
          </a:p>
        </p:txBody>
      </p:sp>
      <p:sp>
        <p:nvSpPr>
          <p:cNvPr id="8" name="Slide Number Placeholder 4">
            <a:extLst>
              <a:ext uri="{FF2B5EF4-FFF2-40B4-BE49-F238E27FC236}">
                <a16:creationId xmlns:a16="http://schemas.microsoft.com/office/drawing/2014/main" id="{C3D8DEA6-F42B-152B-4085-E8512B09063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a:p>
        </p:txBody>
      </p:sp>
      <p:pic>
        <p:nvPicPr>
          <p:cNvPr id="2" name="Picture 1">
            <a:extLst>
              <a:ext uri="{FF2B5EF4-FFF2-40B4-BE49-F238E27FC236}">
                <a16:creationId xmlns:a16="http://schemas.microsoft.com/office/drawing/2014/main" id="{B7D6EA28-2727-A279-69BA-F6C21844B59C}"/>
              </a:ext>
            </a:extLst>
          </p:cNvPr>
          <p:cNvPicPr>
            <a:picLocks noChangeAspect="1"/>
          </p:cNvPicPr>
          <p:nvPr/>
        </p:nvPicPr>
        <p:blipFill>
          <a:blip r:embed="rId3"/>
          <a:stretch>
            <a:fillRect/>
          </a:stretch>
        </p:blipFill>
        <p:spPr>
          <a:xfrm>
            <a:off x="2209799" y="1449388"/>
            <a:ext cx="7772400" cy="2185987"/>
          </a:xfrm>
          <a:prstGeom prst="rect">
            <a:avLst/>
          </a:prstGeom>
        </p:spPr>
      </p:pic>
      <p:pic>
        <p:nvPicPr>
          <p:cNvPr id="3" name="Picture 2">
            <a:extLst>
              <a:ext uri="{FF2B5EF4-FFF2-40B4-BE49-F238E27FC236}">
                <a16:creationId xmlns:a16="http://schemas.microsoft.com/office/drawing/2014/main" id="{C39743FC-43FB-6F41-838E-679365F6B8DA}"/>
              </a:ext>
            </a:extLst>
          </p:cNvPr>
          <p:cNvPicPr>
            <a:picLocks noChangeAspect="1"/>
          </p:cNvPicPr>
          <p:nvPr/>
        </p:nvPicPr>
        <p:blipFill>
          <a:blip r:embed="rId4"/>
          <a:stretch>
            <a:fillRect/>
          </a:stretch>
        </p:blipFill>
        <p:spPr>
          <a:xfrm>
            <a:off x="1989574" y="3875812"/>
            <a:ext cx="7992625" cy="834692"/>
          </a:xfrm>
          <a:prstGeom prst="rect">
            <a:avLst/>
          </a:prstGeom>
        </p:spPr>
      </p:pic>
    </p:spTree>
    <p:extLst>
      <p:ext uri="{BB962C8B-B14F-4D97-AF65-F5344CB8AC3E}">
        <p14:creationId xmlns:p14="http://schemas.microsoft.com/office/powerpoint/2010/main" val="5269663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FBCCBE-D26E-2252-2067-7E52F15F9DD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AFE7965-B5A8-92A0-26AF-186B463E664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Majority Vote</a:t>
            </a:r>
          </a:p>
        </p:txBody>
      </p:sp>
      <p:sp>
        <p:nvSpPr>
          <p:cNvPr id="8" name="Slide Number Placeholder 4">
            <a:extLst>
              <a:ext uri="{FF2B5EF4-FFF2-40B4-BE49-F238E27FC236}">
                <a16:creationId xmlns:a16="http://schemas.microsoft.com/office/drawing/2014/main" id="{1080A7BF-7EFF-2835-9112-4C5CD445594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a:p>
        </p:txBody>
      </p:sp>
      <p:sp>
        <p:nvSpPr>
          <p:cNvPr id="2" name="TextBox 1">
            <a:extLst>
              <a:ext uri="{FF2B5EF4-FFF2-40B4-BE49-F238E27FC236}">
                <a16:creationId xmlns:a16="http://schemas.microsoft.com/office/drawing/2014/main" id="{C8087C32-F3AC-5953-4656-21613B3BEF52}"/>
              </a:ext>
            </a:extLst>
          </p:cNvPr>
          <p:cNvSpPr txBox="1"/>
          <p:nvPr/>
        </p:nvSpPr>
        <p:spPr>
          <a:xfrm>
            <a:off x="207115" y="809424"/>
            <a:ext cx="11058860" cy="3970318"/>
          </a:xfrm>
          <a:prstGeom prst="rect">
            <a:avLst/>
          </a:prstGeom>
          <a:noFill/>
        </p:spPr>
        <p:txBody>
          <a:bodyPr wrap="square" rtlCol="0">
            <a:spAutoFit/>
          </a:bodyPr>
          <a:lstStyle/>
          <a:p>
            <a:r>
              <a:rPr lang="en-US" sz="2800" b="1" dirty="0"/>
              <a:t>Agreement from a majority is required to do anything </a:t>
            </a:r>
          </a:p>
          <a:p>
            <a:pPr marL="800100" lvl="1" indent="-342900">
              <a:buFont typeface="Arial" panose="020B0604020202020204" pitchFamily="34" charset="0"/>
              <a:buChar char="•"/>
            </a:pPr>
            <a:r>
              <a:rPr lang="en-US" sz="2400" dirty="0"/>
              <a:t>f+1 out of 2f+1 </a:t>
            </a:r>
          </a:p>
          <a:p>
            <a:endParaRPr lang="en-US" sz="2400" dirty="0"/>
          </a:p>
          <a:p>
            <a:r>
              <a:rPr lang="en-US" sz="2800" b="1" dirty="0"/>
              <a:t>Why does majority help avoid split brain? </a:t>
            </a:r>
          </a:p>
          <a:p>
            <a:pPr marL="800100" lvl="1" indent="-342900">
              <a:buFont typeface="Arial" panose="020B0604020202020204" pitchFamily="34" charset="0"/>
              <a:buChar char="•"/>
            </a:pPr>
            <a:r>
              <a:rPr lang="en-US" sz="2400" dirty="0"/>
              <a:t>at most one partition can have a majority</a:t>
            </a:r>
          </a:p>
          <a:p>
            <a:pPr lvl="1"/>
            <a:endParaRPr lang="en-US" sz="2400" dirty="0"/>
          </a:p>
          <a:p>
            <a:r>
              <a:rPr lang="en-US" sz="2800" b="1" dirty="0"/>
              <a:t>A key property of majorities is that any two must intersect </a:t>
            </a:r>
          </a:p>
          <a:p>
            <a:pPr marL="742950" lvl="1" indent="-285750">
              <a:buFont typeface="Arial" panose="020B0604020202020204" pitchFamily="34" charset="0"/>
              <a:buChar char="•"/>
            </a:pPr>
            <a:r>
              <a:rPr lang="en-US" sz="2400" dirty="0"/>
              <a:t>e.g. successive majorities for Raft leader election must overlap </a:t>
            </a:r>
          </a:p>
          <a:p>
            <a:pPr marL="742950" lvl="1" indent="-285750">
              <a:buFont typeface="Arial" panose="020B0604020202020204" pitchFamily="34" charset="0"/>
              <a:buChar char="•"/>
            </a:pPr>
            <a:r>
              <a:rPr lang="en-US" sz="2400" dirty="0"/>
              <a:t>and the intersection can convey information about previous decisions</a:t>
            </a:r>
          </a:p>
          <a:p>
            <a:pPr marL="800100" lvl="1" indent="-342900">
              <a:buFont typeface="Arial" panose="020B0604020202020204" pitchFamily="34" charset="0"/>
              <a:buChar char="•"/>
            </a:pPr>
            <a:endParaRPr lang="en-US" sz="2400" dirty="0"/>
          </a:p>
        </p:txBody>
      </p:sp>
    </p:spTree>
    <p:extLst>
      <p:ext uri="{BB962C8B-B14F-4D97-AF65-F5344CB8AC3E}">
        <p14:creationId xmlns:p14="http://schemas.microsoft.com/office/powerpoint/2010/main" val="38437782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C9063E-4FD9-BAFC-F406-C4B096F4CB7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29ABEFB-C568-F4A1-2D15-031AF97AF20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Preview of Raft with Visualization</a:t>
            </a:r>
          </a:p>
        </p:txBody>
      </p:sp>
      <p:sp>
        <p:nvSpPr>
          <p:cNvPr id="8" name="Slide Number Placeholder 4">
            <a:extLst>
              <a:ext uri="{FF2B5EF4-FFF2-40B4-BE49-F238E27FC236}">
                <a16:creationId xmlns:a16="http://schemas.microsoft.com/office/drawing/2014/main" id="{79B8A0AF-0A9A-01C9-1251-4B6149BC231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a:p>
        </p:txBody>
      </p:sp>
      <p:sp>
        <p:nvSpPr>
          <p:cNvPr id="3" name="TextBox 2">
            <a:extLst>
              <a:ext uri="{FF2B5EF4-FFF2-40B4-BE49-F238E27FC236}">
                <a16:creationId xmlns:a16="http://schemas.microsoft.com/office/drawing/2014/main" id="{8DF55EF0-8D4C-6F5B-7C34-9323B2375FEE}"/>
              </a:ext>
            </a:extLst>
          </p:cNvPr>
          <p:cNvSpPr txBox="1"/>
          <p:nvPr/>
        </p:nvSpPr>
        <p:spPr>
          <a:xfrm>
            <a:off x="3047104" y="3203993"/>
            <a:ext cx="6094206" cy="523220"/>
          </a:xfrm>
          <a:prstGeom prst="rect">
            <a:avLst/>
          </a:prstGeom>
          <a:noFill/>
        </p:spPr>
        <p:txBody>
          <a:bodyPr wrap="square">
            <a:spAutoFit/>
          </a:bodyPr>
          <a:lstStyle/>
          <a:p>
            <a:r>
              <a:rPr lang="en-US" sz="2800" dirty="0">
                <a:hlinkClick r:id="rId3"/>
              </a:rPr>
              <a:t>https://thesecretlivesofdata.com/raft/</a:t>
            </a:r>
            <a:endParaRPr lang="en-US" sz="2800" dirty="0"/>
          </a:p>
        </p:txBody>
      </p:sp>
    </p:spTree>
    <p:extLst>
      <p:ext uri="{BB962C8B-B14F-4D97-AF65-F5344CB8AC3E}">
        <p14:creationId xmlns:p14="http://schemas.microsoft.com/office/powerpoint/2010/main" val="33277077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39602-B600-7274-2982-9B89EEE3B58F}"/>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1265E9D-C5B3-CFA6-30D0-63329D20BF85}"/>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Server States</a:t>
            </a:r>
          </a:p>
        </p:txBody>
      </p:sp>
      <p:sp>
        <p:nvSpPr>
          <p:cNvPr id="8" name="Slide Number Placeholder 4">
            <a:extLst>
              <a:ext uri="{FF2B5EF4-FFF2-40B4-BE49-F238E27FC236}">
                <a16:creationId xmlns:a16="http://schemas.microsoft.com/office/drawing/2014/main" id="{1D3A679F-66CC-98A1-DA65-CEC7F960B83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a:p>
        </p:txBody>
      </p:sp>
      <p:sp>
        <p:nvSpPr>
          <p:cNvPr id="3" name="TextBox 2">
            <a:extLst>
              <a:ext uri="{FF2B5EF4-FFF2-40B4-BE49-F238E27FC236}">
                <a16:creationId xmlns:a16="http://schemas.microsoft.com/office/drawing/2014/main" id="{7EC7E610-033A-6C9B-4409-67291BFC5076}"/>
              </a:ext>
            </a:extLst>
          </p:cNvPr>
          <p:cNvSpPr txBox="1"/>
          <p:nvPr/>
        </p:nvSpPr>
        <p:spPr>
          <a:xfrm>
            <a:off x="217844" y="914401"/>
            <a:ext cx="8392756" cy="2800767"/>
          </a:xfrm>
          <a:prstGeom prst="rect">
            <a:avLst/>
          </a:prstGeom>
          <a:noFill/>
        </p:spPr>
        <p:txBody>
          <a:bodyPr wrap="square">
            <a:spAutoFit/>
          </a:bodyPr>
          <a:lstStyle/>
          <a:p>
            <a:r>
              <a:rPr lang="en-US" sz="2800" b="1" dirty="0"/>
              <a:t>At any given time, each server is either:</a:t>
            </a:r>
          </a:p>
          <a:p>
            <a:pPr marL="742950" lvl="1" indent="-285750">
              <a:buFont typeface="Arial" panose="020B0604020202020204" pitchFamily="34" charset="0"/>
              <a:buChar char="•"/>
            </a:pPr>
            <a:r>
              <a:rPr lang="en-US" sz="2400" dirty="0"/>
              <a:t>Leader: handles all client interactions, log replication </a:t>
            </a:r>
          </a:p>
          <a:p>
            <a:pPr marL="742950" lvl="1" indent="-285750">
              <a:buFont typeface="Arial" panose="020B0604020202020204" pitchFamily="34" charset="0"/>
              <a:buChar char="•"/>
            </a:pPr>
            <a:r>
              <a:rPr lang="en-US" sz="2400" dirty="0"/>
              <a:t>Follower: completely passive </a:t>
            </a:r>
          </a:p>
          <a:p>
            <a:pPr marL="742950" lvl="1" indent="-285750">
              <a:buFont typeface="Arial" panose="020B0604020202020204" pitchFamily="34" charset="0"/>
              <a:buChar char="•"/>
            </a:pPr>
            <a:r>
              <a:rPr lang="en-US" sz="2400" dirty="0"/>
              <a:t>Candidate: used to elect a new leader </a:t>
            </a:r>
          </a:p>
          <a:p>
            <a:endParaRPr lang="en-US" sz="2400" dirty="0"/>
          </a:p>
          <a:p>
            <a:r>
              <a:rPr lang="en-US" sz="2800" b="1" dirty="0"/>
              <a:t>Normal operation: 1 leader, N-1 followers </a:t>
            </a:r>
          </a:p>
          <a:p>
            <a:pPr marL="742950" lvl="1" indent="-285750">
              <a:buFont typeface="Arial" panose="020B0604020202020204" pitchFamily="34" charset="0"/>
              <a:buChar char="•"/>
            </a:pPr>
            <a:r>
              <a:rPr lang="en-US" sz="2400" dirty="0"/>
              <a:t>Exercise: how to states transit to others</a:t>
            </a:r>
          </a:p>
        </p:txBody>
      </p:sp>
      <p:pic>
        <p:nvPicPr>
          <p:cNvPr id="4" name="object 4">
            <a:extLst>
              <a:ext uri="{FF2B5EF4-FFF2-40B4-BE49-F238E27FC236}">
                <a16:creationId xmlns:a16="http://schemas.microsoft.com/office/drawing/2014/main" id="{BC7C4F68-F6CC-AB9A-8478-D8DC6A7A091A}"/>
              </a:ext>
            </a:extLst>
          </p:cNvPr>
          <p:cNvPicPr/>
          <p:nvPr/>
        </p:nvPicPr>
        <p:blipFill>
          <a:blip r:embed="rId3" cstate="print"/>
          <a:stretch>
            <a:fillRect/>
          </a:stretch>
        </p:blipFill>
        <p:spPr>
          <a:xfrm>
            <a:off x="1752889" y="4624326"/>
            <a:ext cx="8229311" cy="689090"/>
          </a:xfrm>
          <a:prstGeom prst="rect">
            <a:avLst/>
          </a:prstGeom>
        </p:spPr>
      </p:pic>
    </p:spTree>
    <p:extLst>
      <p:ext uri="{BB962C8B-B14F-4D97-AF65-F5344CB8AC3E}">
        <p14:creationId xmlns:p14="http://schemas.microsoft.com/office/powerpoint/2010/main" val="24608400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B24F19-E3E0-2A01-2908-AA305BC5235B}"/>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824674D-F274-E28F-89E4-D25B1DD8B24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Raft Overview</a:t>
            </a:r>
          </a:p>
        </p:txBody>
      </p:sp>
      <p:sp>
        <p:nvSpPr>
          <p:cNvPr id="8" name="Slide Number Placeholder 4">
            <a:extLst>
              <a:ext uri="{FF2B5EF4-FFF2-40B4-BE49-F238E27FC236}">
                <a16:creationId xmlns:a16="http://schemas.microsoft.com/office/drawing/2014/main" id="{53AEEAC9-025C-224A-F892-8E2BAAC5763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a:p>
        </p:txBody>
      </p:sp>
      <p:pic>
        <p:nvPicPr>
          <p:cNvPr id="2" name="object 4">
            <a:extLst>
              <a:ext uri="{FF2B5EF4-FFF2-40B4-BE49-F238E27FC236}">
                <a16:creationId xmlns:a16="http://schemas.microsoft.com/office/drawing/2014/main" id="{975E0D53-965A-E229-62E8-C650607B42CC}"/>
              </a:ext>
            </a:extLst>
          </p:cNvPr>
          <p:cNvPicPr>
            <a:picLocks noChangeAspect="1"/>
          </p:cNvPicPr>
          <p:nvPr/>
        </p:nvPicPr>
        <p:blipFill>
          <a:blip r:embed="rId3" cstate="print"/>
          <a:stretch>
            <a:fillRect/>
          </a:stretch>
        </p:blipFill>
        <p:spPr>
          <a:xfrm>
            <a:off x="2846399" y="1452008"/>
            <a:ext cx="6499202" cy="2373409"/>
          </a:xfrm>
          <a:prstGeom prst="rect">
            <a:avLst/>
          </a:prstGeom>
        </p:spPr>
      </p:pic>
      <p:sp>
        <p:nvSpPr>
          <p:cNvPr id="4" name="TextBox 3">
            <a:extLst>
              <a:ext uri="{FF2B5EF4-FFF2-40B4-BE49-F238E27FC236}">
                <a16:creationId xmlns:a16="http://schemas.microsoft.com/office/drawing/2014/main" id="{D9383062-E727-D13E-F26B-9591ACA00B18}"/>
              </a:ext>
            </a:extLst>
          </p:cNvPr>
          <p:cNvSpPr txBox="1"/>
          <p:nvPr/>
        </p:nvSpPr>
        <p:spPr>
          <a:xfrm>
            <a:off x="443752" y="4213720"/>
            <a:ext cx="8549640" cy="1754326"/>
          </a:xfrm>
          <a:prstGeom prst="rect">
            <a:avLst/>
          </a:prstGeom>
          <a:noFill/>
        </p:spPr>
        <p:txBody>
          <a:bodyPr wrap="square">
            <a:spAutoFit/>
          </a:bodyPr>
          <a:lstStyle/>
          <a:p>
            <a:r>
              <a:rPr lang="en-US" sz="2800" b="1" dirty="0"/>
              <a:t>Replicated log =&gt; replicated state machine </a:t>
            </a:r>
          </a:p>
          <a:p>
            <a:pPr marL="800100" lvl="1" indent="-342900">
              <a:buFont typeface="Arial" panose="020B0604020202020204" pitchFamily="34" charset="0"/>
              <a:buChar char="•"/>
            </a:pPr>
            <a:r>
              <a:rPr lang="en-US" sz="2400" dirty="0"/>
              <a:t>All servers execute same commands in same order </a:t>
            </a:r>
          </a:p>
          <a:p>
            <a:endParaRPr lang="en-US" sz="2800" b="1" dirty="0"/>
          </a:p>
          <a:p>
            <a:r>
              <a:rPr lang="en-US" sz="2800" b="1" dirty="0"/>
              <a:t>Consensus module ensures proper log replication</a:t>
            </a:r>
          </a:p>
        </p:txBody>
      </p:sp>
    </p:spTree>
    <p:extLst>
      <p:ext uri="{BB962C8B-B14F-4D97-AF65-F5344CB8AC3E}">
        <p14:creationId xmlns:p14="http://schemas.microsoft.com/office/powerpoint/2010/main" val="33046643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D182BC-E0C6-DEDE-6C12-6DE06C412B24}"/>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99888BF-27EC-A31A-74AC-37F97586CED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Normal Operation</a:t>
            </a:r>
          </a:p>
        </p:txBody>
      </p:sp>
      <p:sp>
        <p:nvSpPr>
          <p:cNvPr id="8" name="Slide Number Placeholder 4">
            <a:extLst>
              <a:ext uri="{FF2B5EF4-FFF2-40B4-BE49-F238E27FC236}">
                <a16:creationId xmlns:a16="http://schemas.microsoft.com/office/drawing/2014/main" id="{156EA56B-15EB-4EE0-8E20-878A1985794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a:p>
        </p:txBody>
      </p:sp>
      <p:pic>
        <p:nvPicPr>
          <p:cNvPr id="2" name="object 4">
            <a:extLst>
              <a:ext uri="{FF2B5EF4-FFF2-40B4-BE49-F238E27FC236}">
                <a16:creationId xmlns:a16="http://schemas.microsoft.com/office/drawing/2014/main" id="{78B58F68-38E0-FB18-612F-D503EE133952}"/>
              </a:ext>
            </a:extLst>
          </p:cNvPr>
          <p:cNvPicPr>
            <a:picLocks noChangeAspect="1"/>
          </p:cNvPicPr>
          <p:nvPr/>
        </p:nvPicPr>
        <p:blipFill>
          <a:blip r:embed="rId3" cstate="print"/>
          <a:stretch>
            <a:fillRect/>
          </a:stretch>
        </p:blipFill>
        <p:spPr>
          <a:xfrm>
            <a:off x="3275443" y="763794"/>
            <a:ext cx="6137499" cy="2220035"/>
          </a:xfrm>
          <a:prstGeom prst="rect">
            <a:avLst/>
          </a:prstGeom>
        </p:spPr>
      </p:pic>
      <p:sp>
        <p:nvSpPr>
          <p:cNvPr id="4" name="TextBox 3">
            <a:extLst>
              <a:ext uri="{FF2B5EF4-FFF2-40B4-BE49-F238E27FC236}">
                <a16:creationId xmlns:a16="http://schemas.microsoft.com/office/drawing/2014/main" id="{C335839A-92EC-253A-7EF5-7732F3B8AB72}"/>
              </a:ext>
            </a:extLst>
          </p:cNvPr>
          <p:cNvSpPr txBox="1"/>
          <p:nvPr/>
        </p:nvSpPr>
        <p:spPr>
          <a:xfrm>
            <a:off x="142537" y="2912486"/>
            <a:ext cx="10920805" cy="3847207"/>
          </a:xfrm>
          <a:prstGeom prst="rect">
            <a:avLst/>
          </a:prstGeom>
          <a:noFill/>
        </p:spPr>
        <p:txBody>
          <a:bodyPr wrap="square">
            <a:spAutoFit/>
          </a:bodyPr>
          <a:lstStyle/>
          <a:p>
            <a:r>
              <a:rPr lang="en-US" sz="2800" b="1" dirty="0"/>
              <a:t>Client sends command to leader </a:t>
            </a:r>
          </a:p>
          <a:p>
            <a:endParaRPr lang="en-US" sz="2000" b="1" dirty="0"/>
          </a:p>
          <a:p>
            <a:r>
              <a:rPr lang="en-US" sz="2800" b="1" dirty="0"/>
              <a:t>Leader appends command to its log </a:t>
            </a:r>
          </a:p>
          <a:p>
            <a:endParaRPr lang="en-US" sz="2000" b="1" dirty="0"/>
          </a:p>
          <a:p>
            <a:r>
              <a:rPr lang="en-US" sz="2800" b="1" dirty="0"/>
              <a:t>Leader sends </a:t>
            </a:r>
            <a:r>
              <a:rPr lang="en-US" sz="2800" b="1" dirty="0" err="1"/>
              <a:t>AppendEntries</a:t>
            </a:r>
            <a:r>
              <a:rPr lang="en-US" sz="2800" b="1" dirty="0"/>
              <a:t> RPCs to followers </a:t>
            </a:r>
          </a:p>
          <a:p>
            <a:endParaRPr lang="en-US" sz="2000" b="1" dirty="0"/>
          </a:p>
          <a:p>
            <a:r>
              <a:rPr lang="en-US" sz="2800" b="1" dirty="0"/>
              <a:t>Once new entry committed: </a:t>
            </a:r>
          </a:p>
          <a:p>
            <a:pPr marL="800100" lvl="1" indent="-342900">
              <a:buFont typeface="Arial" panose="020B0604020202020204" pitchFamily="34" charset="0"/>
              <a:buChar char="•"/>
            </a:pPr>
            <a:r>
              <a:rPr lang="en-US" sz="2400" dirty="0"/>
              <a:t>Leader passes command to its state machine, sends result to client </a:t>
            </a:r>
          </a:p>
          <a:p>
            <a:pPr marL="800100" lvl="1" indent="-342900">
              <a:buFont typeface="Arial" panose="020B0604020202020204" pitchFamily="34" charset="0"/>
              <a:buChar char="•"/>
            </a:pPr>
            <a:r>
              <a:rPr lang="en-US" sz="2400" dirty="0"/>
              <a:t>Leader piggybacks commitment to followers in later </a:t>
            </a:r>
            <a:r>
              <a:rPr lang="en-US" sz="2400" dirty="0" err="1"/>
              <a:t>AppendEntries</a:t>
            </a:r>
            <a:r>
              <a:rPr lang="en-US" sz="2400" dirty="0"/>
              <a:t> </a:t>
            </a:r>
          </a:p>
          <a:p>
            <a:pPr marL="800100" lvl="1" indent="-342900">
              <a:buFont typeface="Arial" panose="020B0604020202020204" pitchFamily="34" charset="0"/>
              <a:buChar char="•"/>
            </a:pPr>
            <a:r>
              <a:rPr lang="en-US" sz="2400" dirty="0"/>
              <a:t>Followers pass committed commands to their state machines </a:t>
            </a:r>
          </a:p>
        </p:txBody>
      </p:sp>
    </p:spTree>
    <p:extLst>
      <p:ext uri="{BB962C8B-B14F-4D97-AF65-F5344CB8AC3E}">
        <p14:creationId xmlns:p14="http://schemas.microsoft.com/office/powerpoint/2010/main" val="14953437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07FE6-7D61-FE9B-6DF6-0DD8426F204F}"/>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C0D9A5D-1242-A04C-60B3-38E846AF123C}"/>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Leader</a:t>
            </a:r>
          </a:p>
        </p:txBody>
      </p:sp>
      <p:sp>
        <p:nvSpPr>
          <p:cNvPr id="8" name="Slide Number Placeholder 4">
            <a:extLst>
              <a:ext uri="{FF2B5EF4-FFF2-40B4-BE49-F238E27FC236}">
                <a16:creationId xmlns:a16="http://schemas.microsoft.com/office/drawing/2014/main" id="{2F053773-D081-1C44-E378-E07F83DF0A0B}"/>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a:p>
        </p:txBody>
      </p:sp>
      <p:sp>
        <p:nvSpPr>
          <p:cNvPr id="4" name="TextBox 3">
            <a:extLst>
              <a:ext uri="{FF2B5EF4-FFF2-40B4-BE49-F238E27FC236}">
                <a16:creationId xmlns:a16="http://schemas.microsoft.com/office/drawing/2014/main" id="{8583B697-73F0-AF23-029A-B7B24B2542F9}"/>
              </a:ext>
            </a:extLst>
          </p:cNvPr>
          <p:cNvSpPr txBox="1"/>
          <p:nvPr/>
        </p:nvSpPr>
        <p:spPr>
          <a:xfrm>
            <a:off x="129092" y="836986"/>
            <a:ext cx="11623546" cy="1261884"/>
          </a:xfrm>
          <a:prstGeom prst="rect">
            <a:avLst/>
          </a:prstGeom>
          <a:noFill/>
        </p:spPr>
        <p:txBody>
          <a:bodyPr wrap="square">
            <a:spAutoFit/>
          </a:bodyPr>
          <a:lstStyle/>
          <a:p>
            <a:r>
              <a:rPr lang="en-US" sz="2800" b="1" dirty="0"/>
              <a:t>Why a leader? </a:t>
            </a:r>
          </a:p>
          <a:p>
            <a:pPr marL="800100" lvl="1" indent="-342900">
              <a:buFont typeface="Arial" panose="020B0604020202020204" pitchFamily="34" charset="0"/>
              <a:buChar char="•"/>
            </a:pPr>
            <a:r>
              <a:rPr lang="en-US" sz="2400" dirty="0"/>
              <a:t>  ensures all replicas execute the same commands, in the same order</a:t>
            </a:r>
          </a:p>
          <a:p>
            <a:endParaRPr lang="en-US" sz="2400" dirty="0"/>
          </a:p>
        </p:txBody>
      </p:sp>
    </p:spTree>
    <p:extLst>
      <p:ext uri="{BB962C8B-B14F-4D97-AF65-F5344CB8AC3E}">
        <p14:creationId xmlns:p14="http://schemas.microsoft.com/office/powerpoint/2010/main" val="26636236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E61C5-8BF7-E504-93DF-F8CA683FC7CF}"/>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55EC2CF-6B2A-25FE-F970-FD0395758D5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Term (aka Epochs)</a:t>
            </a:r>
          </a:p>
        </p:txBody>
      </p:sp>
      <p:sp>
        <p:nvSpPr>
          <p:cNvPr id="8" name="Slide Number Placeholder 4">
            <a:extLst>
              <a:ext uri="{FF2B5EF4-FFF2-40B4-BE49-F238E27FC236}">
                <a16:creationId xmlns:a16="http://schemas.microsoft.com/office/drawing/2014/main" id="{BF318047-D4B5-34F0-9DFF-F79BF1720A70}"/>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a:p>
        </p:txBody>
      </p:sp>
      <p:pic>
        <p:nvPicPr>
          <p:cNvPr id="2" name="object 4">
            <a:extLst>
              <a:ext uri="{FF2B5EF4-FFF2-40B4-BE49-F238E27FC236}">
                <a16:creationId xmlns:a16="http://schemas.microsoft.com/office/drawing/2014/main" id="{346DFAF4-8AD7-BED2-D099-6BB22D031117}"/>
              </a:ext>
            </a:extLst>
          </p:cNvPr>
          <p:cNvPicPr>
            <a:picLocks noChangeAspect="1"/>
          </p:cNvPicPr>
          <p:nvPr/>
        </p:nvPicPr>
        <p:blipFill>
          <a:blip r:embed="rId3" cstate="print"/>
          <a:stretch>
            <a:fillRect/>
          </a:stretch>
        </p:blipFill>
        <p:spPr>
          <a:xfrm>
            <a:off x="2408182" y="1413768"/>
            <a:ext cx="7375636" cy="1856482"/>
          </a:xfrm>
          <a:prstGeom prst="rect">
            <a:avLst/>
          </a:prstGeom>
        </p:spPr>
      </p:pic>
      <p:sp>
        <p:nvSpPr>
          <p:cNvPr id="3" name="TextBox 2">
            <a:extLst>
              <a:ext uri="{FF2B5EF4-FFF2-40B4-BE49-F238E27FC236}">
                <a16:creationId xmlns:a16="http://schemas.microsoft.com/office/drawing/2014/main" id="{17E13543-8ABA-6C1B-85F0-0ABA2AE32AC2}"/>
              </a:ext>
            </a:extLst>
          </p:cNvPr>
          <p:cNvSpPr txBox="1"/>
          <p:nvPr/>
        </p:nvSpPr>
        <p:spPr>
          <a:xfrm>
            <a:off x="307670" y="3289806"/>
            <a:ext cx="7927106" cy="2862322"/>
          </a:xfrm>
          <a:prstGeom prst="rect">
            <a:avLst/>
          </a:prstGeom>
          <a:noFill/>
        </p:spPr>
        <p:txBody>
          <a:bodyPr wrap="none" rtlCol="0">
            <a:spAutoFit/>
          </a:bodyPr>
          <a:lstStyle/>
          <a:p>
            <a:r>
              <a:rPr lang="en-US" sz="2800" b="1" dirty="0"/>
              <a:t>Raft divides time into terms: </a:t>
            </a:r>
          </a:p>
          <a:p>
            <a:pPr marL="742950" lvl="1" indent="-285750">
              <a:buFont typeface="Arial" panose="020B0604020202020204" pitchFamily="34" charset="0"/>
              <a:buChar char="•"/>
            </a:pPr>
            <a:r>
              <a:rPr lang="en-US" sz="2400" dirty="0"/>
              <a:t>In each term, election (new leader -&gt; new term)</a:t>
            </a:r>
          </a:p>
          <a:p>
            <a:pPr marL="742950" lvl="1" indent="-285750">
              <a:buFont typeface="Arial" panose="020B0604020202020204" pitchFamily="34" charset="0"/>
              <a:buChar char="•"/>
            </a:pPr>
            <a:r>
              <a:rPr lang="en-US" sz="2400" dirty="0"/>
              <a:t>A term has at most one leader; might have no leader</a:t>
            </a:r>
          </a:p>
          <a:p>
            <a:endParaRPr lang="en-US" sz="2400" dirty="0"/>
          </a:p>
          <a:p>
            <a:r>
              <a:rPr lang="en-US" sz="2800" b="1" dirty="0"/>
              <a:t>Each server maintains current term value </a:t>
            </a:r>
          </a:p>
          <a:p>
            <a:endParaRPr lang="en-US" sz="2400" dirty="0"/>
          </a:p>
          <a:p>
            <a:r>
              <a:rPr lang="en-US" sz="2800" b="1" dirty="0"/>
              <a:t>Key role of terms: identify obsolete information </a:t>
            </a:r>
          </a:p>
        </p:txBody>
      </p:sp>
    </p:spTree>
    <p:extLst>
      <p:ext uri="{BB962C8B-B14F-4D97-AF65-F5344CB8AC3E}">
        <p14:creationId xmlns:p14="http://schemas.microsoft.com/office/powerpoint/2010/main" val="19042937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2F393-D8BC-9D7B-3FDF-32D1933AD0D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EDF6F76-5A9C-F9C3-FD15-830EAADA49B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Leader State Transition</a:t>
            </a:r>
          </a:p>
        </p:txBody>
      </p:sp>
      <p:sp>
        <p:nvSpPr>
          <p:cNvPr id="8" name="Slide Number Placeholder 4">
            <a:extLst>
              <a:ext uri="{FF2B5EF4-FFF2-40B4-BE49-F238E27FC236}">
                <a16:creationId xmlns:a16="http://schemas.microsoft.com/office/drawing/2014/main" id="{ABE7E709-556E-E045-D90E-BCB1CA5AE65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a:p>
        </p:txBody>
      </p:sp>
      <p:sp>
        <p:nvSpPr>
          <p:cNvPr id="3" name="TextBox 2">
            <a:extLst>
              <a:ext uri="{FF2B5EF4-FFF2-40B4-BE49-F238E27FC236}">
                <a16:creationId xmlns:a16="http://schemas.microsoft.com/office/drawing/2014/main" id="{F7D87799-2BC2-DE5B-3C4D-7B4912A7A73D}"/>
              </a:ext>
            </a:extLst>
          </p:cNvPr>
          <p:cNvSpPr txBox="1"/>
          <p:nvPr/>
        </p:nvSpPr>
        <p:spPr>
          <a:xfrm>
            <a:off x="250115" y="914401"/>
            <a:ext cx="10991625" cy="1938992"/>
          </a:xfrm>
          <a:prstGeom prst="rect">
            <a:avLst/>
          </a:prstGeom>
          <a:noFill/>
        </p:spPr>
        <p:txBody>
          <a:bodyPr wrap="square">
            <a:spAutoFit/>
          </a:bodyPr>
          <a:lstStyle/>
          <a:p>
            <a:pPr marL="514350" indent="-514350">
              <a:buFont typeface="+mj-lt"/>
              <a:buAutoNum type="arabicPeriod"/>
            </a:pPr>
            <a:r>
              <a:rPr lang="en-US" sz="2400" dirty="0"/>
              <a:t>Servers start as followers </a:t>
            </a:r>
          </a:p>
          <a:p>
            <a:pPr marL="514350" indent="-514350">
              <a:buFont typeface="+mj-lt"/>
              <a:buAutoNum type="arabicPeriod"/>
            </a:pPr>
            <a:r>
              <a:rPr lang="en-US" sz="2400" dirty="0"/>
              <a:t>Leaders send heartbeats (empty </a:t>
            </a:r>
            <a:r>
              <a:rPr lang="en-US" sz="2400" dirty="0" err="1"/>
              <a:t>AppendEntries</a:t>
            </a:r>
            <a:r>
              <a:rPr lang="en-US" sz="2400" dirty="0"/>
              <a:t> RPCs) to maintain authority over followers </a:t>
            </a:r>
          </a:p>
          <a:p>
            <a:pPr marL="514350" indent="-514350">
              <a:buFont typeface="+mj-lt"/>
              <a:buAutoNum type="arabicPeriod"/>
            </a:pPr>
            <a:r>
              <a:rPr lang="en-US" sz="2400" dirty="0"/>
              <a:t>If election Timeout elapses with no RPCs (100-500ms), follower assumes leader has crashed and starts new election</a:t>
            </a:r>
          </a:p>
        </p:txBody>
      </p:sp>
      <p:pic>
        <p:nvPicPr>
          <p:cNvPr id="4" name="object 4">
            <a:extLst>
              <a:ext uri="{FF2B5EF4-FFF2-40B4-BE49-F238E27FC236}">
                <a16:creationId xmlns:a16="http://schemas.microsoft.com/office/drawing/2014/main" id="{4A75A896-237D-FAA8-8D64-472231E35D4C}"/>
              </a:ext>
            </a:extLst>
          </p:cNvPr>
          <p:cNvPicPr>
            <a:picLocks noChangeAspect="1"/>
          </p:cNvPicPr>
          <p:nvPr/>
        </p:nvPicPr>
        <p:blipFill>
          <a:blip r:embed="rId3" cstate="print"/>
          <a:stretch>
            <a:fillRect/>
          </a:stretch>
        </p:blipFill>
        <p:spPr>
          <a:xfrm>
            <a:off x="2637956" y="3265534"/>
            <a:ext cx="6215941" cy="2303647"/>
          </a:xfrm>
          <a:prstGeom prst="rect">
            <a:avLst/>
          </a:prstGeom>
        </p:spPr>
      </p:pic>
    </p:spTree>
    <p:extLst>
      <p:ext uri="{BB962C8B-B14F-4D97-AF65-F5344CB8AC3E}">
        <p14:creationId xmlns:p14="http://schemas.microsoft.com/office/powerpoint/2010/main" val="26374259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B6E4C-3657-DDC3-27B1-BFC22D24679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69587B4C-70A9-4D9F-64C7-9389BF07760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Elections</a:t>
            </a:r>
          </a:p>
        </p:txBody>
      </p:sp>
      <p:sp>
        <p:nvSpPr>
          <p:cNvPr id="8" name="Slide Number Placeholder 4">
            <a:extLst>
              <a:ext uri="{FF2B5EF4-FFF2-40B4-BE49-F238E27FC236}">
                <a16:creationId xmlns:a16="http://schemas.microsoft.com/office/drawing/2014/main" id="{345ECA6A-3549-01B5-0117-75B20002B18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a:p>
        </p:txBody>
      </p:sp>
      <p:sp>
        <p:nvSpPr>
          <p:cNvPr id="2" name="TextBox 1">
            <a:extLst>
              <a:ext uri="{FF2B5EF4-FFF2-40B4-BE49-F238E27FC236}">
                <a16:creationId xmlns:a16="http://schemas.microsoft.com/office/drawing/2014/main" id="{C418C5C9-2FE4-C872-E1A5-FE4595B02683}"/>
              </a:ext>
            </a:extLst>
          </p:cNvPr>
          <p:cNvSpPr txBox="1"/>
          <p:nvPr/>
        </p:nvSpPr>
        <p:spPr>
          <a:xfrm>
            <a:off x="58271" y="828339"/>
            <a:ext cx="11295529" cy="4278094"/>
          </a:xfrm>
          <a:prstGeom prst="rect">
            <a:avLst/>
          </a:prstGeom>
          <a:noFill/>
        </p:spPr>
        <p:txBody>
          <a:bodyPr wrap="square" rtlCol="0">
            <a:spAutoFit/>
          </a:bodyPr>
          <a:lstStyle/>
          <a:p>
            <a:r>
              <a:rPr lang="en-US" sz="2800" b="1" dirty="0"/>
              <a:t>Start election: </a:t>
            </a:r>
          </a:p>
          <a:p>
            <a:pPr marL="800100" lvl="1" indent="-342900">
              <a:buFont typeface="Arial" panose="020B0604020202020204" pitchFamily="34" charset="0"/>
              <a:buChar char="•"/>
            </a:pPr>
            <a:r>
              <a:rPr lang="en-US" sz="2400" dirty="0"/>
              <a:t>Increment current term, change to candidate state, vote for self</a:t>
            </a:r>
          </a:p>
          <a:p>
            <a:endParaRPr lang="en-US" sz="2400" dirty="0"/>
          </a:p>
          <a:p>
            <a:r>
              <a:rPr lang="en-US" sz="2400" dirty="0"/>
              <a:t> </a:t>
            </a:r>
            <a:r>
              <a:rPr lang="en-US" sz="2800" b="1" dirty="0"/>
              <a:t>Send Request Vote to all other servers, retry until either: </a:t>
            </a:r>
          </a:p>
          <a:p>
            <a:pPr lvl="1"/>
            <a:r>
              <a:rPr lang="en-US" sz="2400" dirty="0"/>
              <a:t>1. Receive votes from majority of servers: </a:t>
            </a:r>
          </a:p>
          <a:p>
            <a:pPr marL="1257300" lvl="2" indent="-342900">
              <a:buFont typeface="Arial" panose="020B0604020202020204" pitchFamily="34" charset="0"/>
              <a:buChar char="•"/>
            </a:pPr>
            <a:r>
              <a:rPr lang="en-US" sz="2400" dirty="0"/>
              <a:t>Become leader </a:t>
            </a:r>
          </a:p>
          <a:p>
            <a:pPr marL="1257300" lvl="2" indent="-342900">
              <a:buFont typeface="Arial" panose="020B0604020202020204" pitchFamily="34" charset="0"/>
              <a:buChar char="•"/>
            </a:pPr>
            <a:r>
              <a:rPr lang="en-US" sz="2400" dirty="0"/>
              <a:t>Send </a:t>
            </a:r>
            <a:r>
              <a:rPr lang="en-US" sz="2400" dirty="0" err="1"/>
              <a:t>AppendEntries</a:t>
            </a:r>
            <a:r>
              <a:rPr lang="en-US" sz="2400" dirty="0"/>
              <a:t> heartbeats to all other servers </a:t>
            </a:r>
          </a:p>
          <a:p>
            <a:pPr marL="458788" lvl="2"/>
            <a:r>
              <a:rPr lang="en-US" sz="2400" dirty="0"/>
              <a:t>2. Receive RPC from valid leader: </a:t>
            </a:r>
          </a:p>
          <a:p>
            <a:pPr marL="1257300" lvl="2" indent="-342900">
              <a:buFont typeface="Arial" panose="020B0604020202020204" pitchFamily="34" charset="0"/>
              <a:buChar char="•"/>
            </a:pPr>
            <a:r>
              <a:rPr lang="en-US" sz="2400" dirty="0"/>
              <a:t>Return to follower state </a:t>
            </a:r>
          </a:p>
          <a:p>
            <a:pPr lvl="1"/>
            <a:r>
              <a:rPr lang="en-US" sz="2400" dirty="0"/>
              <a:t>3. No-one win selection (election timeout elapses): </a:t>
            </a:r>
          </a:p>
          <a:p>
            <a:pPr marL="1257300" lvl="2" indent="-342900">
              <a:buFont typeface="Arial" panose="020B0604020202020204" pitchFamily="34" charset="0"/>
              <a:buChar char="•"/>
            </a:pPr>
            <a:r>
              <a:rPr lang="en-US" sz="2400" dirty="0"/>
              <a:t>Increment term, start new election </a:t>
            </a:r>
          </a:p>
        </p:txBody>
      </p:sp>
    </p:spTree>
    <p:extLst>
      <p:ext uri="{BB962C8B-B14F-4D97-AF65-F5344CB8AC3E}">
        <p14:creationId xmlns:p14="http://schemas.microsoft.com/office/powerpoint/2010/main" val="2589717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3" end="3"/>
                                            </p:txEl>
                                          </p:spTgt>
                                        </p:tgtEl>
                                        <p:attrNameLst>
                                          <p:attrName>style.visibility</p:attrName>
                                        </p:attrNameLst>
                                      </p:cBhvr>
                                      <p:to>
                                        <p:strVal val="visible"/>
                                      </p:to>
                                    </p:set>
                                    <p:animEffect transition="in" filter="dissolve">
                                      <p:cBhvr>
                                        <p:cTn id="7" dur="500"/>
                                        <p:tgtEl>
                                          <p:spTgt spid="2">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animEffect transition="in" filter="dissolve">
                                      <p:cBhvr>
                                        <p:cTn id="13" dur="500"/>
                                        <p:tgtEl>
                                          <p:spTgt spid="2">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6" end="6"/>
                                            </p:txEl>
                                          </p:spTgt>
                                        </p:tgtEl>
                                        <p:attrNameLst>
                                          <p:attrName>style.visibility</p:attrName>
                                        </p:attrNameLst>
                                      </p:cBhvr>
                                      <p:to>
                                        <p:strVal val="visible"/>
                                      </p:to>
                                    </p:set>
                                    <p:animEffect transition="in" filter="dissolve">
                                      <p:cBhvr>
                                        <p:cTn id="16" dur="500"/>
                                        <p:tgtEl>
                                          <p:spTgt spid="2">
                                            <p:txEl>
                                              <p:pRg st="6" end="6"/>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2">
                                            <p:txEl>
                                              <p:pRg st="7" end="7"/>
                                            </p:txEl>
                                          </p:spTgt>
                                        </p:tgtEl>
                                        <p:attrNameLst>
                                          <p:attrName>style.visibility</p:attrName>
                                        </p:attrNameLst>
                                      </p:cBhvr>
                                      <p:to>
                                        <p:strVal val="visible"/>
                                      </p:to>
                                    </p:set>
                                    <p:animEffect transition="in" filter="dissolve">
                                      <p:cBhvr>
                                        <p:cTn id="19" dur="500"/>
                                        <p:tgtEl>
                                          <p:spTgt spid="2">
                                            <p:txEl>
                                              <p:pRg st="7" end="7"/>
                                            </p:txEl>
                                          </p:spTgt>
                                        </p:tgtEl>
                                      </p:cBhvr>
                                    </p:animEffect>
                                  </p:childTnLst>
                                </p:cTn>
                              </p:par>
                              <p:par>
                                <p:cTn id="20" presetID="9" presetClass="entr" presetSubtype="0" fill="hold" nodeType="withEffect">
                                  <p:stCondLst>
                                    <p:cond delay="0"/>
                                  </p:stCondLst>
                                  <p:childTnLst>
                                    <p:set>
                                      <p:cBhvr>
                                        <p:cTn id="21" dur="1" fill="hold">
                                          <p:stCondLst>
                                            <p:cond delay="0"/>
                                          </p:stCondLst>
                                        </p:cTn>
                                        <p:tgtEl>
                                          <p:spTgt spid="2">
                                            <p:txEl>
                                              <p:pRg st="8" end="8"/>
                                            </p:txEl>
                                          </p:spTgt>
                                        </p:tgtEl>
                                        <p:attrNameLst>
                                          <p:attrName>style.visibility</p:attrName>
                                        </p:attrNameLst>
                                      </p:cBhvr>
                                      <p:to>
                                        <p:strVal val="visible"/>
                                      </p:to>
                                    </p:set>
                                    <p:animEffect transition="in" filter="dissolve">
                                      <p:cBhvr>
                                        <p:cTn id="22" dur="500"/>
                                        <p:tgtEl>
                                          <p:spTgt spid="2">
                                            <p:txEl>
                                              <p:pRg st="8" end="8"/>
                                            </p:txEl>
                                          </p:spTgt>
                                        </p:tgtEl>
                                      </p:cBhvr>
                                    </p:animEffect>
                                  </p:childTnLst>
                                </p:cTn>
                              </p:par>
                              <p:par>
                                <p:cTn id="23" presetID="9" presetClass="entr" presetSubtype="0" fill="hold" nodeType="withEffect">
                                  <p:stCondLst>
                                    <p:cond delay="0"/>
                                  </p:stCondLst>
                                  <p:childTnLst>
                                    <p:set>
                                      <p:cBhvr>
                                        <p:cTn id="24" dur="1" fill="hold">
                                          <p:stCondLst>
                                            <p:cond delay="0"/>
                                          </p:stCondLst>
                                        </p:cTn>
                                        <p:tgtEl>
                                          <p:spTgt spid="2">
                                            <p:txEl>
                                              <p:pRg st="9" end="9"/>
                                            </p:txEl>
                                          </p:spTgt>
                                        </p:tgtEl>
                                        <p:attrNameLst>
                                          <p:attrName>style.visibility</p:attrName>
                                        </p:attrNameLst>
                                      </p:cBhvr>
                                      <p:to>
                                        <p:strVal val="visible"/>
                                      </p:to>
                                    </p:set>
                                    <p:animEffect transition="in" filter="dissolve">
                                      <p:cBhvr>
                                        <p:cTn id="25" dur="500"/>
                                        <p:tgtEl>
                                          <p:spTgt spid="2">
                                            <p:txEl>
                                              <p:pRg st="9" end="9"/>
                                            </p:txEl>
                                          </p:spTgt>
                                        </p:tgtEl>
                                      </p:cBhvr>
                                    </p:animEffect>
                                  </p:childTnLst>
                                </p:cTn>
                              </p:par>
                              <p:par>
                                <p:cTn id="26" presetID="9" presetClass="entr" presetSubtype="0" fill="hold" nodeType="withEffect">
                                  <p:stCondLst>
                                    <p:cond delay="0"/>
                                  </p:stCondLst>
                                  <p:childTnLst>
                                    <p:set>
                                      <p:cBhvr>
                                        <p:cTn id="27" dur="1" fill="hold">
                                          <p:stCondLst>
                                            <p:cond delay="0"/>
                                          </p:stCondLst>
                                        </p:cTn>
                                        <p:tgtEl>
                                          <p:spTgt spid="2">
                                            <p:txEl>
                                              <p:pRg st="10" end="10"/>
                                            </p:txEl>
                                          </p:spTgt>
                                        </p:tgtEl>
                                        <p:attrNameLst>
                                          <p:attrName>style.visibility</p:attrName>
                                        </p:attrNameLst>
                                      </p:cBhvr>
                                      <p:to>
                                        <p:strVal val="visible"/>
                                      </p:to>
                                    </p:set>
                                    <p:animEffect transition="in" filter="dissolve">
                                      <p:cBhvr>
                                        <p:cTn id="28" dur="500"/>
                                        <p:tgtEl>
                                          <p:spTgt spid="2">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2D25E-BF5F-F9DB-33E3-251EB0F9D16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55AEA33-C1E1-8708-BDA5-3A3F5F52E2B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Elections</a:t>
            </a:r>
          </a:p>
        </p:txBody>
      </p:sp>
      <p:sp>
        <p:nvSpPr>
          <p:cNvPr id="8" name="Slide Number Placeholder 4">
            <a:extLst>
              <a:ext uri="{FF2B5EF4-FFF2-40B4-BE49-F238E27FC236}">
                <a16:creationId xmlns:a16="http://schemas.microsoft.com/office/drawing/2014/main" id="{DE0F974A-4E52-13AD-270A-6B4F7DE3150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sp>
        <p:nvSpPr>
          <p:cNvPr id="3" name="TextBox 2">
            <a:extLst>
              <a:ext uri="{FF2B5EF4-FFF2-40B4-BE49-F238E27FC236}">
                <a16:creationId xmlns:a16="http://schemas.microsoft.com/office/drawing/2014/main" id="{1CF4E90F-5F03-513D-C52D-6CF9A4587C01}"/>
              </a:ext>
            </a:extLst>
          </p:cNvPr>
          <p:cNvSpPr txBox="1"/>
          <p:nvPr/>
        </p:nvSpPr>
        <p:spPr>
          <a:xfrm>
            <a:off x="196325" y="914401"/>
            <a:ext cx="10744201" cy="3908762"/>
          </a:xfrm>
          <a:prstGeom prst="rect">
            <a:avLst/>
          </a:prstGeom>
          <a:noFill/>
        </p:spPr>
        <p:txBody>
          <a:bodyPr wrap="square">
            <a:spAutoFit/>
          </a:bodyPr>
          <a:lstStyle/>
          <a:p>
            <a:r>
              <a:rPr lang="en-US" sz="2800" b="1" dirty="0"/>
              <a:t>Safety: allow at most one winner per term </a:t>
            </a:r>
          </a:p>
          <a:p>
            <a:pPr marL="800100" lvl="1" indent="-342900">
              <a:buFont typeface="Arial" panose="020B0604020202020204" pitchFamily="34" charset="0"/>
              <a:buChar char="•"/>
            </a:pPr>
            <a:r>
              <a:rPr lang="en-US" sz="2400" dirty="0"/>
              <a:t> Each server votes only once per term (persists on disk) </a:t>
            </a:r>
          </a:p>
          <a:p>
            <a:pPr marL="800100" lvl="1" indent="-342900">
              <a:buFont typeface="Arial" panose="020B0604020202020204" pitchFamily="34" charset="0"/>
              <a:buChar char="•"/>
            </a:pPr>
            <a:r>
              <a:rPr lang="en-US" sz="2400" dirty="0"/>
              <a:t> Two different candidates can’t get majorities in same term</a:t>
            </a:r>
          </a:p>
          <a:p>
            <a:endParaRPr lang="en-US" sz="2400" dirty="0"/>
          </a:p>
          <a:p>
            <a:endParaRPr lang="en-US" sz="2400" dirty="0"/>
          </a:p>
          <a:p>
            <a:endParaRPr lang="en-US" sz="2400" dirty="0"/>
          </a:p>
          <a:p>
            <a:r>
              <a:rPr lang="en-US" sz="2800" b="1" dirty="0"/>
              <a:t>Liveness: some candidate eventually wins </a:t>
            </a:r>
          </a:p>
          <a:p>
            <a:pPr marL="800100" lvl="1" indent="-342900">
              <a:buFont typeface="Arial" panose="020B0604020202020204" pitchFamily="34" charset="0"/>
              <a:buChar char="•"/>
            </a:pPr>
            <a:r>
              <a:rPr lang="en-US" sz="2400" dirty="0"/>
              <a:t>Each choose election timeouts randomly in [T, 2T]</a:t>
            </a:r>
          </a:p>
          <a:p>
            <a:pPr marL="800100" lvl="1" indent="-342900">
              <a:buFont typeface="Arial" panose="020B0604020202020204" pitchFamily="34" charset="0"/>
              <a:buChar char="•"/>
            </a:pPr>
            <a:r>
              <a:rPr lang="en-US" sz="2400" dirty="0"/>
              <a:t>One usually initiates and wins election before others start </a:t>
            </a:r>
          </a:p>
          <a:p>
            <a:pPr marL="800100" lvl="1" indent="-342900">
              <a:buFont typeface="Arial" panose="020B0604020202020204" pitchFamily="34" charset="0"/>
              <a:buChar char="•"/>
            </a:pPr>
            <a:r>
              <a:rPr lang="en-US" sz="2400" dirty="0"/>
              <a:t>Works well if T &gt;&gt; network RTT</a:t>
            </a:r>
          </a:p>
        </p:txBody>
      </p:sp>
      <p:pic>
        <p:nvPicPr>
          <p:cNvPr id="4" name="object 5">
            <a:extLst>
              <a:ext uri="{FF2B5EF4-FFF2-40B4-BE49-F238E27FC236}">
                <a16:creationId xmlns:a16="http://schemas.microsoft.com/office/drawing/2014/main" id="{380FA5BE-6813-2CEB-FCED-32CDE7F9772E}"/>
              </a:ext>
            </a:extLst>
          </p:cNvPr>
          <p:cNvPicPr>
            <a:picLocks noChangeAspect="1"/>
          </p:cNvPicPr>
          <p:nvPr/>
        </p:nvPicPr>
        <p:blipFill>
          <a:blip r:embed="rId3" cstate="print"/>
          <a:stretch>
            <a:fillRect/>
          </a:stretch>
        </p:blipFill>
        <p:spPr>
          <a:xfrm>
            <a:off x="2889785" y="2264129"/>
            <a:ext cx="5081632" cy="678028"/>
          </a:xfrm>
          <a:prstGeom prst="rect">
            <a:avLst/>
          </a:prstGeom>
        </p:spPr>
      </p:pic>
    </p:spTree>
    <p:extLst>
      <p:ext uri="{BB962C8B-B14F-4D97-AF65-F5344CB8AC3E}">
        <p14:creationId xmlns:p14="http://schemas.microsoft.com/office/powerpoint/2010/main" val="31516461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animEffect transition="in" filter="dissolve">
                                      <p:cBhvr>
                                        <p:cTn id="7" dur="500"/>
                                        <p:tgtEl>
                                          <p:spTgt spid="3">
                                            <p:txEl>
                                              <p:pRg st="6" end="6"/>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7" end="7"/>
                                            </p:txEl>
                                          </p:spTgt>
                                        </p:tgtEl>
                                        <p:attrNameLst>
                                          <p:attrName>style.visibility</p:attrName>
                                        </p:attrNameLst>
                                      </p:cBhvr>
                                      <p:to>
                                        <p:strVal val="visible"/>
                                      </p:to>
                                    </p:set>
                                    <p:animEffect transition="in" filter="dissolve">
                                      <p:cBhvr>
                                        <p:cTn id="10" dur="500"/>
                                        <p:tgtEl>
                                          <p:spTgt spid="3">
                                            <p:txEl>
                                              <p:pRg st="7" end="7"/>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animEffect transition="in" filter="dissolve">
                                      <p:cBhvr>
                                        <p:cTn id="13" dur="500"/>
                                        <p:tgtEl>
                                          <p:spTgt spid="3">
                                            <p:txEl>
                                              <p:pRg st="8" end="8"/>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9" end="9"/>
                                            </p:txEl>
                                          </p:spTgt>
                                        </p:tgtEl>
                                        <p:attrNameLst>
                                          <p:attrName>style.visibility</p:attrName>
                                        </p:attrNameLst>
                                      </p:cBhvr>
                                      <p:to>
                                        <p:strVal val="visible"/>
                                      </p:to>
                                    </p:set>
                                    <p:animEffect transition="in" filter="dissolve">
                                      <p:cBhvr>
                                        <p:cTn id="16" dur="5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E9ED7-3772-3596-99F2-9F32323125D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D9FD9D9-5CEB-726E-FF97-864EEC73134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Election Success </a:t>
            </a:r>
          </a:p>
        </p:txBody>
      </p:sp>
      <p:sp>
        <p:nvSpPr>
          <p:cNvPr id="8" name="Slide Number Placeholder 4">
            <a:extLst>
              <a:ext uri="{FF2B5EF4-FFF2-40B4-BE49-F238E27FC236}">
                <a16:creationId xmlns:a16="http://schemas.microsoft.com/office/drawing/2014/main" id="{4D632C84-AC14-BE97-F833-F2393FB7181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a:p>
        </p:txBody>
      </p:sp>
      <p:sp>
        <p:nvSpPr>
          <p:cNvPr id="2" name="TextBox 1">
            <a:extLst>
              <a:ext uri="{FF2B5EF4-FFF2-40B4-BE49-F238E27FC236}">
                <a16:creationId xmlns:a16="http://schemas.microsoft.com/office/drawing/2014/main" id="{9377D12E-C23C-4D63-5CB9-08661CDAED0F}"/>
              </a:ext>
            </a:extLst>
          </p:cNvPr>
          <p:cNvSpPr txBox="1"/>
          <p:nvPr/>
        </p:nvSpPr>
        <p:spPr>
          <a:xfrm>
            <a:off x="116411" y="726888"/>
            <a:ext cx="10759571" cy="5816977"/>
          </a:xfrm>
          <a:prstGeom prst="rect">
            <a:avLst/>
          </a:prstGeom>
          <a:noFill/>
        </p:spPr>
        <p:txBody>
          <a:bodyPr wrap="square" rtlCol="0">
            <a:spAutoFit/>
          </a:bodyPr>
          <a:lstStyle/>
          <a:p>
            <a:r>
              <a:rPr lang="en-US" sz="2800" b="1" dirty="0"/>
              <a:t>How does a server learn about newly elected leader? </a:t>
            </a:r>
          </a:p>
          <a:p>
            <a:pPr marL="800100" lvl="1" indent="-342900">
              <a:buFont typeface="Arial" panose="020B0604020202020204" pitchFamily="34" charset="0"/>
              <a:buChar char="•"/>
            </a:pPr>
            <a:r>
              <a:rPr lang="en-US" sz="2400" dirty="0"/>
              <a:t>new leader sees yes votes from majority </a:t>
            </a:r>
          </a:p>
          <a:p>
            <a:pPr marL="800100" lvl="1" indent="-342900">
              <a:buFont typeface="Arial" panose="020B0604020202020204" pitchFamily="34" charset="0"/>
              <a:buChar char="•"/>
            </a:pPr>
            <a:r>
              <a:rPr lang="en-US" sz="2400" dirty="0"/>
              <a:t>others see </a:t>
            </a:r>
            <a:r>
              <a:rPr lang="en-US" sz="2400" dirty="0" err="1"/>
              <a:t>AppendEntries</a:t>
            </a:r>
            <a:r>
              <a:rPr lang="en-US" sz="2400" dirty="0"/>
              <a:t> heart-beats with a higher term number </a:t>
            </a:r>
          </a:p>
          <a:p>
            <a:pPr marL="1257300" lvl="2" indent="-342900">
              <a:buFont typeface="Courier New" panose="02070309020205020404" pitchFamily="49" charset="0"/>
              <a:buChar char="o"/>
            </a:pPr>
            <a:r>
              <a:rPr lang="en-US" sz="2400" dirty="0"/>
              <a:t>i.e. from the new leader </a:t>
            </a:r>
          </a:p>
          <a:p>
            <a:pPr marL="800100" lvl="1" indent="-342900">
              <a:buFont typeface="Arial" panose="020B0604020202020204" pitchFamily="34" charset="0"/>
              <a:buChar char="•"/>
            </a:pPr>
            <a:r>
              <a:rPr lang="en-US" sz="2400" dirty="0"/>
              <a:t>the heart-beats suppress any new election</a:t>
            </a:r>
          </a:p>
          <a:p>
            <a:endParaRPr lang="en-US" sz="2400" dirty="0"/>
          </a:p>
          <a:p>
            <a:r>
              <a:rPr lang="en-US" sz="2800" b="1" dirty="0"/>
              <a:t>An election may not succeed for two reasons: </a:t>
            </a:r>
            <a:endParaRPr lang="en-US" sz="2400" b="1" dirty="0"/>
          </a:p>
          <a:p>
            <a:pPr marL="800100" lvl="1" indent="-342900">
              <a:buFont typeface="Arial" panose="020B0604020202020204" pitchFamily="34" charset="0"/>
              <a:buChar char="•"/>
            </a:pPr>
            <a:r>
              <a:rPr lang="en-US" sz="2400" dirty="0"/>
              <a:t>less than a majority of servers are reachable </a:t>
            </a:r>
          </a:p>
          <a:p>
            <a:pPr marL="800100" lvl="1" indent="-342900">
              <a:buFont typeface="Arial" panose="020B0604020202020204" pitchFamily="34" charset="0"/>
              <a:buChar char="•"/>
            </a:pPr>
            <a:r>
              <a:rPr lang="en-US" sz="2400" dirty="0"/>
              <a:t>simultaneous candidates split the vote, none gets majority</a:t>
            </a:r>
          </a:p>
          <a:p>
            <a:pPr marL="800100" lvl="1" indent="-342900">
              <a:buFont typeface="Arial" panose="020B0604020202020204" pitchFamily="34" charset="0"/>
              <a:buChar char="•"/>
            </a:pPr>
            <a:endParaRPr lang="en-US" sz="2400" dirty="0"/>
          </a:p>
          <a:p>
            <a:r>
              <a:rPr lang="en-US" sz="2800" b="1" dirty="0"/>
              <a:t>Solution: Randomization</a:t>
            </a:r>
          </a:p>
          <a:p>
            <a:pPr marL="800100" lvl="1" indent="-342900">
              <a:buFont typeface="Arial" panose="020B0604020202020204" pitchFamily="34" charset="0"/>
              <a:buChar char="•"/>
            </a:pPr>
            <a:r>
              <a:rPr lang="en-US" sz="2400" dirty="0"/>
              <a:t>each server picks a random election timeout</a:t>
            </a:r>
          </a:p>
          <a:p>
            <a:pPr marL="800100" lvl="1" indent="-342900">
              <a:buFont typeface="Arial" panose="020B0604020202020204" pitchFamily="34" charset="0"/>
              <a:buChar char="•"/>
            </a:pPr>
            <a:r>
              <a:rPr lang="en-US" sz="2400" dirty="0"/>
              <a:t>how to choose the election timeout?</a:t>
            </a:r>
          </a:p>
          <a:p>
            <a:pPr marL="1257300" lvl="2" indent="-342900">
              <a:buFont typeface="Courier New" panose="02070309020205020404" pitchFamily="49" charset="0"/>
              <a:buChar char="o"/>
            </a:pPr>
            <a:r>
              <a:rPr lang="en-US" sz="2400" dirty="0"/>
              <a:t>at least a few heartbeat intervals</a:t>
            </a:r>
          </a:p>
          <a:p>
            <a:pPr marL="1257300" lvl="2" indent="-342900">
              <a:buFont typeface="Courier New" panose="02070309020205020404" pitchFamily="49" charset="0"/>
              <a:buChar char="o"/>
            </a:pPr>
            <a:r>
              <a:rPr lang="en-US" sz="2400" dirty="0"/>
              <a:t>long enough to let one candidate succeed</a:t>
            </a:r>
          </a:p>
        </p:txBody>
      </p:sp>
    </p:spTree>
    <p:extLst>
      <p:ext uri="{BB962C8B-B14F-4D97-AF65-F5344CB8AC3E}">
        <p14:creationId xmlns:p14="http://schemas.microsoft.com/office/powerpoint/2010/main" val="1751667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6" end="6"/>
                                            </p:txEl>
                                          </p:spTgt>
                                        </p:tgtEl>
                                        <p:attrNameLst>
                                          <p:attrName>style.visibility</p:attrName>
                                        </p:attrNameLst>
                                      </p:cBhvr>
                                      <p:to>
                                        <p:strVal val="visible"/>
                                      </p:to>
                                    </p:set>
                                    <p:animEffect transition="in" filter="dissolve">
                                      <p:cBhvr>
                                        <p:cTn id="7" dur="500"/>
                                        <p:tgtEl>
                                          <p:spTgt spid="2">
                                            <p:txEl>
                                              <p:pRg st="6" end="6"/>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7" end="7"/>
                                            </p:txEl>
                                          </p:spTgt>
                                        </p:tgtEl>
                                        <p:attrNameLst>
                                          <p:attrName>style.visibility</p:attrName>
                                        </p:attrNameLst>
                                      </p:cBhvr>
                                      <p:to>
                                        <p:strVal val="visible"/>
                                      </p:to>
                                    </p:set>
                                    <p:animEffect transition="in" filter="dissolve">
                                      <p:cBhvr>
                                        <p:cTn id="10" dur="500"/>
                                        <p:tgtEl>
                                          <p:spTgt spid="2">
                                            <p:txEl>
                                              <p:pRg st="7" end="7"/>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8" end="8"/>
                                            </p:txEl>
                                          </p:spTgt>
                                        </p:tgtEl>
                                        <p:attrNameLst>
                                          <p:attrName>style.visibility</p:attrName>
                                        </p:attrNameLst>
                                      </p:cBhvr>
                                      <p:to>
                                        <p:strVal val="visible"/>
                                      </p:to>
                                    </p:set>
                                    <p:animEffect transition="in" filter="dissolve">
                                      <p:cBhvr>
                                        <p:cTn id="13" dur="500"/>
                                        <p:tgtEl>
                                          <p:spTgt spid="2">
                                            <p:txEl>
                                              <p:pRg st="8" end="8"/>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2">
                                            <p:txEl>
                                              <p:pRg st="10" end="10"/>
                                            </p:txEl>
                                          </p:spTgt>
                                        </p:tgtEl>
                                        <p:attrNameLst>
                                          <p:attrName>style.visibility</p:attrName>
                                        </p:attrNameLst>
                                      </p:cBhvr>
                                      <p:to>
                                        <p:strVal val="visible"/>
                                      </p:to>
                                    </p:set>
                                    <p:animEffect transition="in" filter="dissolve">
                                      <p:cBhvr>
                                        <p:cTn id="18" dur="500"/>
                                        <p:tgtEl>
                                          <p:spTgt spid="2">
                                            <p:txEl>
                                              <p:pRg st="10" end="10"/>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2">
                                            <p:txEl>
                                              <p:pRg st="11" end="11"/>
                                            </p:txEl>
                                          </p:spTgt>
                                        </p:tgtEl>
                                        <p:attrNameLst>
                                          <p:attrName>style.visibility</p:attrName>
                                        </p:attrNameLst>
                                      </p:cBhvr>
                                      <p:to>
                                        <p:strVal val="visible"/>
                                      </p:to>
                                    </p:set>
                                    <p:animEffect transition="in" filter="dissolve">
                                      <p:cBhvr>
                                        <p:cTn id="21" dur="500"/>
                                        <p:tgtEl>
                                          <p:spTgt spid="2">
                                            <p:txEl>
                                              <p:pRg st="11" end="11"/>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2">
                                            <p:txEl>
                                              <p:pRg st="12" end="12"/>
                                            </p:txEl>
                                          </p:spTgt>
                                        </p:tgtEl>
                                        <p:attrNameLst>
                                          <p:attrName>style.visibility</p:attrName>
                                        </p:attrNameLst>
                                      </p:cBhvr>
                                      <p:to>
                                        <p:strVal val="visible"/>
                                      </p:to>
                                    </p:set>
                                    <p:animEffect transition="in" filter="dissolve">
                                      <p:cBhvr>
                                        <p:cTn id="24" dur="500"/>
                                        <p:tgtEl>
                                          <p:spTgt spid="2">
                                            <p:txEl>
                                              <p:pRg st="12" end="12"/>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2">
                                            <p:txEl>
                                              <p:pRg st="13" end="13"/>
                                            </p:txEl>
                                          </p:spTgt>
                                        </p:tgtEl>
                                        <p:attrNameLst>
                                          <p:attrName>style.visibility</p:attrName>
                                        </p:attrNameLst>
                                      </p:cBhvr>
                                      <p:to>
                                        <p:strVal val="visible"/>
                                      </p:to>
                                    </p:set>
                                    <p:animEffect transition="in" filter="dissolve">
                                      <p:cBhvr>
                                        <p:cTn id="27" dur="500"/>
                                        <p:tgtEl>
                                          <p:spTgt spid="2">
                                            <p:txEl>
                                              <p:pRg st="13" end="13"/>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2">
                                            <p:txEl>
                                              <p:pRg st="14" end="14"/>
                                            </p:txEl>
                                          </p:spTgt>
                                        </p:tgtEl>
                                        <p:attrNameLst>
                                          <p:attrName>style.visibility</p:attrName>
                                        </p:attrNameLst>
                                      </p:cBhvr>
                                      <p:to>
                                        <p:strVal val="visible"/>
                                      </p:to>
                                    </p:set>
                                    <p:animEffect transition="in" filter="dissolve">
                                      <p:cBhvr>
                                        <p:cTn id="30" dur="500"/>
                                        <p:tgtEl>
                                          <p:spTgt spid="2">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DC4BB-C916-5B8D-E74A-4F3AD61A655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C1C3907-C6B2-A62A-2E55-34F671272A4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Log?</a:t>
            </a:r>
          </a:p>
        </p:txBody>
      </p:sp>
      <p:sp>
        <p:nvSpPr>
          <p:cNvPr id="8" name="Slide Number Placeholder 4">
            <a:extLst>
              <a:ext uri="{FF2B5EF4-FFF2-40B4-BE49-F238E27FC236}">
                <a16:creationId xmlns:a16="http://schemas.microsoft.com/office/drawing/2014/main" id="{8934716F-A06E-A3DC-70C2-19043DE99FC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a:p>
        </p:txBody>
      </p:sp>
      <p:sp>
        <p:nvSpPr>
          <p:cNvPr id="3" name="TextBox 2">
            <a:extLst>
              <a:ext uri="{FF2B5EF4-FFF2-40B4-BE49-F238E27FC236}">
                <a16:creationId xmlns:a16="http://schemas.microsoft.com/office/drawing/2014/main" id="{A31D8777-48A6-FD5A-2333-D896BE0C2D55}"/>
              </a:ext>
            </a:extLst>
          </p:cNvPr>
          <p:cNvSpPr txBox="1"/>
          <p:nvPr/>
        </p:nvSpPr>
        <p:spPr>
          <a:xfrm>
            <a:off x="217842" y="914401"/>
            <a:ext cx="11239051" cy="4647426"/>
          </a:xfrm>
          <a:prstGeom prst="rect">
            <a:avLst/>
          </a:prstGeom>
          <a:noFill/>
        </p:spPr>
        <p:txBody>
          <a:bodyPr wrap="square">
            <a:spAutoFit/>
          </a:bodyPr>
          <a:lstStyle/>
          <a:p>
            <a:r>
              <a:rPr lang="en-US" sz="2800" b="1" dirty="0"/>
              <a:t>The log orders the commands </a:t>
            </a:r>
          </a:p>
          <a:p>
            <a:pPr marL="800100" lvl="1" indent="-342900">
              <a:buFont typeface="Arial" panose="020B0604020202020204" pitchFamily="34" charset="0"/>
              <a:buChar char="•"/>
            </a:pPr>
            <a:r>
              <a:rPr lang="en-US" sz="2400" dirty="0"/>
              <a:t>to help replicas agree on a single execution order </a:t>
            </a:r>
          </a:p>
          <a:p>
            <a:pPr marL="800100" lvl="1" indent="-342900">
              <a:buFont typeface="Arial" panose="020B0604020202020204" pitchFamily="34" charset="0"/>
              <a:buChar char="•"/>
            </a:pPr>
            <a:r>
              <a:rPr lang="en-US" sz="2400" dirty="0"/>
              <a:t>to help the leader ensure followers have identical logs </a:t>
            </a:r>
          </a:p>
          <a:p>
            <a:endParaRPr lang="en-US" sz="2400" dirty="0"/>
          </a:p>
          <a:p>
            <a:r>
              <a:rPr lang="en-US" sz="2800" b="1" dirty="0"/>
              <a:t>The log stores tentative commands until committed </a:t>
            </a:r>
          </a:p>
          <a:p>
            <a:endParaRPr lang="en-US" sz="2800" b="1" dirty="0"/>
          </a:p>
          <a:p>
            <a:r>
              <a:rPr lang="en-US" sz="2800" b="1" dirty="0"/>
              <a:t>The log stores commands in case leader must re-send to followers </a:t>
            </a:r>
          </a:p>
          <a:p>
            <a:endParaRPr lang="en-US" sz="2800" b="1" dirty="0"/>
          </a:p>
          <a:p>
            <a:r>
              <a:rPr lang="en-US" sz="2800" b="1" dirty="0"/>
              <a:t>The log stores commands persistently for replay after reboot</a:t>
            </a:r>
          </a:p>
          <a:p>
            <a:endParaRPr lang="en-US" sz="2800" b="1" dirty="0"/>
          </a:p>
          <a:p>
            <a:r>
              <a:rPr lang="en-US" sz="2800" b="1" dirty="0"/>
              <a:t>Are the servers' logs exact replicas of each other?</a:t>
            </a:r>
          </a:p>
        </p:txBody>
      </p:sp>
    </p:spTree>
    <p:extLst>
      <p:ext uri="{BB962C8B-B14F-4D97-AF65-F5344CB8AC3E}">
        <p14:creationId xmlns:p14="http://schemas.microsoft.com/office/powerpoint/2010/main" val="3608257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6" end="6"/>
                                            </p:txEl>
                                          </p:spTgt>
                                        </p:tgtEl>
                                        <p:attrNameLst>
                                          <p:attrName>style.visibility</p:attrName>
                                        </p:attrNameLst>
                                      </p:cBhvr>
                                      <p:to>
                                        <p:strVal val="visible"/>
                                      </p:to>
                                    </p:set>
                                    <p:animEffect transition="in" filter="dissolve">
                                      <p:cBhvr>
                                        <p:cTn id="12" dur="500"/>
                                        <p:tgtEl>
                                          <p:spTgt spid="3">
                                            <p:txEl>
                                              <p:pRg st="6" end="6"/>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3">
                                            <p:txEl>
                                              <p:pRg st="8" end="8"/>
                                            </p:txEl>
                                          </p:spTgt>
                                        </p:tgtEl>
                                        <p:attrNameLst>
                                          <p:attrName>style.visibility</p:attrName>
                                        </p:attrNameLst>
                                      </p:cBhvr>
                                      <p:to>
                                        <p:strVal val="visible"/>
                                      </p:to>
                                    </p:set>
                                    <p:animEffect transition="in" filter="dissolve">
                                      <p:cBhvr>
                                        <p:cTn id="17" dur="500"/>
                                        <p:tgtEl>
                                          <p:spTgt spid="3">
                                            <p:txEl>
                                              <p:pRg st="8" end="8"/>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3">
                                            <p:txEl>
                                              <p:pRg st="10" end="10"/>
                                            </p:txEl>
                                          </p:spTgt>
                                        </p:tgtEl>
                                        <p:attrNameLst>
                                          <p:attrName>style.visibility</p:attrName>
                                        </p:attrNameLst>
                                      </p:cBhvr>
                                      <p:to>
                                        <p:strVal val="visible"/>
                                      </p:to>
                                    </p:set>
                                    <p:animEffect transition="in" filter="dissolve">
                                      <p:cBhvr>
                                        <p:cTn id="22"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936BE-E0EC-C309-4282-ABE5AAD480C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8F8CC04-568F-832C-150A-F08E30ECDA5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Log Structure</a:t>
            </a:r>
          </a:p>
        </p:txBody>
      </p:sp>
      <p:sp>
        <p:nvSpPr>
          <p:cNvPr id="8" name="Slide Number Placeholder 4">
            <a:extLst>
              <a:ext uri="{FF2B5EF4-FFF2-40B4-BE49-F238E27FC236}">
                <a16:creationId xmlns:a16="http://schemas.microsoft.com/office/drawing/2014/main" id="{5B9E296D-B0AA-6A21-D9B5-ACE34A0C150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a:p>
        </p:txBody>
      </p:sp>
      <p:pic>
        <p:nvPicPr>
          <p:cNvPr id="2" name="object 4">
            <a:extLst>
              <a:ext uri="{FF2B5EF4-FFF2-40B4-BE49-F238E27FC236}">
                <a16:creationId xmlns:a16="http://schemas.microsoft.com/office/drawing/2014/main" id="{B33E20E9-FCE4-FCE2-56C2-45889E95488A}"/>
              </a:ext>
            </a:extLst>
          </p:cNvPr>
          <p:cNvPicPr>
            <a:picLocks noChangeAspect="1"/>
          </p:cNvPicPr>
          <p:nvPr/>
        </p:nvPicPr>
        <p:blipFill>
          <a:blip r:embed="rId3" cstate="print"/>
          <a:stretch>
            <a:fillRect/>
          </a:stretch>
        </p:blipFill>
        <p:spPr>
          <a:xfrm>
            <a:off x="2607629" y="817583"/>
            <a:ext cx="6976740" cy="2953308"/>
          </a:xfrm>
          <a:prstGeom prst="rect">
            <a:avLst/>
          </a:prstGeom>
        </p:spPr>
      </p:pic>
      <p:sp>
        <p:nvSpPr>
          <p:cNvPr id="4" name="TextBox 3">
            <a:extLst>
              <a:ext uri="{FF2B5EF4-FFF2-40B4-BE49-F238E27FC236}">
                <a16:creationId xmlns:a16="http://schemas.microsoft.com/office/drawing/2014/main" id="{E3E34392-C0D5-85FB-13DF-9A2AABAF9BDF}"/>
              </a:ext>
            </a:extLst>
          </p:cNvPr>
          <p:cNvSpPr txBox="1"/>
          <p:nvPr/>
        </p:nvSpPr>
        <p:spPr>
          <a:xfrm>
            <a:off x="486784" y="3870780"/>
            <a:ext cx="9571616" cy="2339102"/>
          </a:xfrm>
          <a:prstGeom prst="rect">
            <a:avLst/>
          </a:prstGeom>
          <a:noFill/>
        </p:spPr>
        <p:txBody>
          <a:bodyPr wrap="square">
            <a:spAutoFit/>
          </a:bodyPr>
          <a:lstStyle/>
          <a:p>
            <a:r>
              <a:rPr lang="en-US" sz="2800" b="1" dirty="0"/>
              <a:t>Log entry = &lt; index, term, command &gt; </a:t>
            </a:r>
          </a:p>
          <a:p>
            <a:endParaRPr lang="en-US" b="1" dirty="0"/>
          </a:p>
          <a:p>
            <a:r>
              <a:rPr lang="en-US" sz="2800" b="1" dirty="0"/>
              <a:t>Log stored on stable storage (disk); survives crashes </a:t>
            </a:r>
          </a:p>
          <a:p>
            <a:endParaRPr lang="en-US" b="1" dirty="0"/>
          </a:p>
          <a:p>
            <a:r>
              <a:rPr lang="en-US" sz="2800" b="1" dirty="0"/>
              <a:t>Entry committed -&gt; stored on majority of servers </a:t>
            </a:r>
          </a:p>
          <a:p>
            <a:pPr marL="742950" lvl="1" indent="-285750">
              <a:buFont typeface="Arial" panose="020B0604020202020204" pitchFamily="34" charset="0"/>
              <a:buChar char="•"/>
            </a:pPr>
            <a:r>
              <a:rPr lang="en-US" sz="2400" dirty="0"/>
              <a:t>Durable / stable, will eventually be executed by state machines</a:t>
            </a:r>
          </a:p>
        </p:txBody>
      </p:sp>
    </p:spTree>
    <p:extLst>
      <p:ext uri="{BB962C8B-B14F-4D97-AF65-F5344CB8AC3E}">
        <p14:creationId xmlns:p14="http://schemas.microsoft.com/office/powerpoint/2010/main" val="31294357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3F045-0E6B-6239-C2C4-759DA78E7AF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2DD144C-0540-859E-55B4-0168450DCFD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 GFS</a:t>
            </a:r>
          </a:p>
        </p:txBody>
      </p:sp>
      <p:sp>
        <p:nvSpPr>
          <p:cNvPr id="8" name="Slide Number Placeholder 4">
            <a:extLst>
              <a:ext uri="{FF2B5EF4-FFF2-40B4-BE49-F238E27FC236}">
                <a16:creationId xmlns:a16="http://schemas.microsoft.com/office/drawing/2014/main" id="{C636C29B-B531-1445-ABBD-A7580D3983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3" name="TextBox 2">
            <a:extLst>
              <a:ext uri="{FF2B5EF4-FFF2-40B4-BE49-F238E27FC236}">
                <a16:creationId xmlns:a16="http://schemas.microsoft.com/office/drawing/2014/main" id="{4DB265F8-3D7F-16A8-0CDB-566062C652CC}"/>
              </a:ext>
            </a:extLst>
          </p:cNvPr>
          <p:cNvSpPr txBox="1"/>
          <p:nvPr/>
        </p:nvSpPr>
        <p:spPr>
          <a:xfrm>
            <a:off x="2924735" y="5351944"/>
            <a:ext cx="6096000" cy="461665"/>
          </a:xfrm>
          <a:prstGeom prst="rect">
            <a:avLst/>
          </a:prstGeom>
          <a:noFill/>
        </p:spPr>
        <p:txBody>
          <a:bodyPr wrap="square">
            <a:spAutoFit/>
          </a:bodyPr>
          <a:lstStyle/>
          <a:p>
            <a:r>
              <a:rPr lang="en-US" sz="2400" dirty="0">
                <a:hlinkClick r:id="rId3"/>
              </a:rPr>
              <a:t>https://forms.gle/jwbSKDuKGsZVEs3U9</a:t>
            </a:r>
            <a:endParaRPr lang="en-US" sz="2400" dirty="0"/>
          </a:p>
        </p:txBody>
      </p:sp>
      <p:pic>
        <p:nvPicPr>
          <p:cNvPr id="5" name="Picture 4" descr="A qr code on a white background&#10;&#10;Description automatically generated">
            <a:extLst>
              <a:ext uri="{FF2B5EF4-FFF2-40B4-BE49-F238E27FC236}">
                <a16:creationId xmlns:a16="http://schemas.microsoft.com/office/drawing/2014/main" id="{BB734B0F-09F5-4438-846E-213D00D31C96}"/>
              </a:ext>
            </a:extLst>
          </p:cNvPr>
          <p:cNvPicPr>
            <a:picLocks noChangeAspect="1"/>
          </p:cNvPicPr>
          <p:nvPr/>
        </p:nvPicPr>
        <p:blipFill>
          <a:blip r:embed="rId4"/>
          <a:stretch>
            <a:fillRect/>
          </a:stretch>
        </p:blipFill>
        <p:spPr>
          <a:xfrm>
            <a:off x="3756212" y="730623"/>
            <a:ext cx="4433047" cy="4433047"/>
          </a:xfrm>
          <a:prstGeom prst="rect">
            <a:avLst/>
          </a:prstGeom>
        </p:spPr>
      </p:pic>
    </p:spTree>
    <p:extLst>
      <p:ext uri="{BB962C8B-B14F-4D97-AF65-F5344CB8AC3E}">
        <p14:creationId xmlns:p14="http://schemas.microsoft.com/office/powerpoint/2010/main" val="28249358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3F045-0E6B-6239-C2C4-759DA78E7AF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2DD144C-0540-859E-55B4-0168450DCFD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GFS</a:t>
            </a:r>
          </a:p>
        </p:txBody>
      </p:sp>
      <p:sp>
        <p:nvSpPr>
          <p:cNvPr id="8" name="Slide Number Placeholder 4">
            <a:extLst>
              <a:ext uri="{FF2B5EF4-FFF2-40B4-BE49-F238E27FC236}">
                <a16:creationId xmlns:a16="http://schemas.microsoft.com/office/drawing/2014/main" id="{C636C29B-B531-1445-ABBD-A7580D3983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3" name="TextBox 2">
            <a:extLst>
              <a:ext uri="{FF2B5EF4-FFF2-40B4-BE49-F238E27FC236}">
                <a16:creationId xmlns:a16="http://schemas.microsoft.com/office/drawing/2014/main" id="{4DB265F8-3D7F-16A8-0CDB-566062C652CC}"/>
              </a:ext>
            </a:extLst>
          </p:cNvPr>
          <p:cNvSpPr txBox="1"/>
          <p:nvPr/>
        </p:nvSpPr>
        <p:spPr>
          <a:xfrm>
            <a:off x="2924735" y="5351944"/>
            <a:ext cx="6096000" cy="461665"/>
          </a:xfrm>
          <a:prstGeom prst="rect">
            <a:avLst/>
          </a:prstGeom>
          <a:noFill/>
        </p:spPr>
        <p:txBody>
          <a:bodyPr wrap="square">
            <a:spAutoFit/>
          </a:bodyPr>
          <a:lstStyle/>
          <a:p>
            <a:r>
              <a:rPr lang="en-US" sz="2400" dirty="0">
                <a:hlinkClick r:id="rId3"/>
              </a:rPr>
              <a:t>https://forms.gle/KX6h17o1A2hE7HMa8</a:t>
            </a:r>
            <a:endParaRPr lang="en-US" sz="2400" dirty="0"/>
          </a:p>
        </p:txBody>
      </p:sp>
      <p:pic>
        <p:nvPicPr>
          <p:cNvPr id="5" name="Picture 4" descr="A qr code on a white background&#10;&#10;Description automatically generated">
            <a:extLst>
              <a:ext uri="{FF2B5EF4-FFF2-40B4-BE49-F238E27FC236}">
                <a16:creationId xmlns:a16="http://schemas.microsoft.com/office/drawing/2014/main" id="{BB734B0F-09F5-4438-846E-213D00D31C96}"/>
              </a:ext>
            </a:extLst>
          </p:cNvPr>
          <p:cNvPicPr>
            <a:picLocks noChangeAspect="1"/>
          </p:cNvPicPr>
          <p:nvPr/>
        </p:nvPicPr>
        <p:blipFill>
          <a:blip r:embed="rId4"/>
          <a:stretch>
            <a:fillRect/>
          </a:stretch>
        </p:blipFill>
        <p:spPr>
          <a:xfrm>
            <a:off x="3756212" y="730623"/>
            <a:ext cx="4433047" cy="4433047"/>
          </a:xfrm>
          <a:prstGeom prst="rect">
            <a:avLst/>
          </a:prstGeom>
        </p:spPr>
      </p:pic>
    </p:spTree>
    <p:extLst>
      <p:ext uri="{BB962C8B-B14F-4D97-AF65-F5344CB8AC3E}">
        <p14:creationId xmlns:p14="http://schemas.microsoft.com/office/powerpoint/2010/main" val="28249358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3F045-0E6B-6239-C2C4-759DA78E7AF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2DD144C-0540-859E-55B4-0168450DCFD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C636C29B-B531-1445-ABBD-A7580D3983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3" name="TextBox 2">
            <a:extLst>
              <a:ext uri="{FF2B5EF4-FFF2-40B4-BE49-F238E27FC236}">
                <a16:creationId xmlns:a16="http://schemas.microsoft.com/office/drawing/2014/main" id="{4DB265F8-3D7F-16A8-0CDB-566062C652CC}"/>
              </a:ext>
            </a:extLst>
          </p:cNvPr>
          <p:cNvSpPr txBox="1"/>
          <p:nvPr/>
        </p:nvSpPr>
        <p:spPr>
          <a:xfrm>
            <a:off x="2924735" y="5351944"/>
            <a:ext cx="6096000" cy="461665"/>
          </a:xfrm>
          <a:prstGeom prst="rect">
            <a:avLst/>
          </a:prstGeom>
          <a:noFill/>
        </p:spPr>
        <p:txBody>
          <a:bodyPr wrap="square">
            <a:spAutoFit/>
          </a:bodyPr>
          <a:lstStyle/>
          <a:p>
            <a:r>
              <a:rPr lang="en-US" sz="2400" dirty="0"/>
              <a:t>link: create the Raft I attendance form first</a:t>
            </a:r>
            <a:endParaRPr lang="en-US" sz="2400" dirty="0"/>
          </a:p>
        </p:txBody>
      </p:sp>
    </p:spTree>
    <p:extLst>
      <p:ext uri="{BB962C8B-B14F-4D97-AF65-F5344CB8AC3E}">
        <p14:creationId xmlns:p14="http://schemas.microsoft.com/office/powerpoint/2010/main" val="28249358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33F045-0E6B-6239-C2C4-759DA78E7AF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2DD144C-0540-859E-55B4-0168450DCFD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C636C29B-B531-1445-ABBD-A7580D3983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3" name="TextBox 2">
            <a:extLst>
              <a:ext uri="{FF2B5EF4-FFF2-40B4-BE49-F238E27FC236}">
                <a16:creationId xmlns:a16="http://schemas.microsoft.com/office/drawing/2014/main" id="{4DB265F8-3D7F-16A8-0CDB-566062C652CC}"/>
              </a:ext>
            </a:extLst>
          </p:cNvPr>
          <p:cNvSpPr txBox="1"/>
          <p:nvPr/>
        </p:nvSpPr>
        <p:spPr>
          <a:xfrm>
            <a:off x="2924735" y="5351944"/>
            <a:ext cx="6096000" cy="461665"/>
          </a:xfrm>
          <a:prstGeom prst="rect">
            <a:avLst/>
          </a:prstGeom>
          <a:noFill/>
        </p:spPr>
        <p:txBody>
          <a:bodyPr wrap="square">
            <a:spAutoFit/>
          </a:bodyPr>
          <a:lstStyle/>
          <a:p>
            <a:r>
              <a:rPr lang="en-US" sz="2400" dirty="0">
                <a:hlinkClick r:id="rId3"/>
              </a:rPr>
              <a:t>https://forms.gle/G5GTvLLCUXB4P36q6</a:t>
            </a:r>
            <a:endParaRPr lang="en-US" sz="2400" dirty="0"/>
          </a:p>
        </p:txBody>
      </p:sp>
      <p:pic>
        <p:nvPicPr>
          <p:cNvPr id="5" name="Picture 4" descr="A qr code on a white background&#10;&#10;Description automatically generated">
            <a:extLst>
              <a:ext uri="{FF2B5EF4-FFF2-40B4-BE49-F238E27FC236}">
                <a16:creationId xmlns:a16="http://schemas.microsoft.com/office/drawing/2014/main" id="{BB734B0F-09F5-4438-846E-213D00D31C96}"/>
              </a:ext>
            </a:extLst>
          </p:cNvPr>
          <p:cNvPicPr>
            <a:picLocks noChangeAspect="1"/>
          </p:cNvPicPr>
          <p:nvPr/>
        </p:nvPicPr>
        <p:blipFill>
          <a:blip r:embed="rId4"/>
          <a:stretch>
            <a:fillRect/>
          </a:stretch>
        </p:blipFill>
        <p:spPr>
          <a:xfrm>
            <a:off x="3756212" y="730623"/>
            <a:ext cx="4433047" cy="4433047"/>
          </a:xfrm>
          <a:prstGeom prst="rect">
            <a:avLst/>
          </a:prstGeom>
        </p:spPr>
      </p:pic>
    </p:spTree>
    <p:extLst>
      <p:ext uri="{BB962C8B-B14F-4D97-AF65-F5344CB8AC3E}">
        <p14:creationId xmlns:p14="http://schemas.microsoft.com/office/powerpoint/2010/main" val="28249358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3111</TotalTime>
  <Words>3483</Words>
  <Application>Microsoft Macintosh PowerPoint</Application>
  <PresentationFormat>Widescreen</PresentationFormat>
  <Paragraphs>517</Paragraphs>
  <Slides>28</Slides>
  <Notes>28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28</vt:i4>
      </vt:variant>
    </vt:vector>
  </HeadingPairs>
  <TitlesOfParts>
    <vt:vector size="35" baseType="lpstr">
      <vt:lpstr>Aptos</vt:lpstr>
      <vt:lpstr>Aptos Display</vt:lpstr>
      <vt:lpstr>Arial</vt:lpstr>
      <vt:lpstr>Courier New</vt:lpstr>
      <vt:lpstr>Helvetica</vt:lpstr>
      <vt:lpstr>Helvetica Neue</vt:lpstr>
      <vt:lpstr>Office Theme</vt:lpstr>
      <vt:lpstr>Lecture 6: Consensus I Fall 2026                            </vt:lpstr>
      <vt:lpstr>Administrivia</vt:lpstr>
      <vt:lpstr>Quiz Attendance: GFS</vt:lpstr>
      <vt:lpstr>Quiz: GFS</vt:lpstr>
      <vt:lpstr>Motivation </vt:lpstr>
      <vt:lpstr>Recap: Split Brain</vt:lpstr>
      <vt:lpstr>“Server Crashed” vs “Network Broken”</vt:lpstr>
      <vt:lpstr>Consensus Protocols</vt:lpstr>
      <vt:lpstr>Leslie Lamport</vt:lpstr>
      <vt:lpstr>A Brief History of Paxos</vt:lpstr>
      <vt:lpstr>The Part-time Parliament</vt:lpstr>
      <vt:lpstr>Paxos Made Simple</vt:lpstr>
      <vt:lpstr>Raft</vt:lpstr>
      <vt:lpstr>Majority Vote</vt:lpstr>
      <vt:lpstr>A Preview of Raft with Visualization</vt:lpstr>
      <vt:lpstr>Server States</vt:lpstr>
      <vt:lpstr>Raft Overview</vt:lpstr>
      <vt:lpstr>Normal Operation</vt:lpstr>
      <vt:lpstr>Leader</vt:lpstr>
      <vt:lpstr>Term (aka Epochs)</vt:lpstr>
      <vt:lpstr>Leader State Transition</vt:lpstr>
      <vt:lpstr>Elections</vt:lpstr>
      <vt:lpstr>Elections</vt:lpstr>
      <vt:lpstr>Election Success </vt:lpstr>
      <vt:lpstr>Why Log?</vt:lpstr>
      <vt:lpstr>Log Structure</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2</cp:revision>
  <dcterms:created xsi:type="dcterms:W3CDTF">2026-02-15T17:21:02Z</dcterms:created>
  <dcterms:modified xsi:type="dcterms:W3CDTF">2026-09-17T00:29:01Z</dcterms:modified>
</cp:coreProperties>
</file>