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422" r:id="rId2"/>
    <p:sldId id="426" r:id="rId3"/>
    <p:sldId id="481" r:id="rId4"/>
    <p:sldId id="467" r:id="rId5"/>
    <p:sldId id="477" r:id="rId6"/>
    <p:sldId id="478" r:id="rId7"/>
    <p:sldId id="479" r:id="rId8"/>
    <p:sldId id="428" r:id="rId9"/>
    <p:sldId id="483" r:id="rId10"/>
    <p:sldId id="443" r:id="rId11"/>
    <p:sldId id="486" r:id="rId12"/>
    <p:sldId id="444" r:id="rId13"/>
    <p:sldId id="445" r:id="rId14"/>
    <p:sldId id="487" r:id="rId15"/>
    <p:sldId id="485" r:id="rId16"/>
    <p:sldId id="262" r:id="rId17"/>
    <p:sldId id="430" r:id="rId18"/>
    <p:sldId id="435" r:id="rId19"/>
    <p:sldId id="431" r:id="rId20"/>
    <p:sldId id="433" r:id="rId21"/>
    <p:sldId id="434" r:id="rId22"/>
    <p:sldId id="436" r:id="rId23"/>
    <p:sldId id="437" r:id="rId24"/>
    <p:sldId id="468" r:id="rId25"/>
    <p:sldId id="439" r:id="rId26"/>
    <p:sldId id="480" r:id="rId27"/>
    <p:sldId id="469" r:id="rId28"/>
    <p:sldId id="440" r:id="rId29"/>
    <p:sldId id="441" r:id="rId30"/>
    <p:sldId id="442" r:id="rId31"/>
    <p:sldId id="446" r:id="rId32"/>
    <p:sldId id="447" r:id="rId33"/>
    <p:sldId id="484" r:id="rId34"/>
    <p:sldId id="470" r:id="rId35"/>
    <p:sldId id="448" r:id="rId36"/>
    <p:sldId id="482" r:id="rId37"/>
    <p:sldId id="449" r:id="rId38"/>
    <p:sldId id="451" r:id="rId40"/>
    <p:sldId id="450" r:id="rId39"/>
    <p:sldId id="471" r:id="rId41"/>
    <p:sldId id="472" r:id="rId42"/>
    <p:sldId id="452" r:id="rId43"/>
    <p:sldId id="453" r:id="rId44"/>
    <p:sldId id="454" r:id="rId45"/>
    <p:sldId id="465" r:id="rId46"/>
    <p:sldId id="455" r:id="rId47"/>
    <p:sldId id="457" r:id="rId48"/>
    <p:sldId id="473" r:id="rId49"/>
    <p:sldId id="475" r:id="rId50"/>
    <p:sldId id="476" r:id="rId51"/>
    <p:sldId id="459" r:id="rId52"/>
    <p:sldId id="466" r:id="rId53"/>
    <p:sldId id="464"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9745"/>
    <p:restoredTop sz="65066"/>
  </p:normalViewPr>
  <p:slideViewPr>
    <p:cSldViewPr snapToGrid="0">
      <p:cViewPr varScale="1">
        <p:scale>
          <a:sx n="70" d="100"/>
          <a:sy n="70" d="100"/>
        </p:scale>
        <p:origin x="142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Demo 1 is Wednesday, September 23. Push the design proposal and slides to the demo-1 branch by 12:00 noon. Next Monday is a lab day, so there is no lecture.</a:t>
            </a:r>
          </a:p>
          <a:p>
            <a:endParaRPr dirty="0"/>
          </a:p>
          <a:p>
            <a:r>
              <a:rPr dirty="0"/>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p>
          <a:p>
            <a:endParaRPr dirty="0"/>
          </a:p>
          <a:p>
            <a:r>
              <a:rPr dirty="0"/>
              <a:t>The slides are 25 percent and follow the shared slides rubric. The remaining 25 percent is challenge, which measures the technical difficulty and ambition of the proposal.</a:t>
            </a:r>
          </a:p>
          <a:p>
            <a:endParaRPr dirty="0"/>
          </a:p>
          <a:p>
            <a:r>
              <a:rPr dirty="0"/>
              <a:t>Emphasize the milestone requirement. Later progress grades use the milestones in this proposal. A statement such as “improve performance” is too vague. A milestone should state a measurable result and how the team will demonstrate it.</a:t>
            </a:r>
          </a:p>
          <a:p>
            <a:endParaRPr dirty="0"/>
          </a:p>
          <a:p>
            <a:r>
              <a:rPr dirty="0"/>
              <a:t>SOURCE</a:t>
            </a:r>
          </a:p>
          <a:p>
            <a:r>
              <a:rPr dirty="0"/>
              <a:t>EC528 Fall 2026 grading policy, Demo 1 rubric.</a:t>
            </a:r>
          </a:p>
          <a:p>
            <a:r>
              <a:rPr dirty="0"/>
              <a:t>EC528 Fall 2026 design-proposal template.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Presentation is graded separately from the team project score.</a:t>
            </a:r>
          </a:p>
          <a:p>
            <a:endParaRPr dirty="0"/>
          </a:p>
          <a:p>
            <a:r>
              <a:rPr dirty="0"/>
              <a:t>Each milestone demo has a 10-minute presentation and 5 minutes for questions. We will stop presentations that run over time. At most two team members may present in one demo, and every team member must present at least once across Demo 1, Demo 2, and Demo 3.</a:t>
            </a:r>
          </a:p>
          <a:p>
            <a:endParaRPr dirty="0"/>
          </a:p>
          <a:p>
            <a:r>
              <a:rPr dirty="0"/>
              <a:t>The presentation score is individual. We grade the part you personally deliver, including clarity, engagement, staying within time, and how you answer questions about the design.</a:t>
            </a:r>
          </a:p>
          <a:p>
            <a:endParaRPr dirty="0"/>
          </a:p>
          <a:p>
            <a:r>
              <a:rPr dirty="0"/>
              <a:t>If you present in more than one milestone demo, we use your highest presentation score. A second presentation can improve the score, but it will not lower it.</a:t>
            </a:r>
          </a:p>
          <a:p>
            <a:endParaRPr dirty="0"/>
          </a:p>
          <a:p>
            <a:r>
              <a:rPr dirty="0"/>
              <a:t>This presentation component is 10 percent of the course grade. The final presentation is graded separately inside the final project score.</a:t>
            </a:r>
          </a:p>
          <a:p>
            <a:endParaRPr dirty="0"/>
          </a:p>
          <a:p>
            <a:r>
              <a:rPr dirty="0"/>
              <a:t>SOURCE</a:t>
            </a:r>
          </a:p>
          <a:p>
            <a:r>
              <a:rPr dirty="0"/>
              <a:t>EC528 Fall 2026 grading policy, Presentation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endParaRPr lang="en-US" dirty="0"/>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time we focused on computation, but every map task had to read its input from somewhere, and every reducer had to write its output somewhere. At Google, that shared storage layer was GFS.</a:t>
            </a:r>
          </a:p>
          <a:p>
            <a:endParaRPr lang="en-US" dirty="0"/>
          </a:p>
          <a:p>
            <a:r>
              <a:rPr lang="en-US" dirty="0"/>
              <a:t>Storage became a key abstraction because a simple interface—name some data, read it, and write it—was useful across many different systems. A large part of distributed-systems work therefore either builds storage systems or builds on top of a well-behaved distributed store. At Google, MapReduce used GFS for input and output, and BigTable later stored its files in GFS. GFS is also a useful first case study because it brings together four themes we will see repeatedly: parallel performance, fault tolerance, replication, and consistency.</a:t>
            </a:r>
          </a:p>
          <a:p>
            <a:endParaRPr lang="en-US" dirty="0"/>
          </a:p>
          <a:p>
            <a:r>
              <a:rPr lang="en-US" dirty="0"/>
              <a:t>Two pressures drive the design: one machine cannot provide enough capacity or throughput, and once data is spread across many machines, failures become routine.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Start with the first pressure: one machine cannot provide enough capacity or throughput.</a:t>
            </a:r>
          </a:p>
          <a:p>
            <a:endParaRPr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p>
          <a:p>
            <a:endParaRPr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p>
          <a:p>
            <a:endParaRPr dirty="0"/>
          </a:p>
          <a:p>
            <a:r>
              <a:rPr dirty="0"/>
              <a:t>This decision solves the capacity and performance problem, but it creates the next problem. Once the system depends on hundreds or thousands of machines, some component will almost always be unavailable.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dirty="0"/>
              <a:t>That brings us to the second pressure. Once storage depends on hundreds or thousands of machines, failure becomes the normal operating condition.</a:t>
            </a:r>
          </a:p>
          <a:p>
            <a:endParaRPr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p>
          <a:p>
            <a:endParaRPr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p>
          <a:p>
            <a:endParaRPr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p>
          <a:p>
            <a:endParaRPr dirty="0"/>
          </a:p>
          <a:p>
            <a:r>
              <a:rPr dirty="0"/>
              <a:t>Replication gives us fault tolerance, but it also creates a new question: how do we keep those copies from disagreeing</a:t>
            </a:r>
            <a:r>
              <a:rPr lang="en-US"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9D2F-F719-1204-3BE4-5648B322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7BD6E-9ED5-B0EB-2519-0B5A471E3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AF431-6503-9F6E-44FB-746BDA533D73}"/>
              </a:ext>
            </a:extLst>
          </p:cNvPr>
          <p:cNvSpPr>
            <a:spLocks noGrp="1"/>
          </p:cNvSpPr>
          <p:nvPr>
            <p:ph type="body" idx="1"/>
          </p:nvPr>
        </p:nvSpPr>
        <p:spPr/>
        <p:txBody>
          <a:bodyPr/>
          <a:lstStyle/>
          <a:p>
            <a:r>
              <a:rPr lang="en-US" dirty="0"/>
              <a:t>Up to this point, performance has pushed us to spread the data across many servers, and failures have pushed us to replicate it. Now replication creates a new problem.</a:t>
            </a:r>
          </a:p>
          <a:p>
            <a:endParaRPr lang="en-US" dirty="0"/>
          </a:p>
          <a:p>
            <a:r>
              <a:rPr lang="en-US" dirty="0"/>
              <a:t>If we are not careful, the replicas get out of sync. What were supposed to be interchangeable copies become two almost identical copies, and the value a client reads depends on which server it contacts.</a:t>
            </a:r>
          </a:p>
          <a:p>
            <a:endParaRPr lang="en-US" dirty="0"/>
          </a:p>
          <a:p>
            <a:r>
              <a:rPr lang="en-US" dirty="0"/>
              <a:t>We can eliminate those inconsistencies with more careful coordination, but coordination requires extra work and extra communication among the servers and clients. That adds waiting and reduces performance.</a:t>
            </a:r>
          </a:p>
          <a:p>
            <a:endParaRPr lang="en-US" dirty="0"/>
          </a:p>
          <a:p>
            <a:r>
              <a:rPr lang="en-US" dirty="0"/>
              <a:t>So the argument comes full circle. We started by distributing the data to gain performance, but stronger consistency makes us give some of that performance back. GFS chooses a point in this tradeoff rather than paying the full cost of strict consistency.</a:t>
            </a:r>
          </a:p>
          <a:p>
            <a:endParaRPr lang="en-US" dirty="0"/>
          </a:p>
          <a:p>
            <a:r>
              <a:rPr lang="en-US" dirty="0"/>
              <a:t>SOURCE
MIT 6.824, Spring 2020, Lecture 3 transcript/video, 04:05–05:42.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E8FE7602-B30B-17D7-6742-4BE51445636D}"/>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2775443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Replication leaves us with two questions that will organize the rest of this lecture.</a:t>
            </a:r>
          </a:p>
          <a:p>
            <a:endParaRPr lang="en-US" dirty="0"/>
          </a:p>
          <a:p>
            <a:r>
              <a:rPr lang="en-US" dirty="0"/>
              <a:t>The first is a correctness question. Once data is split and replicated across machines that can fail independently, what does it mean for the storage system to return the correct result? Different copies may receive requests at different times, and a client may reach a different copy after a failure. We need a clear model for deciding whether the behavior observed by the clients is still correct.</a:t>
            </a:r>
          </a:p>
          <a:p>
            <a:endParaRPr lang="en-US" dirty="0"/>
          </a:p>
          <a:p>
            <a:r>
              <a:rPr lang="en-US" dirty="0"/>
              <a:t>The second is a performance question. How much coordination do we need to obtain that behavior? If replicas must communicate and agree before every reply, each operation requires more messages and more waiting. A slow or unreachable replica may also delay the others.</a:t>
            </a:r>
          </a:p>
          <a:p>
            <a:endParaRPr lang="en-US" dirty="0"/>
          </a:p>
          <a:p>
            <a:r>
              <a:rPr lang="en-US" dirty="0"/>
              <a:t>These two questions create the central tradeoff. More coordination usually gives applications simpler behavior, but it costs latency, throughput, and sometimes availability during failures. GFS chooses guarantees that fit Google's workloads instead of paying the full cost of the strongest possible consistency.</a:t>
            </a:r>
          </a:p>
          <a:p>
            <a:endParaRPr lang="en-US" dirty="0"/>
          </a:p>
          <a:p>
            <a:r>
              <a:rPr lang="en-US" dirty="0"/>
              <a:t>To understand that choice, we first need a baseline: what behavior would one correct machine with one copy of the data provide?</a:t>
            </a:r>
          </a:p>
          <a:p>
            <a:endParaRPr lang="en-US" dirty="0"/>
          </a:p>
          <a:p>
            <a:r>
              <a:rPr lang="en-US" dirty="0"/>
              <a:t>SOURCE
MIT 6.824, Spring 2020, Lecture 3 transcript/video, 05:42–06:34.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rPr lang="en-US" dirty="0"/>
              <a:t>From the application's point of view, the ideal distributed storage system behaves like one correct machine with one copy of the data. The implementation may contain hundreds of machines and several replicas, but those internal details should not change the behavior that clients observe.</a:t>
            </a:r>
          </a:p>
          <a:p>
            <a:endParaRPr lang="en-US" dirty="0"/>
          </a:p>
          <a:p>
            <a:r>
              <a:rPr lang="en-US" dirty="0"/>
              <a:t>Imagine that this one machine is single-threaded. Many clients may send requests concurrently, but the machine performs only one operation at a time. It chooses one request, runs it to completion, and then starts the next request. Every operation therefore has a position in one single order.</a:t>
            </a:r>
          </a:p>
          <a:p>
            <a:endParaRPr lang="en-US" dirty="0"/>
          </a:p>
          <a:p>
            <a:r>
              <a:rPr lang="en-US" dirty="0"/>
              <a:t>If the operation is a write, it updates the machine's state. If the operation is a read, it returns a value that reflects all the writes that came before it in that order. Concurrent requests still have to be ordered, but we may not know that order in advance. The machine is allowed to choose either concurrent request first. Once it chooses, all later results must remain consistent with that choice.</a:t>
            </a:r>
          </a:p>
          <a:p>
            <a:endParaRPr lang="en-US" dirty="0"/>
          </a:p>
          <a:p>
            <a:r>
              <a:rPr lang="en-US" dirty="0"/>
              <a:t>That gives us the test shown at the bottom of the slide: could one correct machine, executing one request at a time, have produced everything the clients observed? We do not require one predetermined result for concurrent requests. We require that all the results fit one possible sequential order.</a:t>
            </a:r>
          </a:p>
          <a:p>
            <a:endParaRPr lang="en-US" dirty="0"/>
          </a:p>
          <a:p>
            <a:r>
              <a:rPr lang="en-US" dirty="0"/>
              <a:t>Now suppose two clients write the same key at the same time.</a:t>
            </a:r>
          </a:p>
          <a:p>
            <a:endParaRPr lang="en-US" dirty="0"/>
          </a:p>
          <a:p>
            <a:r>
              <a:rPr lang="en-US" dirty="0"/>
              <a:t>SOURCE
MIT 6.824, Spring 2020, Lecture 3 transcript/video, 05:42–08:11.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Client 1 writes x equals 1, and client 2 writes x equals 2 at the same time. After both writes have completed, client 3 and client 4 each read x. What are the two readers allowed to see?</a:t>
            </a:r>
          </a:p>
          <a:p>
            <a:endParaRPr lang="en-US" dirty="0"/>
          </a:p>
          <a:p>
            <a:r>
              <a:rPr lang="en-US" dirty="0"/>
              <a:t>There is not enough information to say which write the machine processed first. Because the two writes overlap, either order is legal. If the machine executes the write of 2 and then the write of 1, the final value is 1, so both readers may return 1. If it executes the write of 1 and then the write of 2, the final value is 2, so both readers may return 2.</a:t>
            </a:r>
          </a:p>
          <a:p>
            <a:endParaRPr lang="en-US" dirty="0"/>
          </a:p>
          <a:p>
            <a:r>
              <a:rPr lang="en-US" dirty="0"/>
              <a:t>Those are the first two outcomes on the slide. Strong consistency does not promise which concurrent write wins. It promises that every result can be explained by one order chosen by the machine.</a:t>
            </a:r>
          </a:p>
          <a:p>
            <a:endParaRPr lang="en-US" dirty="0"/>
          </a:p>
          <a:p>
            <a:r>
              <a:rPr lang="en-US" dirty="0"/>
              <a:t>The third outcome is not allowed. If client 3 reads 1 while client 4 reads 2 after both writes have finished, the two observations cannot fit the same final order. One of the writes must be last, and without another intervening write, both later readers should see the value produced by that same last write.</a:t>
            </a:r>
          </a:p>
          <a:p>
            <a:endParaRPr lang="en-US" dirty="0"/>
          </a:p>
          <a:p>
            <a:r>
              <a:rPr lang="en-US" dirty="0"/>
              <a:t>So consistency is not a claim that one particular value must come back. It is a claim that everything the clients observed can be explained by one coherent order.</a:t>
            </a:r>
          </a:p>
          <a:p>
            <a:endParaRPr lang="en-US" dirty="0"/>
          </a:p>
          <a:p>
            <a:r>
              <a:rPr lang="en-US" dirty="0"/>
              <a:t>With one machine, choosing one order comes naturally. But one machine cannot survive a machine or disk failure. Once we keep multiple copies, those copies must somehow preserve the same order. That is where replication becomes difficult.</a:t>
            </a:r>
          </a:p>
          <a:p>
            <a:endParaRPr lang="en-US" dirty="0"/>
          </a:p>
          <a:p>
            <a:r>
              <a:rPr lang="en-US" dirty="0"/>
              <a:t>SOURCE
MIT 6.824, Spring 2020, Lecture 3 transcript/video, 08:11–10:47.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rPr lang="en-US" dirty="0"/>
              <a:t>The simplest way to add fault tolerance is to keep two complete copies of the data. If either server fails, the other server still has a copy and can continue serving clients.</a:t>
            </a:r>
          </a:p>
          <a:p>
            <a:endParaRPr lang="en-US" dirty="0"/>
          </a:p>
          <a:p>
            <a:r>
              <a:rPr lang="en-US" dirty="0"/>
              <a:t>That goal gives us two requirements. Every write must eventually reach both servers, so their copies remain up to date. But a read must be able to use either server by itself. If every read had to consult both servers, then losing one server would still make the system unavailable, and replication would not have solved the failure problem.</a:t>
            </a:r>
          </a:p>
          <a:p>
            <a:endParaRPr lang="en-US" dirty="0"/>
          </a:p>
          <a:p>
            <a:r>
              <a:rPr lang="en-US" dirty="0"/>
              <a:t>The obvious protocol is for the client to send each update to both replicas. Each server applies the update to its own copy when the request arrives. If the two servers begin with the same data and receive the same updates, this initially sounds sufficient to keep them identical.</a:t>
            </a:r>
          </a:p>
          <a:p>
            <a:endParaRPr lang="en-US" dirty="0"/>
          </a:p>
          <a:p>
            <a:r>
              <a:rPr lang="en-US" dirty="0"/>
              <a:t>The protocol is missing one rule: it never says that the two servers must apply concurrent updates in the same order. Each server simply follows the order in which messages happen to arrive over the network. With one writer, that may be enough. With two clients writing concurrently, the arrival orders can differ, and the two copies can diverge even though neither server has failed.</a:t>
            </a:r>
          </a:p>
          <a:p>
            <a:endParaRPr lang="en-US" dirty="0"/>
          </a:p>
          <a:p>
            <a:r>
              <a:rPr lang="en-US" dirty="0"/>
              <a:t>SOURCE
MIT 6.824, Spring 2020, Lecture 3 transcript/video, 10:47–12:29.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Now client 1 writes x equals 1, and client 2 writes x equals 2. Each client sends its write to both servers because both replicas are supposed to contain the complete data.</a:t>
            </a:r>
          </a:p>
          <a:p>
            <a:endParaRPr lang="en-US" dirty="0"/>
          </a:p>
          <a:p>
            <a:r>
              <a:rPr lang="en-US" dirty="0"/>
              <a:t>The network does not promise to deliver those messages in the same order. Suppose server 1 receives client 1's write first and client 2's write second. It sets x to 1 and then overwrites it with 2, so server 1 ends with x equal to 2.</a:t>
            </a:r>
          </a:p>
          <a:p>
            <a:endParaRPr lang="en-US" dirty="0"/>
          </a:p>
          <a:p>
            <a:r>
              <a:rPr lang="en-US" dirty="0"/>
              <a:t>Server 2 may receive the same two requests in the opposite order. It sets x to 2 and then overwrites it with 1, so server 2 ends with x equal to 1.</a:t>
            </a:r>
          </a:p>
          <a:p>
            <a:endParaRPr lang="en-US" dirty="0"/>
          </a:p>
          <a:p>
            <a:r>
              <a:rPr lang="en-US" dirty="0"/>
              <a:t>Notice that neither server behaved incorrectly by itself. Each one processed one request at a time, and each one chose a legal order for two concurrent writes. The failure is that they chose different orders. The replicated system no longer behaves like one logical machine.</a:t>
            </a:r>
          </a:p>
          <a:p>
            <a:endParaRPr lang="en-US" dirty="0"/>
          </a:p>
          <a:p>
            <a:r>
              <a:rPr lang="en-US" dirty="0"/>
              <a:t>A client reading from server 1 now receives 2, while a client reading from server 2 receives 1. Those results cannot both be explained by one final write order. The replicas were meant to be interchangeable, but the answer now depends on which replica the client happens to contact.</a:t>
            </a:r>
          </a:p>
          <a:p>
            <a:endParaRPr lang="en-US" dirty="0"/>
          </a:p>
          <a:p>
            <a:r>
              <a:rPr lang="en-US" dirty="0"/>
              <a:t>A natural response is to stop reading from arbitrary replicas and always read from one designated server. That makes the disagreement harder to see, but it does not make the copies agree.</a:t>
            </a:r>
          </a:p>
          <a:p>
            <a:endParaRPr lang="en-US" dirty="0"/>
          </a:p>
          <a:p>
            <a:r>
              <a:rPr lang="en-US" dirty="0"/>
              <a:t>SOURCE
MIT 6.824, Spring 2020, Lecture 3 transcript/video, 12:29–13:18.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13</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Suppose every client reads from server 1 while it is available and uses server 2 only as a backup. Server 1 contains 2 and server 2 contains 1, but while server 1 is running, every reader sees 2. The system appears consistent because the disagreement is hidden.</a:t>
            </a:r>
          </a:p>
          <a:p>
            <a:endParaRPr lang="en-US" dirty="0"/>
          </a:p>
          <a:p>
            <a:r>
              <a:rPr lang="en-US" dirty="0"/>
              <a:t>Now server 1 fails. The clients fall back to server 2, and the visible value becomes 1. No client wrote x between those reads. The value changed from 2 back to 1 only because the system switched replicas.</a:t>
            </a:r>
          </a:p>
          <a:p>
            <a:endParaRPr lang="en-US" dirty="0"/>
          </a:p>
          <a:p>
            <a:r>
              <a:rPr lang="en-US" dirty="0"/>
              <a:t>This cannot be explained by the one-machine model. A correct machine that performs one request at a time changes a stored value only when some operation changes it. Here the clients observe a change that corresponds to no write at all.</a:t>
            </a:r>
          </a:p>
          <a:p>
            <a:endParaRPr lang="en-US" dirty="0"/>
          </a:p>
          <a:p>
            <a:r>
              <a:rPr lang="en-US" dirty="0"/>
              <a:t>Always reading from one designated server therefore hides divergence instead of repairing it. The stale copy remains in the system, and the disagreement becomes visible at exactly the moment when the preferred server fails.</a:t>
            </a:r>
          </a:p>
          <a:p>
            <a:endParaRPr lang="en-US" dirty="0"/>
          </a:p>
          <a:p>
            <a:r>
              <a:rPr lang="en-US" dirty="0"/>
              <a:t>Preventing this behavior requires the replicas to agree on one order before the system treats a write as complete. That agreement requires communication between the servers, a protocol for deciding the order, and additional waiting before the client receives a reply. Consistency can be improved, but the coordination has a cost.</a:t>
            </a:r>
          </a:p>
          <a:p>
            <a:endParaRPr lang="en-US" dirty="0"/>
          </a:p>
          <a:p>
            <a:r>
              <a:rPr lang="en-US" dirty="0"/>
              <a:t>SOURCE
MIT 6.824, Spring 2020, Lecture 3 transcript/video, 13:18–14:54.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The two failures we just saw have the same root cause: the replicas were allowed to diverge. In the first case, the two servers applied concurrent writes in different orders. In the second case, always reading from server 1 merely hid that disagreement until server 1 failed. A real fix cannot simply choose which copy to read. It has to prevent the copies from diverging.</a:t>
            </a:r>
          </a:p>
          <a:p>
            <a:endParaRPr lang="en-US" dirty="0"/>
          </a:p>
          <a:p>
            <a:r>
              <a:rPr lang="en-US" dirty="0"/>
              <a:t>That is possible, but it is not free. The servers need to exchange more messages and run a more complicated protocol so that they agree on one order. A write may also have to wait for that agreement before the system can report success to the client. The extra communication and waiting reduce performance.</a:t>
            </a:r>
          </a:p>
          <a:p>
            <a:endParaRPr lang="en-US" dirty="0"/>
          </a:p>
          <a:p>
            <a:r>
              <a:rPr lang="en-US" dirty="0"/>
              <a:t>Once we recognize that cost, there is no single obvious design. A system can coordinate more and provide behavior closer to one correct machine, or coordinate less and expose more anomalies that applications must handle.</a:t>
            </a:r>
          </a:p>
          <a:p>
            <a:endParaRPr lang="en-US" dirty="0"/>
          </a:p>
          <a:p>
            <a:r>
              <a:rPr lang="en-US" dirty="0"/>
              <a:t>GFS deliberately chooses a point in that range. Its behavior is much better than the naive replication scheme, but it does not pay the full cost of perfect consistency. The rest of the lecture explains what guarantees GFS provides and why those guarantees were a reasonable match for Google's workloads.</a:t>
            </a:r>
          </a:p>
          <a:p>
            <a:endParaRPr lang="en-US" dirty="0"/>
          </a:p>
          <a:p>
            <a:r>
              <a:rPr lang="en-US" dirty="0"/>
              <a:t>SOURCE
MIT 6.824, Spring 2020, Lecture 3 transcript/video, 14:07–15:00.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lang="en-US" dirty="0"/>
              <a:t>That choice is the subject of The Google File System, published at SOSP in 2003 by Sanjay Ghemawat, Howard Gobioff, and Shun-Tak Leung.</a:t>
            </a:r>
          </a:p>
          <a:p>
            <a:endParaRPr lang="en-US" dirty="0"/>
          </a:p>
          <a:p>
            <a:r>
              <a:rPr lang="en-US" dirty="0"/>
              <a:t>The date matters. Distributed-systems research had already developed many ideas for parallelism and fault tolerance, but few companies had deployed them at the scale that large web services were beginning to require. GFS records the point when those ideas became day-to-day production infrastructure.</a:t>
            </a:r>
          </a:p>
          <a:p>
            <a:endParaRPr lang="en-US" dirty="0"/>
          </a:p>
          <a:p>
            <a:r>
              <a:rPr lang="en-US" dirty="0"/>
              <a:t>The mechanisms are important, but the paper is best read as a complete design built around one environment. We will keep asking how Google's workload, hardware, and application requirements made each choice reasonable.</a:t>
            </a:r>
          </a:p>
          <a:p>
            <a:endParaRPr lang="en-US" dirty="0"/>
          </a:p>
          <a:p>
            <a:r>
              <a:rPr lang="en-US" dirty="0"/>
              <a:t>SOURCE
MIT 6.824, Spring 2020, Lecture 3 transcript/video, 14:54–15:43.
Local transcript: fall2026/lectures/references/mit-6824-2020-lecture3-gfs-transcript.txt
https://www.youtube.com/watch?v=EpIgvowZr00
Ghemawat, Gobioff, and Leung, The Google File System, 2003.
https://pdos.csail.mit.edu/6.824/papers/gfs.pdf</a:t>
            </a:r>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16</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5D24-230C-6270-6214-3E867A25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53026-D75E-0E0C-F4A0-B2BFCACF2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0A957-8562-1954-5E3F-EBB74140409F}"/>
              </a:ext>
            </a:extLst>
          </p:cNvPr>
          <p:cNvSpPr>
            <a:spLocks noGrp="1"/>
          </p:cNvSpPr>
          <p:nvPr>
            <p:ph type="body" idx="1"/>
          </p:nvPr>
        </p:nvSpPr>
        <p:spPr/>
        <p:txBody>
          <a:bodyPr/>
          <a:lstStyle/>
          <a:p>
            <a:r>
              <a:rPr lang="en-US" dirty="0"/>
              <a:t>So far, we have examined the pieces separately: sharding for throughput, replication for failures, and coordination for consistency. GFS is useful because it shows how those pieces interact inside one complete system.</a:t>
            </a:r>
          </a:p>
          <a:p>
            <a:endParaRPr lang="en-US" dirty="0"/>
          </a:p>
          <a:p>
            <a:r>
              <a:rPr lang="en-US" dirty="0"/>
              <a:t>The paper connects decisions across several levels. It begins with the applications and their workload. Those requirements determine the file-system interface, the division of work between the master and chunkservers, the replication protocol, and the way data moves through the network. We can follow a requirement at the top of the stack down to a concrete mechanism and its cost.</a:t>
            </a:r>
          </a:p>
          <a:p>
            <a:endParaRPr lang="en-US" dirty="0"/>
          </a:p>
          <a:p>
            <a:r>
              <a:rPr lang="en-US" dirty="0"/>
              <a:t>GFS also gives us production evidence. Google deployed it at large scale and used it for years, so the paper can discuss the failures and operational problems that appeared in practice. That lets us judge the design by the applications it actually supported, while keeping the original workload assumptions in view.</a:t>
            </a:r>
          </a:p>
          <a:p>
            <a:endParaRPr lang="en-US" dirty="0"/>
          </a:p>
          <a:p>
            <a:r>
              <a:rPr lang="en-US" dirty="0"/>
              <a:t>This is why the paper works well as a case study: it presents an end-to-end design and enough real experience to evaluate the tradeoffs.</a:t>
            </a:r>
          </a:p>
          <a:p>
            <a:endParaRPr lang="en-US" dirty="0"/>
          </a:p>
          <a:p>
            <a:r>
              <a:rPr lang="en-US" dirty="0"/>
              <a:t>SOURCE
MIT 6.824, Spring 2020, Lecture 3 transcript/video, 00:50–01:38 and 14:54–15:43.
Local transcript: fall2026/lectures/references/mit-6824-2020-lecture3-gfs-transcript.txt
https://www.youtube.com/watch?v=EpIgvowZr00
Ghemawat, Gobioff, and Leung, The Google File System, Sections 1, 2, and 6.
https://pdos.csail.mit.edu/6.824/papers/gfs.pdf</a:t>
            </a:r>
          </a:p>
        </p:txBody>
      </p:sp>
      <p:sp>
        <p:nvSpPr>
          <p:cNvPr id="4" name="Slide Number Placeholder 3">
            <a:extLst>
              <a:ext uri="{FF2B5EF4-FFF2-40B4-BE49-F238E27FC236}">
                <a16:creationId xmlns:a16="http://schemas.microsoft.com/office/drawing/2014/main" id="{2069476A-DD91-FBC3-1B32-A751589B309A}"/>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32654974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The scale and failure problems from the first part of the lecture now become three concrete requirements for GFS.</a:t>
            </a:r>
          </a:p>
          <a:p>
            <a:endParaRPr lang="en-US" dirty="0"/>
          </a:p>
          <a:p>
            <a:r>
              <a:rPr lang="en-US" dirty="0"/>
              <a:t>First, Google needed one storage system that was big and fast enough for many services, including web crawling, search-index construction, server-log analysis, MapReduce jobs, and later video. Instead of building a separate storage system for each application, GFS provides one shared file system. It divides files into chunks and distributes them across servers, so capacity and parallel throughput grow with the cluster.</a:t>
            </a:r>
          </a:p>
          <a:p>
            <a:endParaRPr lang="en-US" dirty="0"/>
          </a:p>
          <a:p>
            <a:r>
              <a:rPr lang="en-US" dirty="0"/>
              <a:t>Second, the file system had to be global within one data center. Different applications can name and read the same files. A crawler can produce a data set, and an indexing job can consume it directly without copying the data into a separate storage silo.</a:t>
            </a:r>
          </a:p>
          <a:p>
            <a:endParaRPr lang="en-US" dirty="0"/>
          </a:p>
          <a:p>
            <a:r>
              <a:rPr lang="en-US" dirty="0"/>
              <a:t>Third, management had to be automatic. GFS places chunks, detects lost replicas, and creates new replicas when machines or disks fail. The applications should continue using files without an operator repairing each failure by hand.</a:t>
            </a:r>
          </a:p>
          <a:p>
            <a:endParaRPr lang="en-US" dirty="0"/>
          </a:p>
          <a:p>
            <a:r>
              <a:rPr lang="en-US" dirty="0"/>
              <a:t>The HDFS demo shows these requirements in a small cluster: one shared namespace, a large file divided into blocks across several servers, and automatic reconstruction after a server fails.</a:t>
            </a:r>
          </a:p>
          <a:p>
            <a:endParaRPr lang="en-US" dirty="0"/>
          </a:p>
          <a:p>
            <a:r>
              <a:rPr lang="en-US" dirty="0"/>
              <a:t>SOURCE
MIT 6.824, Spring 2020, Lecture 3 transcript/video, 15:43–18:55.
Local transcript: fall2026/lectures/references/mit-6824-2020-lecture3-gfs-transcript.txt
https://www.youtube.com/watch?v=EpIgvowZr00
Ghemawat, Gobioff, and Leung, The Google File System, Sections 1, 2.1, and 2.3.
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rPr lang="en-US" dirty="0"/>
              <a:t>The demo showed the mechanisms at a small scale. Those mechanisms make sense because GFS serves a deliberately specialized environment rather than every possible storage workload.</a:t>
            </a:r>
          </a:p>
          <a:p>
            <a:endParaRPr lang="en-US" dirty="0"/>
          </a:p>
          <a:p>
            <a:r>
              <a:rPr lang="en-US" dirty="0"/>
              <a:t>One GFS deployment lives inside a single data center. It does not try to keep replicas synchronized across distant sites with wide-area delays and network partitions. It is also an internal service for Google applications. Because Google controls both the storage system and most of its clients, application developers can understand the guarantees and adapt their data formats when necessary.</a:t>
            </a:r>
          </a:p>
          <a:p>
            <a:endParaRPr lang="en-US" dirty="0"/>
          </a:p>
          <a:p>
            <a:r>
              <a:rPr lang="en-US" dirty="0"/>
              <a:t>The expected workload is dominated by very large files. Reads are usually long sequential streams, with some small random reads. Writes are mainly large sequential appends, including cases where many clients append to the same file. Small writes at arbitrary offsets are possible, but they are not the design center.</a:t>
            </a:r>
          </a:p>
          <a:p>
            <a:endParaRPr lang="en-US" dirty="0"/>
          </a:p>
          <a:p>
            <a:r>
              <a:rPr lang="en-US" dirty="0"/>
              <a:t>This workload values aggregate throughput more than the response time of one tiny operation. A database holding bank-account records needs fast random updates and strong transactional behavior. GFS was designed for crawls, indexes, logs, and batch-processing pipelines.</a:t>
            </a:r>
          </a:p>
          <a:p>
            <a:endParaRPr lang="en-US" dirty="0"/>
          </a:p>
          <a:p>
            <a:r>
              <a:rPr lang="en-US" dirty="0"/>
              <a:t>These assumptions provide design freedom. GFS can optimize the operations Google performs constantly and accept weaker behavior in cases its applications can detect, retry, or avoid.</a:t>
            </a:r>
          </a:p>
          <a:p>
            <a:endParaRPr lang="en-US" dirty="0"/>
          </a:p>
          <a:p>
            <a:r>
              <a:rPr lang="en-US" dirty="0"/>
              <a:t>SOURCE
MIT 6.824, Spring 2020, Lecture 3 transcript/video, 18:07–20:39.
Local transcript: fall2026/lectures/references/mit-6824-2020-lecture3-gfs-transcript.txt
https://www.youtube.com/watch?v=EpIgvowZr00
Ghemawat, Gobioff, and Leung, The Google File System, Sections 1 and 2.1.
https://pdos.csail.mit.edu/6.824/papers/gfs.pdf</a:t>
            </a:r>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rPr lang="en-US" dirty="0"/>
              <a:t>Given those assumptions, what did the paper contribute? Distribution, sharding, replication, and fault tolerance were already established ideas in 2003. The research contribution was the way GFS combined them into a complete system and the evidence that the resulting design worked at production scale.</a:t>
            </a:r>
          </a:p>
          <a:p>
            <a:endParaRPr lang="en-US" dirty="0"/>
          </a:p>
          <a:p>
            <a:r>
              <a:rPr lang="en-US" dirty="0"/>
              <a:t>The first contribution is that operational evidence. Google needed the system to survive real failures, support real applications, and remain economical on commodity hardware. The paper reports experience from a deployed system rather than results from a small prototype.</a:t>
            </a:r>
          </a:p>
          <a:p>
            <a:endParaRPr lang="en-US" dirty="0"/>
          </a:p>
          <a:p>
            <a:r>
              <a:rPr lang="en-US" dirty="0"/>
              <a:t>The second contribution is the successful use of relaxed consistency. GFS accepts some anomalous results when avoiding them would require more coordination. That choice fits data such as a search index, where one missing result may go unnoticed. It does not fit data such as ad billing, where every recorded impression affects money. Applications can also protect themselves by attaching checksums and marking record boundaries, allowing readers to detect corruption or incomplete records.</a:t>
            </a:r>
          </a:p>
          <a:p>
            <a:endParaRPr lang="en-US" dirty="0"/>
          </a:p>
          <a:p>
            <a:r>
              <a:rPr lang="en-US" dirty="0"/>
              <a:t>The third contribution is the successful use of one master for metadata. Centralizing metadata makes namespace and placement decisions simpler. The clients still transfer file data directly to chunkservers, so the master does not carry the system's data bandwidth. The choice was surprising in an academic system, and the production experience showed that it worked for the original workload.</a:t>
            </a:r>
          </a:p>
          <a:p>
            <a:endParaRPr lang="en-US" dirty="0"/>
          </a:p>
          <a:p>
            <a:r>
              <a:rPr lang="en-US" dirty="0"/>
              <a:t>With the goals, assumptions, and contributions established, we can now examine that master-and-chunkserver architecture in detail.</a:t>
            </a:r>
          </a:p>
          <a:p>
            <a:endParaRPr lang="en-US" dirty="0"/>
          </a:p>
          <a:p>
            <a:r>
              <a:rPr lang="en-US" dirty="0"/>
              <a:t>SOURCE
MIT 6.824, Spring 2020, Lecture 3 transcript/video, 20:39–23:59.
Local transcript: fall2026/lectures/references/mit-6824-2020-lecture3-gfs-transcript.txt
https://www.youtube.com/watch?v=EpIgvowZr00
Ghemawat, Gobioff, and Leung, The Google File System, Sections 1, 2.3, 2.4, 2.7, and 6.
https://pdos.csail.mit.edu/6.824/papers/gfs.pdf</a:t>
            </a:r>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r>
              <a:rPr lang="en-US" dirty="0"/>
              <a:t>The architecture makes the single-master choice more concrete. There is one master, many chunkservers, and a GFS client library linked into each application.</a:t>
            </a:r>
          </a:p>
          <a:p>
            <a:endParaRPr lang="en-US" dirty="0"/>
          </a:p>
          <a:p>
            <a:r>
              <a:rPr lang="en-US" dirty="0"/>
              <a:t>The master controls the file system. It knows the namespace, how each file is divided into chunks, where the replicas are, and which replica currently coordinates mutations. The chunkservers hold the actual file data on their local disks.</a:t>
            </a:r>
          </a:p>
          <a:p>
            <a:endParaRPr lang="en-US" dirty="0"/>
          </a:p>
          <a:p>
            <a:r>
              <a:rPr lang="en-US" dirty="0"/>
              <a:t>The key is that control and data take different paths. A client asks the master where to find a chunk, but the file data moves directly between the client and a chunkserver. The master can make decisions using a global view without carrying every byte read or written. That is how GFS gains the simplicity of one master without placing the master in the main data path.</a:t>
            </a:r>
          </a:p>
          <a:p>
            <a:endParaRPr lang="en-US" dirty="0"/>
          </a:p>
          <a:p>
            <a:r>
              <a:rPr lang="en-US" dirty="0"/>
              <a:t>SOURCE
MIT 6.824, Spring 2020, Lecture 3 transcript/video, 23:05–24:48.
Local transcript: fall2026/lectures/references/mit-6824-2020-lecture3-gfs-transcript.txt
https://www.youtube.com/watch?v=EpIgvowZr00
Ghemawat, Gobioff, and Leung, The Google File System, Sections 2.3 and 2.4.
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rPr lang="en-US" dirty="0"/>
              <a:t>Now we can unpack the same architecture more precisely. Every component is a user-level process running on a commodity Linux machine. A machine may run a client, a chunkserver, or both, although separating them can reduce interference from application failures.</a:t>
            </a:r>
          </a:p>
          <a:p>
            <a:endParaRPr lang="en-US" dirty="0"/>
          </a:p>
          <a:p>
            <a:r>
              <a:rPr lang="en-US" dirty="0"/>
              <a:t>GFS divides a file into fixed-size chunks, normally 64 megabytes. When it creates a chunk, the master assigns an immutable 64-bit chunk handle. A chunkserver stores that chunk as an ordinary Linux file and accesses it using the handle and a byte range.</a:t>
            </a:r>
          </a:p>
          <a:p>
            <a:endParaRPr lang="en-US" dirty="0"/>
          </a:p>
          <a:p>
            <a:r>
              <a:rPr lang="en-US" dirty="0"/>
              <a:t>Each chunk normally has three replicas on different chunkservers. Replication keeps the chunk available after a machine or disk failure and gives the client a choice of replicas when reading.</a:t>
            </a:r>
          </a:p>
          <a:p>
            <a:endParaRPr lang="en-US" dirty="0"/>
          </a:p>
          <a:p>
            <a:r>
              <a:rPr lang="en-US" dirty="0"/>
              <a:t>The client library talks to both sides of the system. For metadata, it sends the file name and chunk index to the master. The master replies with the chunk handle and the replica locations. The client caches that answer, chooses a suitable replica, and transfers data directly with that chunkserver. Later operations on the same chunk can reuse the cached location information.</a:t>
            </a:r>
          </a:p>
          <a:p>
            <a:endParaRPr lang="en-US" dirty="0"/>
          </a:p>
          <a:p>
            <a:r>
              <a:rPr lang="en-US" dirty="0"/>
              <a:t>This direct transfer between clients and chunkservers is one of the most important performance decisions in GFS. If every read and write passed through the single master, the master's network link and memory bandwidth would limit the throughput of the entire cluster. Adding more chunkservers would add disks, but all of their data would still have to cross one machine.</a:t>
            </a:r>
          </a:p>
          <a:p>
            <a:endParaRPr lang="en-US" dirty="0"/>
          </a:p>
          <a:p>
            <a:r>
              <a:rPr lang="en-US" dirty="0"/>
              <a:t>GFS removes that bottleneck. The master handles small metadata requests, and clients cache the replies. The much larger streams of file data are distributed across many client-to-chunkserver connections. As the cluster adds chunkservers, it also adds data-serving bandwidth without forcing the master to carry those bytes.</a:t>
            </a:r>
          </a:p>
          <a:p>
            <a:endParaRPr lang="en-US" dirty="0"/>
          </a:p>
          <a:p>
            <a:r>
              <a:rPr lang="en-US" dirty="0"/>
              <a:t>That is the meaning of the two arrow types in the figure. Control messages go through the master. Data messages bypass it. The single master supplies a global view, while the chunkservers provide parallel data throughput.</a:t>
            </a:r>
          </a:p>
          <a:p>
            <a:endParaRPr lang="en-US" dirty="0"/>
          </a:p>
          <a:p>
            <a:r>
              <a:rPr lang="en-US" dirty="0"/>
              <a:t>SOURCE
MIT 6.824, Spring 2020, Lecture 3 transcript/video, 23:05–24:48 and 31:21–33:59.
Local transcript: fall2026/lectures/references/mit-6824-2020-lecture3-gfs-transcript.txt
https://www.youtube.com/watch?v=EpIgvowZr00
Ghemawat, Gobioff, and Leung, The Google File System, Sections 2.3 and 2.4.
https://pdos.csail.mit.edu/6.824/papers/gfs.pdf</a:t>
            </a:r>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The master maintains one global view of the cluster. Its namespace maps file names to ordered arrays of chunk handles. For each chunk, it tracks metadata such as the version number and learns which chunkservers currently hold replicas. During a mutation, it also records the primary and the lease expiration time.</a:t>
            </a:r>
          </a:p>
          <a:p>
            <a:endParaRPr lang="en-US" dirty="0"/>
          </a:p>
          <a:p>
            <a:r>
              <a:rPr lang="en-US" dirty="0"/>
              <a:t>That global view allows the master to make cluster-wide decisions. It chooses where to place new chunks, creates replacement replicas after failures, moves chunks to balance load and disk usage, and removes chunks that no longer belong to any file. A chunkserver sees only its own local files, so it cannot make these decisions by itself.</a:t>
            </a:r>
          </a:p>
          <a:p>
            <a:endParaRPr lang="en-US" dirty="0"/>
          </a:p>
          <a:p>
            <a:r>
              <a:rPr lang="en-US" dirty="0"/>
              <a:t>Keeping all metadata in memory is the second key performance decision behind the single-master design. A client needs a metadata answer before it can contact a chunkserver. If the master performed a disk access for every lookup, that delay and disk throughput would quickly make one master a bottleneck. An in-memory lookup is fast, so the master can answer many clients while the data transfers proceed elsewhere.</a:t>
            </a:r>
          </a:p>
          <a:p>
            <a:endParaRPr lang="en-US" dirty="0"/>
          </a:p>
          <a:p>
            <a:r>
              <a:rPr lang="en-US" dirty="0"/>
              <a:t>In-memory metadata also makes the master's background work efficient. It can scan the complete chunk table to find under-replicated chunks, identify garbage, and plan load balancing without issuing millions of random disk reads.</a:t>
            </a:r>
          </a:p>
          <a:p>
            <a:endParaRPr lang="en-US" dirty="0"/>
          </a:p>
          <a:p>
            <a:r>
              <a:rPr lang="en-US" dirty="0"/>
              <a:t>The large chunk size makes this possible. At less than 64 bytes of metadata per 64-megabyte chunk, 640 terabytes of full chunks requires less than about 640 megabytes of per-chunk metadata. GFS deliberately pairs large chunks with in-memory metadata so that one master can retain a global view without slowing down the common lookup path.</a:t>
            </a:r>
          </a:p>
          <a:p>
            <a:endParaRPr lang="en-US" dirty="0"/>
          </a:p>
          <a:p>
            <a:r>
              <a:rPr lang="en-US" dirty="0"/>
              <a:t>The master and chunkservers exchange periodic heartbeat messages. A chunkserver reports its state and the chunks it holds. The master uses the reply to send instructions, such as creating or deleting a replica. These heartbeats keep the in-memory view current as machines join, fail, and restart.</a:t>
            </a:r>
          </a:p>
          <a:p>
            <a:endParaRPr lang="en-US" dirty="0"/>
          </a:p>
          <a:p>
            <a:r>
              <a:rPr lang="en-US" dirty="0"/>
              <a:t>Keeping metadata in memory makes the master fast, but it raises an immediate question: what happens to that state when the master reboots?</a:t>
            </a:r>
          </a:p>
          <a:p>
            <a:endParaRPr lang="en-US" dirty="0"/>
          </a:p>
          <a:p>
            <a:r>
              <a:rPr lang="en-US" dirty="0"/>
              <a:t>SOURCE
MIT 6.824, Spring 2020, Lecture 3 transcript/video, 24:48–27:17.
Local transcript: fall2026/lectures/references/mit-6824-2020-lecture3-gfs-transcript.txt
https://www.youtube.com/watch?v=EpIgvowZr00
Ghemawat, Gobioff, and Leung, The Google File System, Sections 2.3, 2.6.1, 2.6.2, 4.3, and 4.4.
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To answer that question, separate the metadata that must survive from the metadata that can be reconstructed.</a:t>
            </a:r>
          </a:p>
          <a:p>
            <a:endParaRPr lang="en-US" dirty="0"/>
          </a:p>
          <a:p>
            <a:r>
              <a:rPr lang="en-US" dirty="0"/>
              <a:t>The file name to chunk-handle mapping must survive. No chunkserver knows the complete order of chunks that forms a file. Chunk version numbers must also survive because the master later uses them to distinguish current replicas from stale replicas that missed mutations.</a:t>
            </a:r>
          </a:p>
          <a:p>
            <a:endParaRPr lang="en-US" dirty="0"/>
          </a:p>
          <a:p>
            <a:r>
              <a:rPr lang="en-US" dirty="0"/>
              <a:t>The replica locations do not need to be written to disk. After a restart, the master asks every chunkserver which chunks it actually holds. This is more reliable than trying to keep an on-disk location table synchronized while chunkservers fail, restart, change names, or lose disks. The chunkserver has the final word about what remains on its own storage.</a:t>
            </a:r>
          </a:p>
          <a:p>
            <a:endParaRPr lang="en-US" dirty="0"/>
          </a:p>
          <a:p>
            <a:r>
              <a:rPr lang="en-US" dirty="0"/>
              <a:t>The identity of a primary and its lease expiration also do not need to survive. If the master forgets the current primary, it waits for one lease period. After that time, any old primary has lost the right to act, and the master can safely assign a new one.</a:t>
            </a:r>
          </a:p>
          <a:p>
            <a:endParaRPr lang="en-US" dirty="0"/>
          </a:p>
          <a:p>
            <a:r>
              <a:rPr lang="en-US" dirty="0"/>
              <a:t>The persistent part of the master's state is recorded in an operation log. Before a metadata change becomes visible to a client, the master flushes the corresponding log record to its local disk and to remote replicas of the log. The log also establishes one order for concurrent namespace operations.</a:t>
            </a:r>
          </a:p>
          <a:p>
            <a:endParaRPr lang="en-US" dirty="0"/>
          </a:p>
          <a:p>
            <a:r>
              <a:rPr lang="en-US" dirty="0"/>
              <a:t>Appending to a log is efficient because several records can be batched into one sequential disk write. A log grows forever, however, so the master periodically creates a checkpoint of its complete state. After a reboot, it loads the latest complete checkpoint, replays only the newer log records, and asks the chunkservers for their current replica lists.</a:t>
            </a:r>
          </a:p>
          <a:p>
            <a:endParaRPr lang="en-US" dirty="0"/>
          </a:p>
          <a:p>
            <a:r>
              <a:rPr lang="en-US" dirty="0"/>
              <a:t>This design keeps normal lookups in memory while preserving the information that cannot be reconstructed after a crash.</a:t>
            </a:r>
          </a:p>
          <a:p>
            <a:endParaRPr lang="en-US" dirty="0"/>
          </a:p>
          <a:p>
            <a:r>
              <a:rPr lang="en-US" dirty="0"/>
              <a:t>SOURCE
MIT 6.824, Spring 2020, Lecture 3 transcript/video, 27:17–31:21.
Local transcript: fall2026/lectures/references/mit-6824-2020-lecture3-gfs-transcript.txt
https://www.youtube.com/watch?v=EpIgvowZr00
Ghemawat, Gobioff, and Leung, The Google File System, Sections 2.6.1, 2.6.2, and 2.6.3.
https://pdos.csail.mit.edu/6.824/papers/gfs.pdf</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The chunkservers are the data side of the architecture. Each one stores chunk replicas as ordinary Linux files, identified by their chunk handles. GFS relies on the local Linux file system and its buffer cache rather than building another disk format or data cache inside the chunkserver.</a:t>
            </a:r>
          </a:p>
          <a:p>
            <a:endParaRPr lang="en-US" dirty="0"/>
          </a:p>
          <a:p>
            <a:r>
              <a:rPr lang="en-US" dirty="0"/>
              <a:t>The 64-megabyte chunk size is much larger than a conventional file-system block. A large chunk reduces the number of chunk records the master must keep. It also reduces client-master traffic because one location lookup can support many operations on the same chunk. For sequential workloads, a client can keep one connection to a chunkserver and transfer a long region of data efficiently.</a:t>
            </a:r>
          </a:p>
          <a:p>
            <a:endParaRPr lang="en-US" dirty="0"/>
          </a:p>
          <a:p>
            <a:r>
              <a:rPr lang="en-US" dirty="0"/>
              <a:t>The main space concern is internal fragmentation. GFS avoids reserving all 64 megabytes when a chunk is created. The Linux file grows only as data is written, so a partially filled last chunk consumes only the space it needs.</a:t>
            </a:r>
          </a:p>
          <a:p>
            <a:endParaRPr lang="en-US" dirty="0"/>
          </a:p>
          <a:p>
            <a:r>
              <a:rPr lang="en-US" dirty="0"/>
              <a:t>A large chunk can still create a hot spot when a small file occupies one chunk and hundreds of clients read it at once. The paper reports this happening when many machines simultaneously fetched the same executable. Google handled that case with more replicas and staggered start times. The normal workload of large, multi-chunk files made the tradeoff acceptable.</a:t>
            </a:r>
          </a:p>
          <a:p>
            <a:endParaRPr lang="en-US" dirty="0"/>
          </a:p>
          <a:p>
            <a:r>
              <a:rPr lang="en-US" dirty="0"/>
              <a:t>Chunkservers send heartbeats to the master. If a machine disappears or a replica becomes unavailable, the master selects a healthy copy and instructs chunkservers to create another replica. The master coordinates recovery, while the chunk data moves between chunkservers.</a:t>
            </a:r>
          </a:p>
          <a:p>
            <a:endParaRPr lang="en-US" dirty="0"/>
          </a:p>
          <a:p>
            <a:r>
              <a:rPr lang="en-US" dirty="0"/>
              <a:t>The HDFS demo now makes these roles concrete at a smaller scale: the NameNode holds metadata, the DataNodes hold the block files, and losing one DataNode causes the system to rebuild the missing replicas automatically.</a:t>
            </a:r>
          </a:p>
          <a:p>
            <a:endParaRPr lang="en-US" dirty="0"/>
          </a:p>
          <a:p>
            <a:r>
              <a:rPr lang="en-US" dirty="0"/>
              <a:t>SOURCE
MIT 6.824, Spring 2020, Lecture 3 transcript/video, 23:59–24:48.
Local transcript: fall2026/lectures/references/mit-6824-2020-lecture3-gfs-transcript.txt
https://www.youtube.com/watch?v=EpIgvowZr00
Ghemawat, Gobioff, and Leung, The Google File System, Sections 2.3, 2.5, 2.6.2, and 4.3.
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TERMINAL</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rPr lang="en-US" dirty="0"/>
              <a:t>The demo gave us the static picture: one service holds the metadata, many servers hold the data, and the system repairs lost replicas. Now we can follow what happens when an application actually accesses a file.</a:t>
            </a:r>
          </a:p>
          <a:p>
            <a:endParaRPr lang="en-US" dirty="0"/>
          </a:p>
          <a:p>
            <a:r>
              <a:rPr lang="en-US" dirty="0"/>
              <a:t>We will begin with a read because it uses the architecture in its simplest form. The client needs the master to translate a file name and a position into a chunk handle and replica locations. Once it has that metadata, it reads the bytes directly from a chunkserver.</a:t>
            </a:r>
          </a:p>
          <a:p>
            <a:endParaRPr lang="en-US" dirty="0"/>
          </a:p>
          <a:p>
            <a:r>
              <a:rPr lang="en-US" dirty="0"/>
              <a:t>A write uses the same separation between metadata and data, but it introduces an additional problem. Every replica must apply mutations in one common order. Otherwise we recreate the divergent replicas from the beginning of the lecture.</a:t>
            </a:r>
          </a:p>
          <a:p>
            <a:endParaRPr lang="en-US" dirty="0"/>
          </a:p>
          <a:p>
            <a:r>
              <a:rPr lang="en-US" dirty="0"/>
              <a:t>So the read path will show why one master can remain lightly loaded. The write path will show how GFS adds a primary, secondaries, leases, and version numbers to coordinate replicated data.</a:t>
            </a:r>
          </a:p>
          <a:p>
            <a:endParaRPr lang="en-US" dirty="0"/>
          </a:p>
          <a:p>
            <a:r>
              <a:rPr lang="en-US" dirty="0"/>
              <a:t>SOURCE
MIT 6.824, Spring 2020, Lecture 3 transcript/video, 31:21–32:12 and 39:17–40:51.
Local transcript: fall2026/lectures/references/mit-6824-2020-lecture3-gfs-transcript.txt
https://www.youtube.com/watch?v=EpIgvowZr00
Ghemawat, Gobioff, and Leung, The Google File System, Sections 2.4 and 3.1.
https://pdos.csail.mit.edu/6.824/papers/gfs.pdf</a:t>
            </a:r>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rPr lang="en-US" dirty="0"/>
              <a:t>Suppose the application wants to read a range of bytes from a named file. The GFS client library first uses the fixed 64-megabyte chunk size to determine which chunk contains the starting offset.</a:t>
            </a:r>
          </a:p>
          <a:p>
            <a:endParaRPr lang="en-US" dirty="0"/>
          </a:p>
          <a:p>
            <a:r>
              <a:rPr lang="en-US" dirty="0"/>
              <a:t>If the client has not cached the answer, it sends the file name and chunk index to the master. The master uses its file-to-chunk table to find the chunk handle, then uses the chunk metadata to find the chunkservers holding replicas. It returns the handle and the replica locations to the client.</a:t>
            </a:r>
          </a:p>
          <a:p>
            <a:endParaRPr lang="en-US" dirty="0"/>
          </a:p>
          <a:p>
            <a:r>
              <a:rPr lang="en-US" dirty="0"/>
              <a:t>The client caches that mapping. This matters because an application may read a large file in many smaller operations. As long as those reads remain in the same chunk and the cached information is valid, the client does not need to ask the master again.</a:t>
            </a:r>
          </a:p>
          <a:p>
            <a:endParaRPr lang="en-US" dirty="0"/>
          </a:p>
          <a:p>
            <a:r>
              <a:rPr lang="en-US" dirty="0"/>
              <a:t>The client chooses one replica, normally a chunkserver that appears close in the network, and sends that server the chunk handle and the byte range within the chunk. The chunkserver opens the corresponding Linux file, reads the requested bytes, and returns them directly to the client.</a:t>
            </a:r>
          </a:p>
          <a:p>
            <a:endParaRPr lang="en-US" dirty="0"/>
          </a:p>
          <a:p>
            <a:r>
              <a:rPr lang="en-US" dirty="0"/>
              <a:t>If a request crosses a chunk boundary, the client library divides it into separate chunk requests and combines the returned bytes for the application. The application continues to think in terms of a file name and file offsets. The library and master translate that view into chunk operations.</a:t>
            </a:r>
          </a:p>
          <a:p>
            <a:endParaRPr lang="en-US" dirty="0"/>
          </a:p>
          <a:p>
            <a:r>
              <a:rPr lang="en-US" dirty="0"/>
              <a:t>SOURCE
MIT 6.824, Spring 2020, Lecture 3 transcript/video, 31:21–39:17.
Local transcript: fall2026/lectures/references/mit-6824-2020-lecture3-gfs-transcript.txt
https://www.youtube.com/watch?v=EpIgvowZr00
Ghemawat, Gobioff, and Leung, The Google File System, Section 2.4.
https://pdos.csail.mit.edu/6.824/papers/gfs.pdf</a:t>
            </a:r>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rPr lang="en-US" dirty="0"/>
              <a:t>The read path explains how GFS can use one master without sending all traffic through one machine. The master answers the naming question: which chunk represents this part of the file, and which servers hold it? The chunkserver answers the data question by returning the bytes.</a:t>
            </a:r>
          </a:p>
          <a:p>
            <a:endParaRPr lang="en-US" dirty="0"/>
          </a:p>
          <a:p>
            <a:r>
              <a:rPr lang="en-US" dirty="0"/>
              <a:t>The client caches the master's answer, so a long sequential scan needs far fewer master requests than data requests. The master handles small metadata messages, while many clients read different chunks from many chunkservers in parallel.</a:t>
            </a:r>
          </a:p>
          <a:p>
            <a:endParaRPr lang="en-US" dirty="0"/>
          </a:p>
          <a:p>
            <a:r>
              <a:rPr lang="en-US" dirty="0"/>
              <a:t>Reading needs only one suitable replica. Writing is harder because the replicas are no longer interchangeable if they apply concurrent mutations in different orders. The client already knows which chunkservers hold the replicas, but it cannot let each server choose its own order.</a:t>
            </a:r>
          </a:p>
          <a:p>
            <a:endParaRPr lang="en-US" dirty="0"/>
          </a:p>
          <a:p>
            <a:r>
              <a:rPr lang="en-US" dirty="0"/>
              <a:t>This brings us back to the failure from the first part of the lecture. Two servers received the same writes in opposite orders and ended with different values. GFS prevents that by giving one replica the authority to order mutations for the chunk.</a:t>
            </a:r>
          </a:p>
          <a:p>
            <a:endParaRPr lang="en-US" dirty="0"/>
          </a:p>
          <a:p>
            <a:r>
              <a:rPr lang="en-US" dirty="0"/>
              <a:t>SOURCE
MIT 6.824, Spring 2020, Lecture 3 transcript/video, 33:11–40:51.
Local transcript: fall2026/lectures/references/mit-6824-2020-lecture3-gfs-transcript.txt
https://www.youtube.com/watch?v=EpIgvowZr00
Ghemawat, Gobioff, and Leung, The Google File System, Sections 2.4 and 3.1.
https://pdos.csail.mit.edu/6.824/papers/gfs.pdf</a:t>
            </a:r>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For every chunk being modified, the master designates one up-to-date replica as the primary. The other up-to-date replicas are secondaries. The primary receives the write command and chooses one serial order for all concurrent mutations to that chunk.</a:t>
            </a:r>
          </a:p>
          <a:p>
            <a:endParaRPr lang="en-US" dirty="0"/>
          </a:p>
          <a:p>
            <a:r>
              <a:rPr lang="en-US" dirty="0"/>
              <a:t>The primary then tells the secondaries to apply the mutations in that same order. The network may deliver requests to different servers at different times, but the replicas no longer use arrival order to decide what happens. They follow the order selected by the primary.</a:t>
            </a:r>
          </a:p>
          <a:p>
            <a:endParaRPr lang="en-US" dirty="0"/>
          </a:p>
          <a:p>
            <a:r>
              <a:rPr lang="en-US" dirty="0"/>
              <a:t>This is the rule missing from the broken replication design earlier in the lecture. There, two servers independently chose different legal orders. Here, one primary chooses the order once, and every secondary follows it.</a:t>
            </a:r>
          </a:p>
          <a:p>
            <a:endParaRPr lang="en-US" dirty="0"/>
          </a:p>
          <a:p>
            <a:r>
              <a:rPr lang="en-US" dirty="0"/>
              <a:t>The authority to act as primary comes from a lease granted by the master. The lease has an expiration time, so an old primary eventually loses the right to process mutations even if a network failure prevents the master from contacting it. We will return to the version and lease details after tracing one write.</a:t>
            </a:r>
          </a:p>
          <a:p>
            <a:endParaRPr lang="en-US" dirty="0"/>
          </a:p>
          <a:p>
            <a:r>
              <a:rPr lang="en-US" dirty="0"/>
              <a:t>One wording detail on the slide matters: the client sends the write command to the primary. The file bytes take a separate path to all replicas, which we will see in the next steps.</a:t>
            </a:r>
          </a:p>
          <a:p>
            <a:endParaRPr lang="en-US" dirty="0"/>
          </a:p>
          <a:p>
            <a:r>
              <a:rPr lang="en-US" dirty="0"/>
              <a:t>SOURCE
MIT 6.824, Spring 2020, Lecture 3 transcript/video, 49:51–53:26 and 61:49–64:14.
Local transcript: fall2026/lectures/references/mit-6824-2020-lecture3-gfs-transcript.txt
https://www.youtube.com/watch?v=EpIgvowZr00
Ghemawat, Gobioff, and Leung, The Google File System, Sections 3.1 and 4.5.
https://pdos.csail.mit.edu/6.824/papers/gfs.pdf</a:t>
            </a:r>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rPr lang="en-US" dirty="0"/>
              <a:t>A mutation separates moving the data from deciding when and where to apply it.</a:t>
            </a:r>
          </a:p>
          <a:p>
            <a:endParaRPr lang="en-US" dirty="0"/>
          </a:p>
          <a:p>
            <a:r>
              <a:rPr lang="en-US" dirty="0"/>
              <a:t>First, the client asks the master for the current primary and secondaries of the target chunk. The master returns only replicas with the current chunk version.</a:t>
            </a:r>
          </a:p>
          <a:p>
            <a:endParaRPr lang="en-US" dirty="0"/>
          </a:p>
          <a:p>
            <a:r>
              <a:rPr lang="en-US" dirty="0"/>
              <a:t>Next, the client pushes the data to every replica. The replicas store those bytes temporarily; receiving the bytes does not yet change the visible chunk. In the optimized implementation, the data travels through a pipeline rather than being sent independently from the client to every server.</a:t>
            </a:r>
          </a:p>
          <a:p>
            <a:endParaRPr lang="en-US" dirty="0"/>
          </a:p>
          <a:p>
            <a:r>
              <a:rPr lang="en-US" dirty="0"/>
              <a:t>Once every replica has buffered the data, the client sends the write command to the primary. The primary checks that its lease is still valid, assigns the mutation its place in the serial order, and tells the secondaries to apply the buffered bytes in that same order. Each replica writes the mutation to its local chunk file and acknowledges the primary.</a:t>
            </a:r>
          </a:p>
          <a:p>
            <a:endParaRPr lang="en-US" dirty="0"/>
          </a:p>
          <a:p>
            <a:r>
              <a:rPr lang="en-US" dirty="0"/>
              <a:t>If every secondary acknowledges, the primary reports success to the client. If a server returns an error or does not reply, the primary reports failure. The client then retries the operation from the beginning, including asking the master again in case the replica group has changed.</a:t>
            </a:r>
          </a:p>
          <a:p>
            <a:endParaRPr lang="en-US" dirty="0"/>
          </a:p>
          <a:p>
            <a:r>
              <a:rPr lang="en-US" dirty="0"/>
              <a:t>A retry improves the chance that the operation eventually succeeds, but it also means that part of an earlier attempt may remain on some replicas. That behavior becomes especially important for record append.</a:t>
            </a:r>
          </a:p>
          <a:p>
            <a:endParaRPr lang="en-US" dirty="0"/>
          </a:p>
          <a:p>
            <a:r>
              <a:rPr lang="en-US" dirty="0"/>
              <a:t>SOURCE
MIT 6.824, Spring 2020, Lecture 3 transcript/video, 51:39–57:36.
Local transcript: fall2026/lectures/references/mit-6824-2020-lecture3-gfs-transcript.txt
https://www.youtube.com/watch?v=EpIgvowZr00
Ghemawat, Gobioff, and Leung, The Google File System, Sections 3.1 and 3.2.
https://pdos.csail.mit.edu/6.824/papers/gfs.pdf</a:t>
            </a:r>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An ordinary write includes a file name, a byte offset, and a buffer. If several clients write the same region concurrently, they must coordinate their offsets or accept that the writes may overlap.</a:t>
            </a:r>
          </a:p>
          <a:p>
            <a:endParaRPr lang="en-US" dirty="0"/>
          </a:p>
          <a:p>
            <a:r>
              <a:rPr lang="en-US" dirty="0"/>
              <a:t>Record append changes the interface. The client supplies the file name and the record, but it does not choose an offset. The primary chooses a location at the current end of the chunk and tells every secondary to use that same offset. This allows hundreds of producers to append to one log or queue without coordinating with one another.</a:t>
            </a:r>
          </a:p>
          <a:p>
            <a:endParaRPr lang="en-US" dirty="0"/>
          </a:p>
          <a:p>
            <a:r>
              <a:rPr lang="en-US" dirty="0"/>
              <a:t>If the client receives success, every replica has written the record at the same offset. The guarantee is at least once rather than exactly once. If the client receives an error, some replicas may already contain the record while others do not. The client retries the complete append, and the successful retry may place another copy later in the file.</a:t>
            </a:r>
          </a:p>
          <a:p>
            <a:endParaRPr lang="en-US" dirty="0"/>
          </a:p>
          <a:p>
            <a:r>
              <a:rPr lang="en-US" dirty="0"/>
              <a:t>A reader may therefore encounter padding from abandoned attempts or duplicate records from retries. GFS asks applications to make records self-identifying and self-validating so readers can discard padding, incomplete fragments, and duplicates when necessary.</a:t>
            </a:r>
          </a:p>
          <a:p>
            <a:endParaRPr lang="en-US" dirty="0"/>
          </a:p>
          <a:p>
            <a:r>
              <a:rPr lang="en-US" dirty="0"/>
              <a:t>This interface is closely matched to Google's workload. The system gives many concurrent producers an efficient atomic append, while applications accept and handle the limited anomalies created by failures and retries.</a:t>
            </a:r>
          </a:p>
          <a:p>
            <a:endParaRPr lang="en-US" dirty="0"/>
          </a:p>
          <a:p>
            <a:r>
              <a:rPr lang="en-US" dirty="0"/>
              <a:t>SOURCE
MIT 6.824, Spring 2020, Lecture 3 transcript/video, 40:04–40:51 and 52:29–57:36.
Local transcript: fall2026/lectures/references/mit-6824-2020-lecture3-gfs-transcript.txt
https://www.youtube.com/watch?v=EpIgvowZr00
Ghemawat, Gobioff, and Leung, The Google File System, Sections 2.2, 2.7, and 3.3.
https://pdos.csail.mit.edu/6.824/papers/gfs.pdf</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The write and record-append paths have assumed that the master can return a current primary and set of secondaries. But a chunkserver may have been offline while other replicas received mutations, so simply possessing a chunk with the correct handle does not mean that its contents are up to date.</a:t>
            </a:r>
          </a:p>
          <a:p>
            <a:endParaRPr lang="en-US" dirty="0"/>
          </a:p>
          <a:p>
            <a:r>
              <a:rPr lang="en-US" dirty="0"/>
              <a:t>The master assigns a version number to every chunk. Whenever it establishes a new lease and replica group, it advances that version. The master records the new number persistently, and the selected primary and secondaries record it on their own disks before the group begins serving new mutations.</a:t>
            </a:r>
          </a:p>
          <a:p>
            <a:endParaRPr lang="en-US" dirty="0"/>
          </a:p>
          <a:p>
            <a:r>
              <a:rPr lang="en-US" dirty="0"/>
              <a:t>A replica that was unavailable during this step keeps the older version. When it later reports to the master, the number reveals that it is stale. The master excludes that replica from reads, never designates it as a primary, and eventually garbage-collects it.</a:t>
            </a:r>
          </a:p>
          <a:p>
            <a:endParaRPr lang="en-US" dirty="0"/>
          </a:p>
          <a:p>
            <a:r>
              <a:rPr lang="en-US" dirty="0"/>
              <a:t>The power-failure example explains why the master's copy of the version number must survive. Suppose the master restarts before the chunkservers holding the newest replicas. If it merely accepted the highest version among the first servers to respond, it could mistake an old copy for the current one. Instead, it waits for a replica carrying the version it already knows is current, or it tells the client to retry later.</a:t>
            </a:r>
          </a:p>
          <a:p>
            <a:endParaRPr lang="en-US" dirty="0"/>
          </a:p>
          <a:p>
            <a:r>
              <a:rPr lang="en-US" dirty="0"/>
              <a:t>The system therefore prefers temporary unavailability to silently serving stale data.</a:t>
            </a:r>
          </a:p>
          <a:p>
            <a:endParaRPr lang="en-US" dirty="0"/>
          </a:p>
          <a:p>
            <a:r>
              <a:rPr lang="en-US" dirty="0"/>
              <a:t>SOURCE
MIT 6.824, Spring 2020, Lecture 3 transcript/video, 41:39–50:50.
Local transcript: fall2026/lectures/references/mit-6824-2020-lecture3-gfs-transcript.txt
https://www.youtube.com/watch?v=EpIgvowZr00
Ghemawat, Gobioff, and Leung, The Google File System, Section 4.5.
https://pdos.csail.mit.edu/6.824/papers/gfs.pdf</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rPr lang="en-US" dirty="0"/>
              <a:t>This diagram puts the complete mutation path together and separates control messages from the data path.</a:t>
            </a:r>
          </a:p>
          <a:p>
            <a:endParaRPr lang="en-US" dirty="0"/>
          </a:p>
          <a:p>
            <a:r>
              <a:rPr lang="en-US" dirty="0"/>
              <a:t>First, the client asks the master which chunkservers hold current replicas and which one has the primary lease. The master returns the primary and secondaries. These are small control messages; no file data passes through the master.</a:t>
            </a:r>
          </a:p>
          <a:p>
            <a:endParaRPr lang="en-US" dirty="0"/>
          </a:p>
          <a:p>
            <a:r>
              <a:rPr lang="en-US" dirty="0"/>
              <a:t>The client then pushes the data through the replicas. GFS orders the pipeline by network proximity. The client sends the bytes to one chunkserver, that server forwards them to the next, and the chain continues until every replica has buffered the data. Each machine uses its outgoing bandwidth once, and the path can avoid repeatedly crossing a bottleneck link.</a:t>
            </a:r>
          </a:p>
          <a:p>
            <a:endParaRPr lang="en-US" dirty="0"/>
          </a:p>
          <a:p>
            <a:r>
              <a:rPr lang="en-US" dirty="0"/>
              <a:t>After the replicas acknowledge that they have the bytes, the client sends the write command to the primary. The primary places the mutation in its serial order and forwards the command to the secondaries. Every replica applies the buffered data in that order, and the acknowledgments return through the primary to the client.</a:t>
            </a:r>
          </a:p>
          <a:p>
            <a:endParaRPr lang="en-US" dirty="0"/>
          </a:p>
          <a:p>
            <a:r>
              <a:rPr lang="en-US" dirty="0"/>
              <a:t>The separation serves two different goals. The data pipeline uses the network efficiently. The primary controls the mutation order needed to keep replicas aligned.</a:t>
            </a:r>
          </a:p>
          <a:p>
            <a:endParaRPr lang="en-US" dirty="0"/>
          </a:p>
          <a:p>
            <a:r>
              <a:rPr lang="en-US" dirty="0"/>
              <a:t>The next demo makes the same architectural separation visible in HDFS: a metadata lookup goes to the NameNode, while the file bytes move directly through a DataNode pipeline. HDFS does not implement GFS leases or record append, so those GFS-specific guarantees remain part of the paper rather than the demo.</a:t>
            </a:r>
          </a:p>
          <a:p>
            <a:endParaRPr lang="en-US" dirty="0"/>
          </a:p>
          <a:p>
            <a:r>
              <a:rPr lang="en-US" dirty="0"/>
              <a:t>SOURCE
MIT 6.824, Spring 2020, Lecture 3 transcript/video, 51:39–58:24.
Local transcript: fall2026/lectures/references/mit-6824-2020-lecture3-gfs-transcript.txt
https://www.youtube.com/watch?v=EpIgvowZr00
Ghemawat, Gobioff, and Leung, The Google File System, Sections 3.1 and 3.2.
https://pdos.csail.mit.edu/6.824/papers/gfs.pdf</a:t>
            </a:r>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LIVE DEMO 2, about 4 minutes.</a:t>
            </a:r>
            <a:endParaRPr lang="en-US" dirty="0"/>
          </a:p>
          <a:p>
            <a:r>
              <a:rPr dirty="0"/>
              <a:t>In a terminal: cd ~/work/BU/teaching/ec528/fall2026/lectures/demo/hdfs-gfs &amp;&amp; bash demo2-readwrite.sh</a:t>
            </a:r>
            <a:endParaRPr lang="en-US" dirty="0"/>
          </a:p>
          <a:p>
            <a:r>
              <a:rPr dirty="0"/>
              <a:t>If "Demo 1: HDFS" earlier in the lecture was run with KEEP=1, its cluster is still up and this reuses it in a couple of seconds; otherwise it starts its own, which takes 20 seconds warm and up to 90 seconds cold - run a warm-up before class. Rehearsed 09/16.</a:t>
            </a:r>
            <a:endParaRPr lang="en-US" dirty="0"/>
          </a:p>
          <a:p>
            <a:r>
              <a:rPr dirty="0"/>
              <a:t>Step 1, the read: point at the two kinds of line. One getBlockLocations call to the master for the whole file, then a direct connection per block. Which server serves which block depends on where the replicas are, so with only two live servers a block may come from the same machine as the previous one - say that before a student asks.</a:t>
            </a:r>
            <a:endParaRPr lang="en-US" dirty="0"/>
          </a:p>
          <a:p>
            <a:r>
              <a:rPr dirty="0"/>
              <a:t>Step 2, the write: three blocks means three addBlock calls. For each one the master returns a pipeline of two servers, and the client connects only to the first. That node forwards to the second. This is the slide you just showed: control to the master, data along a chain, and the bytes never touch the master.</a:t>
            </a:r>
            <a:endParaRPr lang="en-US" dirty="0"/>
          </a:p>
          <a:p>
            <a:r>
              <a:rPr dirty="0"/>
              <a:t>Step 3, the operation log: one OP_ADD, three OP_ADD_BLOCK, one OP_CLOSE, one OP_RENAME_OLD. The temporary file name and the rename are the CLI committing the file atomically once the data is written. Tie it back to the Master State slide: this log is what survives a reboot, and block locations are not in it.</a:t>
            </a:r>
            <a:endParaRPr lang="en-US" dirty="0"/>
          </a:p>
          <a:p>
            <a:r>
              <a:rPr dirty="0"/>
              <a:t>What this cannot show: GFS leases, a primary ordering concurrent writes, or record append. HDFS has a single writer per file and no record append, so the anomalies later in the lecture stay on the slides.</a:t>
            </a:r>
            <a:endParaRPr lang="en-US" dirty="0"/>
          </a:p>
          <a:p>
            <a:r>
              <a:rPr dirty="0"/>
              <a:t>SOURCE</a:t>
            </a:r>
            <a:endParaRPr lang="en-US" dirty="0"/>
          </a:p>
          <a:p>
            <a:r>
              <a:rPr dirty="0"/>
              <a:t>Local demo: fall2026/lectures/demo/hdfs-gfs/README.md (Hadoop 3.5.0).</a:t>
            </a:r>
            <a:endParaRPr lang="en-US" dirty="0"/>
          </a:p>
          <a:p>
            <a:r>
              <a:rPr dirty="0"/>
              <a:t>Ghemawat, Gobioff, and Leung, The Google File System, Sections 2.4, 3.1 and 3.2.</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rPr lang="en-US" dirty="0"/>
              <a:t>In the demo, we followed the requests and the data. Now consider what an application can observe when several replicas process a write.</a:t>
            </a:r>
          </a:p>
          <a:p>
            <a:endParaRPr lang="en-US" dirty="0"/>
          </a:p>
          <a:p>
            <a:r>
              <a:rPr lang="en-US" dirty="0"/>
              <a:t>GFS uses two separate terms here. A region is consistent when every client sees the same bytes, no matter which replica it reads. A region is defined when it is consistent and those bytes come from one complete mutation.</a:t>
            </a:r>
          </a:p>
          <a:p>
            <a:endParaRPr lang="en-US" dirty="0"/>
          </a:p>
          <a:p>
            <a:r>
              <a:rPr lang="en-US" dirty="0"/>
              <a:t>Suppose one client performs a write and no other write overlaps it. If the write succeeds, all replicas contain the same result, and the result is exactly what that client wrote. The region is defined.</a:t>
            </a:r>
          </a:p>
          <a:p>
            <a:endParaRPr lang="en-US" dirty="0"/>
          </a:p>
          <a:p>
            <a:r>
              <a:rPr lang="en-US" dirty="0"/>
              <a:t>Now suppose two clients write the same region concurrently. The primary still chooses one order for the individual mutations, and every secondary follows that order, so all replicas can end with the same bytes. But a large client write may have been divided into smaller mutations, and pieces from the two writes may be interleaved. Readers agree, but the result may not equal either complete write. GFS calls that consistent but undefined.</a:t>
            </a:r>
          </a:p>
          <a:p>
            <a:endParaRPr lang="en-US" dirty="0"/>
          </a:p>
          <a:p>
            <a:r>
              <a:rPr lang="en-US" dirty="0"/>
              <a:t>If a mutation fails after only some replicas apply it, readers can get different bytes from different replicas. That region is inconsistent.</a:t>
            </a:r>
          </a:p>
          <a:p>
            <a:endParaRPr lang="en-US" dirty="0"/>
          </a:p>
          <a:p>
            <a:r>
              <a:rPr lang="en-US" dirty="0"/>
              <a:t>So ask two questions separately. Do all readers agree? If they agree, did they receive one complete requested write? Those questions distinguish consistent from defined.</a:t>
            </a:r>
          </a:p>
          <a:p>
            <a:endParaRPr lang="en-US" dirty="0"/>
          </a:p>
          <a:p>
            <a:r>
              <a:rPr lang="en-US" dirty="0"/>
              <a:t>SOURCE
MIT 6.824, Spring 2020, Lecture 3 transcript/video, 67:47–75:11.
Local transcript: fall2026/lectures/references/mit-6824-2020-lecture3-gfs-transcript.txt
https://www.youtube.com/watch?v=EpIgvowZr00
Ghemawat, Gobioff, and Leung, The Google File System, Section 2.7.1.
https://pdos.csail.mit.edu/6.824/papers/gfs.pdf</a:t>
            </a:r>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rPr lang="en-US" dirty="0"/>
              <a:t>Consistent but undefined means that all replicas still agree. Inconsistent content appears when one mutation reaches only part of the replica group.</a:t>
            </a:r>
          </a:p>
          <a:p>
            <a:endParaRPr lang="en-US" dirty="0"/>
          </a:p>
          <a:p>
            <a:r>
              <a:rPr lang="en-US" dirty="0"/>
              <a:t>Suppose the primary applies the mutation and sends it to both secondaries. One secondary writes it, but the other secondary is slow, loses the request, or returns an error. Because every replica did not acknowledge the mutation, the primary reports failure to the client.</a:t>
            </a:r>
          </a:p>
          <a:p>
            <a:endParaRPr lang="en-US" dirty="0"/>
          </a:p>
          <a:p>
            <a:r>
              <a:rPr lang="en-US" dirty="0"/>
              <a:t>GFS does not roll back the copies that already changed. A reader that chooses the primary may see the new data, while another reader that chooses the secondary that missed the mutation may see the old data. The replicas now disagree.</a:t>
            </a:r>
          </a:p>
          <a:p>
            <a:endParaRPr lang="en-US" dirty="0"/>
          </a:p>
          <a:p>
            <a:r>
              <a:rPr lang="en-US" dirty="0"/>
              <a:t>Chunk version numbers do not solve this particular case. The master advances a chunk's version when it creates a new lease and replica group. It does not advance the version for every mutation. These replicas can therefore have the same current version number and still differ because one write failed partway through.</a:t>
            </a:r>
          </a:p>
          <a:p>
            <a:endParaRPr lang="en-US" dirty="0"/>
          </a:p>
          <a:p>
            <a:r>
              <a:rPr lang="en-US" dirty="0"/>
              <a:t>The error tells the writer that it cannot rely on that attempt. Retrying may produce a later successful copy, but the partial result from the failed attempt can remain. Record append makes that consequence easy to see.</a:t>
            </a:r>
          </a:p>
          <a:p>
            <a:endParaRPr lang="en-US" dirty="0"/>
          </a:p>
          <a:p>
            <a:r>
              <a:rPr lang="en-US" dirty="0"/>
              <a:t>SOURCE
MIT 6.824, Spring 2020, Lecture 3 transcript/video, 53:26–60:56 and 67:47–71:49.
Local transcript: fall2026/lectures/references/mit-6824-2020-lecture3-gfs-transcript.txt
https://www.youtube.com/watch?v=EpIgvowZr00
Ghemawat, Gobioff, and Leung, The Google File System, Sections 2.7.1 and 3.1.
https://pdos.csail.mit.edu/6.824/papers/gfs.pdf</a:t>
            </a:r>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rPr lang="en-US" dirty="0"/>
              <a:t>Here is how all replicas can agree on a result that does not equal either client's complete write.</a:t>
            </a:r>
          </a:p>
          <a:p>
            <a:endParaRPr lang="en-US" dirty="0"/>
          </a:p>
          <a:p>
            <a:r>
              <a:rPr lang="en-US" dirty="0"/>
              <a:t>Client one wants to write “ab,” and client two wants to write “xy” over the same region. From the application's point of view, each request looks like one write. Inside the client library, however, a large request may be divided at a chunk boundary or into smaller mutations that GFS can send and retry separately.</a:t>
            </a:r>
          </a:p>
          <a:p>
            <a:endParaRPr lang="en-US" dirty="0"/>
          </a:p>
          <a:p>
            <a:r>
              <a:rPr lang="en-US" dirty="0"/>
              <a:t>The primary orders those smaller mutations. For example, one piece from client two may be followed by one piece from client one. Every secondary applies that same order, so each replica can finish with “xb.” Any reader, on any replica, sees “xb.” The data is therefore consistent.</a:t>
            </a:r>
          </a:p>
          <a:p>
            <a:endParaRPr lang="en-US" dirty="0"/>
          </a:p>
          <a:p>
            <a:r>
              <a:rPr lang="en-US" dirty="0"/>
              <a:t>But “xb” is neither the complete “ab” nor the complete “xy.” GFS cannot tell the application which complete write won, so the region is undefined.</a:t>
            </a:r>
          </a:p>
          <a:p>
            <a:endParaRPr lang="en-US" dirty="0"/>
          </a:p>
          <a:p>
            <a:r>
              <a:rPr lang="en-US" dirty="0"/>
              <a:t>No machine has to fail for this to happen. Concurrent overlapping writes are enough. An application that needs a whole record to appear atomically can use record append, or it can arrange for one writer to own that part of the file.</a:t>
            </a:r>
          </a:p>
          <a:p>
            <a:endParaRPr lang="en-US" dirty="0"/>
          </a:p>
          <a:p>
            <a:r>
              <a:rPr lang="en-US" dirty="0"/>
              <a:t>SOURCE
MIT 6.824, Spring 2020, Lecture 3 transcript/video, 71:49–75:11.
Local transcript: fall2026/lectures/references/mit-6824-2020-lecture3-gfs-transcript.txt
https://www.youtube.com/watch?v=EpIgvowZr00
Ghemawat, Gobioff, and Leung, The Google File System, Sections 2.7.1 and 3.3.
https://pdos.csail.mit.edu/6.824/papers/gfs.pdf</a:t>
            </a:r>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Let us trace three appends across three replicas.</a:t>
            </a:r>
          </a:p>
          <a:p>
            <a:endParaRPr lang="en-US" dirty="0"/>
          </a:p>
          <a:p>
            <a:r>
              <a:rPr lang="en-US" dirty="0"/>
              <a:t>The client first appends record A. The primary chooses the first offset, all three replicas write A there, and the client receives success. At this point the replicas agree.</a:t>
            </a:r>
          </a:p>
          <a:p>
            <a:endParaRPr lang="en-US" dirty="0"/>
          </a:p>
          <a:p>
            <a:r>
              <a:rPr lang="en-US" dirty="0"/>
              <a:t>A second client appends B. The primary and one secondary write B, but the other secondary misses the mutation. The primary returns an error because it did not receive every acknowledgment. The two successful copies do not undo B.</a:t>
            </a:r>
          </a:p>
          <a:p>
            <a:endParaRPr lang="en-US" dirty="0"/>
          </a:p>
          <a:p>
            <a:r>
              <a:rPr lang="en-US" dirty="0"/>
              <a:t>While that client is deciding what to do, another client appends C. For performance, the primary may have many appends in flight. It does not stop the file and resolve B before accepting C. It chooses the next offset and tells every replica to put C there. The replica that missed B leaves padding so that C still lands at the offset chosen by the primary.</a:t>
            </a:r>
          </a:p>
          <a:p>
            <a:endParaRPr lang="en-US" dirty="0"/>
          </a:p>
          <a:p>
            <a:r>
              <a:rPr lang="en-US" dirty="0"/>
              <a:t>The client that received the error for B retries from the beginning. On this attempt all three replicas append B successfully at a later offset.</a:t>
            </a:r>
          </a:p>
          <a:p>
            <a:endParaRPr lang="en-US" dirty="0"/>
          </a:p>
          <a:p>
            <a:r>
              <a:rPr lang="en-US" dirty="0"/>
              <a:t>One replica now contains A, the first B, C, and the retried B. Another contains A, padding where the first B would have been, then C and B. A reader can therefore encounter B twice on one replica, or see only the later copy on another. The relative order of B and C also depends on the replica.</a:t>
            </a:r>
          </a:p>
          <a:p>
            <a:endParaRPr lang="en-US" dirty="0"/>
          </a:p>
          <a:p>
            <a:r>
              <a:rPr lang="en-US" dirty="0"/>
              <a:t>There is a worse case. If the client dies after the failed attempt and never retries, B may remain on only some replicas and never appear on the others.</a:t>
            </a:r>
          </a:p>
          <a:p>
            <a:endParaRPr lang="en-US" dirty="0"/>
          </a:p>
          <a:p>
            <a:r>
              <a:rPr lang="en-US" dirty="0"/>
              <a:t>GFS could wait for every earlier append to finish, or run another protocol to complete or undo a partial mutation. That would require more coordination and would reduce append throughput. GFS instead exposes the uncertain result to the application when it reports an error.</a:t>
            </a:r>
          </a:p>
          <a:p>
            <a:endParaRPr lang="en-US" dirty="0"/>
          </a:p>
          <a:p>
            <a:r>
              <a:rPr lang="en-US" dirty="0"/>
              <a:t>SOURCE
MIT 6.824, Spring 2020, Lecture 3 transcript/video, 67:47–75:11.
Local transcript: fall2026/lectures/references/mit-6824-2020-lecture3-gfs-transcript.txt
https://www.youtube.com/watch?v=EpIgvowZr00
Ghemawat, Gobioff, and Leung, The Google File System, Sections 2.7 and 3.3.
https://pdos.csail.mit.edu/6.824/papers/gfs.pdf</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These anomalies were acceptable only because GFS was designed for a narrow set of applications that Google controlled.</a:t>
            </a:r>
          </a:p>
          <a:p>
            <a:endParaRPr lang="en-US" dirty="0"/>
          </a:p>
          <a:p>
            <a:r>
              <a:rPr lang="en-US" dirty="0"/>
              <a:t>Many files had one sequential writer. For files with many producers, applications used record append and treated the file as a sequence of self-contained records. Each record could carry a checksum and a unique identifier. A reader could reject an incomplete record, skip padding, and discard a duplicate created by a retry.</a:t>
            </a:r>
          </a:p>
          <a:p>
            <a:endParaRPr lang="en-US" dirty="0"/>
          </a:p>
          <a:p>
            <a:r>
              <a:rPr lang="en-US" dirty="0"/>
              <a:t>Many data-processing jobs already expected retries. MapReduce may run a task again after a worker failure, so applications were often written to recognize repeated work or to regenerate an output partition. That made an at-least-once append easier to tolerate than it would be in a general-purpose file system.</a:t>
            </a:r>
          </a:p>
          <a:p>
            <a:endParaRPr lang="en-US" dirty="0"/>
          </a:p>
          <a:p>
            <a:r>
              <a:rPr lang="en-US" dirty="0"/>
              <a:t>An application that required a strict order could avoid concurrent appends, use one writer, or include sequence numbers and reconstruct the order itself. GFS moved that responsibility into the application so the storage protocol could remain simple and keep many appends in flight.</a:t>
            </a:r>
          </a:p>
          <a:p>
            <a:endParaRPr lang="en-US" dirty="0"/>
          </a:p>
          <a:p>
            <a:r>
              <a:rPr lang="en-US" dirty="0"/>
              <a:t>That choice had a real cost. In the later ACM Queue retrospective, Sean Quinlan said the relaxed record-append semantics were more painful for applications than the designers had expected, and Google narrowed the window in which inconsistencies could appear.</a:t>
            </a:r>
          </a:p>
          <a:p>
            <a:endParaRPr lang="en-US" dirty="0"/>
          </a:p>
          <a:p>
            <a:r>
              <a:rPr lang="en-US" dirty="0"/>
              <a:t>This returns to the tradeoff we introduced earlier. Replication improves availability. Stronger consistency requires more coordination, which costs performance and adds recovery work. GFS chose a point that worked well for its main workloads, while leaving visible anomalies after failures.</a:t>
            </a:r>
          </a:p>
          <a:p>
            <a:endParaRPr lang="en-US" dirty="0"/>
          </a:p>
          <a:p>
            <a:r>
              <a:rPr lang="en-US" dirty="0"/>
              <a:t>We can now examine those failures one at a time, beginning with a client that crashes while a write is in progress.</a:t>
            </a:r>
          </a:p>
          <a:p>
            <a:endParaRPr lang="en-US" dirty="0"/>
          </a:p>
          <a:p>
            <a:r>
              <a:rPr lang="en-US" dirty="0"/>
              <a:t>SOURCE
MIT 6.824, Spring 2020, Lecture 3 transcript/video, 71:49–80:05.
Local transcript: fall2026/lectures/references/mit-6824-2020-lecture3-gfs-transcript.txt
https://www.youtube.com/watch?v=EpIgvowZr00
Ghemawat, Gobioff, and Leung, The Google File System, Section 2.7.2.
https://pdos.csail.mit.edu/6.824/papers/gfs.pdf
McKusick and Quinlan, GFS: Evolution on Fast-forward, ACM Queue, 2009.
http://queue.acm.org/detail.cfm?id=1594206</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rPr dirty="0"/>
              <a:t>CUES</a:t>
            </a:r>
            <a:endParaRPr lang="en-US" dirty="0"/>
          </a:p>
          <a:p>
            <a:r>
              <a:rPr dirty="0"/>
              <a:t>Retry transient failures</a:t>
            </a:r>
            <a:endParaRPr lang="en-US" dirty="0"/>
          </a:p>
          <a:p>
            <a:r>
              <a:rPr dirty="0"/>
              <a:t>Return an error if a secondary does not acknowledge</a:t>
            </a:r>
            <a:endParaRPr lang="en-US" dirty="0"/>
          </a:p>
          <a:p>
            <a:r>
              <a:rPr dirty="0"/>
              <a:t>Detect dead </a:t>
            </a:r>
            <a:r>
              <a:rPr dirty="0" err="1"/>
              <a:t>chunkservers</a:t>
            </a:r>
            <a:r>
              <a:rPr dirty="0"/>
              <a:t> through heartbeats</a:t>
            </a:r>
            <a:endParaRPr lang="en-US" dirty="0"/>
          </a:p>
          <a:p>
            <a:r>
              <a:rPr dirty="0"/>
              <a:t>Remove failed replicas and create replacements</a:t>
            </a:r>
            <a:endParaRPr lang="en-US" dirty="0"/>
          </a:p>
          <a:p>
            <a:endParaRPr lang="en-US" dirty="0"/>
          </a:p>
          <a:p>
            <a:r>
              <a:rPr dirty="0"/>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rPr dirty="0"/>
              <a:t>Separately, the master exchanges heartbeat messages with every </a:t>
            </a:r>
            <a:r>
              <a:rPr dirty="0" err="1"/>
              <a:t>chunkserver</a:t>
            </a:r>
            <a:r>
              <a:rPr dirty="0"/>
              <a:t>. When it decides that a server has failed, it removes that server from the replica-location lists and schedules new replicas to restore the target replication level.</a:t>
            </a:r>
            <a:endParaRPr lang="en-US" dirty="0"/>
          </a:p>
          <a:p>
            <a:endParaRPr lang="en-US" dirty="0"/>
          </a:p>
          <a:p>
            <a:r>
              <a:rPr dirty="0"/>
              <a:t>A newly chosen replica group receives a new chunk version. That version lets the master exclude a server that later returns with a stale copy.</a:t>
            </a:r>
            <a:endParaRPr lang="en-US" dirty="0"/>
          </a:p>
          <a:p>
            <a:endParaRPr lang="en-US" dirty="0"/>
          </a:p>
          <a:p>
            <a:r>
              <a:rPr dirty="0"/>
              <a:t>SOURCE</a:t>
            </a:r>
            <a:endParaRPr lang="en-US" dirty="0"/>
          </a:p>
          <a:p>
            <a:r>
              <a:rPr dirty="0"/>
              <a:t>MIT 6.824, Spring 2020, Lecture 3 video, 60:46-65:47.</a:t>
            </a:r>
            <a:endParaRPr lang="en-US" dirty="0"/>
          </a:p>
          <a:p>
            <a:r>
              <a:rPr dirty="0"/>
              <a:t>https://</a:t>
            </a:r>
            <a:r>
              <a:rPr dirty="0" err="1"/>
              <a:t>www.youtube.com</a:t>
            </a:r>
            <a:r>
              <a:rPr dirty="0"/>
              <a:t>/</a:t>
            </a:r>
            <a:r>
              <a:rPr dirty="0" err="1"/>
              <a:t>watch?v</a:t>
            </a:r>
            <a:r>
              <a:rPr dirty="0"/>
              <a:t>=EpIgvowZr00</a:t>
            </a:r>
            <a:endParaRPr lang="en-US" dirty="0"/>
          </a:p>
          <a:p>
            <a:r>
              <a:rPr dirty="0"/>
              <a:t>MIT 6.5840, GFS lecture notes.</a:t>
            </a:r>
            <a:endParaRPr lang="en-US" dirty="0"/>
          </a:p>
          <a:p>
            <a:r>
              <a:rPr dirty="0"/>
              <a:t>https://</a:t>
            </a:r>
            <a:r>
              <a:rPr dirty="0" err="1"/>
              <a:t>pdos.csail.mit.edu</a:t>
            </a:r>
            <a:r>
              <a:rPr dirty="0"/>
              <a:t>/6.824/notes/l-</a:t>
            </a:r>
            <a:r>
              <a:rPr dirty="0" err="1"/>
              <a:t>gfs.txt</a:t>
            </a:r>
            <a:endParaRPr lang="en-US" dirty="0"/>
          </a:p>
          <a:p>
            <a:r>
              <a:rPr dirty="0"/>
              <a:t>Ghemawat, </a:t>
            </a:r>
            <a:r>
              <a:rPr dirty="0" err="1"/>
              <a:t>Gobioff</a:t>
            </a:r>
            <a:r>
              <a:rPr dirty="0"/>
              <a:t>, and Leung, The Google File System, Sections 4.3 and 4.5.</a:t>
            </a:r>
            <a:endParaRPr lang="en-US" dirty="0"/>
          </a:p>
          <a:p>
            <a:r>
              <a:rPr dirty="0"/>
              <a:t>https://</a:t>
            </a:r>
            <a:r>
              <a:rPr dirty="0" err="1"/>
              <a:t>pdos.csail.mit.edu</a:t>
            </a:r>
            <a:r>
              <a:rPr dirty="0"/>
              <a:t>/6.824/papers/</a:t>
            </a:r>
            <a:r>
              <a:rPr dirty="0" err="1"/>
              <a:t>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rPr dirty="0"/>
              <a:t>Re-replication is necessary, but it consumes real time and bandwidth.</a:t>
            </a:r>
            <a:endParaRPr lang="en-US" dirty="0"/>
          </a:p>
          <a:p>
            <a:endParaRPr lang="en-US" dirty="0"/>
          </a:p>
          <a:p>
            <a:r>
              <a:rPr dirty="0"/>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rPr dirty="0"/>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rPr dirty="0"/>
              <a:t>This is a general failure-detector tradeoff. Fast suspicion improves recovery time, while conservative suspicion avoids unnecessary reconfiguration.</a:t>
            </a:r>
            <a:endParaRPr lang="en-US" dirty="0"/>
          </a:p>
          <a:p>
            <a:endParaRPr lang="en-US" dirty="0"/>
          </a:p>
          <a:p>
            <a:r>
              <a:rPr dirty="0"/>
              <a:t>SOURCE</a:t>
            </a:r>
            <a:endParaRPr lang="en-US" dirty="0"/>
          </a:p>
          <a:p>
            <a:r>
              <a:rPr dirty="0"/>
              <a:t>MIT 6.824, Spring 2020, Lecture 3 video, 60:46-65:47.</a:t>
            </a:r>
            <a:endParaRPr lang="en-US" dirty="0"/>
          </a:p>
          <a:p>
            <a:r>
              <a:rPr dirty="0"/>
              <a:t>https://</a:t>
            </a:r>
            <a:r>
              <a:rPr dirty="0" err="1"/>
              <a:t>www.youtube.com</a:t>
            </a:r>
            <a:r>
              <a:rPr dirty="0"/>
              <a:t>/</a:t>
            </a:r>
            <a:r>
              <a:rPr dirty="0" err="1"/>
              <a:t>watch?v</a:t>
            </a:r>
            <a:r>
              <a:rPr dirty="0"/>
              <a:t>=EpIgvowZr00</a:t>
            </a:r>
            <a:endParaRPr lang="en-US" dirty="0"/>
          </a:p>
          <a:p>
            <a:r>
              <a:rPr dirty="0"/>
              <a:t>MIT 6.5840, GFS lecture notes.</a:t>
            </a:r>
            <a:endParaRPr lang="en-US" dirty="0"/>
          </a:p>
          <a:p>
            <a:r>
              <a:rPr dirty="0"/>
              <a:t>https://</a:t>
            </a:r>
            <a:r>
              <a:rPr dirty="0" err="1"/>
              <a:t>pdos.csail.mit.edu</a:t>
            </a:r>
            <a:r>
              <a:rPr dirty="0"/>
              <a:t>/6.824/notes/l-</a:t>
            </a:r>
            <a:r>
              <a:rPr dirty="0" err="1"/>
              <a:t>gfs.txt</a:t>
            </a:r>
            <a:endParaRPr lang="en-US" dirty="0"/>
          </a:p>
          <a:p>
            <a:r>
              <a:rPr dirty="0"/>
              <a:t>Ghemawat, </a:t>
            </a:r>
            <a:r>
              <a:rPr dirty="0" err="1"/>
              <a:t>Gobioff</a:t>
            </a:r>
            <a:r>
              <a:rPr dirty="0"/>
              <a:t>, and Leung, The Google File System, Section 4.3.</a:t>
            </a:r>
            <a:endParaRPr lang="en-US" dirty="0"/>
          </a:p>
          <a:p>
            <a:r>
              <a:rPr dirty="0"/>
              <a:t>https://</a:t>
            </a:r>
            <a:r>
              <a:rPr dirty="0" err="1"/>
              <a:t>pdos.csail.mit.edu</a:t>
            </a:r>
            <a:r>
              <a:rPr dirty="0"/>
              <a:t>/6.824/papers/</a:t>
            </a:r>
            <a:r>
              <a:rPr dirty="0" err="1"/>
              <a:t>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rPr dirty="0"/>
              <a:t>The primary for a chunk can fail, but the master cannot instantly know whether it crashed or merely became unreachable from part of the network.</a:t>
            </a:r>
            <a:endParaRPr lang="en-US" dirty="0"/>
          </a:p>
          <a:p>
            <a:endParaRPr lang="en-US" dirty="0"/>
          </a:p>
          <a:p>
            <a:r>
              <a:rPr dirty="0"/>
              <a:t>If the master immediately appoints a replacement while the old primary still serves some clients, both servers may accept writes. The replicas then follow two independent orders. This is split brain.</a:t>
            </a:r>
            <a:endParaRPr lang="en-US" dirty="0"/>
          </a:p>
          <a:p>
            <a:endParaRPr lang="en-US" dirty="0"/>
          </a:p>
          <a:p>
            <a:r>
              <a:rPr dirty="0"/>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rPr dirty="0"/>
              <a:t>GFS needs a rule that limits how long any primary can continue acting without renewed permission.</a:t>
            </a:r>
            <a:endParaRPr lang="en-US" dirty="0"/>
          </a:p>
          <a:p>
            <a:endParaRPr lang="en-US" dirty="0"/>
          </a:p>
          <a:p>
            <a:r>
              <a:rPr dirty="0"/>
              <a:t>SOURCE</a:t>
            </a:r>
            <a:endParaRPr lang="en-US" dirty="0"/>
          </a:p>
          <a:p>
            <a:r>
              <a:rPr dirty="0"/>
              <a:t>MIT 6.824, Spring 2020, Lecture 3 video, 60:46-70:49.</a:t>
            </a:r>
            <a:endParaRPr lang="en-US" dirty="0"/>
          </a:p>
          <a:p>
            <a:r>
              <a:rPr dirty="0"/>
              <a:t>https://</a:t>
            </a:r>
            <a:r>
              <a:rPr dirty="0" err="1"/>
              <a:t>www.youtube.com</a:t>
            </a:r>
            <a:r>
              <a:rPr dirty="0"/>
              <a:t>/</a:t>
            </a:r>
            <a:r>
              <a:rPr dirty="0" err="1"/>
              <a:t>watch?v</a:t>
            </a:r>
            <a:r>
              <a:rPr dirty="0"/>
              <a:t>=EpIgvowZr00</a:t>
            </a:r>
            <a:endParaRPr lang="en-US" dirty="0"/>
          </a:p>
          <a:p>
            <a:r>
              <a:rPr dirty="0"/>
              <a:t>MIT 6.5840, GFS lecture notes.</a:t>
            </a:r>
            <a:endParaRPr lang="en-US" dirty="0"/>
          </a:p>
          <a:p>
            <a:r>
              <a:rPr dirty="0"/>
              <a:t>https://</a:t>
            </a:r>
            <a:r>
              <a:rPr dirty="0" err="1"/>
              <a:t>pdos.csail.mit.edu</a:t>
            </a:r>
            <a:r>
              <a:rPr dirty="0"/>
              <a:t>/6.824/notes/l-</a:t>
            </a:r>
            <a:r>
              <a:rPr dirty="0" err="1"/>
              <a:t>gfs.txt</a:t>
            </a:r>
            <a:endParaRPr lang="en-US" dirty="0"/>
          </a:p>
          <a:p>
            <a:r>
              <a:rPr dirty="0"/>
              <a:t>Ghemawat, </a:t>
            </a:r>
            <a:r>
              <a:rPr dirty="0" err="1"/>
              <a:t>Gobioff</a:t>
            </a:r>
            <a:r>
              <a:rPr dirty="0"/>
              <a:t>, and Leung, The Google File System, Sections 3.1 and 4.5.</a:t>
            </a:r>
            <a:endParaRPr lang="en-US" dirty="0"/>
          </a:p>
          <a:p>
            <a:r>
              <a:rPr dirty="0"/>
              <a:t>https://</a:t>
            </a:r>
            <a:r>
              <a:rPr dirty="0" err="1"/>
              <a:t>pdos.csail.mit.edu</a:t>
            </a:r>
            <a:r>
              <a:rPr dirty="0"/>
              <a:t>/6.824/papers/</a:t>
            </a:r>
            <a:r>
              <a:rPr dirty="0" err="1"/>
              <a:t>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"What Would We Like for Consistency?" slide near the start: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50</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51</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52</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53</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Demo 1: Design Proposal</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2</a:t>
            </a:fld>
            <a:endParaRPr/>
          </a:p>
        </p:txBody>
      </p:sp>
      <p:sp>
        <p:nvSpPr>
          <p:cNvPr id="9" name="Demo 1 deadline">
            <a:extLst>
              <a:ext uri="{FF2B5EF4-FFF2-40B4-BE49-F238E27FC236}">
                <a16:creationId xmlns:a16="http://schemas.microsoft.com/office/drawing/2014/main" id="{28A03A3E-853D-4FA2-AE8E-9CDFB2A1C51A}"/>
              </a:ext>
            </a:extLst>
          </p:cNvPr>
          <p:cNvSpPr>
            <a:spLocks noGrp="1"/>
          </p:cNvSpPr>
          <p:nvPr/>
        </p:nvSpPr>
        <p:spPr>
          <a:xfrm>
            <a:off x="361950" y="933450"/>
            <a:ext cx="11468100" cy="457200"/>
          </a:xfrm>
          <a:prstGeom prst="rect">
            <a:avLst/>
          </a:prstGeom>
          <a:noFill/>
          <a:ln w="0">
            <a:noFill/>
            <a:prstDash val="solid"/>
          </a:ln>
        </p:spPr>
        <p:txBody>
          <a:bodyPr>
            <a:normAutofit/>
          </a:bodyPr>
          <a:lstStyle/>
          <a:p>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a:ext uri="{FF2B5EF4-FFF2-40B4-BE49-F238E27FC236}">
                <a16:creationId xmlns:a16="http://schemas.microsoft.com/office/drawing/2014/main" id="{F0C367EF-21EA-42FF-BA10-C1A905D549A5}"/>
              </a:ext>
            </a:extLst>
          </p:cNvPr>
          <p:cNvSpPr>
            <a:spLocks noGrp="1"/>
          </p:cNvSpPr>
          <p:nvPr/>
        </p:nvSpPr>
        <p:spPr>
          <a:xfrm>
            <a:off x="361950" y="1352550"/>
            <a:ext cx="11468100" cy="400050"/>
          </a:xfrm>
          <a:prstGeom prst="rect">
            <a:avLst/>
          </a:prstGeom>
          <a:noFill/>
          <a:ln w="0">
            <a:noFill/>
            <a:prstDash val="solid"/>
          </a:ln>
        </p:spPr>
        <p:txBody>
          <a:bodyPr>
            <a:normAutofit/>
          </a:bodyPr>
          <a:lstStyle/>
          <a:p>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Table 16"/>
          <p:cNvGraphicFramePr/>
          <p:nvPr/>
        </p:nvGraphicFramePr>
        <p:xfrm>
          <a:off x="381000" y="1885950"/>
          <a:ext cx="11430001" cy="3324225"/>
        </p:xfrm>
        <a:graphic>
          <a:graphicData uri="http://schemas.openxmlformats.org/drawingml/2006/table">
            <a:tbl>
              <a:tblPr/>
              <a:tblGrid>
                <a:gridCol w="2071688">
                  <a:extLst>
                    <a:ext uri="{9D8B030D-6E8A-4147-A177-3AD203B41FA5}">
                      <a16:colId xmlns:a16="http://schemas.microsoft.com/office/drawing/2014/main" val="20000"/>
                    </a:ext>
                  </a:extLst>
                </a:gridCol>
                <a:gridCol w="1071563">
                  <a:extLst>
                    <a:ext uri="{9D8B030D-6E8A-4147-A177-3AD203B41FA5}">
                      <a16:colId xmlns:a16="http://schemas.microsoft.com/office/drawing/2014/main" val="20001"/>
                    </a:ext>
                  </a:extLst>
                </a:gridCol>
                <a:gridCol w="8286750">
                  <a:extLst>
                    <a:ext uri="{9D8B030D-6E8A-4147-A177-3AD203B41FA5}">
                      <a16:colId xmlns:a16="http://schemas.microsoft.com/office/drawing/2014/main" val="20002"/>
                    </a:ext>
                  </a:extLst>
                </a:gridCol>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extLst>
                  <a:ext uri="{0D108BD9-81ED-4DB2-BD59-A6C34878D82A}">
                    <a16:rowId xmlns:a16="http://schemas.microsoft.com/office/drawing/2014/main" val="10000"/>
                  </a:ext>
                </a:extLst>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extLst>
                  <a:ext uri="{0D108BD9-81ED-4DB2-BD59-A6C34878D82A}">
                    <a16:rowId xmlns:a16="http://schemas.microsoft.com/office/drawing/2014/main" val="10001"/>
                  </a:ext>
                </a:extLst>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extLst>
                  <a:ext uri="{0D108BD9-81ED-4DB2-BD59-A6C34878D82A}">
                    <a16:rowId xmlns:a16="http://schemas.microsoft.com/office/drawing/2014/main" val="10002"/>
                  </a:ext>
                </a:extLst>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extLst>
                  <a:ext uri="{0D108BD9-81ED-4DB2-BD59-A6C34878D82A}">
                    <a16:rowId xmlns:a16="http://schemas.microsoft.com/office/drawing/2014/main" val="10003"/>
                  </a:ext>
                </a:extLst>
              </a:tr>
            </a:tbl>
          </a:graphicData>
        </a:graphic>
      </p:graphicFrame>
      <p:sp>
        <p:nvSpPr>
          <p:cNvPr id="12" name="Milestone grading note">
            <a:extLst>
              <a:ext uri="{FF2B5EF4-FFF2-40B4-BE49-F238E27FC236}">
                <a16:creationId xmlns:a16="http://schemas.microsoft.com/office/drawing/2014/main" id="{19113F98-AD09-45E2-9DEF-AC28BD3E4130}"/>
              </a:ext>
            </a:extLst>
          </p:cNvPr>
          <p:cNvSpPr>
            <a:spLocks noGrp="1"/>
          </p:cNvSpPr>
          <p:nvPr/>
        </p:nvSpPr>
        <p:spPr>
          <a:xfrm>
            <a:off x="438150" y="5429250"/>
            <a:ext cx="11315700" cy="438150"/>
          </a:xfrm>
          <a:prstGeom prst="rect">
            <a:avLst/>
          </a:prstGeom>
          <a:noFill/>
          <a:ln w="0">
            <a:noFill/>
            <a:prstDash val="solid"/>
          </a:ln>
        </p:spPr>
        <p:txBody>
          <a:bodyPr>
            <a:normAutofit/>
          </a:bodyPr>
          <a:lstStyle/>
          <a:p>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Presentation Grading</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3</a:t>
            </a:fld>
            <a:endParaRPr/>
          </a:p>
        </p:txBody>
      </p:sp>
      <p:graphicFrame>
        <p:nvGraphicFramePr>
          <p:cNvPr id="12" name="Table 11"/>
          <p:cNvGraphicFramePr/>
          <p:nvPr/>
        </p:nvGraphicFramePr>
        <p:xfrm>
          <a:off x="552450" y="1200150"/>
          <a:ext cx="11087100" cy="4333875"/>
        </p:xfrm>
        <a:graphic>
          <a:graphicData uri="http://schemas.openxmlformats.org/drawingml/2006/table">
            <a:tbl>
              <a:tblPr/>
              <a:tblGrid>
                <a:gridCol w="2692581">
                  <a:extLst>
                    <a:ext uri="{9D8B030D-6E8A-4147-A177-3AD203B41FA5}">
                      <a16:colId xmlns:a16="http://schemas.microsoft.com/office/drawing/2014/main" val="20000"/>
                    </a:ext>
                  </a:extLst>
                </a:gridCol>
                <a:gridCol w="8394519">
                  <a:extLst>
                    <a:ext uri="{9D8B030D-6E8A-4147-A177-3AD203B41FA5}">
                      <a16:colId xmlns:a16="http://schemas.microsoft.com/office/drawing/2014/main" val="20001"/>
                    </a:ext>
                  </a:extLst>
                </a:gridCol>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extLst>
                  <a:ext uri="{0D108BD9-81ED-4DB2-BD59-A6C34878D82A}">
                    <a16:rowId xmlns:a16="http://schemas.microsoft.com/office/drawing/2014/main" val="10000"/>
                  </a:ext>
                </a:extLst>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extLst>
                  <a:ext uri="{0D108BD9-81ED-4DB2-BD59-A6C34878D82A}">
                    <a16:rowId xmlns:a16="http://schemas.microsoft.com/office/drawing/2014/main" val="10001"/>
                  </a:ext>
                </a:extLst>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extLst>
                  <a:ext uri="{0D108BD9-81ED-4DB2-BD59-A6C34878D82A}">
                    <a16:rowId xmlns:a16="http://schemas.microsoft.com/office/drawing/2014/main" val="10002"/>
                  </a:ext>
                </a:extLst>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extLst>
                  <a:ext uri="{0D108BD9-81ED-4DB2-BD59-A6C34878D82A}">
                    <a16:rowId xmlns:a16="http://schemas.microsoft.com/office/drawing/2014/main" val="10003"/>
                  </a:ext>
                </a:extLst>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extLst>
                  <a:ext uri="{0D108BD9-81ED-4DB2-BD59-A6C34878D82A}">
                    <a16:rowId xmlns:a16="http://schemas.microsoft.com/office/drawing/2014/main" val="10004"/>
                  </a:ext>
                </a:extLst>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231654"/>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storage right and the systems above it get simpler</a:t>
            </a:r>
          </a:p>
          <a:p>
            <a:pPr marL="914400" indent="-457200">
              <a:buFont typeface="Arial" panose="020B0604020202020204" pitchFamily="34" charset="0"/>
              <a:buChar char="•"/>
            </a:pPr>
            <a:r>
              <a:rPr lang="en-US" sz="2800" b="0" dirty="0"/>
              <a:t>Your own project has to keep its state somewhere too</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At this scale, commodity machines are the only affordable option</a:t>
            </a:r>
          </a:p>
          <a:p>
            <a:pPr marL="914400" indent="-457200">
              <a:buFont typeface="Arial" panose="020B0604020202020204" pitchFamily="34" charset="0"/>
              <a:buChar char="•"/>
            </a:pPr>
            <a:r>
              <a:rPr lang="en-US" sz="2800" b="0" dirty="0"/>
              <a:t>Far better performance per dollar than reliable, expensive hardware</a:t>
            </a:r>
          </a:p>
          <a:p>
            <a:pPr marL="914400" indent="-457200">
              <a:buFont typeface="Arial" panose="020B0604020202020204" pitchFamily="34" charset="0"/>
              <a:buChar char="•"/>
            </a:pPr>
            <a:r>
              <a:rPr lang="en-US" sz="2800" b="0" dirty="0"/>
              <a:t>Expensive hardware fails less often, but it still fails</a:t>
            </a:r>
          </a:p>
          <a:p>
            <a:pPr marL="457200"/>
            <a:endParaRPr lang="en-US" sz="2800" b="0" dirty="0"/>
          </a:p>
          <a:p>
            <a:r>
              <a:rPr lang="en-US" sz="3200" b="1" dirty="0"/>
              <a:t>One Google cluster, first year of service</a:t>
            </a:r>
          </a:p>
          <a:p>
            <a:pPr marL="914400" indent="-457200">
              <a:buFont typeface="Arial" panose="020B0604020202020204" pitchFamily="34" charset="0"/>
              <a:buChar char="•"/>
            </a:pPr>
            <a:r>
              <a:rPr lang="en-US" sz="2800" b="0" dirty="0"/>
              <a:t>Around 20 rack failures, each taking 40-80 machines away for hours</a:t>
            </a:r>
          </a:p>
          <a:p>
            <a:pPr marL="914400" indent="-457200">
              <a:buFont typeface="Arial" panose="020B0604020202020204" pitchFamily="34" charset="0"/>
              <a:buChar char="•"/>
            </a:pPr>
            <a:r>
              <a:rPr lang="en-US" sz="2800" b="0" dirty="0"/>
              <a:t>About a thousand machine failures and thousands of disk failures</a:t>
            </a:r>
          </a:p>
          <a:p>
            <a:pPr marL="914400" indent="-457200">
              <a:buFont typeface="Arial" panose="020B0604020202020204" pitchFamily="34" charset="0"/>
              <a:buChar char="•"/>
            </a:pPr>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Fault Tolerance Comes with a Cost</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Fault tolerance requires replication</a:t>
            </a:r>
          </a:p>
          <a:p>
            <a:pPr marL="342900" indent="-342900">
              <a:buFont typeface="Arial"/>
              <a:buChar char="•"/>
            </a:pPr>
            <a:endParaRPr sz="1200" dirty="0"/>
          </a:p>
          <a:p>
            <a:pPr marL="342900" indent="-342900">
              <a:buFont typeface="Arial"/>
              <a:buChar char="•"/>
            </a:pPr>
            <a:r>
              <a:rPr sz="2400" dirty="0"/>
              <a:t>Replication risks inconsistency</a:t>
            </a:r>
          </a:p>
          <a:p>
            <a:pPr marL="342900" indent="-342900">
              <a:buFont typeface="Arial"/>
              <a:buChar char="•"/>
            </a:pPr>
            <a:endParaRPr sz="1200" dirty="0"/>
          </a:p>
          <a:p>
            <a:pPr marL="342900" indent="-342900">
              <a:buFont typeface="Arial"/>
              <a:buChar char="•"/>
            </a:pPr>
            <a:r>
              <a:rPr sz="2400" dirty="0"/>
              <a:t>Consistency requires coordination</a:t>
            </a:r>
          </a:p>
          <a:p>
            <a:pPr marL="342900" indent="-342900">
              <a:buFont typeface="Arial"/>
              <a:buChar char="•"/>
            </a:pPr>
            <a:endParaRPr sz="1200" dirty="0"/>
          </a:p>
          <a:p>
            <a:pPr marL="342900" indent="-342900">
              <a:buFont typeface="Arial"/>
              <a:buChar char="•"/>
            </a:pPr>
            <a:r>
              <a:rPr sz="2400" dirty="0"/>
              <a:t>Coordination lowers performance</a:t>
            </a:r>
          </a:p>
        </p:txBody>
      </p:sp>
      <p:sp>
        <p:nvSpPr>
          <p:cNvPr id="49" name="Partial writ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A partial write can make replicas disagree</a:t>
            </a:r>
          </a:p>
        </p:txBody>
      </p:sp>
      <p:sp>
        <p:nvSpPr>
          <p:cNvPr id="50" name="Write request">
            <a:extLst>
              <a:ext uri="{FF2B5EF4-FFF2-40B4-BE49-F238E27FC236}">
                <a16:creationId xmlns:a16="http://schemas.microsoft.com/office/drawing/2014/main" id="{75D3A3DE-8E0D-482B-BCFD-2AD2458A4DA5}"/>
              </a:ext>
            </a:extLst>
          </p:cNvPr>
          <p:cNvSpPr>
            <a:spLocks noGrp="1"/>
          </p:cNvSpPr>
          <p:nvPr/>
        </p:nvSpPr>
        <p:spPr>
          <a:xfrm>
            <a:off x="2838450" y="1438275"/>
            <a:ext cx="12192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WRITE</a:t>
            </a:r>
          </a:p>
          <a:p>
            <a:pPr algn="ctr">
              <a:defRPr sz="1425" b="1">
                <a:solidFill>
                  <a:srgbClr val="FFFFFF"/>
                </a:solidFill>
                <a:latin typeface="Aptos"/>
                <a:ea typeface="Aptos"/>
                <a:cs typeface="Aptos"/>
              </a:defRPr>
            </a:pPr>
            <a:r>
              <a:rPr sz="1425" b="1">
                <a:solidFill>
                  <a:srgbClr val="FFFFFF"/>
                </a:solidFill>
                <a:latin typeface="Aptos"/>
                <a:ea typeface="Aptos"/>
                <a:cs typeface="Aptos"/>
              </a:rPr>
              <a:t>x = B</a:t>
            </a:r>
          </a:p>
        </p:txBody>
      </p:sp>
      <p:sp>
        <p:nvSpPr>
          <p:cNvPr id="51" name="Top replica 1">
            <a:extLst>
              <a:ext uri="{FF2B5EF4-FFF2-40B4-BE49-F238E27FC236}">
                <a16:creationId xmlns:a16="http://schemas.microsoft.com/office/drawing/2014/main" id="{C047F16D-4224-436C-BA2F-7F4F14E7970E}"/>
              </a:ext>
            </a:extLst>
          </p:cNvPr>
          <p:cNvSpPr>
            <a:spLocks noGrp="1"/>
          </p:cNvSpPr>
          <p:nvPr/>
        </p:nvSpPr>
        <p:spPr>
          <a:xfrm>
            <a:off x="581025"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2" name="Top replica 2">
            <a:extLst>
              <a:ext uri="{FF2B5EF4-FFF2-40B4-BE49-F238E27FC236}">
                <a16:creationId xmlns:a16="http://schemas.microsoft.com/office/drawing/2014/main" id="{B89A6385-D3E5-42F1-8972-B1EBFAE8F87F}"/>
              </a:ext>
            </a:extLst>
          </p:cNvPr>
          <p:cNvSpPr>
            <a:spLocks noGrp="1"/>
          </p:cNvSpPr>
          <p:nvPr/>
        </p:nvSpPr>
        <p:spPr>
          <a:xfrm>
            <a:off x="2781300"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3" name="Stale replica">
            <a:extLst>
              <a:ext uri="{FF2B5EF4-FFF2-40B4-BE49-F238E27FC236}">
                <a16:creationId xmlns:a16="http://schemas.microsoft.com/office/drawing/2014/main" id="{14E7EFFC-DB2B-4ECF-A2D6-8B87D9C1B16D}"/>
              </a:ext>
            </a:extLst>
          </p:cNvPr>
          <p:cNvSpPr>
            <a:spLocks noGrp="1"/>
          </p:cNvSpPr>
          <p:nvPr/>
        </p:nvSpPr>
        <p:spPr>
          <a:xfrm>
            <a:off x="4981575" y="2266950"/>
            <a:ext cx="1333500" cy="685800"/>
          </a:xfrm>
          <a:prstGeom prst="roundRect">
            <a:avLst>
              <a:gd name="adj" fmla="val 13889"/>
            </a:avLst>
          </a:prstGeom>
          <a:solidFill>
            <a:srgbClr val="F7E8F5"/>
          </a:solidFill>
          <a:ln w="28575">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Replica 3</a:t>
            </a:r>
          </a:p>
          <a:p>
            <a:pPr algn="ctr">
              <a:defRPr sz="1350" b="1">
                <a:solidFill>
                  <a:srgbClr val="A02B93"/>
                </a:solidFill>
                <a:latin typeface="Aptos"/>
                <a:ea typeface="Aptos"/>
                <a:cs typeface="Aptos"/>
              </a:defRPr>
            </a:pPr>
            <a:r>
              <a:rPr sz="1350" b="1">
                <a:solidFill>
                  <a:srgbClr val="A02B93"/>
                </a:solidFill>
                <a:latin typeface="Aptos"/>
                <a:ea typeface="Aptos"/>
                <a:cs typeface="Aptos"/>
              </a:rPr>
              <a:t>x = A</a:t>
            </a:r>
          </a:p>
        </p:txBody>
      </p:sp>
      <p:cxnSp>
        <p:nvCxnSpPr>
          <p:cNvPr id="76" name="Straight Arrow Connector 75"/>
          <p:cNvCxnSpPr>
            <a:stCxn id="50" idx="2"/>
            <a:endCxn id="51" idx="0"/>
          </p:cNvCxnSpPr>
          <p:nvPr/>
        </p:nvCxnSpPr>
        <p:spPr>
          <a:xfrm flipH="1">
            <a:off x="1247775" y="2028825"/>
            <a:ext cx="2200275" cy="238125"/>
          </a:xfrm>
          <a:prstGeom prst="straightConnector1">
            <a:avLst/>
          </a:prstGeom>
          <a:ln w="19050">
            <a:solidFill>
              <a:srgbClr val="5B6573"/>
            </a:solidFill>
            <a:prstDash val="solid"/>
            <a:tailEnd type="triangle" w="sm" len="sm"/>
          </a:ln>
        </p:spPr>
      </p:cxnSp>
      <p:cxnSp>
        <p:nvCxnSpPr>
          <p:cNvPr id="77" name="Straight Arrow Connector 76"/>
          <p:cNvCxnSpPr>
            <a:stCxn id="50" idx="2"/>
            <a:endCxn id="52" idx="0"/>
          </p:cNvCxnSpPr>
          <p:nvPr/>
        </p:nvCxnSpPr>
        <p:spPr>
          <a:xfrm>
            <a:off x="3448050" y="2028825"/>
            <a:ext cx="0" cy="238125"/>
          </a:xfrm>
          <a:prstGeom prst="straightConnector1">
            <a:avLst/>
          </a:prstGeom>
          <a:ln w="19050">
            <a:solidFill>
              <a:srgbClr val="5B6573"/>
            </a:solidFill>
            <a:prstDash val="solid"/>
            <a:tailEnd type="triangle" w="sm" len="sm"/>
          </a:ln>
        </p:spPr>
      </p:cxnSp>
      <p:cxnSp>
        <p:nvCxnSpPr>
          <p:cNvPr id="78" name="Straight Arrow Connector 77"/>
          <p:cNvCxnSpPr>
            <a:stCxn id="50" idx="2"/>
            <a:endCxn id="53" idx="0"/>
          </p:cNvCxnSpPr>
          <p:nvPr/>
        </p:nvCxnSpPr>
        <p:spPr>
          <a:xfrm>
            <a:off x="3448050" y="2028825"/>
            <a:ext cx="2200275" cy="238125"/>
          </a:xfrm>
          <a:prstGeom prst="straightConnector1">
            <a:avLst/>
          </a:prstGeom>
          <a:ln w="19050">
            <a:solidFill>
              <a:srgbClr val="A02B93"/>
            </a:solidFill>
            <a:prstDash val="dash"/>
            <a:tailEnd type="triangle" w="sm" len="sm"/>
          </a:ln>
        </p:spPr>
      </p:cxnSp>
      <p:sp>
        <p:nvSpPr>
          <p:cNvPr id="57" name="Stale copy label">
            <a:extLst>
              <a:ext uri="{FF2B5EF4-FFF2-40B4-BE49-F238E27FC236}">
                <a16:creationId xmlns:a16="http://schemas.microsoft.com/office/drawing/2014/main" id="{8E2343DF-2BB9-401F-B950-594DD72F33BC}"/>
              </a:ext>
            </a:extLst>
          </p:cNvPr>
          <p:cNvSpPr>
            <a:spLocks noGrp="1"/>
          </p:cNvSpPr>
          <p:nvPr/>
        </p:nvSpPr>
        <p:spPr>
          <a:xfrm>
            <a:off x="5000625" y="2971800"/>
            <a:ext cx="1295400" cy="257175"/>
          </a:xfrm>
          <a:prstGeom prst="rect">
            <a:avLst/>
          </a:prstGeom>
          <a:noFill/>
          <a:ln w="0">
            <a:noFill/>
          </a:ln>
        </p:spPr>
        <p:txBody>
          <a:bodyPr>
            <a:normAutofit fontScale="76316" lnSpcReduction="10000"/>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stale copy</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Coordination heading">
            <a:extLst>
              <a:ext uri="{FF2B5EF4-FFF2-40B4-BE49-F238E27FC236}">
                <a16:creationId xmlns:a16="http://schemas.microsoft.com/office/drawing/2014/main" id="{A3E49605-0D7A-41CB-AFA0-72806CB22D49}"/>
              </a:ext>
            </a:extLst>
          </p:cNvPr>
          <p:cNvSpPr>
            <a:spLocks noGrp="1"/>
          </p:cNvSpPr>
          <p:nvPr/>
        </p:nvSpPr>
        <p:spPr>
          <a:xfrm>
            <a:off x="409575" y="351472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Stronger consistency makes replicas coordinate</a:t>
            </a:r>
          </a:p>
        </p:txBody>
      </p:sp>
      <p:sp>
        <p:nvSpPr>
          <p:cNvPr id="60" name="Consistent replica 1">
            <a:extLst>
              <a:ext uri="{FF2B5EF4-FFF2-40B4-BE49-F238E27FC236}">
                <a16:creationId xmlns:a16="http://schemas.microsoft.com/office/drawing/2014/main" id="{038D7E5E-8B95-4F93-B217-322D71EE6C6C}"/>
              </a:ext>
            </a:extLst>
          </p:cNvPr>
          <p:cNvSpPr>
            <a:spLocks noGrp="1"/>
          </p:cNvSpPr>
          <p:nvPr/>
        </p:nvSpPr>
        <p:spPr>
          <a:xfrm>
            <a:off x="5238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1" name="Consistent replica 2">
            <a:extLst>
              <a:ext uri="{FF2B5EF4-FFF2-40B4-BE49-F238E27FC236}">
                <a16:creationId xmlns:a16="http://schemas.microsoft.com/office/drawing/2014/main" id="{E7B20FF7-ACB2-41C6-84C8-20B1208AB980}"/>
              </a:ext>
            </a:extLst>
          </p:cNvPr>
          <p:cNvSpPr>
            <a:spLocks noGrp="1"/>
          </p:cNvSpPr>
          <p:nvPr/>
        </p:nvSpPr>
        <p:spPr>
          <a:xfrm>
            <a:off x="23526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2" name="Consistent replica 3">
            <a:extLst>
              <a:ext uri="{FF2B5EF4-FFF2-40B4-BE49-F238E27FC236}">
                <a16:creationId xmlns:a16="http://schemas.microsoft.com/office/drawing/2014/main" id="{87044477-B397-489B-940A-AABA6864C522}"/>
              </a:ext>
            </a:extLst>
          </p:cNvPr>
          <p:cNvSpPr>
            <a:spLocks noGrp="1"/>
          </p:cNvSpPr>
          <p:nvPr/>
        </p:nvSpPr>
        <p:spPr>
          <a:xfrm>
            <a:off x="41814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3</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3" name="Wait before reply">
            <a:extLst>
              <a:ext uri="{FF2B5EF4-FFF2-40B4-BE49-F238E27FC236}">
                <a16:creationId xmlns:a16="http://schemas.microsoft.com/office/drawing/2014/main" id="{B0C8692A-27AE-4FA6-8FCE-A48108951AB8}"/>
              </a:ext>
            </a:extLst>
          </p:cNvPr>
          <p:cNvSpPr>
            <a:spLocks noGrp="1"/>
          </p:cNvSpPr>
          <p:nvPr/>
        </p:nvSpPr>
        <p:spPr>
          <a:xfrm>
            <a:off x="5915025" y="4076700"/>
            <a:ext cx="838200" cy="762000"/>
          </a:xfrm>
          <a:prstGeom prst="roundRect">
            <a:avLst>
              <a:gd name="adj" fmla="val 12500"/>
            </a:avLst>
          </a:prstGeom>
          <a:solidFill>
            <a:srgbClr val="FFFFFF"/>
          </a:solidFill>
          <a:ln w="28575">
            <a:solidFill>
              <a:srgbClr val="A02B93"/>
            </a:solidFill>
            <a:prstDash val="solid"/>
          </a:ln>
        </p:spPr>
        <p:txBody>
          <a:bodyPr lIns="47625" tIns="47625" rIns="47625" bIns="47625" anchor="ctr">
            <a:normAutofit/>
          </a:bodyPr>
          <a:lstStyle/>
          <a:p>
            <a:pPr algn="ctr">
              <a:defRPr sz="1200" b="1">
                <a:solidFill>
                  <a:srgbClr val="A02B93"/>
                </a:solidFill>
                <a:latin typeface="Aptos"/>
                <a:ea typeface="Aptos"/>
                <a:cs typeface="Aptos"/>
              </a:defRPr>
            </a:pPr>
            <a:r>
              <a:rPr sz="1200" b="1">
                <a:solidFill>
                  <a:srgbClr val="A02B93"/>
                </a:solidFill>
                <a:latin typeface="Aptos"/>
                <a:ea typeface="Aptos"/>
                <a:cs typeface="Aptos"/>
              </a:rPr>
              <a:t>WAIT</a:t>
            </a:r>
          </a:p>
          <a:p>
            <a:pPr algn="ctr">
              <a:defRPr sz="1200" b="1">
                <a:solidFill>
                  <a:srgbClr val="A02B93"/>
                </a:solidFill>
                <a:latin typeface="Aptos"/>
                <a:ea typeface="Aptos"/>
                <a:cs typeface="Aptos"/>
              </a:defRPr>
            </a:pPr>
            <a:r>
              <a:rPr sz="1200" b="1">
                <a:solidFill>
                  <a:srgbClr val="A02B93"/>
                </a:solidFill>
                <a:latin typeface="Aptos"/>
                <a:ea typeface="Aptos"/>
                <a:cs typeface="Aptos"/>
              </a:rPr>
              <a:t>before reply</a:t>
            </a:r>
          </a:p>
        </p:txBody>
      </p:sp>
      <p:cxnSp>
        <p:nvCxnSpPr>
          <p:cNvPr id="86" name="Straight Arrow Connector 85"/>
          <p:cNvCxnSpPr>
            <a:stCxn id="60" idx="3"/>
            <a:endCxn id="61" idx="1"/>
          </p:cNvCxnSpPr>
          <p:nvPr/>
        </p:nvCxnSpPr>
        <p:spPr>
          <a:xfrm>
            <a:off x="1781175" y="4457700"/>
            <a:ext cx="571500" cy="0"/>
          </a:xfrm>
          <a:prstGeom prst="straightConnector1">
            <a:avLst/>
          </a:prstGeom>
          <a:ln w="19050">
            <a:solidFill>
              <a:srgbClr val="5B6573"/>
            </a:solidFill>
            <a:prstDash val="solid"/>
            <a:headEnd type="triangle" w="sm" len="sm"/>
            <a:tailEnd type="triangle" w="sm" len="sm"/>
          </a:ln>
        </p:spPr>
      </p:cxnSp>
      <p:cxnSp>
        <p:nvCxnSpPr>
          <p:cNvPr id="87" name="Straight Arrow Connector 86"/>
          <p:cNvCxnSpPr>
            <a:stCxn id="61" idx="3"/>
            <a:endCxn id="62" idx="1"/>
          </p:cNvCxnSpPr>
          <p:nvPr/>
        </p:nvCxnSpPr>
        <p:spPr>
          <a:xfrm>
            <a:off x="3609975" y="4457700"/>
            <a:ext cx="571500" cy="0"/>
          </a:xfrm>
          <a:prstGeom prst="straightConnector1">
            <a:avLst/>
          </a:prstGeom>
          <a:ln w="19050">
            <a:solidFill>
              <a:srgbClr val="5B6573"/>
            </a:solidFill>
            <a:prstDash val="solid"/>
            <a:headEnd type="triangle" w="sm" len="sm"/>
            <a:tailEnd type="triangle" w="sm" len="sm"/>
          </a:ln>
        </p:spPr>
      </p:cxnSp>
      <p:cxnSp>
        <p:nvCxnSpPr>
          <p:cNvPr id="88" name="Straight Arrow Connector 87"/>
          <p:cNvCxnSpPr>
            <a:stCxn id="62" idx="3"/>
            <a:endCxn id="63" idx="1"/>
          </p:cNvCxnSpPr>
          <p:nvPr/>
        </p:nvCxnSpPr>
        <p:spPr>
          <a:xfrm>
            <a:off x="5438775" y="4457700"/>
            <a:ext cx="476250" cy="0"/>
          </a:xfrm>
          <a:prstGeom prst="straightConnector1">
            <a:avLst/>
          </a:prstGeom>
          <a:ln w="19050">
            <a:solidFill>
              <a:srgbClr val="A02B93"/>
            </a:solidFill>
            <a:prstDash val="solid"/>
            <a:tailEnd type="triangle" w="sm" len="sm"/>
          </a:ln>
        </p:spPr>
      </p:cxnSp>
      <p:sp>
        <p:nvSpPr>
          <p:cNvPr id="67" name="Coordination cost">
            <a:extLst>
              <a:ext uri="{FF2B5EF4-FFF2-40B4-BE49-F238E27FC236}">
                <a16:creationId xmlns:a16="http://schemas.microsoft.com/office/drawing/2014/main" id="{F52DF72F-2902-473C-9FF3-D23AA5738F62}"/>
              </a:ext>
            </a:extLst>
          </p:cNvPr>
          <p:cNvSpPr>
            <a:spLocks noGrp="1"/>
          </p:cNvSpPr>
          <p:nvPr/>
        </p:nvSpPr>
        <p:spPr>
          <a:xfrm>
            <a:off x="533400" y="5105400"/>
            <a:ext cx="6191250"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extra messages + waiting  →  lower performance</a:t>
            </a:r>
          </a:p>
        </p:txBody>
      </p:sp>
    </p:spTree>
    <p:extLst>
      <p:ext uri="{BB962C8B-B14F-4D97-AF65-F5344CB8AC3E}">
        <p14:creationId xmlns:p14="http://schemas.microsoft.com/office/powerpoint/2010/main" val="17618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par>
                                <p:cTn id="26" presetID="9" presetClass="entr" presetSubtype="0" fill="hold" nodeType="withEffect">
                                  <p:stCondLst>
                                    <p:cond delay="0"/>
                                  </p:stCondLst>
                                  <p:childTnLst>
                                    <p:set>
                                      <p:cBhvr>
                                        <p:cTn id="27" dur="1" fill="hold">
                                          <p:stCondLst>
                                            <p:cond delay="0"/>
                                          </p:stCondLst>
                                        </p:cTn>
                                        <p:tgtEl>
                                          <p:spTgt spid="86"/>
                                        </p:tgtEl>
                                        <p:attrNameLst>
                                          <p:attrName>style.visibility</p:attrName>
                                        </p:attrNameLst>
                                      </p:cBhvr>
                                      <p:to>
                                        <p:strVal val="visible"/>
                                      </p:to>
                                    </p:set>
                                    <p:animEffect transition="in" filter="dissolve">
                                      <p:cBhvr>
                                        <p:cTn id="28" dur="500"/>
                                        <p:tgtEl>
                                          <p:spTgt spid="86"/>
                                        </p:tgtEl>
                                      </p:cBhvr>
                                    </p:animEffect>
                                  </p:childTnLst>
                                </p:cTn>
                              </p:par>
                              <p:par>
                                <p:cTn id="29" presetID="9" presetClass="entr" presetSubtype="0" fill="hold" nodeType="withEffect">
                                  <p:stCondLst>
                                    <p:cond delay="0"/>
                                  </p:stCondLst>
                                  <p:childTnLst>
                                    <p:set>
                                      <p:cBhvr>
                                        <p:cTn id="30" dur="1" fill="hold">
                                          <p:stCondLst>
                                            <p:cond delay="0"/>
                                          </p:stCondLst>
                                        </p:cTn>
                                        <p:tgtEl>
                                          <p:spTgt spid="87"/>
                                        </p:tgtEl>
                                        <p:attrNameLst>
                                          <p:attrName>style.visibility</p:attrName>
                                        </p:attrNameLst>
                                      </p:cBhvr>
                                      <p:to>
                                        <p:strVal val="visible"/>
                                      </p:to>
                                    </p:set>
                                    <p:animEffect transition="in" filter="dissolve">
                                      <p:cBhvr>
                                        <p:cTn id="31" dur="500"/>
                                        <p:tgtEl>
                                          <p:spTgt spid="87"/>
                                        </p:tgtEl>
                                      </p:cBhvr>
                                    </p:animEffect>
                                  </p:childTnLst>
                                </p:cTn>
                              </p:par>
                              <p:par>
                                <p:cTn id="32" presetID="9" presetClass="entr" presetSubtype="0" fill="hold" nodeType="withEffect">
                                  <p:stCondLst>
                                    <p:cond delay="0"/>
                                  </p:stCondLst>
                                  <p:childTnLst>
                                    <p:set>
                                      <p:cBhvr>
                                        <p:cTn id="33" dur="1" fill="hold">
                                          <p:stCondLst>
                                            <p:cond delay="0"/>
                                          </p:stCondLst>
                                        </p:cTn>
                                        <p:tgtEl>
                                          <p:spTgt spid="88"/>
                                        </p:tgtEl>
                                        <p:attrNameLst>
                                          <p:attrName>style.visibility</p:attrName>
                                        </p:attrNameLst>
                                      </p:cBhvr>
                                      <p:to>
                                        <p:strVal val="visible"/>
                                      </p:to>
                                    </p:set>
                                    <p:animEffect transition="in" filter="dissolve">
                                      <p:cBhvr>
                                        <p:cTn id="34" dur="500"/>
                                        <p:tgtEl>
                                          <p:spTgt spid="88"/>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67"/>
                                        </p:tgtEl>
                                        <p:attrNameLst>
                                          <p:attrName>style.visibility</p:attrName>
                                        </p:attrNameLst>
                                      </p:cBhvr>
                                      <p:to>
                                        <p:strVal val="visible"/>
                                      </p:to>
                                    </p:set>
                                    <p:animEffect transition="in" filter="dissolve">
                                      <p:cBhvr>
                                        <p:cTn id="37"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animBg="1"/>
      <p:bldP spid="6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Two Questions for This Lecture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How can data remain correct when it is spread across machines that fail?</a:t>
            </a:r>
          </a:p>
          <a:p>
            <a:endParaRPr lang="en-US" sz="3200" dirty="0"/>
          </a:p>
          <a:p>
            <a:r>
              <a:rPr lang="en-US" sz="3200" b="1" dirty="0"/>
              <a:t>What performance cost must we pay to make that happen?</a:t>
            </a:r>
          </a:p>
        </p:txBody>
      </p:sp>
    </p:spTree>
    <p:extLst>
      <p:ext uri="{BB962C8B-B14F-4D97-AF65-F5344CB8AC3E}">
        <p14:creationId xmlns:p14="http://schemas.microsoft.com/office/powerpoint/2010/main" val="17206706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r>
              <a:rPr lang="en-US" sz="3200" b="1" dirty="0"/>
              <a:t>That one machine does one thing at a time</a:t>
            </a:r>
          </a:p>
          <a:p>
            <a:pPr marL="914400" indent="-457200">
              <a:buFont typeface="Arial" panose="020B0604020202020204" pitchFamily="34" charset="0"/>
              <a:buChar char="•"/>
            </a:pPr>
            <a:r>
              <a:rPr lang="en-US" sz="2800" b="0" dirty="0"/>
              <a:t>Concurrent requests are put in some order, and the machine picks the order</a:t>
            </a:r>
          </a:p>
          <a:p>
            <a:pPr marL="914400" indent="-457200">
              <a:buFont typeface="Arial" panose="020B0604020202020204" pitchFamily="34" charset="0"/>
              <a:buChar char="•"/>
            </a:pPr>
            <a:r>
              <a:rPr lang="en-US" sz="2800" b="0" dirty="0"/>
              <a:t>Each request finishes before the next one starts</a:t>
            </a:r>
          </a:p>
          <a:p>
            <a:endParaRPr lang="en-US" sz="3200" b="1" dirty="0"/>
          </a:p>
          <a:p>
            <a:r>
              <a:rPr lang="en-US" sz="3200" b="1" dirty="0"/>
              <a:t>So the test is: could one machine have produced what the clients saw?</a:t>
            </a:r>
          </a:p>
          <a:p>
            <a:pPr marL="914400" indent="-457200">
              <a:buFont typeface="Arial" panose="020B0604020202020204" pitchFamily="34" charset="0"/>
              <a:buChar char="•"/>
            </a:pPr>
            <a:r>
              <a:rPr lang="en-US" sz="2800" b="0" dirty="0"/>
              <a:t>Not a particular answer, but an answer that fits one single order</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6" end="7"/>
                                            </p:txEl>
                                          </p:spTgt>
                                        </p:tgtEl>
                                        <p:attrNameLst>
                                          <p:attrName>style.visibility</p:attrName>
                                        </p:attrNameLst>
                                      </p:cBhvr>
                                      <p:to>
                                        <p:strVal val="visible"/>
                                      </p:to>
                                    </p:set>
                                    <p:animEffect transition="in" filter="dissolve">
                                      <p:cBhvr>
                                        <p:cTn id="7" dur="500"/>
                                        <p:tgtEl>
                                          <p:spTgt spid="2">
                                            <p:txEl>
                                              <p:pRg st="6"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What Should the Readers See?</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11</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Suppose C1 and C2 write concurrently, and after the writes have completed, C3 and C4 read. what can they see?</a:t>
            </a:r>
          </a:p>
          <a:p>
            <a:pPr marL="342900" indent="-342900">
              <a:buFont typeface="Arial"/>
              <a:buChar char="•"/>
            </a:pPr>
            <a:endParaRPr sz="1200" dirty="0"/>
          </a:p>
          <a:p>
            <a:pPr marL="342900" indent="-342900">
              <a:buFont typeface="Arial"/>
              <a:buChar char="•"/>
            </a:pPr>
            <a:r>
              <a:rPr sz="2400" dirty="0"/>
              <a:t>One correct machine would pick an order and stick to it</a:t>
            </a:r>
          </a:p>
          <a:p>
            <a:pPr marL="342900" indent="-342900">
              <a:buFont typeface="Arial"/>
              <a:buChar char="•"/>
            </a:pPr>
            <a:endParaRPr sz="1200" dirty="0"/>
          </a:p>
          <a:p>
            <a:pPr marL="342900" indent="-342900">
              <a:buFont typeface="Arial"/>
              <a:buChar char="•"/>
            </a:pPr>
            <a:r>
              <a:rPr sz="2400" dirty="0"/>
              <a:t>Either order is acceptable</a:t>
            </a:r>
          </a:p>
          <a:p>
            <a:pPr marL="342900" indent="-342900">
              <a:buFont typeface="Arial"/>
              <a:buChar char="•"/>
            </a:pPr>
            <a:endParaRPr sz="1200" dirty="0"/>
          </a:p>
          <a:p>
            <a:pPr marL="342900" indent="-342900">
              <a:buFont typeface="Arial"/>
              <a:buChar char="•"/>
            </a:pPr>
            <a:r>
              <a:rPr sz="2400" dirty="0"/>
              <a:t>The two readers disagreeing is not</a:t>
            </a:r>
          </a:p>
        </p:txBody>
      </p:sp>
      <p:sp>
        <p:nvSpPr>
          <p:cNvPr id="49" name="Scenario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fontScale="92500" lnSpcReduction="10000"/>
          </a:bodyPr>
          <a:lstStyle/>
          <a:p>
            <a:pPr>
              <a:defRPr sz="1725" b="1">
                <a:solidFill>
                  <a:srgbClr val="0E2841"/>
                </a:solidFill>
                <a:latin typeface="Aptos"/>
                <a:ea typeface="Aptos"/>
                <a:cs typeface="Aptos"/>
              </a:defRPr>
            </a:pPr>
            <a:r>
              <a:rPr sz="1725" b="1">
                <a:solidFill>
                  <a:srgbClr val="0E2841"/>
                </a:solidFill>
                <a:latin typeface="Aptos"/>
                <a:ea typeface="Aptos"/>
                <a:cs typeface="Aptos"/>
              </a:rPr>
              <a:t>C1 and C2 write at the same time, then C3 and C4 read</a:t>
            </a:r>
          </a:p>
        </p:txBody>
      </p:sp>
      <p:sp>
        <p:nvSpPr>
          <p:cNvPr id="50" name="Client 1 write">
            <a:extLst>
              <a:ext uri="{FF2B5EF4-FFF2-40B4-BE49-F238E27FC236}">
                <a16:creationId xmlns:a16="http://schemas.microsoft.com/office/drawing/2014/main" id="{75D3A3DE-8E0D-482B-BCFD-2AD2458A4DA5}"/>
              </a:ext>
            </a:extLst>
          </p:cNvPr>
          <p:cNvSpPr>
            <a:spLocks noGrp="1"/>
          </p:cNvSpPr>
          <p:nvPr/>
        </p:nvSpPr>
        <p:spPr>
          <a:xfrm>
            <a:off x="450000" y="150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C1</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1</a:t>
            </a:r>
          </a:p>
        </p:txBody>
      </p:sp>
      <p:sp>
        <p:nvSpPr>
          <p:cNvPr id="51" name="Client 2 write">
            <a:extLst>
              <a:ext uri="{FF2B5EF4-FFF2-40B4-BE49-F238E27FC236}">
                <a16:creationId xmlns:a16="http://schemas.microsoft.com/office/drawing/2014/main" id="{75D3A3DE-8E0D-482B-BCFD-2AD2458A4DA5}"/>
              </a:ext>
            </a:extLst>
          </p:cNvPr>
          <p:cNvSpPr>
            <a:spLocks noGrp="1"/>
          </p:cNvSpPr>
          <p:nvPr/>
        </p:nvSpPr>
        <p:spPr>
          <a:xfrm>
            <a:off x="450000" y="225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C2</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2</a:t>
            </a:r>
          </a:p>
        </p:txBody>
      </p:sp>
      <p:sp>
        <p:nvSpPr>
          <p:cNvPr id="52" name="One machine">
            <a:extLst>
              <a:ext uri="{FF2B5EF4-FFF2-40B4-BE49-F238E27FC236}">
                <a16:creationId xmlns:a16="http://schemas.microsoft.com/office/drawing/2014/main" id="{C047F16D-4224-436C-BA2F-7F4F14E7970E}"/>
              </a:ext>
            </a:extLst>
          </p:cNvPr>
          <p:cNvSpPr>
            <a:spLocks noGrp="1"/>
          </p:cNvSpPr>
          <p:nvPr/>
        </p:nvSpPr>
        <p:spPr>
          <a:xfrm>
            <a:off x="2400000" y="1650275"/>
            <a:ext cx="2200000" cy="104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One correct machine</a:t>
            </a:r>
          </a:p>
          <a:p>
            <a:pPr algn="ctr">
              <a:defRPr sz="1350" b="1">
                <a:solidFill>
                  <a:srgbClr val="0E2841"/>
                </a:solidFill>
                <a:latin typeface="Aptos"/>
                <a:ea typeface="Aptos"/>
                <a:cs typeface="Aptos"/>
              </a:defRPr>
            </a:pPr>
            <a:r>
              <a:rPr sz="1350" b="1">
                <a:solidFill>
                  <a:srgbClr val="0E2841"/>
                </a:solidFill>
                <a:latin typeface="Aptos"/>
                <a:ea typeface="Aptos"/>
                <a:cs typeface="Aptos"/>
              </a:rPr>
              <a:t>one request at a time</a:t>
            </a:r>
          </a:p>
        </p:txBody>
      </p:sp>
      <p:sp>
        <p:nvSpPr>
          <p:cNvPr id="53" name="Client 3 read">
            <a:extLst>
              <a:ext uri="{FF2B5EF4-FFF2-40B4-BE49-F238E27FC236}">
                <a16:creationId xmlns:a16="http://schemas.microsoft.com/office/drawing/2014/main" id="{C047F16D-4224-436C-BA2F-7F4F14E7970E}"/>
              </a:ext>
            </a:extLst>
          </p:cNvPr>
          <p:cNvSpPr>
            <a:spLocks noGrp="1"/>
          </p:cNvSpPr>
          <p:nvPr/>
        </p:nvSpPr>
        <p:spPr>
          <a:xfrm>
            <a:off x="5100000" y="150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sp>
        <p:nvSpPr>
          <p:cNvPr id="57" name="Client 4 read">
            <a:extLst>
              <a:ext uri="{FF2B5EF4-FFF2-40B4-BE49-F238E27FC236}">
                <a16:creationId xmlns:a16="http://schemas.microsoft.com/office/drawing/2014/main" id="{C047F16D-4224-436C-BA2F-7F4F14E7970E}"/>
              </a:ext>
            </a:extLst>
          </p:cNvPr>
          <p:cNvSpPr>
            <a:spLocks noGrp="1"/>
          </p:cNvSpPr>
          <p:nvPr/>
        </p:nvSpPr>
        <p:spPr>
          <a:xfrm>
            <a:off x="5100000" y="225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cxnSp>
        <p:nvCxnSpPr>
          <p:cNvPr id="76" name="Write arrow 1"/>
          <p:cNvCxnSpPr/>
          <p:nvPr/>
        </p:nvCxnSpPr>
        <p:spPr>
          <a:xfrm>
            <a:off x="1850000" y="1795275"/>
            <a:ext cx="550000" cy="375000"/>
          </a:xfrm>
          <a:prstGeom prst="straightConnector1">
            <a:avLst/>
          </a:prstGeom>
          <a:ln w="19050">
            <a:solidFill>
              <a:srgbClr val="A02B93"/>
            </a:solidFill>
            <a:prstDash val="solid"/>
            <a:tailEnd type="triangle" w="sm" len="sm"/>
          </a:ln>
        </p:spPr>
      </p:cxnSp>
      <p:cxnSp>
        <p:nvCxnSpPr>
          <p:cNvPr id="77" name="Write arrow 2"/>
          <p:cNvCxnSpPr/>
          <p:nvPr/>
        </p:nvCxnSpPr>
        <p:spPr>
          <a:xfrm flipV="1">
            <a:off x="1850000" y="2170275"/>
            <a:ext cx="550000" cy="375000"/>
          </a:xfrm>
          <a:prstGeom prst="straightConnector1">
            <a:avLst/>
          </a:prstGeom>
          <a:ln w="19050">
            <a:solidFill>
              <a:srgbClr val="A02B93"/>
            </a:solidFill>
            <a:prstDash val="solid"/>
            <a:tailEnd type="triangle" w="sm" len="sm"/>
          </a:ln>
        </p:spPr>
      </p:cxnSp>
      <p:cxnSp>
        <p:nvCxnSpPr>
          <p:cNvPr id="78" name="Read arrow 1"/>
          <p:cNvCxnSpPr/>
          <p:nvPr/>
        </p:nvCxnSpPr>
        <p:spPr>
          <a:xfrm flipV="1">
            <a:off x="4600000" y="1795275"/>
            <a:ext cx="500000" cy="375000"/>
          </a:xfrm>
          <a:prstGeom prst="straightConnector1">
            <a:avLst/>
          </a:prstGeom>
          <a:ln w="19050">
            <a:solidFill>
              <a:srgbClr val="5B6573"/>
            </a:solidFill>
            <a:prstDash val="solid"/>
            <a:tailEnd type="triangle" w="sm" len="sm"/>
          </a:ln>
        </p:spPr>
      </p:cxnSp>
      <p:cxnSp>
        <p:nvCxnSpPr>
          <p:cNvPr id="79" name="Read arrow 2"/>
          <p:cNvCxnSpPr/>
          <p:nvPr/>
        </p:nvCxnSpPr>
        <p:spPr>
          <a:xfrm>
            <a:off x="4600000" y="2170275"/>
            <a:ext cx="500000" cy="375000"/>
          </a:xfrm>
          <a:prstGeom prst="straightConnector1">
            <a:avLst/>
          </a:prstGeom>
          <a:ln w="19050">
            <a:solidFill>
              <a:srgbClr val="5B6573"/>
            </a:solidFill>
            <a:prstDash val="solid"/>
            <a:tailEnd type="triangle" w="sm" len="sm"/>
          </a:ln>
        </p:spPr>
      </p:cxnSp>
      <p:sp>
        <p:nvSpPr>
          <p:cNvPr id="68" name="Same value label">
            <a:extLst>
              <a:ext uri="{FF2B5EF4-FFF2-40B4-BE49-F238E27FC236}">
                <a16:creationId xmlns:a16="http://schemas.microsoft.com/office/drawing/2014/main" id="{8E2343DF-2BB9-401F-B950-594DD72F33BC}"/>
              </a:ext>
            </a:extLst>
          </p:cNvPr>
          <p:cNvSpPr>
            <a:spLocks noGrp="1"/>
          </p:cNvSpPr>
          <p:nvPr/>
        </p:nvSpPr>
        <p:spPr>
          <a:xfrm>
            <a:off x="5100000" y="2900000"/>
            <a:ext cx="1400000" cy="257175"/>
          </a:xfrm>
          <a:prstGeom prst="rect">
            <a:avLst/>
          </a:prstGeom>
          <a:noFill/>
          <a:ln w="0">
            <a:noFill/>
          </a:ln>
        </p:spPr>
        <p:txBody>
          <a:bodyPr>
            <a:normAutofit fontScale="92500" lnSpcReduction="20000"/>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same value?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Answer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fontScale="92500" lnSpcReduction="10000"/>
          </a:bodyPr>
          <a:lstStyle/>
          <a:p>
            <a:pPr>
              <a:defRPr sz="1725" b="1">
                <a:solidFill>
                  <a:srgbClr val="0E2841"/>
                </a:solidFill>
                <a:latin typeface="Aptos"/>
                <a:ea typeface="Aptos"/>
                <a:cs typeface="Aptos"/>
              </a:defRPr>
            </a:pPr>
            <a:r>
              <a:rPr sz="1725" b="1">
                <a:solidFill>
                  <a:srgbClr val="0E2841"/>
                </a:solidFill>
                <a:latin typeface="Aptos"/>
                <a:ea typeface="Aptos"/>
                <a:cs typeface="Aptos"/>
              </a:rPr>
              <a:t>What are they allowed to see?</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1</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2</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one reads 1,</a:t>
            </a:r>
          </a:p>
          <a:p>
            <a:pPr algn="ctr">
              <a:defRPr sz="1350" b="1">
                <a:solidFill>
                  <a:srgbClr val="A02B93"/>
                </a:solidFill>
                <a:latin typeface="Aptos"/>
                <a:ea typeface="Aptos"/>
                <a:cs typeface="Aptos"/>
              </a:defRPr>
            </a:pPr>
            <a:r>
              <a:rPr sz="1350" b="1">
                <a:solidFill>
                  <a:srgbClr val="A02B93"/>
                </a:solidFill>
                <a:latin typeface="Aptos"/>
                <a:ea typeface="Aptos"/>
                <a:cs typeface="Aptos"/>
              </a:rPr>
              <a:t>the other reads 2</a:t>
            </a:r>
          </a:p>
          <a:p>
            <a:pPr algn="ctr">
              <a:defRPr sz="1350" b="1">
                <a:solidFill>
                  <a:srgbClr val="A02B93"/>
                </a:solidFill>
                <a:latin typeface="Aptos"/>
                <a:ea typeface="Aptos"/>
                <a:cs typeface="Aptos"/>
              </a:defRPr>
            </a:pPr>
            <a:r>
              <a:rPr sz="1350" b="1">
                <a:solidFill>
                  <a:srgbClr val="A02B93"/>
                </a:solidFill>
                <a:latin typeface="Aptos"/>
                <a:ea typeface="Aptos"/>
                <a:cs typeface="Aptos"/>
              </a:rPr>
              <a:t>not allowed</a:t>
            </a:r>
          </a:p>
        </p:txBody>
      </p:sp>
      <p:sp>
        <p:nvSpPr>
          <p:cNvPr id="63" name="Answer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Either order is fine; disagreeing is not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dissolv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grpSp>
      <p:grpSp>
        <p:nvGrpSpPr>
          <p:cNvPr id="21" name="object 21">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
        <p:nvSpPr>
          <p:cNvPr id="22" name="C1 value">
            <a:extLst>
              <a:ext uri="{FF2B5EF4-FFF2-40B4-BE49-F238E27FC236}">
                <a16:creationId xmlns:a16="http://schemas.microsoft.com/office/drawing/2014/main" id="{B3234D3B-6A3A-C4E5-86E3-56006E2E9CDE}"/>
              </a:ext>
            </a:extLst>
          </p:cNvPr>
          <p:cNvSpPr txBox="1"/>
          <p:nvPr/>
        </p:nvSpPr>
        <p:spPr>
          <a:xfrm>
            <a:off x="2245261" y="4260000"/>
            <a:ext cx="1812925" cy="35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writes x = 1</a:t>
            </a:r>
            <a:endParaRPr sz="2000" b="1">
              <a:latin typeface="Arial"/>
              <a:cs typeface="Arial"/>
            </a:endParaRPr>
          </a:p>
        </p:txBody>
      </p:sp>
      <p:sp>
        <p:nvSpPr>
          <p:cNvPr id="23" name="C2 value">
            <a:extLst>
              <a:ext uri="{FF2B5EF4-FFF2-40B4-BE49-F238E27FC236}">
                <a16:creationId xmlns:a16="http://schemas.microsoft.com/office/drawing/2014/main" id="{B3234D3B-6A3A-C4E5-86E3-56006E2E9CDE}"/>
              </a:ext>
            </a:extLst>
          </p:cNvPr>
          <p:cNvSpPr txBox="1"/>
          <p:nvPr/>
        </p:nvSpPr>
        <p:spPr>
          <a:xfrm>
            <a:off x="2245261" y="5770000"/>
            <a:ext cx="1812925" cy="35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writes x = 2</a:t>
            </a:r>
            <a:endParaRPr sz="2000" b="1">
              <a:latin typeface="Arial"/>
              <a:cs typeface="Arial"/>
            </a:endParaRPr>
          </a:p>
        </p:txBody>
      </p:sp>
      <p:sp>
        <p:nvSpPr>
          <p:cNvPr id="24" name="S1 result">
            <a:extLst>
              <a:ext uri="{FF2B5EF4-FFF2-40B4-BE49-F238E27FC236}">
                <a16:creationId xmlns:a16="http://schemas.microsoft.com/office/drawing/2014/main" id="{B3234D3B-6A3A-C4E5-86E3-56006E2E9CDE}"/>
              </a:ext>
            </a:extLst>
          </p:cNvPr>
          <p:cNvSpPr txBox="1"/>
          <p:nvPr/>
        </p:nvSpPr>
        <p:spPr>
          <a:xfrm>
            <a:off x="9200000" y="3500000"/>
            <a:ext cx="2300000" cy="40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ends with x = 2</a:t>
            </a:r>
            <a:endParaRPr sz="2000" b="1">
              <a:latin typeface="Arial"/>
              <a:cs typeface="Arial"/>
            </a:endParaRPr>
          </a:p>
        </p:txBody>
      </p:sp>
      <p:sp>
        <p:nvSpPr>
          <p:cNvPr id="25" name="S2 result">
            <a:extLst>
              <a:ext uri="{FF2B5EF4-FFF2-40B4-BE49-F238E27FC236}">
                <a16:creationId xmlns:a16="http://schemas.microsoft.com/office/drawing/2014/main" id="{B3234D3B-6A3A-C4E5-86E3-56006E2E9CDE}"/>
              </a:ext>
            </a:extLst>
          </p:cNvPr>
          <p:cNvSpPr txBox="1"/>
          <p:nvPr/>
        </p:nvSpPr>
        <p:spPr>
          <a:xfrm>
            <a:off x="9200000" y="5220000"/>
            <a:ext cx="2300000" cy="40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ends with x = 1</a:t>
            </a:r>
            <a:endParaRPr sz="2000" b="1">
              <a:latin typeface="Arial"/>
              <a:cs typeface="Arial"/>
            </a:endParaRPr>
          </a:p>
        </p:txBody>
      </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par>
                                <p:cTn id="8" presetID="9"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dissolv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dissolve">
                                      <p:cBhvr>
                                        <p:cTn id="15" dur="500"/>
                                        <p:tgtEl>
                                          <p:spTgt spid="21"/>
                                        </p:tgtEl>
                                      </p:cBhvr>
                                    </p:animEffect>
                                  </p:childTnLst>
                                </p:cTn>
                              </p:par>
                              <p:par>
                                <p:cTn id="16" presetID="9" presetClass="entr" presetSubtype="0" fill="hold"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dissolve">
                                      <p:cBhvr>
                                        <p:cTn id="18" dur="5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dissolve">
                                      <p:cBhvr>
                                        <p:cTn id="23" dur="500"/>
                                        <p:tgtEl>
                                          <p:spTgt spid="24"/>
                                        </p:tgtEl>
                                      </p:cBhvr>
                                    </p:animEffect>
                                  </p:childTnLst>
                                </p:cTn>
                              </p:par>
                              <p:par>
                                <p:cTn id="24" presetID="9"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dissolve">
                                      <p:cBhvr>
                                        <p:cTn id="26"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Can We Just Always Read from Server 1?</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14</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A natural patch: everyone reads Server 1, and falls back to Server 2 only when S1 is down</a:t>
            </a:r>
          </a:p>
          <a:p>
            <a:pPr marL="342900" indent="-342900">
              <a:buFont typeface="Arial"/>
              <a:buChar char="•"/>
            </a:pPr>
            <a:endParaRPr sz="1200" dirty="0"/>
          </a:p>
          <a:p>
            <a:pPr marL="342900" indent="-342900">
              <a:buFont typeface="Arial"/>
              <a:buChar char="•"/>
            </a:pPr>
            <a:r>
              <a:rPr sz="2400" dirty="0"/>
              <a:t>While S1 is up every reader sees 2, so the disagreement is hidden, not repaired</a:t>
            </a:r>
          </a:p>
          <a:p>
            <a:pPr marL="342900" indent="-342900">
              <a:buFont typeface="Arial"/>
              <a:buChar char="•"/>
            </a:pPr>
            <a:endParaRPr sz="1200" dirty="0"/>
          </a:p>
          <a:p>
            <a:pPr marL="342900" indent="-342900">
              <a:buFont typeface="Arial"/>
              <a:buChar char="•"/>
            </a:pPr>
            <a:r>
              <a:rPr sz="2400" dirty="0"/>
              <a:t>S1 dies, the readers fall back to S2, and the value goes back to 1</a:t>
            </a:r>
          </a:p>
          <a:p>
            <a:pPr marL="342900" indent="-342900">
              <a:buFont typeface="Arial"/>
              <a:buChar char="•"/>
            </a:pPr>
            <a:endParaRPr sz="1200" dirty="0"/>
          </a:p>
          <a:p>
            <a:pPr marL="342900" indent="-342900">
              <a:buFont typeface="Arial"/>
              <a:buChar char="•"/>
            </a:pPr>
            <a:r>
              <a:rPr sz="2400" dirty="0"/>
              <a:t>Nobody wrote. One machine could never do that.</a:t>
            </a:r>
          </a:p>
        </p:txBody>
      </p:sp>
      <p:sp>
        <p:nvSpPr>
          <p:cNvPr id="49" name="Rul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fontScale="92500" lnSpcReduction="10000"/>
          </a:bodyPr>
          <a:lstStyle/>
          <a:p>
            <a:pPr>
              <a:defRPr sz="1725" b="1">
                <a:solidFill>
                  <a:srgbClr val="0E2841"/>
                </a:solidFill>
                <a:latin typeface="Aptos"/>
                <a:ea typeface="Aptos"/>
                <a:cs typeface="Aptos"/>
              </a:defRPr>
            </a:pPr>
            <a:r>
              <a:rPr sz="1725" b="1">
                <a:solidFill>
                  <a:srgbClr val="0E2841"/>
                </a:solidFill>
                <a:latin typeface="Aptos"/>
                <a:ea typeface="Aptos"/>
                <a:cs typeface="Aptos"/>
              </a:rPr>
              <a:t>Rule: always read S1, fall back to S2</a:t>
            </a:r>
          </a:p>
        </p:txBody>
      </p:sp>
      <p:sp>
        <p:nvSpPr>
          <p:cNvPr id="50" name="Server 1 up">
            <a:extLst>
              <a:ext uri="{FF2B5EF4-FFF2-40B4-BE49-F238E27FC236}">
                <a16:creationId xmlns:a16="http://schemas.microsoft.com/office/drawing/2014/main" id="{C047F16D-4224-436C-BA2F-7F4F14E7970E}"/>
              </a:ext>
            </a:extLst>
          </p:cNvPr>
          <p:cNvSpPr>
            <a:spLocks noGrp="1"/>
          </p:cNvSpPr>
          <p:nvPr/>
        </p:nvSpPr>
        <p:spPr>
          <a:xfrm>
            <a:off x="450000" y="1500000"/>
            <a:ext cx="16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Server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2</a:t>
            </a:r>
          </a:p>
        </p:txBody>
      </p:sp>
      <p:sp>
        <p:nvSpPr>
          <p:cNvPr id="51" name="Server 2">
            <a:extLst>
              <a:ext uri="{FF2B5EF4-FFF2-40B4-BE49-F238E27FC236}">
                <a16:creationId xmlns:a16="http://schemas.microsoft.com/office/drawing/2014/main" id="{C047F16D-4224-436C-BA2F-7F4F14E7970E}"/>
              </a:ext>
            </a:extLst>
          </p:cNvPr>
          <p:cNvSpPr>
            <a:spLocks noGrp="1"/>
          </p:cNvSpPr>
          <p:nvPr/>
        </p:nvSpPr>
        <p:spPr>
          <a:xfrm>
            <a:off x="450000" y="2250000"/>
            <a:ext cx="16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Server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1</a:t>
            </a:r>
          </a:p>
        </p:txBody>
      </p:sp>
      <p:sp>
        <p:nvSpPr>
          <p:cNvPr id="52" name="Reader C3">
            <a:extLst>
              <a:ext uri="{FF2B5EF4-FFF2-40B4-BE49-F238E27FC236}">
                <a16:creationId xmlns:a16="http://schemas.microsoft.com/office/drawing/2014/main" id="{C047F16D-4224-436C-BA2F-7F4F14E7970E}"/>
              </a:ext>
            </a:extLst>
          </p:cNvPr>
          <p:cNvSpPr>
            <a:spLocks noGrp="1"/>
          </p:cNvSpPr>
          <p:nvPr/>
        </p:nvSpPr>
        <p:spPr>
          <a:xfrm>
            <a:off x="4400000" y="1500000"/>
            <a:ext cx="15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2</a:t>
            </a:r>
          </a:p>
        </p:txBody>
      </p:sp>
      <p:sp>
        <p:nvSpPr>
          <p:cNvPr id="53" name="Reader C4">
            <a:extLst>
              <a:ext uri="{FF2B5EF4-FFF2-40B4-BE49-F238E27FC236}">
                <a16:creationId xmlns:a16="http://schemas.microsoft.com/office/drawing/2014/main" id="{C047F16D-4224-436C-BA2F-7F4F14E7970E}"/>
              </a:ext>
            </a:extLst>
          </p:cNvPr>
          <p:cNvSpPr>
            <a:spLocks noGrp="1"/>
          </p:cNvSpPr>
          <p:nvPr/>
        </p:nvSpPr>
        <p:spPr>
          <a:xfrm>
            <a:off x="4400000" y="2250000"/>
            <a:ext cx="15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2</a:t>
            </a:r>
          </a:p>
        </p:txBody>
      </p:sp>
      <p:cxnSp>
        <p:nvCxnSpPr>
          <p:cNvPr id="76" name="Read arrow 1"/>
          <p:cNvCxnSpPr/>
          <p:nvPr/>
        </p:nvCxnSpPr>
        <p:spPr>
          <a:xfrm>
            <a:off x="2050000" y="1795275"/>
            <a:ext cx="2350000" cy="0"/>
          </a:xfrm>
          <a:prstGeom prst="straightConnector1">
            <a:avLst/>
          </a:prstGeom>
          <a:ln w="19050">
            <a:solidFill>
              <a:srgbClr val="5B6573"/>
            </a:solidFill>
            <a:prstDash val="solid"/>
            <a:tailEnd type="triangle" w="sm" len="sm"/>
          </a:ln>
        </p:spPr>
      </p:cxnSp>
      <p:cxnSp>
        <p:nvCxnSpPr>
          <p:cNvPr id="77" name="Read arrow 2"/>
          <p:cNvCxnSpPr/>
          <p:nvPr/>
        </p:nvCxnSpPr>
        <p:spPr>
          <a:xfrm>
            <a:off x="2050000" y="1795275"/>
            <a:ext cx="2350000" cy="750000"/>
          </a:xfrm>
          <a:prstGeom prst="straightConnector1">
            <a:avLst/>
          </a:prstGeom>
          <a:ln w="19050">
            <a:solidFill>
              <a:srgbClr val="5B6573"/>
            </a:solidFill>
            <a:prstDash val="solid"/>
            <a:tailEnd type="triangle" w="sm" len="sm"/>
          </a:ln>
        </p:spPr>
      </p:cxnSp>
      <p:sp>
        <p:nvSpPr>
          <p:cNvPr id="68" name="Looks fine label">
            <a:extLst>
              <a:ext uri="{FF2B5EF4-FFF2-40B4-BE49-F238E27FC236}">
                <a16:creationId xmlns:a16="http://schemas.microsoft.com/office/drawing/2014/main" id="{8E2343DF-2BB9-401F-B950-594DD72F33BC}"/>
              </a:ext>
            </a:extLst>
          </p:cNvPr>
          <p:cNvSpPr>
            <a:spLocks noGrp="1"/>
          </p:cNvSpPr>
          <p:nvPr/>
        </p:nvSpPr>
        <p:spPr>
          <a:xfrm>
            <a:off x="4400000" y="2900000"/>
            <a:ext cx="1500000" cy="257175"/>
          </a:xfrm>
          <a:prstGeom prst="rect">
            <a:avLst/>
          </a:prstGeom>
          <a:noFill/>
          <a:ln w="0">
            <a:noFill/>
          </a:ln>
        </p:spPr>
        <p:txBody>
          <a:bodyPr>
            <a:normAutofit fontScale="92500" lnSpcReduction="20000"/>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looks fine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Failure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fontScale="92500" lnSpcReduction="10000"/>
          </a:bodyPr>
          <a:lstStyle/>
          <a:p>
            <a:pPr>
              <a:defRPr sz="1725" b="1">
                <a:solidFill>
                  <a:srgbClr val="0E2841"/>
                </a:solidFill>
                <a:latin typeface="Aptos"/>
                <a:ea typeface="Aptos"/>
                <a:cs typeface="Aptos"/>
              </a:defRPr>
            </a:pPr>
            <a:r>
              <a:rPr sz="1725" b="1">
                <a:solidFill>
                  <a:srgbClr val="0E2841"/>
                </a:solidFill>
                <a:latin typeface="Aptos"/>
                <a:ea typeface="Aptos"/>
                <a:cs typeface="Aptos"/>
              </a:rPr>
              <a:t>Then Server 1 fails</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S1 is gone</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go to S2</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 reads 1</a:t>
            </a:r>
          </a:p>
          <a:p>
            <a:pPr algn="ctr">
              <a:defRPr sz="1350" b="1">
                <a:solidFill>
                  <a:srgbClr val="0E2841"/>
                </a:solidFill>
                <a:latin typeface="Aptos"/>
                <a:ea typeface="Aptos"/>
                <a:cs typeface="Aptos"/>
              </a:defRPr>
            </a:pPr>
            <a:r>
              <a:rPr sz="1350" b="1">
                <a:solidFill>
                  <a:srgbClr val="0E2841"/>
                </a:solidFill>
                <a:latin typeface="Aptos"/>
                <a:ea typeface="Aptos"/>
                <a:cs typeface="Aptos"/>
              </a:rPr>
              <a:t>C4 reads 1</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x:  2 → 1</a:t>
            </a:r>
          </a:p>
          <a:p>
            <a:pPr algn="ctr">
              <a:defRPr sz="1350" b="1">
                <a:solidFill>
                  <a:srgbClr val="A02B93"/>
                </a:solidFill>
                <a:latin typeface="Aptos"/>
                <a:ea typeface="Aptos"/>
                <a:cs typeface="Aptos"/>
              </a:defRPr>
            </a:pPr>
            <a:r>
              <a:rPr sz="1350" b="1">
                <a:solidFill>
                  <a:srgbClr val="A02B93"/>
                </a:solidFill>
                <a:latin typeface="Aptos"/>
                <a:ea typeface="Aptos"/>
                <a:cs typeface="Aptos"/>
              </a:rPr>
              <a:t>nobody wrote</a:t>
            </a:r>
          </a:p>
        </p:txBody>
      </p:sp>
      <p:sp>
        <p:nvSpPr>
          <p:cNvPr id="63" name="Failure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Nobody wrote, yet the value changed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 Fix Has a Price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015730" cy="3200000"/>
          </a:xfrm>
          <a:prstGeom prst="rect">
            <a:avLst/>
          </a:prstGeom>
          <a:noFill/>
        </p:spPr>
        <p:txBody>
          <a:bodyPr wrap="square" rtlCol="0">
            <a:spAutoFit/>
          </a:bodyPr>
          <a:lstStyle/>
          <a:p>
            <a:r>
              <a:rPr lang="en-US" sz="3200" b="1" dirty="0"/>
              <a:t>Both failures have one root: the replicas diverged</a:t>
            </a:r>
          </a:p>
          <a:p>
            <a:pPr marL="914400" indent="-457200">
              <a:buFont typeface="Arial" panose="020B0604020202020204" pitchFamily="34" charset="0"/>
              <a:buChar char="•"/>
            </a:pPr>
            <a:r>
              <a:rPr lang="en-US" sz="2800" b="0" dirty="0"/>
              <a:t>A fix must prevent divergence, not pick who to read</a:t>
            </a:r>
          </a:p>
          <a:p>
            <a:pPr marL="457200"/>
            <a:endParaRPr lang="en-US" sz="1400" b="0" dirty="0"/>
          </a:p>
          <a:p>
            <a:r>
              <a:rPr lang="en-US" sz="3200" b="1" dirty="0"/>
              <a:t>Agreement is not free</a:t>
            </a:r>
          </a:p>
          <a:p>
            <a:pPr marL="914400" indent="-457200">
              <a:buFont typeface="Arial" panose="020B0604020202020204" pitchFamily="34" charset="0"/>
              <a:buChar char="•"/>
            </a:pPr>
            <a:r>
              <a:rPr lang="en-US" sz="2800" b="0" dirty="0"/>
              <a:t>More messages, more complexity, longer waits</a:t>
            </a:r>
          </a:p>
          <a:p>
            <a:pPr marL="457200"/>
            <a:endParaRPr lang="en-US" sz="1400" b="0" dirty="0"/>
          </a:p>
          <a:p>
            <a:r>
              <a:rPr lang="en-US" sz="3200" b="1" dirty="0"/>
              <a:t>So there is a range of designs, not one answer</a:t>
            </a:r>
          </a:p>
          <a:p>
            <a:pPr marL="914400" indent="-457200">
              <a:buFont typeface="Arial" panose="020B0604020202020204" pitchFamily="34" charset="0"/>
              <a:buChar char="•"/>
            </a:pPr>
            <a:r>
              <a:rPr lang="en-US" sz="2800" b="0" dirty="0"/>
              <a:t>Stronger consistency costs performance</a:t>
            </a:r>
          </a:p>
          <a:p>
            <a:pPr marL="914400" indent="-457200">
              <a:buFont typeface="Arial" panose="020B0604020202020204" pitchFamily="34" charset="0"/>
              <a:buChar char="•"/>
            </a:pPr>
            <a:r>
              <a:rPr lang="en-US" sz="2800" b="0" dirty="0"/>
              <a:t>Weaker consistency costs the application</a:t>
            </a:r>
          </a:p>
          <a:p>
            <a:pPr marL="457200"/>
            <a:endParaRPr lang="en-US" sz="1400" b="0" dirty="0"/>
          </a:p>
          <a:p>
            <a:r>
              <a:rPr lang="en-US" sz="3200" b="1" dirty="0"/>
              <a:t>GFS picks a point on it, deliberately not perfect</a:t>
            </a:r>
          </a:p>
        </p:txBody>
      </p:sp>
    </p:spTree>
    <p:extLst>
      <p:ext uri="{BB962C8B-B14F-4D97-AF65-F5344CB8AC3E}">
        <p14:creationId xmlns:p14="http://schemas.microsoft.com/office/powerpoint/2010/main" val="17206706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GFS touches many themes of this course</a:t>
            </a:r>
          </a:p>
          <a:p>
            <a:pPr marL="742950" lvl="1" indent="-285750">
              <a:buFont typeface="Arial" panose="020B0604020202020204" pitchFamily="34" charset="0"/>
              <a:buChar char="•"/>
            </a:pPr>
            <a:r>
              <a:rPr lang="en-US" sz="2800" dirty="0"/>
              <a:t>parallel performance, fault tolerance, replication, consistency</a:t>
            </a:r>
          </a:p>
          <a:p>
            <a:endParaRPr lang="en-US" sz="1600" b="1" dirty="0"/>
          </a:p>
          <a:p>
            <a:r>
              <a:rPr lang="en-US" sz="3200" b="1" dirty="0"/>
              <a:t>A good systems paper: applications down to the network</a:t>
            </a:r>
          </a:p>
          <a:p>
            <a:endParaRPr lang="en-US" sz="1600" b="1" dirty="0"/>
          </a:p>
          <a:p>
            <a:r>
              <a:rPr lang="en-US" sz="3200" b="1" dirty="0"/>
              <a:t>A successful real-world design, judged on production experience</a:t>
            </a:r>
          </a:p>
        </p:txBody>
      </p:sp>
    </p:spTree>
    <p:extLst>
      <p:ext uri="{BB962C8B-B14F-4D97-AF65-F5344CB8AC3E}">
        <p14:creationId xmlns:p14="http://schemas.microsoft.com/office/powerpoint/2010/main" val="36778841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a:t>
            </a:r>
          </a:p>
          <a:p>
            <a:endParaRPr lang="en-US" sz="1600" b="1" dirty="0"/>
          </a:p>
          <a:p>
            <a:r>
              <a:rPr lang="en-US" sz="3200" b="1" dirty="0"/>
              <a:t>Huge scale.</a:t>
            </a:r>
          </a:p>
          <a:p>
            <a:endParaRPr lang="en-US" sz="1600" b="1" dirty="0"/>
          </a:p>
          <a:p>
            <a:r>
              <a:rPr lang="en-US" sz="3200" b="1" dirty="0"/>
              <a:t>Used in industry, real-world experience.</a:t>
            </a:r>
          </a:p>
          <a:p>
            <a:endParaRPr lang="en-US" sz="1600" b="1" dirty="0"/>
          </a:p>
          <a:p>
            <a:r>
              <a:rPr lang="en-US" sz="3200" b="1" dirty="0"/>
              <a:t>Successful use of weak consistency.</a:t>
            </a:r>
          </a:p>
          <a:p>
            <a:pPr marL="742950" lvl="1" indent="-285750">
              <a:buFont typeface="Arial" panose="020B0604020202020204" pitchFamily="34" charset="0"/>
              <a:buChar char="•"/>
            </a:pPr>
            <a:r>
              <a:rPr lang="en-US" sz="2800" dirty="0"/>
              <a:t>A missing search result goes unnoticed; ad billing does not</a:t>
            </a:r>
          </a:p>
          <a:p>
            <a:pPr marL="742950" lvl="1" indent="-285750">
              <a:buFont typeface="Arial" panose="020B0604020202020204" pitchFamily="34" charset="0"/>
              <a:buChar char="•"/>
            </a:pPr>
            <a:r>
              <a:rPr lang="en-US" sz="2800" dirty="0"/>
              <a:t>Applications compensate: checksums and explicit record boundaries</a:t>
            </a:r>
          </a:p>
          <a:p>
            <a:endParaRPr lang="en-US" sz="16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2">
                                            <p:txEl>
                                              <p:pRg st="7" end="7"/>
                                            </p:txEl>
                                          </p:spTgt>
                                        </p:tgtEl>
                                        <p:attrNameLst>
                                          <p:attrName>style.visibility</p:attrName>
                                        </p:attrNameLst>
                                      </p:cBhvr>
                                      <p:to>
                                        <p:strVal val="visible"/>
                                      </p:to>
                                    </p:set>
                                    <p:animEffect transition="in" filter="dissolve">
                                      <p:cBhvr>
                                        <p:cTn id="19" dur="500"/>
                                        <p:tgtEl>
                                          <p:spTgt spid="2">
                                            <p:txEl>
                                              <p:pRg st="7" end="7"/>
                                            </p:txEl>
                                          </p:spTgt>
                                        </p:tgtEl>
                                      </p:cBhvr>
                                    </p:animEffect>
                                  </p:childTnLst>
                                </p:cTn>
                              </p:par>
                              <p:par>
                                <p:cTn id="20" presetID="9" presetClass="entr" presetSubtype="0" fill="hold" nodeType="withEffect">
                                  <p:stCondLst>
                                    <p:cond delay="0"/>
                                  </p:stCondLst>
                                  <p:childTnLst>
                                    <p:set>
                                      <p:cBhvr>
                                        <p:cTn id="21" dur="1" fill="hold">
                                          <p:stCondLst>
                                            <p:cond delay="0"/>
                                          </p:stCondLst>
                                        </p:cTn>
                                        <p:tgtEl>
                                          <p:spTgt spid="2">
                                            <p:txEl>
                                              <p:pRg st="10" end="10"/>
                                            </p:txEl>
                                          </p:spTgt>
                                        </p:tgtEl>
                                        <p:attrNameLst>
                                          <p:attrName>style.visibility</p:attrName>
                                        </p:attrNameLst>
                                      </p:cBhvr>
                                      <p:to>
                                        <p:strVal val="visible"/>
                                      </p:to>
                                    </p:set>
                                    <p:animEffect transition="in" filter="dissolve">
                                      <p:cBhvr>
                                        <p:cTn id="22" dur="500"/>
                                        <p:tgtEl>
                                          <p:spTgt spid="2">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One master: one place with a global view of the cluster</a:t>
            </a:r>
          </a:p>
          <a:p>
            <a:endParaRPr lang="en-US" sz="2000" dirty="0"/>
          </a:p>
          <a:p>
            <a:r>
              <a:rPr lang="en-US" sz="2800" b="1" dirty="0"/>
              <a:t>What it manages: the namespace, and every chunk</a:t>
            </a:r>
          </a:p>
          <a:p>
            <a:pPr marL="742950" lvl="1" indent="-285750">
              <a:buFont typeface="Arial" panose="020B0604020202020204" pitchFamily="34" charset="0"/>
              <a:buChar char="•"/>
            </a:pPr>
            <a:r>
              <a:rPr lang="en-US" sz="2400" dirty="0"/>
              <a:t>Where they are: file -&gt; chunks, chunk -&gt; replicas</a:t>
            </a:r>
          </a:p>
          <a:p>
            <a:pPr marL="742950" lvl="1" indent="-285750">
              <a:buFont typeface="Arial" panose="020B0604020202020204" pitchFamily="34" charset="0"/>
              <a:buChar char="•"/>
            </a:pPr>
            <a:r>
              <a:rPr lang="en-US" sz="2400" dirty="0"/>
              <a:t>Where to put new ones</a:t>
            </a:r>
          </a:p>
          <a:p>
            <a:pPr marL="742950" lvl="1" indent="-285750">
              <a:buFont typeface="Arial" panose="020B0604020202020204" pitchFamily="34" charset="0"/>
              <a:buChar char="•"/>
            </a:pPr>
            <a:r>
              <a:rPr lang="en-US" sz="2400" dirty="0"/>
              <a:t>When to re-replicate: failure, load balancing</a:t>
            </a:r>
          </a:p>
          <a:p>
            <a:pPr marL="742950" lvl="1" indent="-285750">
              <a:buFont typeface="Arial" panose="020B0604020202020204" pitchFamily="34" charset="0"/>
              <a:buChar char="•"/>
            </a:pPr>
            <a:r>
              <a:rPr lang="en-US" sz="2400" dirty="0"/>
              <a:t>When and what to delete: garbage collection</a:t>
            </a:r>
          </a:p>
          <a:p>
            <a:endParaRPr lang="en-US" sz="2000" dirty="0"/>
          </a:p>
          <a:p>
            <a:r>
              <a:rPr lang="en-US" sz="2800" b="1" dirty="0"/>
              <a:t>All metadata is kept in the master's memory, so lookups are fast</a:t>
            </a:r>
          </a:p>
          <a:p>
            <a:pPr marL="742950" lvl="1" indent="-285750">
              <a:buFont typeface="Arial" panose="020B0604020202020204" pitchFamily="34" charset="0"/>
              <a:buChar char="•"/>
            </a:pPr>
            <a:r>
              <a:rPr lang="en-US" sz="2400" dirty="0"/>
              <a:t>Under 64 B per 64 MB chunk, so 640 TB of data needs under 640 MB</a:t>
            </a:r>
          </a:p>
          <a:p>
            <a:endParaRPr lang="en-US" sz="2000" dirty="0"/>
          </a:p>
          <a:p>
            <a:r>
              <a:rPr lang="en-US" sz="2800" b="1" dirty="0"/>
              <a:t>Periodic heartbeats: chunkserver state out, master instructions back</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6" end="6"/>
                                            </p:txEl>
                                          </p:spTgt>
                                        </p:tgtEl>
                                        <p:attrNameLst>
                                          <p:attrName>style.visibility</p:attrName>
                                        </p:attrNameLst>
                                      </p:cBhvr>
                                      <p:to>
                                        <p:strVal val="visible"/>
                                      </p:to>
                                    </p:set>
                                    <p:animEffect transition="in" filter="dissolve">
                                      <p:cBhvr>
                                        <p:cTn id="16" dur="500"/>
                                        <p:tgtEl>
                                          <p:spTgt spid="3">
                                            <p:txEl>
                                              <p:pRg st="6" end="6"/>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animEffect transition="in" filter="dissolve">
                                      <p:cBhvr>
                                        <p:cTn id="21" dur="500"/>
                                        <p:tgtEl>
                                          <p:spTgt spid="3">
                                            <p:txEl>
                                              <p:pRg st="8" end="8"/>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9" end="9"/>
                                            </p:txEl>
                                          </p:spTgt>
                                        </p:tgtEl>
                                        <p:attrNameLst>
                                          <p:attrName>style.visibility</p:attrName>
                                        </p:attrNameLst>
                                      </p:cBhvr>
                                      <p:to>
                                        <p:strVal val="visible"/>
                                      </p:to>
                                    </p:set>
                                    <p:animEffect transition="in" filter="dissolve">
                                      <p:cBhvr>
                                        <p:cTn id="24" dur="500"/>
                                        <p:tgtEl>
                                          <p:spTgt spid="3">
                                            <p:txEl>
                                              <p:pRg st="9" end="9"/>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2419551" cy="5016758"/>
          </a:xfrm>
          <a:prstGeom prst="rect">
            <a:avLst/>
          </a:prstGeom>
          <a:noFill/>
        </p:spPr>
        <p:txBody>
          <a:bodyPr wrap="square" rtlCol="0">
            <a:spAutoFit/>
          </a:bodyPr>
          <a:lstStyle/>
          <a:p>
            <a:r>
              <a:rPr lang="en-US" sz="3200" b="1" dirty="0"/>
              <a:t>In memory, so lookups are fast</a:t>
            </a:r>
          </a:p>
          <a:p>
            <a:pPr marL="914400" indent="-457200">
              <a:buFont typeface="Arial" panose="020B0604020202020204" pitchFamily="34" charset="0"/>
              <a:buChar char="•"/>
            </a:pPr>
            <a:r>
              <a:rPr lang="en-US" sz="2800" b="0" dirty="0"/>
              <a:t>file name -&gt; array of chunk handles</a:t>
            </a:r>
          </a:p>
          <a:p>
            <a:pPr marL="914400" indent="-457200">
              <a:buFont typeface="Arial" panose="020B0604020202020204" pitchFamily="34" charset="0"/>
              <a:buChar char="•"/>
            </a:pPr>
            <a:r>
              <a:rPr lang="en-US" sz="2800" b="0" dirty="0"/>
              <a:t>chunk handle -&gt; version number, replica list, primary, lease expiry</a:t>
            </a:r>
          </a:p>
          <a:p>
            <a:pPr marL="914400" indent="-457200">
              <a:buFont typeface="Arial" panose="020B0604020202020204" pitchFamily="34" charset="0"/>
              <a:buChar char="•"/>
            </a:pPr>
            <a:endParaRPr lang="en-US" sz="2800" b="0" dirty="0"/>
          </a:p>
          <a:p>
            <a:r>
              <a:rPr lang="en-US" sz="3200" b="1" dirty="0"/>
              <a:t>On disk: an operation log plus checkpoints</a:t>
            </a:r>
          </a:p>
          <a:p>
            <a:pPr marL="914400" indent="-457200">
              <a:buFont typeface="Arial" panose="020B0604020202020204" pitchFamily="34" charset="0"/>
              <a:buChar char="•"/>
            </a:pPr>
            <a:r>
              <a:rPr lang="en-US" sz="2800" b="0" dirty="0"/>
              <a:t>Written: the file-to-chunk mapping, and the chunk version numbers</a:t>
            </a:r>
          </a:p>
          <a:p>
            <a:pPr marL="914400" indent="-457200">
              <a:buFont typeface="Arial" panose="020B0604020202020204" pitchFamily="34" charset="0"/>
              <a:buChar char="•"/>
            </a:pPr>
            <a:r>
              <a:rPr lang="en-US" sz="2800" b="0" dirty="0"/>
              <a:t>Not written: replica list, primary, lease expiry - they are rebuilt</a:t>
            </a:r>
          </a:p>
          <a:p>
            <a:pPr marL="914400" indent="-457200">
              <a:buFont typeface="Arial" panose="020B0604020202020204" pitchFamily="34" charset="0"/>
              <a:buChar char="•"/>
            </a:pPr>
            <a:endParaRPr lang="en-US" sz="2800" b="0" dirty="0"/>
          </a:p>
          <a:p>
            <a:r>
              <a:rPr lang="en-US" sz="3200" b="1" dirty="0"/>
              <a:t>After a reboot</a:t>
            </a:r>
          </a:p>
          <a:p>
            <a:pPr marL="914400" indent="-457200">
              <a:buFont typeface="Arial" panose="020B0604020202020204" pitchFamily="34" charset="0"/>
              <a:buChar char="•"/>
            </a:pPr>
            <a:r>
              <a:rPr lang="en-US" sz="2800" b="0" dirty="0"/>
              <a:t>Replay the log from last checkpoint, ask chunkservers what they hold</a:t>
            </a:r>
          </a:p>
          <a:p>
            <a:pPr marL="914400" indent="-457200">
              <a:buFont typeface="Arial" panose="020B0604020202020204" pitchFamily="34" charset="0"/>
              <a:buChar char="•"/>
            </a:pPr>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10243258" cy="3662541"/>
          </a:xfrm>
          <a:prstGeom prst="rect">
            <a:avLst/>
          </a:prstGeom>
          <a:noFill/>
        </p:spPr>
        <p:txBody>
          <a:bodyPr wrap="square">
            <a:spAutoFit/>
          </a:bodyPr>
          <a:lstStyle/>
          <a:p>
            <a:r>
              <a:rPr lang="en-US" sz="3200" b="1" dirty="0"/>
              <a:t>64MB chunks as Linux files </a:t>
            </a:r>
          </a:p>
          <a:p>
            <a:pPr marL="742950" lvl="1" indent="-285750">
              <a:buFont typeface="Arial" panose="020B0604020202020204" pitchFamily="34" charset="0"/>
              <a:buChar char="•"/>
            </a:pPr>
            <a:r>
              <a:rPr lang="en-US" sz="2800" dirty="0"/>
              <a:t>Reduce size of the master data structures </a:t>
            </a:r>
          </a:p>
          <a:p>
            <a:pPr marL="742950" lvl="1" indent="-285750">
              <a:buFont typeface="Arial" panose="020B0604020202020204" pitchFamily="34" charset="0"/>
              <a:buChar char="•"/>
            </a:pPr>
            <a:r>
              <a:rPr lang="en-US" sz="2800" dirty="0"/>
              <a:t>Reduce client-master interaction </a:t>
            </a:r>
          </a:p>
          <a:p>
            <a:pPr marL="742950" lvl="1" indent="-285750">
              <a:buFont typeface="Arial" panose="020B0604020202020204" pitchFamily="34" charset="0"/>
              <a:buChar char="•"/>
            </a:pPr>
            <a:r>
              <a:rPr lang="en-US" sz="2800" dirty="0"/>
              <a:t>Internal fragmentation =&gt; allocate space lazily </a:t>
            </a:r>
          </a:p>
          <a:p>
            <a:endParaRPr lang="en-US" sz="2800" dirty="0"/>
          </a:p>
          <a:p>
            <a:r>
              <a:rPr lang="en-US" sz="3200" b="1" dirty="0"/>
              <a:t>Fault tolerance </a:t>
            </a:r>
          </a:p>
          <a:p>
            <a:pPr marL="742950" lvl="1" indent="-285750">
              <a:buFont typeface="Arial" panose="020B0604020202020204" pitchFamily="34" charset="0"/>
              <a:buChar char="•"/>
            </a:pPr>
            <a:r>
              <a:rPr lang="en-US" sz="2800" dirty="0"/>
              <a:t>Heart-beat to the master </a:t>
            </a:r>
          </a:p>
          <a:p>
            <a:pPr marL="742950" lvl="1" indent="-285750">
              <a:buFont typeface="Arial" panose="020B0604020202020204" pitchFamily="34" charset="0"/>
              <a:buChar char="•"/>
            </a:pPr>
            <a:r>
              <a:rPr lang="en-US" sz="2800" dirty="0"/>
              <a:t>Something wrong =&gt; master </a:t>
            </a:r>
            <a:r>
              <a:rPr lang="en-US" sz="2800" dirty="0" err="1"/>
              <a:t>inits</a:t>
            </a:r>
            <a:r>
              <a:rPr lang="en-US" sz="28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1: HDFS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Tree>
    <p:extLst>
      <p:ext uri="{BB962C8B-B14F-4D97-AF65-F5344CB8AC3E}">
        <p14:creationId xmlns:p14="http://schemas.microsoft.com/office/powerpoint/2010/main" val="16574235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Record Append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An ordinary write names a file, an offset and a buffer</a:t>
            </a:r>
          </a:p>
          <a:p>
            <a:pPr marL="457200"/>
            <a:r>
              <a:rPr lang="en-US" sz="2800" b="0" dirty="0"/>
              <a:t>Concurrent writes to the same range interleave, so clients must coordinate</a:t>
            </a:r>
          </a:p>
          <a:p>
            <a:r>
              <a:rPr lang="en-US" sz="3200" b="1" dirty="0"/>
              <a:t>A record append names a file and a buffer, but no offset</a:t>
            </a:r>
          </a:p>
          <a:p>
            <a:pPr marL="457200"/>
            <a:r>
              <a:rPr lang="en-US" sz="2800" b="0" dirty="0"/>
              <a:t>The primary picks the offset at the end of the chunk and tells every replica to use it</a:t>
            </a:r>
          </a:p>
          <a:p>
            <a:pPr marL="457200"/>
            <a:r>
              <a:rPr lang="en-US" sz="2800" b="0" dirty="0"/>
              <a:t>Many clients can append to one file at once without coordinating with each other</a:t>
            </a:r>
          </a:p>
          <a:p>
            <a:r>
              <a:rPr lang="en-US" sz="3200" b="1" dirty="0"/>
              <a:t>What the client is promised</a:t>
            </a:r>
          </a:p>
          <a:p>
            <a:pPr marL="457200"/>
            <a:r>
              <a:rPr lang="en-US" sz="2800" b="0" dirty="0"/>
              <a:t>On success: the record is in every replica, at the same offset, at least once</a:t>
            </a:r>
          </a:p>
          <a:p>
            <a:pPr marL="457200"/>
            <a:r>
              <a:rPr lang="en-US" sz="2800" b="0" dirty="0"/>
              <a:t>On failure: the client retries the whole append, which can leave duplicates and padding</a:t>
            </a:r>
          </a:p>
          <a:p>
            <a:r>
              <a:rPr lang="en-US" sz="3200" b="1" dirty="0"/>
              <a:t>The operation GFS was built for: many producers, one log</a:t>
            </a:r>
          </a:p>
        </p:txBody>
      </p:sp>
    </p:spTree>
    <p:extLst>
      <p:ext uri="{BB962C8B-B14F-4D97-AF65-F5344CB8AC3E}">
        <p14:creationId xmlns:p14="http://schemas.microsoft.com/office/powerpoint/2010/main" val="17206706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fontScale="90000"/>
          </a:bodyPr>
          <a:lstStyle/>
          <a:p>
            <a:pPr algn="ctr"/>
            <a:r>
              <a:rPr lang="en-US" b="1" dirty="0">
                <a:latin typeface="Helvetica" panose="020B0604020202020204" pitchFamily="34" charset="0"/>
                <a:cs typeface="Helvetica" panose="020B0604020202020204" pitchFamily="34" charset="0"/>
              </a:rPr>
              <a:t>Demo 2: What a Read and a Write Actually Do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Read: ask the master once, then go straight to the data</a:t>
            </a:r>
          </a:p>
          <a:p>
            <a:pPr marL="457200"/>
            <a:r>
              <a:rPr lang="en-US" sz="2800" b="0" dirty="0"/>
              <a:t>One getBlockLocations call covers the whole file</a:t>
            </a:r>
          </a:p>
          <a:p>
            <a:pPr marL="457200"/>
            <a:r>
              <a:rPr lang="en-US" sz="2800" b="0" dirty="0"/>
              <a:t>Then one connection per block, to a server holding that block</a:t>
            </a:r>
          </a:p>
          <a:p>
            <a:r>
              <a:rPr lang="en-US" sz="3200" b="1" dirty="0"/>
              <a:t>Write: one addBlock per block, then a chain</a:t>
            </a:r>
          </a:p>
          <a:p>
            <a:pPr marL="457200"/>
            <a:r>
              <a:rPr lang="en-US" sz="2800" b="0" dirty="0"/>
              <a:t>The master picks the replicas and returns them as a pipeline</a:t>
            </a:r>
          </a:p>
          <a:p>
            <a:pPr marL="457200"/>
            <a:r>
              <a:rPr lang="en-US" sz="2800" b="0" dirty="0"/>
              <a:t>The client sends the bytes once, to the first server, which forwards them on</a:t>
            </a:r>
          </a:p>
          <a:p>
            <a:r>
              <a:rPr lang="en-US" sz="3200" b="1" dirty="0"/>
              <a:t>What the master recorded for 40 MB: a few log entries, no data</a:t>
            </a:r>
          </a:p>
        </p:txBody>
      </p:sp>
    </p:spTree>
    <p:extLst>
      <p:ext uri="{BB962C8B-B14F-4D97-AF65-F5344CB8AC3E}">
        <p14:creationId xmlns:p14="http://schemas.microsoft.com/office/powerpoint/2010/main" val="17206706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 but "undefined"</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a:p>
            <a:r>
              <a:rPr lang="en-US" sz="3200" b="1" dirty="0"/>
              <a:t>This is the point GFS chose on the range</a:t>
            </a:r>
          </a:p>
          <a:p>
            <a:pPr marL="457200"/>
            <a:r>
              <a:rPr lang="en-US" sz="2800" b="0" dirty="0"/>
              <a:t>The Fix Has a Price promised a cost; these anomalies are it</a:t>
            </a:r>
          </a:p>
        </p:txBody>
      </p:sp>
    </p:spTree>
    <p:extLst>
      <p:ext uri="{BB962C8B-B14F-4D97-AF65-F5344CB8AC3E}">
        <p14:creationId xmlns:p14="http://schemas.microsoft.com/office/powerpoint/2010/main" val="17206706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51</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52</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53</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1735</TotalTime>
  <Words>16686</Words>
  <Application>Microsoft Macintosh PowerPoint</Application>
  <PresentationFormat>Widescreen</PresentationFormat>
  <Paragraphs>1208</Paragraphs>
  <Slides>53</Slides>
  <Notes>53</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53</vt:i4>
      </vt:variant>
    </vt:vector>
  </HeadingPairs>
  <TitlesOfParts>
    <vt:vector size="59" baseType="lpstr">
      <vt:lpstr>Aptos</vt:lpstr>
      <vt:lpstr>Aptos Display</vt:lpstr>
      <vt:lpstr>Arial</vt:lpstr>
      <vt:lpstr>Helvetica</vt:lpstr>
      <vt:lpstr>Helvetica Neue</vt:lpstr>
      <vt:lpstr>Office Theme</vt:lpstr>
      <vt:lpstr>Lecture 4: Google File System         Fall 2026 </vt:lpstr>
      <vt:lpstr>Demo 1: Design Proposal</vt:lpstr>
      <vt:lpstr>Presentation Grading</vt:lpstr>
      <vt:lpstr>AWS Credits: One Code per Account</vt:lpstr>
      <vt:lpstr>Why Storage?</vt:lpstr>
      <vt:lpstr>One Machine Is Not Enough</vt:lpstr>
      <vt:lpstr>Then Everything Fails</vt:lpstr>
      <vt:lpstr>Fault Tolerance Comes with a Cost</vt:lpstr>
      <vt:lpstr>Two Questions for This Lecture</vt:lpstr>
      <vt:lpstr>What Would We Like for Consistency?</vt:lpstr>
      <vt:lpstr>What Should the Readers See?</vt:lpstr>
      <vt:lpstr>Bad Replication Design</vt:lpstr>
      <vt:lpstr>What Can Go Wrong?</vt:lpstr>
      <vt:lpstr>Can We Just Always Read from Server 1?</vt:lpstr>
      <vt:lpstr>The Fix Has a Price</vt:lpstr>
      <vt:lpstr>The Google File System</vt:lpstr>
      <vt:lpstr>Why Are We Reading This Paper?</vt:lpstr>
      <vt:lpstr>Goal of GFS</vt:lpstr>
      <vt:lpstr>Assumptions of GFS</vt:lpstr>
      <vt:lpstr>What Are the Contribution of the Paper? </vt:lpstr>
      <vt:lpstr>GFS’s Architecture</vt:lpstr>
      <vt:lpstr>Overall Architecture</vt:lpstr>
      <vt:lpstr>Master Node</vt:lpstr>
      <vt:lpstr>Master State: What Survives a Reboot?</vt:lpstr>
      <vt:lpstr>Chunk Servers</vt:lpstr>
      <vt:lpstr>Demo 1: HDFS</vt:lpstr>
      <vt:lpstr>Data Integrity: Checksums</vt:lpstr>
      <vt:lpstr>Basic Ops ( Read, Write)</vt:lpstr>
      <vt:lpstr>When Client Wants to Read A File?</vt:lpstr>
      <vt:lpstr>When Client Wants to Read a File</vt:lpstr>
      <vt:lpstr>Solution: Primary/Secondary Replication</vt:lpstr>
      <vt:lpstr>When Client Wants to Write </vt:lpstr>
      <vt:lpstr>Record Append</vt:lpstr>
      <vt:lpstr>Stale Replicas and Version Numbers</vt:lpstr>
      <vt:lpstr>Control and Data Flow</vt:lpstr>
      <vt:lpstr>Demo 2: What a Read and a Write Actually Do</vt:lpstr>
      <vt:lpstr>GFS Consistency Guarantees</vt:lpstr>
      <vt:lpstr>How Can Consistent but Undefined Arise?</vt:lpstr>
      <vt:lpstr>How Can Inconsistent Content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45</cp:revision>
  <dcterms:created xsi:type="dcterms:W3CDTF">2026-02-04T02:27:39Z</dcterms:created>
  <dcterms:modified xsi:type="dcterms:W3CDTF">2026-09-16T22:10:03Z</dcterms:modified>
</cp:coreProperties>
</file>