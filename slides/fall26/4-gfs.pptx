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422" r:id="rId2"/>
    <p:sldId id="426" r:id="rId3"/>
    <p:sldId id="481" r:id="rId4"/>
    <p:sldId id="467" r:id="rId5"/>
    <p:sldId id="477" r:id="rId6"/>
    <p:sldId id="478" r:id="rId7"/>
    <p:sldId id="479" r:id="rId8"/>
    <p:sldId id="428" r:id="rId9"/>
    <p:sldId id="483" r:id="rId10"/>
    <p:sldId id="443" r:id="rId11"/>
    <p:sldId id="486" r:id="rId60"/>
    <p:sldId id="444" r:id="rId12"/>
    <p:sldId id="445" r:id="rId13"/>
    <p:sldId id="487" r:id="rId61"/>
    <p:sldId id="485" r:id="rId59"/>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32"/>
    <p:sldId id="470" r:id="rId33"/>
    <p:sldId id="448" r:id="rId34"/>
    <p:sldId id="482" r:id="rId35"/>
    <p:sldId id="449" r:id="rId36"/>
    <p:sldId id="450" r:id="rId37"/>
    <p:sldId id="451" r:id="rId38"/>
    <p:sldId id="471" r:id="rId39"/>
    <p:sldId id="472" r:id="rId40"/>
    <p:sldId id="452" r:id="rId41"/>
    <p:sldId id="453" r:id="rId42"/>
    <p:sldId id="454" r:id="rId43"/>
    <p:sldId id="465" r:id="rId44"/>
    <p:sldId id="455" r:id="rId45"/>
    <p:sldId id="457" r:id="rId46"/>
    <p:sldId id="473" r:id="rId47"/>
    <p:sldId id="475" r:id="rId48"/>
    <p:sldId id="476" r:id="rId49"/>
    <p:sldId id="459" r:id="rId50"/>
    <p:sldId id="466" r:id="rId51"/>
    <p:sldId id="464"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295"/>
    <p:restoredTop sz="65066"/>
  </p:normalViewPr>
  <p:slideViewPr>
    <p:cSldViewPr snapToGrid="0">
      <p:cViewPr varScale="1">
        <p:scale>
          <a:sx n="79" d="100"/>
          <a:sy n="79"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focused on computation, but every map task had to read its input from somewhere, and every reducer had to write its output somewhere. At Google, that shared storage layer was GFS.</a:t>
            </a:r>
          </a:p>
          <a:p>
            <a:endParaRPr lang="en-US" dirty="0"/>
          </a:p>
          <a:p>
            <a:r>
              <a:rPr lang="en-US" dirty="0"/>
              <a:t>Storage became a key abstraction because a simple interface—name some data, read it, and write it—was useful across many different systems. A large part of distributed-systems work therefore either builds storage systems or builds on top of a well-behaved distributed store. At Google, MapReduce used GFS for input and output, and BigTable later stored its files in GFS. GFS is also a useful first case study because it brings together four themes we will see repeatedly: parallel performance, fault tolerance, replication, and consistency.</a:t>
            </a:r>
          </a:p>
          <a:p>
            <a:endParaRPr lang="en-US" dirty="0"/>
          </a:p>
          <a:p>
            <a:r>
              <a:rPr lang="en-US"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Replication leaves us with two questions that will organize the rest of this lecture.</a:t>
            </a:r>
          </a:p>
          <a:p>
            <a:endParaRPr lang="en-US" dirty="0"/>
          </a:p>
          <a:p>
            <a:r>
              <a:rPr lang="en-US" dirty="0"/>
              <a:t>The first is a correctness question. Once data is split and replicated across machines that can fail independently, what does it mean for the storage system to return the correct result? Different copies may receive requests at different times, and a client may reach a different copy after a failure. We need a clear model for deciding whether the behavior observed by the clients is still correct.</a:t>
            </a:r>
          </a:p>
          <a:p>
            <a:endParaRPr lang="en-US" dirty="0"/>
          </a:p>
          <a:p>
            <a:r>
              <a:rPr lang="en-US" dirty="0"/>
              <a:t>The second is a performance question. How much coordination do we need to obtain that behavior? If replicas must communicate and agree before every reply, each operation requires more messages and more waiting. A slow or unreachable replica may also delay the others.</a:t>
            </a:r>
          </a:p>
          <a:p>
            <a:endParaRPr lang="en-US" dirty="0"/>
          </a:p>
          <a:p>
            <a:r>
              <a:rPr lang="en-US" dirty="0"/>
              <a:t>These two questions create the central tradeoff. More coordination usually gives applications simpler behavior, but it costs latency, throughput, and sometimes availability during failures. GFS chooses guarantees that fit Google's workloads instead of paying the full cost of the strongest possible consistency.</a:t>
            </a:r>
          </a:p>
          <a:p>
            <a:endParaRPr lang="en-US" dirty="0"/>
          </a:p>
          <a:p>
            <a:r>
              <a:rPr lang="en-US" dirty="0"/>
              <a:t>To understand that choice, we first need a baseline: what behavior would one correct machine with one copy of the data provide?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From the application's point of view, the ideal distributed storage system behaves like one correct machine with one copy of the data. The implementation may contain hundreds of machines and several replicas, but those internal details should not change the behavior that clients observe.</a:t>
            </a:r>
          </a:p>
          <a:p>
            <a:endParaRPr lang="en-US" dirty="0"/>
          </a:p>
          <a:p>
            <a:r>
              <a:rPr lang="en-US" dirty="0"/>
              <a:t>Imagine that this one machine is single-threaded. Many clients may send requests concurrently, but the machine performs only one operation at a time. It chooses one request, runs it to completion, and then starts the next request. Every operation therefore has a position in one single order.</a:t>
            </a:r>
          </a:p>
          <a:p>
            <a:endParaRPr lang="en-US" dirty="0"/>
          </a:p>
          <a:p>
            <a:r>
              <a:rPr lang="en-US" dirty="0"/>
              <a:t>If the operation is a write, it updates the machine's state. If the operation is a read, it returns a value that reflects all the writes that came before it in that order. Concurrent requests still have to be ordered, but we may not know that order in advance. The machine is allowed to choose either concurrent request first. Once it chooses, all later results must remain consistent with that choice.</a:t>
            </a:r>
          </a:p>
          <a:p>
            <a:endParaRPr lang="en-US" dirty="0"/>
          </a:p>
          <a:p>
            <a:r>
              <a:rPr lang="en-US" dirty="0"/>
              <a:t>That gives us the test shown at the bottom of the slide: could one correct machine, executing one request at a time, have produced everything the clients observed? We do not require one predetermined result for concurrent requests. We require that all the results fit one possible sequential order.</a:t>
            </a:r>
          </a:p>
          <a:p>
            <a:endParaRPr lang="en-US" dirty="0"/>
          </a:p>
          <a:p>
            <a:r>
              <a:rPr lang="en-US" dirty="0"/>
              <a:t>Now suppose two clients write the same key at the same time.</a:t>
            </a:r>
          </a:p>
          <a:p>
            <a:endParaRPr lang="en-US" dirty="0"/>
          </a:p>
          <a:p>
            <a:r>
              <a:rPr lang="en-US" dirty="0"/>
              <a:t>SOURCE
MIT 6.824, Spring 2020, Lecture 3 transcript/video, 05:42–08:11.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The simplest way to add fault tolerance is to keep two complete copies of the data. If either server fails, the other server still has a copy and can continue serving clients.</a:t>
            </a:r>
          </a:p>
          <a:p>
            <a:endParaRPr lang="en-US" dirty="0"/>
          </a:p>
          <a:p>
            <a:r>
              <a:rPr lang="en-US" dirty="0"/>
              <a:t>That goal gives us two requirements. Every write must eventually reach both servers, so their copies remain up to date. But a read must be able to use either server by itself. If every read had to consult both servers, then losing one server would still make the system unavailable, and replication would not have solved the failure problem.</a:t>
            </a:r>
          </a:p>
          <a:p>
            <a:endParaRPr lang="en-US" dirty="0"/>
          </a:p>
          <a:p>
            <a:r>
              <a:rPr lang="en-US" dirty="0"/>
              <a:t>The obvious protocol is for the client to send each update to both replicas. Each server applies the update to its own copy when the request arrives. If the two servers begin with the same data and receive the same updates, this initially sounds sufficient to keep them identical.</a:t>
            </a:r>
          </a:p>
          <a:p>
            <a:endParaRPr lang="en-US" dirty="0"/>
          </a:p>
          <a:p>
            <a:r>
              <a:rPr lang="en-US" dirty="0"/>
              <a:t>The protocol is missing one rule: it never says that the two servers must apply concurrent updates in the same order. Each server simply follows the order in which messages happen to arrive over the network. With one writer, that may be enough. With two clients writing concurrently, the arrival orders can differ, and the two copies can diverge even though neither server has failed.</a:t>
            </a:r>
          </a:p>
          <a:p>
            <a:endParaRPr lang="en-US" dirty="0"/>
          </a:p>
          <a:p>
            <a:r>
              <a:rPr lang="en-US" dirty="0"/>
              <a:t>SOURCE
MIT 6.824, Spring 2020, Lecture 3 transcript/video, 10:47–12:29.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Now client 1 writes x equals 1, and client 2 writes x equals 2. Each client sends its write to both servers because both replicas are supposed to contain the complete data.</a:t>
            </a:r>
          </a:p>
          <a:p>
            <a:endParaRPr lang="en-US" dirty="0"/>
          </a:p>
          <a:p>
            <a:r>
              <a:rPr lang="en-US" dirty="0"/>
              <a:t>The network does not promise to deliver those messages in the same order. Suppose server 1 receives client 1's write first and client 2's write second. It sets x to 1 and then overwrites it with 2, so server 1 ends with x equal to 2.</a:t>
            </a:r>
          </a:p>
          <a:p>
            <a:endParaRPr lang="en-US" dirty="0"/>
          </a:p>
          <a:p>
            <a:r>
              <a:rPr lang="en-US" dirty="0"/>
              <a:t>Server 2 may receive the same two requests in the opposite order. It sets x to 2 and then overwrites it with 1, so server 2 ends with x equal to 1.</a:t>
            </a:r>
          </a:p>
          <a:p>
            <a:endParaRPr lang="en-US" dirty="0"/>
          </a:p>
          <a:p>
            <a:r>
              <a:rPr lang="en-US" dirty="0"/>
              <a:t>Notice that neither server behaved incorrectly by itself. Each one processed one request at a time, and each one chose a legal order for two concurrent writes. The failure is that they chose different orders. The replicated system no longer behaves like one logical machine.</a:t>
            </a:r>
          </a:p>
          <a:p>
            <a:endParaRPr lang="en-US" dirty="0"/>
          </a:p>
          <a:p>
            <a:r>
              <a:rPr lang="en-US" dirty="0"/>
              <a:t>A client reading from server 1 now receives 2, while a client reading from server 2 receives 1. Those results cannot both be explained by one final write order. The replicas were meant to be interchangeable, but the answer now depends on which replica the client happens to contact.</a:t>
            </a:r>
          </a:p>
          <a:p>
            <a:endParaRPr lang="en-US" dirty="0"/>
          </a:p>
          <a:p>
            <a:r>
              <a:rPr lang="en-US" dirty="0"/>
              <a:t>A natural response is to stop reading from arbitrary replicas and always read from one designated server. That makes the disagreement harder to see, but it does not make the copies agree.</a:t>
            </a:r>
          </a:p>
          <a:p>
            <a:endParaRPr lang="en-US" dirty="0"/>
          </a:p>
          <a:p>
            <a:r>
              <a:rPr lang="en-US" dirty="0"/>
              <a:t>SOURCE
MIT 6.824, Spring 2020, Lecture 3 transcript/video, 12:29–13:18.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lang="en-US" dirty="0"/>
              <a:t>The failure examples give us a concrete question: how much coordination should a storage system pay for, and which anomalies can its applications tolerate?</a:t>
            </a:r>
          </a:p>
          <a:p>
            <a:endParaRPr lang="en-US" dirty="0"/>
          </a:p>
          <a:p>
            <a:r>
              <a:rPr lang="en-US" dirty="0"/>
              <a:t>GFS is Google's answer from 2003. It gives replicas much better behavior than the naive protocol, but it deliberately stops short of making every operation look exactly like one operation on one machine. That choice only makes sense in the setting Google was facing.</a:t>
            </a:r>
          </a:p>
          <a:p>
            <a:endParaRPr lang="en-US" dirty="0"/>
          </a:p>
          <a:p>
            <a:r>
              <a:rPr lang="en-US" dirty="0"/>
              <a:t>The authors are Sanjay Ghemawat, Howard Gobioff, and Shun-Tak Leung. Ghemawat later coauthored the MapReduce paper, so this connects directly to the previous lecture. MapReduce is the computation layer, and GFS is the shared storage underneath it.</a:t>
            </a:r>
          </a:p>
          <a:p>
            <a:endParaRPr lang="en-US" dirty="0"/>
          </a:p>
          <a:p>
            <a:r>
              <a:rPr lang="en-US" dirty="0"/>
              <a:t>SOURCE
MIT 6.824, Spring 2020, Lecture 3 transcript/video, 14:54–15:43.
Local transcript: fall2026/lectures/references/mit-6824-2020-lecture3-gfs-transcript.txt
https://www.youtube.com/watch?v=EpIgvowZr00
Ghemawat, Gobioff, and Leung, The Google File System, 2003.
https://pdos.csail.mit.edu/6.824/papers/gfs.pdf</a:t>
            </a:r>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Why spend a lecture on a file system from 2003? Large distributed storage became one of the basic building blocks of distributed systems. A simple storage interface can support many different applications, and many other systems assume that a large, reasonably well-behaved storage service already exists underneath them.</a:t>
            </a:r>
          </a:p>
          <a:p>
            <a:endParaRPr lang="en-US" dirty="0"/>
          </a:p>
          <a:p>
            <a:r>
              <a:rPr lang="en-US" dirty="0"/>
              <a:t>GFS also brings together several themes that will recur throughout the course. Sharding gives parallel performance. At large scale, failures become routine, so the system replicates data. Replication then raises the consistency problem we have just examined, and stronger consistency requires more communication and waiting. GFS lets us see how a real system chose among those costs.</a:t>
            </a:r>
          </a:p>
          <a:p>
            <a:endParaRPr lang="en-US" dirty="0"/>
          </a:p>
          <a:p>
            <a:r>
              <a:rPr lang="en-US" dirty="0"/>
              <a:t>It is also a useful example of a systems paper. The argument runs from hardware constraints and failure rates all the way up to the behavior that applications see. More importantly, this was a production system used inside Google for years. We can evaluate the design using operating experience rather than treating it only as a conceptual proposal.</a:t>
            </a:r>
          </a:p>
          <a:p>
            <a:endParaRPr lang="en-US" dirty="0"/>
          </a:p>
          <a:p>
            <a:r>
              <a:rPr lang="en-US" dirty="0"/>
              <a:t>SOURCE
MIT 6.824, Spring 2020, Lecture 3 transcript/video, 00:00–05:09.
Local transcript: fall2026/lectures/references/mit-6824-2020-lecture3-gfs-transcript.txt
https://www.youtube.com/watch?v=EpIgvowZr00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had data sets far larger than one disk could hold: copies of the crawled web, intermediate files used to build the search index, and enormous server logs. Video became another example later. Storing these data sets required many disks, and processing them quickly with systems such as MapReduce required parallel access to those disks.</a:t>
            </a:r>
          </a:p>
          <a:p>
            <a:endParaRPr lang="en-US" dirty="0"/>
          </a:p>
          <a:p>
            <a:r>
              <a:rPr lang="en-US" dirty="0"/>
              <a:t>The first goal was therefore to make the file system big and fast. GFS automatically divides each file into chunks and spreads those chunks across many servers. One file can be larger than any single disk, and many clients can read different chunks in parallel to obtain high aggregate throughput.</a:t>
            </a:r>
          </a:p>
          <a:p>
            <a:endParaRPr lang="en-US" dirty="0"/>
          </a:p>
          <a:p>
            <a:r>
              <a:rPr lang="en-US" dirty="0"/>
              <a:t>Google also wanted one shared file system for many internal applications. Here global means shared across one GFS deployment in a data center. A crawler can write a data set, and an indexing job can read the same files without either team building a separate storage system or copying the data into another silo.</a:t>
            </a:r>
          </a:p>
          <a:p>
            <a:endParaRPr lang="en-US" dirty="0"/>
          </a:p>
          <a:p>
            <a:r>
              <a:rPr lang="en-US" dirty="0"/>
              <a:t>Finally, recovery had to be automatic. Once a system uses hundreds of commodity machines, some machine or disk will fail routinely. GFS must detect the loss, keep the data available from another replica, and create replacement replicas without requiring an operator to repair each file by hand.</a:t>
            </a:r>
          </a:p>
          <a:p>
            <a:endParaRPr lang="en-US" dirty="0"/>
          </a:p>
          <a:p>
            <a:r>
              <a:rPr lang="en-US" dirty="0"/>
              <a:t>SOURCE
MIT 6.824, Spring 2020, Lecture 3 transcript/video, 15:43–18:55.
Local transcript: fall2026/lectures/references/mit-6824-2020-lecture3-gfs-transcript.txt
https://www.youtube.com/watch?v=EpIgvowZr00
Ghemawat, Gobioff, and Leung, The Google File System, Sections 1, 2.1, and 2.3.
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TERMINAL</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rPr lang="en-US" dirty="0"/>
              <a:t>Those goals come with clear boundaries. One GFS deployment lives inside a single data center. The paper does not try to keep replicas synchronized across distant sites with wide-area delays and network partitions.</a:t>
            </a:r>
          </a:p>
          <a:p>
            <a:endParaRPr lang="en-US" dirty="0"/>
          </a:p>
          <a:p>
            <a:r>
              <a:rPr lang="en-US" dirty="0"/>
              <a:t>GFS is also an internal service for Google applications. Google controls both the storage system and most of the software that uses it, so application developers can understand the file system's guarantees and adapt their data formats when necessary.</a:t>
            </a:r>
          </a:p>
          <a:p>
            <a:endParaRPr lang="en-US" dirty="0"/>
          </a:p>
          <a:p>
            <a:r>
              <a:rPr lang="en-US" dirty="0"/>
              <a:t>The expected workload is dominated by very large files. Reads are usually long sequential streams, with some small random reads. Writes are mainly large sequential appends, including cases where many clients append to the same file. Small writes at arbitrary offsets are supported, but the system does not optimize for them.</a:t>
            </a:r>
          </a:p>
          <a:p>
            <a:endParaRPr lang="en-US" dirty="0"/>
          </a:p>
          <a:p>
            <a:r>
              <a:rPr lang="en-US" dirty="0"/>
              <a:t>That workload favors aggregate throughput over the latency of one small operation. A database holding tiny bank-account records needs fast random updates and strong transactional behavior. GFS was built for crawls, indexes, logs, and batch-processing pipelines. These assumptions explain why its later consistency choices can work for its applications.</a:t>
            </a:r>
          </a:p>
          <a:p>
            <a:endParaRPr lang="en-US" dirty="0"/>
          </a:p>
          <a:p>
            <a:r>
              <a:rPr lang="en-US" dirty="0"/>
              <a:t>SOURCE
MIT 6.824, Spring 2020, Lecture 3 transcript/video, 18:07–20:39.
Local transcript: fall2026/lectures/references/mit-6824-2020-lecture3-gfs-transcript.txt
https://www.youtube.com/watch?v=EpIgvowZr00
Ghemawat, Gobioff, and Leung, The Google File System, Sections 1 and 2.1.
https://pdos.csail.mit.edu/6.824/papers/gfs.pdf</a:t>
            </a:r>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rPr lang="en-US" dirty="0"/>
              <a:t>SOSP papers are expected to contribute new systems knowledge. The individual ingredients in GFS, including distribution, sharding, replication, and fault tolerance, were already familiar in 2003. The paper's contribution lies in the complete design and the evidence that its choices worked in a deployed system at a scale far beyond typical academic prototypes.</a:t>
            </a:r>
          </a:p>
          <a:p>
            <a:endParaRPr lang="en-US" dirty="0"/>
          </a:p>
          <a:p>
            <a:r>
              <a:rPr lang="en-US" dirty="0"/>
              <a:t>Production experience is part of that contribution. Google needed a system that kept working under real failures, supported real applications, and remained economical on commodity machines. The paper reports the choices that survived those constraints rather than presenting only an idealized design.</a:t>
            </a:r>
          </a:p>
          <a:p>
            <a:endParaRPr lang="en-US" dirty="0"/>
          </a:p>
          <a:p>
            <a:r>
              <a:rPr lang="en-US" dirty="0"/>
              <a:t>Two choices were especially provocative. The first was relaxed consistency. At the time, the academic instinct was often to make distributed storage behave as closely as possible to one correct server. GFS accepts some anomalous results when doing so avoids expensive coordination. That can be acceptable for a search index, where one missing result may go unnoticed. It is unacceptable for ad billing, where every recorded impression affects money.</a:t>
            </a:r>
          </a:p>
          <a:p>
            <a:endParaRPr lang="en-US" dirty="0"/>
          </a:p>
          <a:p>
            <a:r>
              <a:rPr lang="en-US" dirty="0"/>
              <a:t>Applications can also defend themselves against the anomalies GFS permits. The paper recommends checksums so readers can detect corrupted data and explicit record boundaries so they can recognize incomplete records and skip them.</a:t>
            </a:r>
          </a:p>
          <a:p>
            <a:endParaRPr lang="en-US" dirty="0"/>
          </a:p>
          <a:p>
            <a:r>
              <a:rPr lang="en-US" dirty="0"/>
              <a:t>The second provocative choice was one master for metadata. A more conventional academic design might replicate or partition the master logic. GFS keeps the design simpler and keeps file data off the master's path. The production evidence showed that this choice worked for the original workload. The contribution is the particular set of tradeoffs, together with evidence about where they succeeded.</a:t>
            </a:r>
          </a:p>
          <a:p>
            <a:endParaRPr lang="en-US" dirty="0"/>
          </a:p>
          <a:p>
            <a:r>
              <a:rPr lang="en-US" dirty="0"/>
              <a:t>SOURCE
MIT 6.824, Spring 2020, Lecture 3 transcript/video, 20:39–23:05.
Local transcript: fall2026/lectures/references/mit-6824-2020-lecture3-gfs-transcript.txt
https://www.youtube.com/watch?v=EpIgvowZr00
Ghemawat, Gobioff, and Leung, The Google File System, Sections 1, 2.4, 2.7, and 6.
https://pdos.csail.mit.edu/6.824/papers/gfs.pdf</a:t>
            </a:r>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rPr lang="en-US" dirty="0"/>
              <a:t>ASK THE CLASS HERE: what interface should a large distributed storage system expose to applications? GFS presents a familiar file interface - open, read, write - plus a record append that has no counterpart in an ordinary file system. The operations and their guarantees are adapted to Google's large, sequential workloads. A good interface hides placement, replication, failure and recovery, without promising behaviour the implementation cannot deliver cheaply. Record Append, a few slides later, is the concrete answer.</a:t>
            </a:r>
          </a:p>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The two failures we just saw have the same root cause: the replicas were allowed to diverge. In the first case, the two servers applied concurrent writes in different orders. In the second case, always reading from server 1 merely hid that disagreement until server 1 failed. A real fix cannot simply choose which copy to read. It has to prevent the copies from diverging.</a:t>
            </a:r>
          </a:p>
          <a:p>
            <a:endParaRPr lang="en-US" dirty="0"/>
          </a:p>
          <a:p>
            <a:r>
              <a:rPr lang="en-US" dirty="0"/>
              <a:t>That is possible, but it is not free. The servers need to exchange more messages and run a more complicated protocol so that they agree on one order. A write may also have to wait for that agreement before the system can report success to the client. The extra communication and waiting reduce performance.</a:t>
            </a:r>
          </a:p>
          <a:p>
            <a:endParaRPr lang="en-US" dirty="0"/>
          </a:p>
          <a:p>
            <a:r>
              <a:rPr lang="en-US" dirty="0"/>
              <a:t>Once we recognize that cost, there is no single obvious design. A system can coordinate more and provide behavior closer to one correct machine, or coordinate less and expose more anomalies that applications must handle.</a:t>
            </a:r>
          </a:p>
          <a:p>
            <a:endParaRPr lang="en-US" dirty="0"/>
          </a:p>
          <a:p>
            <a:r>
              <a:rPr lang="en-US" dirty="0"/>
              <a:t>GFS deliberately chooses a point in that range. Its behavior is much better than the naive replication scheme, but it does not pay the full cost of perfect consistency. The rest of the lecture explains what guarantees GFS provides and why those guarantees were a reasonable match for Google's workloads.</a:t>
            </a:r>
          </a:p>
          <a:p>
            <a:endParaRPr lang="en-US" dirty="0"/>
          </a:p>
          <a:p>
            <a:r>
              <a:rPr lang="en-US" dirty="0"/>
              <a:t>SOURCE
MIT 6.824, Spring 2020, Lecture 3 transcript/video, 14:07–15:00.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Client 1 writes x equals 1, and client 2 writes x equals 2 at the same time. After both writes have completed, client 3 and client 4 each read x. What are the two readers allowed to see?</a:t>
            </a:r>
          </a:p>
          <a:p>
            <a:endParaRPr lang="en-US" dirty="0"/>
          </a:p>
          <a:p>
            <a:r>
              <a:rPr lang="en-US" dirty="0"/>
              <a:t>There is not enough information to say which write the machine processed first. Because the two writes overlap, either order is legal. If the machine executes the write of 2 and then the write of 1, the final value is 1, so both readers may return 1. If it executes the write of 1 and then the write of 2, the final value is 2, so both readers may return 2.</a:t>
            </a:r>
          </a:p>
          <a:p>
            <a:endParaRPr lang="en-US" dirty="0"/>
          </a:p>
          <a:p>
            <a:r>
              <a:rPr lang="en-US" dirty="0"/>
              <a:t>Those are the first two outcomes on the slide. Strong consistency does not promise which concurrent write wins. It promises that every result can be explained by one order chosen by the machine.</a:t>
            </a:r>
          </a:p>
          <a:p>
            <a:endParaRPr lang="en-US" dirty="0"/>
          </a:p>
          <a:p>
            <a:r>
              <a:rPr lang="en-US" dirty="0"/>
              <a:t>The third outcome is not allowed. If client 3 reads 1 while client 4 reads 2 after both writes have finished, the two observations cannot fit the same final order. One of the writes must be last, and without another intervening write, both later readers should see the value produced by that same last write.</a:t>
            </a:r>
          </a:p>
          <a:p>
            <a:endParaRPr lang="en-US" dirty="0"/>
          </a:p>
          <a:p>
            <a:r>
              <a:rPr lang="en-US" dirty="0"/>
              <a:t>So consistency is not a claim that one particular value must come back. It is a claim that everything the clients observed can be explained by one coherent order.</a:t>
            </a:r>
          </a:p>
          <a:p>
            <a:endParaRPr lang="en-US" dirty="0"/>
          </a:p>
          <a:p>
            <a:r>
              <a:rPr lang="en-US" dirty="0"/>
              <a:t>With one machine, choosing one order comes naturally. But one machine cannot survive a machine or disk failure. Once we keep multiple copies, those copies must somehow preserve the same order. That is where replication becomes difficult.</a:t>
            </a:r>
          </a:p>
          <a:p>
            <a:endParaRPr lang="en-US" dirty="0"/>
          </a:p>
          <a:p>
            <a:r>
              <a:rPr lang="en-US" dirty="0"/>
              <a:t>SOURCE
MIT 6.824, Spring 2020, Lecture 3 transcript/video, 08:11–10:47.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Suppose every client reads from server 1 while it is available and uses server 2 only as a backup. Server 1 contains 2 and server 2 contains 1, but while server 1 is running, every reader sees 2. The system appears consistent because the disagreement is hidden.</a:t>
            </a:r>
          </a:p>
          <a:p>
            <a:endParaRPr lang="en-US" dirty="0"/>
          </a:p>
          <a:p>
            <a:r>
              <a:rPr lang="en-US" dirty="0"/>
              <a:t>Now server 1 fails. The clients fall back to server 2, and the visible value becomes 1. No client wrote x between those reads. The value changed from 2 back to 1 only because the system switched replicas.</a:t>
            </a:r>
          </a:p>
          <a:p>
            <a:endParaRPr lang="en-US" dirty="0"/>
          </a:p>
          <a:p>
            <a:r>
              <a:rPr lang="en-US" dirty="0"/>
              <a:t>This cannot be explained by the one-machine model. A correct machine that performs one request at a time changes a stored value only when some operation changes it. Here the clients observe a change that corresponds to no write at all.</a:t>
            </a:r>
          </a:p>
          <a:p>
            <a:endParaRPr lang="en-US" dirty="0"/>
          </a:p>
          <a:p>
            <a:r>
              <a:rPr lang="en-US" dirty="0"/>
              <a:t>Always reading from one designated server therefore hides divergence instead of repairing it. The stale copy remains in the system, and the disagreement becomes visible at exactly the moment when the preferred server fails.</a:t>
            </a:r>
          </a:p>
          <a:p>
            <a:endParaRPr lang="en-US" dirty="0"/>
          </a:p>
          <a:p>
            <a:r>
              <a:rPr lang="en-US" dirty="0"/>
              <a:t>Preventing this behavior requires the replicas to agree on one order before the system treats a write as complete. That agreement requires communication between the servers, a protocol for deciding the order, and additional waiting before the client receives a reply. Consistency can be improved, but the coordination has a cost.</a:t>
            </a:r>
          </a:p>
          <a:p>
            <a:endParaRPr lang="en-US" dirty="0"/>
          </a:p>
          <a:p>
            <a:r>
              <a:rPr lang="en-US" dirty="0"/>
              <a:t>SOURCE
MIT 6.824, Spring 2020, Lecture 3 transcript/video, 13:18–14:54.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r>
              <a:rPr lang="en-US" sz="3200" b="1" dirty="0"/>
              <a:t>That one machine does one thing at a time</a:t>
            </a:r>
          </a:p>
          <a:p>
            <a:pPr marL="914400" indent="-457200">
              <a:buFont typeface="Arial" panose="020B0604020202020204" pitchFamily="34" charset="0"/>
              <a:buChar char="•"/>
            </a:pPr>
            <a:r>
              <a:rPr lang="en-US" sz="2800" b="0" dirty="0"/>
              <a:t>Concurrent requests are put in some order, and the machine picks the order</a:t>
            </a:r>
          </a:p>
          <a:p>
            <a:pPr marL="914400" indent="-457200">
              <a:buFont typeface="Arial" panose="020B0604020202020204" pitchFamily="34" charset="0"/>
              <a:buChar char="•"/>
            </a:pPr>
            <a:r>
              <a:rPr lang="en-US" sz="2800" b="0" dirty="0"/>
              <a:t>Each request finishes before the next one starts</a:t>
            </a:r>
          </a:p>
          <a:p>
            <a:endParaRPr lang="en-US" sz="3200" b="1" dirty="0"/>
          </a:p>
          <a:p>
            <a:r>
              <a:rPr lang="en-US" sz="3200" b="1" dirty="0"/>
              <a:t>So the test is: could one machine have produced what the clients saw?</a:t>
            </a:r>
          </a:p>
          <a:p>
            <a:pPr marL="914400" indent="-457200">
              <a:buFont typeface="Arial" panose="020B0604020202020204" pitchFamily="34" charset="0"/>
              <a:buChar char="•"/>
            </a:pPr>
            <a:r>
              <a:rPr lang="en-US" sz="2800" b="0" dirty="0"/>
              <a:t>Not a particular answer, but an answer that fits one single order</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6" end="7"/>
                                            </p:txEl>
                                          </p:spTgt>
                                        </p:tgtEl>
                                        <p:attrNameLst>
                                          <p:attrName>style.visibility</p:attrName>
                                        </p:attrNameLst>
                                      </p:cBhvr>
                                      <p:to>
                                        <p:strVal val="visible"/>
                                      </p:to>
                                    </p:set>
                                    <p:animEffect transition="in" filter="dissolve">
                                      <p:cBhvr>
                                        <p:cTn id="7" dur="500"/>
                                        <p:tgtEl>
                                          <p:spTgt spid="2">
                                            <p:txEl>
                                              <p:pRg st="6"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dissolv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grpSp>
      <p:grpSp>
        <p:nvGrpSpPr>
          <p:cNvPr id="21" name="object 21">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
        <p:nvSpPr>
          <p:cNvPr id="22" name="C1 value">
            <a:extLst>
              <a:ext uri="{FF2B5EF4-FFF2-40B4-BE49-F238E27FC236}">
                <a16:creationId xmlns:a16="http://schemas.microsoft.com/office/drawing/2014/main" id="{B3234D3B-6A3A-C4E5-86E3-56006E2E9CDE}"/>
              </a:ext>
            </a:extLst>
          </p:cNvPr>
          <p:cNvSpPr txBox="1"/>
          <p:nvPr/>
        </p:nvSpPr>
        <p:spPr>
          <a:xfrm>
            <a:off x="2245261" y="426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1</a:t>
            </a:r>
            <a:endParaRPr sz="2000" b="1">
              <a:latin typeface="Arial"/>
              <a:cs typeface="Arial"/>
            </a:endParaRPr>
          </a:p>
        </p:txBody>
      </p:sp>
      <p:sp>
        <p:nvSpPr>
          <p:cNvPr id="23" name="C2 value">
            <a:extLst>
              <a:ext uri="{FF2B5EF4-FFF2-40B4-BE49-F238E27FC236}">
                <a16:creationId xmlns:a16="http://schemas.microsoft.com/office/drawing/2014/main" id="{B3234D3B-6A3A-C4E5-86E3-56006E2E9CDE}"/>
              </a:ext>
            </a:extLst>
          </p:cNvPr>
          <p:cNvSpPr txBox="1"/>
          <p:nvPr/>
        </p:nvSpPr>
        <p:spPr>
          <a:xfrm>
            <a:off x="2245261" y="577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2</a:t>
            </a:r>
            <a:endParaRPr sz="2000" b="1">
              <a:latin typeface="Arial"/>
              <a:cs typeface="Arial"/>
            </a:endParaRPr>
          </a:p>
        </p:txBody>
      </p:sp>
      <p:sp>
        <p:nvSpPr>
          <p:cNvPr id="24" name="S1 result">
            <a:extLst>
              <a:ext uri="{FF2B5EF4-FFF2-40B4-BE49-F238E27FC236}">
                <a16:creationId xmlns:a16="http://schemas.microsoft.com/office/drawing/2014/main" id="{B3234D3B-6A3A-C4E5-86E3-56006E2E9CDE}"/>
              </a:ext>
            </a:extLst>
          </p:cNvPr>
          <p:cNvSpPr txBox="1"/>
          <p:nvPr/>
        </p:nvSpPr>
        <p:spPr>
          <a:xfrm>
            <a:off x="9200000" y="350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2</a:t>
            </a:r>
            <a:endParaRPr sz="2000" b="1">
              <a:latin typeface="Arial"/>
              <a:cs typeface="Arial"/>
            </a:endParaRPr>
          </a:p>
        </p:txBody>
      </p:sp>
      <p:sp>
        <p:nvSpPr>
          <p:cNvPr id="25" name="S2 result">
            <a:extLst>
              <a:ext uri="{FF2B5EF4-FFF2-40B4-BE49-F238E27FC236}">
                <a16:creationId xmlns:a16="http://schemas.microsoft.com/office/drawing/2014/main" id="{B3234D3B-6A3A-C4E5-86E3-56006E2E9CDE}"/>
              </a:ext>
            </a:extLst>
          </p:cNvPr>
          <p:cNvSpPr txBox="1"/>
          <p:nvPr/>
        </p:nvSpPr>
        <p:spPr>
          <a:xfrm>
            <a:off x="9200000" y="522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1</a:t>
            </a:r>
            <a:endParaRPr sz="2000" b="1">
              <a:latin typeface="Arial"/>
              <a:cs typeface="Arial"/>
            </a:endParaRPr>
          </a:p>
        </p:txBody>
      </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par>
                                <p:cTn id="8" presetID="9"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dissolv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dissolve">
                                      <p:cBhvr>
                                        <p:cTn id="15" dur="500"/>
                                        <p:tgtEl>
                                          <p:spTgt spid="21"/>
                                        </p:tgtEl>
                                      </p:cBhvr>
                                    </p:animEffect>
                                  </p:childTnLst>
                                </p:cTn>
                              </p:par>
                              <p:par>
                                <p:cTn id="16" presetID="9"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dissolv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dissolve">
                                      <p:cBhvr>
                                        <p:cTn id="23" dur="500"/>
                                        <p:tgtEl>
                                          <p:spTgt spid="24"/>
                                        </p:tgtEl>
                                      </p:cBhvr>
                                    </p:animEffect>
                                  </p:childTnLst>
                                </p:cTn>
                              </p:par>
                              <p:par>
                                <p:cTn id="24" presetID="9"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dissolve">
                                      <p:cBhvr>
                                        <p:cTn id="2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GFS touches many themes of this course</a:t>
            </a:r>
          </a:p>
          <a:p>
            <a:pPr marL="742950" lvl="1" indent="-285750">
              <a:buFont typeface="Arial" panose="020B0604020202020204" pitchFamily="34" charset="0"/>
              <a:buChar char="•"/>
            </a:pPr>
            <a:r>
              <a:rPr lang="en-US" sz="2800" dirty="0"/>
              <a:t>parallel performance, fault tolerance, replication, consistency</a:t>
            </a:r>
          </a:p>
          <a:p>
            <a:endParaRPr lang="en-US" sz="1600" b="1" dirty="0"/>
          </a:p>
          <a:p>
            <a:r>
              <a:rPr lang="en-US" sz="3200" b="1" dirty="0"/>
              <a:t>A good systems paper: applications down to the network</a:t>
            </a:r>
          </a:p>
          <a:p>
            <a:endParaRPr lang="en-US" sz="1600" b="1" dirty="0"/>
          </a:p>
          <a:p>
            <a:r>
              <a:rPr lang="en-US" sz="3200" b="1" dirty="0"/>
              <a:t>A successful real-world design, judged on production experience</a:t>
            </a: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a:t>
            </a:r>
          </a:p>
          <a:p>
            <a:endParaRPr lang="en-US" sz="1600" b="1" dirty="0"/>
          </a:p>
          <a:p>
            <a:r>
              <a:rPr lang="en-US" sz="3200" b="1" dirty="0"/>
              <a:t>Huge scale.</a:t>
            </a:r>
          </a:p>
          <a:p>
            <a:endParaRPr lang="en-US" sz="1600" b="1" dirty="0"/>
          </a:p>
          <a:p>
            <a:r>
              <a:rPr lang="en-US" sz="3200" b="1" dirty="0"/>
              <a:t>Used in industry, real-world experience.</a:t>
            </a:r>
          </a:p>
          <a:p>
            <a:endParaRPr lang="en-US" sz="1600" b="1" dirty="0"/>
          </a:p>
          <a:p>
            <a:r>
              <a:rPr lang="en-US" sz="3200" b="1" dirty="0"/>
              <a:t>Successful use of weak consistency.</a:t>
            </a:r>
          </a:p>
          <a:p>
            <a:pPr marL="742950" lvl="1" indent="-285750">
              <a:buFont typeface="Arial" panose="020B0604020202020204" pitchFamily="34" charset="0"/>
              <a:buChar char="•"/>
            </a:pPr>
            <a:r>
              <a:rPr lang="en-US" sz="2800" dirty="0"/>
              <a:t>A missing search result goes unnoticed; ad billing does not</a:t>
            </a:r>
          </a:p>
          <a:p>
            <a:pPr marL="742950" lvl="1" indent="-285750">
              <a:buFont typeface="Arial" panose="020B0604020202020204" pitchFamily="34" charset="0"/>
              <a:buChar char="•"/>
            </a:pPr>
            <a:r>
              <a:rPr lang="en-US" sz="2800" dirty="0"/>
              <a:t>Applications compensate: checksums and explicit record boundaries</a:t>
            </a:r>
          </a:p>
          <a:p>
            <a:endParaRPr lang="en-US" sz="16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Fix Has a Price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015730" cy="3200000"/>
          </a:xfrm>
          <a:prstGeom prst="rect">
            <a:avLst/>
          </a:prstGeom>
          <a:noFill/>
        </p:spPr>
        <p:txBody>
          <a:bodyPr wrap="square" rtlCol="0">
            <a:spAutoFit/>
          </a:bodyPr>
          <a:lstStyle/>
          <a:p>
            <a:r>
              <a:rPr lang="en-US" sz="3200" b="1" dirty="0"/>
              <a:t>Both failures have one root: the replicas diverged</a:t>
            </a:r>
          </a:p>
          <a:p>
            <a:pPr marL="914400" indent="-457200">
              <a:buFont typeface="Arial" panose="020B0604020202020204" pitchFamily="34" charset="0"/>
              <a:buChar char="•"/>
            </a:pPr>
            <a:r>
              <a:rPr lang="en-US" sz="2800" b="0" dirty="0"/>
              <a:t>A fix must prevent divergence, not pick who to read</a:t>
            </a:r>
          </a:p>
          <a:p>
            <a:pPr marL="457200"/>
            <a:endParaRPr lang="en-US" sz="1400" b="0" dirty="0"/>
          </a:p>
          <a:p>
            <a:r>
              <a:rPr lang="en-US" sz="3200" b="1" dirty="0"/>
              <a:t>Agreement is not free</a:t>
            </a:r>
          </a:p>
          <a:p>
            <a:pPr marL="914400" indent="-457200">
              <a:buFont typeface="Arial" panose="020B0604020202020204" pitchFamily="34" charset="0"/>
              <a:buChar char="•"/>
            </a:pPr>
            <a:r>
              <a:rPr lang="en-US" sz="2800" b="0" dirty="0"/>
              <a:t>More messages, more complexity, longer waits</a:t>
            </a:r>
          </a:p>
          <a:p>
            <a:pPr marL="457200"/>
            <a:endParaRPr lang="en-US" sz="1400" b="0" dirty="0"/>
          </a:p>
          <a:p>
            <a:r>
              <a:rPr lang="en-US" sz="3200" b="1" dirty="0"/>
              <a:t>So there is a range of designs, not one answer</a:t>
            </a:r>
          </a:p>
          <a:p>
            <a:pPr marL="914400" indent="-457200">
              <a:buFont typeface="Arial" panose="020B0604020202020204" pitchFamily="34" charset="0"/>
              <a:buChar char="•"/>
            </a:pPr>
            <a:r>
              <a:rPr lang="en-US" sz="2800" b="0" dirty="0"/>
              <a:t>Stronger consistency costs performance</a:t>
            </a:r>
          </a:p>
          <a:p>
            <a:pPr marL="914400" indent="-457200">
              <a:buFont typeface="Arial" panose="020B0604020202020204" pitchFamily="34" charset="0"/>
              <a:buChar char="•"/>
            </a:pPr>
            <a:r>
              <a:rPr lang="en-US" sz="2800" b="0" dirty="0"/>
              <a:t>Weaker consistency costs the application</a:t>
            </a:r>
          </a:p>
          <a:p>
            <a:pPr marL="457200"/>
            <a:endParaRPr lang="en-US" sz="1400" b="0" dirty="0"/>
          </a:p>
          <a:p>
            <a:r>
              <a:rPr lang="en-US" sz="3200" b="1" dirty="0"/>
              <a:t>GFS picks a point on it, deliberately not perfect</a:t>
            </a:r>
          </a:p>
        </p:txBody>
      </p:sp>
    </p:spTree>
    <p:extLst>
      <p:ext uri="{BB962C8B-B14F-4D97-AF65-F5344CB8AC3E}">
        <p14:creationId xmlns:p14="http://schemas.microsoft.com/office/powerpoint/2010/main" val="17206706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What Should the Readers See?</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Suppose C1 and C2 write concurrently, and after the writes have completed, C3 and C4 read. what can they see?</a:t>
            </a:r>
          </a:p>
          <a:p>
            <a:pPr marL="342900" indent="-342900">
              <a:buFont typeface="Arial"/>
              <a:buChar char="•"/>
            </a:pPr>
            <a:endParaRPr sz="1200" dirty="0"/>
          </a:p>
          <a:p>
            <a:pPr marL="342900" indent="-342900">
              <a:buFont typeface="Arial"/>
              <a:buChar char="•"/>
            </a:pPr>
            <a:r>
              <a:rPr sz="2400" dirty="0"/>
              <a:t>One correct machine would pick an order and stick to it</a:t>
            </a:r>
          </a:p>
          <a:p>
            <a:pPr marL="342900" indent="-342900">
              <a:buFont typeface="Arial"/>
              <a:buChar char="•"/>
            </a:pPr>
            <a:endParaRPr sz="1200" dirty="0"/>
          </a:p>
          <a:p>
            <a:pPr marL="342900" indent="-342900">
              <a:buFont typeface="Arial"/>
              <a:buChar char="•"/>
            </a:pPr>
            <a:r>
              <a:rPr sz="2400" dirty="0"/>
              <a:t>Either order is acceptable</a:t>
            </a:r>
          </a:p>
          <a:p>
            <a:pPr marL="342900" indent="-342900">
              <a:buFont typeface="Arial"/>
              <a:buChar char="•"/>
            </a:pPr>
            <a:endParaRPr sz="1200" dirty="0"/>
          </a:p>
          <a:p>
            <a:pPr marL="342900" indent="-342900">
              <a:buFont typeface="Arial"/>
              <a:buChar char="•"/>
            </a:pPr>
            <a:r>
              <a:rPr sz="2400" dirty="0"/>
              <a:t>The two readers disagreeing is not</a:t>
            </a:r>
          </a:p>
        </p:txBody>
      </p:sp>
      <p:sp>
        <p:nvSpPr>
          <p:cNvPr id="49" name="Scenario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C1 and C2 write at the same time, then C3 and C4 read</a:t>
            </a:r>
          </a:p>
        </p:txBody>
      </p:sp>
      <p:sp>
        <p:nvSpPr>
          <p:cNvPr id="50" name="Client 1 write">
            <a:extLst>
              <a:ext uri="{FF2B5EF4-FFF2-40B4-BE49-F238E27FC236}">
                <a16:creationId xmlns:a16="http://schemas.microsoft.com/office/drawing/2014/main" id="{75D3A3DE-8E0D-482B-BCFD-2AD2458A4DA5}"/>
              </a:ext>
            </a:extLst>
          </p:cNvPr>
          <p:cNvSpPr>
            <a:spLocks noGrp="1"/>
          </p:cNvSpPr>
          <p:nvPr/>
        </p:nvSpPr>
        <p:spPr>
          <a:xfrm>
            <a:off x="450000" y="150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C1</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1</a:t>
            </a:r>
          </a:p>
        </p:txBody>
      </p:sp>
      <p:sp>
        <p:nvSpPr>
          <p:cNvPr id="51" name="Client 2 write">
            <a:extLst>
              <a:ext uri="{FF2B5EF4-FFF2-40B4-BE49-F238E27FC236}">
                <a16:creationId xmlns:a16="http://schemas.microsoft.com/office/drawing/2014/main" id="{75D3A3DE-8E0D-482B-BCFD-2AD2458A4DA5}"/>
              </a:ext>
            </a:extLst>
          </p:cNvPr>
          <p:cNvSpPr>
            <a:spLocks noGrp="1"/>
          </p:cNvSpPr>
          <p:nvPr/>
        </p:nvSpPr>
        <p:spPr>
          <a:xfrm>
            <a:off x="450000" y="225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C2</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2</a:t>
            </a:r>
          </a:p>
        </p:txBody>
      </p:sp>
      <p:sp>
        <p:nvSpPr>
          <p:cNvPr id="52" name="One machine">
            <a:extLst>
              <a:ext uri="{FF2B5EF4-FFF2-40B4-BE49-F238E27FC236}">
                <a16:creationId xmlns:a16="http://schemas.microsoft.com/office/drawing/2014/main" id="{C047F16D-4224-436C-BA2F-7F4F14E7970E}"/>
              </a:ext>
            </a:extLst>
          </p:cNvPr>
          <p:cNvSpPr>
            <a:spLocks noGrp="1"/>
          </p:cNvSpPr>
          <p:nvPr/>
        </p:nvSpPr>
        <p:spPr>
          <a:xfrm>
            <a:off x="2400000" y="1650275"/>
            <a:ext cx="2200000" cy="104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One correct machine</a:t>
            </a:r>
          </a:p>
          <a:p>
            <a:pPr algn="ctr">
              <a:defRPr sz="1350" b="1">
                <a:solidFill>
                  <a:srgbClr val="0E2841"/>
                </a:solidFill>
                <a:latin typeface="Aptos"/>
                <a:ea typeface="Aptos"/>
                <a:cs typeface="Aptos"/>
              </a:defRPr>
            </a:pPr>
            <a:r>
              <a:rPr sz="1350" b="1">
                <a:solidFill>
                  <a:srgbClr val="0E2841"/>
                </a:solidFill>
                <a:latin typeface="Aptos"/>
                <a:ea typeface="Aptos"/>
                <a:cs typeface="Aptos"/>
              </a:rPr>
              <a:t>one request at a time</a:t>
            </a:r>
          </a:p>
        </p:txBody>
      </p:sp>
      <p:sp>
        <p:nvSpPr>
          <p:cNvPr id="53" name="Client 3 read">
            <a:extLst>
              <a:ext uri="{FF2B5EF4-FFF2-40B4-BE49-F238E27FC236}">
                <a16:creationId xmlns:a16="http://schemas.microsoft.com/office/drawing/2014/main" id="{C047F16D-4224-436C-BA2F-7F4F14E7970E}"/>
              </a:ext>
            </a:extLst>
          </p:cNvPr>
          <p:cNvSpPr>
            <a:spLocks noGrp="1"/>
          </p:cNvSpPr>
          <p:nvPr/>
        </p:nvSpPr>
        <p:spPr>
          <a:xfrm>
            <a:off x="5100000" y="150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sp>
        <p:nvSpPr>
          <p:cNvPr id="57" name="Client 4 read">
            <a:extLst>
              <a:ext uri="{FF2B5EF4-FFF2-40B4-BE49-F238E27FC236}">
                <a16:creationId xmlns:a16="http://schemas.microsoft.com/office/drawing/2014/main" id="{C047F16D-4224-436C-BA2F-7F4F14E7970E}"/>
              </a:ext>
            </a:extLst>
          </p:cNvPr>
          <p:cNvSpPr>
            <a:spLocks noGrp="1"/>
          </p:cNvSpPr>
          <p:nvPr/>
        </p:nvSpPr>
        <p:spPr>
          <a:xfrm>
            <a:off x="5100000" y="225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cxnSp>
        <p:nvCxnSpPr>
          <p:cNvPr id="76" name="Write arrow 1"/>
          <p:cNvCxnSpPr/>
          <p:nvPr/>
        </p:nvCxnSpPr>
        <p:spPr>
          <a:xfrm>
            <a:off x="1850000" y="1795275"/>
            <a:ext cx="550000" cy="375000"/>
          </a:xfrm>
          <a:prstGeom prst="straightConnector1">
            <a:avLst/>
          </a:prstGeom>
          <a:ln w="19050">
            <a:solidFill>
              <a:srgbClr val="A02B93"/>
            </a:solidFill>
            <a:prstDash val="solid"/>
            <a:tailEnd type="triangle" w="sm" len="sm"/>
          </a:ln>
        </p:spPr>
      </p:cxnSp>
      <p:cxnSp>
        <p:nvCxnSpPr>
          <p:cNvPr id="77" name="Write arrow 2"/>
          <p:cNvCxnSpPr/>
          <p:nvPr/>
        </p:nvCxnSpPr>
        <p:spPr>
          <a:xfrm flipV="1">
            <a:off x="1850000" y="2170275"/>
            <a:ext cx="550000" cy="375000"/>
          </a:xfrm>
          <a:prstGeom prst="straightConnector1">
            <a:avLst/>
          </a:prstGeom>
          <a:ln w="19050">
            <a:solidFill>
              <a:srgbClr val="A02B93"/>
            </a:solidFill>
            <a:prstDash val="solid"/>
            <a:tailEnd type="triangle" w="sm" len="sm"/>
          </a:ln>
        </p:spPr>
      </p:cxnSp>
      <p:cxnSp>
        <p:nvCxnSpPr>
          <p:cNvPr id="78" name="Read arrow 1"/>
          <p:cNvCxnSpPr/>
          <p:nvPr/>
        </p:nvCxnSpPr>
        <p:spPr>
          <a:xfrm flipV="1">
            <a:off x="4600000" y="1795275"/>
            <a:ext cx="500000" cy="375000"/>
          </a:xfrm>
          <a:prstGeom prst="straightConnector1">
            <a:avLst/>
          </a:prstGeom>
          <a:ln w="19050">
            <a:solidFill>
              <a:srgbClr val="5B6573"/>
            </a:solidFill>
            <a:prstDash val="solid"/>
            <a:tailEnd type="triangle" w="sm" len="sm"/>
          </a:ln>
        </p:spPr>
      </p:cxnSp>
      <p:cxnSp>
        <p:nvCxnSpPr>
          <p:cNvPr id="79" name="Read arrow 2"/>
          <p:cNvCxnSpPr/>
          <p:nvPr/>
        </p:nvCxnSpPr>
        <p:spPr>
          <a:xfrm>
            <a:off x="4600000" y="2170275"/>
            <a:ext cx="500000" cy="375000"/>
          </a:xfrm>
          <a:prstGeom prst="straightConnector1">
            <a:avLst/>
          </a:prstGeom>
          <a:ln w="19050">
            <a:solidFill>
              <a:srgbClr val="5B6573"/>
            </a:solidFill>
            <a:prstDash val="solid"/>
            <a:tailEnd type="triangle" w="sm" len="sm"/>
          </a:ln>
        </p:spPr>
      </p:cxnSp>
      <p:sp>
        <p:nvSpPr>
          <p:cNvPr id="68" name="Same value label">
            <a:extLst>
              <a:ext uri="{FF2B5EF4-FFF2-40B4-BE49-F238E27FC236}">
                <a16:creationId xmlns:a16="http://schemas.microsoft.com/office/drawing/2014/main" id="{8E2343DF-2BB9-401F-B950-594DD72F33BC}"/>
              </a:ext>
            </a:extLst>
          </p:cNvPr>
          <p:cNvSpPr>
            <a:spLocks noGrp="1"/>
          </p:cNvSpPr>
          <p:nvPr/>
        </p:nvSpPr>
        <p:spPr>
          <a:xfrm>
            <a:off x="5100000" y="2900000"/>
            <a:ext cx="14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same value?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Answer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What are they allowed to see?</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1</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2</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one reads 1,</a:t>
            </a:r>
          </a:p>
          <a:p>
            <a:pPr algn="ctr">
              <a:defRPr sz="1350" b="1">
                <a:solidFill>
                  <a:srgbClr val="A02B93"/>
                </a:solidFill>
                <a:latin typeface="Aptos"/>
                <a:ea typeface="Aptos"/>
                <a:cs typeface="Aptos"/>
              </a:defRPr>
            </a:pPr>
            <a:r>
              <a:rPr sz="1350" b="1">
                <a:solidFill>
                  <a:srgbClr val="A02B93"/>
                </a:solidFill>
                <a:latin typeface="Aptos"/>
                <a:ea typeface="Aptos"/>
                <a:cs typeface="Aptos"/>
              </a:rPr>
              <a:t>the other reads 2</a:t>
            </a:r>
          </a:p>
          <a:p>
            <a:pPr algn="ctr">
              <a:defRPr sz="1350" b="1">
                <a:solidFill>
                  <a:srgbClr val="A02B93"/>
                </a:solidFill>
                <a:latin typeface="Aptos"/>
                <a:ea typeface="Aptos"/>
                <a:cs typeface="Aptos"/>
              </a:defRPr>
            </a:pPr>
            <a:r>
              <a:rPr sz="1350" b="1">
                <a:solidFill>
                  <a:srgbClr val="A02B93"/>
                </a:solidFill>
                <a:latin typeface="Aptos"/>
                <a:ea typeface="Aptos"/>
                <a:cs typeface="Aptos"/>
              </a:rPr>
              <a:t>not allowed</a:t>
            </a:r>
          </a:p>
        </p:txBody>
      </p:sp>
      <p:sp>
        <p:nvSpPr>
          <p:cNvPr id="63" name="Answer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Either order is fine; disagreeing is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Can We Just Always Read from Server 1?</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A natural patch: everyone reads Server 1, and falls back to Server 2 only when S1 is down</a:t>
            </a:r>
          </a:p>
          <a:p>
            <a:pPr marL="342900" indent="-342900">
              <a:buFont typeface="Arial"/>
              <a:buChar char="•"/>
            </a:pPr>
            <a:endParaRPr sz="1200" dirty="0"/>
          </a:p>
          <a:p>
            <a:pPr marL="342900" indent="-342900">
              <a:buFont typeface="Arial"/>
              <a:buChar char="•"/>
            </a:pPr>
            <a:r>
              <a:rPr sz="2400" dirty="0"/>
              <a:t>While S1 is up every reader sees 2, so the disagreement is hidden, not repaired</a:t>
            </a:r>
          </a:p>
          <a:p>
            <a:pPr marL="342900" indent="-342900">
              <a:buFont typeface="Arial"/>
              <a:buChar char="•"/>
            </a:pPr>
            <a:endParaRPr sz="1200" dirty="0"/>
          </a:p>
          <a:p>
            <a:pPr marL="342900" indent="-342900">
              <a:buFont typeface="Arial"/>
              <a:buChar char="•"/>
            </a:pPr>
            <a:r>
              <a:rPr sz="2400" dirty="0"/>
              <a:t>S1 dies, the readers fall back to S2, and the value goes back to 1</a:t>
            </a:r>
          </a:p>
          <a:p>
            <a:pPr marL="342900" indent="-342900">
              <a:buFont typeface="Arial"/>
              <a:buChar char="•"/>
            </a:pPr>
            <a:endParaRPr sz="1200" dirty="0"/>
          </a:p>
          <a:p>
            <a:pPr marL="342900" indent="-342900">
              <a:buFont typeface="Arial"/>
              <a:buChar char="•"/>
            </a:pPr>
            <a:r>
              <a:rPr sz="2400" dirty="0"/>
              <a:t>Nobody wrote. One machine could never do that.</a:t>
            </a:r>
          </a:p>
        </p:txBody>
      </p:sp>
      <p:sp>
        <p:nvSpPr>
          <p:cNvPr id="49" name="Rul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Rule: always read S1, fall back to S2</a:t>
            </a:r>
          </a:p>
        </p:txBody>
      </p:sp>
      <p:sp>
        <p:nvSpPr>
          <p:cNvPr id="50" name="Server 1 up">
            <a:extLst>
              <a:ext uri="{FF2B5EF4-FFF2-40B4-BE49-F238E27FC236}">
                <a16:creationId xmlns:a16="http://schemas.microsoft.com/office/drawing/2014/main" id="{C047F16D-4224-436C-BA2F-7F4F14E7970E}"/>
              </a:ext>
            </a:extLst>
          </p:cNvPr>
          <p:cNvSpPr>
            <a:spLocks noGrp="1"/>
          </p:cNvSpPr>
          <p:nvPr/>
        </p:nvSpPr>
        <p:spPr>
          <a:xfrm>
            <a:off x="450000" y="150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2</a:t>
            </a:r>
          </a:p>
        </p:txBody>
      </p:sp>
      <p:sp>
        <p:nvSpPr>
          <p:cNvPr id="51" name="Server 2">
            <a:extLst>
              <a:ext uri="{FF2B5EF4-FFF2-40B4-BE49-F238E27FC236}">
                <a16:creationId xmlns:a16="http://schemas.microsoft.com/office/drawing/2014/main" id="{C047F16D-4224-436C-BA2F-7F4F14E7970E}"/>
              </a:ext>
            </a:extLst>
          </p:cNvPr>
          <p:cNvSpPr>
            <a:spLocks noGrp="1"/>
          </p:cNvSpPr>
          <p:nvPr/>
        </p:nvSpPr>
        <p:spPr>
          <a:xfrm>
            <a:off x="450000" y="225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1</a:t>
            </a:r>
          </a:p>
        </p:txBody>
      </p:sp>
      <p:sp>
        <p:nvSpPr>
          <p:cNvPr id="52" name="Reader C3">
            <a:extLst>
              <a:ext uri="{FF2B5EF4-FFF2-40B4-BE49-F238E27FC236}">
                <a16:creationId xmlns:a16="http://schemas.microsoft.com/office/drawing/2014/main" id="{C047F16D-4224-436C-BA2F-7F4F14E7970E}"/>
              </a:ext>
            </a:extLst>
          </p:cNvPr>
          <p:cNvSpPr>
            <a:spLocks noGrp="1"/>
          </p:cNvSpPr>
          <p:nvPr/>
        </p:nvSpPr>
        <p:spPr>
          <a:xfrm>
            <a:off x="4400000" y="150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sp>
        <p:nvSpPr>
          <p:cNvPr id="53" name="Reader C4">
            <a:extLst>
              <a:ext uri="{FF2B5EF4-FFF2-40B4-BE49-F238E27FC236}">
                <a16:creationId xmlns:a16="http://schemas.microsoft.com/office/drawing/2014/main" id="{C047F16D-4224-436C-BA2F-7F4F14E7970E}"/>
              </a:ext>
            </a:extLst>
          </p:cNvPr>
          <p:cNvSpPr>
            <a:spLocks noGrp="1"/>
          </p:cNvSpPr>
          <p:nvPr/>
        </p:nvSpPr>
        <p:spPr>
          <a:xfrm>
            <a:off x="4400000" y="225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cxnSp>
        <p:nvCxnSpPr>
          <p:cNvPr id="76" name="Read arrow 1"/>
          <p:cNvCxnSpPr/>
          <p:nvPr/>
        </p:nvCxnSpPr>
        <p:spPr>
          <a:xfrm>
            <a:off x="2050000" y="1795275"/>
            <a:ext cx="2350000" cy="0"/>
          </a:xfrm>
          <a:prstGeom prst="straightConnector1">
            <a:avLst/>
          </a:prstGeom>
          <a:ln w="19050">
            <a:solidFill>
              <a:srgbClr val="5B6573"/>
            </a:solidFill>
            <a:prstDash val="solid"/>
            <a:tailEnd type="triangle" w="sm" len="sm"/>
          </a:ln>
        </p:spPr>
      </p:cxnSp>
      <p:cxnSp>
        <p:nvCxnSpPr>
          <p:cNvPr id="77" name="Read arrow 2"/>
          <p:cNvCxnSpPr/>
          <p:nvPr/>
        </p:nvCxnSpPr>
        <p:spPr>
          <a:xfrm>
            <a:off x="2050000" y="1795275"/>
            <a:ext cx="2350000" cy="750000"/>
          </a:xfrm>
          <a:prstGeom prst="straightConnector1">
            <a:avLst/>
          </a:prstGeom>
          <a:ln w="19050">
            <a:solidFill>
              <a:srgbClr val="5B6573"/>
            </a:solidFill>
            <a:prstDash val="solid"/>
            <a:tailEnd type="triangle" w="sm" len="sm"/>
          </a:ln>
        </p:spPr>
      </p:cxnSp>
      <p:sp>
        <p:nvSpPr>
          <p:cNvPr id="68" name="Looks fine label">
            <a:extLst>
              <a:ext uri="{FF2B5EF4-FFF2-40B4-BE49-F238E27FC236}">
                <a16:creationId xmlns:a16="http://schemas.microsoft.com/office/drawing/2014/main" id="{8E2343DF-2BB9-401F-B950-594DD72F33BC}"/>
              </a:ext>
            </a:extLst>
          </p:cNvPr>
          <p:cNvSpPr>
            <a:spLocks noGrp="1"/>
          </p:cNvSpPr>
          <p:nvPr/>
        </p:nvSpPr>
        <p:spPr>
          <a:xfrm>
            <a:off x="4400000" y="2900000"/>
            <a:ext cx="15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looks fine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Failure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Then Server 1 fails</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S1 is gone</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go to S2</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 reads 1</a:t>
            </a:r>
          </a:p>
          <a:p>
            <a:pPr algn="ctr">
              <a:defRPr sz="1350" b="1">
                <a:solidFill>
                  <a:srgbClr val="0E2841"/>
                </a:solidFill>
                <a:latin typeface="Aptos"/>
                <a:ea typeface="Aptos"/>
                <a:cs typeface="Aptos"/>
              </a:defRPr>
            </a:pPr>
            <a:r>
              <a:rPr sz="1350" b="1">
                <a:solidFill>
                  <a:srgbClr val="0E2841"/>
                </a:solidFill>
                <a:latin typeface="Aptos"/>
                <a:ea typeface="Aptos"/>
                <a:cs typeface="Aptos"/>
              </a:rPr>
              <a:t>C4 reads 1</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x:  2 → 1</a:t>
            </a:r>
          </a:p>
          <a:p>
            <a:pPr algn="ctr">
              <a:defRPr sz="1350" b="1">
                <a:solidFill>
                  <a:srgbClr val="A02B93"/>
                </a:solidFill>
                <a:latin typeface="Aptos"/>
                <a:ea typeface="Aptos"/>
                <a:cs typeface="Aptos"/>
              </a:defRPr>
            </a:pPr>
            <a:r>
              <a:rPr sz="1350" b="1">
                <a:solidFill>
                  <a:srgbClr val="A02B93"/>
                </a:solidFill>
                <a:latin typeface="Aptos"/>
                <a:ea typeface="Aptos"/>
                <a:cs typeface="Aptos"/>
              </a:rPr>
              <a:t>nobody wrote</a:t>
            </a:r>
          </a:p>
        </p:txBody>
      </p:sp>
      <p:sp>
        <p:nvSpPr>
          <p:cNvPr id="63" name="Failure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Nobody wrote, yet the value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1722</TotalTime>
  <Words>13492</Words>
  <Application>Microsoft Macintosh PowerPoint</Application>
  <PresentationFormat>Widescreen</PresentationFormat>
  <Paragraphs>1194</Paragraphs>
  <Slides>54</Slides>
  <Notes>54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54</vt:i4>
      </vt:variant>
    </vt:vector>
  </HeadingPairs>
  <TitlesOfParts>
    <vt:vector size="60"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What Should the Readers See?</vt:lpstr>
      <vt:lpstr>Bad Replication Design</vt:lpstr>
      <vt:lpstr>What Can Go Wrong?</vt:lpstr>
      <vt:lpstr>Can We Just Always Read from Server 1?</vt:lpstr>
      <vt:lpstr>The Fix Has a Price</vt:lpstr>
      <vt:lpstr>The Google File System</vt:lpstr>
      <vt:lpstr>Why Are We Reading This Paper?</vt:lpstr>
      <vt:lpstr>Goal of GFS</vt:lpstr>
      <vt:lpstr>Demo 1: HDFS</vt:lpstr>
      <vt:lpstr>Assumptions of GFS</vt:lpstr>
      <vt:lpstr>What Are the Contribution of the Paper? </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41</cp:revision>
  <dcterms:created xsi:type="dcterms:W3CDTF">2026-02-04T02:27:39Z</dcterms:created>
  <dcterms:modified xsi:type="dcterms:W3CDTF">2026-09-16T20:17:45Z</dcterms:modified>
</cp:coreProperties>
</file>