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422" r:id="rId2"/>
    <p:sldId id="426" r:id="rId3"/>
    <p:sldId id="481" r:id="rId4"/>
    <p:sldId id="467" r:id="rId5"/>
    <p:sldId id="477" r:id="rId6"/>
    <p:sldId id="478" r:id="rId7"/>
    <p:sldId id="479" r:id="rId8"/>
    <p:sldId id="428" r:id="rId9"/>
    <p:sldId id="483" r:id="rId10"/>
    <p:sldId id="443" r:id="rId11"/>
    <p:sldId id="444" r:id="rId12"/>
    <p:sldId id="445" r:id="rId13"/>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32"/>
    <p:sldId id="470" r:id="rId33"/>
    <p:sldId id="448" r:id="rId34"/>
    <p:sldId id="482" r:id="rId35"/>
    <p:sldId id="449" r:id="rId36"/>
    <p:sldId id="450" r:id="rId37"/>
    <p:sldId id="451" r:id="rId38"/>
    <p:sldId id="471" r:id="rId39"/>
    <p:sldId id="472" r:id="rId40"/>
    <p:sldId id="452" r:id="rId41"/>
    <p:sldId id="453" r:id="rId42"/>
    <p:sldId id="454" r:id="rId43"/>
    <p:sldId id="465" r:id="rId44"/>
    <p:sldId id="455" r:id="rId45"/>
    <p:sldId id="457" r:id="rId46"/>
    <p:sldId id="473" r:id="rId47"/>
    <p:sldId id="475" r:id="rId48"/>
    <p:sldId id="476" r:id="rId49"/>
    <p:sldId id="459" r:id="rId50"/>
    <p:sldId id="466" r:id="rId51"/>
    <p:sldId id="464"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295"/>
    <p:restoredTop sz="65066"/>
  </p:normalViewPr>
  <p:slideViewPr>
    <p:cSldViewPr snapToGrid="0">
      <p:cViewPr varScale="1">
        <p:scale>
          <a:sx n="79" d="100"/>
          <a:sy n="79"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Last time we focused on computation, but every map task had to read its input from somewhere, and every reducer had to write its output somewhere. At Google, that shared storage layer was GFS.</a:t>
            </a:r>
          </a:p>
          <a:p>
            <a:endParaRPr dirty="0"/>
          </a:p>
          <a:p>
            <a:r>
              <a:rPr dirty="0"/>
              <a:t>Storage became a key abstraction because a simple interface—name some data, read it, and write it—was general enough to support many different systems. MapReduce used GFS for input and output files. </a:t>
            </a:r>
            <a:r>
              <a:rPr dirty="0" err="1"/>
              <a:t>BigTable</a:t>
            </a:r>
            <a:r>
              <a:rPr dirty="0"/>
              <a:t> later stored its table data in GFS as well. If the storage layer handles scale and failures, every system above it becomes easier to build.</a:t>
            </a:r>
          </a:p>
          <a:p>
            <a:endParaRPr dirty="0"/>
          </a:p>
          <a:p>
            <a:r>
              <a:rPr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The chain on the previous slide leaves us with two questions that will organize the rest of this lecture.</a:t>
            </a:r>
          </a:p>
          <a:p>
            <a:endParaRPr lang="en-US" dirty="0"/>
          </a:p>
          <a:p>
            <a:r>
              <a:rPr lang="en-US" dirty="0"/>
              <a:t>The first is a correctness question. Once data is split and replicated across machines, and those machines can fail independently, what does it mean for the storage system to return the correct result? Before we look at GFS, we need a simple reference model for the behavior we would ideally like. The next slide uses the most intuitive model: even though the implementation contains many machines and many copies, applications should be able to reason as if they were talking to one correct server.</a:t>
            </a:r>
          </a:p>
          <a:p>
            <a:endParaRPr lang="en-US" dirty="0"/>
          </a:p>
          <a:p>
            <a:r>
              <a:rPr lang="en-US" dirty="0"/>
              <a:t>The second is a performance question. How much coordination do we need to preserve that illusion? If replicas must agree on every operation before replying, the system adds messages, waits for other machines, and may have to stop when one of them is slow or unreachable. Those costs sit directly on the path of every read or write.</a:t>
            </a:r>
          </a:p>
          <a:p>
            <a:endParaRPr lang="en-US" dirty="0"/>
          </a:p>
          <a:p>
            <a:r>
              <a:rPr lang="en-US" dirty="0"/>
              <a:t>These questions are connected. Better coordination usually gives applications simpler behavior, but it costs performance and availability during failures. GFS does not pay the full cost of the strongest possible behavior. It chooses guarantees that match Google's workloads. First, however, let us make the ideal behavior concrete.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Before looking at the GFS write protocol, establish the behavior we would ideally like from storage.</a:t>
            </a:r>
          </a:p>
          <a:p>
            <a:endParaRPr lang="en-US" dirty="0"/>
          </a:p>
          <a:p>
            <a:r>
              <a:rPr lang="en-US" dirty="0"/>
              <a:t>Imagine one correct, single-threaded server holding a table of keys and values. Many clients may send requests at the same time, but the server processes those requests one at a time. It chooses one request, runs it to completion, and then processes the next. Each operation therefore sees the effects of all operations that came before it in that single order.</a:t>
            </a:r>
          </a:p>
          <a:p>
            <a:endParaRPr lang="en-US" dirty="0"/>
          </a:p>
          <a:p>
            <a:r>
              <a:rPr lang="en-US" dirty="0"/>
              <a:t>Now suppose client 1 writes x equals 1 and client 2 writes x equals 2 concurrently. Because the requests overlap, we cannot insist that client 1 must go first or that client 2 must go first. Either order is legal. If the server processes x equals 1 and then x equals 2, the final value is 2. If it processes them in the opposite order, the final value is 1.</a:t>
            </a:r>
          </a:p>
          <a:p>
            <a:endParaRPr lang="en-US" dirty="0"/>
          </a:p>
          <a:p>
            <a:r>
              <a:rPr lang="en-US" dirty="0"/>
              <a:t>The important requirement comes after both writes have completed. Suppose client 3 and client 4 now read x. Both readers must observe a result consistent with the same order chosen by the server. If the final write was x equals 2, both later reads should return 2. If the final write was x equals 1, both should return 1.</a:t>
            </a:r>
          </a:p>
          <a:p>
            <a:endParaRPr lang="en-US" dirty="0"/>
          </a:p>
          <a:p>
            <a:r>
              <a:rPr lang="en-US" dirty="0"/>
              <a:t>Notice what strong consistency does and does not require. It does not tell us in advance which concurrent write wins. From the outside, there may be no way to determine which request reached the server first. Strong consistency requires that there be one legal ordering of the operations and that every client observe results consistent with that ordering.</a:t>
            </a:r>
          </a:p>
          <a:p>
            <a:endParaRPr lang="en-US" dirty="0"/>
          </a:p>
          <a:p>
            <a:r>
              <a:rPr lang="en-US" dirty="0"/>
              <a:t>So a result such as client 3 reading 2 and client 4 later reading 1, with no intervening write, is not merely surprising. It cannot be explained by any execution of this one-server model. The value would appear to move backward by itself.</a:t>
            </a:r>
          </a:p>
          <a:p>
            <a:endParaRPr lang="en-US" dirty="0"/>
          </a:p>
          <a:p>
            <a:r>
              <a:rPr lang="en-US" dirty="0"/>
              <a:t>This is the illusion distributed storage tries to preserve: hundreds of machines and several copies inside, but one coherent logical server from the application's point of view. Replication makes that illusion difficult because different replicas may independently choose different orders.</a:t>
            </a:r>
          </a:p>
          <a:p>
            <a:endParaRPr lang="en-US" dirty="0"/>
          </a:p>
          <a:p>
            <a:r>
              <a:rPr lang="en-US" dirty="0"/>
              <a:t>SOURCE
MIT 6.824, Spring 2020, Lecture 3 transcript/video, 05:42–10:47.
Local transcript: fall2026/lectures/references/mit-6824-2020-lecture3-gfs-transcript.txt
https://www.youtube.com/watch?v=EpIgvowZr00
MIT 6.5840, GFS lecture notes.
https://pdos.csail.mit.edu/6.824/notes/l-gfs.txt</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Now consider the simplest replication design we might try.</a:t>
            </a:r>
          </a:p>
          <a:p>
            <a:endParaRPr lang="en-US" dirty="0"/>
          </a:p>
          <a:p>
            <a:r>
              <a:rPr lang="en-US" dirty="0"/>
              <a:t>We keep two servers, and each server stores a complete copy of the data. The goal is fault tolerance: if either server fails, the other still has the data. Therefore every write has to be applied to both copies. At the same time, a read should be able to use either server by itself. If every read had to consult both servers, losing one server would make the system unavailable and replication would not have achieved its purpose.</a:t>
            </a:r>
          </a:p>
          <a:p>
            <a:endParaRPr lang="en-US" dirty="0"/>
          </a:p>
          <a:p>
            <a:r>
              <a:rPr lang="en-US" dirty="0"/>
              <a:t>The tempting protocol is exactly what this slide shows. The client sends the update independently to both servers, and each server applies the update when it arrives. If the two copies start in the same state and receive the same operations, it seems that they should remain identical.</a:t>
            </a:r>
          </a:p>
          <a:p>
            <a:endParaRPr lang="en-US" dirty="0"/>
          </a:p>
          <a:p>
            <a:r>
              <a:rPr lang="en-US" dirty="0"/>
              <a:t>The hidden assumption is that the servers will apply concurrent operations in the same order. Nothing in this protocol enforces that assumption. The network can deliver messages to server 1 in one order and to server 2 in the opposite order. Each server may individually behave like a perfectly reasonable single server, yet the two final copies can still disagree because they chose different legal orders.</a:t>
            </a:r>
          </a:p>
          <a:p>
            <a:endParaRPr lang="en-US" dirty="0"/>
          </a:p>
          <a:p>
            <a:r>
              <a:rPr lang="en-US" dirty="0"/>
              <a:t>There is no common authority here that decides the order, and the replicas do not communicate before applying the writes. Once they diverge, a read can return a different value depending on which server it contacts. A failover can even make the visible value change without any new write. The next slide traces that failure using two clients that write the same data concurrently.</a:t>
            </a:r>
          </a:p>
          <a:p>
            <a:endParaRPr lang="en-US" dirty="0"/>
          </a:p>
          <a:p>
            <a:r>
              <a:rPr lang="en-US" dirty="0"/>
              <a:t>Fixing the design requires some mechanism that establishes one order: for example, a primary that orders the mutations, plus communication that makes the other replicas follow that order. That is the coordination cost introduced on the previous slide. GFS uses a primary for each chunk, but its exact guarantees still depend on what happens when a mutation reaches only some replicas.</a:t>
            </a:r>
          </a:p>
          <a:p>
            <a:endParaRPr lang="en-US" dirty="0"/>
          </a:p>
          <a:p>
            <a:r>
              <a:rPr lang="en-US" dirty="0"/>
              <a:t>SOURCE
MIT 6.824, Spring 2020, Lecture 3 transcript/video, 10:47–12:29.
Local transcript: fall2026/lectures/references/mit-6824-2020-lecture3-gfs-transcript.txt
https://www.youtube.com/watch?v=EpIgvowZr00
Ghemawat, Gobioff, and Leung, The Google File System, Sections 3.1 and 3.2.
https://pdos.csail.mit.edu/6.824/papers/gfs.pdf</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We read GFS because distributed storage is one of the most useful abstractions in distributed systems.</a:t>
            </a:r>
          </a:p>
          <a:p>
            <a:endParaRPr lang="en-US" dirty="0"/>
          </a:p>
          <a:p>
            <a:r>
              <a:rPr lang="en-US" dirty="0"/>
              <a:t>This is where the interface question belongs: what should a large distributed storage system expose to applications? GFS presents a familiar file interface, but it adapts the operations and guarantees to Google's large, sequential, data-intensive workloads. A useful interface hides placement, replication, failures, and recovery without promising behavior the implementation cannot provide efficiently.</a:t>
            </a:r>
          </a:p>
          <a:p>
            <a:endParaRPr lang="en-US" dirty="0"/>
          </a:p>
          <a:p>
            <a:r>
              <a:rPr lang="en-US" dirty="0"/>
              <a:t>The paper also connects several themes from this course. Sharding gives parallel performance. Replication gives fault tolerance, but it creates consistency problems. The designers then choose where to spend coordination cost and where to accept weaker behavior.</a:t>
            </a:r>
          </a:p>
          <a:p>
            <a:endParaRPr lang="en-US" dirty="0"/>
          </a:p>
          <a:p>
            <a:r>
              <a:rPr lang="en-US" dirty="0"/>
              <a:t>This is also a strong systems paper because it connects application workloads to machine-level details. The system succeeded in production, so we can judge the tradeoffs using real experience rather than only a conceptual design.</a:t>
            </a:r>
          </a:p>
          <a:p>
            <a:endParaRPr lang="en-US" dirty="0"/>
          </a:p>
          <a:p>
            <a:r>
              <a:rPr lang="en-US" dirty="0"/>
              <a:t>SOURCE
MIT 6.824, Spring 2020, Lecture 3 video, 0:00-5:09.
https://www.youtube.com/watch?v=EpIgvowZr00
MIT 6.5840, GFS lecture notes.
https://pdos.csail.mit.edu/6.824/notes/l-gfs.txt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endParaRPr lang="en-US" sz="3200" b="1" dirty="0"/>
          </a:p>
          <a:p>
            <a:endParaRPr lang="en-US" sz="3200" b="1" dirty="0"/>
          </a:p>
          <a:p>
            <a:r>
              <a:rPr lang="en-US" sz="3200" b="1" dirty="0"/>
              <a:t>Suppose C1 and C2 write concurrently, and after the writes have completed, C3 and C4 read. what can they see?</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r>
              <a:rPr lang="en-US" sz="2800" b="1" dirty="0">
                <a:solidFill>
                  <a:srgbClr val="A02B93"/>
                </a:solidFill>
              </a:rPr>
              <a:t>What interface should GFS expose to applications?</a:t>
            </a: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1722</TotalTime>
  <Words>13492</Words>
  <Application>Microsoft Macintosh PowerPoint</Application>
  <PresentationFormat>Widescreen</PresentationFormat>
  <Paragraphs>1194</Paragraphs>
  <Slides>51</Slides>
  <Notes>51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51</vt:i4>
      </vt:variant>
    </vt:vector>
  </HeadingPairs>
  <TitlesOfParts>
    <vt:vector size="57"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Bad Replication Design</vt:lpstr>
      <vt:lpstr>What Can Go Wrong?</vt:lpstr>
      <vt:lpstr>The Google File System</vt:lpstr>
      <vt:lpstr>Why Are We Reading This Paper?</vt:lpstr>
      <vt:lpstr>Goal of GFS</vt:lpstr>
      <vt:lpstr>Demo 1: HDFS</vt:lpstr>
      <vt:lpstr>Assumptions of GFS</vt:lpstr>
      <vt:lpstr>What Are the Contribution of the Paper? </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41</cp:revision>
  <dcterms:created xsi:type="dcterms:W3CDTF">2026-02-04T02:27:39Z</dcterms:created>
  <dcterms:modified xsi:type="dcterms:W3CDTF">2026-09-16T20:17:45Z</dcterms:modified>
</cp:coreProperties>
</file>