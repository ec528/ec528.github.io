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5"/>
  </p:notesMasterIdLst>
  <p:sldIdLst>
    <p:sldId id="422" r:id="rId2"/>
    <p:sldId id="426" r:id="rId3"/>
    <p:sldId id="481" r:id="rId4"/>
    <p:sldId id="467" r:id="rId5"/>
    <p:sldId id="477" r:id="rId6"/>
    <p:sldId id="478" r:id="rId7"/>
    <p:sldId id="479" r:id="rId8"/>
    <p:sldId id="428" r:id="rId9"/>
    <p:sldId id="483" r:id="rId10"/>
    <p:sldId id="443" r:id="rId11"/>
    <p:sldId id="486" r:id="rId12"/>
    <p:sldId id="444" r:id="rId13"/>
    <p:sldId id="445" r:id="rId14"/>
    <p:sldId id="487" r:id="rId15"/>
    <p:sldId id="485" r:id="rId16"/>
    <p:sldId id="262" r:id="rId17"/>
    <p:sldId id="430" r:id="rId18"/>
    <p:sldId id="435" r:id="rId19"/>
    <p:sldId id="431" r:id="rId21"/>
    <p:sldId id="433" r:id="rId22"/>
    <p:sldId id="434" r:id="rId23"/>
    <p:sldId id="436" r:id="rId24"/>
    <p:sldId id="437" r:id="rId25"/>
    <p:sldId id="468" r:id="rId26"/>
    <p:sldId id="439" r:id="rId27"/>
    <p:sldId id="480" r:id="rId20"/>
    <p:sldId id="469" r:id="rId28"/>
    <p:sldId id="440" r:id="rId29"/>
    <p:sldId id="441" r:id="rId30"/>
    <p:sldId id="442" r:id="rId31"/>
    <p:sldId id="446" r:id="rId32"/>
    <p:sldId id="447" r:id="rId33"/>
    <p:sldId id="484" r:id="rId34"/>
    <p:sldId id="470" r:id="rId35"/>
    <p:sldId id="448" r:id="rId36"/>
    <p:sldId id="482" r:id="rId37"/>
    <p:sldId id="449" r:id="rId38"/>
    <p:sldId id="450" r:id="rId39"/>
    <p:sldId id="451" r:id="rId40"/>
    <p:sldId id="471" r:id="rId41"/>
    <p:sldId id="472" r:id="rId42"/>
    <p:sldId id="452" r:id="rId43"/>
    <p:sldId id="453" r:id="rId44"/>
    <p:sldId id="454" r:id="rId45"/>
    <p:sldId id="465" r:id="rId46"/>
    <p:sldId id="455" r:id="rId47"/>
    <p:sldId id="457" r:id="rId48"/>
    <p:sldId id="473" r:id="rId49"/>
    <p:sldId id="475" r:id="rId50"/>
    <p:sldId id="476" r:id="rId51"/>
    <p:sldId id="459" r:id="rId52"/>
    <p:sldId id="466" r:id="rId53"/>
    <p:sldId id="464" r:id="rId5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8C627D7-3369-2644-8171-3465024537BB}" v="94" dt="2026-02-04T23:24:50.13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5989"/>
    <p:restoredTop sz="65066"/>
  </p:normalViewPr>
  <p:slideViewPr>
    <p:cSldViewPr snapToGrid="0">
      <p:cViewPr varScale="1">
        <p:scale>
          <a:sx n="79" d="100"/>
          <a:sy n="79" d="100"/>
        </p:scale>
        <p:origin x="1328"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DB495E-9202-DD42-BBE2-37ADBBB054B7}" type="datetimeFigureOut">
              <a:rPr lang="en-US" smtClean="0"/>
              <a:t>9/16/26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27446A-061B-8F4D-8E35-F1BABDAC0B81}" type="slidenum">
              <a:rPr lang="en-US" smtClean="0"/>
              <a:t>‹#›</a:t>
            </a:fld>
            <a:endParaRPr lang="en-US"/>
          </a:p>
        </p:txBody>
      </p:sp>
    </p:spTree>
    <p:extLst>
      <p:ext uri="{BB962C8B-B14F-4D97-AF65-F5344CB8AC3E}">
        <p14:creationId xmlns:p14="http://schemas.microsoft.com/office/powerpoint/2010/main" val="36739207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r>
              <a:rPr dirty="0"/>
              <a:t>Today we move from MapReduce to the storage system underneath it: the Google File System, or GFS.</a:t>
            </a:r>
            <a:endParaRPr lang="en-US" dirty="0"/>
          </a:p>
          <a:p>
            <a:endParaRPr lang="en-US" dirty="0"/>
          </a:p>
          <a:p>
            <a:r>
              <a:rPr dirty="0"/>
              <a:t>The MapReduce runtime can schedule and retry computation, but it still needs a place to store enormous input and output files. GFS provides that shared distributed storage. This lecture uses the 2003 GFS paper as a case study in performance, replication, consistency, and recovery.</a:t>
            </a:r>
            <a:endParaRPr lang="en-US" dirty="0"/>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Demo 1 is Wednesday, September 23. Push the design proposal and slides to the demo-1 branch by 12:00 noon. Next Monday is a lab day, so there is no lecture.</a:t>
            </a:r>
          </a:p>
          <a:p>
            <a:endParaRPr dirty="0"/>
          </a:p>
          <a:p>
            <a:r>
              <a:rPr dirty="0"/>
              <a:t>Walk through the rubric. The design proposal is 50 percent. It should define the problem, explain the proposed system, include an architecture diagram, identify what makes the work technically difficult, explain how the team will measure success, and give verifiable milestones for Demo 2, Demo 3, and the final.</a:t>
            </a:r>
          </a:p>
          <a:p>
            <a:endParaRPr dirty="0"/>
          </a:p>
          <a:p>
            <a:r>
              <a:rPr dirty="0"/>
              <a:t>The slides are 25 percent and follow the shared slides rubric. The remaining 25 percent is challenge, which measures the technical difficulty and ambition of the proposal.</a:t>
            </a:r>
          </a:p>
          <a:p>
            <a:endParaRPr dirty="0"/>
          </a:p>
          <a:p>
            <a:r>
              <a:rPr dirty="0"/>
              <a:t>Emphasize the milestone requirement. Later progress grades use the milestones in this proposal. A statement such as “improve performance” is too vague. A milestone should state a measurable result and how the team will demonstrate it.</a:t>
            </a:r>
          </a:p>
          <a:p>
            <a:endParaRPr dirty="0"/>
          </a:p>
          <a:p>
            <a:r>
              <a:rPr dirty="0"/>
              <a:t>SOURCE</a:t>
            </a:r>
          </a:p>
          <a:p>
            <a:r>
              <a:rPr dirty="0"/>
              <a:t>EC528 Fall 2026 grading policy, Demo 1 rubric.</a:t>
            </a:r>
          </a:p>
          <a:p>
            <a:r>
              <a:rPr dirty="0"/>
              <a:t>EC528 Fall 2026 design-proposal template.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Presentation is graded separately from the team project score.</a:t>
            </a:r>
          </a:p>
          <a:p>
            <a:endParaRPr dirty="0"/>
          </a:p>
          <a:p>
            <a:r>
              <a:rPr dirty="0"/>
              <a:t>Each milestone demo has a 10-minute presentation and 5 minutes for questions. We will stop presentations that run over time. At most two team members may present in one demo, and every team member must present at least once across Demo 1, Demo 2, and Demo 3.</a:t>
            </a:r>
          </a:p>
          <a:p>
            <a:endParaRPr dirty="0"/>
          </a:p>
          <a:p>
            <a:r>
              <a:rPr dirty="0"/>
              <a:t>The presentation score is individual. We grade the part you personally deliver, including clarity, engagement, staying within time, and how you answer questions about the design.</a:t>
            </a:r>
          </a:p>
          <a:p>
            <a:endParaRPr dirty="0"/>
          </a:p>
          <a:p>
            <a:r>
              <a:rPr dirty="0"/>
              <a:t>If you present in more than one milestone demo, we use your highest presentation score. A second presentation can improve the score, but it will not lower it.</a:t>
            </a:r>
          </a:p>
          <a:p>
            <a:endParaRPr dirty="0"/>
          </a:p>
          <a:p>
            <a:r>
              <a:rPr dirty="0"/>
              <a:t>This presentation component is 10 percent of the course grade. The final presentation is graded separately inside the final project score.</a:t>
            </a:r>
          </a:p>
          <a:p>
            <a:endParaRPr dirty="0"/>
          </a:p>
          <a:p>
            <a:r>
              <a:rPr dirty="0"/>
              <a:t>SOURCE</a:t>
            </a:r>
          </a:p>
          <a:p>
            <a:r>
              <a:rPr dirty="0"/>
              <a:t>EC528 Fall 2026 grading policy, Presentation section.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One quick AWS credit note. One team found that an AWS account would accept only one credit code. If your team encounters the same problem, do not try to redeem all of the team's codes in one account.</a:t>
            </a:r>
          </a:p>
          <a:p>
            <a:endParaRPr lang="en-US" dirty="0"/>
          </a:p>
          <a:p>
            <a:r>
              <a:rPr lang="en-US" dirty="0"/>
              <a:t>Instead, have each teammate redeem one code in their own AWS account. Run the project from one account at a time, and move to another teammate's account when needed. Use scripts to create the resources so moving is easy, and delete the resources in the old account after you move. The detailed instructions are on the course Setup page.</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time we focused on computation, but every map task had to read its input from somewhere, and every reducer had to write its output somewhere. At Google, that shared storage layer was GFS.</a:t>
            </a:r>
          </a:p>
          <a:p>
            <a:endParaRPr lang="en-US" dirty="0"/>
          </a:p>
          <a:p>
            <a:r>
              <a:rPr lang="en-US" dirty="0"/>
              <a:t>Storage became a key abstraction because a simple interface—name some data, read it, and write it—was useful across many different systems. A large part of distributed-systems work therefore either builds storage systems or builds on top of a well-behaved distributed store. At Google, MapReduce used GFS for input and output, and BigTable later stored its files in GFS. GFS is also a useful first case study because it brings together four themes we will see repeatedly: parallel performance, fault tolerance, replication, and consistency.</a:t>
            </a:r>
          </a:p>
          <a:p>
            <a:endParaRPr lang="en-US" dirty="0"/>
          </a:p>
          <a:p>
            <a:r>
              <a:rPr lang="en-US" dirty="0"/>
              <a:t>Two pressures drive the design: one machine cannot provide enough capacity or throughput, and once data is spread across many machines, failures become routine.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Start with the first pressure: one machine cannot provide enough capacity or throughput.</a:t>
            </a:r>
          </a:p>
          <a:p>
            <a:endParaRPr dirty="0"/>
          </a:p>
          <a:p>
            <a:r>
              <a:rPr dirty="0"/>
              <a:t>Use the numbers on the slide as a scale estimate. A crawled copy of the web was on the order of hundreds of terabytes. At roughly 35 megabytes per second, one disk would take about four months just to scan 400 terabytes once. And the data would require roughly a thousand disks to store in the first place.</a:t>
            </a:r>
          </a:p>
          <a:p>
            <a:endParaRPr dirty="0"/>
          </a:p>
          <a:p>
            <a:r>
              <a:rPr dirty="0"/>
              <a:t>So one machine is not merely inconvenient; it cannot hold the data or process it at the required rate. The natural solution is sharding: split each large file into pieces and place those pieces across many machines. Now one file can be larger than any single disk, and many clients can read different pieces in parallel. Aggregate throughput grows with the number of disks and servers.</a:t>
            </a:r>
          </a:p>
          <a:p>
            <a:endParaRPr dirty="0"/>
          </a:p>
          <a:p>
            <a:r>
              <a:rPr dirty="0"/>
              <a:t>This decision solves the capacity and performance problem, but it creates the next problem. Once the system depends on hundreds or thousands of machines, some component will almost always be unavailable.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dirty="0"/>
              <a:t>That brings us to the second pressure. Once storage depends on hundreds or thousands of machines, failure becomes the normal operating condition.</a:t>
            </a:r>
          </a:p>
          <a:p>
            <a:endParaRPr dirty="0"/>
          </a:p>
          <a:p>
            <a:r>
              <a:rPr dirty="0"/>
              <a:t>Commodity machines provide much better performance per dollar, so Google built clusters from many ordinary servers and disks. More reliable hardware would reduce the failure rate, but it would not eliminate failures—and it would be far more expensive. Once the cluster contains a thousand machines and thousands of disks, even a small failure probability produces failures every day.</a:t>
            </a:r>
          </a:p>
          <a:p>
            <a:endParaRPr dirty="0"/>
          </a:p>
          <a:p>
            <a:r>
              <a:rPr dirty="0"/>
              <a:t>The operational examples make this concrete: rack failures can remove dozens of machines at once; individual machines and disks fail repeatedly; network maintenance and transient communication failures also make healthy machines appear unavailable.</a:t>
            </a:r>
          </a:p>
          <a:p>
            <a:endParaRPr dirty="0"/>
          </a:p>
          <a:p>
            <a:r>
              <a:rPr dirty="0"/>
              <a:t>Human repair cannot be part of the normal data-access path. The storage system must detect failures, keep serving data, and restore redundancy automatically. The standard technique is replication: keep several copies so that another copy remains available when one machine fails.</a:t>
            </a:r>
          </a:p>
          <a:p>
            <a:endParaRPr dirty="0"/>
          </a:p>
          <a:p>
            <a:r>
              <a:rPr dirty="0"/>
              <a:t>Replication gives us fault tolerance, but it also creates a new question: how do we keep those copies from disagreeing</a:t>
            </a:r>
            <a:r>
              <a:rPr lang="en-US"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59D2F-F719-1204-3BE4-5648B3224D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C7BD6E-9ED5-B0EB-2519-0B5A471E32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9AF431-6503-9F6E-44FB-746BDA533D73}"/>
              </a:ext>
            </a:extLst>
          </p:cNvPr>
          <p:cNvSpPr>
            <a:spLocks noGrp="1"/>
          </p:cNvSpPr>
          <p:nvPr>
            <p:ph type="body" idx="1"/>
          </p:nvPr>
        </p:nvSpPr>
        <p:spPr/>
        <p:txBody>
          <a:bodyPr/>
          <a:lstStyle/>
          <a:p>
            <a:r>
              <a:rPr lang="en-US" dirty="0"/>
              <a:t>Up to this point, performance has pushed us to spread the data across many servers, and failures have pushed us to replicate it. Now replication creates a new problem.</a:t>
            </a:r>
          </a:p>
          <a:p>
            <a:endParaRPr lang="en-US" dirty="0"/>
          </a:p>
          <a:p>
            <a:r>
              <a:rPr lang="en-US" dirty="0"/>
              <a:t>If we are not careful, the replicas get out of sync. What were supposed to be interchangeable copies become two almost identical copies, and the value a client reads depends on which server it contacts.</a:t>
            </a:r>
          </a:p>
          <a:p>
            <a:endParaRPr lang="en-US" dirty="0"/>
          </a:p>
          <a:p>
            <a:r>
              <a:rPr lang="en-US" dirty="0"/>
              <a:t>We can eliminate those inconsistencies with more careful coordination, but coordination requires extra work and extra communication among the servers and clients. That adds waiting and reduces performance.</a:t>
            </a:r>
          </a:p>
          <a:p>
            <a:endParaRPr lang="en-US" dirty="0"/>
          </a:p>
          <a:p>
            <a:r>
              <a:rPr lang="en-US" dirty="0"/>
              <a:t>So the argument comes full circle. We started by distributing the data to gain performance, but stronger consistency makes us give some of that performance back. GFS chooses a point in this tradeoff rather than paying the full cost of strict consistency.</a:t>
            </a:r>
          </a:p>
          <a:p>
            <a:endParaRPr lang="en-US" dirty="0"/>
          </a:p>
          <a:p>
            <a:r>
              <a:rPr lang="en-US" dirty="0"/>
              <a:t>SOURCE
MIT 6.824, Spring 2020, Lecture 3 transcript/video, 04:05–05:42.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E8FE7602-B30B-17D7-6742-4BE51445636D}"/>
              </a:ext>
            </a:extLst>
          </p:cNvPr>
          <p:cNvSpPr>
            <a:spLocks noGrp="1"/>
          </p:cNvSpPr>
          <p:nvPr>
            <p:ph type="sldNum" sz="quarter" idx="5"/>
          </p:nvPr>
        </p:nvSpPr>
        <p:spPr/>
        <p:txBody>
          <a:bodyPr/>
          <a:lstStyle/>
          <a:p>
            <a:fld id="{1C9584DC-3658-4054-9DA4-7B68A1D8CC6D}" type="slidenum">
              <a:rPr lang="zh-CN" altLang="en-US" smtClean="0"/>
              <a:t>8</a:t>
            </a:fld>
            <a:endParaRPr lang="zh-CN" altLang="en-US"/>
          </a:p>
        </p:txBody>
      </p:sp>
    </p:spTree>
    <p:extLst>
      <p:ext uri="{BB962C8B-B14F-4D97-AF65-F5344CB8AC3E}">
        <p14:creationId xmlns:p14="http://schemas.microsoft.com/office/powerpoint/2010/main" val="27754432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Replication leaves us with two questions that will organize the rest of this lecture.</a:t>
            </a:r>
          </a:p>
          <a:p>
            <a:endParaRPr lang="en-US" dirty="0"/>
          </a:p>
          <a:p>
            <a:r>
              <a:rPr lang="en-US" dirty="0"/>
              <a:t>The first is a correctness question. Once data is split and replicated across machines that can fail independently, what does it mean for the storage system to return the correct result? Different copies may receive requests at different times, and a client may reach a different copy after a failure. We need a clear model for deciding whether the behavior observed by the clients is still correct.</a:t>
            </a:r>
          </a:p>
          <a:p>
            <a:endParaRPr lang="en-US" dirty="0"/>
          </a:p>
          <a:p>
            <a:r>
              <a:rPr lang="en-US" dirty="0"/>
              <a:t>The second is a performance question. How much coordination do we need to obtain that behavior? If replicas must communicate and agree before every reply, each operation requires more messages and more waiting. A slow or unreachable replica may also delay the others.</a:t>
            </a:r>
          </a:p>
          <a:p>
            <a:endParaRPr lang="en-US" dirty="0"/>
          </a:p>
          <a:p>
            <a:r>
              <a:rPr lang="en-US" dirty="0"/>
              <a:t>These two questions create the central tradeoff. More coordination usually gives applications simpler behavior, but it costs latency, throughput, and sometimes availability during failures. GFS chooses guarantees that fit Google's workloads instead of paying the full cost of the strongest possible consistency.</a:t>
            </a:r>
          </a:p>
          <a:p>
            <a:endParaRPr lang="en-US" dirty="0"/>
          </a:p>
          <a:p>
            <a:r>
              <a:rPr lang="en-US" dirty="0"/>
              <a:t>To understand that choice, we first need a baseline: what behavior would one correct machine with one copy of the data provide?</a:t>
            </a:r>
          </a:p>
          <a:p>
            <a:endParaRPr lang="en-US" dirty="0"/>
          </a:p>
          <a:p>
            <a:r>
              <a:rPr lang="en-US" dirty="0"/>
              <a:t>SOURCE
MIT 6.824, Spring 2020, Lecture 3 transcript/video, 05:42–06:34.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9</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B540A-D8BB-3966-785D-AB106A801E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F815BF-B820-7F52-AC8F-55D4D4013E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3F7EF1-280E-6AA5-7965-A18D81B21B8E}"/>
              </a:ext>
            </a:extLst>
          </p:cNvPr>
          <p:cNvSpPr>
            <a:spLocks noGrp="1"/>
          </p:cNvSpPr>
          <p:nvPr>
            <p:ph type="body" idx="1"/>
          </p:nvPr>
        </p:nvSpPr>
        <p:spPr/>
        <p:txBody>
          <a:bodyPr/>
          <a:lstStyle/>
          <a:p>
            <a:r>
              <a:rPr lang="en-US" dirty="0"/>
              <a:t>From the application's point of view, the ideal distributed storage system behaves like one correct machine with one copy of the data. The implementation may contain hundreds of machines and several replicas, but those internal details should not change the behavior that clients observe.</a:t>
            </a:r>
          </a:p>
          <a:p>
            <a:endParaRPr lang="en-US" dirty="0"/>
          </a:p>
          <a:p>
            <a:r>
              <a:rPr lang="en-US" dirty="0"/>
              <a:t>Imagine that this one machine is single-threaded. Many clients may send requests concurrently, but the machine performs only one operation at a time. It chooses one request, runs it to completion, and then starts the next request. Every operation therefore has a position in one single order.</a:t>
            </a:r>
          </a:p>
          <a:p>
            <a:endParaRPr lang="en-US" dirty="0"/>
          </a:p>
          <a:p>
            <a:r>
              <a:rPr lang="en-US" dirty="0"/>
              <a:t>If the operation is a write, it updates the machine's state. If the operation is a read, it returns a value that reflects all the writes that came before it in that order. Concurrent requests still have to be ordered, but we may not know that order in advance. The machine is allowed to choose either concurrent request first. Once it chooses, all later results must remain consistent with that choice.</a:t>
            </a:r>
          </a:p>
          <a:p>
            <a:endParaRPr lang="en-US" dirty="0"/>
          </a:p>
          <a:p>
            <a:r>
              <a:rPr lang="en-US" dirty="0"/>
              <a:t>That gives us the test shown at the bottom of the slide: could one correct machine, executing one request at a time, have produced everything the clients observed? We do not require one predetermined result for concurrent requests. We require that all the results fit one possible sequential order.</a:t>
            </a:r>
          </a:p>
          <a:p>
            <a:endParaRPr lang="en-US" dirty="0"/>
          </a:p>
          <a:p>
            <a:r>
              <a:rPr lang="en-US" dirty="0"/>
              <a:t>Now suppose two clients write the same key at the same time.</a:t>
            </a:r>
          </a:p>
          <a:p>
            <a:endParaRPr lang="en-US" dirty="0"/>
          </a:p>
          <a:p>
            <a:r>
              <a:rPr lang="en-US" dirty="0"/>
              <a:t>SOURCE
MIT 6.824, Spring 2020, Lecture 3 transcript/video, 05:42–08:11.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75E36274-B2B6-8B11-AF55-DA5CB0EF4B0B}"/>
              </a:ext>
            </a:extLst>
          </p:cNvPr>
          <p:cNvSpPr>
            <a:spLocks noGrp="1"/>
          </p:cNvSpPr>
          <p:nvPr>
            <p:ph type="sldNum" sz="quarter" idx="5"/>
          </p:nvPr>
        </p:nvSpPr>
        <p:spPr/>
        <p:txBody>
          <a:bodyPr/>
          <a:lstStyle/>
          <a:p>
            <a:fld id="{1C9584DC-3658-4054-9DA4-7B68A1D8CC6D}" type="slidenum">
              <a:rPr lang="zh-CN" altLang="en-US" smtClean="0"/>
              <a:t>10</a:t>
            </a:fld>
            <a:endParaRPr lang="zh-CN" altLang="en-US"/>
          </a:p>
        </p:txBody>
      </p:sp>
    </p:spTree>
    <p:extLst>
      <p:ext uri="{BB962C8B-B14F-4D97-AF65-F5344CB8AC3E}">
        <p14:creationId xmlns:p14="http://schemas.microsoft.com/office/powerpoint/2010/main" val="9912003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rPr lang="en-US" dirty="0"/>
              <a:t>Client 1 writes x equals 1, and client 2 writes x equals 2 at the same time. After both writes have completed, client 3 and client 4 each read x. What are the two readers allowed to see?</a:t>
            </a:r>
          </a:p>
          <a:p>
            <a:endParaRPr lang="en-US" dirty="0"/>
          </a:p>
          <a:p>
            <a:r>
              <a:rPr lang="en-US" dirty="0"/>
              <a:t>There is not enough information to say which write the machine processed first. Because the two writes overlap, either order is legal. If the machine executes the write of 2 and then the write of 1, the final value is 1, so both readers may return 1. If it executes the write of 1 and then the write of 2, the final value is 2, so both readers may return 2.</a:t>
            </a:r>
          </a:p>
          <a:p>
            <a:endParaRPr lang="en-US" dirty="0"/>
          </a:p>
          <a:p>
            <a:r>
              <a:rPr lang="en-US" dirty="0"/>
              <a:t>Those are the first two outcomes on the slide. Strong consistency does not promise which concurrent write wins. It promises that every result can be explained by one order chosen by the machine.</a:t>
            </a:r>
          </a:p>
          <a:p>
            <a:endParaRPr lang="en-US" dirty="0"/>
          </a:p>
          <a:p>
            <a:r>
              <a:rPr lang="en-US" dirty="0"/>
              <a:t>The third outcome is not allowed. If client 3 reads 1 while client 4 reads 2 after both writes have finished, the two observations cannot fit the same final order. One of the writes must be last, and without another intervening write, both later readers should see the value produced by that same last write.</a:t>
            </a:r>
          </a:p>
          <a:p>
            <a:endParaRPr lang="en-US" dirty="0"/>
          </a:p>
          <a:p>
            <a:r>
              <a:rPr lang="en-US" dirty="0"/>
              <a:t>So consistency is not a claim that one particular value must come back. It is a claim that everything the clients observed can be explained by one coherent order.</a:t>
            </a:r>
          </a:p>
          <a:p>
            <a:endParaRPr lang="en-US" dirty="0"/>
          </a:p>
          <a:p>
            <a:r>
              <a:rPr lang="en-US" dirty="0"/>
              <a:t>With one machine, choosing one order comes naturally. But one machine cannot survive a machine or disk failure. Once we keep multiple copies, those copies must somehow preserve the same order. That is where replication becomes difficult.</a:t>
            </a:r>
          </a:p>
          <a:p>
            <a:endParaRPr lang="en-US" dirty="0"/>
          </a:p>
          <a:p>
            <a:r>
              <a:rPr lang="en-US" dirty="0"/>
              <a:t>SOURCE
MIT 6.824, Spring 2020, Lecture 3 transcript/video, 08:11–10:47.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11</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450EEB-B394-3283-2DDC-B7F0C207D0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74923A-04FA-794B-CEF8-2F698F2431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1E1D79-29DC-217E-E030-155A14798152}"/>
              </a:ext>
            </a:extLst>
          </p:cNvPr>
          <p:cNvSpPr>
            <a:spLocks noGrp="1"/>
          </p:cNvSpPr>
          <p:nvPr>
            <p:ph type="body" idx="1"/>
          </p:nvPr>
        </p:nvSpPr>
        <p:spPr/>
        <p:txBody>
          <a:bodyPr/>
          <a:lstStyle/>
          <a:p>
            <a:r>
              <a:rPr lang="en-US" dirty="0"/>
              <a:t>The simplest way to add fault tolerance is to keep two complete copies of the data. If either server fails, the other server still has a copy and can continue serving clients.</a:t>
            </a:r>
          </a:p>
          <a:p>
            <a:endParaRPr lang="en-US" dirty="0"/>
          </a:p>
          <a:p>
            <a:r>
              <a:rPr lang="en-US" dirty="0"/>
              <a:t>That goal gives us two requirements. Every write must eventually reach both servers, so their copies remain up to date. But a read must be able to use either server by itself. If every read had to consult both servers, then losing one server would still make the system unavailable, and replication would not have solved the failure problem.</a:t>
            </a:r>
          </a:p>
          <a:p>
            <a:endParaRPr lang="en-US" dirty="0"/>
          </a:p>
          <a:p>
            <a:r>
              <a:rPr lang="en-US" dirty="0"/>
              <a:t>The obvious protocol is for the client to send each update to both replicas. Each server applies the update to its own copy when the request arrives. If the two servers begin with the same data and receive the same updates, this initially sounds sufficient to keep them identical.</a:t>
            </a:r>
          </a:p>
          <a:p>
            <a:endParaRPr lang="en-US" dirty="0"/>
          </a:p>
          <a:p>
            <a:r>
              <a:rPr lang="en-US" dirty="0"/>
              <a:t>The protocol is missing one rule: it never says that the two servers must apply concurrent updates in the same order. Each server simply follows the order in which messages happen to arrive over the network. With one writer, that may be enough. With two clients writing concurrently, the arrival orders can differ, and the two copies can diverge even though neither server has failed.</a:t>
            </a:r>
          </a:p>
          <a:p>
            <a:endParaRPr lang="en-US" dirty="0"/>
          </a:p>
          <a:p>
            <a:r>
              <a:rPr lang="en-US" dirty="0"/>
              <a:t>SOURCE
MIT 6.824, Spring 2020, Lecture 3 transcript/video, 10:47–12:29.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0D40CE49-9A34-9E91-C24C-2735EB541585}"/>
              </a:ext>
            </a:extLst>
          </p:cNvPr>
          <p:cNvSpPr>
            <a:spLocks noGrp="1"/>
          </p:cNvSpPr>
          <p:nvPr>
            <p:ph type="sldNum" sz="quarter" idx="5"/>
          </p:nvPr>
        </p:nvSpPr>
        <p:spPr/>
        <p:txBody>
          <a:bodyPr/>
          <a:lstStyle/>
          <a:p>
            <a:fld id="{1C9584DC-3658-4054-9DA4-7B68A1D8CC6D}" type="slidenum">
              <a:rPr lang="zh-CN" altLang="en-US" smtClean="0"/>
              <a:t>12</a:t>
            </a:fld>
            <a:endParaRPr lang="zh-CN" altLang="en-US"/>
          </a:p>
        </p:txBody>
      </p:sp>
    </p:spTree>
    <p:extLst>
      <p:ext uri="{BB962C8B-B14F-4D97-AF65-F5344CB8AC3E}">
        <p14:creationId xmlns:p14="http://schemas.microsoft.com/office/powerpoint/2010/main" val="5954971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rPr lang="en-US" dirty="0"/>
              <a:t>Now client 1 writes x equals 1, and client 2 writes x equals 2. Each client sends its write to both servers because both replicas are supposed to contain the complete data.</a:t>
            </a:r>
          </a:p>
          <a:p>
            <a:endParaRPr lang="en-US" dirty="0"/>
          </a:p>
          <a:p>
            <a:r>
              <a:rPr lang="en-US" dirty="0"/>
              <a:t>The network does not promise to deliver those messages in the same order. Suppose server 1 receives client 1's write first and client 2's write second. It sets x to 1 and then overwrites it with 2, so server 1 ends with x equal to 2.</a:t>
            </a:r>
          </a:p>
          <a:p>
            <a:endParaRPr lang="en-US" dirty="0"/>
          </a:p>
          <a:p>
            <a:r>
              <a:rPr lang="en-US" dirty="0"/>
              <a:t>Server 2 may receive the same two requests in the opposite order. It sets x to 2 and then overwrites it with 1, so server 2 ends with x equal to 1.</a:t>
            </a:r>
          </a:p>
          <a:p>
            <a:endParaRPr lang="en-US" dirty="0"/>
          </a:p>
          <a:p>
            <a:r>
              <a:rPr lang="en-US" dirty="0"/>
              <a:t>Notice that neither server behaved incorrectly by itself. Each one processed one request at a time, and each one chose a legal order for two concurrent writes. The failure is that they chose different orders. The replicated system no longer behaves like one logical machine.</a:t>
            </a:r>
          </a:p>
          <a:p>
            <a:endParaRPr lang="en-US" dirty="0"/>
          </a:p>
          <a:p>
            <a:r>
              <a:rPr lang="en-US" dirty="0"/>
              <a:t>A client reading from server 1 now receives 2, while a client reading from server 2 receives 1. Those results cannot both be explained by one final write order. The replicas were meant to be interchangeable, but the answer now depends on which replica the client happens to contact.</a:t>
            </a:r>
          </a:p>
          <a:p>
            <a:endParaRPr lang="en-US" dirty="0"/>
          </a:p>
          <a:p>
            <a:r>
              <a:rPr lang="en-US" dirty="0"/>
              <a:t>A natural response is to stop reading from arbitrary replicas and always read from one designated server. That makes the disagreement harder to see, but it does not make the copies agree.</a:t>
            </a:r>
          </a:p>
          <a:p>
            <a:endParaRPr lang="en-US" dirty="0"/>
          </a:p>
          <a:p>
            <a:r>
              <a:rPr lang="en-US" dirty="0"/>
              <a:t>SOURCE
MIT 6.824, Spring 2020, Lecture 3 transcript/video, 12:29–13:18.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13</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rPr lang="en-US" dirty="0"/>
              <a:t>Suppose every client reads from server 1 while it is available and uses server 2 only as a backup. Server 1 contains 2 and server 2 contains 1, but while server 1 is running, every reader sees 2. The system appears consistent because the disagreement is hidden.</a:t>
            </a:r>
          </a:p>
          <a:p>
            <a:endParaRPr lang="en-US" dirty="0"/>
          </a:p>
          <a:p>
            <a:r>
              <a:rPr lang="en-US" dirty="0"/>
              <a:t>Now server 1 fails. The clients fall back to server 2, and the visible value becomes 1. No client wrote x between those reads. The value changed from 2 back to 1 only because the system switched replicas.</a:t>
            </a:r>
          </a:p>
          <a:p>
            <a:endParaRPr lang="en-US" dirty="0"/>
          </a:p>
          <a:p>
            <a:r>
              <a:rPr lang="en-US" dirty="0"/>
              <a:t>This cannot be explained by the one-machine model. A correct machine that performs one request at a time changes a stored value only when some operation changes it. Here the clients observe a change that corresponds to no write at all.</a:t>
            </a:r>
          </a:p>
          <a:p>
            <a:endParaRPr lang="en-US" dirty="0"/>
          </a:p>
          <a:p>
            <a:r>
              <a:rPr lang="en-US" dirty="0"/>
              <a:t>Always reading from one designated server therefore hides divergence instead of repairing it. The stale copy remains in the system, and the disagreement becomes visible at exactly the moment when the preferred server fails.</a:t>
            </a:r>
          </a:p>
          <a:p>
            <a:endParaRPr lang="en-US" dirty="0"/>
          </a:p>
          <a:p>
            <a:r>
              <a:rPr lang="en-US" dirty="0"/>
              <a:t>Preventing this behavior requires the replicas to agree on one order before the system treats a write as complete. That agreement requires communication between the servers, a protocol for deciding the order, and additional waiting before the client receives a reply. Consistency can be improved, but the coordination has a cost.</a:t>
            </a:r>
          </a:p>
          <a:p>
            <a:endParaRPr lang="en-US" dirty="0"/>
          </a:p>
          <a:p>
            <a:r>
              <a:rPr lang="en-US" dirty="0"/>
              <a:t>SOURCE
MIT 6.824, Spring 2020, Lecture 3 transcript/video, 13:18–14:54.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14</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rPr lang="en-US" dirty="0"/>
              <a:t>The two failures we just saw have the same root cause: the replicas were allowed to diverge. In the first case, the two servers applied concurrent writes in different orders. In the second case, always reading from server 1 merely hid that disagreement until server 1 failed. A real fix cannot simply choose which copy to read. It has to prevent the copies from diverging.</a:t>
            </a:r>
          </a:p>
          <a:p>
            <a:endParaRPr lang="en-US" dirty="0"/>
          </a:p>
          <a:p>
            <a:r>
              <a:rPr lang="en-US" dirty="0"/>
              <a:t>That is possible, but it is not free. The servers need to exchange more messages and run a more complicated protocol so that they agree on one order. A write may also have to wait for that agreement before the system can report success to the client. The extra communication and waiting reduce performance.</a:t>
            </a:r>
          </a:p>
          <a:p>
            <a:endParaRPr lang="en-US" dirty="0"/>
          </a:p>
          <a:p>
            <a:r>
              <a:rPr lang="en-US" dirty="0"/>
              <a:t>Once we recognize that cost, there is no single obvious design. A system can coordinate more and provide behavior closer to one correct machine, or coordinate less and expose more anomalies that applications must handle.</a:t>
            </a:r>
          </a:p>
          <a:p>
            <a:endParaRPr lang="en-US" dirty="0"/>
          </a:p>
          <a:p>
            <a:r>
              <a:rPr lang="en-US" dirty="0"/>
              <a:t>GFS deliberately chooses a point in that range. Its behavior is much better than the naive replication scheme, but it does not pay the full cost of perfect consistency. The rest of the lecture explains what guarantees GFS provides and why those guarantees were a reasonable match for Google's workloads.</a:t>
            </a:r>
          </a:p>
          <a:p>
            <a:endParaRPr lang="en-US" dirty="0"/>
          </a:p>
          <a:p>
            <a:r>
              <a:rPr lang="en-US" dirty="0"/>
              <a:t>SOURCE
MIT 6.824, Spring 2020, Lecture 3 transcript/video, 14:07–15:00.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15</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r>
              <a:rPr lang="en-US" dirty="0"/>
              <a:t>That choice is the subject of The Google File System, published at SOSP in 2003 by Sanjay Ghemawat, Howard Gobioff, and Shun-Tak Leung.</a:t>
            </a:r>
          </a:p>
          <a:p>
            <a:endParaRPr lang="en-US" dirty="0"/>
          </a:p>
          <a:p>
            <a:r>
              <a:rPr lang="en-US" dirty="0"/>
              <a:t>The date matters. Distributed-systems research had already developed many ideas for parallelism and fault tolerance, but few companies had deployed them at the scale that large web services were beginning to require. GFS records the point when those ideas became day-to-day production infrastructure.</a:t>
            </a:r>
          </a:p>
          <a:p>
            <a:endParaRPr lang="en-US" dirty="0"/>
          </a:p>
          <a:p>
            <a:r>
              <a:rPr lang="en-US" dirty="0"/>
              <a:t>The mechanisms are important, but the paper is best read as a complete design built around one environment. We will keep asking how Google's workload, hardware, and application requirements made each choice reasonable.</a:t>
            </a:r>
          </a:p>
          <a:p>
            <a:endParaRPr lang="en-US" dirty="0"/>
          </a:p>
          <a:p>
            <a:r>
              <a:rPr lang="en-US" dirty="0"/>
              <a:t>SOURCE
MIT 6.824, Spring 2020, Lecture 3 transcript/video, 14:54–15:43.
Local transcript: fall2026/lectures/references/mit-6824-2020-lecture3-gfs-transcript.txt
https://www.youtube.com/watch?v=EpIgvowZr00
Ghemawat, Gobioff, and Leung, The Google File System, 2003.
https://pdos.csail.mit.edu/6.824/papers/gfs.pdf</a:t>
            </a:r>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16</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85D24-230C-6270-6214-3E867A2550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553026-D75E-0E0C-F4A0-B2BFCACF24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C0A957-8562-1954-5E3F-EBB74140409F}"/>
              </a:ext>
            </a:extLst>
          </p:cNvPr>
          <p:cNvSpPr>
            <a:spLocks noGrp="1"/>
          </p:cNvSpPr>
          <p:nvPr>
            <p:ph type="body" idx="1"/>
          </p:nvPr>
        </p:nvSpPr>
        <p:spPr/>
        <p:txBody>
          <a:bodyPr/>
          <a:lstStyle/>
          <a:p>
            <a:r>
              <a:rPr lang="en-US" dirty="0"/>
              <a:t>So far, we have examined the pieces separately: sharding for throughput, replication for failures, and coordination for consistency. GFS is useful because it shows how those pieces interact inside one complete system.</a:t>
            </a:r>
          </a:p>
          <a:p>
            <a:endParaRPr lang="en-US" dirty="0"/>
          </a:p>
          <a:p>
            <a:r>
              <a:rPr lang="en-US" dirty="0"/>
              <a:t>The paper connects decisions across several levels. It begins with the applications and their workload. Those requirements determine the file-system interface, the division of work between the master and chunkservers, the replication protocol, and the way data moves through the network. We can follow a requirement at the top of the stack down to a concrete mechanism and its cost.</a:t>
            </a:r>
          </a:p>
          <a:p>
            <a:endParaRPr lang="en-US" dirty="0"/>
          </a:p>
          <a:p>
            <a:r>
              <a:rPr lang="en-US" dirty="0"/>
              <a:t>GFS also gives us production evidence. Google deployed it at large scale and used it for years, so the paper can discuss the failures and operational problems that appeared in practice. That lets us judge the design by the applications it actually supported, while keeping the original workload assumptions in view.</a:t>
            </a:r>
          </a:p>
          <a:p>
            <a:endParaRPr lang="en-US" dirty="0"/>
          </a:p>
          <a:p>
            <a:r>
              <a:rPr lang="en-US" dirty="0"/>
              <a:t>This is why the paper works well as a case study: it presents an end-to-end design and enough real experience to evaluate the tradeoffs.</a:t>
            </a:r>
          </a:p>
          <a:p>
            <a:endParaRPr lang="en-US" dirty="0"/>
          </a:p>
          <a:p>
            <a:r>
              <a:rPr lang="en-US" dirty="0"/>
              <a:t>SOURCE
MIT 6.824, Spring 2020, Lecture 3 transcript/video, 00:50–01:38 and 14:54–15:43.
Local transcript: fall2026/lectures/references/mit-6824-2020-lecture3-gfs-transcript.txt
https://www.youtube.com/watch?v=EpIgvowZr00
Ghemawat, Gobioff, and Leung, The Google File System, Sections 1, 2, and 6.
https://pdos.csail.mit.edu/6.824/papers/gfs.pdf</a:t>
            </a:r>
          </a:p>
        </p:txBody>
      </p:sp>
      <p:sp>
        <p:nvSpPr>
          <p:cNvPr id="4" name="Slide Number Placeholder 3">
            <a:extLst>
              <a:ext uri="{FF2B5EF4-FFF2-40B4-BE49-F238E27FC236}">
                <a16:creationId xmlns:a16="http://schemas.microsoft.com/office/drawing/2014/main" id="{2069476A-DD91-FBC3-1B32-A751589B309A}"/>
              </a:ext>
            </a:extLst>
          </p:cNvPr>
          <p:cNvSpPr>
            <a:spLocks noGrp="1"/>
          </p:cNvSpPr>
          <p:nvPr>
            <p:ph type="sldNum" sz="quarter" idx="5"/>
          </p:nvPr>
        </p:nvSpPr>
        <p:spPr/>
        <p:txBody>
          <a:bodyPr/>
          <a:lstStyle/>
          <a:p>
            <a:fld id="{1C9584DC-3658-4054-9DA4-7B68A1D8CC6D}" type="slidenum">
              <a:rPr lang="zh-CN" altLang="en-US" smtClean="0"/>
              <a:t>17</a:t>
            </a:fld>
            <a:endParaRPr lang="zh-CN" altLang="en-US"/>
          </a:p>
        </p:txBody>
      </p:sp>
    </p:spTree>
    <p:extLst>
      <p:ext uri="{BB962C8B-B14F-4D97-AF65-F5344CB8AC3E}">
        <p14:creationId xmlns:p14="http://schemas.microsoft.com/office/powerpoint/2010/main" val="326549746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1FD1D-D796-6965-8901-BA28B6A8BA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12E15F-18CD-384C-E084-D1E9DB5B5B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F1B6B6-B262-EC97-7AB4-2A2F0F304C97}"/>
              </a:ext>
            </a:extLst>
          </p:cNvPr>
          <p:cNvSpPr>
            <a:spLocks noGrp="1"/>
          </p:cNvSpPr>
          <p:nvPr>
            <p:ph type="body" idx="1"/>
          </p:nvPr>
        </p:nvSpPr>
        <p:spPr/>
        <p:txBody>
          <a:bodyPr/>
          <a:lstStyle/>
          <a:p>
            <a:r>
              <a:rPr lang="en-US" dirty="0"/>
              <a:t>The scale and failure problems from the first part of the lecture now become three concrete requirements for GFS.</a:t>
            </a:r>
          </a:p>
          <a:p>
            <a:endParaRPr lang="en-US" dirty="0"/>
          </a:p>
          <a:p>
            <a:r>
              <a:rPr lang="en-US" dirty="0"/>
              <a:t>First, Google needed one storage system that was big and fast enough for many services, including web crawling, search-index construction, server-log analysis, MapReduce jobs, and later video. Instead of building a separate storage system for each application, GFS provides one shared file system. It divides files into chunks and distributes them across servers, so capacity and parallel throughput grow with the cluster.</a:t>
            </a:r>
          </a:p>
          <a:p>
            <a:endParaRPr lang="en-US" dirty="0"/>
          </a:p>
          <a:p>
            <a:r>
              <a:rPr lang="en-US" dirty="0"/>
              <a:t>Second, the file system had to be global within one data center. Different applications can name and read the same files. A crawler can produce a data set, and an indexing job can consume it directly without copying the data into a separate storage silo.</a:t>
            </a:r>
          </a:p>
          <a:p>
            <a:endParaRPr lang="en-US" dirty="0"/>
          </a:p>
          <a:p>
            <a:r>
              <a:rPr lang="en-US" dirty="0"/>
              <a:t>Third, management had to be automatic. GFS places chunks, detects lost replicas, and creates new replicas when machines or disks fail. The applications should continue using files without an operator repairing each failure by hand.</a:t>
            </a:r>
          </a:p>
          <a:p>
            <a:endParaRPr lang="en-US" dirty="0"/>
          </a:p>
          <a:p>
            <a:r>
              <a:rPr lang="en-US" dirty="0"/>
              <a:t>The HDFS demo shows these requirements in a small cluster: one shared namespace, a large file divided into blocks across several servers, and automatic reconstruction after a server fails.</a:t>
            </a:r>
          </a:p>
          <a:p>
            <a:endParaRPr lang="en-US" dirty="0"/>
          </a:p>
          <a:p>
            <a:r>
              <a:rPr lang="en-US" dirty="0"/>
              <a:t>SOURCE
MIT 6.824, Spring 2020, Lecture 3 transcript/video, 15:43–18:55.
Local transcript: fall2026/lectures/references/mit-6824-2020-lecture3-gfs-transcript.txt
https://www.youtube.com/watch?v=EpIgvowZr00
Ghemawat, Gobioff, and Leung, The Google File System, Sections 1, 2.1, and 2.3.
https://pdos.csail.mit.edu/6.824/papers/gfs.pdf</a:t>
            </a:r>
          </a:p>
        </p:txBody>
      </p:sp>
      <p:sp>
        <p:nvSpPr>
          <p:cNvPr id="4" name="Slide Number Placeholder 3">
            <a:extLst>
              <a:ext uri="{FF2B5EF4-FFF2-40B4-BE49-F238E27FC236}">
                <a16:creationId xmlns:a16="http://schemas.microsoft.com/office/drawing/2014/main" id="{9CD163E9-153E-1ED7-2B1D-97200CB2C836}"/>
              </a:ext>
            </a:extLst>
          </p:cNvPr>
          <p:cNvSpPr>
            <a:spLocks noGrp="1"/>
          </p:cNvSpPr>
          <p:nvPr>
            <p:ph type="sldNum" sz="quarter" idx="5"/>
          </p:nvPr>
        </p:nvSpPr>
        <p:spPr/>
        <p:txBody>
          <a:bodyPr/>
          <a:lstStyle/>
          <a:p>
            <a:fld id="{1C9584DC-3658-4054-9DA4-7B68A1D8CC6D}" type="slidenum">
              <a:rPr lang="zh-CN" altLang="en-US" smtClean="0"/>
              <a:t>18</a:t>
            </a:fld>
            <a:endParaRPr lang="zh-CN" altLang="en-US"/>
          </a:p>
        </p:txBody>
      </p:sp>
    </p:spTree>
    <p:extLst>
      <p:ext uri="{BB962C8B-B14F-4D97-AF65-F5344CB8AC3E}">
        <p14:creationId xmlns:p14="http://schemas.microsoft.com/office/powerpoint/2010/main" val="194348299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TERMINAL</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19</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707305-DF4E-A6F8-F2A2-17B8D7640F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C5DA89-110B-F02F-D7AE-1E3FA01AED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0A9E07-475C-1777-8D7B-534AC6D8ADEF}"/>
              </a:ext>
            </a:extLst>
          </p:cNvPr>
          <p:cNvSpPr>
            <a:spLocks noGrp="1"/>
          </p:cNvSpPr>
          <p:nvPr>
            <p:ph type="body" idx="1"/>
          </p:nvPr>
        </p:nvSpPr>
        <p:spPr/>
        <p:txBody>
          <a:bodyPr/>
          <a:lstStyle/>
          <a:p>
            <a:r>
              <a:rPr lang="en-US" dirty="0"/>
              <a:t>The demo showed the mechanisms at a small scale. Those mechanisms make sense because GFS serves a deliberately specialized environment rather than every possible storage workload.</a:t>
            </a:r>
          </a:p>
          <a:p>
            <a:endParaRPr lang="en-US" dirty="0"/>
          </a:p>
          <a:p>
            <a:r>
              <a:rPr lang="en-US" dirty="0"/>
              <a:t>One GFS deployment lives inside a single data center. It does not try to keep replicas synchronized across distant sites with wide-area delays and network partitions. It is also an internal service for Google applications. Because Google controls both the storage system and most of its clients, application developers can understand the guarantees and adapt their data formats when necessary.</a:t>
            </a:r>
          </a:p>
          <a:p>
            <a:endParaRPr lang="en-US" dirty="0"/>
          </a:p>
          <a:p>
            <a:r>
              <a:rPr lang="en-US" dirty="0"/>
              <a:t>The expected workload is dominated by very large files. Reads are usually long sequential streams, with some small random reads. Writes are mainly large sequential appends, including cases where many clients append to the same file. Small writes at arbitrary offsets are possible, but they are not the design center.</a:t>
            </a:r>
          </a:p>
          <a:p>
            <a:endParaRPr lang="en-US" dirty="0"/>
          </a:p>
          <a:p>
            <a:r>
              <a:rPr lang="en-US" dirty="0"/>
              <a:t>This workload values aggregate throughput more than the response time of one tiny operation. A database holding bank-account records needs fast random updates and strong transactional behavior. GFS was designed for crawls, indexes, logs, and batch-processing pipelines.</a:t>
            </a:r>
          </a:p>
          <a:p>
            <a:endParaRPr lang="en-US" dirty="0"/>
          </a:p>
          <a:p>
            <a:r>
              <a:rPr lang="en-US" dirty="0"/>
              <a:t>These assumptions provide design freedom. GFS can optimize the operations Google performs constantly and accept weaker behavior in cases its applications can detect, retry, or avoid.</a:t>
            </a:r>
          </a:p>
          <a:p>
            <a:endParaRPr lang="en-US" dirty="0"/>
          </a:p>
          <a:p>
            <a:r>
              <a:rPr lang="en-US" dirty="0"/>
              <a:t>SOURCE
MIT 6.824, Spring 2020, Lecture 3 transcript/video, 18:07–20:39.
Local transcript: fall2026/lectures/references/mit-6824-2020-lecture3-gfs-transcript.txt
https://www.youtube.com/watch?v=EpIgvowZr00
Ghemawat, Gobioff, and Leung, The Google File System, Sections 1 and 2.1.
https://pdos.csail.mit.edu/6.824/papers/gfs.pdf</a:t>
            </a:r>
          </a:p>
        </p:txBody>
      </p:sp>
      <p:sp>
        <p:nvSpPr>
          <p:cNvPr id="4" name="Slide Number Placeholder 3">
            <a:extLst>
              <a:ext uri="{FF2B5EF4-FFF2-40B4-BE49-F238E27FC236}">
                <a16:creationId xmlns:a16="http://schemas.microsoft.com/office/drawing/2014/main" id="{42ECC76C-7CE7-C58A-1EBE-1940C2ECA583}"/>
              </a:ext>
            </a:extLst>
          </p:cNvPr>
          <p:cNvSpPr>
            <a:spLocks noGrp="1"/>
          </p:cNvSpPr>
          <p:nvPr>
            <p:ph type="sldNum" sz="quarter" idx="5"/>
          </p:nvPr>
        </p:nvSpPr>
        <p:spPr/>
        <p:txBody>
          <a:bodyPr/>
          <a:lstStyle/>
          <a:p>
            <a:fld id="{1C9584DC-3658-4054-9DA4-7B68A1D8CC6D}" type="slidenum">
              <a:rPr lang="zh-CN" altLang="en-US" smtClean="0"/>
              <a:t>20</a:t>
            </a:fld>
            <a:endParaRPr lang="zh-CN" altLang="en-US"/>
          </a:p>
        </p:txBody>
      </p:sp>
    </p:spTree>
    <p:extLst>
      <p:ext uri="{BB962C8B-B14F-4D97-AF65-F5344CB8AC3E}">
        <p14:creationId xmlns:p14="http://schemas.microsoft.com/office/powerpoint/2010/main" val="184823719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96688-AA5D-D826-C009-5CF1269C9D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4AC404-2431-6075-00E3-3EA2F32026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824043-9947-20E7-F01F-B8DFFD74B736}"/>
              </a:ext>
            </a:extLst>
          </p:cNvPr>
          <p:cNvSpPr>
            <a:spLocks noGrp="1"/>
          </p:cNvSpPr>
          <p:nvPr>
            <p:ph type="body" idx="1"/>
          </p:nvPr>
        </p:nvSpPr>
        <p:spPr/>
        <p:txBody>
          <a:bodyPr/>
          <a:lstStyle/>
          <a:p>
            <a:r>
              <a:rPr lang="en-US" dirty="0"/>
              <a:t>Given those assumptions, what did the paper contribute? Distribution, sharding, replication, and fault tolerance were already established ideas in 2003. The research contribution was the way GFS combined them into a complete system and the evidence that the resulting design worked at production scale.</a:t>
            </a:r>
          </a:p>
          <a:p>
            <a:endParaRPr lang="en-US" dirty="0"/>
          </a:p>
          <a:p>
            <a:r>
              <a:rPr lang="en-US" dirty="0"/>
              <a:t>The first contribution is that operational evidence. Google needed the system to survive real failures, support real applications, and remain economical on commodity hardware. The paper reports experience from a deployed system rather than results from a small prototype.</a:t>
            </a:r>
          </a:p>
          <a:p>
            <a:endParaRPr lang="en-US" dirty="0"/>
          </a:p>
          <a:p>
            <a:r>
              <a:rPr lang="en-US" dirty="0"/>
              <a:t>The second contribution is the successful use of relaxed consistency. GFS accepts some anomalous results when avoiding them would require more coordination. That choice fits data such as a search index, where one missing result may go unnoticed. It does not fit data such as ad billing, where every recorded impression affects money. Applications can also protect themselves by attaching checksums and marking record boundaries, allowing readers to detect corruption or incomplete records.</a:t>
            </a:r>
          </a:p>
          <a:p>
            <a:endParaRPr lang="en-US" dirty="0"/>
          </a:p>
          <a:p>
            <a:r>
              <a:rPr lang="en-US" dirty="0"/>
              <a:t>The third contribution is the successful use of one master for metadata. Centralizing metadata makes namespace and placement decisions simpler. The clients still transfer file data directly to chunkservers, so the master does not carry the system's data bandwidth. The choice was surprising in an academic system, and the production experience showed that it worked for the original workload.</a:t>
            </a:r>
          </a:p>
          <a:p>
            <a:endParaRPr lang="en-US" dirty="0"/>
          </a:p>
          <a:p>
            <a:r>
              <a:rPr lang="en-US" dirty="0"/>
              <a:t>With the goals, assumptions, and contributions established, we can now examine that master-and-chunkserver architecture in detail.</a:t>
            </a:r>
          </a:p>
          <a:p>
            <a:endParaRPr lang="en-US" dirty="0"/>
          </a:p>
          <a:p>
            <a:r>
              <a:rPr lang="en-US" dirty="0"/>
              <a:t>SOURCE
MIT 6.824, Spring 2020, Lecture 3 transcript/video, 20:39–23:59.
Local transcript: fall2026/lectures/references/mit-6824-2020-lecture3-gfs-transcript.txt
https://www.youtube.com/watch?v=EpIgvowZr00
Ghemawat, Gobioff, and Leung, The Google File System, Sections 1, 2.3, 2.4, 2.7, and 6.
https://pdos.csail.mit.edu/6.824/papers/gfs.pdf</a:t>
            </a:r>
          </a:p>
        </p:txBody>
      </p:sp>
      <p:sp>
        <p:nvSpPr>
          <p:cNvPr id="4" name="Slide Number Placeholder 3">
            <a:extLst>
              <a:ext uri="{FF2B5EF4-FFF2-40B4-BE49-F238E27FC236}">
                <a16:creationId xmlns:a16="http://schemas.microsoft.com/office/drawing/2014/main" id="{B46CE21D-8478-5098-7773-3E65E0798B0F}"/>
              </a:ext>
            </a:extLst>
          </p:cNvPr>
          <p:cNvSpPr>
            <a:spLocks noGrp="1"/>
          </p:cNvSpPr>
          <p:nvPr>
            <p:ph type="sldNum" sz="quarter" idx="5"/>
          </p:nvPr>
        </p:nvSpPr>
        <p:spPr/>
        <p:txBody>
          <a:bodyPr/>
          <a:lstStyle/>
          <a:p>
            <a:fld id="{1C9584DC-3658-4054-9DA4-7B68A1D8CC6D}" type="slidenum">
              <a:rPr lang="zh-CN" altLang="en-US" smtClean="0"/>
              <a:t>21</a:t>
            </a:fld>
            <a:endParaRPr lang="zh-CN" altLang="en-US"/>
          </a:p>
        </p:txBody>
      </p:sp>
    </p:spTree>
    <p:extLst>
      <p:ext uri="{BB962C8B-B14F-4D97-AF65-F5344CB8AC3E}">
        <p14:creationId xmlns:p14="http://schemas.microsoft.com/office/powerpoint/2010/main" val="308847139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5EC9D-A496-0076-E5E9-1AC3089FF9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75D8C2-7CC9-2865-D19E-B429D664B0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624639-F51D-4827-5F83-20793FD7BC9E}"/>
              </a:ext>
            </a:extLst>
          </p:cNvPr>
          <p:cNvSpPr>
            <a:spLocks noGrp="1"/>
          </p:cNvSpPr>
          <p:nvPr>
            <p:ph type="body" idx="1"/>
          </p:nvPr>
        </p:nvSpPr>
        <p:spPr/>
        <p:txBody>
          <a:bodyPr/>
          <a:lstStyle/>
          <a:p>
            <a:r>
              <a:rPr lang="en-US" dirty="0"/>
              <a:t>The architecture makes the single-master choice more concrete. There is one master, many chunkservers, and a GFS client library linked into each application.</a:t>
            </a:r>
          </a:p>
          <a:p>
            <a:endParaRPr lang="en-US" dirty="0"/>
          </a:p>
          <a:p>
            <a:r>
              <a:rPr lang="en-US" dirty="0"/>
              <a:t>The master controls the file system. It knows the namespace, how each file is divided into chunks, where the replicas are, and which replica currently coordinates mutations. The chunkservers hold the actual file data on their local disks.</a:t>
            </a:r>
          </a:p>
          <a:p>
            <a:endParaRPr lang="en-US" dirty="0"/>
          </a:p>
          <a:p>
            <a:r>
              <a:rPr lang="en-US" dirty="0"/>
              <a:t>The key is that control and data take different paths. A client asks the master where to find a chunk, but the file data moves directly between the client and a chunkserver. The master can make decisions using a global view without carrying every byte read or written. That is how GFS gains the simplicity of one master without placing the master in the main data path.</a:t>
            </a:r>
          </a:p>
          <a:p>
            <a:endParaRPr lang="en-US" dirty="0"/>
          </a:p>
          <a:p>
            <a:r>
              <a:rPr lang="en-US" dirty="0"/>
              <a:t>SOURCE
MIT 6.824, Spring 2020, Lecture 3 transcript/video, 23:05–24:48.
Local transcript: fall2026/lectures/references/mit-6824-2020-lecture3-gfs-transcript.txt
https://www.youtube.com/watch?v=EpIgvowZr00
Ghemawat, Gobioff, and Leung, The Google File System, Sections 2.3 and 2.4.
https://pdos.csail.mit.edu/6.824/papers/gfs.pdf</a:t>
            </a:r>
          </a:p>
        </p:txBody>
      </p:sp>
      <p:sp>
        <p:nvSpPr>
          <p:cNvPr id="4" name="Slide Number Placeholder 3">
            <a:extLst>
              <a:ext uri="{FF2B5EF4-FFF2-40B4-BE49-F238E27FC236}">
                <a16:creationId xmlns:a16="http://schemas.microsoft.com/office/drawing/2014/main" id="{08DD17C7-F5D6-E241-97FE-B524537D4F9E}"/>
              </a:ext>
            </a:extLst>
          </p:cNvPr>
          <p:cNvSpPr>
            <a:spLocks noGrp="1"/>
          </p:cNvSpPr>
          <p:nvPr>
            <p:ph type="sldNum" sz="quarter" idx="5"/>
          </p:nvPr>
        </p:nvSpPr>
        <p:spPr/>
        <p:txBody>
          <a:bodyPr/>
          <a:lstStyle/>
          <a:p>
            <a:fld id="{1C9584DC-3658-4054-9DA4-7B68A1D8CC6D}" type="slidenum">
              <a:rPr lang="zh-CN" altLang="en-US" smtClean="0"/>
              <a:t>22</a:t>
            </a:fld>
            <a:endParaRPr lang="zh-CN" altLang="en-US"/>
          </a:p>
        </p:txBody>
      </p:sp>
    </p:spTree>
    <p:extLst>
      <p:ext uri="{BB962C8B-B14F-4D97-AF65-F5344CB8AC3E}">
        <p14:creationId xmlns:p14="http://schemas.microsoft.com/office/powerpoint/2010/main" val="376635789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521D75-5A7F-4754-C597-FD6471ACA9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F5248B-2775-98F8-E3B5-ABDBFF54C3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AAE112-C58A-04B6-01EA-CB05A5FFBCAD}"/>
              </a:ext>
            </a:extLst>
          </p:cNvPr>
          <p:cNvSpPr>
            <a:spLocks noGrp="1"/>
          </p:cNvSpPr>
          <p:nvPr>
            <p:ph type="body" idx="1"/>
          </p:nvPr>
        </p:nvSpPr>
        <p:spPr/>
        <p:txBody>
          <a:bodyPr/>
          <a:lstStyle/>
          <a:p>
            <a:r>
              <a:rPr lang="en-US" dirty="0"/>
              <a:t>Now we can unpack the same architecture more precisely. Every component is a user-level process running on a commodity Linux machine. A machine may run a client, a chunkserver, or both, although separating them can reduce interference from application failures.</a:t>
            </a:r>
          </a:p>
          <a:p>
            <a:endParaRPr lang="en-US" dirty="0"/>
          </a:p>
          <a:p>
            <a:r>
              <a:rPr lang="en-US" dirty="0"/>
              <a:t>GFS divides a file into fixed-size chunks, normally 64 megabytes. When it creates a chunk, the master assigns an immutable 64-bit chunk handle. A chunkserver stores that chunk as an ordinary Linux file and accesses it using the handle and a byte range.</a:t>
            </a:r>
          </a:p>
          <a:p>
            <a:endParaRPr lang="en-US" dirty="0"/>
          </a:p>
          <a:p>
            <a:r>
              <a:rPr lang="en-US" dirty="0"/>
              <a:t>Each chunk normally has three replicas on different chunkservers. Replication keeps the chunk available after a machine or disk failure and gives the client a choice of replicas when reading.</a:t>
            </a:r>
          </a:p>
          <a:p>
            <a:endParaRPr lang="en-US" dirty="0"/>
          </a:p>
          <a:p>
            <a:r>
              <a:rPr lang="en-US" dirty="0"/>
              <a:t>The client library talks to both sides of the system. For metadata, it sends the file name and chunk index to the master. The master replies with the chunk handle and the replica locations. The client caches that answer, chooses a suitable replica, and transfers data directly with that chunkserver. Later operations on the same chunk can reuse the cached location information.</a:t>
            </a:r>
          </a:p>
          <a:p>
            <a:endParaRPr lang="en-US" dirty="0"/>
          </a:p>
          <a:p>
            <a:r>
              <a:rPr lang="en-US" dirty="0"/>
              <a:t>This direct transfer between clients and chunkservers is one of the most important performance decisions in GFS. If every read and write passed through the single master, the master's network link and memory bandwidth would limit the throughput of the entire cluster. Adding more chunkservers would add disks, but all of their data would still have to cross one machine.</a:t>
            </a:r>
          </a:p>
          <a:p>
            <a:endParaRPr lang="en-US" dirty="0"/>
          </a:p>
          <a:p>
            <a:r>
              <a:rPr lang="en-US" dirty="0"/>
              <a:t>GFS removes that bottleneck. The master handles small metadata requests, and clients cache the replies. The much larger streams of file data are distributed across many client-to-chunkserver connections. As the cluster adds chunkservers, it also adds data-serving bandwidth without forcing the master to carry those bytes.</a:t>
            </a:r>
          </a:p>
          <a:p>
            <a:endParaRPr lang="en-US" dirty="0"/>
          </a:p>
          <a:p>
            <a:r>
              <a:rPr lang="en-US" dirty="0"/>
              <a:t>That is the meaning of the two arrow types in the figure. Control messages go through the master. Data messages bypass it. The single master supplies a global view, while the chunkservers provide parallel data throughput.</a:t>
            </a:r>
          </a:p>
          <a:p>
            <a:endParaRPr lang="en-US" dirty="0"/>
          </a:p>
          <a:p>
            <a:r>
              <a:rPr lang="en-US" dirty="0"/>
              <a:t>SOURCE
MIT 6.824, Spring 2020, Lecture 3 transcript/video, 23:05–24:48 and 31:21–33:59.
Local transcript: fall2026/lectures/references/mit-6824-2020-lecture3-gfs-transcript.txt
https://www.youtube.com/watch?v=EpIgvowZr00
Ghemawat, Gobioff, and Leung, The Google File System, Sections 2.3 and 2.4.
https://pdos.csail.mit.edu/6.824/papers/gfs.pdf</a:t>
            </a:r>
          </a:p>
        </p:txBody>
      </p:sp>
      <p:sp>
        <p:nvSpPr>
          <p:cNvPr id="4" name="Slide Number Placeholder 3">
            <a:extLst>
              <a:ext uri="{FF2B5EF4-FFF2-40B4-BE49-F238E27FC236}">
                <a16:creationId xmlns:a16="http://schemas.microsoft.com/office/drawing/2014/main" id="{870ED85B-0C6F-C719-DF64-674321EC9989}"/>
              </a:ext>
            </a:extLst>
          </p:cNvPr>
          <p:cNvSpPr>
            <a:spLocks noGrp="1"/>
          </p:cNvSpPr>
          <p:nvPr>
            <p:ph type="sldNum" sz="quarter" idx="5"/>
          </p:nvPr>
        </p:nvSpPr>
        <p:spPr/>
        <p:txBody>
          <a:bodyPr/>
          <a:lstStyle/>
          <a:p>
            <a:fld id="{1C9584DC-3658-4054-9DA4-7B68A1D8CC6D}" type="slidenum">
              <a:rPr lang="zh-CN" altLang="en-US" smtClean="0"/>
              <a:t>23</a:t>
            </a:fld>
            <a:endParaRPr lang="zh-CN" altLang="en-US"/>
          </a:p>
        </p:txBody>
      </p:sp>
    </p:spTree>
    <p:extLst>
      <p:ext uri="{BB962C8B-B14F-4D97-AF65-F5344CB8AC3E}">
        <p14:creationId xmlns:p14="http://schemas.microsoft.com/office/powerpoint/2010/main" val="132217426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4BF34-ABCA-9E59-9BA0-6C11D89683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042908-54FE-228F-F55D-780DF5D487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E96EF8-1F93-66B5-3C07-301167CA6369}"/>
              </a:ext>
            </a:extLst>
          </p:cNvPr>
          <p:cNvSpPr>
            <a:spLocks noGrp="1"/>
          </p:cNvSpPr>
          <p:nvPr>
            <p:ph type="body" idx="1"/>
          </p:nvPr>
        </p:nvSpPr>
        <p:spPr/>
        <p:txBody>
          <a:bodyPr/>
          <a:lstStyle/>
          <a:p>
            <a:r>
              <a:rPr lang="en-US" dirty="0"/>
              <a:t>The master maintains one global view of the cluster. Its namespace maps file names to ordered arrays of chunk handles. For each chunk, it tracks metadata such as the version number and learns which chunkservers currently hold replicas. During a mutation, it also records the primary and the lease expiration time.</a:t>
            </a:r>
          </a:p>
          <a:p>
            <a:endParaRPr lang="en-US" dirty="0"/>
          </a:p>
          <a:p>
            <a:r>
              <a:rPr lang="en-US" dirty="0"/>
              <a:t>That global view allows the master to make cluster-wide decisions. It chooses where to place new chunks, creates replacement replicas after failures, moves chunks to balance load and disk usage, and removes chunks that no longer belong to any file. A chunkserver sees only its own local files, so it cannot make these decisions by itself.</a:t>
            </a:r>
          </a:p>
          <a:p>
            <a:endParaRPr lang="en-US" dirty="0"/>
          </a:p>
          <a:p>
            <a:r>
              <a:rPr lang="en-US" dirty="0"/>
              <a:t>Keeping all metadata in memory is the second key performance decision behind the single-master design. A client needs a metadata answer before it can contact a chunkserver. If the master performed a disk access for every lookup, that delay and disk throughput would quickly make one master a bottleneck. An in-memory lookup is fast, so the master can answer many clients while the data transfers proceed elsewhere.</a:t>
            </a:r>
          </a:p>
          <a:p>
            <a:endParaRPr lang="en-US" dirty="0"/>
          </a:p>
          <a:p>
            <a:r>
              <a:rPr lang="en-US" dirty="0"/>
              <a:t>In-memory metadata also makes the master's background work efficient. It can scan the complete chunk table to find under-replicated chunks, identify garbage, and plan load balancing without issuing millions of random disk reads.</a:t>
            </a:r>
          </a:p>
          <a:p>
            <a:endParaRPr lang="en-US" dirty="0"/>
          </a:p>
          <a:p>
            <a:r>
              <a:rPr lang="en-US" dirty="0"/>
              <a:t>The large chunk size makes this possible. At less than 64 bytes of metadata per 64-megabyte chunk, 640 terabytes of full chunks requires less than about 640 megabytes of per-chunk metadata. GFS deliberately pairs large chunks with in-memory metadata so that one master can retain a global view without slowing down the common lookup path.</a:t>
            </a:r>
          </a:p>
          <a:p>
            <a:endParaRPr lang="en-US" dirty="0"/>
          </a:p>
          <a:p>
            <a:r>
              <a:rPr lang="en-US" dirty="0"/>
              <a:t>The master and chunkservers exchange periodic heartbeat messages. A chunkserver reports its state and the chunks it holds. The master uses the reply to send instructions, such as creating or deleting a replica. These heartbeats keep the in-memory view current as machines join, fail, and restart.</a:t>
            </a:r>
          </a:p>
          <a:p>
            <a:endParaRPr lang="en-US" dirty="0"/>
          </a:p>
          <a:p>
            <a:r>
              <a:rPr lang="en-US" dirty="0"/>
              <a:t>Keeping metadata in memory makes the master fast, but it raises an immediate question: what happens to that state when the master reboots?</a:t>
            </a:r>
          </a:p>
          <a:p>
            <a:endParaRPr lang="en-US" dirty="0"/>
          </a:p>
          <a:p>
            <a:r>
              <a:rPr lang="en-US" dirty="0"/>
              <a:t>SOURCE
MIT 6.824, Spring 2020, Lecture 3 transcript/video, 24:48–27:17.
Local transcript: fall2026/lectures/references/mit-6824-2020-lecture3-gfs-transcript.txt
https://www.youtube.com/watch?v=EpIgvowZr00
Ghemawat, Gobioff, and Leung, The Google File System, Sections 2.3, 2.6.1, 2.6.2, 4.3, and 4.4.
https://pdos.csail.mit.edu/6.824/papers/gfs.pdf</a:t>
            </a:r>
          </a:p>
        </p:txBody>
      </p:sp>
      <p:sp>
        <p:nvSpPr>
          <p:cNvPr id="4" name="Slide Number Placeholder 3">
            <a:extLst>
              <a:ext uri="{FF2B5EF4-FFF2-40B4-BE49-F238E27FC236}">
                <a16:creationId xmlns:a16="http://schemas.microsoft.com/office/drawing/2014/main" id="{598EC296-D952-4467-D6EE-59B7F3E2CEE5}"/>
              </a:ext>
            </a:extLst>
          </p:cNvPr>
          <p:cNvSpPr>
            <a:spLocks noGrp="1"/>
          </p:cNvSpPr>
          <p:nvPr>
            <p:ph type="sldNum" sz="quarter" idx="5"/>
          </p:nvPr>
        </p:nvSpPr>
        <p:spPr/>
        <p:txBody>
          <a:bodyPr/>
          <a:lstStyle/>
          <a:p>
            <a:fld id="{1C9584DC-3658-4054-9DA4-7B68A1D8CC6D}" type="slidenum">
              <a:rPr lang="zh-CN" altLang="en-US" smtClean="0"/>
              <a:t>24</a:t>
            </a:fld>
            <a:endParaRPr lang="zh-CN" altLang="en-US"/>
          </a:p>
        </p:txBody>
      </p:sp>
    </p:spTree>
    <p:extLst>
      <p:ext uri="{BB962C8B-B14F-4D97-AF65-F5344CB8AC3E}">
        <p14:creationId xmlns:p14="http://schemas.microsoft.com/office/powerpoint/2010/main" val="103345609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To answer that question, separate the metadata that must survive from the metadata that can be reconstructed.</a:t>
            </a:r>
          </a:p>
          <a:p>
            <a:endParaRPr lang="en-US" dirty="0"/>
          </a:p>
          <a:p>
            <a:r>
              <a:rPr lang="en-US" dirty="0"/>
              <a:t>The file name to chunk-handle mapping must survive. No chunkserver knows the complete order of chunks that forms a file. Chunk version numbers must also survive because the master later uses them to distinguish current replicas from stale replicas that missed mutations.</a:t>
            </a:r>
          </a:p>
          <a:p>
            <a:endParaRPr lang="en-US" dirty="0"/>
          </a:p>
          <a:p>
            <a:r>
              <a:rPr lang="en-US" dirty="0"/>
              <a:t>The replica locations do not need to be written to disk. After a restart, the master asks every chunkserver which chunks it actually holds. This is more reliable than trying to keep an on-disk location table synchronized while chunkservers fail, restart, change names, or lose disks. The chunkserver has the final word about what remains on its own storage.</a:t>
            </a:r>
          </a:p>
          <a:p>
            <a:endParaRPr lang="en-US" dirty="0"/>
          </a:p>
          <a:p>
            <a:r>
              <a:rPr lang="en-US" dirty="0"/>
              <a:t>The identity of a primary and its lease expiration also do not need to survive. If the master forgets the current primary, it waits for one lease period. After that time, any old primary has lost the right to act, and the master can safely assign a new one.</a:t>
            </a:r>
          </a:p>
          <a:p>
            <a:endParaRPr lang="en-US" dirty="0"/>
          </a:p>
          <a:p>
            <a:r>
              <a:rPr lang="en-US" dirty="0"/>
              <a:t>The persistent part of the master's state is recorded in an operation log. Before a metadata change becomes visible to a client, the master flushes the corresponding log record to its local disk and to remote replicas of the log. The log also establishes one order for concurrent namespace operations.</a:t>
            </a:r>
          </a:p>
          <a:p>
            <a:endParaRPr lang="en-US" dirty="0"/>
          </a:p>
          <a:p>
            <a:r>
              <a:rPr lang="en-US" dirty="0"/>
              <a:t>Appending to a log is efficient because several records can be batched into one sequential disk write. A log grows forever, however, so the master periodically creates a checkpoint of its complete state. After a reboot, it loads the latest complete checkpoint, replays only the newer log records, and asks the chunkservers for their current replica lists.</a:t>
            </a:r>
          </a:p>
          <a:p>
            <a:endParaRPr lang="en-US" dirty="0"/>
          </a:p>
          <a:p>
            <a:r>
              <a:rPr lang="en-US" dirty="0"/>
              <a:t>This design keeps normal lookups in memory while preserving the information that cannot be reconstructed after a crash.</a:t>
            </a:r>
          </a:p>
          <a:p>
            <a:endParaRPr lang="en-US" dirty="0"/>
          </a:p>
          <a:p>
            <a:r>
              <a:rPr lang="en-US" dirty="0"/>
              <a:t>SOURCE
MIT 6.824, Spring 2020, Lecture 3 transcript/video, 27:17–31:21.
Local transcript: fall2026/lectures/references/mit-6824-2020-lecture3-gfs-transcript.txt
https://www.youtube.com/watch?v=EpIgvowZr00
Ghemawat, Gobioff, and Leung, The Google File System, Sections 2.6.1, 2.6.2, and 2.6.3.
https://pdos.csail.mit.edu/6.824/papers/gfs.pdf</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25</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29312-4BB2-2E40-2824-3CBB049A76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362CF8-3C71-A9FE-59E6-23BEE9FE83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3B898F-B96C-928E-9EBB-95B37160DB4C}"/>
              </a:ext>
            </a:extLst>
          </p:cNvPr>
          <p:cNvSpPr>
            <a:spLocks noGrp="1"/>
          </p:cNvSpPr>
          <p:nvPr>
            <p:ph type="body" idx="1"/>
          </p:nvPr>
        </p:nvSpPr>
        <p:spPr/>
        <p:txBody>
          <a:bodyPr/>
          <a:lstStyle/>
          <a:p>
            <a:r>
              <a:rPr lang="en-US" dirty="0"/>
              <a:t>The chunkservers are the data side of the architecture. Each one stores chunk replicas as ordinary Linux files, identified by their chunk handles. GFS relies on the local Linux file system and its buffer cache rather than building another disk format or data cache inside the chunkserver.</a:t>
            </a:r>
          </a:p>
          <a:p>
            <a:endParaRPr lang="en-US" dirty="0"/>
          </a:p>
          <a:p>
            <a:r>
              <a:rPr lang="en-US" dirty="0"/>
              <a:t>The 64-megabyte chunk size is much larger than a conventional file-system block. A large chunk reduces the number of chunk records the master must keep. It also reduces client-master traffic because one location lookup can support many operations on the same chunk. For sequential workloads, a client can keep one connection to a chunkserver and transfer a long region of data efficiently.</a:t>
            </a:r>
          </a:p>
          <a:p>
            <a:endParaRPr lang="en-US" dirty="0"/>
          </a:p>
          <a:p>
            <a:r>
              <a:rPr lang="en-US" dirty="0"/>
              <a:t>The main space concern is internal fragmentation. GFS avoids reserving all 64 megabytes when a chunk is created. The Linux file grows only as data is written, so a partially filled last chunk consumes only the space it needs.</a:t>
            </a:r>
          </a:p>
          <a:p>
            <a:endParaRPr lang="en-US" dirty="0"/>
          </a:p>
          <a:p>
            <a:r>
              <a:rPr lang="en-US" dirty="0"/>
              <a:t>A large chunk can still create a hot spot when a small file occupies one chunk and hundreds of clients read it at once. The paper reports this happening when many machines simultaneously fetched the same executable. Google handled that case with more replicas and staggered start times. The normal workload of large, multi-chunk files made the tradeoff acceptable.</a:t>
            </a:r>
          </a:p>
          <a:p>
            <a:endParaRPr lang="en-US" dirty="0"/>
          </a:p>
          <a:p>
            <a:r>
              <a:rPr lang="en-US" dirty="0"/>
              <a:t>Chunkservers send heartbeats to the master. If a machine disappears or a replica becomes unavailable, the master selects a healthy copy and instructs chunkservers to create another replica. The master coordinates recovery, while the chunk data moves between chunkservers.</a:t>
            </a:r>
          </a:p>
          <a:p>
            <a:endParaRPr lang="en-US" dirty="0"/>
          </a:p>
          <a:p>
            <a:r>
              <a:rPr lang="en-US" dirty="0"/>
              <a:t>The HDFS demo now makes these roles concrete at a smaller scale: the NameNode holds metadata, the DataNodes hold the block files, and losing one DataNode causes the system to rebuild the missing replicas automatically.</a:t>
            </a:r>
          </a:p>
          <a:p>
            <a:endParaRPr lang="en-US" dirty="0"/>
          </a:p>
          <a:p>
            <a:r>
              <a:rPr lang="en-US" dirty="0"/>
              <a:t>SOURCE
MIT 6.824, Spring 2020, Lecture 3 transcript/video, 23:59–24:48.
Local transcript: fall2026/lectures/references/mit-6824-2020-lecture3-gfs-transcript.txt
https://www.youtube.com/watch?v=EpIgvowZr00
Ghemawat, Gobioff, and Leung, The Google File System, Sections 2.3, 2.5, 2.6.2, and 4.3.
https://pdos.csail.mit.edu/6.824/papers/gfs.pdf</a:t>
            </a:r>
          </a:p>
        </p:txBody>
      </p:sp>
      <p:sp>
        <p:nvSpPr>
          <p:cNvPr id="4" name="Slide Number Placeholder 3">
            <a:extLst>
              <a:ext uri="{FF2B5EF4-FFF2-40B4-BE49-F238E27FC236}">
                <a16:creationId xmlns:a16="http://schemas.microsoft.com/office/drawing/2014/main" id="{9D1F8925-A10A-6FEB-7EB2-F2E33038CC7F}"/>
              </a:ext>
            </a:extLst>
          </p:cNvPr>
          <p:cNvSpPr>
            <a:spLocks noGrp="1"/>
          </p:cNvSpPr>
          <p:nvPr>
            <p:ph type="sldNum" sz="quarter" idx="5"/>
          </p:nvPr>
        </p:nvSpPr>
        <p:spPr/>
        <p:txBody>
          <a:bodyPr/>
          <a:lstStyle/>
          <a:p>
            <a:fld id="{1C9584DC-3658-4054-9DA4-7B68A1D8CC6D}" type="slidenum">
              <a:rPr lang="zh-CN" altLang="en-US" smtClean="0"/>
              <a:t>26</a:t>
            </a:fld>
            <a:endParaRPr lang="zh-CN" altLang="en-US"/>
          </a:p>
        </p:txBody>
      </p:sp>
    </p:spTree>
    <p:extLst>
      <p:ext uri="{BB962C8B-B14F-4D97-AF65-F5344CB8AC3E}">
        <p14:creationId xmlns:p14="http://schemas.microsoft.com/office/powerpoint/2010/main" val="42562955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Replication protects against a machine dying. It does not protect against a disk quietly returning wrong bytes, which is what checksums are for.</a:t>
            </a:r>
            <a:endParaRPr lang="en-US"/>
          </a:p>
          <a:p>
            <a:r>
              <a:t>Note who does the checking: the chunkserver that holds the block, on every read. The master is not in the data path at all, so it cannot verify data for clients.</a:t>
            </a:r>
            <a:endParaRPr lang="en-US"/>
          </a:p>
          <a:p>
            <a:r>
              <a:t>In the paper the chunkservers of the two reported clusters hold 13 GB and 21 GB of metadata each, almost all of it checksums, against 48 MB and 60 MB at the master.</a:t>
            </a:r>
            <a:endParaRPr lang="en-US"/>
          </a:p>
          <a:p>
            <a:r>
              <a:t>This is also the one failure mode in the lecture that replication alone cannot catch: a wrong answer rather than no answer.</a:t>
            </a:r>
            <a:endParaRPr lang="en-US"/>
          </a:p>
          <a:p>
            <a:r>
              <a:t>SOURCE</a:t>
            </a:r>
            <a:endParaRPr lang="en-US"/>
          </a:p>
          <a:p>
            <a:r>
              <a:t>MIT 6.5840, GFS lecture notes.</a:t>
            </a:r>
            <a:endParaRPr lang="en-US"/>
          </a:p>
          <a:p>
            <a:r>
              <a:t>https://pdos.csail.mit.edu/6.824/notes/l-gfs.txt</a:t>
            </a:r>
            <a:endParaRPr lang="en-US"/>
          </a:p>
          <a:p>
            <a:r>
              <a:t>Ghemawat, Gobioff, and Leung, The Google File System, Section 5.2 and Table 2.</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27</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193C7-5B9E-DD00-B136-46BC4E99CA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BF3FFF-E0C1-57AE-3E31-BC43FD0223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9EB5A0-B8F9-567F-7740-AC2CA254719A}"/>
              </a:ext>
            </a:extLst>
          </p:cNvPr>
          <p:cNvSpPr>
            <a:spLocks noGrp="1"/>
          </p:cNvSpPr>
          <p:nvPr>
            <p:ph type="body" idx="1"/>
          </p:nvPr>
        </p:nvSpPr>
        <p:spPr/>
        <p:txBody>
          <a:bodyPr/>
          <a:lstStyle/>
          <a:p>
            <a:r>
              <a:rPr lang="en-US" dirty="0"/>
              <a:t>The demo gave us the static picture: one service holds the metadata, many servers hold the data, and the system repairs lost replicas. Now we can follow what happens when an application actually accesses a file.</a:t>
            </a:r>
          </a:p>
          <a:p>
            <a:endParaRPr lang="en-US" dirty="0"/>
          </a:p>
          <a:p>
            <a:r>
              <a:rPr lang="en-US" dirty="0"/>
              <a:t>We will begin with a read because it uses the architecture in its simplest form. The client needs the master to translate a file name and a position into a chunk handle and replica locations. Once it has that metadata, it reads the bytes directly from a chunkserver.</a:t>
            </a:r>
          </a:p>
          <a:p>
            <a:endParaRPr lang="en-US" dirty="0"/>
          </a:p>
          <a:p>
            <a:r>
              <a:rPr lang="en-US" dirty="0"/>
              <a:t>A write uses the same separation between metadata and data, but it introduces an additional problem. Every replica must apply mutations in one common order. Otherwise we recreate the divergent replicas from the beginning of the lecture.</a:t>
            </a:r>
          </a:p>
          <a:p>
            <a:endParaRPr lang="en-US" dirty="0"/>
          </a:p>
          <a:p>
            <a:r>
              <a:rPr lang="en-US" dirty="0"/>
              <a:t>So the read path will show why one master can remain lightly loaded. The write path will show how GFS adds a primary, secondaries, leases, and version numbers to coordinate replicated data.</a:t>
            </a:r>
          </a:p>
          <a:p>
            <a:endParaRPr lang="en-US" dirty="0"/>
          </a:p>
          <a:p>
            <a:r>
              <a:rPr lang="en-US" dirty="0"/>
              <a:t>SOURCE
MIT 6.824, Spring 2020, Lecture 3 transcript/video, 31:21–32:12 and 39:17–40:51.
Local transcript: fall2026/lectures/references/mit-6824-2020-lecture3-gfs-transcript.txt
https://www.youtube.com/watch?v=EpIgvowZr00
Ghemawat, Gobioff, and Leung, The Google File System, Sections 2.4 and 3.1.
https://pdos.csail.mit.edu/6.824/papers/gfs.pdf</a:t>
            </a:r>
          </a:p>
        </p:txBody>
      </p:sp>
      <p:sp>
        <p:nvSpPr>
          <p:cNvPr id="4" name="Slide Number Placeholder 3">
            <a:extLst>
              <a:ext uri="{FF2B5EF4-FFF2-40B4-BE49-F238E27FC236}">
                <a16:creationId xmlns:a16="http://schemas.microsoft.com/office/drawing/2014/main" id="{67E8B70A-C890-D41C-4FBB-74BEEDE20D75}"/>
              </a:ext>
            </a:extLst>
          </p:cNvPr>
          <p:cNvSpPr>
            <a:spLocks noGrp="1"/>
          </p:cNvSpPr>
          <p:nvPr>
            <p:ph type="sldNum" sz="quarter" idx="5"/>
          </p:nvPr>
        </p:nvSpPr>
        <p:spPr/>
        <p:txBody>
          <a:bodyPr/>
          <a:lstStyle/>
          <a:p>
            <a:fld id="{1C9584DC-3658-4054-9DA4-7B68A1D8CC6D}" type="slidenum">
              <a:rPr lang="zh-CN" altLang="en-US" smtClean="0"/>
              <a:t>28</a:t>
            </a:fld>
            <a:endParaRPr lang="zh-CN" altLang="en-US"/>
          </a:p>
        </p:txBody>
      </p:sp>
    </p:spTree>
    <p:extLst>
      <p:ext uri="{BB962C8B-B14F-4D97-AF65-F5344CB8AC3E}">
        <p14:creationId xmlns:p14="http://schemas.microsoft.com/office/powerpoint/2010/main" val="342549826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8F2DC-C063-0319-05D8-61E202D43C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114C03-123D-C33C-BE81-5C1E8A4DA6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CBF360-A63A-1658-5947-32DF51C5EA04}"/>
              </a:ext>
            </a:extLst>
          </p:cNvPr>
          <p:cNvSpPr>
            <a:spLocks noGrp="1"/>
          </p:cNvSpPr>
          <p:nvPr>
            <p:ph type="body" idx="1"/>
          </p:nvPr>
        </p:nvSpPr>
        <p:spPr/>
        <p:txBody>
          <a:bodyPr/>
          <a:lstStyle/>
          <a:p>
            <a:r>
              <a:rPr lang="en-US" dirty="0"/>
              <a:t>Suppose the application wants to read a range of bytes from a named file. The GFS client library first uses the fixed 64-megabyte chunk size to determine which chunk contains the starting offset.</a:t>
            </a:r>
          </a:p>
          <a:p>
            <a:endParaRPr lang="en-US" dirty="0"/>
          </a:p>
          <a:p>
            <a:r>
              <a:rPr lang="en-US" dirty="0"/>
              <a:t>If the client has not cached the answer, it sends the file name and chunk index to the master. The master uses its file-to-chunk table to find the chunk handle, then uses the chunk metadata to find the chunkservers holding replicas. It returns the handle and the replica locations to the client.</a:t>
            </a:r>
          </a:p>
          <a:p>
            <a:endParaRPr lang="en-US" dirty="0"/>
          </a:p>
          <a:p>
            <a:r>
              <a:rPr lang="en-US" dirty="0"/>
              <a:t>The client caches that mapping. This matters because an application may read a large file in many smaller operations. As long as those reads remain in the same chunk and the cached information is valid, the client does not need to ask the master again.</a:t>
            </a:r>
          </a:p>
          <a:p>
            <a:endParaRPr lang="en-US" dirty="0"/>
          </a:p>
          <a:p>
            <a:r>
              <a:rPr lang="en-US" dirty="0"/>
              <a:t>The client chooses one replica, normally a chunkserver that appears close in the network, and sends that server the chunk handle and the byte range within the chunk. The chunkserver opens the corresponding Linux file, reads the requested bytes, and returns them directly to the client.</a:t>
            </a:r>
          </a:p>
          <a:p>
            <a:endParaRPr lang="en-US" dirty="0"/>
          </a:p>
          <a:p>
            <a:r>
              <a:rPr lang="en-US" dirty="0"/>
              <a:t>If a request crosses a chunk boundary, the client library divides it into separate chunk requests and combines the returned bytes for the application. The application continues to think in terms of a file name and file offsets. The library and master translate that view into chunk operations.</a:t>
            </a:r>
          </a:p>
          <a:p>
            <a:endParaRPr lang="en-US" dirty="0"/>
          </a:p>
          <a:p>
            <a:r>
              <a:rPr lang="en-US" dirty="0"/>
              <a:t>SOURCE
MIT 6.824, Spring 2020, Lecture 3 transcript/video, 31:21–39:17.
Local transcript: fall2026/lectures/references/mit-6824-2020-lecture3-gfs-transcript.txt
https://www.youtube.com/watch?v=EpIgvowZr00
Ghemawat, Gobioff, and Leung, The Google File System, Section 2.4.
https://pdos.csail.mit.edu/6.824/papers/gfs.pdf</a:t>
            </a:r>
          </a:p>
        </p:txBody>
      </p:sp>
      <p:sp>
        <p:nvSpPr>
          <p:cNvPr id="4" name="Slide Number Placeholder 3">
            <a:extLst>
              <a:ext uri="{FF2B5EF4-FFF2-40B4-BE49-F238E27FC236}">
                <a16:creationId xmlns:a16="http://schemas.microsoft.com/office/drawing/2014/main" id="{275B48E4-919D-036C-E70E-9C481AFA70BE}"/>
              </a:ext>
            </a:extLst>
          </p:cNvPr>
          <p:cNvSpPr>
            <a:spLocks noGrp="1"/>
          </p:cNvSpPr>
          <p:nvPr>
            <p:ph type="sldNum" sz="quarter" idx="5"/>
          </p:nvPr>
        </p:nvSpPr>
        <p:spPr/>
        <p:txBody>
          <a:bodyPr/>
          <a:lstStyle/>
          <a:p>
            <a:fld id="{1C9584DC-3658-4054-9DA4-7B68A1D8CC6D}" type="slidenum">
              <a:rPr lang="zh-CN" altLang="en-US" smtClean="0"/>
              <a:t>29</a:t>
            </a:fld>
            <a:endParaRPr lang="zh-CN" altLang="en-US"/>
          </a:p>
        </p:txBody>
      </p:sp>
    </p:spTree>
    <p:extLst>
      <p:ext uri="{BB962C8B-B14F-4D97-AF65-F5344CB8AC3E}">
        <p14:creationId xmlns:p14="http://schemas.microsoft.com/office/powerpoint/2010/main" val="142124025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734190-1D13-E903-E171-5F8E328D72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F16CA5-BAC1-80AF-C609-2E12529856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1464E4-E070-F595-FAF8-E065B04DC379}"/>
              </a:ext>
            </a:extLst>
          </p:cNvPr>
          <p:cNvSpPr>
            <a:spLocks noGrp="1"/>
          </p:cNvSpPr>
          <p:nvPr>
            <p:ph type="body" idx="1"/>
          </p:nvPr>
        </p:nvSpPr>
        <p:spPr/>
        <p:txBody>
          <a:bodyPr/>
          <a:lstStyle/>
          <a:p>
            <a:r>
              <a:rPr lang="en-US" dirty="0"/>
              <a:t>The read path explains how GFS can use one master without sending all traffic through one machine. The master answers the naming question: which chunk represents this part of the file, and which servers hold it? The chunkserver answers the data question by returning the bytes.</a:t>
            </a:r>
          </a:p>
          <a:p>
            <a:endParaRPr lang="en-US" dirty="0"/>
          </a:p>
          <a:p>
            <a:r>
              <a:rPr lang="en-US" dirty="0"/>
              <a:t>The client caches the master's answer, so a long sequential scan needs far fewer master requests than data requests. The master handles small metadata messages, while many clients read different chunks from many chunkservers in parallel.</a:t>
            </a:r>
          </a:p>
          <a:p>
            <a:endParaRPr lang="en-US" dirty="0"/>
          </a:p>
          <a:p>
            <a:r>
              <a:rPr lang="en-US" dirty="0"/>
              <a:t>Reading needs only one suitable replica. Writing is harder because the replicas are no longer interchangeable if they apply concurrent mutations in different orders. The client already knows which chunkservers hold the replicas, but it cannot let each server choose its own order.</a:t>
            </a:r>
          </a:p>
          <a:p>
            <a:endParaRPr lang="en-US" dirty="0"/>
          </a:p>
          <a:p>
            <a:r>
              <a:rPr lang="en-US" dirty="0"/>
              <a:t>This brings us back to the failure from the first part of the lecture. Two servers received the same writes in opposite orders and ended with different values. GFS prevents that by giving one replica the authority to order mutations for the chunk.</a:t>
            </a:r>
          </a:p>
          <a:p>
            <a:endParaRPr lang="en-US" dirty="0"/>
          </a:p>
          <a:p>
            <a:r>
              <a:rPr lang="en-US" dirty="0"/>
              <a:t>SOURCE
MIT 6.824, Spring 2020, Lecture 3 transcript/video, 33:11–40:51.
Local transcript: fall2026/lectures/references/mit-6824-2020-lecture3-gfs-transcript.txt
https://www.youtube.com/watch?v=EpIgvowZr00
Ghemawat, Gobioff, and Leung, The Google File System, Sections 2.4 and 3.1.
https://pdos.csail.mit.edu/6.824/papers/gfs.pdf</a:t>
            </a:r>
          </a:p>
        </p:txBody>
      </p:sp>
      <p:sp>
        <p:nvSpPr>
          <p:cNvPr id="4" name="Slide Number Placeholder 3">
            <a:extLst>
              <a:ext uri="{FF2B5EF4-FFF2-40B4-BE49-F238E27FC236}">
                <a16:creationId xmlns:a16="http://schemas.microsoft.com/office/drawing/2014/main" id="{2B6B2956-570A-D285-4402-E49E881345E4}"/>
              </a:ext>
            </a:extLst>
          </p:cNvPr>
          <p:cNvSpPr>
            <a:spLocks noGrp="1"/>
          </p:cNvSpPr>
          <p:nvPr>
            <p:ph type="sldNum" sz="quarter" idx="5"/>
          </p:nvPr>
        </p:nvSpPr>
        <p:spPr/>
        <p:txBody>
          <a:bodyPr/>
          <a:lstStyle/>
          <a:p>
            <a:fld id="{1C9584DC-3658-4054-9DA4-7B68A1D8CC6D}" type="slidenum">
              <a:rPr lang="zh-CN" altLang="en-US" smtClean="0"/>
              <a:t>30</a:t>
            </a:fld>
            <a:endParaRPr lang="zh-CN" altLang="en-US"/>
          </a:p>
        </p:txBody>
      </p:sp>
    </p:spTree>
    <p:extLst>
      <p:ext uri="{BB962C8B-B14F-4D97-AF65-F5344CB8AC3E}">
        <p14:creationId xmlns:p14="http://schemas.microsoft.com/office/powerpoint/2010/main" val="16374216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BB2618-9A36-81C1-68AF-8F6945E61F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BDCD1A-8AC8-BD94-5676-F0F4005F0A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42226A-716C-7627-BD8C-6ECB19FD8351}"/>
              </a:ext>
            </a:extLst>
          </p:cNvPr>
          <p:cNvSpPr>
            <a:spLocks noGrp="1"/>
          </p:cNvSpPr>
          <p:nvPr>
            <p:ph type="body" idx="1"/>
          </p:nvPr>
        </p:nvSpPr>
        <p:spPr/>
        <p:txBody>
          <a:bodyPr/>
          <a:lstStyle/>
          <a:p>
            <a:r>
              <a:rPr lang="en-US" dirty="0"/>
              <a:t>For every chunk being modified, the master designates one up-to-date replica as the primary. The other up-to-date replicas are secondaries. The primary receives the write command and chooses one serial order for all concurrent mutations to that chunk.</a:t>
            </a:r>
          </a:p>
          <a:p>
            <a:endParaRPr lang="en-US" dirty="0"/>
          </a:p>
          <a:p>
            <a:r>
              <a:rPr lang="en-US" dirty="0"/>
              <a:t>The primary then tells the secondaries to apply the mutations in that same order. The network may deliver requests to different servers at different times, but the replicas no longer use arrival order to decide what happens. They follow the order selected by the primary.</a:t>
            </a:r>
          </a:p>
          <a:p>
            <a:endParaRPr lang="en-US" dirty="0"/>
          </a:p>
          <a:p>
            <a:r>
              <a:rPr lang="en-US" dirty="0"/>
              <a:t>This is the rule missing from the broken replication design earlier in the lecture. There, two servers independently chose different legal orders. Here, one primary chooses the order once, and every secondary follows it.</a:t>
            </a:r>
          </a:p>
          <a:p>
            <a:endParaRPr lang="en-US" dirty="0"/>
          </a:p>
          <a:p>
            <a:r>
              <a:rPr lang="en-US" dirty="0"/>
              <a:t>The authority to act as primary comes from a lease granted by the master. The lease has an expiration time, so an old primary eventually loses the right to process mutations even if a network failure prevents the master from contacting it. We will return to the version and lease details after tracing one write.</a:t>
            </a:r>
          </a:p>
          <a:p>
            <a:endParaRPr lang="en-US" dirty="0"/>
          </a:p>
          <a:p>
            <a:r>
              <a:rPr lang="en-US" dirty="0"/>
              <a:t>One wording detail on the slide matters: the client sends the write command to the primary. The file bytes take a separate path to all replicas, which we will see in the next steps.</a:t>
            </a:r>
          </a:p>
          <a:p>
            <a:endParaRPr lang="en-US" dirty="0"/>
          </a:p>
          <a:p>
            <a:r>
              <a:rPr lang="en-US" dirty="0"/>
              <a:t>SOURCE
MIT 6.824, Spring 2020, Lecture 3 transcript/video, 49:51–53:26 and 61:49–64:14.
Local transcript: fall2026/lectures/references/mit-6824-2020-lecture3-gfs-transcript.txt
https://www.youtube.com/watch?v=EpIgvowZr00
Ghemawat, Gobioff, and Leung, The Google File System, Sections 3.1 and 4.5.
https://pdos.csail.mit.edu/6.824/papers/gfs.pdf</a:t>
            </a:r>
          </a:p>
        </p:txBody>
      </p:sp>
      <p:sp>
        <p:nvSpPr>
          <p:cNvPr id="4" name="Slide Number Placeholder 3">
            <a:extLst>
              <a:ext uri="{FF2B5EF4-FFF2-40B4-BE49-F238E27FC236}">
                <a16:creationId xmlns:a16="http://schemas.microsoft.com/office/drawing/2014/main" id="{FAB35EB8-37B5-CDA0-EE3E-CBA11EB50583}"/>
              </a:ext>
            </a:extLst>
          </p:cNvPr>
          <p:cNvSpPr>
            <a:spLocks noGrp="1"/>
          </p:cNvSpPr>
          <p:nvPr>
            <p:ph type="sldNum" sz="quarter" idx="5"/>
          </p:nvPr>
        </p:nvSpPr>
        <p:spPr/>
        <p:txBody>
          <a:bodyPr/>
          <a:lstStyle/>
          <a:p>
            <a:fld id="{1C9584DC-3658-4054-9DA4-7B68A1D8CC6D}" type="slidenum">
              <a:rPr lang="zh-CN" altLang="en-US" smtClean="0"/>
              <a:t>31</a:t>
            </a:fld>
            <a:endParaRPr lang="zh-CN" altLang="en-US"/>
          </a:p>
        </p:txBody>
      </p:sp>
    </p:spTree>
    <p:extLst>
      <p:ext uri="{BB962C8B-B14F-4D97-AF65-F5344CB8AC3E}">
        <p14:creationId xmlns:p14="http://schemas.microsoft.com/office/powerpoint/2010/main" val="285283046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339A2-3791-7F6C-1CDC-1A698F4080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645E0C-2E2A-DC2F-D6D5-CCEC0C8C66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FD9BFF-F75F-A66F-643C-4112C930FB05}"/>
              </a:ext>
            </a:extLst>
          </p:cNvPr>
          <p:cNvSpPr>
            <a:spLocks noGrp="1"/>
          </p:cNvSpPr>
          <p:nvPr>
            <p:ph type="body" idx="1"/>
          </p:nvPr>
        </p:nvSpPr>
        <p:spPr/>
        <p:txBody>
          <a:bodyPr/>
          <a:lstStyle/>
          <a:p>
            <a:r>
              <a:rPr lang="en-US" dirty="0"/>
              <a:t>A mutation separates moving the data from deciding when and where to apply it.</a:t>
            </a:r>
          </a:p>
          <a:p>
            <a:endParaRPr lang="en-US" dirty="0"/>
          </a:p>
          <a:p>
            <a:r>
              <a:rPr lang="en-US" dirty="0"/>
              <a:t>First, the client asks the master for the current primary and secondaries of the target chunk. The master returns only replicas with the current chunk version.</a:t>
            </a:r>
          </a:p>
          <a:p>
            <a:endParaRPr lang="en-US" dirty="0"/>
          </a:p>
          <a:p>
            <a:r>
              <a:rPr lang="en-US" dirty="0"/>
              <a:t>Next, the client pushes the data to every replica. The replicas store those bytes temporarily; receiving the bytes does not yet change the visible chunk. In the optimized implementation, the data travels through a pipeline rather than being sent independently from the client to every server.</a:t>
            </a:r>
          </a:p>
          <a:p>
            <a:endParaRPr lang="en-US" dirty="0"/>
          </a:p>
          <a:p>
            <a:r>
              <a:rPr lang="en-US" dirty="0"/>
              <a:t>Once every replica has buffered the data, the client sends the write command to the primary. The primary checks that its lease is still valid, assigns the mutation its place in the serial order, and tells the secondaries to apply the buffered bytes in that same order. Each replica writes the mutation to its local chunk file and acknowledges the primary.</a:t>
            </a:r>
          </a:p>
          <a:p>
            <a:endParaRPr lang="en-US" dirty="0"/>
          </a:p>
          <a:p>
            <a:r>
              <a:rPr lang="en-US" dirty="0"/>
              <a:t>If every secondary acknowledges, the primary reports success to the client. If a server returns an error or does not reply, the primary reports failure. The client then retries the operation from the beginning, including asking the master again in case the replica group has changed.</a:t>
            </a:r>
          </a:p>
          <a:p>
            <a:endParaRPr lang="en-US" dirty="0"/>
          </a:p>
          <a:p>
            <a:r>
              <a:rPr lang="en-US" dirty="0"/>
              <a:t>A retry improves the chance that the operation eventually succeeds, but it also means that part of an earlier attempt may remain on some replicas. That behavior becomes especially important for record append.</a:t>
            </a:r>
          </a:p>
          <a:p>
            <a:endParaRPr lang="en-US" dirty="0"/>
          </a:p>
          <a:p>
            <a:r>
              <a:rPr lang="en-US" dirty="0"/>
              <a:t>SOURCE
MIT 6.824, Spring 2020, Lecture 3 transcript/video, 51:39–57:36.
Local transcript: fall2026/lectures/references/mit-6824-2020-lecture3-gfs-transcript.txt
https://www.youtube.com/watch?v=EpIgvowZr00
Ghemawat, Gobioff, and Leung, The Google File System, Sections 3.1 and 3.2.
https://pdos.csail.mit.edu/6.824/papers/gfs.pdf</a:t>
            </a:r>
          </a:p>
        </p:txBody>
      </p:sp>
      <p:sp>
        <p:nvSpPr>
          <p:cNvPr id="4" name="Slide Number Placeholder 3">
            <a:extLst>
              <a:ext uri="{FF2B5EF4-FFF2-40B4-BE49-F238E27FC236}">
                <a16:creationId xmlns:a16="http://schemas.microsoft.com/office/drawing/2014/main" id="{C976C11B-CE7F-618B-C943-7F49B959579B}"/>
              </a:ext>
            </a:extLst>
          </p:cNvPr>
          <p:cNvSpPr>
            <a:spLocks noGrp="1"/>
          </p:cNvSpPr>
          <p:nvPr>
            <p:ph type="sldNum" sz="quarter" idx="5"/>
          </p:nvPr>
        </p:nvSpPr>
        <p:spPr/>
        <p:txBody>
          <a:bodyPr/>
          <a:lstStyle/>
          <a:p>
            <a:fld id="{1C9584DC-3658-4054-9DA4-7B68A1D8CC6D}" type="slidenum">
              <a:rPr lang="zh-CN" altLang="en-US" smtClean="0"/>
              <a:t>32</a:t>
            </a:fld>
            <a:endParaRPr lang="zh-CN" altLang="en-US"/>
          </a:p>
        </p:txBody>
      </p:sp>
    </p:spTree>
    <p:extLst>
      <p:ext uri="{BB962C8B-B14F-4D97-AF65-F5344CB8AC3E}">
        <p14:creationId xmlns:p14="http://schemas.microsoft.com/office/powerpoint/2010/main" val="112898752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An ordinary write includes a file name, a byte offset, and a buffer. If several clients write the same region concurrently, they must coordinate their offsets or accept that the writes may overlap.</a:t>
            </a:r>
          </a:p>
          <a:p>
            <a:endParaRPr lang="en-US" dirty="0"/>
          </a:p>
          <a:p>
            <a:r>
              <a:rPr lang="en-US" dirty="0"/>
              <a:t>Record append changes the interface. The client supplies the file name and the record, but it does not choose an offset. The primary chooses a location at the current end of the chunk and tells every secondary to use that same offset. This allows hundreds of producers to append to one log or queue without coordinating with one another.</a:t>
            </a:r>
          </a:p>
          <a:p>
            <a:endParaRPr lang="en-US" dirty="0"/>
          </a:p>
          <a:p>
            <a:r>
              <a:rPr lang="en-US" dirty="0"/>
              <a:t>If the client receives success, every replica has written the record at the same offset. The guarantee is at least once rather than exactly once. If the client receives an error, some replicas may already contain the record while others do not. The client retries the complete append, and the successful retry may place another copy later in the file.</a:t>
            </a:r>
          </a:p>
          <a:p>
            <a:endParaRPr lang="en-US" dirty="0"/>
          </a:p>
          <a:p>
            <a:r>
              <a:rPr lang="en-US" dirty="0"/>
              <a:t>A reader may therefore encounter padding from abandoned attempts or duplicate records from retries. GFS asks applications to make records self-identifying and self-validating so readers can discard padding, incomplete fragments, and duplicates when necessary.</a:t>
            </a:r>
          </a:p>
          <a:p>
            <a:endParaRPr lang="en-US" dirty="0"/>
          </a:p>
          <a:p>
            <a:r>
              <a:rPr lang="en-US" dirty="0"/>
              <a:t>This interface is closely matched to Google's workload. The system gives many concurrent producers an efficient atomic append, while applications accept and handle the limited anomalies created by failures and retries.</a:t>
            </a:r>
          </a:p>
          <a:p>
            <a:endParaRPr lang="en-US" dirty="0"/>
          </a:p>
          <a:p>
            <a:r>
              <a:rPr lang="en-US" dirty="0"/>
              <a:t>SOURCE
MIT 6.824, Spring 2020, Lecture 3 transcript/video, 40:04–40:51 and 52:29–57:36.
Local transcript: fall2026/lectures/references/mit-6824-2020-lecture3-gfs-transcript.txt
https://www.youtube.com/watch?v=EpIgvowZr00
Ghemawat, Gobioff, and Leung, The Google File System, Sections 2.2, 2.7, and 3.3.
https://pdos.csail.mit.edu/6.824/papers/gfs.pdf</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33</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The write and record-append paths have assumed that the master can return a current primary and set of secondaries. But a chunkserver may have been offline while other replicas received mutations, so simply possessing a chunk with the correct handle does not mean that its contents are up to date.</a:t>
            </a:r>
          </a:p>
          <a:p>
            <a:endParaRPr lang="en-US" dirty="0"/>
          </a:p>
          <a:p>
            <a:r>
              <a:rPr lang="en-US" dirty="0"/>
              <a:t>The master assigns a version number to every chunk. Whenever it establishes a new lease and replica group, it advances that version. The master records the new number persistently, and the selected primary and secondaries record it on their own disks before the group begins serving new mutations.</a:t>
            </a:r>
          </a:p>
          <a:p>
            <a:endParaRPr lang="en-US" dirty="0"/>
          </a:p>
          <a:p>
            <a:r>
              <a:rPr lang="en-US" dirty="0"/>
              <a:t>A replica that was unavailable during this step keeps the older version. When it later reports to the master, the number reveals that it is stale. The master excludes that replica from reads, never designates it as a primary, and eventually garbage-collects it.</a:t>
            </a:r>
          </a:p>
          <a:p>
            <a:endParaRPr lang="en-US" dirty="0"/>
          </a:p>
          <a:p>
            <a:r>
              <a:rPr lang="en-US" dirty="0"/>
              <a:t>The power-failure example explains why the master's copy of the version number must survive. Suppose the master restarts before the chunkservers holding the newest replicas. If it merely accepted the highest version among the first servers to respond, it could mistake an old copy for the current one. Instead, it waits for a replica carrying the version it already knows is current, or it tells the client to retry later.</a:t>
            </a:r>
          </a:p>
          <a:p>
            <a:endParaRPr lang="en-US" dirty="0"/>
          </a:p>
          <a:p>
            <a:r>
              <a:rPr lang="en-US" dirty="0"/>
              <a:t>The system therefore prefers temporary unavailability to silently serving stale data.</a:t>
            </a:r>
          </a:p>
          <a:p>
            <a:endParaRPr lang="en-US" dirty="0"/>
          </a:p>
          <a:p>
            <a:r>
              <a:rPr lang="en-US" dirty="0"/>
              <a:t>SOURCE
MIT 6.824, Spring 2020, Lecture 3 transcript/video, 41:39–50:50.
Local transcript: fall2026/lectures/references/mit-6824-2020-lecture3-gfs-transcript.txt
https://www.youtube.com/watch?v=EpIgvowZr00
Ghemawat, Gobioff, and Leung, The Google File System, Section 4.5.
https://pdos.csail.mit.edu/6.824/papers/gfs.pdf</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AB19F-E2BA-2F6F-9145-E35E02DE22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9CA11C-F206-F652-3730-F2C02674F2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FC03F9-D2B9-F669-F2C1-37935B63EFF7}"/>
              </a:ext>
            </a:extLst>
          </p:cNvPr>
          <p:cNvSpPr>
            <a:spLocks noGrp="1"/>
          </p:cNvSpPr>
          <p:nvPr>
            <p:ph type="body" idx="1"/>
          </p:nvPr>
        </p:nvSpPr>
        <p:spPr/>
        <p:txBody>
          <a:bodyPr/>
          <a:lstStyle/>
          <a:p>
            <a:r>
              <a:rPr lang="en-US" dirty="0"/>
              <a:t>This diagram puts the complete mutation path together and separates control messages from the data path.</a:t>
            </a:r>
          </a:p>
          <a:p>
            <a:endParaRPr lang="en-US" dirty="0"/>
          </a:p>
          <a:p>
            <a:r>
              <a:rPr lang="en-US" dirty="0"/>
              <a:t>First, the client asks the master which chunkservers hold current replicas and which one has the primary lease. The master returns the primary and secondaries. These are small control messages; no file data passes through the master.</a:t>
            </a:r>
          </a:p>
          <a:p>
            <a:endParaRPr lang="en-US" dirty="0"/>
          </a:p>
          <a:p>
            <a:r>
              <a:rPr lang="en-US" dirty="0"/>
              <a:t>The client then pushes the data through the replicas. GFS orders the pipeline by network proximity. The client sends the bytes to one chunkserver, that server forwards them to the next, and the chain continues until every replica has buffered the data. Each machine uses its outgoing bandwidth once, and the path can avoid repeatedly crossing a bottleneck link.</a:t>
            </a:r>
          </a:p>
          <a:p>
            <a:endParaRPr lang="en-US" dirty="0"/>
          </a:p>
          <a:p>
            <a:r>
              <a:rPr lang="en-US" dirty="0"/>
              <a:t>After the replicas acknowledge that they have the bytes, the client sends the write command to the primary. The primary places the mutation in its serial order and forwards the command to the secondaries. Every replica applies the buffered data in that order, and the acknowledgments return through the primary to the client.</a:t>
            </a:r>
          </a:p>
          <a:p>
            <a:endParaRPr lang="en-US" dirty="0"/>
          </a:p>
          <a:p>
            <a:r>
              <a:rPr lang="en-US" dirty="0"/>
              <a:t>The separation serves two different goals. The data pipeline uses the network efficiently. The primary controls the mutation order needed to keep replicas aligned.</a:t>
            </a:r>
          </a:p>
          <a:p>
            <a:endParaRPr lang="en-US" dirty="0"/>
          </a:p>
          <a:p>
            <a:r>
              <a:rPr lang="en-US" dirty="0"/>
              <a:t>The next demo makes the same architectural separation visible in HDFS: a metadata lookup goes to the NameNode, while the file bytes move directly through a DataNode pipeline. HDFS does not implement GFS leases or record append, so those GFS-specific guarantees remain part of the paper rather than the demo.</a:t>
            </a:r>
          </a:p>
          <a:p>
            <a:endParaRPr lang="en-US" dirty="0"/>
          </a:p>
          <a:p>
            <a:r>
              <a:rPr lang="en-US" dirty="0"/>
              <a:t>SOURCE
MIT 6.824, Spring 2020, Lecture 3 transcript/video, 51:39–58:24.
Local transcript: fall2026/lectures/references/mit-6824-2020-lecture3-gfs-transcript.txt
https://www.youtube.com/watch?v=EpIgvowZr00
Ghemawat, Gobioff, and Leung, The Google File System, Sections 3.1 and 3.2.
https://pdos.csail.mit.edu/6.824/papers/gfs.pdf</a:t>
            </a:r>
          </a:p>
        </p:txBody>
      </p:sp>
      <p:sp>
        <p:nvSpPr>
          <p:cNvPr id="4" name="Slide Number Placeholder 3">
            <a:extLst>
              <a:ext uri="{FF2B5EF4-FFF2-40B4-BE49-F238E27FC236}">
                <a16:creationId xmlns:a16="http://schemas.microsoft.com/office/drawing/2014/main" id="{2D0659C9-61D4-31C7-3155-BE6F1B1DF380}"/>
              </a:ext>
            </a:extLst>
          </p:cNvPr>
          <p:cNvSpPr>
            <a:spLocks noGrp="1"/>
          </p:cNvSpPr>
          <p:nvPr>
            <p:ph type="sldNum" sz="quarter" idx="5"/>
          </p:nvPr>
        </p:nvSpPr>
        <p:spPr/>
        <p:txBody>
          <a:bodyPr/>
          <a:lstStyle/>
          <a:p>
            <a:fld id="{1C9584DC-3658-4054-9DA4-7B68A1D8CC6D}" type="slidenum">
              <a:rPr lang="zh-CN" altLang="en-US" smtClean="0"/>
              <a:t>35</a:t>
            </a:fld>
            <a:endParaRPr lang="zh-CN" altLang="en-US"/>
          </a:p>
        </p:txBody>
      </p:sp>
    </p:spTree>
    <p:extLst>
      <p:ext uri="{BB962C8B-B14F-4D97-AF65-F5344CB8AC3E}">
        <p14:creationId xmlns:p14="http://schemas.microsoft.com/office/powerpoint/2010/main" val="389769106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dirty="0"/>
              <a:t>LIVE DEMO 2, about 4 minutes.</a:t>
            </a:r>
            <a:endParaRPr lang="en-US" dirty="0"/>
          </a:p>
          <a:p>
            <a:r>
              <a:rPr dirty="0"/>
              <a:t>In a terminal: cd ~/work/BU/teaching/ec528/fall2026/lectures/demo/hdfs-gfs &amp;&amp; bash demo2-readwrite.sh</a:t>
            </a:r>
            <a:endParaRPr lang="en-US" dirty="0"/>
          </a:p>
          <a:p>
            <a:r>
              <a:rPr dirty="0"/>
              <a:t>If "Demo 1: HDFS" earlier in the lecture was run with KEEP=1, its cluster is still up and this reuses it in a couple of seconds; otherwise it starts its own, which takes 20 seconds warm and up to 90 seconds cold - run a warm-up before class. Rehearsed 09/16.</a:t>
            </a:r>
            <a:endParaRPr lang="en-US" dirty="0"/>
          </a:p>
          <a:p>
            <a:r>
              <a:rPr dirty="0"/>
              <a:t>Step 1, the read: point at the two kinds of line. One getBlockLocations call to the master for the whole file, then a direct connection per block. Which server serves which block depends on where the replicas are, so with only two live servers a block may come from the same machine as the previous one - say that before a student asks.</a:t>
            </a:r>
            <a:endParaRPr lang="en-US" dirty="0"/>
          </a:p>
          <a:p>
            <a:r>
              <a:rPr dirty="0"/>
              <a:t>Step 2, the write: three blocks means three addBlock calls. For each one the master returns a pipeline of two servers, and the client connects only to the first. That node forwards to the second. This is the slide you just showed: control to the master, data along a chain, and the bytes never touch the master.</a:t>
            </a:r>
            <a:endParaRPr lang="en-US" dirty="0"/>
          </a:p>
          <a:p>
            <a:r>
              <a:rPr dirty="0"/>
              <a:t>Step 3, the operation log: one OP_ADD, three OP_ADD_BLOCK, one OP_CLOSE, one OP_RENAME_OLD. The temporary file name and the rename are the CLI committing the file atomically once the data is written. Tie it back to the Master State slide: this log is what survives a reboot, and block locations are not in it.</a:t>
            </a:r>
            <a:endParaRPr lang="en-US" dirty="0"/>
          </a:p>
          <a:p>
            <a:r>
              <a:rPr dirty="0"/>
              <a:t>What this cannot show: GFS leases, a primary ordering concurrent writes, or record append. HDFS has a single writer per file and no record append, so the anomalies later in the lecture stay on the slides.</a:t>
            </a:r>
            <a:endParaRPr lang="en-US" dirty="0"/>
          </a:p>
          <a:p>
            <a:r>
              <a:rPr dirty="0"/>
              <a:t>SOURCE</a:t>
            </a:r>
            <a:endParaRPr lang="en-US" dirty="0"/>
          </a:p>
          <a:p>
            <a:r>
              <a:rPr dirty="0"/>
              <a:t>Local demo: fall2026/lectures/demo/hdfs-gfs/README.md (Hadoop 3.5.0).</a:t>
            </a:r>
            <a:endParaRPr lang="en-US" dirty="0"/>
          </a:p>
          <a:p>
            <a:r>
              <a:rPr dirty="0"/>
              <a:t>Ghemawat, Gobioff, and Leung, The Google File System, Sections 2.4, 3.1 and 3.2.</a:t>
            </a:r>
            <a:endParaRPr lang="en-US" dirty="0"/>
          </a:p>
          <a:p>
            <a:r>
              <a:rPr dirty="0"/>
              <a:t>https://pdos.csail.mit.edu/6.824/papers/gfs.pdf</a:t>
            </a:r>
            <a:endParaRPr lang="en-US" dirty="0"/>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36</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3818E-E686-B4A7-47B7-D10FD3739D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F40398-8DF5-C22D-D829-856B7BD92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36401E-9558-0871-C63C-0ECB2A30DFBF}"/>
              </a:ext>
            </a:extLst>
          </p:cNvPr>
          <p:cNvSpPr>
            <a:spLocks noGrp="1"/>
          </p:cNvSpPr>
          <p:nvPr>
            <p:ph type="body" idx="1"/>
          </p:nvPr>
        </p:nvSpPr>
        <p:spPr/>
        <p:txBody>
          <a:bodyPr/>
          <a:lstStyle/>
          <a:p>
            <a:r>
              <a:t>CUES</a:t>
            </a:r>
            <a:endParaRPr lang="en-US" dirty="0"/>
          </a:p>
          <a:p>
            <a:r>
              <a:t>Defined means consistent and complete</a:t>
            </a:r>
            <a:endParaRPr lang="en-US" dirty="0"/>
          </a:p>
          <a:p>
            <a:r>
              <a:t>Consistent means every replica returns the same bytes</a:t>
            </a:r>
            <a:endParaRPr lang="en-US" dirty="0"/>
          </a:p>
          <a:p>
            <a:r>
              <a:t>Failed mutations may leave replicas different</a:t>
            </a:r>
            <a:endParaRPr lang="en-US" dirty="0"/>
          </a:p>
          <a:p>
            <a:endParaRPr lang="en-US" dirty="0"/>
          </a:p>
          <a:p>
            <a:r>
              <a:t>GFS uses precise terms for file regions.</a:t>
            </a:r>
            <a:endParaRPr lang="en-US" dirty="0"/>
          </a:p>
          <a:p>
            <a:endParaRPr lang="en-US" dirty="0"/>
          </a:p>
          <a:p>
            <a:r>
              <a:t>A region is consistent when every client sees the same data regardless of which replica it reads. A region is defined when it is consistent and the bytes match one complete mutation.</a:t>
            </a:r>
            <a:endParaRPr lang="en-US" dirty="0"/>
          </a:p>
          <a:p>
            <a:endParaRPr lang="en-US" dirty="0"/>
          </a:p>
          <a:p>
            <a:r>
              <a:t>After a successful write with no concurrent writer, the region is defined. After successful concurrent writes, the replicas agree, so the region is consistent, but the bytes may contain fragments from different writes and therefore remain undefined. If a mutation fails, some replicas may have applied it and others may not, leaving the region inconsistent.</a:t>
            </a:r>
            <a:endParaRPr lang="en-US" dirty="0"/>
          </a:p>
          <a:p>
            <a:endParaRPr lang="en-US" dirty="0"/>
          </a:p>
          <a:p>
            <a:r>
              <a:t>This model is weaker than the single-server illusion. Google accepted it because its applications could avoid concurrent overwrites or detect unwanted records with checksums and identifiers.</a:t>
            </a:r>
            <a:endParaRPr lang="en-US" dirty="0"/>
          </a:p>
          <a:p>
            <a:endParaRPr lang="en-US" dirty="0"/>
          </a:p>
          <a:p>
            <a:r>
              <a:t>SOURCE</a:t>
            </a:r>
            <a:endParaRPr lang="en-US" dirty="0"/>
          </a:p>
          <a:p>
            <a:r>
              <a:t>MIT 6.824, Spring 2020, Lecture 3 video, 65:47-75:56.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2.7.1 and 2.7.2.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C941085A-B44F-AA74-55AE-74461F4DFC7A}"/>
              </a:ext>
            </a:extLst>
          </p:cNvPr>
          <p:cNvSpPr>
            <a:spLocks noGrp="1"/>
          </p:cNvSpPr>
          <p:nvPr>
            <p:ph type="sldNum" sz="quarter" idx="5"/>
          </p:nvPr>
        </p:nvSpPr>
        <p:spPr/>
        <p:txBody>
          <a:bodyPr/>
          <a:lstStyle/>
          <a:p>
            <a:fld id="{1C9584DC-3658-4054-9DA4-7B68A1D8CC6D}" type="slidenum">
              <a:rPr lang="zh-CN" altLang="en-US" smtClean="0"/>
              <a:t>37</a:t>
            </a:fld>
            <a:endParaRPr lang="zh-CN" altLang="en-US"/>
          </a:p>
        </p:txBody>
      </p:sp>
    </p:spTree>
    <p:extLst>
      <p:ext uri="{BB962C8B-B14F-4D97-AF65-F5344CB8AC3E}">
        <p14:creationId xmlns:p14="http://schemas.microsoft.com/office/powerpoint/2010/main" val="244096875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F17AA-B54E-2B1A-097B-E0899EF178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EB499E-5450-2854-5B67-10AEF20344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285366-A8AA-52CE-2759-67BC6C7C3D57}"/>
              </a:ext>
            </a:extLst>
          </p:cNvPr>
          <p:cNvSpPr>
            <a:spLocks noGrp="1"/>
          </p:cNvSpPr>
          <p:nvPr>
            <p:ph type="body" idx="1"/>
          </p:nvPr>
        </p:nvSpPr>
        <p:spPr/>
        <p:txBody>
          <a:bodyPr/>
          <a:lstStyle/>
          <a:p>
            <a:r>
              <a:t>This is the concrete failure behind an inconsistent region.</a:t>
            </a:r>
            <a:endParaRPr lang="en-US" dirty="0"/>
          </a:p>
          <a:p>
            <a:endParaRPr lang="en-US" dirty="0"/>
          </a:p>
          <a:p>
            <a:r>
              <a:t>The primary applies a mutation, but one secondary does not. The secondary may have crashed, run out of disk space, or missed a network message. Because not every replica acknowledged the operation, the primary returns an error to the writer.</a:t>
            </a:r>
            <a:endParaRPr lang="en-US" dirty="0"/>
          </a:p>
          <a:p>
            <a:endParaRPr lang="en-US" dirty="0"/>
          </a:p>
          <a:p>
            <a:r>
              <a:t>The partial update still exists. A reader that contacts the primary may see the new bytes, while a reader that contacts the secondary may see the old bytes. GFS does not immediately roll back the successful replicas.</a:t>
            </a:r>
            <a:endParaRPr lang="en-US" dirty="0"/>
          </a:p>
          <a:p>
            <a:endParaRPr lang="en-US" dirty="0"/>
          </a:p>
          <a:p>
            <a:r>
              <a:t>The application must treat a failed write as having an uncertain outcome. Retrying may eventually create one successful copy of the record, but earlier partial copies can remain.</a:t>
            </a:r>
            <a:endParaRPr lang="en-US" dirty="0"/>
          </a:p>
          <a:p>
            <a:endParaRPr lang="en-US" dirty="0"/>
          </a:p>
          <a:p>
            <a:r>
              <a:t>SOURCE</a:t>
            </a:r>
            <a:endParaRPr lang="en-US" dirty="0"/>
          </a:p>
          <a:p>
            <a:r>
              <a:t>MIT 6.824, Spring 2020, Lecture 3 video, 50:35-60:46.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 and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D6A671E7-EAFA-EDC3-A7DA-ADF1C5ADA039}"/>
              </a:ext>
            </a:extLst>
          </p:cNvPr>
          <p:cNvSpPr>
            <a:spLocks noGrp="1"/>
          </p:cNvSpPr>
          <p:nvPr>
            <p:ph type="sldNum" sz="quarter" idx="5"/>
          </p:nvPr>
        </p:nvSpPr>
        <p:spPr/>
        <p:txBody>
          <a:bodyPr/>
          <a:lstStyle/>
          <a:p>
            <a:fld id="{1C9584DC-3658-4054-9DA4-7B68A1D8CC6D}" type="slidenum">
              <a:rPr lang="zh-CN" altLang="en-US" smtClean="0"/>
              <a:t>38</a:t>
            </a:fld>
            <a:endParaRPr lang="zh-CN" altLang="en-US"/>
          </a:p>
        </p:txBody>
      </p:sp>
    </p:spTree>
    <p:extLst>
      <p:ext uri="{BB962C8B-B14F-4D97-AF65-F5344CB8AC3E}">
        <p14:creationId xmlns:p14="http://schemas.microsoft.com/office/powerpoint/2010/main" val="257433044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20F2C-5B1C-13F5-B344-9B13FC1584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10F3CF-255C-27EE-A8B3-386F524D19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A6B3F5-8978-1E7C-6D42-CC0A42D729C2}"/>
              </a:ext>
            </a:extLst>
          </p:cNvPr>
          <p:cNvSpPr>
            <a:spLocks noGrp="1"/>
          </p:cNvSpPr>
          <p:nvPr>
            <p:ph type="body" idx="1"/>
          </p:nvPr>
        </p:nvSpPr>
        <p:spPr/>
        <p:txBody>
          <a:bodyPr/>
          <a:lstStyle/>
          <a:p>
            <a:r>
              <a:t>Large writes can span chunk boundaries, so the client library breaks them into smaller mutations. Two clients performing such writes concurrently can interleave those pieces in different ways.</a:t>
            </a:r>
            <a:endParaRPr lang="en-US" dirty="0"/>
          </a:p>
          <a:p>
            <a:endParaRPr lang="en-US" dirty="0"/>
          </a:p>
          <a:p>
            <a:r>
              <a:t>GFS therefore emphasizes record append for workloads such as logs and producer-consumer queues. With record append, the primary chooses the offset and appends one record atomically. A retry can place the same record more than once, and a failed attempt can leave padding or an incomplete region.</a:t>
            </a:r>
            <a:endParaRPr lang="en-US" dirty="0"/>
          </a:p>
          <a:p>
            <a:endParaRPr lang="en-US" dirty="0"/>
          </a:p>
          <a:p>
            <a:r>
              <a:t>Applications can include record identifiers and checksums. Readers then discard padding and duplicate records. This is a clear example of co-design: GFS exposes weaker semantics, and applications include logic that makes those semantics usable.</a:t>
            </a:r>
            <a:endParaRPr lang="en-US" dirty="0"/>
          </a:p>
          <a:p>
            <a:endParaRPr lang="en-US" dirty="0"/>
          </a:p>
          <a:p>
            <a:r>
              <a:t>SOURCE</a:t>
            </a:r>
            <a:endParaRPr lang="en-US" dirty="0"/>
          </a:p>
          <a:p>
            <a:r>
              <a:t>MIT 6.824, Spring 2020, Lecture 3 video, 65:47-75:56.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2.7.2 and 3.3.</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054E87E4-5EDA-F440-9536-5B573A4BB733}"/>
              </a:ext>
            </a:extLst>
          </p:cNvPr>
          <p:cNvSpPr>
            <a:spLocks noGrp="1"/>
          </p:cNvSpPr>
          <p:nvPr>
            <p:ph type="sldNum" sz="quarter" idx="5"/>
          </p:nvPr>
        </p:nvSpPr>
        <p:spPr/>
        <p:txBody>
          <a:bodyPr/>
          <a:lstStyle/>
          <a:p>
            <a:fld id="{1C9584DC-3658-4054-9DA4-7B68A1D8CC6D}" type="slidenum">
              <a:rPr lang="zh-CN" altLang="en-US" smtClean="0"/>
              <a:t>39</a:t>
            </a:fld>
            <a:endParaRPr lang="zh-CN" altLang="en-US"/>
          </a:p>
        </p:txBody>
      </p:sp>
    </p:spTree>
    <p:extLst>
      <p:ext uri="{BB962C8B-B14F-4D97-AF65-F5344CB8AC3E}">
        <p14:creationId xmlns:p14="http://schemas.microsoft.com/office/powerpoint/2010/main" val="264261898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Draw this on the board as you go; it is the concrete picture behind the consistency table.</a:t>
            </a:r>
            <a:endParaRPr lang="en-US"/>
          </a:p>
          <a:p>
            <a:r>
              <a:t>The key detail is step 3: the primary does not go back and fix B. It has already picked the offset for C, because appends from many clients are in flight at once and waiting would cost throughput.</a:t>
            </a:r>
            <a:endParaRPr lang="en-US"/>
          </a:p>
          <a:p>
            <a:r>
              <a:t>What the client is promised: if the append returned success, the record is in all replicas at the same offset. If it returned an error, anything is possible, which is why the client retries the whole append.</a:t>
            </a:r>
            <a:endParaRPr lang="en-US"/>
          </a:p>
          <a:p>
            <a:r>
              <a:t>That retry is what produces the duplicate B. An application that cannot live with duplicates has to filter them itself.</a:t>
            </a:r>
            <a:endParaRPr lang="en-US"/>
          </a:p>
          <a:p>
            <a:r>
              <a:t>SOURCE</a:t>
            </a:r>
            <a:endParaRPr lang="en-US"/>
          </a:p>
          <a:p>
            <a:r>
              <a:t>MIT 6.824, Spring 2020, Lecture 3 video, 67:47-75:11.</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 3.3.</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40</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The honest answer to "why is this acceptable" is that the system and its applications were written by the same company, and the applications were written knowing this behaviour.</a:t>
            </a:r>
            <a:endParaRPr lang="en-US"/>
          </a:p>
          <a:p>
            <a:r>
              <a:t>Ask: which of our own project workloads could tolerate a duplicated or reordered record, and which could not?</a:t>
            </a:r>
            <a:endParaRPr lang="en-US"/>
          </a:p>
          <a:p>
            <a:r>
              <a:t>The retrospective interview with a GFS engineer is worth quoting here: the relaxed consistency pushed real work into every application, and with hindsight they would have tightened it.</a:t>
            </a:r>
            <a:endParaRPr lang="en-US"/>
          </a:p>
          <a:p>
            <a:r>
              <a:t>SOURCE</a:t>
            </a:r>
            <a:endParaRPr lang="en-US"/>
          </a:p>
          <a:p>
            <a:r>
              <a:t>MIT 6.5840, GFS lecture notes.</a:t>
            </a:r>
            <a:endParaRPr lang="en-US"/>
          </a:p>
          <a:p>
            <a:r>
              <a:t>https://pdos.csail.mit.edu/6.824/notes/l-gfs.txt</a:t>
            </a:r>
            <a:endParaRPr lang="en-US"/>
          </a:p>
          <a:p>
            <a:r>
              <a:t>Ghemawat, Gobioff, and Leung, The Google File System, Section 2.7.</a:t>
            </a:r>
            <a:endParaRPr lang="en-US"/>
          </a:p>
          <a:p>
            <a:r>
              <a:t>https://pdos.csail.mit.edu/6.824/papers/gfs.pdf</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41</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F948D-7E44-147F-A902-88379D5D7D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D5C3E1-2CC2-7FEB-7379-F8D6762B66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764C69-9C2D-4C4B-87D1-E8469E932C08}"/>
              </a:ext>
            </a:extLst>
          </p:cNvPr>
          <p:cNvSpPr>
            <a:spLocks noGrp="1"/>
          </p:cNvSpPr>
          <p:nvPr>
            <p:ph type="body" idx="1"/>
          </p:nvPr>
        </p:nvSpPr>
        <p:spPr/>
        <p:txBody>
          <a:bodyPr/>
          <a:lstStyle/>
          <a:p>
            <a:r>
              <a:rPr lang="en-US" b="1" dirty="0"/>
              <a:t>A client crash creates an uncertain outcome.</a:t>
            </a:r>
          </a:p>
          <a:p>
            <a:endParaRPr lang="en-US" b="1" dirty="0"/>
          </a:p>
          <a:p>
            <a:r>
              <a:rPr lang="en-US" b="1" dirty="0"/>
              <a:t>If the client crashes before asking the primary to perform the mutation, no replica applies it and the file stays unchanged.</a:t>
            </a:r>
          </a:p>
          <a:p>
            <a:endParaRPr lang="en-US" b="1" dirty="0"/>
          </a:p>
          <a:p>
            <a:r>
              <a:rPr lang="en-US" b="1" dirty="0"/>
              <a:t>If the client crashes after sending the request, the primary may complete the mutation, may update only some replicas, or may finish but lose the acknowledgment before the client sees it. The system cannot infer the client's intention from the missing connection.</a:t>
            </a:r>
          </a:p>
          <a:p>
            <a:endParaRPr lang="en-US" b="1" dirty="0"/>
          </a:p>
          <a:p>
            <a:r>
              <a:rPr lang="en-US" b="1" dirty="0"/>
              <a:t>For record append, a surviving client normally retries after an error or timeout, which gives at-least-once behavior and may create duplicates. If the client itself dies and never retries, the file may contain a complete record, a partial outcome across replicas, or no record. Readers and higher-level applications must tolerate that uncertainty.</a:t>
            </a:r>
          </a:p>
          <a:p>
            <a:endParaRPr lang="en-US" b="1" dirty="0"/>
          </a:p>
          <a:p>
            <a:r>
              <a:rPr lang="en-US" b="1" dirty="0"/>
              <a:t>SOURCE</a:t>
            </a:r>
          </a:p>
          <a:p>
            <a:r>
              <a:rPr lang="en-US" b="1" dirty="0"/>
              <a:t>MIT 6.824, Spring 2020, Lecture 3 video, 50:35-60:46.</a:t>
            </a:r>
          </a:p>
          <a:p>
            <a:r>
              <a:rPr lang="en-US" b="1" dirty="0"/>
              <a:t>https://www.youtube.com/watch?v=EpIgvowZr00</a:t>
            </a:r>
          </a:p>
          <a:p>
            <a:r>
              <a:rPr lang="en-US" b="1" dirty="0"/>
              <a:t>MIT 6.5840, GFS lecture notes.</a:t>
            </a:r>
          </a:p>
          <a:p>
            <a:r>
              <a:rPr lang="en-US" b="1" dirty="0"/>
              <a:t>https://pdos.csail.mit.edu/6.824/notes/l-gfs.txt</a:t>
            </a:r>
          </a:p>
          <a:p>
            <a:r>
              <a:rPr lang="en-US" b="1" dirty="0"/>
              <a:t>Ghemawat, Gobioff, and Leung, The Google File System, Sections 2.7.2, 3.1, and 3.3.</a:t>
            </a:r>
          </a:p>
          <a:p>
            <a:r>
              <a:rPr lang="en-US" b="1" dirty="0"/>
              <a:t>https://pdos.csail.mit.edu/6.824/papers/gfs.pdf</a:t>
            </a:r>
          </a:p>
        </p:txBody>
      </p:sp>
      <p:sp>
        <p:nvSpPr>
          <p:cNvPr id="4" name="Slide Number Placeholder 3">
            <a:extLst>
              <a:ext uri="{FF2B5EF4-FFF2-40B4-BE49-F238E27FC236}">
                <a16:creationId xmlns:a16="http://schemas.microsoft.com/office/drawing/2014/main" id="{90313BB5-9EB2-BB18-980A-26E8A18ED45D}"/>
              </a:ext>
            </a:extLst>
          </p:cNvPr>
          <p:cNvSpPr>
            <a:spLocks noGrp="1"/>
          </p:cNvSpPr>
          <p:nvPr>
            <p:ph type="sldNum" sz="quarter" idx="5"/>
          </p:nvPr>
        </p:nvSpPr>
        <p:spPr/>
        <p:txBody>
          <a:bodyPr/>
          <a:lstStyle/>
          <a:p>
            <a:fld id="{1C9584DC-3658-4054-9DA4-7B68A1D8CC6D}" type="slidenum">
              <a:rPr lang="zh-CN" altLang="en-US" smtClean="0"/>
              <a:t>42</a:t>
            </a:fld>
            <a:endParaRPr lang="zh-CN" altLang="en-US"/>
          </a:p>
        </p:txBody>
      </p:sp>
    </p:spTree>
    <p:extLst>
      <p:ext uri="{BB962C8B-B14F-4D97-AF65-F5344CB8AC3E}">
        <p14:creationId xmlns:p14="http://schemas.microsoft.com/office/powerpoint/2010/main" val="297442655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C23F44-56C0-8903-42EF-A2C278000C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41EC11-3EBB-E8B6-C84B-73D1296AFC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BEB641-9F73-67EC-572D-BAE27EC85BCF}"/>
              </a:ext>
            </a:extLst>
          </p:cNvPr>
          <p:cNvSpPr>
            <a:spLocks noGrp="1"/>
          </p:cNvSpPr>
          <p:nvPr>
            <p:ph type="body" idx="1"/>
          </p:nvPr>
        </p:nvSpPr>
        <p:spPr/>
        <p:txBody>
          <a:bodyPr/>
          <a:lstStyle/>
          <a:p>
            <a:r>
              <a:t>CUES</a:t>
            </a:r>
            <a:endParaRPr lang="en-US" dirty="0"/>
          </a:p>
          <a:p>
            <a:r>
              <a:t>Retry transient failures</a:t>
            </a:r>
            <a:endParaRPr lang="en-US" dirty="0"/>
          </a:p>
          <a:p>
            <a:r>
              <a:t>Return an error if a secondary does not acknowledge</a:t>
            </a:r>
            <a:endParaRPr lang="en-US" dirty="0"/>
          </a:p>
          <a:p>
            <a:r>
              <a:t>Detect dead chunkservers through heartbeats</a:t>
            </a:r>
            <a:endParaRPr lang="en-US" dirty="0"/>
          </a:p>
          <a:p>
            <a:r>
              <a:t>Remove failed replicas and create replacements</a:t>
            </a:r>
            <a:endParaRPr lang="en-US" dirty="0"/>
          </a:p>
          <a:p>
            <a:endParaRPr lang="en-US" dirty="0"/>
          </a:p>
          <a:p>
            <a:r>
              <a:t>Suppose a secondary crashes while the primary is applying a write. The primary can retry briefly in case the process or network recovers. If the secondary still cannot acknowledge, the primary returns an error to the client, and the client may retry the full operation.</a:t>
            </a:r>
            <a:endParaRPr lang="en-US" dirty="0"/>
          </a:p>
          <a:p>
            <a:endParaRPr lang="en-US" dirty="0"/>
          </a:p>
          <a:p>
            <a:r>
              <a:t>Separately, the master exchanges heartbeat messages with every chunkserver. When it decides that a server has failed, it removes that server from the replica-location lists and schedules new replicas to restore the target replication level.</a:t>
            </a:r>
            <a:endParaRPr lang="en-US" dirty="0"/>
          </a:p>
          <a:p>
            <a:endParaRPr lang="en-US" dirty="0"/>
          </a:p>
          <a:p>
            <a:r>
              <a:t>A newly chosen replica group receives a new chunk version. That version lets the master exclude a server that later returns with a stale copy.</a:t>
            </a:r>
            <a:endParaRPr lang="en-US" dirty="0"/>
          </a:p>
          <a:p>
            <a:endParaRPr lang="en-US" dirty="0"/>
          </a:p>
          <a:p>
            <a:r>
              <a:t>SOURCE</a:t>
            </a:r>
            <a:endParaRPr lang="en-US" dirty="0"/>
          </a:p>
          <a:p>
            <a:r>
              <a:t>MIT 6.824, Spring 2020, Lecture 3 video, 60:46-65:47.</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4.3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FC2B20AC-B371-CB96-0972-05A53F6693B5}"/>
              </a:ext>
            </a:extLst>
          </p:cNvPr>
          <p:cNvSpPr>
            <a:spLocks noGrp="1"/>
          </p:cNvSpPr>
          <p:nvPr>
            <p:ph type="sldNum" sz="quarter" idx="5"/>
          </p:nvPr>
        </p:nvSpPr>
        <p:spPr/>
        <p:txBody>
          <a:bodyPr/>
          <a:lstStyle/>
          <a:p>
            <a:fld id="{1C9584DC-3658-4054-9DA4-7B68A1D8CC6D}" type="slidenum">
              <a:rPr lang="zh-CN" altLang="en-US" smtClean="0"/>
              <a:t>43</a:t>
            </a:fld>
            <a:endParaRPr lang="zh-CN" altLang="en-US"/>
          </a:p>
        </p:txBody>
      </p:sp>
    </p:spTree>
    <p:extLst>
      <p:ext uri="{BB962C8B-B14F-4D97-AF65-F5344CB8AC3E}">
        <p14:creationId xmlns:p14="http://schemas.microsoft.com/office/powerpoint/2010/main" val="299223687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728018-8C23-1B0A-E4D9-655D40642E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1E3055-E841-9EDB-7A90-8D57DFCB72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768315-6CE4-DC46-F292-2FA46DD4FD52}"/>
              </a:ext>
            </a:extLst>
          </p:cNvPr>
          <p:cNvSpPr>
            <a:spLocks noGrp="1"/>
          </p:cNvSpPr>
          <p:nvPr>
            <p:ph type="body" idx="1"/>
          </p:nvPr>
        </p:nvSpPr>
        <p:spPr/>
        <p:txBody>
          <a:bodyPr/>
          <a:lstStyle/>
          <a:p>
            <a:r>
              <a:t>Re-replication is necessary, but it consumes real time and bandwidth.</a:t>
            </a:r>
            <a:endParaRPr lang="en-US" dirty="0"/>
          </a:p>
          <a:p>
            <a:endParaRPr lang="en-US" dirty="0"/>
          </a:p>
          <a:p>
            <a:r>
              <a:t>The historical example on the slide shows the scale. Copying an 80-gigabyte disk over a 10-megabyte-per-second link can take hours. A server that misses one heartbeat may simply be restarting, so immediate reconstruction could waste that copying work.</a:t>
            </a:r>
            <a:endParaRPr lang="en-US" dirty="0"/>
          </a:p>
          <a:p>
            <a:endParaRPr lang="en-US" dirty="0"/>
          </a:p>
          <a:p>
            <a:r>
              <a:t>Waiting too long creates a different risk. While a chunk has fewer replicas, another disk or machine failure could destroy the remaining copies. The master therefore prioritizes re-replication based on factors such as how far a chunk has fallen below its target and whether it blocks important jobs.</a:t>
            </a:r>
            <a:endParaRPr lang="en-US" dirty="0"/>
          </a:p>
          <a:p>
            <a:endParaRPr lang="en-US" dirty="0"/>
          </a:p>
          <a:p>
            <a:r>
              <a:t>This is a general failure-detector tradeoff. Fast suspicion improves recovery time, while conservative suspicion avoids unnecessary reconfiguration.</a:t>
            </a:r>
            <a:endParaRPr lang="en-US" dirty="0"/>
          </a:p>
          <a:p>
            <a:endParaRPr lang="en-US" dirty="0"/>
          </a:p>
          <a:p>
            <a:r>
              <a:t>SOURCE</a:t>
            </a:r>
            <a:endParaRPr lang="en-US" dirty="0"/>
          </a:p>
          <a:p>
            <a:r>
              <a:t>MIT 6.824, Spring 2020, Lecture 3 video, 60:46-65:47.</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4.3.</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405159DA-B620-946F-FBBE-C2D2F49EA169}"/>
              </a:ext>
            </a:extLst>
          </p:cNvPr>
          <p:cNvSpPr>
            <a:spLocks noGrp="1"/>
          </p:cNvSpPr>
          <p:nvPr>
            <p:ph type="sldNum" sz="quarter" idx="5"/>
          </p:nvPr>
        </p:nvSpPr>
        <p:spPr/>
        <p:txBody>
          <a:bodyPr/>
          <a:lstStyle/>
          <a:p>
            <a:fld id="{1C9584DC-3658-4054-9DA4-7B68A1D8CC6D}" type="slidenum">
              <a:rPr lang="zh-CN" altLang="en-US" smtClean="0"/>
              <a:t>44</a:t>
            </a:fld>
            <a:endParaRPr lang="zh-CN" altLang="en-US"/>
          </a:p>
        </p:txBody>
      </p:sp>
    </p:spTree>
    <p:extLst>
      <p:ext uri="{BB962C8B-B14F-4D97-AF65-F5344CB8AC3E}">
        <p14:creationId xmlns:p14="http://schemas.microsoft.com/office/powerpoint/2010/main" val="380008550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4872-59CF-C0D2-4374-EEE4A89178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E7C7F2-318A-9210-225E-82B4F450FF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09FA5F-A68E-6FF7-1200-B1E7465F13EE}"/>
              </a:ext>
            </a:extLst>
          </p:cNvPr>
          <p:cNvSpPr>
            <a:spLocks noGrp="1"/>
          </p:cNvSpPr>
          <p:nvPr>
            <p:ph type="body" idx="1"/>
          </p:nvPr>
        </p:nvSpPr>
        <p:spPr/>
        <p:txBody>
          <a:bodyPr/>
          <a:lstStyle/>
          <a:p>
            <a:r>
              <a:t>The primary for a chunk can fail, but the master cannot instantly know whether it crashed or merely became unreachable from part of the network.</a:t>
            </a:r>
            <a:endParaRPr lang="en-US" dirty="0"/>
          </a:p>
          <a:p>
            <a:endParaRPr lang="en-US" dirty="0"/>
          </a:p>
          <a:p>
            <a:r>
              <a:t>If the master immediately appoints a replacement while the old primary still serves some clients, both servers may accept writes. The replicas then follow two independent orders. This is split brain.</a:t>
            </a:r>
            <a:endParaRPr lang="en-US" dirty="0"/>
          </a:p>
          <a:p>
            <a:endParaRPr lang="en-US" dirty="0"/>
          </a:p>
          <a:p>
            <a:r>
              <a:t>Client caching makes the problem harder. A client may hold recently issued information that still names the old primary. Even if the master has changed its answer, an in-flight or cached response can direct that client to the old server.</a:t>
            </a:r>
            <a:endParaRPr lang="en-US" dirty="0"/>
          </a:p>
          <a:p>
            <a:endParaRPr lang="en-US" dirty="0"/>
          </a:p>
          <a:p>
            <a:r>
              <a:t>GFS needs a rule that limits how long any primary can continue acting without renewed permission.</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8A3EE63F-F912-5C21-B45B-BCD536A47914}"/>
              </a:ext>
            </a:extLst>
          </p:cNvPr>
          <p:cNvSpPr>
            <a:spLocks noGrp="1"/>
          </p:cNvSpPr>
          <p:nvPr>
            <p:ph type="sldNum" sz="quarter" idx="5"/>
          </p:nvPr>
        </p:nvSpPr>
        <p:spPr/>
        <p:txBody>
          <a:bodyPr/>
          <a:lstStyle/>
          <a:p>
            <a:fld id="{1C9584DC-3658-4054-9DA4-7B68A1D8CC6D}" type="slidenum">
              <a:rPr lang="zh-CN" altLang="en-US" smtClean="0"/>
              <a:t>45</a:t>
            </a:fld>
            <a:endParaRPr lang="zh-CN" altLang="en-US"/>
          </a:p>
        </p:txBody>
      </p:sp>
    </p:spTree>
    <p:extLst>
      <p:ext uri="{BB962C8B-B14F-4D97-AF65-F5344CB8AC3E}">
        <p14:creationId xmlns:p14="http://schemas.microsoft.com/office/powerpoint/2010/main" val="38649570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9AD81-B259-BE92-167E-AB72405C53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107EDA-2069-B1E6-417D-E5F3664376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4761A3-70EE-A99B-45F1-D9055A234D85}"/>
              </a:ext>
            </a:extLst>
          </p:cNvPr>
          <p:cNvSpPr>
            <a:spLocks noGrp="1"/>
          </p:cNvSpPr>
          <p:nvPr>
            <p:ph type="body" idx="1"/>
          </p:nvPr>
        </p:nvSpPr>
        <p:spPr/>
        <p:txBody>
          <a:bodyPr/>
          <a:lstStyle/>
          <a:p>
            <a:r>
              <a:t>CUES</a:t>
            </a:r>
            <a:endParaRPr lang="en-US" dirty="0"/>
          </a:p>
          <a:p>
            <a:r>
              <a:t>Lease grants temporary primary authority</a:t>
            </a:r>
            <a:endParaRPr lang="en-US" dirty="0"/>
          </a:p>
          <a:p>
            <a:r>
              <a:t>Primary stops when the lease expires</a:t>
            </a:r>
            <a:endParaRPr lang="en-US" dirty="0"/>
          </a:p>
          <a:p>
            <a:r>
              <a:t>Master waits before appointing a replacement</a:t>
            </a:r>
            <a:endParaRPr lang="en-US" dirty="0"/>
          </a:p>
          <a:p>
            <a:r>
              <a:t>One lease per actively mutated chunk</a:t>
            </a:r>
            <a:endParaRPr lang="en-US" dirty="0"/>
          </a:p>
          <a:p>
            <a:endParaRPr lang="en-US" dirty="0"/>
          </a:p>
          <a:p>
            <a:r>
              <a:t>The master gives the primary a lease, normally for 60 seconds. The lease is permission to order mutations for one chunk until a known expiration time.</a:t>
            </a:r>
            <a:endParaRPr lang="en-US" dirty="0"/>
          </a:p>
          <a:p>
            <a:endParaRPr lang="en-US" dirty="0"/>
          </a:p>
          <a:p>
            <a:r>
              <a:t>The primary promises to stop acting as primary when the lease expires. The master promises not to appoint another primary before that expiration. If communication fails, the master waits out the old lease before granting a new one.</a:t>
            </a:r>
            <a:endParaRPr lang="en-US" dirty="0"/>
          </a:p>
          <a:p>
            <a:endParaRPr lang="en-US" dirty="0"/>
          </a:p>
          <a:p>
            <a:r>
              <a:t>That waiting period prevents two primaries from acting at once, assuming the servers' clocks remain within the timing assumptions used by the lease protocol. Active writes can extend a lease through heartbeat messages.</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E7E98E07-8F81-A69A-CA05-625214346D65}"/>
              </a:ext>
            </a:extLst>
          </p:cNvPr>
          <p:cNvSpPr>
            <a:spLocks noGrp="1"/>
          </p:cNvSpPr>
          <p:nvPr>
            <p:ph type="sldNum" sz="quarter" idx="5"/>
          </p:nvPr>
        </p:nvSpPr>
        <p:spPr/>
        <p:txBody>
          <a:bodyPr/>
          <a:lstStyle/>
          <a:p>
            <a:fld id="{1C9584DC-3658-4054-9DA4-7B68A1D8CC6D}" type="slidenum">
              <a:rPr lang="zh-CN" altLang="en-US" smtClean="0"/>
              <a:t>46</a:t>
            </a:fld>
            <a:endParaRPr lang="zh-CN" altLang="en-US"/>
          </a:p>
        </p:txBody>
      </p:sp>
    </p:spTree>
    <p:extLst>
      <p:ext uri="{BB962C8B-B14F-4D97-AF65-F5344CB8AC3E}">
        <p14:creationId xmlns:p14="http://schemas.microsoft.com/office/powerpoint/2010/main" val="372264673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306A2-1628-4258-5329-0E6ECB5D7B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99FEF1-955A-DFF2-D703-AC0458B1C9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F99A59-EBDF-A787-3BE1-6C9839F1E20C}"/>
              </a:ext>
            </a:extLst>
          </p:cNvPr>
          <p:cNvSpPr>
            <a:spLocks noGrp="1"/>
          </p:cNvSpPr>
          <p:nvPr>
            <p:ph type="body" idx="1"/>
          </p:nvPr>
        </p:nvSpPr>
        <p:spPr/>
        <p:txBody>
          <a:bodyPr/>
          <a:lstStyle/>
          <a:p>
            <a:r>
              <a:t>When a primary chunkserver fails, the master removes it from the location lists. For every chunk that used that primary, the master waits until the old lease must have expired.</a:t>
            </a:r>
            <a:endParaRPr lang="en-US" dirty="0"/>
          </a:p>
          <a:p>
            <a:endParaRPr lang="en-US" dirty="0"/>
          </a:p>
          <a:p>
            <a:r>
              <a:t>The master then chooses a new primary from the replicas with the current chunk version and grants a new lease. Replicas with older version numbers remain stale and cannot rejoin the active replica group until GFS replaces or updates them.</a:t>
            </a:r>
            <a:endParaRPr lang="en-US" dirty="0"/>
          </a:p>
          <a:p>
            <a:endParaRPr lang="en-US" dirty="0"/>
          </a:p>
          <a:p>
            <a:r>
              <a:t>Notice the deliberate availability tradeoff. GFS may pause mutations for up to one lease period to avoid split brain. Reads from surviving replicas may continue, but the system delays a new writer until it can safely establish one ordering authority.</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4.3,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2059626-2CD0-FBEE-4954-EB0FB3BCC1A6}"/>
              </a:ext>
            </a:extLst>
          </p:cNvPr>
          <p:cNvSpPr>
            <a:spLocks noGrp="1"/>
          </p:cNvSpPr>
          <p:nvPr>
            <p:ph type="sldNum" sz="quarter" idx="5"/>
          </p:nvPr>
        </p:nvSpPr>
        <p:spPr/>
        <p:txBody>
          <a:bodyPr/>
          <a:lstStyle/>
          <a:p>
            <a:fld id="{1C9584DC-3658-4054-9DA4-7B68A1D8CC6D}" type="slidenum">
              <a:rPr lang="zh-CN" altLang="en-US" smtClean="0"/>
              <a:t>47</a:t>
            </a:fld>
            <a:endParaRPr lang="zh-CN" altLang="en-US"/>
          </a:p>
        </p:txBody>
      </p:sp>
    </p:spTree>
    <p:extLst>
      <p:ext uri="{BB962C8B-B14F-4D97-AF65-F5344CB8AC3E}">
        <p14:creationId xmlns:p14="http://schemas.microsoft.com/office/powerpoint/2010/main" val="370273557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This closes the failure section: we have covered a client, a secondary, a primary, and now the one machine the paper admits is a single point of failure.</a:t>
            </a:r>
            <a:endParaRPr lang="en-US"/>
          </a:p>
          <a:p>
            <a:r>
              <a:t>Point out the asymmetry: chunkserver failures are handled automatically and constantly, while master failure was handled by a person on call.</a:t>
            </a:r>
            <a:endParaRPr lang="en-US"/>
          </a:p>
          <a:p>
            <a:r>
              <a:t>Shadow masters are for read availability, not for taking over. Students confuse them with a standby master: a shadow may serve slightly stale metadata and never grants leases.</a:t>
            </a:r>
            <a:endParaRPr lang="en-US"/>
          </a:p>
          <a:p>
            <a:r>
              <a:t>SOURCE</a:t>
            </a:r>
            <a:endParaRPr lang="en-US"/>
          </a:p>
          <a:p>
            <a:r>
              <a:t>MIT 6.824, Spring 2020, Lecture 3 video, 80:05-84:00.</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Sections 5.1.2 and 5.1.3.</a:t>
            </a:r>
            <a:endParaRPr lang="en-US"/>
          </a:p>
          <a:p>
            <a:r>
              <a:t>https://pdos.csail.mit.edu/6.824/papers/gfs.pdf</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48</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Close the loop with the "What Would We Like for Consistency?" slide near the start: we wanted single-server behaviour, GFS gave up part of it for performance, and this is the bill for buying it back.</a:t>
            </a:r>
            <a:endParaRPr lang="en-US"/>
          </a:p>
          <a:p>
            <a:r>
              <a:t>Each line here is a real mechanism: duplicate detection, two-phase commit, log reconciliation on leader change, and leases for readers.</a:t>
            </a:r>
            <a:endParaRPr lang="en-US"/>
          </a:p>
          <a:p>
            <a:r>
              <a:t>This is exactly what the next lecture builds. On 09/28 we read Raft, which makes a replicated log that keeps replicas identical.</a:t>
            </a:r>
            <a:endParaRPr lang="en-US"/>
          </a:p>
          <a:p>
            <a:r>
              <a:t>SOURCE</a:t>
            </a:r>
            <a:endParaRPr lang="en-US"/>
          </a:p>
          <a:p>
            <a:r>
              <a:t>MIT 6.824, Spring 2020, Lecture 3 video, 76:04-80:05.</a:t>
            </a:r>
            <a:endParaRPr lang="en-US"/>
          </a:p>
          <a:p>
            <a:r>
              <a:t>https://www.youtube.com/watch?v=EpIgvowZr00</a:t>
            </a:r>
            <a:endParaRPr lang="en-US"/>
          </a:p>
          <a:p>
            <a:r>
              <a:t>MIT 6.5840, GFS lecture notes.</a:t>
            </a:r>
            <a:endParaRPr lang="en-US"/>
          </a:p>
          <a:p>
            <a:r>
              <a:t>https://pdos.csail.mit.edu/6.824/notes/l-gfs.txt</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49</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Use this as the summary of the case study, and as the template for reading the next system: what did it buy, and what did it cost?</a:t>
            </a:r>
            <a:endParaRPr lang="en-US"/>
          </a:p>
          <a:p>
            <a:r>
              <a:t>The file-count problem is the one that eventually killed the design: the number of files grew far beyond the paper, and the master could not hold the metadata.</a:t>
            </a:r>
            <a:endParaRPr lang="en-US"/>
          </a:p>
          <a:p>
            <a:r>
              <a:t>Colossus is the successor and shards master state across many machines; BigTable was the answer for workloads made of many small records.</a:t>
            </a:r>
            <a:endParaRPr lang="en-US"/>
          </a:p>
          <a:p>
            <a:r>
              <a:t>SOURCE</a:t>
            </a:r>
            <a:endParaRPr lang="en-US"/>
          </a:p>
          <a:p>
            <a:r>
              <a:t>MIT 6.824, Spring 2020, Lecture 3 video, 80:05-84:00.</a:t>
            </a:r>
            <a:endParaRPr lang="en-US"/>
          </a:p>
          <a:p>
            <a:r>
              <a:t>https://www.youtube.com/watch?v=EpIgvowZr00</a:t>
            </a:r>
            <a:endParaRPr lang="en-US"/>
          </a:p>
          <a:p>
            <a:r>
              <a:t>MIT 6.5840, GFS lecture notes.</a:t>
            </a:r>
            <a:endParaRPr lang="en-US"/>
          </a:p>
          <a:p>
            <a:r>
              <a:t>https://pdos.csail.mit.edu/6.824/notes/l-gfs.txt</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50</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EB9B3B-1E66-4133-2E9D-89CA8130D6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785021-8898-E22B-2F0B-6175C89EA2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BCEF51-4E62-DE80-175B-C53780B5EF6C}"/>
              </a:ext>
            </a:extLst>
          </p:cNvPr>
          <p:cNvSpPr>
            <a:spLocks noGrp="1"/>
          </p:cNvSpPr>
          <p:nvPr>
            <p:ph type="body" idx="1"/>
          </p:nvPr>
        </p:nvSpPr>
        <p:spPr/>
        <p:txBody>
          <a:bodyPr/>
          <a:lstStyle/>
          <a:p>
            <a:r>
              <a:t>GFS was an internal Google system, so we cannot install the original service for a class exercise. HDFS is a useful system to try because its design drew heavily from GFS.</a:t>
            </a:r>
            <a:endParaRPr lang="en-US" dirty="0"/>
          </a:p>
          <a:p>
            <a:endParaRPr lang="en-US" dirty="0"/>
          </a:p>
          <a:p>
            <a:r>
              <a:t>HDFS also separates a metadata server from data-storage servers, divides files into large blocks, and replicates those blocks. The names and details differ, and HDFS is not an exact copy of GFS, but operating it makes the architecture concrete.</a:t>
            </a:r>
            <a:endParaRPr lang="en-US" dirty="0"/>
          </a:p>
          <a:p>
            <a:endParaRPr lang="en-US" dirty="0"/>
          </a:p>
          <a:p>
            <a:r>
              <a:t>As you experiment, look for the same questions from this lecture: where metadata lives, how clients find blocks, how replicas recover, and what consistency guarantees applications receive.</a:t>
            </a:r>
            <a:endParaRPr lang="en-US" dirty="0"/>
          </a:p>
          <a:p>
            <a:endParaRPr lang="en-US" dirty="0"/>
          </a:p>
          <a:p>
            <a:r>
              <a:t>SOURCE</a:t>
            </a:r>
            <a:endParaRPr lang="en-US" dirty="0"/>
          </a:p>
          <a:p>
            <a:r>
              <a:t>MIT 6.824, Spring 2020, Lecture 3 video, 80:57-82:22.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8.</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1ADBC9C7-DCF6-3B2D-3477-46EBFF3DA800}"/>
              </a:ext>
            </a:extLst>
          </p:cNvPr>
          <p:cNvSpPr>
            <a:spLocks noGrp="1"/>
          </p:cNvSpPr>
          <p:nvPr>
            <p:ph type="sldNum" sz="quarter" idx="5"/>
          </p:nvPr>
        </p:nvSpPr>
        <p:spPr/>
        <p:txBody>
          <a:bodyPr/>
          <a:lstStyle/>
          <a:p>
            <a:fld id="{1C9584DC-3658-4054-9DA4-7B68A1D8CC6D}" type="slidenum">
              <a:rPr lang="zh-CN" altLang="en-US" smtClean="0"/>
              <a:t>51</a:t>
            </a:fld>
            <a:endParaRPr lang="zh-CN" altLang="en-US"/>
          </a:p>
        </p:txBody>
      </p:sp>
    </p:spTree>
    <p:extLst>
      <p:ext uri="{BB962C8B-B14F-4D97-AF65-F5344CB8AC3E}">
        <p14:creationId xmlns:p14="http://schemas.microsoft.com/office/powerpoint/2010/main" val="281117664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E359-FF4A-0705-7BE2-EE3039C058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5381D-4A7F-4F3A-755B-4AFD5EE123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B77ED8-E1A1-1EE8-4434-7361BFD3A8B5}"/>
              </a:ext>
            </a:extLst>
          </p:cNvPr>
          <p:cNvSpPr>
            <a:spLocks noGrp="1"/>
          </p:cNvSpPr>
          <p:nvPr>
            <p:ph type="body" idx="1"/>
          </p:nvPr>
        </p:nvSpPr>
        <p:spPr/>
        <p:txBody>
          <a:bodyPr/>
          <a:lstStyle/>
          <a:p>
            <a:r>
              <a:rPr lang="en-US" dirty="0"/>
              <a:t>ATTENDANCE CHECK - do this right before the quiz.</a:t>
            </a:r>
          </a:p>
          <a:p>
            <a:r>
              <a:rPr lang="en-US" dirty="0"/>
              <a:t>1. In Google Forms, open 'Quiz 02 Attendance - GFS (Fall 2026)' and turn on Accepting responses. Then show this slide.</a:t>
            </a:r>
          </a:p>
          <a:p>
            <a:r>
              <a:rPr lang="en-US" dirty="0"/>
              <a:t>2. Tell the class: this attendance check is NOT graded. It only confirms that the number of quiz submissions matches the number of students in the room. Sign in with your BU account and enter your BU ID.</a:t>
            </a:r>
          </a:p>
          <a:p>
            <a:r>
              <a:rPr lang="en-US" dirty="0"/>
              <a:t>3. While they submit, count the students in the room. Headcount: ____</a:t>
            </a:r>
          </a:p>
          <a:p>
            <a:r>
              <a:rPr lang="en-US" dirty="0"/>
              <a:t>4. After about 2 minutes, turn OFF Accepting responses on the attendance form and compare its response count with your headcount. If they differ, say so now, before the quiz starts.</a:t>
            </a:r>
          </a:p>
          <a:p>
            <a:r>
              <a:rPr lang="en-US" dirty="0"/>
              <a:t>5. Only then open the quiz form and go to the next slide. After class, compare the quiz responses with this attendance list: a quiz submission whose email is not on the list did not check in.</a:t>
            </a:r>
          </a:p>
        </p:txBody>
      </p:sp>
      <p:sp>
        <p:nvSpPr>
          <p:cNvPr id="4" name="Slide Number Placeholder 3">
            <a:extLst>
              <a:ext uri="{FF2B5EF4-FFF2-40B4-BE49-F238E27FC236}">
                <a16:creationId xmlns:a16="http://schemas.microsoft.com/office/drawing/2014/main" id="{00E16A6E-D8FA-3B9D-6E26-9620C1E230C5}"/>
              </a:ext>
            </a:extLst>
          </p:cNvPr>
          <p:cNvSpPr>
            <a:spLocks noGrp="1"/>
          </p:cNvSpPr>
          <p:nvPr>
            <p:ph type="sldNum" sz="quarter" idx="5"/>
          </p:nvPr>
        </p:nvSpPr>
        <p:spPr/>
        <p:txBody>
          <a:bodyPr/>
          <a:lstStyle/>
          <a:p>
            <a:fld id="{1C9584DC-3658-4054-9DA4-7B68A1D8CC6D}" type="slidenum">
              <a:rPr lang="zh-CN" altLang="en-US" smtClean="0"/>
              <a:t>52</a:t>
            </a:fld>
            <a:endParaRPr lang="zh-CN" altLang="en-US"/>
          </a:p>
        </p:txBody>
      </p:sp>
    </p:spTree>
    <p:extLst>
      <p:ext uri="{BB962C8B-B14F-4D97-AF65-F5344CB8AC3E}">
        <p14:creationId xmlns:p14="http://schemas.microsoft.com/office/powerpoint/2010/main" val="300044797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E359-FF4A-0705-7BE2-EE3039C058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5381D-4A7F-4F3A-755B-4AFD5EE123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B77ED8-E1A1-1EE8-4434-7361BFD3A8B5}"/>
              </a:ext>
            </a:extLst>
          </p:cNvPr>
          <p:cNvSpPr>
            <a:spLocks noGrp="1"/>
          </p:cNvSpPr>
          <p:nvPr>
            <p:ph type="body" idx="1"/>
          </p:nvPr>
        </p:nvSpPr>
        <p:spPr/>
        <p:txBody>
          <a:bodyPr/>
          <a:lstStyle/>
          <a:p>
            <a:r>
              <a:rPr lang="en-US" dirty="0"/>
              <a:t>BEFORE THE QUIZ: the Fall 2026 form was created closed. In Google Forms, turn on 'Accepting responses' when you start the quiz, and turn it off after 10 minutes.</a:t>
            </a:r>
          </a:p>
          <a:p>
            <a:r>
              <a:rPr lang="en-US" dirty="0"/>
              <a:t>Form: 'Quiz 02 - GFS (Fall 2026)' in the Drive folder EC528-Fall26. Students sign in with their BU account and must enter their BU ID.</a:t>
            </a:r>
          </a:p>
        </p:txBody>
      </p:sp>
      <p:sp>
        <p:nvSpPr>
          <p:cNvPr id="4" name="Slide Number Placeholder 3">
            <a:extLst>
              <a:ext uri="{FF2B5EF4-FFF2-40B4-BE49-F238E27FC236}">
                <a16:creationId xmlns:a16="http://schemas.microsoft.com/office/drawing/2014/main" id="{00E16A6E-D8FA-3B9D-6E26-9620C1E230C5}"/>
              </a:ext>
            </a:extLst>
          </p:cNvPr>
          <p:cNvSpPr>
            <a:spLocks noGrp="1"/>
          </p:cNvSpPr>
          <p:nvPr>
            <p:ph type="sldNum" sz="quarter" idx="5"/>
          </p:nvPr>
        </p:nvSpPr>
        <p:spPr/>
        <p:txBody>
          <a:bodyPr/>
          <a:lstStyle/>
          <a:p>
            <a:fld id="{1C9584DC-3658-4054-9DA4-7B68A1D8CC6D}" type="slidenum">
              <a:rPr lang="zh-CN" altLang="en-US" smtClean="0"/>
              <a:t>53</a:t>
            </a:fld>
            <a:endParaRPr lang="zh-CN" altLang="en-US"/>
          </a:p>
        </p:txBody>
      </p:sp>
    </p:spTree>
    <p:extLst>
      <p:ext uri="{BB962C8B-B14F-4D97-AF65-F5344CB8AC3E}">
        <p14:creationId xmlns:p14="http://schemas.microsoft.com/office/powerpoint/2010/main" val="30004479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153399-254F-D88B-7A1A-925FBF43AE4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D28513F-4AC8-980D-B195-D207601DA4E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B36CB1D-E623-0879-978C-1B091F4CBEDE}"/>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51C5ACD-D971-83C7-AADF-C05E7DE4B15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4BE188-5963-8900-099F-9DDA014F75BD}"/>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0966781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A86AB-11EE-9E29-AE7E-9B75B1E0DD3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9A9DB0B-9606-FDF6-98CE-5B488A0DFA4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49F3E7-F5F1-DC26-59BC-0A6714BD2E80}"/>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5F64FC79-BF7C-600A-7259-7B4F8150308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0C61F1C-6512-B271-73E4-B23F524EF089}"/>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4862838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D58413-2C43-6DA0-98D9-32FBBE287F5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CD623C8-0E1D-5A94-47EF-FA66BD0CE51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77135D6-B8A3-3307-047B-A5F88BC8247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9A9BCE30-A405-BA37-CF90-791D52CFA2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4E625E-CC52-3715-B09C-2C7A0EDC2B7A}"/>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890631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09D413-6A7F-B90D-4D9A-185D061400F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6A5C8CC-8C9C-27AA-DC36-634400A41C7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21EFDB7-0CBE-DF2E-85DD-421A2209F6B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25D0E94-930D-0C22-229F-881BC4287A03}"/>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623830F4-C67D-9A67-F617-9F16717687F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BF2893-E494-FDC7-5096-9B9A0070F312}"/>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4104680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D199B-8F76-018F-ECCB-502704AB79C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D7F994B-A2BF-CE8F-F90D-7CE579BC26C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DFC1971-5734-5ED6-15AF-483B74A150F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F4E15A8-1F37-5A24-8A0F-12D7BB54D4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D926AA9-62B4-B873-15BC-D35F11E463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613AB1E-476C-4E27-2058-31A01617A84C}"/>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8" name="Footer Placeholder 7">
            <a:extLst>
              <a:ext uri="{FF2B5EF4-FFF2-40B4-BE49-F238E27FC236}">
                <a16:creationId xmlns:a16="http://schemas.microsoft.com/office/drawing/2014/main" id="{8AABFA01-DD68-A864-78AD-B43E369F278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02BF45D-0FD1-5DF8-E9EF-ABAC6D183C50}"/>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8634805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C5BDA-FDA2-DF86-27F5-59239ED1071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E9B1D8F-6E3F-3EA9-08B0-6034C2D077E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4" name="Footer Placeholder 3">
            <a:extLst>
              <a:ext uri="{FF2B5EF4-FFF2-40B4-BE49-F238E27FC236}">
                <a16:creationId xmlns:a16="http://schemas.microsoft.com/office/drawing/2014/main" id="{8CA792B9-720A-22DB-337C-522574A88FA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2A5ACC5-7AD1-6E8A-68A6-904CF975C262}"/>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41564686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66AA2D8-ED16-626B-51D0-32BF8FF296B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3" name="Footer Placeholder 2">
            <a:extLst>
              <a:ext uri="{FF2B5EF4-FFF2-40B4-BE49-F238E27FC236}">
                <a16:creationId xmlns:a16="http://schemas.microsoft.com/office/drawing/2014/main" id="{90982DB3-2FED-21CB-4C1C-D4EBC409816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6763F49-FE0E-284E-C519-D6FBA915957F}"/>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396929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650A5B-E910-B3E4-18A0-A5C7A91A2CB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7BA12FB-A833-59D0-C560-51D6EEE4C83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DDC57B4-1A31-0EC7-1BC1-B464A6EF1EC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C09C41-138C-AEE6-962C-AFA235419C7D}"/>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AE956CF4-4560-150D-747B-9F4248DFC67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495B601-E580-42A2-5D80-8979484CEF53}"/>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274317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B366C-DD04-A1C7-08A7-7ACE3A404A7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718FAFA-55FF-C51C-9983-F5BED8B78B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17243C6-48CC-9D04-77A8-D393AC533F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55AFB0D-4041-E79B-129B-78A3C743F8B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BC6A7807-4C53-44F9-A39F-51043A833D2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5B73998-D43C-D32A-FAC5-2DE1025D3367}"/>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1193261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689195-3631-A628-0D39-3E37BDD92E8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D3A9CF5-D643-C22B-D3B2-47C11126E91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38CF096-B401-3740-7E11-ED26D17E4B49}"/>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5BE08F0C-3318-3196-94D8-E350C9D1A9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F4A995-16E0-213A-7F76-12851A7C3469}"/>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5170944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9E17571-D17D-A389-17AD-C1D465C4B5A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3CC80F3-7413-258B-7684-9B13E018455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77FEEA-F360-EB6F-2F33-DE0C2E9EF7D3}"/>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04D4CEF-D514-E389-3A43-55FA943A8C1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79B72C0-DA6E-DCD6-35F9-8843E13990C0}"/>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5753461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DF44446-A0E4-A9F4-61C2-669A3E5715B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5296F2D-B520-787C-94B1-9BD942F81BB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EAFC36-A670-D665-66C1-D7FD9896237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8D9DC8C-B4DF-58FA-321B-8768BBDF94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FFF321B-B0AB-1885-79CD-3B6536FA2D3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846371D-E34A-BF46-8CB8-2BD99D320C6D}" type="slidenum">
              <a:rPr lang="en-US" smtClean="0"/>
              <a:t>‹#›</a:t>
            </a:fld>
            <a:endParaRPr lang="en-US"/>
          </a:p>
        </p:txBody>
      </p:sp>
    </p:spTree>
    <p:extLst>
      <p:ext uri="{BB962C8B-B14F-4D97-AF65-F5344CB8AC3E}">
        <p14:creationId xmlns:p14="http://schemas.microsoft.com/office/powerpoint/2010/main" val="149549213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A850B-404C-F9A6-0EEB-60ED8F2BC9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96CCFB-2739-B9C3-25E4-F83CCCC7D277}"/>
              </a:ext>
            </a:extLst>
          </p:cNvPr>
          <p:cNvSpPr>
            <a:spLocks noGrp="1"/>
          </p:cNvSpPr>
          <p:nvPr>
            <p:ph type="ctrTitle"/>
          </p:nvPr>
        </p:nvSpPr>
        <p:spPr>
          <a:xfrm>
            <a:off x="0" y="2239794"/>
            <a:ext cx="12192000" cy="1433046"/>
          </a:xfrm>
        </p:spPr>
        <p:txBody>
          <a:bodyPr>
            <a:noAutofit/>
          </a:bodyPr>
          <a:lstStyle/>
          <a:p>
            <a:pPr rtl="0">
              <a:lnSpc>
                <a:spcPct val="100000"/>
              </a:lnSpc>
            </a:pP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Lecture 4: Google File System       </a:t>
            </a:r>
            <a:b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b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 Fall 2026</a:t>
            </a:r>
            <a:br>
              <a:rPr lang="en-US" sz="4000"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br>
            <a:endParaRPr lang="zh-CN" altLang="en-US" sz="4000" dirty="0">
              <a:solidFill>
                <a:srgbClr val="000000"/>
              </a:solidFill>
              <a:latin typeface="Helvetica Neue" panose="02000503000000020004" pitchFamily="2" charset="0"/>
              <a:cs typeface="Helvetica Neue" panose="02000503000000020004" pitchFamily="2" charset="0"/>
            </a:endParaRPr>
          </a:p>
        </p:txBody>
      </p:sp>
      <p:sp>
        <p:nvSpPr>
          <p:cNvPr id="6" name="TextBox 5">
            <a:extLst>
              <a:ext uri="{FF2B5EF4-FFF2-40B4-BE49-F238E27FC236}">
                <a16:creationId xmlns:a16="http://schemas.microsoft.com/office/drawing/2014/main" id="{78E14E69-6BD7-C52A-EB3E-F381AEF7CB4A}"/>
              </a:ext>
            </a:extLst>
          </p:cNvPr>
          <p:cNvSpPr txBox="1"/>
          <p:nvPr/>
        </p:nvSpPr>
        <p:spPr>
          <a:xfrm>
            <a:off x="1" y="653143"/>
            <a:ext cx="12192000" cy="830997"/>
          </a:xfrm>
          <a:prstGeom prst="rect">
            <a:avLst/>
          </a:prstGeom>
          <a:noFill/>
        </p:spPr>
        <p:txBody>
          <a:bodyPr wrap="square" rtlCol="0">
            <a:spAutoFit/>
          </a:bodyPr>
          <a:lstStyle/>
          <a:p>
            <a:pPr algn="ctr"/>
            <a:r>
              <a:rPr lang="en-US" sz="4800" b="1" dirty="0">
                <a:solidFill>
                  <a:schemeClr val="tx2">
                    <a:lumMod val="75000"/>
                    <a:lumOff val="25000"/>
                  </a:schemeClr>
                </a:solidFill>
                <a:latin typeface="Arial" pitchFamily="2" charset="0"/>
              </a:rPr>
              <a:t>CE 528 Cloud Computing</a:t>
            </a:r>
          </a:p>
        </p:txBody>
      </p:sp>
      <p:sp>
        <p:nvSpPr>
          <p:cNvPr id="7" name="标题 1">
            <a:extLst>
              <a:ext uri="{FF2B5EF4-FFF2-40B4-BE49-F238E27FC236}">
                <a16:creationId xmlns:a16="http://schemas.microsoft.com/office/drawing/2014/main" id="{3BDC3145-A181-687D-BD4A-904B04ED2006}"/>
              </a:ext>
            </a:extLst>
          </p:cNvPr>
          <p:cNvSpPr txBox="1">
            <a:spLocks/>
          </p:cNvSpPr>
          <p:nvPr/>
        </p:nvSpPr>
        <p:spPr>
          <a:xfrm>
            <a:off x="1237543" y="4003019"/>
            <a:ext cx="9499200" cy="914629"/>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3200" b="1"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t>Prof. Yigong Hu</a:t>
            </a:r>
            <a:endParaRPr lang="zh-CN" altLang="en-US" sz="3200" b="1" dirty="0">
              <a:latin typeface="Helvetica Neue" panose="02000503000000020004" pitchFamily="2" charset="0"/>
              <a:cs typeface="Helvetica Neue" panose="02000503000000020004" pitchFamily="2" charset="0"/>
            </a:endParaRPr>
          </a:p>
        </p:txBody>
      </p:sp>
      <p:pic>
        <p:nvPicPr>
          <p:cNvPr id="4" name="Graphic 3">
            <a:extLst>
              <a:ext uri="{FF2B5EF4-FFF2-40B4-BE49-F238E27FC236}">
                <a16:creationId xmlns:a16="http://schemas.microsoft.com/office/drawing/2014/main" id="{7E111180-ABF3-5E9E-B47F-CE63C0162A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8887" y="5247828"/>
            <a:ext cx="2875237" cy="1288106"/>
          </a:xfrm>
          <a:prstGeom prst="rect">
            <a:avLst/>
          </a:prstGeom>
        </p:spPr>
      </p:pic>
    </p:spTree>
    <p:extLst>
      <p:ext uri="{BB962C8B-B14F-4D97-AF65-F5344CB8AC3E}">
        <p14:creationId xmlns:p14="http://schemas.microsoft.com/office/powerpoint/2010/main" val="21189218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Demo 1: Design Proposal</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idx="12"/>
          </p:nvPr>
        </p:nvSpPr>
        <p:spPr>
          <a:xfrm>
            <a:off x="8610600" y="6356350"/>
            <a:ext cx="2743200" cy="365125"/>
          </a:xfrm>
        </p:spPr>
        <p:txBody>
          <a:bodyPr/>
          <a:lstStyle/>
          <a:p>
            <a:fld id="{212DA15D-5F50-8B40-811F-34F736B90848}" type="slidenum">
              <a:rPr/>
              <a:t>2</a:t>
            </a:fld>
            <a:endParaRPr/>
          </a:p>
        </p:txBody>
      </p:sp>
      <p:sp>
        <p:nvSpPr>
          <p:cNvPr id="9" name="Demo 1 deadline">
            <a:extLst>
              <a:ext uri="{FF2B5EF4-FFF2-40B4-BE49-F238E27FC236}">
                <a16:creationId xmlns:a16="http://schemas.microsoft.com/office/drawing/2014/main" id="{28A03A3E-853D-4FA2-AE8E-9CDFB2A1C51A}"/>
              </a:ext>
            </a:extLst>
          </p:cNvPr>
          <p:cNvSpPr>
            <a:spLocks noGrp="1"/>
          </p:cNvSpPr>
          <p:nvPr/>
        </p:nvSpPr>
        <p:spPr>
          <a:xfrm>
            <a:off x="361950" y="933450"/>
            <a:ext cx="11468100" cy="457200"/>
          </a:xfrm>
          <a:prstGeom prst="rect">
            <a:avLst/>
          </a:prstGeom>
          <a:noFill/>
          <a:ln w="0">
            <a:noFill/>
            <a:prstDash val="solid"/>
          </a:ln>
        </p:spPr>
        <p:txBody>
          <a:bodyPr>
            <a:normAutofit/>
          </a:bodyPr>
          <a:lstStyle/>
          <a:p>
            <a:pPr algn="ctr">
              <a:defRPr sz="2250" b="1">
                <a:solidFill>
                  <a:srgbClr val="000000"/>
                </a:solidFill>
                <a:latin typeface="Helvetica"/>
                <a:ea typeface="Helvetica"/>
                <a:cs typeface="Helvetica"/>
              </a:defRPr>
            </a:pPr>
            <a:r>
              <a:rPr sz="2250" b="1">
                <a:solidFill>
                  <a:srgbClr val="000000"/>
                </a:solidFill>
                <a:latin typeface="Helvetica"/>
                <a:ea typeface="Helvetica"/>
                <a:cs typeface="Helvetica"/>
              </a:rPr>
              <a:t>Wednesday 09/23, due 12:00 noon in branch demo-1</a:t>
            </a:r>
          </a:p>
        </p:txBody>
      </p:sp>
      <p:sp>
        <p:nvSpPr>
          <p:cNvPr id="10" name="Lab day notice">
            <a:extLst>
              <a:ext uri="{FF2B5EF4-FFF2-40B4-BE49-F238E27FC236}">
                <a16:creationId xmlns:a16="http://schemas.microsoft.com/office/drawing/2014/main" id="{F0C367EF-21EA-42FF-BA10-C1A905D549A5}"/>
              </a:ext>
            </a:extLst>
          </p:cNvPr>
          <p:cNvSpPr>
            <a:spLocks noGrp="1"/>
          </p:cNvSpPr>
          <p:nvPr/>
        </p:nvSpPr>
        <p:spPr>
          <a:xfrm>
            <a:off x="361950" y="1352550"/>
            <a:ext cx="11468100" cy="400050"/>
          </a:xfrm>
          <a:prstGeom prst="rect">
            <a:avLst/>
          </a:prstGeom>
          <a:noFill/>
          <a:ln w="0">
            <a:noFill/>
            <a:prstDash val="solid"/>
          </a:ln>
        </p:spPr>
        <p:txBody>
          <a:bodyPr>
            <a:normAutofit/>
          </a:bodyPr>
          <a:lstStyle/>
          <a:p>
            <a:pPr algn="ctr">
              <a:defRPr sz="1800">
                <a:solidFill>
                  <a:srgbClr val="000000"/>
                </a:solidFill>
                <a:latin typeface="Helvetica"/>
                <a:ea typeface="Helvetica"/>
                <a:cs typeface="Helvetica"/>
              </a:defRPr>
            </a:pPr>
            <a:r>
              <a:rPr sz="1800">
                <a:solidFill>
                  <a:srgbClr val="000000"/>
                </a:solidFill>
                <a:latin typeface="Helvetica"/>
                <a:ea typeface="Helvetica"/>
                <a:cs typeface="Helvetica"/>
              </a:rPr>
              <a:t>Next Monday (09/21) is a lab day. There is no lecture.</a:t>
            </a:r>
          </a:p>
        </p:txBody>
      </p:sp>
      <p:graphicFrame>
        <p:nvGraphicFramePr>
          <p:cNvPr id="17" name="Table 16"/>
          <p:cNvGraphicFramePr/>
          <p:nvPr/>
        </p:nvGraphicFramePr>
        <p:xfrm>
          <a:off x="381000" y="1885950"/>
          <a:ext cx="11430001" cy="3324225"/>
        </p:xfrm>
        <a:graphic>
          <a:graphicData uri="http://schemas.openxmlformats.org/drawingml/2006/table">
            <a:tbl>
              <a:tblPr/>
              <a:tblGrid>
                <a:gridCol w="2071688">
                  <a:extLst>
                    <a:ext uri="{9D8B030D-6E8A-4147-A177-3AD203B41FA5}">
                      <a16:colId xmlns:a16="http://schemas.microsoft.com/office/drawing/2014/main" val="20000"/>
                    </a:ext>
                  </a:extLst>
                </a:gridCol>
                <a:gridCol w="1071563">
                  <a:extLst>
                    <a:ext uri="{9D8B030D-6E8A-4147-A177-3AD203B41FA5}">
                      <a16:colId xmlns:a16="http://schemas.microsoft.com/office/drawing/2014/main" val="20001"/>
                    </a:ext>
                  </a:extLst>
                </a:gridCol>
                <a:gridCol w="8286750">
                  <a:extLst>
                    <a:ext uri="{9D8B030D-6E8A-4147-A177-3AD203B41FA5}">
                      <a16:colId xmlns:a16="http://schemas.microsoft.com/office/drawing/2014/main" val="20002"/>
                    </a:ext>
                  </a:extLst>
                </a:gridCol>
              </a:tblGrid>
              <a:tr h="476250">
                <a:tc>
                  <a:txBody>
                    <a:bodyPr/>
                    <a:lstStyle/>
                    <a:p>
                      <a:r>
                        <a:rPr sz="1950" b="1">
                          <a:solidFill>
                            <a:srgbClr val="000000"/>
                          </a:solidFill>
                          <a:latin typeface="Helvetica"/>
                          <a:ea typeface="Helvetica"/>
                          <a:cs typeface="Helvetica"/>
                        </a:rPr>
                        <a:t>Criterion</a:t>
                      </a:r>
                    </a:p>
                  </a:txBody>
                  <a:tcPr marL="95250" marR="95250" marT="76200" marB="76200">
                    <a:solidFill>
                      <a:srgbClr val="E8E8E8"/>
                    </a:solidFill>
                  </a:tcPr>
                </a:tc>
                <a:tc>
                  <a:txBody>
                    <a:bodyPr/>
                    <a:lstStyle/>
                    <a:p>
                      <a:pPr algn="ctr"/>
                      <a:r>
                        <a:rPr sz="1800" b="1">
                          <a:solidFill>
                            <a:srgbClr val="000000"/>
                          </a:solidFill>
                          <a:latin typeface="Helvetica"/>
                          <a:ea typeface="Helvetica"/>
                          <a:cs typeface="Helvetica"/>
                        </a:rPr>
                        <a:t>Weight</a:t>
                      </a:r>
                    </a:p>
                  </a:txBody>
                  <a:tcPr marL="95250" marR="95250" marT="76200" marB="76200">
                    <a:solidFill>
                      <a:srgbClr val="E8E8E8"/>
                    </a:solidFill>
                  </a:tcPr>
                </a:tc>
                <a:tc>
                  <a:txBody>
                    <a:bodyPr/>
                    <a:lstStyle/>
                    <a:p>
                      <a:r>
                        <a:rPr sz="1950" b="1">
                          <a:solidFill>
                            <a:srgbClr val="000000"/>
                          </a:solidFill>
                          <a:latin typeface="Helvetica"/>
                          <a:ea typeface="Helvetica"/>
                          <a:cs typeface="Helvetica"/>
                        </a:rPr>
                        <a:t>What we look for</a:t>
                      </a:r>
                    </a:p>
                  </a:txBody>
                  <a:tcPr marL="95250" marR="95250" marT="76200" marB="76200">
                    <a:solidFill>
                      <a:srgbClr val="E8E8E8"/>
                    </a:solidFill>
                  </a:tcPr>
                </a:tc>
                <a:extLst>
                  <a:ext uri="{0D108BD9-81ED-4DB2-BD59-A6C34878D82A}">
                    <a16:rowId xmlns:a16="http://schemas.microsoft.com/office/drawing/2014/main" val="10000"/>
                  </a:ext>
                </a:extLst>
              </a:tr>
              <a:tr h="1285875">
                <a:tc>
                  <a:txBody>
                    <a:bodyPr/>
                    <a:lstStyle/>
                    <a:p>
                      <a:r>
                        <a:rPr sz="1725" b="1">
                          <a:solidFill>
                            <a:srgbClr val="000000"/>
                          </a:solidFill>
                          <a:latin typeface="Helvetica"/>
                          <a:ea typeface="Helvetica"/>
                          <a:cs typeface="Helvetica"/>
                        </a:rPr>
                        <a:t>Design proposal</a:t>
                      </a:r>
                    </a:p>
                  </a:txBody>
                  <a:tcPr marL="95250" marR="95250" marT="76200" marB="76200"/>
                </a:tc>
                <a:tc>
                  <a:txBody>
                    <a:bodyPr/>
                    <a:lstStyle/>
                    <a:p>
                      <a:pPr algn="ctr"/>
                      <a:r>
                        <a:rPr sz="1800" b="1">
                          <a:solidFill>
                            <a:srgbClr val="000000"/>
                          </a:solidFill>
                          <a:latin typeface="Helvetica"/>
                          <a:ea typeface="Helvetica"/>
                          <a:cs typeface="Helvetica"/>
                        </a:rPr>
                        <a:t>50%</a:t>
                      </a:r>
                    </a:p>
                  </a:txBody>
                  <a:tcPr marL="95250" marR="95250" marT="76200" marB="76200"/>
                </a:tc>
                <a:tc>
                  <a:txBody>
                    <a:bodyPr/>
                    <a:lstStyle/>
                    <a:p>
                      <a:r>
                        <a:rPr sz="1725">
                          <a:solidFill>
                            <a:srgbClr val="000000"/>
                          </a:solidFill>
                          <a:latin typeface="Helvetica"/>
                          <a:ea typeface="Helvetica"/>
                          <a:cs typeface="Helvetica"/>
                        </a:rPr>
                        <a:t>Clear problem and proposed design, an architecture diagram, measurable success, and verifiable milestones for Demo 2, Demo 3, and the final. A working system is not required.</a:t>
                      </a:r>
                    </a:p>
                  </a:txBody>
                  <a:tcPr marL="95250" marR="95250" marT="76200" marB="76200"/>
                </a:tc>
                <a:extLst>
                  <a:ext uri="{0D108BD9-81ED-4DB2-BD59-A6C34878D82A}">
                    <a16:rowId xmlns:a16="http://schemas.microsoft.com/office/drawing/2014/main" val="10001"/>
                  </a:ext>
                </a:extLst>
              </a:tr>
              <a:tr h="781050">
                <a:tc>
                  <a:txBody>
                    <a:bodyPr/>
                    <a:lstStyle/>
                    <a:p>
                      <a:r>
                        <a:rPr sz="1725" b="1">
                          <a:solidFill>
                            <a:srgbClr val="000000"/>
                          </a:solidFill>
                          <a:latin typeface="Helvetica"/>
                          <a:ea typeface="Helvetica"/>
                          <a:cs typeface="Helvetica"/>
                        </a:rPr>
                        <a:t>Slides</a:t>
                      </a:r>
                    </a:p>
                  </a:txBody>
                  <a:tcPr marL="95250" marR="95250" marT="76200" marB="76200"/>
                </a:tc>
                <a:tc>
                  <a:txBody>
                    <a:bodyPr/>
                    <a:lstStyle/>
                    <a:p>
                      <a:pPr algn="ctr"/>
                      <a:r>
                        <a:rPr sz="1800" b="1">
                          <a:solidFill>
                            <a:srgbClr val="000000"/>
                          </a:solidFill>
                          <a:latin typeface="Helvetica"/>
                          <a:ea typeface="Helvetica"/>
                          <a:cs typeface="Helvetica"/>
                        </a:rPr>
                        <a:t>25%</a:t>
                      </a:r>
                    </a:p>
                  </a:txBody>
                  <a:tcPr marL="95250" marR="95250" marT="76200" marB="76200"/>
                </a:tc>
                <a:tc>
                  <a:txBody>
                    <a:bodyPr/>
                    <a:lstStyle/>
                    <a:p>
                      <a:r>
                        <a:rPr sz="1725">
                          <a:solidFill>
                            <a:srgbClr val="000000"/>
                          </a:solidFill>
                          <a:latin typeface="Helvetica"/>
                          <a:ea typeface="Helvetica"/>
                          <a:cs typeface="Helvetica"/>
                        </a:rPr>
                        <a:t>Problem and motivation, design, evidence, clarity, and finishing within 10 minutes.</a:t>
                      </a:r>
                    </a:p>
                  </a:txBody>
                  <a:tcPr marL="95250" marR="95250" marT="76200" marB="76200"/>
                </a:tc>
                <a:extLst>
                  <a:ext uri="{0D108BD9-81ED-4DB2-BD59-A6C34878D82A}">
                    <a16:rowId xmlns:a16="http://schemas.microsoft.com/office/drawing/2014/main" val="10002"/>
                  </a:ext>
                </a:extLst>
              </a:tr>
              <a:tr h="781050">
                <a:tc>
                  <a:txBody>
                    <a:bodyPr/>
                    <a:lstStyle/>
                    <a:p>
                      <a:r>
                        <a:rPr sz="1725" b="1">
                          <a:solidFill>
                            <a:srgbClr val="000000"/>
                          </a:solidFill>
                          <a:latin typeface="Helvetica"/>
                          <a:ea typeface="Helvetica"/>
                          <a:cs typeface="Helvetica"/>
                        </a:rPr>
                        <a:t>Challenge</a:t>
                      </a:r>
                    </a:p>
                  </a:txBody>
                  <a:tcPr marL="95250" marR="95250" marT="76200" marB="76200"/>
                </a:tc>
                <a:tc>
                  <a:txBody>
                    <a:bodyPr/>
                    <a:lstStyle/>
                    <a:p>
                      <a:pPr algn="ctr"/>
                      <a:r>
                        <a:rPr sz="1800" b="1">
                          <a:solidFill>
                            <a:srgbClr val="000000"/>
                          </a:solidFill>
                          <a:latin typeface="Helvetica"/>
                          <a:ea typeface="Helvetica"/>
                          <a:cs typeface="Helvetica"/>
                        </a:rPr>
                        <a:t>25%</a:t>
                      </a:r>
                    </a:p>
                  </a:txBody>
                  <a:tcPr marL="95250" marR="95250" marT="76200" marB="76200"/>
                </a:tc>
                <a:tc>
                  <a:txBody>
                    <a:bodyPr/>
                    <a:lstStyle/>
                    <a:p>
                      <a:r>
                        <a:rPr sz="1725">
                          <a:solidFill>
                            <a:srgbClr val="000000"/>
                          </a:solidFill>
                          <a:latin typeface="Helvetica"/>
                          <a:ea typeface="Helvetica"/>
                          <a:cs typeface="Helvetica"/>
                        </a:rPr>
                        <a:t>The technical difficulty and ambition of the proposed system.</a:t>
                      </a:r>
                    </a:p>
                  </a:txBody>
                  <a:tcPr marL="95250" marR="95250" marT="76200" marB="76200"/>
                </a:tc>
                <a:extLst>
                  <a:ext uri="{0D108BD9-81ED-4DB2-BD59-A6C34878D82A}">
                    <a16:rowId xmlns:a16="http://schemas.microsoft.com/office/drawing/2014/main" val="10003"/>
                  </a:ext>
                </a:extLst>
              </a:tr>
            </a:tbl>
          </a:graphicData>
        </a:graphic>
      </p:graphicFrame>
      <p:sp>
        <p:nvSpPr>
          <p:cNvPr id="12" name="Milestone grading note">
            <a:extLst>
              <a:ext uri="{FF2B5EF4-FFF2-40B4-BE49-F238E27FC236}">
                <a16:creationId xmlns:a16="http://schemas.microsoft.com/office/drawing/2014/main" id="{19113F98-AD09-45E2-9DEF-AC28BD3E4130}"/>
              </a:ext>
            </a:extLst>
          </p:cNvPr>
          <p:cNvSpPr>
            <a:spLocks noGrp="1"/>
          </p:cNvSpPr>
          <p:nvPr/>
        </p:nvSpPr>
        <p:spPr>
          <a:xfrm>
            <a:off x="438150" y="5429250"/>
            <a:ext cx="11315700" cy="438150"/>
          </a:xfrm>
          <a:prstGeom prst="rect">
            <a:avLst/>
          </a:prstGeom>
          <a:noFill/>
          <a:ln w="0">
            <a:noFill/>
            <a:prstDash val="solid"/>
          </a:ln>
        </p:spPr>
        <p:txBody>
          <a:bodyPr>
            <a:normAutofit/>
          </a:bodyPr>
          <a:lstStyle/>
          <a:p>
            <a:pPr algn="ctr">
              <a:defRPr sz="1875" b="1">
                <a:solidFill>
                  <a:srgbClr val="000000"/>
                </a:solidFill>
                <a:latin typeface="Helvetica"/>
                <a:ea typeface="Helvetica"/>
                <a:cs typeface="Helvetica"/>
              </a:defRPr>
            </a:pPr>
            <a:r>
              <a:rPr sz="1875" b="1">
                <a:solidFill>
                  <a:srgbClr val="000000"/>
                </a:solidFill>
                <a:latin typeface="Helvetica"/>
                <a:ea typeface="Helvetica"/>
                <a:cs typeface="Helvetica"/>
              </a:rPr>
              <a:t>Later progress grades use the milestones your team commits to here.</a:t>
            </a:r>
          </a:p>
        </p:txBody>
      </p:sp>
    </p:spTree>
    <p:extLst>
      <p:ext uri="{BB962C8B-B14F-4D97-AF65-F5344CB8AC3E}">
        <p14:creationId xmlns:p14="http://schemas.microsoft.com/office/powerpoint/2010/main" val="17206706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Presentation Grading</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idx="12"/>
          </p:nvPr>
        </p:nvSpPr>
        <p:spPr>
          <a:xfrm>
            <a:off x="8610600" y="6356350"/>
            <a:ext cx="2743200" cy="365125"/>
          </a:xfrm>
        </p:spPr>
        <p:txBody>
          <a:bodyPr/>
          <a:lstStyle/>
          <a:p>
            <a:fld id="{212DA15D-5F50-8B40-811F-34F736B90848}" type="slidenum">
              <a:rPr/>
              <a:t>3</a:t>
            </a:fld>
            <a:endParaRPr/>
          </a:p>
        </p:txBody>
      </p:sp>
      <p:graphicFrame>
        <p:nvGraphicFramePr>
          <p:cNvPr id="12" name="Table 11"/>
          <p:cNvGraphicFramePr/>
          <p:nvPr/>
        </p:nvGraphicFramePr>
        <p:xfrm>
          <a:off x="552450" y="1200150"/>
          <a:ext cx="11087100" cy="4333875"/>
        </p:xfrm>
        <a:graphic>
          <a:graphicData uri="http://schemas.openxmlformats.org/drawingml/2006/table">
            <a:tbl>
              <a:tblPr/>
              <a:tblGrid>
                <a:gridCol w="2692581">
                  <a:extLst>
                    <a:ext uri="{9D8B030D-6E8A-4147-A177-3AD203B41FA5}">
                      <a16:colId xmlns:a16="http://schemas.microsoft.com/office/drawing/2014/main" val="20000"/>
                    </a:ext>
                  </a:extLst>
                </a:gridCol>
                <a:gridCol w="8394519">
                  <a:extLst>
                    <a:ext uri="{9D8B030D-6E8A-4147-A177-3AD203B41FA5}">
                      <a16:colId xmlns:a16="http://schemas.microsoft.com/office/drawing/2014/main" val="20001"/>
                    </a:ext>
                  </a:extLst>
                </a:gridCol>
              </a:tblGrid>
              <a:tr h="476250">
                <a:tc>
                  <a:txBody>
                    <a:bodyPr/>
                    <a:lstStyle/>
                    <a:p>
                      <a:r>
                        <a:rPr sz="1950" b="1">
                          <a:solidFill>
                            <a:srgbClr val="000000"/>
                          </a:solidFill>
                          <a:latin typeface="Helvetica"/>
                          <a:ea typeface="Helvetica"/>
                          <a:cs typeface="Helvetica"/>
                        </a:rPr>
                        <a:t>Rule</a:t>
                      </a:r>
                    </a:p>
                  </a:txBody>
                  <a:tcPr marL="95250" marR="95250" marT="76200" marB="76200">
                    <a:solidFill>
                      <a:srgbClr val="E8E8E8"/>
                    </a:solidFill>
                  </a:tcPr>
                </a:tc>
                <a:tc>
                  <a:txBody>
                    <a:bodyPr/>
                    <a:lstStyle/>
                    <a:p>
                      <a:r>
                        <a:rPr sz="1950" b="1">
                          <a:solidFill>
                            <a:srgbClr val="000000"/>
                          </a:solidFill>
                          <a:latin typeface="Helvetica"/>
                          <a:ea typeface="Helvetica"/>
                          <a:cs typeface="Helvetica"/>
                        </a:rPr>
                        <a:t>Policy</a:t>
                      </a:r>
                    </a:p>
                  </a:txBody>
                  <a:tcPr marL="95250" marR="95250" marT="76200" marB="76200">
                    <a:solidFill>
                      <a:srgbClr val="E8E8E8"/>
                    </a:solidFill>
                  </a:tcPr>
                </a:tc>
                <a:extLst>
                  <a:ext uri="{0D108BD9-81ED-4DB2-BD59-A6C34878D82A}">
                    <a16:rowId xmlns:a16="http://schemas.microsoft.com/office/drawing/2014/main" val="10000"/>
                  </a:ext>
                </a:extLst>
              </a:tr>
              <a:tr h="771525">
                <a:tc>
                  <a:txBody>
                    <a:bodyPr/>
                    <a:lstStyle/>
                    <a:p>
                      <a:r>
                        <a:rPr sz="1725" b="1">
                          <a:solidFill>
                            <a:srgbClr val="000000"/>
                          </a:solidFill>
                          <a:latin typeface="Helvetica"/>
                          <a:ea typeface="Helvetica"/>
                          <a:cs typeface="Helvetica"/>
                        </a:rPr>
                        <a:t>Time</a:t>
                      </a:r>
                    </a:p>
                  </a:txBody>
                  <a:tcPr marL="95250" marR="95250" marT="76200" marB="76200"/>
                </a:tc>
                <a:tc>
                  <a:txBody>
                    <a:bodyPr/>
                    <a:lstStyle/>
                    <a:p>
                      <a:r>
                        <a:rPr sz="1725">
                          <a:solidFill>
                            <a:srgbClr val="000000"/>
                          </a:solidFill>
                          <a:latin typeface="Helvetica"/>
                          <a:ea typeface="Helvetica"/>
                          <a:cs typeface="Helvetica"/>
                        </a:rPr>
                        <a:t>10-minute presentation, followed by 5 minutes of Q&amp;A</a:t>
                      </a:r>
                    </a:p>
                  </a:txBody>
                  <a:tcPr marL="95250" marR="95250" marT="76200" marB="76200"/>
                </a:tc>
                <a:extLst>
                  <a:ext uri="{0D108BD9-81ED-4DB2-BD59-A6C34878D82A}">
                    <a16:rowId xmlns:a16="http://schemas.microsoft.com/office/drawing/2014/main" val="10001"/>
                  </a:ext>
                </a:extLst>
              </a:tr>
              <a:tr h="771525">
                <a:tc>
                  <a:txBody>
                    <a:bodyPr/>
                    <a:lstStyle/>
                    <a:p>
                      <a:r>
                        <a:rPr sz="1725" b="1">
                          <a:solidFill>
                            <a:srgbClr val="000000"/>
                          </a:solidFill>
                          <a:latin typeface="Helvetica"/>
                          <a:ea typeface="Helvetica"/>
                          <a:cs typeface="Helvetica"/>
                        </a:rPr>
                        <a:t>Presenters</a:t>
                      </a:r>
                    </a:p>
                  </a:txBody>
                  <a:tcPr marL="95250" marR="95250" marT="76200" marB="76200"/>
                </a:tc>
                <a:tc>
                  <a:txBody>
                    <a:bodyPr/>
                    <a:lstStyle/>
                    <a:p>
                      <a:r>
                        <a:rPr sz="1725">
                          <a:solidFill>
                            <a:srgbClr val="000000"/>
                          </a:solidFill>
                          <a:latin typeface="Helvetica"/>
                          <a:ea typeface="Helvetica"/>
                          <a:cs typeface="Helvetica"/>
                        </a:rPr>
                        <a:t>At most two presenters per demo. Every team member presents at least once across Demo 1, Demo 2, and Demo 3.</a:t>
                      </a:r>
                    </a:p>
                  </a:txBody>
                  <a:tcPr marL="95250" marR="95250" marT="76200" marB="76200"/>
                </a:tc>
                <a:extLst>
                  <a:ext uri="{0D108BD9-81ED-4DB2-BD59-A6C34878D82A}">
                    <a16:rowId xmlns:a16="http://schemas.microsoft.com/office/drawing/2014/main" val="10002"/>
                  </a:ext>
                </a:extLst>
              </a:tr>
              <a:tr h="771525">
                <a:tc>
                  <a:txBody>
                    <a:bodyPr/>
                    <a:lstStyle/>
                    <a:p>
                      <a:r>
                        <a:rPr sz="1725" b="1">
                          <a:solidFill>
                            <a:srgbClr val="000000"/>
                          </a:solidFill>
                          <a:latin typeface="Helvetica"/>
                          <a:ea typeface="Helvetica"/>
                          <a:cs typeface="Helvetica"/>
                        </a:rPr>
                        <a:t>Individual score</a:t>
                      </a:r>
                    </a:p>
                  </a:txBody>
                  <a:tcPr marL="95250" marR="95250" marT="76200" marB="76200"/>
                </a:tc>
                <a:tc>
                  <a:txBody>
                    <a:bodyPr/>
                    <a:lstStyle/>
                    <a:p>
                      <a:r>
                        <a:rPr sz="1725">
                          <a:solidFill>
                            <a:srgbClr val="000000"/>
                          </a:solidFill>
                          <a:latin typeface="Helvetica"/>
                          <a:ea typeface="Helvetica"/>
                          <a:cs typeface="Helvetica"/>
                        </a:rPr>
                        <a:t>Presentation quality, clarity, engagement, finishing on time, and answering questions</a:t>
                      </a:r>
                    </a:p>
                  </a:txBody>
                  <a:tcPr marL="95250" marR="95250" marT="76200" marB="76200"/>
                </a:tc>
                <a:extLst>
                  <a:ext uri="{0D108BD9-81ED-4DB2-BD59-A6C34878D82A}">
                    <a16:rowId xmlns:a16="http://schemas.microsoft.com/office/drawing/2014/main" val="10003"/>
                  </a:ext>
                </a:extLst>
              </a:tr>
              <a:tr h="771525">
                <a:tc>
                  <a:txBody>
                    <a:bodyPr/>
                    <a:lstStyle/>
                    <a:p>
                      <a:r>
                        <a:rPr sz="1800" b="1">
                          <a:solidFill>
                            <a:srgbClr val="000000"/>
                          </a:solidFill>
                          <a:latin typeface="Helvetica"/>
                          <a:ea typeface="Helvetica"/>
                          <a:cs typeface="Helvetica"/>
                        </a:rPr>
                        <a:t>Multiple demos</a:t>
                      </a:r>
                    </a:p>
                  </a:txBody>
                  <a:tcPr marL="95250" marR="95250" marT="76200" marB="76200">
                    <a:solidFill>
                      <a:srgbClr val="EAF2F8"/>
                    </a:solidFill>
                  </a:tcPr>
                </a:tc>
                <a:tc>
                  <a:txBody>
                    <a:bodyPr/>
                    <a:lstStyle/>
                    <a:p>
                      <a:r>
                        <a:rPr sz="1800" b="1">
                          <a:solidFill>
                            <a:srgbClr val="000000"/>
                          </a:solidFill>
                          <a:latin typeface="Helvetica"/>
                          <a:ea typeface="Helvetica"/>
                          <a:cs typeface="Helvetica"/>
                        </a:rPr>
                        <a:t>If you present more than once, your highest presentation score counts.</a:t>
                      </a:r>
                    </a:p>
                  </a:txBody>
                  <a:tcPr marL="95250" marR="95250" marT="76200" marB="76200">
                    <a:solidFill>
                      <a:srgbClr val="EAF2F8"/>
                    </a:solidFill>
                  </a:tcPr>
                </a:tc>
                <a:extLst>
                  <a:ext uri="{0D108BD9-81ED-4DB2-BD59-A6C34878D82A}">
                    <a16:rowId xmlns:a16="http://schemas.microsoft.com/office/drawing/2014/main" val="10004"/>
                  </a:ext>
                </a:extLst>
              </a:tr>
              <a:tr h="771525">
                <a:tc>
                  <a:txBody>
                    <a:bodyPr/>
                    <a:lstStyle/>
                    <a:p>
                      <a:r>
                        <a:rPr sz="1725" b="1">
                          <a:solidFill>
                            <a:srgbClr val="000000"/>
                          </a:solidFill>
                          <a:latin typeface="Helvetica"/>
                          <a:ea typeface="Helvetica"/>
                          <a:cs typeface="Helvetica"/>
                        </a:rPr>
                        <a:t>Course weight</a:t>
                      </a:r>
                    </a:p>
                  </a:txBody>
                  <a:tcPr marL="95250" marR="95250" marT="76200" marB="76200"/>
                </a:tc>
                <a:tc>
                  <a:txBody>
                    <a:bodyPr/>
                    <a:lstStyle/>
                    <a:p>
                      <a:r>
                        <a:rPr sz="1725">
                          <a:solidFill>
                            <a:srgbClr val="000000"/>
                          </a:solidFill>
                          <a:latin typeface="Helvetica"/>
                          <a:ea typeface="Helvetica"/>
                          <a:cs typeface="Helvetica"/>
                        </a:rPr>
                        <a:t>10% of the course grade. The final presentation is graded separately.</a:t>
                      </a:r>
                    </a:p>
                  </a:txBody>
                  <a:tcPr marL="95250" marR="95250" marT="76200" marB="76200"/>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7206706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AWS Credits: One Code per Account</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AWS accepts only ONE code per account</a:t>
            </a:r>
          </a:p>
          <a:p>
            <a:pPr marL="914400" indent="-457200">
              <a:buFont typeface="Arial" panose="020B0604020202020204" pitchFamily="34" charset="0"/>
              <a:buChar char="•"/>
            </a:pPr>
            <a:r>
              <a:rPr lang="en-US" sz="2800" b="0" dirty="0"/>
              <a:t>Redeeming all codes into one team account does not work</a:t>
            </a:r>
          </a:p>
          <a:p>
            <a:pPr marL="914400" indent="-457200">
              <a:buFont typeface="Arial" panose="020B0604020202020204" pitchFamily="34" charset="0"/>
              <a:buChar char="•"/>
            </a:pPr>
            <a:endParaRPr lang="en-US" sz="2800" b="0" dirty="0"/>
          </a:p>
          <a:p>
            <a:r>
              <a:rPr lang="en-US" sz="3200" b="1" dirty="0"/>
              <a:t>What to do instead</a:t>
            </a:r>
          </a:p>
          <a:p>
            <a:pPr marL="914400" indent="-457200">
              <a:buFont typeface="Arial" panose="020B0604020202020204" pitchFamily="34" charset="0"/>
              <a:buChar char="•"/>
            </a:pPr>
            <a:r>
              <a:rPr lang="en-US" sz="2800" b="0" dirty="0"/>
              <a:t>Each teammate redeems one code in their own account</a:t>
            </a:r>
          </a:p>
          <a:p>
            <a:pPr marL="914400" indent="-457200">
              <a:buFont typeface="Arial" panose="020B0604020202020204" pitchFamily="34" charset="0"/>
              <a:buChar char="•"/>
            </a:pPr>
            <a:r>
              <a:rPr lang="en-US" sz="2800" b="0" dirty="0"/>
              <a:t>Run the project in one account at a time</a:t>
            </a:r>
          </a:p>
          <a:p>
            <a:pPr marL="914400" indent="-457200">
              <a:buFont typeface="Arial" panose="020B0604020202020204" pitchFamily="34" charset="0"/>
              <a:buChar char="•"/>
            </a:pPr>
            <a:r>
              <a:rPr lang="en-US" sz="2800" b="0" dirty="0"/>
              <a:t>When its credit runs low, move to the next teammate's account</a:t>
            </a:r>
          </a:p>
          <a:p>
            <a:pPr marL="914400" indent="-457200">
              <a:buFont typeface="Arial" panose="020B0604020202020204" pitchFamily="34" charset="0"/>
              <a:buChar char="•"/>
            </a:pPr>
            <a:r>
              <a:rPr lang="en-US" sz="2800" b="0" dirty="0"/>
              <a:t>Create resources with scripts, so moving is easy</a:t>
            </a:r>
          </a:p>
          <a:p>
            <a:pPr marL="914400" indent="-457200">
              <a:buFont typeface="Arial" panose="020B0604020202020204" pitchFamily="34" charset="0"/>
              <a:buChar char="•"/>
            </a:pPr>
            <a:r>
              <a:rPr lang="en-US" sz="2800" b="0" dirty="0"/>
              <a:t>After moving, delete everything in the old account</a:t>
            </a:r>
          </a:p>
          <a:p>
            <a:pPr marL="914400" indent="-457200">
              <a:buFont typeface="Arial" panose="020B0604020202020204" pitchFamily="34" charset="0"/>
              <a:buChar char="•"/>
            </a:pPr>
            <a:endParaRPr lang="en-US" sz="2800" b="0" dirty="0"/>
          </a:p>
          <a:p>
            <a:r>
              <a:rPr lang="en-US" sz="3200" b="1" dirty="0"/>
              <a:t>Details: Setup page on the course website</a:t>
            </a:r>
          </a:p>
        </p:txBody>
      </p:sp>
    </p:spTree>
    <p:extLst>
      <p:ext uri="{BB962C8B-B14F-4D97-AF65-F5344CB8AC3E}">
        <p14:creationId xmlns:p14="http://schemas.microsoft.com/office/powerpoint/2010/main" val="17206706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Storage?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191998" cy="3231654"/>
          </a:xfrm>
          <a:prstGeom prst="rect">
            <a:avLst/>
          </a:prstGeom>
          <a:noFill/>
        </p:spPr>
        <p:txBody>
          <a:bodyPr wrap="square" rtlCol="0">
            <a:spAutoFit/>
          </a:bodyPr>
          <a:lstStyle/>
          <a:p>
            <a:r>
              <a:rPr lang="en-US" sz="3200" b="1" dirty="0"/>
              <a:t>Storage is the layer the rest of the stack stands on</a:t>
            </a:r>
          </a:p>
          <a:p>
            <a:pPr marL="914400" indent="-457200">
              <a:buFont typeface="Arial" panose="020B0604020202020204" pitchFamily="34" charset="0"/>
              <a:buChar char="•"/>
            </a:pPr>
            <a:r>
              <a:rPr lang="en-US" sz="2800" b="0" dirty="0"/>
              <a:t>MapReduce, last lecture, reads its input and writes its output to GFS</a:t>
            </a:r>
          </a:p>
          <a:p>
            <a:pPr marL="914400" indent="-457200">
              <a:buFont typeface="Arial" panose="020B0604020202020204" pitchFamily="34" charset="0"/>
              <a:buChar char="•"/>
            </a:pPr>
            <a:r>
              <a:rPr lang="en-US" sz="2800" b="0" dirty="0"/>
              <a:t>BigTable, Google’s table store, keeps its files in GFS as well</a:t>
            </a:r>
          </a:p>
          <a:p>
            <a:pPr marL="914400" indent="-457200">
              <a:buFont typeface="Arial" panose="020B0604020202020204" pitchFamily="34" charset="0"/>
              <a:buChar char="•"/>
            </a:pPr>
            <a:r>
              <a:rPr lang="en-US" sz="2800" b="0" dirty="0"/>
              <a:t>Three papers in three years: GFS 2003, MapReduce 2004, </a:t>
            </a:r>
            <a:r>
              <a:rPr lang="en-US" sz="2800" b="0" dirty="0" err="1"/>
              <a:t>BigTable</a:t>
            </a:r>
            <a:r>
              <a:rPr lang="en-US" sz="2800" b="0" dirty="0"/>
              <a:t> 2006</a:t>
            </a:r>
          </a:p>
          <a:p>
            <a:pPr marL="457200"/>
            <a:endParaRPr lang="en-US" sz="2800" b="0" dirty="0"/>
          </a:p>
          <a:p>
            <a:r>
              <a:rPr lang="en-US" sz="3200" b="1" dirty="0"/>
              <a:t>Get the storage right and the systems above it get simpler</a:t>
            </a:r>
          </a:p>
          <a:p>
            <a:pPr marL="914400" indent="-457200">
              <a:buFont typeface="Arial" panose="020B0604020202020204" pitchFamily="34" charset="0"/>
              <a:buChar char="•"/>
            </a:pPr>
            <a:r>
              <a:rPr lang="en-US" sz="2800" b="0" dirty="0"/>
              <a:t>Your own project has to keep its state somewhere too</a:t>
            </a:r>
          </a:p>
        </p:txBody>
      </p:sp>
    </p:spTree>
    <p:extLst>
      <p:ext uri="{BB962C8B-B14F-4D97-AF65-F5344CB8AC3E}">
        <p14:creationId xmlns:p14="http://schemas.microsoft.com/office/powerpoint/2010/main" val="17206706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One Machine Is Not Enough</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154984"/>
          </a:xfrm>
          <a:prstGeom prst="rect">
            <a:avLst/>
          </a:prstGeom>
          <a:noFill/>
        </p:spPr>
        <p:txBody>
          <a:bodyPr wrap="square" rtlCol="0">
            <a:spAutoFit/>
          </a:bodyPr>
          <a:lstStyle/>
          <a:p>
            <a:r>
              <a:rPr lang="en-US" sz="3200" b="1" dirty="0"/>
              <a:t>A crawled copy of the web in 2004: roughly 400 TB</a:t>
            </a:r>
          </a:p>
          <a:p>
            <a:pPr marL="914400" indent="-457200">
              <a:buFont typeface="Arial" panose="020B0604020202020204" pitchFamily="34" charset="0"/>
              <a:buChar char="•"/>
            </a:pPr>
            <a:r>
              <a:rPr lang="en-US" sz="2800" b="0" dirty="0"/>
              <a:t>About 20 billion pages at around 20 KB each</a:t>
            </a:r>
          </a:p>
          <a:p>
            <a:pPr marL="457200"/>
            <a:endParaRPr lang="en-US" sz="2800" b="0" dirty="0"/>
          </a:p>
          <a:p>
            <a:r>
              <a:rPr lang="en-US" sz="3200" b="1" dirty="0"/>
              <a:t>One disk of that era read at 30-35 MB/s</a:t>
            </a:r>
          </a:p>
          <a:p>
            <a:pPr marL="914400" indent="-457200">
              <a:buFont typeface="Arial" panose="020B0604020202020204" pitchFamily="34" charset="0"/>
              <a:buChar char="•"/>
            </a:pPr>
            <a:r>
              <a:rPr lang="en-US" sz="2800" b="0" dirty="0"/>
              <a:t>Reading 400 TB through a single disk takes about four months</a:t>
            </a:r>
          </a:p>
          <a:p>
            <a:pPr marL="914400" indent="-457200">
              <a:buFont typeface="Arial" panose="020B0604020202020204" pitchFamily="34" charset="0"/>
              <a:buChar char="•"/>
            </a:pPr>
            <a:r>
              <a:rPr lang="en-US" sz="2800" b="0" dirty="0"/>
              <a:t>Storing it takes on the order of a thousand disks</a:t>
            </a:r>
          </a:p>
          <a:p>
            <a:pPr marL="457200"/>
            <a:endParaRPr lang="en-US" sz="2800" b="0" dirty="0"/>
          </a:p>
          <a:p>
            <a:r>
              <a:rPr lang="en-US" sz="3200" b="1" dirty="0"/>
              <a:t>So the data has to be spread over many machines</a:t>
            </a:r>
          </a:p>
          <a:p>
            <a:pPr marL="914400" indent="-457200">
              <a:buFont typeface="Arial" panose="020B0604020202020204" pitchFamily="34" charset="0"/>
              <a:buChar char="•"/>
            </a:pPr>
            <a:r>
              <a:rPr lang="en-US" sz="2800" b="0" dirty="0"/>
              <a:t>Many disks read in parallel, and one file can outgrow any single disk</a:t>
            </a:r>
          </a:p>
        </p:txBody>
      </p:sp>
    </p:spTree>
    <p:extLst>
      <p:ext uri="{BB962C8B-B14F-4D97-AF65-F5344CB8AC3E}">
        <p14:creationId xmlns:p14="http://schemas.microsoft.com/office/powerpoint/2010/main" val="1720670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dissolve">
                                      <p:cBhvr>
                                        <p:cTn id="7" dur="500"/>
                                        <p:tgtEl>
                                          <p:spTgt spid="3">
                                            <p:txEl>
                                              <p:pRg st="3" end="3"/>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4" end="4"/>
                                            </p:txEl>
                                          </p:spTgt>
                                        </p:tgtEl>
                                        <p:attrNameLst>
                                          <p:attrName>style.visibility</p:attrName>
                                        </p:attrNameLst>
                                      </p:cBhvr>
                                      <p:to>
                                        <p:strVal val="visible"/>
                                      </p:to>
                                    </p:set>
                                    <p:animEffect transition="in" filter="dissolve">
                                      <p:cBhvr>
                                        <p:cTn id="10" dur="500"/>
                                        <p:tgtEl>
                                          <p:spTgt spid="3">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animEffect transition="in" filter="dissolve">
                                      <p:cBhvr>
                                        <p:cTn id="13" dur="500"/>
                                        <p:tgtEl>
                                          <p:spTgt spid="3">
                                            <p:txEl>
                                              <p:pRg st="5" end="5"/>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7" end="7"/>
                                            </p:txEl>
                                          </p:spTgt>
                                        </p:tgtEl>
                                        <p:attrNameLst>
                                          <p:attrName>style.visibility</p:attrName>
                                        </p:attrNameLst>
                                      </p:cBhvr>
                                      <p:to>
                                        <p:strVal val="visible"/>
                                      </p:to>
                                    </p:set>
                                    <p:animEffect transition="in" filter="dissolve">
                                      <p:cBhvr>
                                        <p:cTn id="16" dur="500"/>
                                        <p:tgtEl>
                                          <p:spTgt spid="3">
                                            <p:txEl>
                                              <p:pRg st="7" end="7"/>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animEffect transition="in" filter="dissolve">
                                      <p:cBhvr>
                                        <p:cTn id="19"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Then Everything Fails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191998" cy="4585871"/>
          </a:xfrm>
          <a:prstGeom prst="rect">
            <a:avLst/>
          </a:prstGeom>
          <a:noFill/>
        </p:spPr>
        <p:txBody>
          <a:bodyPr wrap="square" rtlCol="0">
            <a:spAutoFit/>
          </a:bodyPr>
          <a:lstStyle/>
          <a:p>
            <a:r>
              <a:rPr lang="en-US" sz="3200" b="1" dirty="0"/>
              <a:t>At this scale, commodity machines are the only affordable option</a:t>
            </a:r>
          </a:p>
          <a:p>
            <a:pPr marL="914400" indent="-457200">
              <a:buFont typeface="Arial" panose="020B0604020202020204" pitchFamily="34" charset="0"/>
              <a:buChar char="•"/>
            </a:pPr>
            <a:r>
              <a:rPr lang="en-US" sz="2800" b="0" dirty="0"/>
              <a:t>Far better performance per dollar than reliable, expensive hardware</a:t>
            </a:r>
          </a:p>
          <a:p>
            <a:pPr marL="914400" indent="-457200">
              <a:buFont typeface="Arial" panose="020B0604020202020204" pitchFamily="34" charset="0"/>
              <a:buChar char="•"/>
            </a:pPr>
            <a:r>
              <a:rPr lang="en-US" sz="2800" b="0" dirty="0"/>
              <a:t>Expensive hardware fails less often, but it still fails</a:t>
            </a:r>
          </a:p>
          <a:p>
            <a:pPr marL="457200"/>
            <a:endParaRPr lang="en-US" sz="2800" b="0" dirty="0"/>
          </a:p>
          <a:p>
            <a:r>
              <a:rPr lang="en-US" sz="3200" b="1" dirty="0"/>
              <a:t>One Google cluster, first year of service</a:t>
            </a:r>
          </a:p>
          <a:p>
            <a:pPr marL="914400" indent="-457200">
              <a:buFont typeface="Arial" panose="020B0604020202020204" pitchFamily="34" charset="0"/>
              <a:buChar char="•"/>
            </a:pPr>
            <a:r>
              <a:rPr lang="en-US" sz="2800" b="0" dirty="0"/>
              <a:t>Around 20 rack failures, each taking 40-80 machines away for hours</a:t>
            </a:r>
          </a:p>
          <a:p>
            <a:pPr marL="914400" indent="-457200">
              <a:buFont typeface="Arial" panose="020B0604020202020204" pitchFamily="34" charset="0"/>
              <a:buChar char="•"/>
            </a:pPr>
            <a:r>
              <a:rPr lang="en-US" sz="2800" b="0" dirty="0"/>
              <a:t>About a thousand machine failures and thousands of disk failures</a:t>
            </a:r>
          </a:p>
          <a:p>
            <a:pPr marL="914400" indent="-457200">
              <a:buFont typeface="Arial" panose="020B0604020202020204" pitchFamily="34" charset="0"/>
              <a:buChar char="•"/>
            </a:pPr>
            <a:r>
              <a:rPr lang="en-US" sz="2800" b="0" dirty="0"/>
              <a:t>Plus rewiring, router reloads and network blips</a:t>
            </a:r>
          </a:p>
          <a:p>
            <a:pPr marL="457200"/>
            <a:endParaRPr lang="en-US" sz="2800" b="0" dirty="0"/>
          </a:p>
          <a:p>
            <a:r>
              <a:rPr lang="en-US" sz="3200" b="1" dirty="0"/>
              <a:t>Reliability has to come from the software</a:t>
            </a:r>
          </a:p>
        </p:txBody>
      </p:sp>
    </p:spTree>
    <p:extLst>
      <p:ext uri="{BB962C8B-B14F-4D97-AF65-F5344CB8AC3E}">
        <p14:creationId xmlns:p14="http://schemas.microsoft.com/office/powerpoint/2010/main" val="17206706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452C5CF-C823-F93B-EC88-BA4478E024CE}"/>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Fault Tolerance Comes with a Cost</a:t>
            </a:r>
          </a:p>
        </p:txBody>
      </p:sp>
      <p:sp>
        <p:nvSpPr>
          <p:cNvPr id="8" name="Slide Number Placeholder 4">
            <a:extLst>
              <a:ext uri="{FF2B5EF4-FFF2-40B4-BE49-F238E27FC236}">
                <a16:creationId xmlns:a16="http://schemas.microsoft.com/office/drawing/2014/main" id="{16D0A24B-6300-8D05-5AB9-F3998A2F3009}"/>
              </a:ext>
            </a:extLst>
          </p:cNvPr>
          <p:cNvSpPr>
            <a:spLocks noGrp="1"/>
          </p:cNvSpPr>
          <p:nvPr>
            <p:ph type="sldNum" idx="12"/>
          </p:nvPr>
        </p:nvSpPr>
        <p:spPr>
          <a:xfrm>
            <a:off x="8610600" y="6356350"/>
            <a:ext cx="2743200" cy="365125"/>
          </a:xfrm>
        </p:spPr>
        <p:txBody>
          <a:bodyPr/>
          <a:lstStyle/>
          <a:p>
            <a:fld id="{212DA15D-5F50-8B40-811F-34F736B90848}" type="slidenum">
              <a:rPr/>
              <a:t>8</a:t>
            </a:fld>
            <a:endParaRPr/>
          </a:p>
        </p:txBody>
      </p:sp>
      <p:sp>
        <p:nvSpPr>
          <p:cNvPr id="48" name="TextBox 47">
            <a:extLst>
              <a:ext uri="{FF2B5EF4-FFF2-40B4-BE49-F238E27FC236}">
                <a16:creationId xmlns:a16="http://schemas.microsoft.com/office/drawing/2014/main" id="{51F35555-7DB3-0E9F-0CC1-8DCCA40D364A}"/>
              </a:ext>
            </a:extLst>
          </p:cNvPr>
          <p:cNvSpPr>
            <a:spLocks noGrp="1"/>
          </p:cNvSpPr>
          <p:nvPr/>
        </p:nvSpPr>
        <p:spPr>
          <a:xfrm>
            <a:off x="7325250" y="1373218"/>
            <a:ext cx="4706595" cy="4154984"/>
          </a:xfrm>
          <a:prstGeom prst="rect">
            <a:avLst/>
          </a:prstGeom>
          <a:noFill/>
        </p:spPr>
        <p:txBody>
          <a:bodyPr wrap="square">
            <a:spAutoFit/>
          </a:bodyPr>
          <a:lstStyle/>
          <a:p>
            <a:pPr marL="342900" indent="-342900">
              <a:buFont typeface="Arial"/>
              <a:buChar char="•"/>
            </a:pPr>
            <a:r>
              <a:rPr sz="2400" dirty="0"/>
              <a:t>Fault tolerance requires replication</a:t>
            </a:r>
          </a:p>
          <a:p>
            <a:pPr marL="342900" indent="-342900">
              <a:buFont typeface="Arial"/>
              <a:buChar char="•"/>
            </a:pPr>
            <a:endParaRPr sz="1200" dirty="0"/>
          </a:p>
          <a:p>
            <a:pPr marL="342900" indent="-342900">
              <a:buFont typeface="Arial"/>
              <a:buChar char="•"/>
            </a:pPr>
            <a:r>
              <a:rPr sz="2400" dirty="0"/>
              <a:t>Replication risks inconsistency</a:t>
            </a:r>
          </a:p>
          <a:p>
            <a:pPr marL="342900" indent="-342900">
              <a:buFont typeface="Arial"/>
              <a:buChar char="•"/>
            </a:pPr>
            <a:endParaRPr sz="1200" dirty="0"/>
          </a:p>
          <a:p>
            <a:pPr marL="342900" indent="-342900">
              <a:buFont typeface="Arial"/>
              <a:buChar char="•"/>
            </a:pPr>
            <a:r>
              <a:rPr sz="2400" dirty="0"/>
              <a:t>Consistency requires coordination</a:t>
            </a:r>
          </a:p>
          <a:p>
            <a:pPr marL="342900" indent="-342900">
              <a:buFont typeface="Arial"/>
              <a:buChar char="•"/>
            </a:pPr>
            <a:endParaRPr sz="1200" dirty="0"/>
          </a:p>
          <a:p>
            <a:pPr marL="342900" indent="-342900">
              <a:buFont typeface="Arial"/>
              <a:buChar char="•"/>
            </a:pPr>
            <a:r>
              <a:rPr sz="2400" dirty="0"/>
              <a:t>Coordination lowers performance</a:t>
            </a:r>
          </a:p>
        </p:txBody>
      </p:sp>
      <p:sp>
        <p:nvSpPr>
          <p:cNvPr id="49" name="Partial write heading">
            <a:extLst>
              <a:ext uri="{FF2B5EF4-FFF2-40B4-BE49-F238E27FC236}">
                <a16:creationId xmlns:a16="http://schemas.microsoft.com/office/drawing/2014/main" id="{661EE3E6-4BC3-4749-8762-CC8F835B020D}"/>
              </a:ext>
            </a:extLst>
          </p:cNvPr>
          <p:cNvSpPr>
            <a:spLocks noGrp="1"/>
          </p:cNvSpPr>
          <p:nvPr/>
        </p:nvSpPr>
        <p:spPr>
          <a:xfrm>
            <a:off x="409575" y="1057275"/>
            <a:ext cx="6429375" cy="323850"/>
          </a:xfrm>
          <a:prstGeom prst="rect">
            <a:avLst/>
          </a:prstGeom>
          <a:noFill/>
          <a:ln w="0">
            <a:noFill/>
          </a:ln>
        </p:spPr>
        <p:txBody>
          <a:bodyPr>
            <a:normAutofit fontScale="88406"/>
          </a:bodyPr>
          <a:lstStyle/>
          <a:p>
            <a:pPr>
              <a:defRPr sz="1725" b="1">
                <a:solidFill>
                  <a:srgbClr val="0E2841"/>
                </a:solidFill>
                <a:latin typeface="Aptos"/>
                <a:ea typeface="Aptos"/>
                <a:cs typeface="Aptos"/>
              </a:defRPr>
            </a:pPr>
            <a:r>
              <a:rPr sz="1725" b="1">
                <a:solidFill>
                  <a:srgbClr val="0E2841"/>
                </a:solidFill>
                <a:latin typeface="Aptos"/>
                <a:ea typeface="Aptos"/>
                <a:cs typeface="Aptos"/>
              </a:rPr>
              <a:t>A partial write can make replicas disagree</a:t>
            </a:r>
          </a:p>
        </p:txBody>
      </p:sp>
      <p:sp>
        <p:nvSpPr>
          <p:cNvPr id="50" name="Write request">
            <a:extLst>
              <a:ext uri="{FF2B5EF4-FFF2-40B4-BE49-F238E27FC236}">
                <a16:creationId xmlns:a16="http://schemas.microsoft.com/office/drawing/2014/main" id="{75D3A3DE-8E0D-482B-BCFD-2AD2458A4DA5}"/>
              </a:ext>
            </a:extLst>
          </p:cNvPr>
          <p:cNvSpPr>
            <a:spLocks noGrp="1"/>
          </p:cNvSpPr>
          <p:nvPr/>
        </p:nvSpPr>
        <p:spPr>
          <a:xfrm>
            <a:off x="2838450" y="1438275"/>
            <a:ext cx="1219200" cy="590550"/>
          </a:xfrm>
          <a:prstGeom prst="roundRect">
            <a:avLst>
              <a:gd name="adj" fmla="val 16129"/>
            </a:avLst>
          </a:prstGeom>
          <a:solidFill>
            <a:srgbClr val="A02B93"/>
          </a:solidFill>
          <a:ln w="19050">
            <a:solidFill>
              <a:srgbClr val="A02B93"/>
            </a:solidFill>
            <a:prstDash val="solid"/>
          </a:ln>
        </p:spPr>
        <p:txBody>
          <a:bodyPr lIns="47625" tIns="47625" rIns="47625" bIns="47625" anchor="ctr">
            <a:normAutofit/>
          </a:bodyPr>
          <a:lstStyle/>
          <a:p>
            <a:pPr algn="ctr">
              <a:defRPr sz="1425" b="1">
                <a:solidFill>
                  <a:srgbClr val="FFFFFF"/>
                </a:solidFill>
                <a:latin typeface="Aptos"/>
                <a:ea typeface="Aptos"/>
                <a:cs typeface="Aptos"/>
              </a:defRPr>
            </a:pPr>
            <a:r>
              <a:rPr sz="1425" b="1">
                <a:solidFill>
                  <a:srgbClr val="FFFFFF"/>
                </a:solidFill>
                <a:latin typeface="Aptos"/>
                <a:ea typeface="Aptos"/>
                <a:cs typeface="Aptos"/>
              </a:rPr>
              <a:t>WRITE</a:t>
            </a:r>
          </a:p>
          <a:p>
            <a:pPr algn="ctr">
              <a:defRPr sz="1425" b="1">
                <a:solidFill>
                  <a:srgbClr val="FFFFFF"/>
                </a:solidFill>
                <a:latin typeface="Aptos"/>
                <a:ea typeface="Aptos"/>
                <a:cs typeface="Aptos"/>
              </a:defRPr>
            </a:pPr>
            <a:r>
              <a:rPr sz="1425" b="1">
                <a:solidFill>
                  <a:srgbClr val="FFFFFF"/>
                </a:solidFill>
                <a:latin typeface="Aptos"/>
                <a:ea typeface="Aptos"/>
                <a:cs typeface="Aptos"/>
              </a:rPr>
              <a:t>x = B</a:t>
            </a:r>
          </a:p>
        </p:txBody>
      </p:sp>
      <p:sp>
        <p:nvSpPr>
          <p:cNvPr id="51" name="Top replica 1">
            <a:extLst>
              <a:ext uri="{FF2B5EF4-FFF2-40B4-BE49-F238E27FC236}">
                <a16:creationId xmlns:a16="http://schemas.microsoft.com/office/drawing/2014/main" id="{C047F16D-4224-436C-BA2F-7F4F14E7970E}"/>
              </a:ext>
            </a:extLst>
          </p:cNvPr>
          <p:cNvSpPr>
            <a:spLocks noGrp="1"/>
          </p:cNvSpPr>
          <p:nvPr/>
        </p:nvSpPr>
        <p:spPr>
          <a:xfrm>
            <a:off x="581025" y="2266950"/>
            <a:ext cx="1333500" cy="6858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1</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52" name="Top replica 2">
            <a:extLst>
              <a:ext uri="{FF2B5EF4-FFF2-40B4-BE49-F238E27FC236}">
                <a16:creationId xmlns:a16="http://schemas.microsoft.com/office/drawing/2014/main" id="{B89A6385-D3E5-42F1-8972-B1EBFAE8F87F}"/>
              </a:ext>
            </a:extLst>
          </p:cNvPr>
          <p:cNvSpPr>
            <a:spLocks noGrp="1"/>
          </p:cNvSpPr>
          <p:nvPr/>
        </p:nvSpPr>
        <p:spPr>
          <a:xfrm>
            <a:off x="2781300" y="2266950"/>
            <a:ext cx="1333500" cy="6858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2</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53" name="Stale replica">
            <a:extLst>
              <a:ext uri="{FF2B5EF4-FFF2-40B4-BE49-F238E27FC236}">
                <a16:creationId xmlns:a16="http://schemas.microsoft.com/office/drawing/2014/main" id="{14E7EFFC-DB2B-4ECF-A2D6-8B87D9C1B16D}"/>
              </a:ext>
            </a:extLst>
          </p:cNvPr>
          <p:cNvSpPr>
            <a:spLocks noGrp="1"/>
          </p:cNvSpPr>
          <p:nvPr/>
        </p:nvSpPr>
        <p:spPr>
          <a:xfrm>
            <a:off x="4981575" y="2266950"/>
            <a:ext cx="1333500" cy="685800"/>
          </a:xfrm>
          <a:prstGeom prst="roundRect">
            <a:avLst>
              <a:gd name="adj" fmla="val 13889"/>
            </a:avLst>
          </a:prstGeom>
          <a:solidFill>
            <a:srgbClr val="F7E8F5"/>
          </a:solidFill>
          <a:ln w="28575">
            <a:solidFill>
              <a:srgbClr val="A02B93"/>
            </a:solidFill>
            <a:prstDash val="solid"/>
          </a:ln>
        </p:spPr>
        <p:txBody>
          <a:bodyPr lIns="47625" tIns="47625" rIns="47625" bIns="47625" anchor="ctr">
            <a:normAutofit/>
          </a:bodyPr>
          <a:lstStyle/>
          <a:p>
            <a:pPr algn="ctr">
              <a:defRPr sz="1350" b="1">
                <a:solidFill>
                  <a:srgbClr val="A02B93"/>
                </a:solidFill>
                <a:latin typeface="Aptos"/>
                <a:ea typeface="Aptos"/>
                <a:cs typeface="Aptos"/>
              </a:defRPr>
            </a:pPr>
            <a:r>
              <a:rPr sz="1350" b="1">
                <a:solidFill>
                  <a:srgbClr val="A02B93"/>
                </a:solidFill>
                <a:latin typeface="Aptos"/>
                <a:ea typeface="Aptos"/>
                <a:cs typeface="Aptos"/>
              </a:rPr>
              <a:t>Replica 3</a:t>
            </a:r>
          </a:p>
          <a:p>
            <a:pPr algn="ctr">
              <a:defRPr sz="1350" b="1">
                <a:solidFill>
                  <a:srgbClr val="A02B93"/>
                </a:solidFill>
                <a:latin typeface="Aptos"/>
                <a:ea typeface="Aptos"/>
                <a:cs typeface="Aptos"/>
              </a:defRPr>
            </a:pPr>
            <a:r>
              <a:rPr sz="1350" b="1">
                <a:solidFill>
                  <a:srgbClr val="A02B93"/>
                </a:solidFill>
                <a:latin typeface="Aptos"/>
                <a:ea typeface="Aptos"/>
                <a:cs typeface="Aptos"/>
              </a:rPr>
              <a:t>x = A</a:t>
            </a:r>
          </a:p>
        </p:txBody>
      </p:sp>
      <p:cxnSp>
        <p:nvCxnSpPr>
          <p:cNvPr id="76" name="Straight Arrow Connector 75"/>
          <p:cNvCxnSpPr>
            <a:stCxn id="50" idx="2"/>
            <a:endCxn id="51" idx="0"/>
          </p:cNvCxnSpPr>
          <p:nvPr/>
        </p:nvCxnSpPr>
        <p:spPr>
          <a:xfrm flipH="1">
            <a:off x="1247775" y="2028825"/>
            <a:ext cx="2200275" cy="238125"/>
          </a:xfrm>
          <a:prstGeom prst="straightConnector1">
            <a:avLst/>
          </a:prstGeom>
          <a:ln w="19050">
            <a:solidFill>
              <a:srgbClr val="5B6573"/>
            </a:solidFill>
            <a:prstDash val="solid"/>
            <a:tailEnd type="triangle" w="sm" len="sm"/>
          </a:ln>
        </p:spPr>
      </p:cxnSp>
      <p:cxnSp>
        <p:nvCxnSpPr>
          <p:cNvPr id="77" name="Straight Arrow Connector 76"/>
          <p:cNvCxnSpPr>
            <a:stCxn id="50" idx="2"/>
            <a:endCxn id="52" idx="0"/>
          </p:cNvCxnSpPr>
          <p:nvPr/>
        </p:nvCxnSpPr>
        <p:spPr>
          <a:xfrm>
            <a:off x="3448050" y="2028825"/>
            <a:ext cx="0" cy="238125"/>
          </a:xfrm>
          <a:prstGeom prst="straightConnector1">
            <a:avLst/>
          </a:prstGeom>
          <a:ln w="19050">
            <a:solidFill>
              <a:srgbClr val="5B6573"/>
            </a:solidFill>
            <a:prstDash val="solid"/>
            <a:tailEnd type="triangle" w="sm" len="sm"/>
          </a:ln>
        </p:spPr>
      </p:cxnSp>
      <p:cxnSp>
        <p:nvCxnSpPr>
          <p:cNvPr id="78" name="Straight Arrow Connector 77"/>
          <p:cNvCxnSpPr>
            <a:stCxn id="50" idx="2"/>
            <a:endCxn id="53" idx="0"/>
          </p:cNvCxnSpPr>
          <p:nvPr/>
        </p:nvCxnSpPr>
        <p:spPr>
          <a:xfrm>
            <a:off x="3448050" y="2028825"/>
            <a:ext cx="2200275" cy="238125"/>
          </a:xfrm>
          <a:prstGeom prst="straightConnector1">
            <a:avLst/>
          </a:prstGeom>
          <a:ln w="19050">
            <a:solidFill>
              <a:srgbClr val="A02B93"/>
            </a:solidFill>
            <a:prstDash val="dash"/>
            <a:tailEnd type="triangle" w="sm" len="sm"/>
          </a:ln>
        </p:spPr>
      </p:cxnSp>
      <p:sp>
        <p:nvSpPr>
          <p:cNvPr id="57" name="Stale copy label">
            <a:extLst>
              <a:ext uri="{FF2B5EF4-FFF2-40B4-BE49-F238E27FC236}">
                <a16:creationId xmlns:a16="http://schemas.microsoft.com/office/drawing/2014/main" id="{8E2343DF-2BB9-401F-B950-594DD72F33BC}"/>
              </a:ext>
            </a:extLst>
          </p:cNvPr>
          <p:cNvSpPr>
            <a:spLocks noGrp="1"/>
          </p:cNvSpPr>
          <p:nvPr/>
        </p:nvSpPr>
        <p:spPr>
          <a:xfrm>
            <a:off x="5000625" y="2971800"/>
            <a:ext cx="1295400" cy="257175"/>
          </a:xfrm>
          <a:prstGeom prst="rect">
            <a:avLst/>
          </a:prstGeom>
          <a:noFill/>
          <a:ln w="0">
            <a:noFill/>
          </a:ln>
        </p:spPr>
        <p:txBody>
          <a:bodyPr>
            <a:normAutofit fontScale="76316"/>
          </a:bodyPr>
          <a:lstStyle/>
          <a:p>
            <a:pPr algn="ctr">
              <a:defRPr sz="1425" b="1">
                <a:solidFill>
                  <a:srgbClr val="A02B93"/>
                </a:solidFill>
                <a:latin typeface="Aptos"/>
                <a:ea typeface="Aptos"/>
                <a:cs typeface="Aptos"/>
              </a:defRPr>
            </a:pPr>
            <a:r>
              <a:rPr sz="1425" b="1">
                <a:solidFill>
                  <a:srgbClr val="A02B93"/>
                </a:solidFill>
                <a:latin typeface="Aptos"/>
                <a:ea typeface="Aptos"/>
                <a:cs typeface="Aptos"/>
              </a:rPr>
              <a:t>stale copy</a:t>
            </a:r>
          </a:p>
        </p:txBody>
      </p:sp>
      <p:sp>
        <p:nvSpPr>
          <p:cNvPr id="58" name="Diagram divider">
            <a:extLst>
              <a:ext uri="{FF2B5EF4-FFF2-40B4-BE49-F238E27FC236}">
                <a16:creationId xmlns:a16="http://schemas.microsoft.com/office/drawing/2014/main" id="{F5D6858F-3BE5-4C9A-98FD-301B4CE6E4D8}"/>
              </a:ext>
            </a:extLst>
          </p:cNvPr>
          <p:cNvSpPr>
            <a:spLocks noGrp="1"/>
          </p:cNvSpPr>
          <p:nvPr/>
        </p:nvSpPr>
        <p:spPr>
          <a:xfrm>
            <a:off x="409575" y="3352800"/>
            <a:ext cx="6334125" cy="0"/>
          </a:xfrm>
          <a:prstGeom prst="line">
            <a:avLst/>
          </a:prstGeom>
          <a:noFill/>
          <a:ln w="9525">
            <a:solidFill>
              <a:srgbClr val="C9D1D9"/>
            </a:solidFill>
            <a:prstDash val="solid"/>
          </a:ln>
        </p:spPr>
        <p:txBody>
          <a:bodyPr/>
          <a:lstStyle/>
          <a:p>
            <a:endParaRPr lang="en-US"/>
          </a:p>
        </p:txBody>
      </p:sp>
      <p:sp>
        <p:nvSpPr>
          <p:cNvPr id="59" name="Coordination heading">
            <a:extLst>
              <a:ext uri="{FF2B5EF4-FFF2-40B4-BE49-F238E27FC236}">
                <a16:creationId xmlns:a16="http://schemas.microsoft.com/office/drawing/2014/main" id="{A3E49605-0D7A-41CB-AFA0-72806CB22D49}"/>
              </a:ext>
            </a:extLst>
          </p:cNvPr>
          <p:cNvSpPr>
            <a:spLocks noGrp="1"/>
          </p:cNvSpPr>
          <p:nvPr/>
        </p:nvSpPr>
        <p:spPr>
          <a:xfrm>
            <a:off x="409575" y="3514725"/>
            <a:ext cx="6429375" cy="323850"/>
          </a:xfrm>
          <a:prstGeom prst="rect">
            <a:avLst/>
          </a:prstGeom>
          <a:noFill/>
          <a:ln w="0">
            <a:noFill/>
          </a:ln>
        </p:spPr>
        <p:txBody>
          <a:bodyPr>
            <a:normAutofit fontScale="88406"/>
          </a:bodyPr>
          <a:lstStyle/>
          <a:p>
            <a:pPr>
              <a:defRPr sz="1725" b="1">
                <a:solidFill>
                  <a:srgbClr val="0E2841"/>
                </a:solidFill>
                <a:latin typeface="Aptos"/>
                <a:ea typeface="Aptos"/>
                <a:cs typeface="Aptos"/>
              </a:defRPr>
            </a:pPr>
            <a:r>
              <a:rPr sz="1725" b="1">
                <a:solidFill>
                  <a:srgbClr val="0E2841"/>
                </a:solidFill>
                <a:latin typeface="Aptos"/>
                <a:ea typeface="Aptos"/>
                <a:cs typeface="Aptos"/>
              </a:rPr>
              <a:t>Stronger consistency makes replicas coordinate</a:t>
            </a:r>
          </a:p>
        </p:txBody>
      </p:sp>
      <p:sp>
        <p:nvSpPr>
          <p:cNvPr id="60" name="Consistent replica 1">
            <a:extLst>
              <a:ext uri="{FF2B5EF4-FFF2-40B4-BE49-F238E27FC236}">
                <a16:creationId xmlns:a16="http://schemas.microsoft.com/office/drawing/2014/main" id="{038D7E5E-8B95-4F93-B217-322D71EE6C6C}"/>
              </a:ext>
            </a:extLst>
          </p:cNvPr>
          <p:cNvSpPr>
            <a:spLocks noGrp="1"/>
          </p:cNvSpPr>
          <p:nvPr/>
        </p:nvSpPr>
        <p:spPr>
          <a:xfrm>
            <a:off x="523875" y="4095750"/>
            <a:ext cx="1257300" cy="723900"/>
          </a:xfrm>
          <a:prstGeom prst="roundRect">
            <a:avLst>
              <a:gd name="adj" fmla="val 13158"/>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1</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61" name="Consistent replica 2">
            <a:extLst>
              <a:ext uri="{FF2B5EF4-FFF2-40B4-BE49-F238E27FC236}">
                <a16:creationId xmlns:a16="http://schemas.microsoft.com/office/drawing/2014/main" id="{E7B20FF7-ACB2-41C6-84C8-20B1208AB980}"/>
              </a:ext>
            </a:extLst>
          </p:cNvPr>
          <p:cNvSpPr>
            <a:spLocks noGrp="1"/>
          </p:cNvSpPr>
          <p:nvPr/>
        </p:nvSpPr>
        <p:spPr>
          <a:xfrm>
            <a:off x="2352675" y="4095750"/>
            <a:ext cx="1257300" cy="723900"/>
          </a:xfrm>
          <a:prstGeom prst="roundRect">
            <a:avLst>
              <a:gd name="adj" fmla="val 13158"/>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2</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62" name="Consistent replica 3">
            <a:extLst>
              <a:ext uri="{FF2B5EF4-FFF2-40B4-BE49-F238E27FC236}">
                <a16:creationId xmlns:a16="http://schemas.microsoft.com/office/drawing/2014/main" id="{87044477-B397-489B-940A-AABA6864C522}"/>
              </a:ext>
            </a:extLst>
          </p:cNvPr>
          <p:cNvSpPr>
            <a:spLocks noGrp="1"/>
          </p:cNvSpPr>
          <p:nvPr/>
        </p:nvSpPr>
        <p:spPr>
          <a:xfrm>
            <a:off x="4181475" y="4095750"/>
            <a:ext cx="1257300" cy="723900"/>
          </a:xfrm>
          <a:prstGeom prst="roundRect">
            <a:avLst>
              <a:gd name="adj" fmla="val 13158"/>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3</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63" name="Wait before reply">
            <a:extLst>
              <a:ext uri="{FF2B5EF4-FFF2-40B4-BE49-F238E27FC236}">
                <a16:creationId xmlns:a16="http://schemas.microsoft.com/office/drawing/2014/main" id="{B0C8692A-27AE-4FA6-8FCE-A48108951AB8}"/>
              </a:ext>
            </a:extLst>
          </p:cNvPr>
          <p:cNvSpPr>
            <a:spLocks noGrp="1"/>
          </p:cNvSpPr>
          <p:nvPr/>
        </p:nvSpPr>
        <p:spPr>
          <a:xfrm>
            <a:off x="5915025" y="4076700"/>
            <a:ext cx="838200" cy="762000"/>
          </a:xfrm>
          <a:prstGeom prst="roundRect">
            <a:avLst>
              <a:gd name="adj" fmla="val 12500"/>
            </a:avLst>
          </a:prstGeom>
          <a:solidFill>
            <a:srgbClr val="FFFFFF"/>
          </a:solidFill>
          <a:ln w="28575">
            <a:solidFill>
              <a:srgbClr val="A02B93"/>
            </a:solidFill>
            <a:prstDash val="solid"/>
          </a:ln>
        </p:spPr>
        <p:txBody>
          <a:bodyPr lIns="47625" tIns="47625" rIns="47625" bIns="47625" anchor="ctr">
            <a:normAutofit/>
          </a:bodyPr>
          <a:lstStyle/>
          <a:p>
            <a:pPr algn="ctr">
              <a:defRPr sz="1200" b="1">
                <a:solidFill>
                  <a:srgbClr val="A02B93"/>
                </a:solidFill>
                <a:latin typeface="Aptos"/>
                <a:ea typeface="Aptos"/>
                <a:cs typeface="Aptos"/>
              </a:defRPr>
            </a:pPr>
            <a:r>
              <a:rPr sz="1200" b="1">
                <a:solidFill>
                  <a:srgbClr val="A02B93"/>
                </a:solidFill>
                <a:latin typeface="Aptos"/>
                <a:ea typeface="Aptos"/>
                <a:cs typeface="Aptos"/>
              </a:rPr>
              <a:t>WAIT</a:t>
            </a:r>
          </a:p>
          <a:p>
            <a:pPr algn="ctr">
              <a:defRPr sz="1200" b="1">
                <a:solidFill>
                  <a:srgbClr val="A02B93"/>
                </a:solidFill>
                <a:latin typeface="Aptos"/>
                <a:ea typeface="Aptos"/>
                <a:cs typeface="Aptos"/>
              </a:defRPr>
            </a:pPr>
            <a:r>
              <a:rPr sz="1200" b="1">
                <a:solidFill>
                  <a:srgbClr val="A02B93"/>
                </a:solidFill>
                <a:latin typeface="Aptos"/>
                <a:ea typeface="Aptos"/>
                <a:cs typeface="Aptos"/>
              </a:rPr>
              <a:t>before reply</a:t>
            </a:r>
          </a:p>
        </p:txBody>
      </p:sp>
      <p:cxnSp>
        <p:nvCxnSpPr>
          <p:cNvPr id="86" name="Straight Arrow Connector 85"/>
          <p:cNvCxnSpPr>
            <a:stCxn id="60" idx="3"/>
            <a:endCxn id="61" idx="1"/>
          </p:cNvCxnSpPr>
          <p:nvPr/>
        </p:nvCxnSpPr>
        <p:spPr>
          <a:xfrm>
            <a:off x="1781175" y="4457700"/>
            <a:ext cx="571500" cy="0"/>
          </a:xfrm>
          <a:prstGeom prst="straightConnector1">
            <a:avLst/>
          </a:prstGeom>
          <a:ln w="19050">
            <a:solidFill>
              <a:srgbClr val="5B6573"/>
            </a:solidFill>
            <a:prstDash val="solid"/>
            <a:headEnd type="triangle" w="sm" len="sm"/>
            <a:tailEnd type="triangle" w="sm" len="sm"/>
          </a:ln>
        </p:spPr>
      </p:cxnSp>
      <p:cxnSp>
        <p:nvCxnSpPr>
          <p:cNvPr id="87" name="Straight Arrow Connector 86"/>
          <p:cNvCxnSpPr>
            <a:stCxn id="61" idx="3"/>
            <a:endCxn id="62" idx="1"/>
          </p:cNvCxnSpPr>
          <p:nvPr/>
        </p:nvCxnSpPr>
        <p:spPr>
          <a:xfrm>
            <a:off x="3609975" y="4457700"/>
            <a:ext cx="571500" cy="0"/>
          </a:xfrm>
          <a:prstGeom prst="straightConnector1">
            <a:avLst/>
          </a:prstGeom>
          <a:ln w="19050">
            <a:solidFill>
              <a:srgbClr val="5B6573"/>
            </a:solidFill>
            <a:prstDash val="solid"/>
            <a:headEnd type="triangle" w="sm" len="sm"/>
            <a:tailEnd type="triangle" w="sm" len="sm"/>
          </a:ln>
        </p:spPr>
      </p:cxnSp>
      <p:cxnSp>
        <p:nvCxnSpPr>
          <p:cNvPr id="88" name="Straight Arrow Connector 87"/>
          <p:cNvCxnSpPr>
            <a:stCxn id="62" idx="3"/>
            <a:endCxn id="63" idx="1"/>
          </p:cNvCxnSpPr>
          <p:nvPr/>
        </p:nvCxnSpPr>
        <p:spPr>
          <a:xfrm>
            <a:off x="5438775" y="4457700"/>
            <a:ext cx="476250" cy="0"/>
          </a:xfrm>
          <a:prstGeom prst="straightConnector1">
            <a:avLst/>
          </a:prstGeom>
          <a:ln w="19050">
            <a:solidFill>
              <a:srgbClr val="A02B93"/>
            </a:solidFill>
            <a:prstDash val="solid"/>
            <a:tailEnd type="triangle" w="sm" len="sm"/>
          </a:ln>
        </p:spPr>
      </p:cxnSp>
      <p:sp>
        <p:nvSpPr>
          <p:cNvPr id="67" name="Coordination cost">
            <a:extLst>
              <a:ext uri="{FF2B5EF4-FFF2-40B4-BE49-F238E27FC236}">
                <a16:creationId xmlns:a16="http://schemas.microsoft.com/office/drawing/2014/main" id="{F52DF72F-2902-473C-9FF3-D23AA5738F62}"/>
              </a:ext>
            </a:extLst>
          </p:cNvPr>
          <p:cNvSpPr>
            <a:spLocks noGrp="1"/>
          </p:cNvSpPr>
          <p:nvPr/>
        </p:nvSpPr>
        <p:spPr>
          <a:xfrm>
            <a:off x="533400" y="5105400"/>
            <a:ext cx="6191250" cy="352425"/>
          </a:xfrm>
          <a:prstGeom prst="rect">
            <a:avLst/>
          </a:prstGeom>
          <a:noFill/>
          <a:ln w="0">
            <a:noFill/>
          </a:ln>
        </p:spPr>
        <p:txBody>
          <a:bodyPr>
            <a:normAutofit/>
          </a:bodyPr>
          <a:lstStyle/>
          <a:p>
            <a:pPr algn="ctr">
              <a:defRPr sz="1650" b="1">
                <a:solidFill>
                  <a:srgbClr val="A02B93"/>
                </a:solidFill>
                <a:latin typeface="Aptos"/>
                <a:ea typeface="Aptos"/>
                <a:cs typeface="Aptos"/>
              </a:defRPr>
            </a:pPr>
            <a:r>
              <a:rPr sz="1650" b="1">
                <a:solidFill>
                  <a:srgbClr val="A02B93"/>
                </a:solidFill>
                <a:latin typeface="Aptos"/>
                <a:ea typeface="Aptos"/>
                <a:cs typeface="Aptos"/>
              </a:rPr>
              <a:t>extra messages + waiting  →  lower performance</a:t>
            </a:r>
          </a:p>
        </p:txBody>
      </p:sp>
    </p:spTree>
    <p:extLst>
      <p:ext uri="{BB962C8B-B14F-4D97-AF65-F5344CB8AC3E}">
        <p14:creationId xmlns:p14="http://schemas.microsoft.com/office/powerpoint/2010/main" val="176180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8">
                                            <p:txEl>
                                              <p:pRg st="4" end="4"/>
                                            </p:txEl>
                                          </p:spTgt>
                                        </p:tgtEl>
                                        <p:attrNameLst>
                                          <p:attrName>style.visibility</p:attrName>
                                        </p:attrNameLst>
                                      </p:cBhvr>
                                      <p:to>
                                        <p:strVal val="visible"/>
                                      </p:to>
                                    </p:set>
                                    <p:animEffect transition="in" filter="dissolve">
                                      <p:cBhvr>
                                        <p:cTn id="7" dur="500"/>
                                        <p:tgtEl>
                                          <p:spTgt spid="48">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8">
                                            <p:txEl>
                                              <p:pRg st="6" end="6"/>
                                            </p:txEl>
                                          </p:spTgt>
                                        </p:tgtEl>
                                        <p:attrNameLst>
                                          <p:attrName>style.visibility</p:attrName>
                                        </p:attrNameLst>
                                      </p:cBhvr>
                                      <p:to>
                                        <p:strVal val="visible"/>
                                      </p:to>
                                    </p:set>
                                    <p:animEffect transition="in" filter="dissolve">
                                      <p:cBhvr>
                                        <p:cTn id="10" dur="500"/>
                                        <p:tgtEl>
                                          <p:spTgt spid="48">
                                            <p:txEl>
                                              <p:pRg st="6" end="6"/>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59"/>
                                        </p:tgtEl>
                                        <p:attrNameLst>
                                          <p:attrName>style.visibility</p:attrName>
                                        </p:attrNameLst>
                                      </p:cBhvr>
                                      <p:to>
                                        <p:strVal val="visible"/>
                                      </p:to>
                                    </p:set>
                                    <p:animEffect transition="in" filter="dissolve">
                                      <p:cBhvr>
                                        <p:cTn id="13" dur="500"/>
                                        <p:tgtEl>
                                          <p:spTgt spid="59"/>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60"/>
                                        </p:tgtEl>
                                        <p:attrNameLst>
                                          <p:attrName>style.visibility</p:attrName>
                                        </p:attrNameLst>
                                      </p:cBhvr>
                                      <p:to>
                                        <p:strVal val="visible"/>
                                      </p:to>
                                    </p:set>
                                    <p:animEffect transition="in" filter="dissolve">
                                      <p:cBhvr>
                                        <p:cTn id="16" dur="500"/>
                                        <p:tgtEl>
                                          <p:spTgt spid="60"/>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dissolve">
                                      <p:cBhvr>
                                        <p:cTn id="19" dur="500"/>
                                        <p:tgtEl>
                                          <p:spTgt spid="61"/>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62"/>
                                        </p:tgtEl>
                                        <p:attrNameLst>
                                          <p:attrName>style.visibility</p:attrName>
                                        </p:attrNameLst>
                                      </p:cBhvr>
                                      <p:to>
                                        <p:strVal val="visible"/>
                                      </p:to>
                                    </p:set>
                                    <p:animEffect transition="in" filter="dissolve">
                                      <p:cBhvr>
                                        <p:cTn id="22" dur="500"/>
                                        <p:tgtEl>
                                          <p:spTgt spid="62"/>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animEffect transition="in" filter="dissolve">
                                      <p:cBhvr>
                                        <p:cTn id="25" dur="500"/>
                                        <p:tgtEl>
                                          <p:spTgt spid="63"/>
                                        </p:tgtEl>
                                      </p:cBhvr>
                                    </p:animEffect>
                                  </p:childTnLst>
                                </p:cTn>
                              </p:par>
                              <p:par>
                                <p:cTn id="26" presetID="9" presetClass="entr" presetSubtype="0" fill="hold" nodeType="withEffect">
                                  <p:stCondLst>
                                    <p:cond delay="0"/>
                                  </p:stCondLst>
                                  <p:childTnLst>
                                    <p:set>
                                      <p:cBhvr>
                                        <p:cTn id="27" dur="1" fill="hold">
                                          <p:stCondLst>
                                            <p:cond delay="0"/>
                                          </p:stCondLst>
                                        </p:cTn>
                                        <p:tgtEl>
                                          <p:spTgt spid="86"/>
                                        </p:tgtEl>
                                        <p:attrNameLst>
                                          <p:attrName>style.visibility</p:attrName>
                                        </p:attrNameLst>
                                      </p:cBhvr>
                                      <p:to>
                                        <p:strVal val="visible"/>
                                      </p:to>
                                    </p:set>
                                    <p:animEffect transition="in" filter="dissolve">
                                      <p:cBhvr>
                                        <p:cTn id="28" dur="500"/>
                                        <p:tgtEl>
                                          <p:spTgt spid="86"/>
                                        </p:tgtEl>
                                      </p:cBhvr>
                                    </p:animEffect>
                                  </p:childTnLst>
                                </p:cTn>
                              </p:par>
                              <p:par>
                                <p:cTn id="29" presetID="9" presetClass="entr" presetSubtype="0" fill="hold" nodeType="withEffect">
                                  <p:stCondLst>
                                    <p:cond delay="0"/>
                                  </p:stCondLst>
                                  <p:childTnLst>
                                    <p:set>
                                      <p:cBhvr>
                                        <p:cTn id="30" dur="1" fill="hold">
                                          <p:stCondLst>
                                            <p:cond delay="0"/>
                                          </p:stCondLst>
                                        </p:cTn>
                                        <p:tgtEl>
                                          <p:spTgt spid="87"/>
                                        </p:tgtEl>
                                        <p:attrNameLst>
                                          <p:attrName>style.visibility</p:attrName>
                                        </p:attrNameLst>
                                      </p:cBhvr>
                                      <p:to>
                                        <p:strVal val="visible"/>
                                      </p:to>
                                    </p:set>
                                    <p:animEffect transition="in" filter="dissolve">
                                      <p:cBhvr>
                                        <p:cTn id="31" dur="500"/>
                                        <p:tgtEl>
                                          <p:spTgt spid="87"/>
                                        </p:tgtEl>
                                      </p:cBhvr>
                                    </p:animEffect>
                                  </p:childTnLst>
                                </p:cTn>
                              </p:par>
                              <p:par>
                                <p:cTn id="32" presetID="9" presetClass="entr" presetSubtype="0" fill="hold" nodeType="withEffect">
                                  <p:stCondLst>
                                    <p:cond delay="0"/>
                                  </p:stCondLst>
                                  <p:childTnLst>
                                    <p:set>
                                      <p:cBhvr>
                                        <p:cTn id="33" dur="1" fill="hold">
                                          <p:stCondLst>
                                            <p:cond delay="0"/>
                                          </p:stCondLst>
                                        </p:cTn>
                                        <p:tgtEl>
                                          <p:spTgt spid="88"/>
                                        </p:tgtEl>
                                        <p:attrNameLst>
                                          <p:attrName>style.visibility</p:attrName>
                                        </p:attrNameLst>
                                      </p:cBhvr>
                                      <p:to>
                                        <p:strVal val="visible"/>
                                      </p:to>
                                    </p:set>
                                    <p:animEffect transition="in" filter="dissolve">
                                      <p:cBhvr>
                                        <p:cTn id="34" dur="500"/>
                                        <p:tgtEl>
                                          <p:spTgt spid="88"/>
                                        </p:tgtEl>
                                      </p:cBhvr>
                                    </p:animEffect>
                                  </p:childTnLst>
                                </p:cTn>
                              </p:par>
                              <p:par>
                                <p:cTn id="35" presetID="9" presetClass="entr" presetSubtype="0" fill="hold" grpId="0" nodeType="withEffect">
                                  <p:stCondLst>
                                    <p:cond delay="0"/>
                                  </p:stCondLst>
                                  <p:childTnLst>
                                    <p:set>
                                      <p:cBhvr>
                                        <p:cTn id="36" dur="1" fill="hold">
                                          <p:stCondLst>
                                            <p:cond delay="0"/>
                                          </p:stCondLst>
                                        </p:cTn>
                                        <p:tgtEl>
                                          <p:spTgt spid="67"/>
                                        </p:tgtEl>
                                        <p:attrNameLst>
                                          <p:attrName>style.visibility</p:attrName>
                                        </p:attrNameLst>
                                      </p:cBhvr>
                                      <p:to>
                                        <p:strVal val="visible"/>
                                      </p:to>
                                    </p:set>
                                    <p:animEffect transition="in" filter="dissolve">
                                      <p:cBhvr>
                                        <p:cTn id="37" dur="5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animBg="1"/>
      <p:bldP spid="61" grpId="0" animBg="1"/>
      <p:bldP spid="62" grpId="0" animBg="1"/>
      <p:bldP spid="63" grpId="0" animBg="1"/>
      <p:bldP spid="67"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Two Questions for This Lecture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9</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How can data remain correct when it is spread across machines that fail?</a:t>
            </a:r>
          </a:p>
          <a:p>
            <a:endParaRPr lang="en-US" sz="3200" dirty="0"/>
          </a:p>
          <a:p>
            <a:r>
              <a:rPr lang="en-US" sz="3200" b="1" dirty="0"/>
              <a:t>What performance cost must we pay to make that happen?</a:t>
            </a:r>
          </a:p>
        </p:txBody>
      </p:sp>
    </p:spTree>
    <p:extLst>
      <p:ext uri="{BB962C8B-B14F-4D97-AF65-F5344CB8AC3E}">
        <p14:creationId xmlns:p14="http://schemas.microsoft.com/office/powerpoint/2010/main" val="17206706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B7C71-10E9-1A5C-38E1-596B270A137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5CE8AA0-027A-20D9-A1BF-4C10DE518B40}"/>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Would We Like for Consistency?</a:t>
            </a:r>
          </a:p>
        </p:txBody>
      </p:sp>
      <p:sp>
        <p:nvSpPr>
          <p:cNvPr id="8" name="Slide Number Placeholder 4">
            <a:extLst>
              <a:ext uri="{FF2B5EF4-FFF2-40B4-BE49-F238E27FC236}">
                <a16:creationId xmlns:a16="http://schemas.microsoft.com/office/drawing/2014/main" id="{4A34D10B-90F8-D6D5-6384-692219354F9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10</a:t>
            </a:fld>
            <a:endParaRPr lang="en-US"/>
          </a:p>
        </p:txBody>
      </p:sp>
      <p:sp>
        <p:nvSpPr>
          <p:cNvPr id="2" name="TextBox 1">
            <a:extLst>
              <a:ext uri="{FF2B5EF4-FFF2-40B4-BE49-F238E27FC236}">
                <a16:creationId xmlns:a16="http://schemas.microsoft.com/office/drawing/2014/main" id="{631A401F-4D91-F6DC-4C05-BF22CEF27E08}"/>
              </a:ext>
            </a:extLst>
          </p:cNvPr>
          <p:cNvSpPr txBox="1"/>
          <p:nvPr/>
        </p:nvSpPr>
        <p:spPr>
          <a:xfrm>
            <a:off x="136634" y="1124607"/>
            <a:ext cx="11708524" cy="3539430"/>
          </a:xfrm>
          <a:prstGeom prst="rect">
            <a:avLst/>
          </a:prstGeom>
          <a:noFill/>
        </p:spPr>
        <p:txBody>
          <a:bodyPr wrap="square" rtlCol="0">
            <a:spAutoFit/>
          </a:bodyPr>
          <a:lstStyle/>
          <a:p>
            <a:r>
              <a:rPr lang="en-US" sz="3200" b="1" dirty="0"/>
              <a:t>Goal: Distributed systems try to create an illusion that users are using one single powerful machine</a:t>
            </a:r>
          </a:p>
          <a:p>
            <a:endParaRPr lang="en-US" sz="3200" b="1" dirty="0"/>
          </a:p>
          <a:p>
            <a:r>
              <a:rPr lang="en-US" sz="3200" b="1" dirty="0"/>
              <a:t>That one machine does one thing at a time</a:t>
            </a:r>
          </a:p>
          <a:p>
            <a:pPr marL="914400" indent="-457200">
              <a:buFont typeface="Arial" panose="020B0604020202020204" pitchFamily="34" charset="0"/>
              <a:buChar char="•"/>
            </a:pPr>
            <a:r>
              <a:rPr lang="en-US" sz="2800" b="0" dirty="0"/>
              <a:t>Concurrent requests are put in some order, and the machine picks the order</a:t>
            </a:r>
          </a:p>
          <a:p>
            <a:pPr marL="914400" indent="-457200">
              <a:buFont typeface="Arial" panose="020B0604020202020204" pitchFamily="34" charset="0"/>
              <a:buChar char="•"/>
            </a:pPr>
            <a:r>
              <a:rPr lang="en-US" sz="2800" b="0" dirty="0"/>
              <a:t>Each request finishes before the next one starts</a:t>
            </a:r>
          </a:p>
          <a:p>
            <a:endParaRPr lang="en-US" sz="3200" b="1" dirty="0"/>
          </a:p>
          <a:p>
            <a:r>
              <a:rPr lang="en-US" sz="3200" b="1" dirty="0"/>
              <a:t>So the test is: could one machine have produced what the clients saw?</a:t>
            </a:r>
          </a:p>
          <a:p>
            <a:pPr marL="914400" indent="-457200">
              <a:buFont typeface="Arial" panose="020B0604020202020204" pitchFamily="34" charset="0"/>
              <a:buChar char="•"/>
            </a:pPr>
            <a:r>
              <a:rPr lang="en-US" sz="2800" b="0" dirty="0"/>
              <a:t>Not a particular answer, but an answer that fits one single order</a:t>
            </a:r>
          </a:p>
        </p:txBody>
      </p:sp>
    </p:spTree>
    <p:extLst>
      <p:ext uri="{BB962C8B-B14F-4D97-AF65-F5344CB8AC3E}">
        <p14:creationId xmlns:p14="http://schemas.microsoft.com/office/powerpoint/2010/main" val="19204083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6" end="7"/>
                                            </p:txEl>
                                          </p:spTgt>
                                        </p:tgtEl>
                                        <p:attrNameLst>
                                          <p:attrName>style.visibility</p:attrName>
                                        </p:attrNameLst>
                                      </p:cBhvr>
                                      <p:to>
                                        <p:strVal val="visible"/>
                                      </p:to>
                                    </p:set>
                                    <p:animEffect transition="in" filter="dissolve">
                                      <p:cBhvr>
                                        <p:cTn id="7" dur="500"/>
                                        <p:tgtEl>
                                          <p:spTgt spid="2">
                                            <p:txEl>
                                              <p:pRg st="6"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452C5CF-C823-F93B-EC88-BA4478E024CE}"/>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What Should the Readers See?</a:t>
            </a:r>
          </a:p>
        </p:txBody>
      </p:sp>
      <p:sp>
        <p:nvSpPr>
          <p:cNvPr id="8" name="Slide Number Placeholder 4">
            <a:extLst>
              <a:ext uri="{FF2B5EF4-FFF2-40B4-BE49-F238E27FC236}">
                <a16:creationId xmlns:a16="http://schemas.microsoft.com/office/drawing/2014/main" id="{16D0A24B-6300-8D05-5AB9-F3998A2F3009}"/>
              </a:ext>
            </a:extLst>
          </p:cNvPr>
          <p:cNvSpPr>
            <a:spLocks noGrp="1"/>
          </p:cNvSpPr>
          <p:nvPr>
            <p:ph type="sldNum" idx="12"/>
          </p:nvPr>
        </p:nvSpPr>
        <p:spPr>
          <a:xfrm>
            <a:off x="8610600" y="6356350"/>
            <a:ext cx="2743200" cy="365125"/>
          </a:xfrm>
        </p:spPr>
        <p:txBody>
          <a:bodyPr/>
          <a:lstStyle/>
          <a:p>
            <a:fld id="{212DA15D-5F50-8B40-811F-34F736B90848}" type="slidenum">
              <a:rPr/>
              <a:t>11</a:t>
            </a:fld>
            <a:endParaRPr/>
          </a:p>
        </p:txBody>
      </p:sp>
      <p:sp>
        <p:nvSpPr>
          <p:cNvPr id="48" name="TextBox 47">
            <a:extLst>
              <a:ext uri="{FF2B5EF4-FFF2-40B4-BE49-F238E27FC236}">
                <a16:creationId xmlns:a16="http://schemas.microsoft.com/office/drawing/2014/main" id="{51F35555-7DB3-0E9F-0CC1-8DCCA40D364A}"/>
              </a:ext>
            </a:extLst>
          </p:cNvPr>
          <p:cNvSpPr>
            <a:spLocks noGrp="1"/>
          </p:cNvSpPr>
          <p:nvPr/>
        </p:nvSpPr>
        <p:spPr>
          <a:xfrm>
            <a:off x="7325250" y="1373218"/>
            <a:ext cx="4706595" cy="4154984"/>
          </a:xfrm>
          <a:prstGeom prst="rect">
            <a:avLst/>
          </a:prstGeom>
          <a:noFill/>
        </p:spPr>
        <p:txBody>
          <a:bodyPr wrap="square">
            <a:spAutoFit/>
          </a:bodyPr>
          <a:lstStyle/>
          <a:p>
            <a:pPr marL="342900" indent="-342900">
              <a:buFont typeface="Arial"/>
              <a:buChar char="•"/>
            </a:pPr>
            <a:r>
              <a:rPr sz="2400" dirty="0"/>
              <a:t>Suppose C1 and C2 write concurrently, and after the writes have completed, C3 and C4 read. what can they see?</a:t>
            </a:r>
          </a:p>
          <a:p>
            <a:pPr marL="342900" indent="-342900">
              <a:buFont typeface="Arial"/>
              <a:buChar char="•"/>
            </a:pPr>
            <a:endParaRPr sz="1200" dirty="0"/>
          </a:p>
          <a:p>
            <a:pPr marL="342900" indent="-342900">
              <a:buFont typeface="Arial"/>
              <a:buChar char="•"/>
            </a:pPr>
            <a:r>
              <a:rPr sz="2400" dirty="0"/>
              <a:t>One correct machine would pick an order and stick to it</a:t>
            </a:r>
          </a:p>
          <a:p>
            <a:pPr marL="342900" indent="-342900">
              <a:buFont typeface="Arial"/>
              <a:buChar char="•"/>
            </a:pPr>
            <a:endParaRPr sz="1200" dirty="0"/>
          </a:p>
          <a:p>
            <a:pPr marL="342900" indent="-342900">
              <a:buFont typeface="Arial"/>
              <a:buChar char="•"/>
            </a:pPr>
            <a:r>
              <a:rPr sz="2400" dirty="0"/>
              <a:t>Either order is acceptable</a:t>
            </a:r>
          </a:p>
          <a:p>
            <a:pPr marL="342900" indent="-342900">
              <a:buFont typeface="Arial"/>
              <a:buChar char="•"/>
            </a:pPr>
            <a:endParaRPr sz="1200" dirty="0"/>
          </a:p>
          <a:p>
            <a:pPr marL="342900" indent="-342900">
              <a:buFont typeface="Arial"/>
              <a:buChar char="•"/>
            </a:pPr>
            <a:r>
              <a:rPr sz="2400" dirty="0"/>
              <a:t>The two readers disagreeing is not</a:t>
            </a:r>
          </a:p>
        </p:txBody>
      </p:sp>
      <p:sp>
        <p:nvSpPr>
          <p:cNvPr id="49" name="Scenario heading">
            <a:extLst>
              <a:ext uri="{FF2B5EF4-FFF2-40B4-BE49-F238E27FC236}">
                <a16:creationId xmlns:a16="http://schemas.microsoft.com/office/drawing/2014/main" id="{661EE3E6-4BC3-4749-8762-CC8F835B020D}"/>
              </a:ext>
            </a:extLst>
          </p:cNvPr>
          <p:cNvSpPr>
            <a:spLocks noGrp="1"/>
          </p:cNvSpPr>
          <p:nvPr/>
        </p:nvSpPr>
        <p:spPr>
          <a:xfrm>
            <a:off x="409575" y="1057275"/>
            <a:ext cx="6429375" cy="323850"/>
          </a:xfrm>
          <a:prstGeom prst="rect">
            <a:avLst/>
          </a:prstGeom>
          <a:noFill/>
          <a:ln w="0">
            <a:noFill/>
          </a:ln>
        </p:spPr>
        <p:txBody>
          <a:bodyPr>
            <a:normAutofit/>
          </a:bodyPr>
          <a:lstStyle/>
          <a:p>
            <a:pPr>
              <a:defRPr sz="1725" b="1">
                <a:solidFill>
                  <a:srgbClr val="0E2841"/>
                </a:solidFill>
                <a:latin typeface="Aptos"/>
                <a:ea typeface="Aptos"/>
                <a:cs typeface="Aptos"/>
              </a:defRPr>
            </a:pPr>
            <a:r>
              <a:rPr sz="1725" b="1">
                <a:solidFill>
                  <a:srgbClr val="0E2841"/>
                </a:solidFill>
                <a:latin typeface="Aptos"/>
                <a:ea typeface="Aptos"/>
                <a:cs typeface="Aptos"/>
              </a:rPr>
              <a:t>C1 and C2 write at the same time, then C3 and C4 read</a:t>
            </a:r>
          </a:p>
        </p:txBody>
      </p:sp>
      <p:sp>
        <p:nvSpPr>
          <p:cNvPr id="50" name="Client 1 write">
            <a:extLst>
              <a:ext uri="{FF2B5EF4-FFF2-40B4-BE49-F238E27FC236}">
                <a16:creationId xmlns:a16="http://schemas.microsoft.com/office/drawing/2014/main" id="{75D3A3DE-8E0D-482B-BCFD-2AD2458A4DA5}"/>
              </a:ext>
            </a:extLst>
          </p:cNvPr>
          <p:cNvSpPr>
            <a:spLocks noGrp="1"/>
          </p:cNvSpPr>
          <p:nvPr/>
        </p:nvSpPr>
        <p:spPr>
          <a:xfrm>
            <a:off x="450000" y="1500000"/>
            <a:ext cx="1400000" cy="590550"/>
          </a:xfrm>
          <a:prstGeom prst="roundRect">
            <a:avLst>
              <a:gd name="adj" fmla="val 16129"/>
            </a:avLst>
          </a:prstGeom>
          <a:solidFill>
            <a:srgbClr val="A02B93"/>
          </a:solidFill>
          <a:ln w="19050">
            <a:solidFill>
              <a:srgbClr val="A02B93"/>
            </a:solidFill>
            <a:prstDash val="solid"/>
          </a:ln>
        </p:spPr>
        <p:txBody>
          <a:bodyPr lIns="47625" tIns="47625" rIns="47625" bIns="47625" anchor="ctr">
            <a:normAutofit/>
          </a:bodyPr>
          <a:lstStyle/>
          <a:p>
            <a:pPr algn="ctr">
              <a:defRPr sz="1425" b="1">
                <a:solidFill>
                  <a:srgbClr val="FFFFFF"/>
                </a:solidFill>
                <a:latin typeface="Aptos"/>
                <a:ea typeface="Aptos"/>
                <a:cs typeface="Aptos"/>
              </a:defRPr>
            </a:pPr>
            <a:r>
              <a:rPr sz="1425" b="1">
                <a:solidFill>
                  <a:srgbClr val="FFFFFF"/>
                </a:solidFill>
                <a:latin typeface="Aptos"/>
                <a:ea typeface="Aptos"/>
                <a:cs typeface="Aptos"/>
              </a:rPr>
              <a:t>C1</a:t>
            </a:r>
          </a:p>
          <a:p>
            <a:pPr algn="ctr">
              <a:defRPr sz="1425" b="1">
                <a:solidFill>
                  <a:srgbClr val="FFFFFF"/>
                </a:solidFill>
                <a:latin typeface="Aptos"/>
                <a:ea typeface="Aptos"/>
                <a:cs typeface="Aptos"/>
              </a:defRPr>
            </a:pPr>
            <a:r>
              <a:rPr sz="1425" b="1">
                <a:solidFill>
                  <a:srgbClr val="FFFFFF"/>
                </a:solidFill>
                <a:latin typeface="Aptos"/>
                <a:ea typeface="Aptos"/>
                <a:cs typeface="Aptos"/>
              </a:rPr>
              <a:t>write x = 1</a:t>
            </a:r>
          </a:p>
        </p:txBody>
      </p:sp>
      <p:sp>
        <p:nvSpPr>
          <p:cNvPr id="51" name="Client 2 write">
            <a:extLst>
              <a:ext uri="{FF2B5EF4-FFF2-40B4-BE49-F238E27FC236}">
                <a16:creationId xmlns:a16="http://schemas.microsoft.com/office/drawing/2014/main" id="{75D3A3DE-8E0D-482B-BCFD-2AD2458A4DA5}"/>
              </a:ext>
            </a:extLst>
          </p:cNvPr>
          <p:cNvSpPr>
            <a:spLocks noGrp="1"/>
          </p:cNvSpPr>
          <p:nvPr/>
        </p:nvSpPr>
        <p:spPr>
          <a:xfrm>
            <a:off x="450000" y="2250000"/>
            <a:ext cx="1400000" cy="590550"/>
          </a:xfrm>
          <a:prstGeom prst="roundRect">
            <a:avLst>
              <a:gd name="adj" fmla="val 16129"/>
            </a:avLst>
          </a:prstGeom>
          <a:solidFill>
            <a:srgbClr val="A02B93"/>
          </a:solidFill>
          <a:ln w="19050">
            <a:solidFill>
              <a:srgbClr val="A02B93"/>
            </a:solidFill>
            <a:prstDash val="solid"/>
          </a:ln>
        </p:spPr>
        <p:txBody>
          <a:bodyPr lIns="47625" tIns="47625" rIns="47625" bIns="47625" anchor="ctr">
            <a:normAutofit/>
          </a:bodyPr>
          <a:lstStyle/>
          <a:p>
            <a:pPr algn="ctr">
              <a:defRPr sz="1425" b="1">
                <a:solidFill>
                  <a:srgbClr val="FFFFFF"/>
                </a:solidFill>
                <a:latin typeface="Aptos"/>
                <a:ea typeface="Aptos"/>
                <a:cs typeface="Aptos"/>
              </a:defRPr>
            </a:pPr>
            <a:r>
              <a:rPr sz="1425" b="1">
                <a:solidFill>
                  <a:srgbClr val="FFFFFF"/>
                </a:solidFill>
                <a:latin typeface="Aptos"/>
                <a:ea typeface="Aptos"/>
                <a:cs typeface="Aptos"/>
              </a:rPr>
              <a:t>C2</a:t>
            </a:r>
          </a:p>
          <a:p>
            <a:pPr algn="ctr">
              <a:defRPr sz="1425" b="1">
                <a:solidFill>
                  <a:srgbClr val="FFFFFF"/>
                </a:solidFill>
                <a:latin typeface="Aptos"/>
                <a:ea typeface="Aptos"/>
                <a:cs typeface="Aptos"/>
              </a:defRPr>
            </a:pPr>
            <a:r>
              <a:rPr sz="1425" b="1">
                <a:solidFill>
                  <a:srgbClr val="FFFFFF"/>
                </a:solidFill>
                <a:latin typeface="Aptos"/>
                <a:ea typeface="Aptos"/>
                <a:cs typeface="Aptos"/>
              </a:rPr>
              <a:t>write x = 2</a:t>
            </a:r>
          </a:p>
        </p:txBody>
      </p:sp>
      <p:sp>
        <p:nvSpPr>
          <p:cNvPr id="52" name="One machine">
            <a:extLst>
              <a:ext uri="{FF2B5EF4-FFF2-40B4-BE49-F238E27FC236}">
                <a16:creationId xmlns:a16="http://schemas.microsoft.com/office/drawing/2014/main" id="{C047F16D-4224-436C-BA2F-7F4F14E7970E}"/>
              </a:ext>
            </a:extLst>
          </p:cNvPr>
          <p:cNvSpPr>
            <a:spLocks noGrp="1"/>
          </p:cNvSpPr>
          <p:nvPr/>
        </p:nvSpPr>
        <p:spPr>
          <a:xfrm>
            <a:off x="2400000" y="1650275"/>
            <a:ext cx="2200000" cy="104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One correct machine</a:t>
            </a:r>
          </a:p>
          <a:p>
            <a:pPr algn="ctr">
              <a:defRPr sz="1350" b="1">
                <a:solidFill>
                  <a:srgbClr val="0E2841"/>
                </a:solidFill>
                <a:latin typeface="Aptos"/>
                <a:ea typeface="Aptos"/>
                <a:cs typeface="Aptos"/>
              </a:defRPr>
            </a:pPr>
            <a:r>
              <a:rPr sz="1350" b="1">
                <a:solidFill>
                  <a:srgbClr val="0E2841"/>
                </a:solidFill>
                <a:latin typeface="Aptos"/>
                <a:ea typeface="Aptos"/>
                <a:cs typeface="Aptos"/>
              </a:rPr>
              <a:t>one request at a time</a:t>
            </a:r>
          </a:p>
        </p:txBody>
      </p:sp>
      <p:sp>
        <p:nvSpPr>
          <p:cNvPr id="53" name="Client 3 read">
            <a:extLst>
              <a:ext uri="{FF2B5EF4-FFF2-40B4-BE49-F238E27FC236}">
                <a16:creationId xmlns:a16="http://schemas.microsoft.com/office/drawing/2014/main" id="{C047F16D-4224-436C-BA2F-7F4F14E7970E}"/>
              </a:ext>
            </a:extLst>
          </p:cNvPr>
          <p:cNvSpPr>
            <a:spLocks noGrp="1"/>
          </p:cNvSpPr>
          <p:nvPr/>
        </p:nvSpPr>
        <p:spPr>
          <a:xfrm>
            <a:off x="5100000" y="1500000"/>
            <a:ext cx="14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C3</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 x</a:t>
            </a:r>
          </a:p>
        </p:txBody>
      </p:sp>
      <p:sp>
        <p:nvSpPr>
          <p:cNvPr id="57" name="Client 4 read">
            <a:extLst>
              <a:ext uri="{FF2B5EF4-FFF2-40B4-BE49-F238E27FC236}">
                <a16:creationId xmlns:a16="http://schemas.microsoft.com/office/drawing/2014/main" id="{C047F16D-4224-436C-BA2F-7F4F14E7970E}"/>
              </a:ext>
            </a:extLst>
          </p:cNvPr>
          <p:cNvSpPr>
            <a:spLocks noGrp="1"/>
          </p:cNvSpPr>
          <p:nvPr/>
        </p:nvSpPr>
        <p:spPr>
          <a:xfrm>
            <a:off x="5100000" y="2250000"/>
            <a:ext cx="14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C4</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 x</a:t>
            </a:r>
          </a:p>
        </p:txBody>
      </p:sp>
      <p:cxnSp>
        <p:nvCxnSpPr>
          <p:cNvPr id="76" name="Write arrow 1"/>
          <p:cNvCxnSpPr/>
          <p:nvPr/>
        </p:nvCxnSpPr>
        <p:spPr>
          <a:xfrm>
            <a:off x="1850000" y="1795275"/>
            <a:ext cx="550000" cy="375000"/>
          </a:xfrm>
          <a:prstGeom prst="straightConnector1">
            <a:avLst/>
          </a:prstGeom>
          <a:ln w="19050">
            <a:solidFill>
              <a:srgbClr val="A02B93"/>
            </a:solidFill>
            <a:prstDash val="solid"/>
            <a:tailEnd type="triangle" w="sm" len="sm"/>
          </a:ln>
        </p:spPr>
      </p:cxnSp>
      <p:cxnSp>
        <p:nvCxnSpPr>
          <p:cNvPr id="77" name="Write arrow 2"/>
          <p:cNvCxnSpPr/>
          <p:nvPr/>
        </p:nvCxnSpPr>
        <p:spPr>
          <a:xfrm flipV="1">
            <a:off x="1850000" y="2170275"/>
            <a:ext cx="550000" cy="375000"/>
          </a:xfrm>
          <a:prstGeom prst="straightConnector1">
            <a:avLst/>
          </a:prstGeom>
          <a:ln w="19050">
            <a:solidFill>
              <a:srgbClr val="A02B93"/>
            </a:solidFill>
            <a:prstDash val="solid"/>
            <a:tailEnd type="triangle" w="sm" len="sm"/>
          </a:ln>
        </p:spPr>
      </p:cxnSp>
      <p:cxnSp>
        <p:nvCxnSpPr>
          <p:cNvPr id="78" name="Read arrow 1"/>
          <p:cNvCxnSpPr/>
          <p:nvPr/>
        </p:nvCxnSpPr>
        <p:spPr>
          <a:xfrm flipV="1">
            <a:off x="4600000" y="1795275"/>
            <a:ext cx="500000" cy="375000"/>
          </a:xfrm>
          <a:prstGeom prst="straightConnector1">
            <a:avLst/>
          </a:prstGeom>
          <a:ln w="19050">
            <a:solidFill>
              <a:srgbClr val="5B6573"/>
            </a:solidFill>
            <a:prstDash val="solid"/>
            <a:tailEnd type="triangle" w="sm" len="sm"/>
          </a:ln>
        </p:spPr>
      </p:cxnSp>
      <p:cxnSp>
        <p:nvCxnSpPr>
          <p:cNvPr id="79" name="Read arrow 2"/>
          <p:cNvCxnSpPr/>
          <p:nvPr/>
        </p:nvCxnSpPr>
        <p:spPr>
          <a:xfrm>
            <a:off x="4600000" y="2170275"/>
            <a:ext cx="500000" cy="375000"/>
          </a:xfrm>
          <a:prstGeom prst="straightConnector1">
            <a:avLst/>
          </a:prstGeom>
          <a:ln w="19050">
            <a:solidFill>
              <a:srgbClr val="5B6573"/>
            </a:solidFill>
            <a:prstDash val="solid"/>
            <a:tailEnd type="triangle" w="sm" len="sm"/>
          </a:ln>
        </p:spPr>
      </p:cxnSp>
      <p:sp>
        <p:nvSpPr>
          <p:cNvPr id="68" name="Same value label">
            <a:extLst>
              <a:ext uri="{FF2B5EF4-FFF2-40B4-BE49-F238E27FC236}">
                <a16:creationId xmlns:a16="http://schemas.microsoft.com/office/drawing/2014/main" id="{8E2343DF-2BB9-401F-B950-594DD72F33BC}"/>
              </a:ext>
            </a:extLst>
          </p:cNvPr>
          <p:cNvSpPr>
            <a:spLocks noGrp="1"/>
          </p:cNvSpPr>
          <p:nvPr/>
        </p:nvSpPr>
        <p:spPr>
          <a:xfrm>
            <a:off x="5100000" y="2900000"/>
            <a:ext cx="1400000" cy="257175"/>
          </a:xfrm>
          <a:prstGeom prst="rect">
            <a:avLst/>
          </a:prstGeom>
          <a:noFill/>
          <a:ln w="0">
            <a:noFill/>
          </a:ln>
        </p:spPr>
        <p:txBody>
          <a:bodyPr>
            <a:normAutofit/>
          </a:bodyPr>
          <a:lstStyle/>
          <a:p>
            <a:pPr algn="ctr">
              <a:defRPr sz="1425" b="1">
                <a:solidFill>
                  <a:srgbClr val="A02B93"/>
                </a:solidFill>
                <a:latin typeface="Aptos"/>
                <a:ea typeface="Aptos"/>
                <a:cs typeface="Aptos"/>
              </a:defRPr>
            </a:pPr>
            <a:r>
              <a:rPr sz="1425" b="1">
                <a:solidFill>
                  <a:srgbClr val="A02B93"/>
                </a:solidFill>
                <a:latin typeface="Aptos"/>
                <a:ea typeface="Aptos"/>
                <a:cs typeface="Aptos"/>
              </a:rPr>
              <a:t>same value?</a:t>
            </a:r>
          </a:p>
        </p:txBody>
      </p:sp>
      <p:sp>
        <p:nvSpPr>
          <p:cNvPr id="58" name="Diagram divider">
            <a:extLst>
              <a:ext uri="{FF2B5EF4-FFF2-40B4-BE49-F238E27FC236}">
                <a16:creationId xmlns:a16="http://schemas.microsoft.com/office/drawing/2014/main" id="{F5D6858F-3BE5-4C9A-98FD-301B4CE6E4D8}"/>
              </a:ext>
            </a:extLst>
          </p:cNvPr>
          <p:cNvSpPr>
            <a:spLocks noGrp="1"/>
          </p:cNvSpPr>
          <p:nvPr/>
        </p:nvSpPr>
        <p:spPr>
          <a:xfrm>
            <a:off x="409575" y="3352800"/>
            <a:ext cx="6334125" cy="0"/>
          </a:xfrm>
          <a:prstGeom prst="line">
            <a:avLst/>
          </a:prstGeom>
          <a:noFill/>
          <a:ln w="9525">
            <a:solidFill>
              <a:srgbClr val="C9D1D9"/>
            </a:solidFill>
            <a:prstDash val="solid"/>
          </a:ln>
        </p:spPr>
        <p:txBody>
          <a:bodyPr/>
          <a:lstStyle/>
          <a:p>
            <a:endParaRPr lang="en-US"/>
          </a:p>
        </p:txBody>
      </p:sp>
      <p:sp>
        <p:nvSpPr>
          <p:cNvPr id="59" name="Answer heading">
            <a:extLst>
              <a:ext uri="{FF2B5EF4-FFF2-40B4-BE49-F238E27FC236}">
                <a16:creationId xmlns:a16="http://schemas.microsoft.com/office/drawing/2014/main" id="{661EE3E6-4BC3-4749-8762-CC8F835B020D}"/>
              </a:ext>
            </a:extLst>
          </p:cNvPr>
          <p:cNvSpPr>
            <a:spLocks noGrp="1"/>
          </p:cNvSpPr>
          <p:nvPr/>
        </p:nvSpPr>
        <p:spPr>
          <a:xfrm>
            <a:off x="409575" y="3514725"/>
            <a:ext cx="6429375" cy="323850"/>
          </a:xfrm>
          <a:prstGeom prst="rect">
            <a:avLst/>
          </a:prstGeom>
          <a:noFill/>
          <a:ln w="0">
            <a:noFill/>
          </a:ln>
        </p:spPr>
        <p:txBody>
          <a:bodyPr>
            <a:normAutofit/>
          </a:bodyPr>
          <a:lstStyle/>
          <a:p>
            <a:pPr>
              <a:defRPr sz="1725" b="1">
                <a:solidFill>
                  <a:srgbClr val="0E2841"/>
                </a:solidFill>
                <a:latin typeface="Aptos"/>
                <a:ea typeface="Aptos"/>
                <a:cs typeface="Aptos"/>
              </a:defRPr>
            </a:pPr>
            <a:r>
              <a:rPr sz="1725" b="1">
                <a:solidFill>
                  <a:srgbClr val="0E2841"/>
                </a:solidFill>
                <a:latin typeface="Aptos"/>
                <a:ea typeface="Aptos"/>
                <a:cs typeface="Aptos"/>
              </a:rPr>
              <a:t>What are they allowed to see?</a:t>
            </a:r>
          </a:p>
        </p:txBody>
      </p:sp>
      <p:sp>
        <p:nvSpPr>
          <p:cNvPr id="60" name="Outcome 1">
            <a:extLst>
              <a:ext uri="{FF2B5EF4-FFF2-40B4-BE49-F238E27FC236}">
                <a16:creationId xmlns:a16="http://schemas.microsoft.com/office/drawing/2014/main" id="{C047F16D-4224-436C-BA2F-7F4F14E7970E}"/>
              </a:ext>
            </a:extLst>
          </p:cNvPr>
          <p:cNvSpPr>
            <a:spLocks noGrp="1"/>
          </p:cNvSpPr>
          <p:nvPr/>
        </p:nvSpPr>
        <p:spPr>
          <a:xfrm>
            <a:off x="409575" y="4095750"/>
            <a:ext cx="1900000" cy="80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both read 1</a:t>
            </a:r>
          </a:p>
          <a:p>
            <a:pPr algn="ctr">
              <a:defRPr sz="1350" b="1">
                <a:solidFill>
                  <a:srgbClr val="0E2841"/>
                </a:solidFill>
                <a:latin typeface="Aptos"/>
                <a:ea typeface="Aptos"/>
                <a:cs typeface="Aptos"/>
              </a:defRPr>
            </a:pPr>
            <a:r>
              <a:rPr sz="1350" b="1">
                <a:solidFill>
                  <a:srgbClr val="0E2841"/>
                </a:solidFill>
                <a:latin typeface="Aptos"/>
                <a:ea typeface="Aptos"/>
                <a:cs typeface="Aptos"/>
              </a:rPr>
              <a:t>allowed</a:t>
            </a:r>
          </a:p>
        </p:txBody>
      </p:sp>
      <p:sp>
        <p:nvSpPr>
          <p:cNvPr id="61" name="Outcome 2">
            <a:extLst>
              <a:ext uri="{FF2B5EF4-FFF2-40B4-BE49-F238E27FC236}">
                <a16:creationId xmlns:a16="http://schemas.microsoft.com/office/drawing/2014/main" id="{C047F16D-4224-436C-BA2F-7F4F14E7970E}"/>
              </a:ext>
            </a:extLst>
          </p:cNvPr>
          <p:cNvSpPr>
            <a:spLocks noGrp="1"/>
          </p:cNvSpPr>
          <p:nvPr/>
        </p:nvSpPr>
        <p:spPr>
          <a:xfrm>
            <a:off x="2674262" y="4095750"/>
            <a:ext cx="1900000" cy="80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both read 2</a:t>
            </a:r>
          </a:p>
          <a:p>
            <a:pPr algn="ctr">
              <a:defRPr sz="1350" b="1">
                <a:solidFill>
                  <a:srgbClr val="0E2841"/>
                </a:solidFill>
                <a:latin typeface="Aptos"/>
                <a:ea typeface="Aptos"/>
                <a:cs typeface="Aptos"/>
              </a:defRPr>
            </a:pPr>
            <a:r>
              <a:rPr sz="1350" b="1">
                <a:solidFill>
                  <a:srgbClr val="0E2841"/>
                </a:solidFill>
                <a:latin typeface="Aptos"/>
                <a:ea typeface="Aptos"/>
                <a:cs typeface="Aptos"/>
              </a:rPr>
              <a:t>allowed</a:t>
            </a:r>
          </a:p>
        </p:txBody>
      </p:sp>
      <p:sp>
        <p:nvSpPr>
          <p:cNvPr id="62" name="Outcome 3">
            <a:extLst>
              <a:ext uri="{FF2B5EF4-FFF2-40B4-BE49-F238E27FC236}">
                <a16:creationId xmlns:a16="http://schemas.microsoft.com/office/drawing/2014/main" id="{C047F16D-4224-436C-BA2F-7F4F14E7970E}"/>
              </a:ext>
            </a:extLst>
          </p:cNvPr>
          <p:cNvSpPr>
            <a:spLocks noGrp="1"/>
          </p:cNvSpPr>
          <p:nvPr/>
        </p:nvSpPr>
        <p:spPr>
          <a:xfrm>
            <a:off x="4938949" y="4095750"/>
            <a:ext cx="1900000" cy="800000"/>
          </a:xfrm>
          <a:prstGeom prst="roundRect">
            <a:avLst>
              <a:gd name="adj" fmla="val 13889"/>
            </a:avLst>
          </a:prstGeom>
          <a:solidFill>
            <a:srgbClr val="F7E8F5"/>
          </a:solidFill>
          <a:ln w="19050">
            <a:solidFill>
              <a:srgbClr val="A02B93"/>
            </a:solidFill>
            <a:prstDash val="solid"/>
          </a:ln>
        </p:spPr>
        <p:txBody>
          <a:bodyPr lIns="47625" tIns="47625" rIns="47625" bIns="47625" anchor="ctr">
            <a:normAutofit/>
          </a:bodyPr>
          <a:lstStyle/>
          <a:p>
            <a:pPr algn="ctr">
              <a:defRPr sz="1350" b="1">
                <a:solidFill>
                  <a:srgbClr val="A02B93"/>
                </a:solidFill>
                <a:latin typeface="Aptos"/>
                <a:ea typeface="Aptos"/>
                <a:cs typeface="Aptos"/>
              </a:defRPr>
            </a:pPr>
            <a:r>
              <a:rPr sz="1350" b="1">
                <a:solidFill>
                  <a:srgbClr val="A02B93"/>
                </a:solidFill>
                <a:latin typeface="Aptos"/>
                <a:ea typeface="Aptos"/>
                <a:cs typeface="Aptos"/>
              </a:rPr>
              <a:t>one reads 1,</a:t>
            </a:r>
          </a:p>
          <a:p>
            <a:pPr algn="ctr">
              <a:defRPr sz="1350" b="1">
                <a:solidFill>
                  <a:srgbClr val="A02B93"/>
                </a:solidFill>
                <a:latin typeface="Aptos"/>
                <a:ea typeface="Aptos"/>
                <a:cs typeface="Aptos"/>
              </a:defRPr>
            </a:pPr>
            <a:r>
              <a:rPr sz="1350" b="1">
                <a:solidFill>
                  <a:srgbClr val="A02B93"/>
                </a:solidFill>
                <a:latin typeface="Aptos"/>
                <a:ea typeface="Aptos"/>
                <a:cs typeface="Aptos"/>
              </a:rPr>
              <a:t>the other reads 2</a:t>
            </a:r>
          </a:p>
          <a:p>
            <a:pPr algn="ctr">
              <a:defRPr sz="1350" b="1">
                <a:solidFill>
                  <a:srgbClr val="A02B93"/>
                </a:solidFill>
                <a:latin typeface="Aptos"/>
                <a:ea typeface="Aptos"/>
                <a:cs typeface="Aptos"/>
              </a:defRPr>
            </a:pPr>
            <a:r>
              <a:rPr sz="1350" b="1">
                <a:solidFill>
                  <a:srgbClr val="A02B93"/>
                </a:solidFill>
                <a:latin typeface="Aptos"/>
                <a:ea typeface="Aptos"/>
                <a:cs typeface="Aptos"/>
              </a:rPr>
              <a:t>not allowed</a:t>
            </a:r>
          </a:p>
        </p:txBody>
      </p:sp>
      <p:sp>
        <p:nvSpPr>
          <p:cNvPr id="63" name="Answer caption">
            <a:extLst>
              <a:ext uri="{FF2B5EF4-FFF2-40B4-BE49-F238E27FC236}">
                <a16:creationId xmlns:a16="http://schemas.microsoft.com/office/drawing/2014/main" id="{F52DF72F-2902-473C-9FF3-D23AA5738F62}"/>
              </a:ext>
            </a:extLst>
          </p:cNvPr>
          <p:cNvSpPr>
            <a:spLocks noGrp="1"/>
          </p:cNvSpPr>
          <p:nvPr/>
        </p:nvSpPr>
        <p:spPr>
          <a:xfrm>
            <a:off x="409575" y="5105400"/>
            <a:ext cx="6429375" cy="352425"/>
          </a:xfrm>
          <a:prstGeom prst="rect">
            <a:avLst/>
          </a:prstGeom>
          <a:noFill/>
          <a:ln w="0">
            <a:noFill/>
          </a:ln>
        </p:spPr>
        <p:txBody>
          <a:bodyPr>
            <a:normAutofit/>
          </a:bodyPr>
          <a:lstStyle/>
          <a:p>
            <a:pPr algn="ctr">
              <a:defRPr sz="1650" b="1">
                <a:solidFill>
                  <a:srgbClr val="A02B93"/>
                </a:solidFill>
                <a:latin typeface="Aptos"/>
                <a:ea typeface="Aptos"/>
                <a:cs typeface="Aptos"/>
              </a:defRPr>
            </a:pPr>
            <a:r>
              <a:rPr sz="1650" b="1">
                <a:solidFill>
                  <a:srgbClr val="A02B93"/>
                </a:solidFill>
                <a:latin typeface="Aptos"/>
                <a:ea typeface="Aptos"/>
                <a:cs typeface="Aptos"/>
              </a:rPr>
              <a:t>Either order is fine; disagreeing is not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8">
                                            <p:txEl>
                                              <p:pRg st="4" end="4"/>
                                            </p:txEl>
                                          </p:spTgt>
                                        </p:tgtEl>
                                        <p:attrNameLst>
                                          <p:attrName>style.visibility</p:attrName>
                                        </p:attrNameLst>
                                      </p:cBhvr>
                                      <p:to>
                                        <p:strVal val="visible"/>
                                      </p:to>
                                    </p:set>
                                    <p:animEffect transition="in" filter="dissolve">
                                      <p:cBhvr>
                                        <p:cTn id="7" dur="500"/>
                                        <p:tgtEl>
                                          <p:spTgt spid="48">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8">
                                            <p:txEl>
                                              <p:pRg st="6" end="6"/>
                                            </p:txEl>
                                          </p:spTgt>
                                        </p:tgtEl>
                                        <p:attrNameLst>
                                          <p:attrName>style.visibility</p:attrName>
                                        </p:attrNameLst>
                                      </p:cBhvr>
                                      <p:to>
                                        <p:strVal val="visible"/>
                                      </p:to>
                                    </p:set>
                                    <p:animEffect transition="in" filter="dissolve">
                                      <p:cBhvr>
                                        <p:cTn id="10" dur="500"/>
                                        <p:tgtEl>
                                          <p:spTgt spid="48">
                                            <p:txEl>
                                              <p:pRg st="6" end="6"/>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59"/>
                                        </p:tgtEl>
                                        <p:attrNameLst>
                                          <p:attrName>style.visibility</p:attrName>
                                        </p:attrNameLst>
                                      </p:cBhvr>
                                      <p:to>
                                        <p:strVal val="visible"/>
                                      </p:to>
                                    </p:set>
                                    <p:animEffect transition="in" filter="dissolve">
                                      <p:cBhvr>
                                        <p:cTn id="13" dur="500"/>
                                        <p:tgtEl>
                                          <p:spTgt spid="59"/>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60"/>
                                        </p:tgtEl>
                                        <p:attrNameLst>
                                          <p:attrName>style.visibility</p:attrName>
                                        </p:attrNameLst>
                                      </p:cBhvr>
                                      <p:to>
                                        <p:strVal val="visible"/>
                                      </p:to>
                                    </p:set>
                                    <p:animEffect transition="in" filter="dissolve">
                                      <p:cBhvr>
                                        <p:cTn id="16" dur="500"/>
                                        <p:tgtEl>
                                          <p:spTgt spid="60"/>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dissolve">
                                      <p:cBhvr>
                                        <p:cTn id="19" dur="500"/>
                                        <p:tgtEl>
                                          <p:spTgt spid="61"/>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62"/>
                                        </p:tgtEl>
                                        <p:attrNameLst>
                                          <p:attrName>style.visibility</p:attrName>
                                        </p:attrNameLst>
                                      </p:cBhvr>
                                      <p:to>
                                        <p:strVal val="visible"/>
                                      </p:to>
                                    </p:set>
                                    <p:animEffect transition="in" filter="dissolve">
                                      <p:cBhvr>
                                        <p:cTn id="22" dur="500"/>
                                        <p:tgtEl>
                                          <p:spTgt spid="62"/>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animEffect transition="in" filter="dissolve">
                                      <p:cBhvr>
                                        <p:cTn id="25"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animBg="1"/>
      <p:bldP spid="61" grpId="0" animBg="1"/>
      <p:bldP spid="62" grpId="0" animBg="1"/>
      <p:bldP spid="63"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5F92C-659B-0E3A-3117-37DFC1B45B4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2EDE0E1-D5E4-ECAC-7153-C920BDD9B83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Bad Replication Design</a:t>
            </a:r>
          </a:p>
        </p:txBody>
      </p:sp>
      <p:sp>
        <p:nvSpPr>
          <p:cNvPr id="8" name="Slide Number Placeholder 4">
            <a:extLst>
              <a:ext uri="{FF2B5EF4-FFF2-40B4-BE49-F238E27FC236}">
                <a16:creationId xmlns:a16="http://schemas.microsoft.com/office/drawing/2014/main" id="{8FB39AF7-B2B4-30F8-591A-34972CA3A2A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12</a:t>
            </a:fld>
            <a:endParaRPr lang="en-US"/>
          </a:p>
        </p:txBody>
      </p:sp>
      <p:sp>
        <p:nvSpPr>
          <p:cNvPr id="2" name="object 5">
            <a:extLst>
              <a:ext uri="{FF2B5EF4-FFF2-40B4-BE49-F238E27FC236}">
                <a16:creationId xmlns:a16="http://schemas.microsoft.com/office/drawing/2014/main" id="{456260A6-F91B-4A6D-64FC-FD0578FAC28D}"/>
              </a:ext>
            </a:extLst>
          </p:cNvPr>
          <p:cNvSpPr txBox="1"/>
          <p:nvPr/>
        </p:nvSpPr>
        <p:spPr>
          <a:xfrm>
            <a:off x="2257602" y="3101244"/>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3" name="object 6">
            <a:extLst>
              <a:ext uri="{FF2B5EF4-FFF2-40B4-BE49-F238E27FC236}">
                <a16:creationId xmlns:a16="http://schemas.microsoft.com/office/drawing/2014/main" id="{4459AF3A-6782-4ADB-1F45-CA0D24FC54D2}"/>
              </a:ext>
            </a:extLst>
          </p:cNvPr>
          <p:cNvSpPr txBox="1"/>
          <p:nvPr/>
        </p:nvSpPr>
        <p:spPr>
          <a:xfrm>
            <a:off x="7236989" y="3101244"/>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Server1</a:t>
            </a:r>
            <a:endParaRPr sz="3300">
              <a:latin typeface="Arial"/>
              <a:cs typeface="Arial"/>
            </a:endParaRPr>
          </a:p>
        </p:txBody>
      </p:sp>
      <p:sp>
        <p:nvSpPr>
          <p:cNvPr id="4" name="object 7">
            <a:extLst>
              <a:ext uri="{FF2B5EF4-FFF2-40B4-BE49-F238E27FC236}">
                <a16:creationId xmlns:a16="http://schemas.microsoft.com/office/drawing/2014/main" id="{C9B6A5C4-870E-BE2E-F18F-6A3D520996A3}"/>
              </a:ext>
            </a:extLst>
          </p:cNvPr>
          <p:cNvSpPr txBox="1"/>
          <p:nvPr/>
        </p:nvSpPr>
        <p:spPr>
          <a:xfrm>
            <a:off x="7236989" y="4814920"/>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Server2</a:t>
            </a:r>
            <a:endParaRPr sz="3300">
              <a:latin typeface="Arial"/>
              <a:cs typeface="Arial"/>
            </a:endParaRPr>
          </a:p>
        </p:txBody>
      </p:sp>
      <p:grpSp>
        <p:nvGrpSpPr>
          <p:cNvPr id="5" name="object 8">
            <a:extLst>
              <a:ext uri="{FF2B5EF4-FFF2-40B4-BE49-F238E27FC236}">
                <a16:creationId xmlns:a16="http://schemas.microsoft.com/office/drawing/2014/main" id="{757F45D0-8269-1E68-4885-C87A323BC148}"/>
              </a:ext>
            </a:extLst>
          </p:cNvPr>
          <p:cNvGrpSpPr/>
          <p:nvPr/>
        </p:nvGrpSpPr>
        <p:grpSpPr>
          <a:xfrm>
            <a:off x="4080845" y="3587617"/>
            <a:ext cx="3145790" cy="100965"/>
            <a:chOff x="5441593" y="6964688"/>
            <a:chExt cx="3145790" cy="100965"/>
          </a:xfrm>
        </p:grpSpPr>
        <p:sp>
          <p:nvSpPr>
            <p:cNvPr id="6" name="object 9">
              <a:extLst>
                <a:ext uri="{FF2B5EF4-FFF2-40B4-BE49-F238E27FC236}">
                  <a16:creationId xmlns:a16="http://schemas.microsoft.com/office/drawing/2014/main" id="{4F529037-96A1-4D96-DC4A-95FFB18177C7}"/>
                </a:ext>
              </a:extLst>
            </p:cNvPr>
            <p:cNvSpPr/>
            <p:nvPr/>
          </p:nvSpPr>
          <p:spPr>
            <a:xfrm>
              <a:off x="5441593" y="7014949"/>
              <a:ext cx="3056255" cy="0"/>
            </a:xfrm>
            <a:custGeom>
              <a:avLst/>
              <a:gdLst/>
              <a:ahLst/>
              <a:cxnLst/>
              <a:rect l="l" t="t" r="r" b="b"/>
              <a:pathLst>
                <a:path w="3056254">
                  <a:moveTo>
                    <a:pt x="0" y="0"/>
                  </a:moveTo>
                  <a:lnTo>
                    <a:pt x="3045163" y="0"/>
                  </a:lnTo>
                  <a:lnTo>
                    <a:pt x="3055634" y="0"/>
                  </a:lnTo>
                </a:path>
              </a:pathLst>
            </a:custGeom>
            <a:ln w="20941">
              <a:solidFill>
                <a:srgbClr val="222C4A"/>
              </a:solidFill>
            </a:ln>
          </p:spPr>
          <p:txBody>
            <a:bodyPr wrap="square" lIns="0" tIns="0" rIns="0" bIns="0" rtlCol="0"/>
            <a:lstStyle/>
            <a:p>
              <a:endParaRPr/>
            </a:p>
          </p:txBody>
        </p:sp>
        <p:sp>
          <p:nvSpPr>
            <p:cNvPr id="9" name="object 10">
              <a:extLst>
                <a:ext uri="{FF2B5EF4-FFF2-40B4-BE49-F238E27FC236}">
                  <a16:creationId xmlns:a16="http://schemas.microsoft.com/office/drawing/2014/main" id="{C6D408E4-ABD5-210C-2B2D-907EA8A2009B}"/>
                </a:ext>
              </a:extLst>
            </p:cNvPr>
            <p:cNvSpPr/>
            <p:nvPr/>
          </p:nvSpPr>
          <p:spPr>
            <a:xfrm>
              <a:off x="8486746" y="6964688"/>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grpSp>
      <p:grpSp>
        <p:nvGrpSpPr>
          <p:cNvPr id="10" name="object 11">
            <a:extLst>
              <a:ext uri="{FF2B5EF4-FFF2-40B4-BE49-F238E27FC236}">
                <a16:creationId xmlns:a16="http://schemas.microsoft.com/office/drawing/2014/main" id="{74E4B85F-92EB-8EF6-BE15-D0C145092DCB}"/>
              </a:ext>
            </a:extLst>
          </p:cNvPr>
          <p:cNvGrpSpPr/>
          <p:nvPr/>
        </p:nvGrpSpPr>
        <p:grpSpPr>
          <a:xfrm>
            <a:off x="4070374" y="3942936"/>
            <a:ext cx="3156585" cy="1108075"/>
            <a:chOff x="5431122" y="7320007"/>
            <a:chExt cx="3156585" cy="1108075"/>
          </a:xfrm>
        </p:grpSpPr>
        <p:sp>
          <p:nvSpPr>
            <p:cNvPr id="11" name="object 12">
              <a:extLst>
                <a:ext uri="{FF2B5EF4-FFF2-40B4-BE49-F238E27FC236}">
                  <a16:creationId xmlns:a16="http://schemas.microsoft.com/office/drawing/2014/main" id="{8521B5D7-86C6-8C23-AF63-8A47E3E58F7B}"/>
                </a:ext>
              </a:extLst>
            </p:cNvPr>
            <p:cNvSpPr/>
            <p:nvPr/>
          </p:nvSpPr>
          <p:spPr>
            <a:xfrm>
              <a:off x="5441593" y="7330478"/>
              <a:ext cx="3060700" cy="1053465"/>
            </a:xfrm>
            <a:custGeom>
              <a:avLst/>
              <a:gdLst/>
              <a:ahLst/>
              <a:cxnLst/>
              <a:rect l="l" t="t" r="r" b="b"/>
              <a:pathLst>
                <a:path w="3060700" h="1053465">
                  <a:moveTo>
                    <a:pt x="0" y="0"/>
                  </a:moveTo>
                  <a:lnTo>
                    <a:pt x="3050608" y="1049873"/>
                  </a:lnTo>
                  <a:lnTo>
                    <a:pt x="3060535" y="1053287"/>
                  </a:lnTo>
                </a:path>
              </a:pathLst>
            </a:custGeom>
            <a:ln w="20941">
              <a:solidFill>
                <a:srgbClr val="222C4A"/>
              </a:solidFill>
            </a:ln>
          </p:spPr>
          <p:txBody>
            <a:bodyPr wrap="square" lIns="0" tIns="0" rIns="0" bIns="0" rtlCol="0"/>
            <a:lstStyle/>
            <a:p>
              <a:endParaRPr/>
            </a:p>
          </p:txBody>
        </p:sp>
        <p:sp>
          <p:nvSpPr>
            <p:cNvPr id="12" name="object 13">
              <a:extLst>
                <a:ext uri="{FF2B5EF4-FFF2-40B4-BE49-F238E27FC236}">
                  <a16:creationId xmlns:a16="http://schemas.microsoft.com/office/drawing/2014/main" id="{AF535CD6-E944-7F30-48D3-0B17D645B923}"/>
                </a:ext>
              </a:extLst>
            </p:cNvPr>
            <p:cNvSpPr/>
            <p:nvPr/>
          </p:nvSpPr>
          <p:spPr>
            <a:xfrm>
              <a:off x="8475867" y="8332845"/>
              <a:ext cx="111760" cy="95250"/>
            </a:xfrm>
            <a:custGeom>
              <a:avLst/>
              <a:gdLst/>
              <a:ahLst/>
              <a:cxnLst/>
              <a:rect l="l" t="t" r="r" b="b"/>
              <a:pathLst>
                <a:path w="111759" h="95250">
                  <a:moveTo>
                    <a:pt x="32711" y="0"/>
                  </a:moveTo>
                  <a:lnTo>
                    <a:pt x="0" y="95044"/>
                  </a:lnTo>
                  <a:lnTo>
                    <a:pt x="111399" y="80227"/>
                  </a:lnTo>
                  <a:lnTo>
                    <a:pt x="32711" y="0"/>
                  </a:lnTo>
                  <a:close/>
                </a:path>
              </a:pathLst>
            </a:custGeom>
            <a:solidFill>
              <a:srgbClr val="222C4A"/>
            </a:solidFill>
          </p:spPr>
          <p:txBody>
            <a:bodyPr wrap="square" lIns="0" tIns="0" rIns="0" bIns="0" rtlCol="0"/>
            <a:lstStyle/>
            <a:p>
              <a:endParaRPr/>
            </a:p>
          </p:txBody>
        </p:sp>
      </p:grpSp>
      <p:sp>
        <p:nvSpPr>
          <p:cNvPr id="14" name="TextBox 13">
            <a:extLst>
              <a:ext uri="{FF2B5EF4-FFF2-40B4-BE49-F238E27FC236}">
                <a16:creationId xmlns:a16="http://schemas.microsoft.com/office/drawing/2014/main" id="{B6EBA415-A48E-4185-0EBE-36B07C2F3935}"/>
              </a:ext>
            </a:extLst>
          </p:cNvPr>
          <p:cNvSpPr txBox="1"/>
          <p:nvPr/>
        </p:nvSpPr>
        <p:spPr>
          <a:xfrm>
            <a:off x="310464" y="1018970"/>
            <a:ext cx="10597016" cy="1569660"/>
          </a:xfrm>
          <a:prstGeom prst="rect">
            <a:avLst/>
          </a:prstGeom>
          <a:noFill/>
        </p:spPr>
        <p:txBody>
          <a:bodyPr wrap="square">
            <a:spAutoFit/>
          </a:bodyPr>
          <a:lstStyle/>
          <a:p>
            <a:r>
              <a:rPr lang="en-US" sz="3200" b="1" dirty="0">
                <a:effectLst/>
              </a:rPr>
              <a:t>Client sends update to each replica chunk server</a:t>
            </a:r>
          </a:p>
          <a:p>
            <a:endParaRPr lang="en-US" sz="3200" b="1" dirty="0">
              <a:effectLst/>
            </a:endParaRPr>
          </a:p>
          <a:p>
            <a:r>
              <a:rPr lang="en-US" sz="3200" b="1" dirty="0">
                <a:effectLst/>
              </a:rPr>
              <a:t>Each chunk server applies the update to its copy</a:t>
            </a:r>
          </a:p>
        </p:txBody>
      </p:sp>
    </p:spTree>
    <p:extLst>
      <p:ext uri="{BB962C8B-B14F-4D97-AF65-F5344CB8AC3E}">
        <p14:creationId xmlns:p14="http://schemas.microsoft.com/office/powerpoint/2010/main" val="4259451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dissolve">
                                      <p:cBhvr>
                                        <p:cTn id="7" dur="500"/>
                                        <p:tgtEl>
                                          <p:spTgt spid="5"/>
                                        </p:tgtEl>
                                      </p:cBhvr>
                                    </p:animEffect>
                                  </p:childTnLst>
                                </p:cTn>
                              </p:par>
                              <p:par>
                                <p:cTn id="8" presetID="9" presetClass="entr" presetSubtype="0" fill="hold"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dissolve">
                                      <p:cBhvr>
                                        <p:cTn id="10"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CD385-5663-6D42-87F1-34CA388B1E0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71E27A2-761D-D1F4-B569-05C8DEBCFAD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Can Go Wrong?</a:t>
            </a:r>
          </a:p>
        </p:txBody>
      </p:sp>
      <p:sp>
        <p:nvSpPr>
          <p:cNvPr id="8" name="Slide Number Placeholder 4">
            <a:extLst>
              <a:ext uri="{FF2B5EF4-FFF2-40B4-BE49-F238E27FC236}">
                <a16:creationId xmlns:a16="http://schemas.microsoft.com/office/drawing/2014/main" id="{CF37D178-688B-1417-84B8-437BC13CBB62}"/>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13</a:t>
            </a:fld>
            <a:endParaRPr lang="en-US"/>
          </a:p>
        </p:txBody>
      </p:sp>
      <p:sp>
        <p:nvSpPr>
          <p:cNvPr id="3" name="TextBox 2">
            <a:extLst>
              <a:ext uri="{FF2B5EF4-FFF2-40B4-BE49-F238E27FC236}">
                <a16:creationId xmlns:a16="http://schemas.microsoft.com/office/drawing/2014/main" id="{488DEB8A-A297-EC2C-4155-612C3591F197}"/>
              </a:ext>
            </a:extLst>
          </p:cNvPr>
          <p:cNvSpPr txBox="1"/>
          <p:nvPr/>
        </p:nvSpPr>
        <p:spPr>
          <a:xfrm>
            <a:off x="189185" y="990287"/>
            <a:ext cx="11428192" cy="1877437"/>
          </a:xfrm>
          <a:prstGeom prst="rect">
            <a:avLst/>
          </a:prstGeom>
          <a:noFill/>
        </p:spPr>
        <p:txBody>
          <a:bodyPr wrap="square">
            <a:spAutoFit/>
          </a:bodyPr>
          <a:lstStyle/>
          <a:p>
            <a:r>
              <a:rPr lang="en-US" sz="2800" dirty="0">
                <a:effectLst/>
              </a:rPr>
              <a:t>*</a:t>
            </a:r>
            <a:r>
              <a:rPr lang="en-US" sz="3200" b="1" dirty="0">
                <a:effectLst/>
              </a:rPr>
              <a:t>Two* clients write the same data at the same time</a:t>
            </a:r>
            <a:endParaRPr lang="en-US" sz="2800" b="1" dirty="0">
              <a:effectLst/>
            </a:endParaRPr>
          </a:p>
          <a:p>
            <a:pPr marL="742950" lvl="1" indent="-285750">
              <a:buFont typeface="Arial" panose="020B0604020202020204" pitchFamily="34" charset="0"/>
              <a:buChar char="•"/>
            </a:pPr>
            <a:r>
              <a:rPr lang="en-US" sz="2800" dirty="0">
                <a:effectLst/>
              </a:rPr>
              <a:t>i.e. "concurrent writes"</a:t>
            </a:r>
          </a:p>
          <a:p>
            <a:pPr marL="742950" lvl="1" indent="-285750">
              <a:buFont typeface="Arial" panose="020B0604020202020204" pitchFamily="34" charset="0"/>
              <a:buChar char="•"/>
            </a:pPr>
            <a:r>
              <a:rPr lang="en-US" sz="2800" dirty="0">
                <a:effectLst/>
              </a:rPr>
              <a:t>Chunk servers may see the updates in different orders!</a:t>
            </a:r>
          </a:p>
          <a:p>
            <a:pPr marL="742950" lvl="1" indent="-285750">
              <a:buFont typeface="Arial" panose="020B0604020202020204" pitchFamily="34" charset="0"/>
              <a:buChar char="•"/>
            </a:pPr>
            <a:r>
              <a:rPr lang="en-US" sz="2800" dirty="0">
                <a:effectLst/>
              </a:rPr>
              <a:t>Again, the risk is that, later, two clients may read different content</a:t>
            </a:r>
            <a:endParaRPr lang="en-US" sz="2400" dirty="0">
              <a:effectLst/>
            </a:endParaRPr>
          </a:p>
        </p:txBody>
      </p:sp>
      <p:sp>
        <p:nvSpPr>
          <p:cNvPr id="4" name="object 6">
            <a:extLst>
              <a:ext uri="{FF2B5EF4-FFF2-40B4-BE49-F238E27FC236}">
                <a16:creationId xmlns:a16="http://schemas.microsoft.com/office/drawing/2014/main" id="{B3234D3B-6A3A-C4E5-86E3-56006E2E9CDE}"/>
              </a:ext>
            </a:extLst>
          </p:cNvPr>
          <p:cNvSpPr txBox="1"/>
          <p:nvPr/>
        </p:nvSpPr>
        <p:spPr>
          <a:xfrm>
            <a:off x="2245261" y="3162713"/>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5" name="object 7">
            <a:extLst>
              <a:ext uri="{FF2B5EF4-FFF2-40B4-BE49-F238E27FC236}">
                <a16:creationId xmlns:a16="http://schemas.microsoft.com/office/drawing/2014/main" id="{9518C9BC-4475-83D6-36A7-B351C8A13471}"/>
              </a:ext>
            </a:extLst>
          </p:cNvPr>
          <p:cNvSpPr txBox="1"/>
          <p:nvPr/>
        </p:nvSpPr>
        <p:spPr>
          <a:xfrm>
            <a:off x="7224659" y="3162713"/>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Server1</a:t>
            </a:r>
            <a:endParaRPr sz="3300">
              <a:latin typeface="Arial"/>
              <a:cs typeface="Arial"/>
            </a:endParaRPr>
          </a:p>
        </p:txBody>
      </p:sp>
      <p:sp>
        <p:nvSpPr>
          <p:cNvPr id="6" name="object 8">
            <a:extLst>
              <a:ext uri="{FF2B5EF4-FFF2-40B4-BE49-F238E27FC236}">
                <a16:creationId xmlns:a16="http://schemas.microsoft.com/office/drawing/2014/main" id="{5FDF0198-67A6-5BD0-3ECB-359F2A5F1706}"/>
              </a:ext>
            </a:extLst>
          </p:cNvPr>
          <p:cNvSpPr txBox="1"/>
          <p:nvPr/>
        </p:nvSpPr>
        <p:spPr>
          <a:xfrm>
            <a:off x="7224659" y="4876388"/>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Server2</a:t>
            </a:r>
            <a:endParaRPr sz="3300">
              <a:latin typeface="Arial"/>
              <a:cs typeface="Arial"/>
            </a:endParaRPr>
          </a:p>
        </p:txBody>
      </p:sp>
      <p:sp>
        <p:nvSpPr>
          <p:cNvPr id="9" name="object 9">
            <a:extLst>
              <a:ext uri="{FF2B5EF4-FFF2-40B4-BE49-F238E27FC236}">
                <a16:creationId xmlns:a16="http://schemas.microsoft.com/office/drawing/2014/main" id="{FC6E0D0A-6F9D-37CC-DA2D-3EA4E4C4819F}"/>
              </a:ext>
            </a:extLst>
          </p:cNvPr>
          <p:cNvSpPr txBox="1"/>
          <p:nvPr/>
        </p:nvSpPr>
        <p:spPr>
          <a:xfrm>
            <a:off x="2245261" y="4671211"/>
            <a:ext cx="1812925" cy="1073785"/>
          </a:xfrm>
          <a:prstGeom prst="rect">
            <a:avLst/>
          </a:prstGeom>
          <a:ln w="20941">
            <a:solidFill>
              <a:srgbClr val="FF2600"/>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Client2</a:t>
            </a:r>
            <a:endParaRPr sz="3300">
              <a:latin typeface="Arial"/>
              <a:cs typeface="Arial"/>
            </a:endParaRPr>
          </a:p>
        </p:txBody>
      </p:sp>
      <p:grpSp>
        <p:nvGrpSpPr>
          <p:cNvPr id="10" name="object 10">
            <a:extLst>
              <a:ext uri="{FF2B5EF4-FFF2-40B4-BE49-F238E27FC236}">
                <a16:creationId xmlns:a16="http://schemas.microsoft.com/office/drawing/2014/main" id="{947E6AB5-DE18-E370-9131-04D55413D310}"/>
              </a:ext>
            </a:extLst>
          </p:cNvPr>
          <p:cNvGrpSpPr/>
          <p:nvPr/>
        </p:nvGrpSpPr>
        <p:grpSpPr>
          <a:xfrm>
            <a:off x="4068504" y="3649085"/>
            <a:ext cx="3145790" cy="100965"/>
            <a:chOff x="5298215" y="7554115"/>
            <a:chExt cx="3145790" cy="100965"/>
          </a:xfrm>
        </p:grpSpPr>
        <p:sp>
          <p:nvSpPr>
            <p:cNvPr id="11" name="object 11">
              <a:extLst>
                <a:ext uri="{FF2B5EF4-FFF2-40B4-BE49-F238E27FC236}">
                  <a16:creationId xmlns:a16="http://schemas.microsoft.com/office/drawing/2014/main" id="{5A3F1DFD-5908-395A-F04E-768411E924A7}"/>
                </a:ext>
              </a:extLst>
            </p:cNvPr>
            <p:cNvSpPr/>
            <p:nvPr/>
          </p:nvSpPr>
          <p:spPr>
            <a:xfrm>
              <a:off x="5298215" y="7604375"/>
              <a:ext cx="3056255" cy="0"/>
            </a:xfrm>
            <a:custGeom>
              <a:avLst/>
              <a:gdLst/>
              <a:ahLst/>
              <a:cxnLst/>
              <a:rect l="l" t="t" r="r" b="b"/>
              <a:pathLst>
                <a:path w="3056254">
                  <a:moveTo>
                    <a:pt x="0" y="0"/>
                  </a:moveTo>
                  <a:lnTo>
                    <a:pt x="3045163" y="0"/>
                  </a:lnTo>
                  <a:lnTo>
                    <a:pt x="3055634" y="0"/>
                  </a:lnTo>
                </a:path>
              </a:pathLst>
            </a:custGeom>
            <a:ln w="20941">
              <a:solidFill>
                <a:srgbClr val="222C4A"/>
              </a:solidFill>
            </a:ln>
          </p:spPr>
          <p:txBody>
            <a:bodyPr wrap="square" lIns="0" tIns="0" rIns="0" bIns="0" rtlCol="0"/>
            <a:lstStyle/>
            <a:p>
              <a:endParaRPr/>
            </a:p>
          </p:txBody>
        </p:sp>
        <p:sp>
          <p:nvSpPr>
            <p:cNvPr id="12" name="object 12">
              <a:extLst>
                <a:ext uri="{FF2B5EF4-FFF2-40B4-BE49-F238E27FC236}">
                  <a16:creationId xmlns:a16="http://schemas.microsoft.com/office/drawing/2014/main" id="{CDA7E3B1-A926-D846-E258-476022F67A06}"/>
                </a:ext>
              </a:extLst>
            </p:cNvPr>
            <p:cNvSpPr/>
            <p:nvPr/>
          </p:nvSpPr>
          <p:spPr>
            <a:xfrm>
              <a:off x="8343379" y="7554115"/>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grpSp>
      <p:grpSp>
        <p:nvGrpSpPr>
          <p:cNvPr id="13" name="object 13">
            <a:extLst>
              <a:ext uri="{FF2B5EF4-FFF2-40B4-BE49-F238E27FC236}">
                <a16:creationId xmlns:a16="http://schemas.microsoft.com/office/drawing/2014/main" id="{CCCA86B4-DCA6-DD25-ADCD-4C223D6A7014}"/>
              </a:ext>
            </a:extLst>
          </p:cNvPr>
          <p:cNvGrpSpPr/>
          <p:nvPr/>
        </p:nvGrpSpPr>
        <p:grpSpPr>
          <a:xfrm>
            <a:off x="4058033" y="3958154"/>
            <a:ext cx="3156585" cy="1154430"/>
            <a:chOff x="5287744" y="7863184"/>
            <a:chExt cx="3156585" cy="1154430"/>
          </a:xfrm>
        </p:grpSpPr>
        <p:sp>
          <p:nvSpPr>
            <p:cNvPr id="14" name="object 14">
              <a:extLst>
                <a:ext uri="{FF2B5EF4-FFF2-40B4-BE49-F238E27FC236}">
                  <a16:creationId xmlns:a16="http://schemas.microsoft.com/office/drawing/2014/main" id="{B0011792-1358-42A7-CF12-7D5BD57637BB}"/>
                </a:ext>
              </a:extLst>
            </p:cNvPr>
            <p:cNvSpPr/>
            <p:nvPr/>
          </p:nvSpPr>
          <p:spPr>
            <a:xfrm>
              <a:off x="5298215" y="7919905"/>
              <a:ext cx="3060700" cy="1053465"/>
            </a:xfrm>
            <a:custGeom>
              <a:avLst/>
              <a:gdLst/>
              <a:ahLst/>
              <a:cxnLst/>
              <a:rect l="l" t="t" r="r" b="b"/>
              <a:pathLst>
                <a:path w="3060700" h="1053465">
                  <a:moveTo>
                    <a:pt x="0" y="0"/>
                  </a:moveTo>
                  <a:lnTo>
                    <a:pt x="3050608" y="1049873"/>
                  </a:lnTo>
                  <a:lnTo>
                    <a:pt x="3060535" y="1053287"/>
                  </a:lnTo>
                </a:path>
              </a:pathLst>
            </a:custGeom>
            <a:ln w="20941">
              <a:solidFill>
                <a:srgbClr val="222C4A"/>
              </a:solidFill>
            </a:ln>
          </p:spPr>
          <p:txBody>
            <a:bodyPr wrap="square" lIns="0" tIns="0" rIns="0" bIns="0" rtlCol="0"/>
            <a:lstStyle/>
            <a:p>
              <a:endParaRPr/>
            </a:p>
          </p:txBody>
        </p:sp>
        <p:sp>
          <p:nvSpPr>
            <p:cNvPr id="15" name="object 15">
              <a:extLst>
                <a:ext uri="{FF2B5EF4-FFF2-40B4-BE49-F238E27FC236}">
                  <a16:creationId xmlns:a16="http://schemas.microsoft.com/office/drawing/2014/main" id="{ABF840EB-70FF-79C4-C59C-F4920D4804B1}"/>
                </a:ext>
              </a:extLst>
            </p:cNvPr>
            <p:cNvSpPr/>
            <p:nvPr/>
          </p:nvSpPr>
          <p:spPr>
            <a:xfrm>
              <a:off x="8332489" y="8922262"/>
              <a:ext cx="111760" cy="95250"/>
            </a:xfrm>
            <a:custGeom>
              <a:avLst/>
              <a:gdLst/>
              <a:ahLst/>
              <a:cxnLst/>
              <a:rect l="l" t="t" r="r" b="b"/>
              <a:pathLst>
                <a:path w="111759" h="95250">
                  <a:moveTo>
                    <a:pt x="32711" y="0"/>
                  </a:moveTo>
                  <a:lnTo>
                    <a:pt x="0" y="95054"/>
                  </a:lnTo>
                  <a:lnTo>
                    <a:pt x="111410" y="80238"/>
                  </a:lnTo>
                  <a:lnTo>
                    <a:pt x="32711" y="0"/>
                  </a:lnTo>
                  <a:close/>
                </a:path>
              </a:pathLst>
            </a:custGeom>
            <a:solidFill>
              <a:srgbClr val="222C4A"/>
            </a:solidFill>
          </p:spPr>
          <p:txBody>
            <a:bodyPr wrap="square" lIns="0" tIns="0" rIns="0" bIns="0" rtlCol="0"/>
            <a:lstStyle/>
            <a:p>
              <a:endParaRPr/>
            </a:p>
          </p:txBody>
        </p:sp>
      </p:grpSp>
      <p:grpSp>
        <p:nvGrpSpPr>
          <p:cNvPr id="21" name="object 21">
            <a:extLst>
              <a:ext uri="{FF2B5EF4-FFF2-40B4-BE49-F238E27FC236}">
                <a16:creationId xmlns:a16="http://schemas.microsoft.com/office/drawing/2014/main" id="{CCCA86B4-DCA6-DD25-ADCD-4C223D6A7014}"/>
              </a:ext>
            </a:extLst>
          </p:cNvPr>
          <p:cNvGrpSpPr/>
          <p:nvPr/>
        </p:nvGrpSpPr>
        <p:grpSpPr>
          <a:xfrm>
            <a:off x="4058033" y="3958154"/>
            <a:ext cx="3156585" cy="1154430"/>
            <a:chOff x="5287744" y="7863184"/>
            <a:chExt cx="3156585" cy="1154430"/>
          </a:xfrm>
        </p:grpSpPr>
        <p:sp>
          <p:nvSpPr>
            <p:cNvPr id="16" name="object 16">
              <a:extLst>
                <a:ext uri="{FF2B5EF4-FFF2-40B4-BE49-F238E27FC236}">
                  <a16:creationId xmlns:a16="http://schemas.microsoft.com/office/drawing/2014/main" id="{5D1941E0-987E-5B1F-DAE3-DE7585769A1E}"/>
                </a:ext>
              </a:extLst>
            </p:cNvPr>
            <p:cNvSpPr/>
            <p:nvPr/>
          </p:nvSpPr>
          <p:spPr>
            <a:xfrm>
              <a:off x="5298215" y="7908245"/>
              <a:ext cx="3060065" cy="927100"/>
            </a:xfrm>
            <a:custGeom>
              <a:avLst/>
              <a:gdLst/>
              <a:ahLst/>
              <a:cxnLst/>
              <a:rect l="l" t="t" r="r" b="b"/>
              <a:pathLst>
                <a:path w="3060065" h="927100">
                  <a:moveTo>
                    <a:pt x="0" y="926874"/>
                  </a:moveTo>
                  <a:lnTo>
                    <a:pt x="3049456" y="3041"/>
                  </a:lnTo>
                  <a:lnTo>
                    <a:pt x="3059498" y="0"/>
                  </a:lnTo>
                </a:path>
              </a:pathLst>
            </a:custGeom>
            <a:ln w="20941">
              <a:solidFill>
                <a:srgbClr val="FF2600"/>
              </a:solidFill>
            </a:ln>
          </p:spPr>
          <p:txBody>
            <a:bodyPr wrap="square" lIns="0" tIns="0" rIns="0" bIns="0" rtlCol="0"/>
            <a:lstStyle/>
            <a:p>
              <a:endParaRPr/>
            </a:p>
          </p:txBody>
        </p:sp>
        <p:sp>
          <p:nvSpPr>
            <p:cNvPr id="17" name="object 17">
              <a:extLst>
                <a:ext uri="{FF2B5EF4-FFF2-40B4-BE49-F238E27FC236}">
                  <a16:creationId xmlns:a16="http://schemas.microsoft.com/office/drawing/2014/main" id="{D51CDABD-7657-5C83-55B5-622BF4A327E9}"/>
                </a:ext>
              </a:extLst>
            </p:cNvPr>
            <p:cNvSpPr/>
            <p:nvPr/>
          </p:nvSpPr>
          <p:spPr>
            <a:xfrm>
              <a:off x="8333117" y="7863184"/>
              <a:ext cx="111125" cy="96520"/>
            </a:xfrm>
            <a:custGeom>
              <a:avLst/>
              <a:gdLst/>
              <a:ahLst/>
              <a:cxnLst/>
              <a:rect l="l" t="t" r="r" b="b"/>
              <a:pathLst>
                <a:path w="111125" h="96520">
                  <a:moveTo>
                    <a:pt x="0" y="0"/>
                  </a:moveTo>
                  <a:lnTo>
                    <a:pt x="29150" y="96196"/>
                  </a:lnTo>
                  <a:lnTo>
                    <a:pt x="110781" y="18952"/>
                  </a:lnTo>
                  <a:lnTo>
                    <a:pt x="0" y="0"/>
                  </a:lnTo>
                  <a:close/>
                </a:path>
              </a:pathLst>
            </a:custGeom>
            <a:solidFill>
              <a:srgbClr val="FF2600"/>
            </a:solidFill>
          </p:spPr>
          <p:txBody>
            <a:bodyPr wrap="square" lIns="0" tIns="0" rIns="0" bIns="0" rtlCol="0"/>
            <a:lstStyle/>
            <a:p>
              <a:endParaRPr/>
            </a:p>
          </p:txBody>
        </p:sp>
      </p:grpSp>
      <p:grpSp>
        <p:nvGrpSpPr>
          <p:cNvPr id="18" name="object 18">
            <a:extLst>
              <a:ext uri="{FF2B5EF4-FFF2-40B4-BE49-F238E27FC236}">
                <a16:creationId xmlns:a16="http://schemas.microsoft.com/office/drawing/2014/main" id="{937FEEF0-0C40-1D07-FCCD-E31D0B094A9C}"/>
              </a:ext>
            </a:extLst>
          </p:cNvPr>
          <p:cNvGrpSpPr/>
          <p:nvPr/>
        </p:nvGrpSpPr>
        <p:grpSpPr>
          <a:xfrm>
            <a:off x="4058033" y="5235152"/>
            <a:ext cx="3156585" cy="186690"/>
            <a:chOff x="5287744" y="9140182"/>
            <a:chExt cx="3156585" cy="186690"/>
          </a:xfrm>
        </p:grpSpPr>
        <p:sp>
          <p:nvSpPr>
            <p:cNvPr id="19" name="object 19">
              <a:extLst>
                <a:ext uri="{FF2B5EF4-FFF2-40B4-BE49-F238E27FC236}">
                  <a16:creationId xmlns:a16="http://schemas.microsoft.com/office/drawing/2014/main" id="{8BF0F17A-2A6F-C441-016E-8249AF6EE102}"/>
                </a:ext>
              </a:extLst>
            </p:cNvPr>
            <p:cNvSpPr/>
            <p:nvPr/>
          </p:nvSpPr>
          <p:spPr>
            <a:xfrm>
              <a:off x="5298215" y="9150653"/>
              <a:ext cx="3056255" cy="126364"/>
            </a:xfrm>
            <a:custGeom>
              <a:avLst/>
              <a:gdLst/>
              <a:ahLst/>
              <a:cxnLst/>
              <a:rect l="l" t="t" r="r" b="b"/>
              <a:pathLst>
                <a:path w="3056254" h="126365">
                  <a:moveTo>
                    <a:pt x="0" y="0"/>
                  </a:moveTo>
                  <a:lnTo>
                    <a:pt x="3045247" y="125474"/>
                  </a:lnTo>
                  <a:lnTo>
                    <a:pt x="3055708" y="125905"/>
                  </a:lnTo>
                </a:path>
              </a:pathLst>
            </a:custGeom>
            <a:ln w="20941">
              <a:solidFill>
                <a:srgbClr val="FF2600"/>
              </a:solidFill>
            </a:ln>
          </p:spPr>
          <p:txBody>
            <a:bodyPr wrap="square" lIns="0" tIns="0" rIns="0" bIns="0" rtlCol="0"/>
            <a:lstStyle/>
            <a:p>
              <a:endParaRPr/>
            </a:p>
          </p:txBody>
        </p:sp>
        <p:sp>
          <p:nvSpPr>
            <p:cNvPr id="20" name="object 20">
              <a:extLst>
                <a:ext uri="{FF2B5EF4-FFF2-40B4-BE49-F238E27FC236}">
                  <a16:creationId xmlns:a16="http://schemas.microsoft.com/office/drawing/2014/main" id="{7D7AC56E-BB1E-92BE-9671-BB9858F31032}"/>
                </a:ext>
              </a:extLst>
            </p:cNvPr>
            <p:cNvSpPr/>
            <p:nvPr/>
          </p:nvSpPr>
          <p:spPr>
            <a:xfrm>
              <a:off x="8341389" y="9225907"/>
              <a:ext cx="102870" cy="100965"/>
            </a:xfrm>
            <a:custGeom>
              <a:avLst/>
              <a:gdLst/>
              <a:ahLst/>
              <a:cxnLst/>
              <a:rect l="l" t="t" r="r" b="b"/>
              <a:pathLst>
                <a:path w="102870" h="100965">
                  <a:moveTo>
                    <a:pt x="4135" y="0"/>
                  </a:moveTo>
                  <a:lnTo>
                    <a:pt x="0" y="100436"/>
                  </a:lnTo>
                  <a:lnTo>
                    <a:pt x="102509" y="54364"/>
                  </a:lnTo>
                  <a:lnTo>
                    <a:pt x="4135" y="0"/>
                  </a:lnTo>
                  <a:close/>
                </a:path>
              </a:pathLst>
            </a:custGeom>
            <a:solidFill>
              <a:srgbClr val="FF2600"/>
            </a:solidFill>
          </p:spPr>
          <p:txBody>
            <a:bodyPr wrap="square" lIns="0" tIns="0" rIns="0" bIns="0" rtlCol="0"/>
            <a:lstStyle/>
            <a:p>
              <a:endParaRPr/>
            </a:p>
          </p:txBody>
        </p:sp>
      </p:grpSp>
      <p:sp>
        <p:nvSpPr>
          <p:cNvPr id="22" name="C1 value">
            <a:extLst>
              <a:ext uri="{FF2B5EF4-FFF2-40B4-BE49-F238E27FC236}">
                <a16:creationId xmlns:a16="http://schemas.microsoft.com/office/drawing/2014/main" id="{B3234D3B-6A3A-C4E5-86E3-56006E2E9CDE}"/>
              </a:ext>
            </a:extLst>
          </p:cNvPr>
          <p:cNvSpPr txBox="1"/>
          <p:nvPr/>
        </p:nvSpPr>
        <p:spPr>
          <a:xfrm>
            <a:off x="2245261" y="4260000"/>
            <a:ext cx="1812925" cy="350000"/>
          </a:xfrm>
          <a:prstGeom prst="rect">
            <a:avLst/>
          </a:prstGeom>
          <a:ln>
            <a:noFill/>
          </a:ln>
        </p:spPr>
        <p:txBody>
          <a:bodyPr vert="horz" wrap="square" lIns="0" tIns="0" rIns="0" bIns="0" rtlCol="0">
            <a:spAutoFit/>
          </a:bodyPr>
          <a:lstStyle/>
          <a:p>
            <a:pPr marL="254000">
              <a:lnSpc>
                <a:spcPct val="100000"/>
              </a:lnSpc>
              <a:spcBef>
                <a:spcPts val="2125"/>
              </a:spcBef>
            </a:pPr>
            <a:r>
              <a:rPr sz="2000" b="1" spc="-10" dirty="0">
                <a:solidFill>
                  <a:srgbClr val="222C4A"/>
                </a:solidFill>
                <a:latin typeface="Arial"/>
                <a:cs typeface="Arial"/>
              </a:rPr>
              <a:t>writes x = 1</a:t>
            </a:r>
            <a:endParaRPr sz="2000" b="1">
              <a:latin typeface="Arial"/>
              <a:cs typeface="Arial"/>
            </a:endParaRPr>
          </a:p>
        </p:txBody>
      </p:sp>
      <p:sp>
        <p:nvSpPr>
          <p:cNvPr id="23" name="C2 value">
            <a:extLst>
              <a:ext uri="{FF2B5EF4-FFF2-40B4-BE49-F238E27FC236}">
                <a16:creationId xmlns:a16="http://schemas.microsoft.com/office/drawing/2014/main" id="{B3234D3B-6A3A-C4E5-86E3-56006E2E9CDE}"/>
              </a:ext>
            </a:extLst>
          </p:cNvPr>
          <p:cNvSpPr txBox="1"/>
          <p:nvPr/>
        </p:nvSpPr>
        <p:spPr>
          <a:xfrm>
            <a:off x="2245261" y="5770000"/>
            <a:ext cx="1812925" cy="350000"/>
          </a:xfrm>
          <a:prstGeom prst="rect">
            <a:avLst/>
          </a:prstGeom>
          <a:ln>
            <a:noFill/>
          </a:ln>
        </p:spPr>
        <p:txBody>
          <a:bodyPr vert="horz" wrap="square" lIns="0" tIns="0" rIns="0" bIns="0" rtlCol="0">
            <a:spAutoFit/>
          </a:bodyPr>
          <a:lstStyle/>
          <a:p>
            <a:pPr marL="254000">
              <a:lnSpc>
                <a:spcPct val="100000"/>
              </a:lnSpc>
              <a:spcBef>
                <a:spcPts val="2125"/>
              </a:spcBef>
            </a:pPr>
            <a:r>
              <a:rPr sz="2000" b="1" spc="-10" dirty="0">
                <a:solidFill>
                  <a:srgbClr val="222C4A"/>
                </a:solidFill>
                <a:latin typeface="Arial"/>
                <a:cs typeface="Arial"/>
              </a:rPr>
              <a:t>writes x = 2</a:t>
            </a:r>
            <a:endParaRPr sz="2000" b="1">
              <a:latin typeface="Arial"/>
              <a:cs typeface="Arial"/>
            </a:endParaRPr>
          </a:p>
        </p:txBody>
      </p:sp>
      <p:sp>
        <p:nvSpPr>
          <p:cNvPr id="24" name="S1 result">
            <a:extLst>
              <a:ext uri="{FF2B5EF4-FFF2-40B4-BE49-F238E27FC236}">
                <a16:creationId xmlns:a16="http://schemas.microsoft.com/office/drawing/2014/main" id="{B3234D3B-6A3A-C4E5-86E3-56006E2E9CDE}"/>
              </a:ext>
            </a:extLst>
          </p:cNvPr>
          <p:cNvSpPr txBox="1"/>
          <p:nvPr/>
        </p:nvSpPr>
        <p:spPr>
          <a:xfrm>
            <a:off x="9200000" y="3500000"/>
            <a:ext cx="2300000" cy="400000"/>
          </a:xfrm>
          <a:prstGeom prst="rect">
            <a:avLst/>
          </a:prstGeom>
          <a:ln>
            <a:noFill/>
          </a:ln>
        </p:spPr>
        <p:txBody>
          <a:bodyPr vert="horz" wrap="square" lIns="0" tIns="0" rIns="0" bIns="0" rtlCol="0">
            <a:spAutoFit/>
          </a:bodyPr>
          <a:lstStyle/>
          <a:p>
            <a:pPr marL="254000">
              <a:lnSpc>
                <a:spcPct val="100000"/>
              </a:lnSpc>
              <a:spcBef>
                <a:spcPts val="2125"/>
              </a:spcBef>
            </a:pPr>
            <a:r>
              <a:rPr sz="2000" b="1" spc="-10" dirty="0">
                <a:solidFill>
                  <a:srgbClr val="222C4A"/>
                </a:solidFill>
                <a:latin typeface="Arial"/>
                <a:cs typeface="Arial"/>
              </a:rPr>
              <a:t>ends with x = 2</a:t>
            </a:r>
            <a:endParaRPr sz="2000" b="1">
              <a:latin typeface="Arial"/>
              <a:cs typeface="Arial"/>
            </a:endParaRPr>
          </a:p>
        </p:txBody>
      </p:sp>
      <p:sp>
        <p:nvSpPr>
          <p:cNvPr id="25" name="S2 result">
            <a:extLst>
              <a:ext uri="{FF2B5EF4-FFF2-40B4-BE49-F238E27FC236}">
                <a16:creationId xmlns:a16="http://schemas.microsoft.com/office/drawing/2014/main" id="{B3234D3B-6A3A-C4E5-86E3-56006E2E9CDE}"/>
              </a:ext>
            </a:extLst>
          </p:cNvPr>
          <p:cNvSpPr txBox="1"/>
          <p:nvPr/>
        </p:nvSpPr>
        <p:spPr>
          <a:xfrm>
            <a:off x="9200000" y="5220000"/>
            <a:ext cx="2300000" cy="400000"/>
          </a:xfrm>
          <a:prstGeom prst="rect">
            <a:avLst/>
          </a:prstGeom>
          <a:ln>
            <a:noFill/>
          </a:ln>
        </p:spPr>
        <p:txBody>
          <a:bodyPr vert="horz" wrap="square" lIns="0" tIns="0" rIns="0" bIns="0" rtlCol="0">
            <a:spAutoFit/>
          </a:bodyPr>
          <a:lstStyle/>
          <a:p>
            <a:pPr marL="254000">
              <a:lnSpc>
                <a:spcPct val="100000"/>
              </a:lnSpc>
              <a:spcBef>
                <a:spcPts val="2125"/>
              </a:spcBef>
            </a:pPr>
            <a:r>
              <a:rPr sz="2000" b="1" spc="-10" dirty="0">
                <a:solidFill>
                  <a:srgbClr val="222C4A"/>
                </a:solidFill>
                <a:latin typeface="Arial"/>
                <a:cs typeface="Arial"/>
              </a:rPr>
              <a:t>ends with x = 1</a:t>
            </a:r>
            <a:endParaRPr sz="2000" b="1">
              <a:latin typeface="Arial"/>
              <a:cs typeface="Arial"/>
            </a:endParaRPr>
          </a:p>
        </p:txBody>
      </p:sp>
    </p:spTree>
    <p:extLst>
      <p:ext uri="{BB962C8B-B14F-4D97-AF65-F5344CB8AC3E}">
        <p14:creationId xmlns:p14="http://schemas.microsoft.com/office/powerpoint/2010/main" val="1255778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dissolve">
                                      <p:cBhvr>
                                        <p:cTn id="7" dur="500"/>
                                        <p:tgtEl>
                                          <p:spTgt spid="10"/>
                                        </p:tgtEl>
                                      </p:cBhvr>
                                    </p:animEffect>
                                  </p:childTnLst>
                                </p:cTn>
                              </p:par>
                              <p:par>
                                <p:cTn id="8" presetID="9" presetClass="entr" presetSubtype="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dissolve">
                                      <p:cBhvr>
                                        <p:cTn id="10" dur="50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dissolve">
                                      <p:cBhvr>
                                        <p:cTn id="15" dur="500"/>
                                        <p:tgtEl>
                                          <p:spTgt spid="21"/>
                                        </p:tgtEl>
                                      </p:cBhvr>
                                    </p:animEffect>
                                  </p:childTnLst>
                                </p:cTn>
                              </p:par>
                              <p:par>
                                <p:cTn id="16" presetID="9" presetClass="entr" presetSubtype="0" fill="hold" nodeType="with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dissolve">
                                      <p:cBhvr>
                                        <p:cTn id="18" dur="500"/>
                                        <p:tgtEl>
                                          <p:spTgt spid="18"/>
                                        </p:tgtEl>
                                      </p:cBhvr>
                                    </p:animEffect>
                                  </p:childTnLst>
                                </p:cTn>
                              </p:par>
                            </p:childTnLst>
                          </p:cTn>
                        </p:par>
                      </p:childTnLst>
                    </p:cTn>
                  </p:par>
                  <p:par>
                    <p:cTn id="19" fill="hold">
                      <p:stCondLst>
                        <p:cond delay="indefinite"/>
                      </p:stCondLst>
                      <p:childTnLst>
                        <p:par>
                          <p:cTn id="20" fill="hold">
                            <p:stCondLst>
                              <p:cond delay="0"/>
                            </p:stCondLst>
                            <p:childTnLst>
                              <p:par>
                                <p:cTn id="21" presetID="9"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dissolve">
                                      <p:cBhvr>
                                        <p:cTn id="23" dur="500"/>
                                        <p:tgtEl>
                                          <p:spTgt spid="24"/>
                                        </p:tgtEl>
                                      </p:cBhvr>
                                    </p:animEffect>
                                  </p:childTnLst>
                                </p:cTn>
                              </p:par>
                              <p:par>
                                <p:cTn id="24" presetID="9"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dissolve">
                                      <p:cBhvr>
                                        <p:cTn id="26"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P spid="25"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452C5CF-C823-F93B-EC88-BA4478E024CE}"/>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Can We Just Always Read from Server 1?</a:t>
            </a:r>
          </a:p>
        </p:txBody>
      </p:sp>
      <p:sp>
        <p:nvSpPr>
          <p:cNvPr id="8" name="Slide Number Placeholder 4">
            <a:extLst>
              <a:ext uri="{FF2B5EF4-FFF2-40B4-BE49-F238E27FC236}">
                <a16:creationId xmlns:a16="http://schemas.microsoft.com/office/drawing/2014/main" id="{16D0A24B-6300-8D05-5AB9-F3998A2F3009}"/>
              </a:ext>
            </a:extLst>
          </p:cNvPr>
          <p:cNvSpPr>
            <a:spLocks noGrp="1"/>
          </p:cNvSpPr>
          <p:nvPr>
            <p:ph type="sldNum" idx="12"/>
          </p:nvPr>
        </p:nvSpPr>
        <p:spPr>
          <a:xfrm>
            <a:off x="8610600" y="6356350"/>
            <a:ext cx="2743200" cy="365125"/>
          </a:xfrm>
        </p:spPr>
        <p:txBody>
          <a:bodyPr/>
          <a:lstStyle/>
          <a:p>
            <a:fld id="{212DA15D-5F50-8B40-811F-34F736B90848}" type="slidenum">
              <a:rPr/>
              <a:t>14</a:t>
            </a:fld>
            <a:endParaRPr/>
          </a:p>
        </p:txBody>
      </p:sp>
      <p:sp>
        <p:nvSpPr>
          <p:cNvPr id="48" name="TextBox 47">
            <a:extLst>
              <a:ext uri="{FF2B5EF4-FFF2-40B4-BE49-F238E27FC236}">
                <a16:creationId xmlns:a16="http://schemas.microsoft.com/office/drawing/2014/main" id="{51F35555-7DB3-0E9F-0CC1-8DCCA40D364A}"/>
              </a:ext>
            </a:extLst>
          </p:cNvPr>
          <p:cNvSpPr>
            <a:spLocks noGrp="1"/>
          </p:cNvSpPr>
          <p:nvPr/>
        </p:nvSpPr>
        <p:spPr>
          <a:xfrm>
            <a:off x="7325250" y="1373218"/>
            <a:ext cx="4706595" cy="4154984"/>
          </a:xfrm>
          <a:prstGeom prst="rect">
            <a:avLst/>
          </a:prstGeom>
          <a:noFill/>
        </p:spPr>
        <p:txBody>
          <a:bodyPr wrap="square">
            <a:spAutoFit/>
          </a:bodyPr>
          <a:lstStyle/>
          <a:p>
            <a:pPr marL="342900" indent="-342900">
              <a:buFont typeface="Arial"/>
              <a:buChar char="•"/>
            </a:pPr>
            <a:r>
              <a:rPr sz="2400" dirty="0"/>
              <a:t>A natural patch: everyone reads Server 1, and falls back to Server 2 only when S1 is down</a:t>
            </a:r>
          </a:p>
          <a:p>
            <a:pPr marL="342900" indent="-342900">
              <a:buFont typeface="Arial"/>
              <a:buChar char="•"/>
            </a:pPr>
            <a:endParaRPr sz="1200" dirty="0"/>
          </a:p>
          <a:p>
            <a:pPr marL="342900" indent="-342900">
              <a:buFont typeface="Arial"/>
              <a:buChar char="•"/>
            </a:pPr>
            <a:r>
              <a:rPr sz="2400" dirty="0"/>
              <a:t>While S1 is up every reader sees 2, so the disagreement is hidden, not repaired</a:t>
            </a:r>
          </a:p>
          <a:p>
            <a:pPr marL="342900" indent="-342900">
              <a:buFont typeface="Arial"/>
              <a:buChar char="•"/>
            </a:pPr>
            <a:endParaRPr sz="1200" dirty="0"/>
          </a:p>
          <a:p>
            <a:pPr marL="342900" indent="-342900">
              <a:buFont typeface="Arial"/>
              <a:buChar char="•"/>
            </a:pPr>
            <a:r>
              <a:rPr sz="2400" dirty="0"/>
              <a:t>S1 dies, the readers fall back to S2, and the value goes back to 1</a:t>
            </a:r>
          </a:p>
          <a:p>
            <a:pPr marL="342900" indent="-342900">
              <a:buFont typeface="Arial"/>
              <a:buChar char="•"/>
            </a:pPr>
            <a:endParaRPr sz="1200" dirty="0"/>
          </a:p>
          <a:p>
            <a:pPr marL="342900" indent="-342900">
              <a:buFont typeface="Arial"/>
              <a:buChar char="•"/>
            </a:pPr>
            <a:r>
              <a:rPr sz="2400" dirty="0"/>
              <a:t>Nobody wrote. One machine could never do that.</a:t>
            </a:r>
          </a:p>
        </p:txBody>
      </p:sp>
      <p:sp>
        <p:nvSpPr>
          <p:cNvPr id="49" name="Rule heading">
            <a:extLst>
              <a:ext uri="{FF2B5EF4-FFF2-40B4-BE49-F238E27FC236}">
                <a16:creationId xmlns:a16="http://schemas.microsoft.com/office/drawing/2014/main" id="{661EE3E6-4BC3-4749-8762-CC8F835B020D}"/>
              </a:ext>
            </a:extLst>
          </p:cNvPr>
          <p:cNvSpPr>
            <a:spLocks noGrp="1"/>
          </p:cNvSpPr>
          <p:nvPr/>
        </p:nvSpPr>
        <p:spPr>
          <a:xfrm>
            <a:off x="409575" y="1057275"/>
            <a:ext cx="6429375" cy="323850"/>
          </a:xfrm>
          <a:prstGeom prst="rect">
            <a:avLst/>
          </a:prstGeom>
          <a:noFill/>
          <a:ln w="0">
            <a:noFill/>
          </a:ln>
        </p:spPr>
        <p:txBody>
          <a:bodyPr>
            <a:normAutofit/>
          </a:bodyPr>
          <a:lstStyle/>
          <a:p>
            <a:pPr>
              <a:defRPr sz="1725" b="1">
                <a:solidFill>
                  <a:srgbClr val="0E2841"/>
                </a:solidFill>
                <a:latin typeface="Aptos"/>
                <a:ea typeface="Aptos"/>
                <a:cs typeface="Aptos"/>
              </a:defRPr>
            </a:pPr>
            <a:r>
              <a:rPr sz="1725" b="1">
                <a:solidFill>
                  <a:srgbClr val="0E2841"/>
                </a:solidFill>
                <a:latin typeface="Aptos"/>
                <a:ea typeface="Aptos"/>
                <a:cs typeface="Aptos"/>
              </a:rPr>
              <a:t>Rule: always read S1, fall back to S2</a:t>
            </a:r>
          </a:p>
        </p:txBody>
      </p:sp>
      <p:sp>
        <p:nvSpPr>
          <p:cNvPr id="50" name="Server 1 up">
            <a:extLst>
              <a:ext uri="{FF2B5EF4-FFF2-40B4-BE49-F238E27FC236}">
                <a16:creationId xmlns:a16="http://schemas.microsoft.com/office/drawing/2014/main" id="{C047F16D-4224-436C-BA2F-7F4F14E7970E}"/>
              </a:ext>
            </a:extLst>
          </p:cNvPr>
          <p:cNvSpPr>
            <a:spLocks noGrp="1"/>
          </p:cNvSpPr>
          <p:nvPr/>
        </p:nvSpPr>
        <p:spPr>
          <a:xfrm>
            <a:off x="450000" y="1500000"/>
            <a:ext cx="16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Server 1</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2</a:t>
            </a:r>
          </a:p>
        </p:txBody>
      </p:sp>
      <p:sp>
        <p:nvSpPr>
          <p:cNvPr id="51" name="Server 2">
            <a:extLst>
              <a:ext uri="{FF2B5EF4-FFF2-40B4-BE49-F238E27FC236}">
                <a16:creationId xmlns:a16="http://schemas.microsoft.com/office/drawing/2014/main" id="{C047F16D-4224-436C-BA2F-7F4F14E7970E}"/>
              </a:ext>
            </a:extLst>
          </p:cNvPr>
          <p:cNvSpPr>
            <a:spLocks noGrp="1"/>
          </p:cNvSpPr>
          <p:nvPr/>
        </p:nvSpPr>
        <p:spPr>
          <a:xfrm>
            <a:off x="450000" y="2250000"/>
            <a:ext cx="16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Server 2</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1</a:t>
            </a:r>
          </a:p>
        </p:txBody>
      </p:sp>
      <p:sp>
        <p:nvSpPr>
          <p:cNvPr id="52" name="Reader C3">
            <a:extLst>
              <a:ext uri="{FF2B5EF4-FFF2-40B4-BE49-F238E27FC236}">
                <a16:creationId xmlns:a16="http://schemas.microsoft.com/office/drawing/2014/main" id="{C047F16D-4224-436C-BA2F-7F4F14E7970E}"/>
              </a:ext>
            </a:extLst>
          </p:cNvPr>
          <p:cNvSpPr>
            <a:spLocks noGrp="1"/>
          </p:cNvSpPr>
          <p:nvPr/>
        </p:nvSpPr>
        <p:spPr>
          <a:xfrm>
            <a:off x="4400000" y="1500000"/>
            <a:ext cx="15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C3</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reads 2</a:t>
            </a:r>
          </a:p>
        </p:txBody>
      </p:sp>
      <p:sp>
        <p:nvSpPr>
          <p:cNvPr id="53" name="Reader C4">
            <a:extLst>
              <a:ext uri="{FF2B5EF4-FFF2-40B4-BE49-F238E27FC236}">
                <a16:creationId xmlns:a16="http://schemas.microsoft.com/office/drawing/2014/main" id="{C047F16D-4224-436C-BA2F-7F4F14E7970E}"/>
              </a:ext>
            </a:extLst>
          </p:cNvPr>
          <p:cNvSpPr>
            <a:spLocks noGrp="1"/>
          </p:cNvSpPr>
          <p:nvPr/>
        </p:nvSpPr>
        <p:spPr>
          <a:xfrm>
            <a:off x="4400000" y="2250000"/>
            <a:ext cx="15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C4</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reads 2</a:t>
            </a:r>
          </a:p>
        </p:txBody>
      </p:sp>
      <p:cxnSp>
        <p:nvCxnSpPr>
          <p:cNvPr id="76" name="Read arrow 1"/>
          <p:cNvCxnSpPr/>
          <p:nvPr/>
        </p:nvCxnSpPr>
        <p:spPr>
          <a:xfrm>
            <a:off x="2050000" y="1795275"/>
            <a:ext cx="2350000" cy="0"/>
          </a:xfrm>
          <a:prstGeom prst="straightConnector1">
            <a:avLst/>
          </a:prstGeom>
          <a:ln w="19050">
            <a:solidFill>
              <a:srgbClr val="5B6573"/>
            </a:solidFill>
            <a:prstDash val="solid"/>
            <a:tailEnd type="triangle" w="sm" len="sm"/>
          </a:ln>
        </p:spPr>
      </p:cxnSp>
      <p:cxnSp>
        <p:nvCxnSpPr>
          <p:cNvPr id="77" name="Read arrow 2"/>
          <p:cNvCxnSpPr/>
          <p:nvPr/>
        </p:nvCxnSpPr>
        <p:spPr>
          <a:xfrm>
            <a:off x="2050000" y="1795275"/>
            <a:ext cx="2350000" cy="750000"/>
          </a:xfrm>
          <a:prstGeom prst="straightConnector1">
            <a:avLst/>
          </a:prstGeom>
          <a:ln w="19050">
            <a:solidFill>
              <a:srgbClr val="5B6573"/>
            </a:solidFill>
            <a:prstDash val="solid"/>
            <a:tailEnd type="triangle" w="sm" len="sm"/>
          </a:ln>
        </p:spPr>
      </p:cxnSp>
      <p:sp>
        <p:nvSpPr>
          <p:cNvPr id="68" name="Looks fine label">
            <a:extLst>
              <a:ext uri="{FF2B5EF4-FFF2-40B4-BE49-F238E27FC236}">
                <a16:creationId xmlns:a16="http://schemas.microsoft.com/office/drawing/2014/main" id="{8E2343DF-2BB9-401F-B950-594DD72F33BC}"/>
              </a:ext>
            </a:extLst>
          </p:cNvPr>
          <p:cNvSpPr>
            <a:spLocks noGrp="1"/>
          </p:cNvSpPr>
          <p:nvPr/>
        </p:nvSpPr>
        <p:spPr>
          <a:xfrm>
            <a:off x="4400000" y="2900000"/>
            <a:ext cx="1500000" cy="257175"/>
          </a:xfrm>
          <a:prstGeom prst="rect">
            <a:avLst/>
          </a:prstGeom>
          <a:noFill/>
          <a:ln w="0">
            <a:noFill/>
          </a:ln>
        </p:spPr>
        <p:txBody>
          <a:bodyPr>
            <a:normAutofit/>
          </a:bodyPr>
          <a:lstStyle/>
          <a:p>
            <a:pPr algn="ctr">
              <a:defRPr sz="1425" b="1">
                <a:solidFill>
                  <a:srgbClr val="A02B93"/>
                </a:solidFill>
                <a:latin typeface="Aptos"/>
                <a:ea typeface="Aptos"/>
                <a:cs typeface="Aptos"/>
              </a:defRPr>
            </a:pPr>
            <a:r>
              <a:rPr sz="1425" b="1">
                <a:solidFill>
                  <a:srgbClr val="A02B93"/>
                </a:solidFill>
                <a:latin typeface="Aptos"/>
                <a:ea typeface="Aptos"/>
                <a:cs typeface="Aptos"/>
              </a:rPr>
              <a:t>looks fine</a:t>
            </a:r>
          </a:p>
        </p:txBody>
      </p:sp>
      <p:sp>
        <p:nvSpPr>
          <p:cNvPr id="58" name="Diagram divider">
            <a:extLst>
              <a:ext uri="{FF2B5EF4-FFF2-40B4-BE49-F238E27FC236}">
                <a16:creationId xmlns:a16="http://schemas.microsoft.com/office/drawing/2014/main" id="{F5D6858F-3BE5-4C9A-98FD-301B4CE6E4D8}"/>
              </a:ext>
            </a:extLst>
          </p:cNvPr>
          <p:cNvSpPr>
            <a:spLocks noGrp="1"/>
          </p:cNvSpPr>
          <p:nvPr/>
        </p:nvSpPr>
        <p:spPr>
          <a:xfrm>
            <a:off x="409575" y="3352800"/>
            <a:ext cx="6334125" cy="0"/>
          </a:xfrm>
          <a:prstGeom prst="line">
            <a:avLst/>
          </a:prstGeom>
          <a:noFill/>
          <a:ln w="9525">
            <a:solidFill>
              <a:srgbClr val="C9D1D9"/>
            </a:solidFill>
            <a:prstDash val="solid"/>
          </a:ln>
        </p:spPr>
        <p:txBody>
          <a:bodyPr/>
          <a:lstStyle/>
          <a:p>
            <a:endParaRPr lang="en-US"/>
          </a:p>
        </p:txBody>
      </p:sp>
      <p:sp>
        <p:nvSpPr>
          <p:cNvPr id="59" name="Failure heading">
            <a:extLst>
              <a:ext uri="{FF2B5EF4-FFF2-40B4-BE49-F238E27FC236}">
                <a16:creationId xmlns:a16="http://schemas.microsoft.com/office/drawing/2014/main" id="{661EE3E6-4BC3-4749-8762-CC8F835B020D}"/>
              </a:ext>
            </a:extLst>
          </p:cNvPr>
          <p:cNvSpPr>
            <a:spLocks noGrp="1"/>
          </p:cNvSpPr>
          <p:nvPr/>
        </p:nvSpPr>
        <p:spPr>
          <a:xfrm>
            <a:off x="409575" y="3514725"/>
            <a:ext cx="6429375" cy="323850"/>
          </a:xfrm>
          <a:prstGeom prst="rect">
            <a:avLst/>
          </a:prstGeom>
          <a:noFill/>
          <a:ln w="0">
            <a:noFill/>
          </a:ln>
        </p:spPr>
        <p:txBody>
          <a:bodyPr>
            <a:normAutofit/>
          </a:bodyPr>
          <a:lstStyle/>
          <a:p>
            <a:pPr>
              <a:defRPr sz="1725" b="1">
                <a:solidFill>
                  <a:srgbClr val="0E2841"/>
                </a:solidFill>
                <a:latin typeface="Aptos"/>
                <a:ea typeface="Aptos"/>
                <a:cs typeface="Aptos"/>
              </a:defRPr>
            </a:pPr>
            <a:r>
              <a:rPr sz="1725" b="1">
                <a:solidFill>
                  <a:srgbClr val="0E2841"/>
                </a:solidFill>
                <a:latin typeface="Aptos"/>
                <a:ea typeface="Aptos"/>
                <a:cs typeface="Aptos"/>
              </a:rPr>
              <a:t>Then Server 1 fails</a:t>
            </a:r>
          </a:p>
        </p:txBody>
      </p:sp>
      <p:sp>
        <p:nvSpPr>
          <p:cNvPr id="60" name="Outcome 1">
            <a:extLst>
              <a:ext uri="{FF2B5EF4-FFF2-40B4-BE49-F238E27FC236}">
                <a16:creationId xmlns:a16="http://schemas.microsoft.com/office/drawing/2014/main" id="{C047F16D-4224-436C-BA2F-7F4F14E7970E}"/>
              </a:ext>
            </a:extLst>
          </p:cNvPr>
          <p:cNvSpPr>
            <a:spLocks noGrp="1"/>
          </p:cNvSpPr>
          <p:nvPr/>
        </p:nvSpPr>
        <p:spPr>
          <a:xfrm>
            <a:off x="409575" y="4095750"/>
            <a:ext cx="1900000" cy="80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S1 is gone</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reads go to S2</a:t>
            </a:r>
          </a:p>
        </p:txBody>
      </p:sp>
      <p:sp>
        <p:nvSpPr>
          <p:cNvPr id="61" name="Outcome 2">
            <a:extLst>
              <a:ext uri="{FF2B5EF4-FFF2-40B4-BE49-F238E27FC236}">
                <a16:creationId xmlns:a16="http://schemas.microsoft.com/office/drawing/2014/main" id="{C047F16D-4224-436C-BA2F-7F4F14E7970E}"/>
              </a:ext>
            </a:extLst>
          </p:cNvPr>
          <p:cNvSpPr>
            <a:spLocks noGrp="1"/>
          </p:cNvSpPr>
          <p:nvPr/>
        </p:nvSpPr>
        <p:spPr>
          <a:xfrm>
            <a:off x="2674262" y="4095750"/>
            <a:ext cx="1900000" cy="80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C3 reads 1</a:t>
            </a:r>
          </a:p>
          <a:p>
            <a:pPr algn="ctr">
              <a:defRPr sz="1350" b="1">
                <a:solidFill>
                  <a:srgbClr val="0E2841"/>
                </a:solidFill>
                <a:latin typeface="Aptos"/>
                <a:ea typeface="Aptos"/>
                <a:cs typeface="Aptos"/>
              </a:defRPr>
            </a:pPr>
            <a:r>
              <a:rPr sz="1350" b="1">
                <a:solidFill>
                  <a:srgbClr val="0E2841"/>
                </a:solidFill>
                <a:latin typeface="Aptos"/>
                <a:ea typeface="Aptos"/>
                <a:cs typeface="Aptos"/>
              </a:rPr>
              <a:t>C4 reads 1</a:t>
            </a:r>
          </a:p>
        </p:txBody>
      </p:sp>
      <p:sp>
        <p:nvSpPr>
          <p:cNvPr id="62" name="Outcome 3">
            <a:extLst>
              <a:ext uri="{FF2B5EF4-FFF2-40B4-BE49-F238E27FC236}">
                <a16:creationId xmlns:a16="http://schemas.microsoft.com/office/drawing/2014/main" id="{C047F16D-4224-436C-BA2F-7F4F14E7970E}"/>
              </a:ext>
            </a:extLst>
          </p:cNvPr>
          <p:cNvSpPr>
            <a:spLocks noGrp="1"/>
          </p:cNvSpPr>
          <p:nvPr/>
        </p:nvSpPr>
        <p:spPr>
          <a:xfrm>
            <a:off x="4938949" y="4095750"/>
            <a:ext cx="1900000" cy="800000"/>
          </a:xfrm>
          <a:prstGeom prst="roundRect">
            <a:avLst>
              <a:gd name="adj" fmla="val 13889"/>
            </a:avLst>
          </a:prstGeom>
          <a:solidFill>
            <a:srgbClr val="F7E8F5"/>
          </a:solidFill>
          <a:ln w="19050">
            <a:solidFill>
              <a:srgbClr val="A02B93"/>
            </a:solidFill>
            <a:prstDash val="solid"/>
          </a:ln>
        </p:spPr>
        <p:txBody>
          <a:bodyPr lIns="47625" tIns="47625" rIns="47625" bIns="47625" anchor="ctr">
            <a:normAutofit/>
          </a:bodyPr>
          <a:lstStyle/>
          <a:p>
            <a:pPr algn="ctr">
              <a:defRPr sz="1350" b="1">
                <a:solidFill>
                  <a:srgbClr val="A02B93"/>
                </a:solidFill>
                <a:latin typeface="Aptos"/>
                <a:ea typeface="Aptos"/>
                <a:cs typeface="Aptos"/>
              </a:defRPr>
            </a:pPr>
            <a:r>
              <a:rPr sz="1350" b="1">
                <a:solidFill>
                  <a:srgbClr val="A02B93"/>
                </a:solidFill>
                <a:latin typeface="Aptos"/>
                <a:ea typeface="Aptos"/>
                <a:cs typeface="Aptos"/>
              </a:rPr>
              <a:t>x:  2 → 1</a:t>
            </a:r>
          </a:p>
          <a:p>
            <a:pPr algn="ctr">
              <a:defRPr sz="1350" b="1">
                <a:solidFill>
                  <a:srgbClr val="A02B93"/>
                </a:solidFill>
                <a:latin typeface="Aptos"/>
                <a:ea typeface="Aptos"/>
                <a:cs typeface="Aptos"/>
              </a:defRPr>
            </a:pPr>
            <a:r>
              <a:rPr sz="1350" b="1">
                <a:solidFill>
                  <a:srgbClr val="A02B93"/>
                </a:solidFill>
                <a:latin typeface="Aptos"/>
                <a:ea typeface="Aptos"/>
                <a:cs typeface="Aptos"/>
              </a:rPr>
              <a:t>nobody wrote</a:t>
            </a:r>
          </a:p>
        </p:txBody>
      </p:sp>
      <p:sp>
        <p:nvSpPr>
          <p:cNvPr id="63" name="Failure caption">
            <a:extLst>
              <a:ext uri="{FF2B5EF4-FFF2-40B4-BE49-F238E27FC236}">
                <a16:creationId xmlns:a16="http://schemas.microsoft.com/office/drawing/2014/main" id="{F52DF72F-2902-473C-9FF3-D23AA5738F62}"/>
              </a:ext>
            </a:extLst>
          </p:cNvPr>
          <p:cNvSpPr>
            <a:spLocks noGrp="1"/>
          </p:cNvSpPr>
          <p:nvPr/>
        </p:nvSpPr>
        <p:spPr>
          <a:xfrm>
            <a:off x="409575" y="5105400"/>
            <a:ext cx="6429375" cy="352425"/>
          </a:xfrm>
          <a:prstGeom prst="rect">
            <a:avLst/>
          </a:prstGeom>
          <a:noFill/>
          <a:ln w="0">
            <a:noFill/>
          </a:ln>
        </p:spPr>
        <p:txBody>
          <a:bodyPr>
            <a:normAutofit/>
          </a:bodyPr>
          <a:lstStyle/>
          <a:p>
            <a:pPr algn="ctr">
              <a:defRPr sz="1650" b="1">
                <a:solidFill>
                  <a:srgbClr val="A02B93"/>
                </a:solidFill>
                <a:latin typeface="Aptos"/>
                <a:ea typeface="Aptos"/>
                <a:cs typeface="Aptos"/>
              </a:defRPr>
            </a:pPr>
            <a:r>
              <a:rPr sz="1650" b="1">
                <a:solidFill>
                  <a:srgbClr val="A02B93"/>
                </a:solidFill>
                <a:latin typeface="Aptos"/>
                <a:ea typeface="Aptos"/>
                <a:cs typeface="Aptos"/>
              </a:rPr>
              <a:t>Nobody wrote, yet the value changed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8">
                                            <p:txEl>
                                              <p:pRg st="4" end="4"/>
                                            </p:txEl>
                                          </p:spTgt>
                                        </p:tgtEl>
                                        <p:attrNameLst>
                                          <p:attrName>style.visibility</p:attrName>
                                        </p:attrNameLst>
                                      </p:cBhvr>
                                      <p:to>
                                        <p:strVal val="visible"/>
                                      </p:to>
                                    </p:set>
                                    <p:animEffect transition="in" filter="dissolve">
                                      <p:cBhvr>
                                        <p:cTn id="7" dur="500"/>
                                        <p:tgtEl>
                                          <p:spTgt spid="48">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8">
                                            <p:txEl>
                                              <p:pRg st="6" end="6"/>
                                            </p:txEl>
                                          </p:spTgt>
                                        </p:tgtEl>
                                        <p:attrNameLst>
                                          <p:attrName>style.visibility</p:attrName>
                                        </p:attrNameLst>
                                      </p:cBhvr>
                                      <p:to>
                                        <p:strVal val="visible"/>
                                      </p:to>
                                    </p:set>
                                    <p:animEffect transition="in" filter="dissolve">
                                      <p:cBhvr>
                                        <p:cTn id="10" dur="500"/>
                                        <p:tgtEl>
                                          <p:spTgt spid="48">
                                            <p:txEl>
                                              <p:pRg st="6" end="6"/>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59"/>
                                        </p:tgtEl>
                                        <p:attrNameLst>
                                          <p:attrName>style.visibility</p:attrName>
                                        </p:attrNameLst>
                                      </p:cBhvr>
                                      <p:to>
                                        <p:strVal val="visible"/>
                                      </p:to>
                                    </p:set>
                                    <p:animEffect transition="in" filter="dissolve">
                                      <p:cBhvr>
                                        <p:cTn id="13" dur="500"/>
                                        <p:tgtEl>
                                          <p:spTgt spid="59"/>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60"/>
                                        </p:tgtEl>
                                        <p:attrNameLst>
                                          <p:attrName>style.visibility</p:attrName>
                                        </p:attrNameLst>
                                      </p:cBhvr>
                                      <p:to>
                                        <p:strVal val="visible"/>
                                      </p:to>
                                    </p:set>
                                    <p:animEffect transition="in" filter="dissolve">
                                      <p:cBhvr>
                                        <p:cTn id="16" dur="500"/>
                                        <p:tgtEl>
                                          <p:spTgt spid="60"/>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dissolve">
                                      <p:cBhvr>
                                        <p:cTn id="19" dur="500"/>
                                        <p:tgtEl>
                                          <p:spTgt spid="61"/>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62"/>
                                        </p:tgtEl>
                                        <p:attrNameLst>
                                          <p:attrName>style.visibility</p:attrName>
                                        </p:attrNameLst>
                                      </p:cBhvr>
                                      <p:to>
                                        <p:strVal val="visible"/>
                                      </p:to>
                                    </p:set>
                                    <p:animEffect transition="in" filter="dissolve">
                                      <p:cBhvr>
                                        <p:cTn id="22" dur="500"/>
                                        <p:tgtEl>
                                          <p:spTgt spid="62"/>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animEffect transition="in" filter="dissolve">
                                      <p:cBhvr>
                                        <p:cTn id="25"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animBg="1"/>
      <p:bldP spid="61" grpId="0" animBg="1"/>
      <p:bldP spid="62" grpId="0" animBg="1"/>
      <p:bldP spid="6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The Fix Has a Price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015730" cy="3200000"/>
          </a:xfrm>
          <a:prstGeom prst="rect">
            <a:avLst/>
          </a:prstGeom>
          <a:noFill/>
        </p:spPr>
        <p:txBody>
          <a:bodyPr wrap="square" rtlCol="0">
            <a:spAutoFit/>
          </a:bodyPr>
          <a:lstStyle/>
          <a:p>
            <a:r>
              <a:rPr lang="en-US" sz="3200" b="1" dirty="0"/>
              <a:t>Both failures have one root: the replicas diverged</a:t>
            </a:r>
          </a:p>
          <a:p>
            <a:pPr marL="914400" indent="-457200">
              <a:buFont typeface="Arial" panose="020B0604020202020204" pitchFamily="34" charset="0"/>
              <a:buChar char="•"/>
            </a:pPr>
            <a:r>
              <a:rPr lang="en-US" sz="2800" b="0" dirty="0"/>
              <a:t>A fix must prevent divergence, not pick who to read</a:t>
            </a:r>
          </a:p>
          <a:p>
            <a:pPr marL="457200"/>
            <a:endParaRPr lang="en-US" sz="1400" b="0" dirty="0"/>
          </a:p>
          <a:p>
            <a:r>
              <a:rPr lang="en-US" sz="3200" b="1" dirty="0"/>
              <a:t>Agreement is not free</a:t>
            </a:r>
          </a:p>
          <a:p>
            <a:pPr marL="914400" indent="-457200">
              <a:buFont typeface="Arial" panose="020B0604020202020204" pitchFamily="34" charset="0"/>
              <a:buChar char="•"/>
            </a:pPr>
            <a:r>
              <a:rPr lang="en-US" sz="2800" b="0" dirty="0"/>
              <a:t>More messages, more complexity, longer waits</a:t>
            </a:r>
          </a:p>
          <a:p>
            <a:pPr marL="457200"/>
            <a:endParaRPr lang="en-US" sz="1400" b="0" dirty="0"/>
          </a:p>
          <a:p>
            <a:r>
              <a:rPr lang="en-US" sz="3200" b="1" dirty="0"/>
              <a:t>So there is a range of designs, not one answer</a:t>
            </a:r>
          </a:p>
          <a:p>
            <a:pPr marL="914400" indent="-457200">
              <a:buFont typeface="Arial" panose="020B0604020202020204" pitchFamily="34" charset="0"/>
              <a:buChar char="•"/>
            </a:pPr>
            <a:r>
              <a:rPr lang="en-US" sz="2800" b="0" dirty="0"/>
              <a:t>Stronger consistency costs performance</a:t>
            </a:r>
          </a:p>
          <a:p>
            <a:pPr marL="914400" indent="-457200">
              <a:buFont typeface="Arial" panose="020B0604020202020204" pitchFamily="34" charset="0"/>
              <a:buChar char="•"/>
            </a:pPr>
            <a:r>
              <a:rPr lang="en-US" sz="2800" b="0" dirty="0"/>
              <a:t>Weaker consistency costs the application</a:t>
            </a:r>
          </a:p>
          <a:p>
            <a:pPr marL="457200"/>
            <a:endParaRPr lang="en-US" sz="1400" b="0" dirty="0"/>
          </a:p>
          <a:p>
            <a:r>
              <a:rPr lang="en-US" sz="3200" b="1" dirty="0"/>
              <a:t>GFS picks a point on it, deliberately not perfect</a:t>
            </a:r>
          </a:p>
        </p:txBody>
      </p:sp>
    </p:spTree>
    <p:extLst>
      <p:ext uri="{BB962C8B-B14F-4D97-AF65-F5344CB8AC3E}">
        <p14:creationId xmlns:p14="http://schemas.microsoft.com/office/powerpoint/2010/main" val="17206706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690107" y="2017201"/>
            <a:ext cx="6096727" cy="694447"/>
          </a:xfrm>
          <a:prstGeom prst="rect">
            <a:avLst/>
          </a:prstGeom>
        </p:spPr>
        <p:txBody>
          <a:bodyPr vert="horz" wrap="square" lIns="0" tIns="8471" rIns="0" bIns="0" rtlCol="0" anchor="ctr">
            <a:spAutoFit/>
          </a:bodyPr>
          <a:lstStyle/>
          <a:p>
            <a:pPr marL="7701">
              <a:lnSpc>
                <a:spcPct val="100000"/>
              </a:lnSpc>
              <a:spcBef>
                <a:spcPts val="67"/>
              </a:spcBef>
            </a:pPr>
            <a:r>
              <a:rPr sz="4000" dirty="0">
                <a:solidFill>
                  <a:srgbClr val="941751"/>
                </a:solidFill>
                <a:latin typeface="Arial"/>
                <a:cs typeface="Arial"/>
              </a:rPr>
              <a:t>The</a:t>
            </a:r>
            <a:r>
              <a:rPr sz="4000" spc="-15" dirty="0">
                <a:solidFill>
                  <a:srgbClr val="941751"/>
                </a:solidFill>
                <a:latin typeface="Arial"/>
                <a:cs typeface="Arial"/>
              </a:rPr>
              <a:t> </a:t>
            </a:r>
            <a:r>
              <a:rPr sz="4000" dirty="0">
                <a:solidFill>
                  <a:srgbClr val="941751"/>
                </a:solidFill>
                <a:latin typeface="Arial"/>
                <a:cs typeface="Arial"/>
              </a:rPr>
              <a:t>Google</a:t>
            </a:r>
            <a:r>
              <a:rPr sz="4000" spc="-12" dirty="0">
                <a:solidFill>
                  <a:srgbClr val="941751"/>
                </a:solidFill>
                <a:latin typeface="Arial"/>
                <a:cs typeface="Arial"/>
              </a:rPr>
              <a:t> </a:t>
            </a:r>
            <a:r>
              <a:rPr sz="4000" dirty="0">
                <a:solidFill>
                  <a:srgbClr val="941751"/>
                </a:solidFill>
                <a:latin typeface="Arial"/>
                <a:cs typeface="Arial"/>
              </a:rPr>
              <a:t>File</a:t>
            </a:r>
            <a:r>
              <a:rPr sz="4000" spc="-12" dirty="0">
                <a:solidFill>
                  <a:srgbClr val="941751"/>
                </a:solidFill>
                <a:latin typeface="Arial"/>
                <a:cs typeface="Arial"/>
              </a:rPr>
              <a:t> </a:t>
            </a:r>
            <a:r>
              <a:rPr sz="4000" spc="-6" dirty="0">
                <a:solidFill>
                  <a:srgbClr val="941751"/>
                </a:solidFill>
                <a:latin typeface="Arial"/>
                <a:cs typeface="Arial"/>
              </a:rPr>
              <a:t>System</a:t>
            </a:r>
            <a:endParaRPr sz="4000" dirty="0">
              <a:latin typeface="Arial"/>
              <a:cs typeface="Arial"/>
            </a:endParaRPr>
          </a:p>
        </p:txBody>
      </p:sp>
      <p:sp>
        <p:nvSpPr>
          <p:cNvPr id="4" name="object 4"/>
          <p:cNvSpPr txBox="1"/>
          <p:nvPr/>
        </p:nvSpPr>
        <p:spPr>
          <a:xfrm>
            <a:off x="1222644" y="3429000"/>
            <a:ext cx="9303573" cy="437886"/>
          </a:xfrm>
          <a:prstGeom prst="rect">
            <a:avLst/>
          </a:prstGeom>
        </p:spPr>
        <p:txBody>
          <a:bodyPr vert="horz" wrap="square" lIns="0" tIns="6931" rIns="0" bIns="0" rtlCol="0">
            <a:spAutoFit/>
          </a:bodyPr>
          <a:lstStyle/>
          <a:p>
            <a:pPr marL="7701">
              <a:spcBef>
                <a:spcPts val="55"/>
              </a:spcBef>
            </a:pPr>
            <a:r>
              <a:rPr sz="2800" dirty="0">
                <a:solidFill>
                  <a:srgbClr val="222C4A"/>
                </a:solidFill>
                <a:latin typeface="Arial"/>
                <a:cs typeface="Arial"/>
              </a:rPr>
              <a:t>Sanjay</a:t>
            </a:r>
            <a:r>
              <a:rPr sz="2800" spc="-55" dirty="0">
                <a:solidFill>
                  <a:srgbClr val="222C4A"/>
                </a:solidFill>
                <a:latin typeface="Arial"/>
                <a:cs typeface="Arial"/>
              </a:rPr>
              <a:t> </a:t>
            </a:r>
            <a:r>
              <a:rPr sz="2800" dirty="0">
                <a:solidFill>
                  <a:srgbClr val="222C4A"/>
                </a:solidFill>
                <a:latin typeface="Arial"/>
                <a:cs typeface="Arial"/>
              </a:rPr>
              <a:t>Ghemawat,</a:t>
            </a:r>
            <a:r>
              <a:rPr sz="2800" spc="-55" dirty="0">
                <a:solidFill>
                  <a:srgbClr val="222C4A"/>
                </a:solidFill>
                <a:latin typeface="Arial"/>
                <a:cs typeface="Arial"/>
              </a:rPr>
              <a:t> </a:t>
            </a:r>
            <a:r>
              <a:rPr sz="2800" dirty="0">
                <a:solidFill>
                  <a:srgbClr val="222C4A"/>
                </a:solidFill>
                <a:latin typeface="Arial"/>
                <a:cs typeface="Arial"/>
              </a:rPr>
              <a:t>Howard</a:t>
            </a:r>
            <a:r>
              <a:rPr sz="2800" spc="-52" dirty="0">
                <a:solidFill>
                  <a:srgbClr val="222C4A"/>
                </a:solidFill>
                <a:latin typeface="Arial"/>
                <a:cs typeface="Arial"/>
              </a:rPr>
              <a:t> </a:t>
            </a:r>
            <a:r>
              <a:rPr sz="2800" dirty="0">
                <a:solidFill>
                  <a:srgbClr val="222C4A"/>
                </a:solidFill>
                <a:latin typeface="Arial"/>
                <a:cs typeface="Arial"/>
              </a:rPr>
              <a:t>Gobioff,</a:t>
            </a:r>
            <a:r>
              <a:rPr sz="2800" spc="-55" dirty="0">
                <a:solidFill>
                  <a:srgbClr val="222C4A"/>
                </a:solidFill>
                <a:latin typeface="Arial"/>
                <a:cs typeface="Arial"/>
              </a:rPr>
              <a:t> </a:t>
            </a:r>
            <a:r>
              <a:rPr sz="2800" dirty="0">
                <a:solidFill>
                  <a:srgbClr val="222C4A"/>
                </a:solidFill>
                <a:latin typeface="Arial"/>
                <a:cs typeface="Arial"/>
              </a:rPr>
              <a:t>and</a:t>
            </a:r>
            <a:r>
              <a:rPr sz="2800" spc="-55" dirty="0">
                <a:solidFill>
                  <a:srgbClr val="222C4A"/>
                </a:solidFill>
                <a:latin typeface="Arial"/>
                <a:cs typeface="Arial"/>
              </a:rPr>
              <a:t> </a:t>
            </a:r>
            <a:r>
              <a:rPr sz="2800" spc="-6" dirty="0">
                <a:solidFill>
                  <a:srgbClr val="222C4A"/>
                </a:solidFill>
                <a:latin typeface="Arial"/>
                <a:cs typeface="Arial"/>
              </a:rPr>
              <a:t>Shun-</a:t>
            </a:r>
            <a:r>
              <a:rPr sz="2800" spc="-73" dirty="0">
                <a:solidFill>
                  <a:srgbClr val="222C4A"/>
                </a:solidFill>
                <a:latin typeface="Arial"/>
                <a:cs typeface="Arial"/>
              </a:rPr>
              <a:t>Tak</a:t>
            </a:r>
            <a:r>
              <a:rPr sz="2800" spc="-52" dirty="0">
                <a:solidFill>
                  <a:srgbClr val="222C4A"/>
                </a:solidFill>
                <a:latin typeface="Arial"/>
                <a:cs typeface="Arial"/>
              </a:rPr>
              <a:t> </a:t>
            </a:r>
            <a:r>
              <a:rPr sz="2800" spc="-6" dirty="0">
                <a:solidFill>
                  <a:srgbClr val="222C4A"/>
                </a:solidFill>
                <a:latin typeface="Arial"/>
                <a:cs typeface="Arial"/>
              </a:rPr>
              <a:t>Leung</a:t>
            </a:r>
            <a:endParaRPr sz="2800" dirty="0">
              <a:latin typeface="Arial"/>
              <a:cs typeface="Arial"/>
            </a:endParaRPr>
          </a:p>
        </p:txBody>
      </p:sp>
      <p:sp>
        <p:nvSpPr>
          <p:cNvPr id="5" name="object 5"/>
          <p:cNvSpPr txBox="1"/>
          <p:nvPr/>
        </p:nvSpPr>
        <p:spPr>
          <a:xfrm>
            <a:off x="4814821" y="4627083"/>
            <a:ext cx="2702314" cy="440219"/>
          </a:xfrm>
          <a:prstGeom prst="rect">
            <a:avLst/>
          </a:prstGeom>
        </p:spPr>
        <p:txBody>
          <a:bodyPr vert="horz" wrap="square" lIns="0" tIns="9242" rIns="0" bIns="0" rtlCol="0">
            <a:spAutoFit/>
          </a:bodyPr>
          <a:lstStyle/>
          <a:p>
            <a:pPr marL="7701">
              <a:spcBef>
                <a:spcPts val="73"/>
              </a:spcBef>
            </a:pPr>
            <a:r>
              <a:rPr sz="2800" dirty="0">
                <a:solidFill>
                  <a:srgbClr val="941751"/>
                </a:solidFill>
                <a:latin typeface="Arial"/>
                <a:cs typeface="Arial"/>
              </a:rPr>
              <a:t>SOSP</a:t>
            </a:r>
            <a:r>
              <a:rPr sz="2800" spc="-45" dirty="0">
                <a:solidFill>
                  <a:srgbClr val="941751"/>
                </a:solidFill>
                <a:latin typeface="Arial"/>
                <a:cs typeface="Arial"/>
              </a:rPr>
              <a:t> </a:t>
            </a:r>
            <a:r>
              <a:rPr sz="2800" spc="-12" dirty="0">
                <a:solidFill>
                  <a:srgbClr val="941751"/>
                </a:solidFill>
                <a:latin typeface="Arial"/>
                <a:cs typeface="Arial"/>
              </a:rPr>
              <a:t>2003</a:t>
            </a:r>
            <a:endParaRPr sz="2800">
              <a:latin typeface="Arial"/>
              <a:cs typeface="Arial"/>
            </a:endParaRPr>
          </a:p>
        </p:txBody>
      </p:sp>
      <p:sp>
        <p:nvSpPr>
          <p:cNvPr id="6" name="Slide Number Placeholder 4"/>
          <p:cNvSpPr>
            <a:spLocks noGrp="1"/>
          </p:cNvSpPr>
          <p:nvPr>
            <p:ph type="sldNum" sz="quarter" idx="12"/>
          </p:nvPr>
        </p:nvSpPr>
        <p:spPr>
          <a:xfrm>
            <a:off x="8610600" y="6356350"/>
            <a:ext cx="2743200" cy="365125"/>
          </a:xfrm>
        </p:spPr>
        <p:txBody>
          <a:bodyPr/>
          <a:lstStyle/>
          <a:p>
            <a:fld id="{212DA15D-5F50-8B40-811F-34F736B90848}" type="slidenum">
              <a:rPr lang="en-US" smtClean="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9A07A-2EDA-8EFB-00F9-D93771A1B6F5}"/>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2B3064C-8B6B-E196-1653-06F81B857F2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Are We Reading This Paper?</a:t>
            </a:r>
          </a:p>
        </p:txBody>
      </p:sp>
      <p:sp>
        <p:nvSpPr>
          <p:cNvPr id="8" name="Slide Number Placeholder 4">
            <a:extLst>
              <a:ext uri="{FF2B5EF4-FFF2-40B4-BE49-F238E27FC236}">
                <a16:creationId xmlns:a16="http://schemas.microsoft.com/office/drawing/2014/main" id="{00D8FC74-4EE3-F460-3634-E33DE8F86DB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17</a:t>
            </a:fld>
            <a:endParaRPr lang="en-US"/>
          </a:p>
        </p:txBody>
      </p:sp>
      <p:sp>
        <p:nvSpPr>
          <p:cNvPr id="3" name="TextBox 2">
            <a:extLst>
              <a:ext uri="{FF2B5EF4-FFF2-40B4-BE49-F238E27FC236}">
                <a16:creationId xmlns:a16="http://schemas.microsoft.com/office/drawing/2014/main" id="{F3F35374-1F6C-3F9F-BFD6-74685579D930}"/>
              </a:ext>
            </a:extLst>
          </p:cNvPr>
          <p:cNvSpPr txBox="1"/>
          <p:nvPr/>
        </p:nvSpPr>
        <p:spPr>
          <a:xfrm>
            <a:off x="164414" y="1042197"/>
            <a:ext cx="10781882" cy="4647426"/>
          </a:xfrm>
          <a:prstGeom prst="rect">
            <a:avLst/>
          </a:prstGeom>
          <a:noFill/>
        </p:spPr>
        <p:txBody>
          <a:bodyPr wrap="square">
            <a:spAutoFit/>
          </a:bodyPr>
          <a:lstStyle/>
          <a:p>
            <a:r>
              <a:rPr lang="en-US" sz="3200" b="1" dirty="0"/>
              <a:t>GFS touches many themes of this course</a:t>
            </a:r>
          </a:p>
          <a:p>
            <a:pPr marL="742950" lvl="1" indent="-285750">
              <a:buFont typeface="Arial" panose="020B0604020202020204" pitchFamily="34" charset="0"/>
              <a:buChar char="•"/>
            </a:pPr>
            <a:r>
              <a:rPr lang="en-US" sz="2800" dirty="0"/>
              <a:t>parallel performance, fault tolerance, replication, consistency</a:t>
            </a:r>
          </a:p>
          <a:p>
            <a:endParaRPr lang="en-US" sz="1600" b="1" dirty="0"/>
          </a:p>
          <a:p>
            <a:r>
              <a:rPr lang="en-US" sz="3200" b="1" dirty="0"/>
              <a:t>A good systems paper: applications down to the network</a:t>
            </a:r>
          </a:p>
          <a:p>
            <a:endParaRPr lang="en-US" sz="1600" b="1" dirty="0"/>
          </a:p>
          <a:p>
            <a:r>
              <a:rPr lang="en-US" sz="3200" b="1" dirty="0"/>
              <a:t>A successful real-world design, judged on production experience</a:t>
            </a:r>
          </a:p>
        </p:txBody>
      </p:sp>
    </p:spTree>
    <p:extLst>
      <p:ext uri="{BB962C8B-B14F-4D97-AF65-F5344CB8AC3E}">
        <p14:creationId xmlns:p14="http://schemas.microsoft.com/office/powerpoint/2010/main" val="36778841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BB2795-2ED1-CB1C-9E9D-0F4FBA6CFC2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7CB10F8-2D3F-E529-89A3-BA800038C9CA}"/>
              </a:ext>
            </a:extLst>
          </p:cNvPr>
          <p:cNvSpPr>
            <a:spLocks noGrp="1"/>
          </p:cNvSpPr>
          <p:nvPr>
            <p:ph type="title"/>
          </p:nvPr>
        </p:nvSpPr>
        <p:spPr>
          <a:xfrm>
            <a:off x="0" y="1"/>
            <a:ext cx="12161520" cy="914400"/>
          </a:xfrm>
        </p:spPr>
        <p:txBody>
          <a:bodyPr>
            <a:normAutofit/>
          </a:bodyPr>
          <a:lstStyle/>
          <a:p>
            <a:pPr algn="ctr"/>
            <a:r>
              <a:rPr lang="en-US" b="1" dirty="0">
                <a:latin typeface="Helvetica" panose="020B0604020202020204" pitchFamily="34" charset="0"/>
                <a:cs typeface="Helvetica" panose="020B0604020202020204" pitchFamily="34" charset="0"/>
              </a:rPr>
              <a:t>Goal of GFS</a:t>
            </a:r>
          </a:p>
        </p:txBody>
      </p:sp>
      <p:sp>
        <p:nvSpPr>
          <p:cNvPr id="8" name="Slide Number Placeholder 4">
            <a:extLst>
              <a:ext uri="{FF2B5EF4-FFF2-40B4-BE49-F238E27FC236}">
                <a16:creationId xmlns:a16="http://schemas.microsoft.com/office/drawing/2014/main" id="{08377030-C673-A142-E76F-2D91B9C0EE3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18</a:t>
            </a:fld>
            <a:endParaRPr lang="en-US"/>
          </a:p>
        </p:txBody>
      </p:sp>
      <p:sp>
        <p:nvSpPr>
          <p:cNvPr id="3" name="TextBox 2">
            <a:extLst>
              <a:ext uri="{FF2B5EF4-FFF2-40B4-BE49-F238E27FC236}">
                <a16:creationId xmlns:a16="http://schemas.microsoft.com/office/drawing/2014/main" id="{3D1B77D7-22C6-06C6-5FC2-A363F2106C8A}"/>
              </a:ext>
            </a:extLst>
          </p:cNvPr>
          <p:cNvSpPr txBox="1"/>
          <p:nvPr/>
        </p:nvSpPr>
        <p:spPr>
          <a:xfrm>
            <a:off x="182261" y="963347"/>
            <a:ext cx="11717295" cy="4585871"/>
          </a:xfrm>
          <a:prstGeom prst="rect">
            <a:avLst/>
          </a:prstGeom>
          <a:noFill/>
        </p:spPr>
        <p:txBody>
          <a:bodyPr wrap="square">
            <a:spAutoFit/>
          </a:bodyPr>
          <a:lstStyle/>
          <a:p>
            <a:r>
              <a:rPr lang="en-US" sz="3200" b="1" dirty="0"/>
              <a:t>Many Google services needed a </a:t>
            </a:r>
            <a:r>
              <a:rPr lang="en-US" sz="3200" b="1" dirty="0">
                <a:solidFill>
                  <a:srgbClr val="C00000"/>
                </a:solidFill>
              </a:rPr>
              <a:t>big fast </a:t>
            </a:r>
            <a:r>
              <a:rPr lang="en-US" sz="3200" b="1" dirty="0"/>
              <a:t>unified storage system </a:t>
            </a:r>
          </a:p>
          <a:p>
            <a:pPr marL="808038" lvl="1" indent="-350838">
              <a:buFont typeface="Arial" panose="020B0604020202020204" pitchFamily="34" charset="0"/>
              <a:buChar char="•"/>
            </a:pPr>
            <a:r>
              <a:rPr lang="en-US" sz="2800" dirty="0"/>
              <a:t> </a:t>
            </a:r>
            <a:r>
              <a:rPr lang="en-US" sz="2800" dirty="0" err="1"/>
              <a:t>Mapreduce</a:t>
            </a:r>
            <a:r>
              <a:rPr lang="en-US" sz="2800" dirty="0"/>
              <a:t>, </a:t>
            </a:r>
            <a:r>
              <a:rPr lang="en-US" sz="2800" dirty="0" err="1"/>
              <a:t>Youtube</a:t>
            </a:r>
            <a:r>
              <a:rPr lang="en-US" sz="2800" dirty="0"/>
              <a:t> </a:t>
            </a:r>
          </a:p>
          <a:p>
            <a:endParaRPr lang="en-US" sz="2800" dirty="0"/>
          </a:p>
          <a:p>
            <a:r>
              <a:rPr lang="en-US" sz="3200" b="1" dirty="0"/>
              <a:t>Global (over a single data center)</a:t>
            </a:r>
          </a:p>
          <a:p>
            <a:pPr marL="808038" lvl="1" indent="-350838">
              <a:buFont typeface="Arial" panose="020B0604020202020204" pitchFamily="34" charset="0"/>
              <a:buChar char="•"/>
            </a:pPr>
            <a:r>
              <a:rPr lang="en-US" sz="2800" dirty="0"/>
              <a:t>Allows sharing of data among applications </a:t>
            </a:r>
          </a:p>
          <a:p>
            <a:endParaRPr lang="en-US" sz="2800" dirty="0"/>
          </a:p>
          <a:p>
            <a:r>
              <a:rPr lang="en-US" sz="3200" b="1" dirty="0"/>
              <a:t>Automatic</a:t>
            </a:r>
            <a:r>
              <a:rPr lang="en-US" sz="2800" dirty="0"/>
              <a:t> </a:t>
            </a:r>
          </a:p>
          <a:p>
            <a:pPr marL="800100" lvl="1" indent="-342900">
              <a:buFont typeface="Arial" panose="020B0604020202020204" pitchFamily="34" charset="0"/>
              <a:buChar char="•"/>
            </a:pPr>
            <a:r>
              <a:rPr lang="en-US" sz="2800" dirty="0"/>
              <a:t>For parallel performance </a:t>
            </a:r>
          </a:p>
          <a:p>
            <a:pPr marL="803275" lvl="1" indent="-346075">
              <a:buFont typeface="Arial" panose="020B0604020202020204" pitchFamily="34" charset="0"/>
              <a:buChar char="•"/>
            </a:pPr>
            <a:r>
              <a:rPr lang="en-US" sz="2800" dirty="0"/>
              <a:t>To increase space available</a:t>
            </a:r>
          </a:p>
          <a:p>
            <a:pPr marL="803275" lvl="1" indent="-346075">
              <a:buFont typeface="Arial" panose="020B0604020202020204" pitchFamily="34" charset="0"/>
              <a:buChar char="•"/>
            </a:pPr>
            <a:r>
              <a:rPr lang="en-US" sz="2800" dirty="0"/>
              <a:t>recovery from failures </a:t>
            </a:r>
          </a:p>
        </p:txBody>
      </p:sp>
    </p:spTree>
    <p:extLst>
      <p:ext uri="{BB962C8B-B14F-4D97-AF65-F5344CB8AC3E}">
        <p14:creationId xmlns:p14="http://schemas.microsoft.com/office/powerpoint/2010/main" val="18962352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Demo 1: HDFS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19</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4" y="914401"/>
            <a:ext cx="11872217" cy="4585871"/>
          </a:xfrm>
          <a:prstGeom prst="rect">
            <a:avLst/>
          </a:prstGeom>
          <a:noFill/>
        </p:spPr>
        <p:txBody>
          <a:bodyPr wrap="square" rtlCol="0">
            <a:spAutoFit/>
          </a:bodyPr>
          <a:lstStyle/>
          <a:p>
            <a:r>
              <a:rPr lang="en-US" sz="3200" b="1" dirty="0"/>
              <a:t>HDFS is the open-source clone of GFS</a:t>
            </a:r>
          </a:p>
          <a:p>
            <a:pPr marL="914400" indent="-457200">
              <a:buFont typeface="Arial" panose="020B0604020202020204" pitchFamily="34" charset="0"/>
              <a:buChar char="•"/>
            </a:pPr>
            <a:r>
              <a:rPr lang="en-US" sz="2800" b="0" dirty="0"/>
              <a:t>One NameNode: the master, names and metadata only</a:t>
            </a:r>
          </a:p>
          <a:p>
            <a:pPr marL="914400" indent="-457200">
              <a:buFont typeface="Arial" panose="020B0604020202020204" pitchFamily="34" charset="0"/>
              <a:buChar char="•"/>
            </a:pPr>
            <a:r>
              <a:rPr lang="en-US" sz="2800" b="0" dirty="0"/>
              <a:t>Three DataNodes: the chunkservers, data only</a:t>
            </a:r>
          </a:p>
          <a:p>
            <a:pPr marL="914400" indent="-457200">
              <a:buFont typeface="Arial" panose="020B0604020202020204" pitchFamily="34" charset="0"/>
              <a:buChar char="•"/>
            </a:pPr>
            <a:endParaRPr lang="en-US" sz="2800" b="0" dirty="0"/>
          </a:p>
          <a:p>
            <a:r>
              <a:rPr lang="en-US" sz="3200" b="1" dirty="0"/>
              <a:t>What to watch</a:t>
            </a:r>
          </a:p>
          <a:p>
            <a:pPr marL="914400" indent="-457200">
              <a:buFont typeface="Arial" panose="020B0604020202020204" pitchFamily="34" charset="0"/>
              <a:buChar char="•"/>
            </a:pPr>
            <a:r>
              <a:rPr lang="en-US" sz="2800" b="0" dirty="0"/>
              <a:t>A 100 MB file becomes 7 blocks, each stored on two servers</a:t>
            </a:r>
          </a:p>
          <a:p>
            <a:pPr marL="914400" indent="-457200">
              <a:buFont typeface="Arial" panose="020B0604020202020204" pitchFamily="34" charset="0"/>
              <a:buChar char="•"/>
            </a:pPr>
            <a:r>
              <a:rPr lang="en-US" sz="2800" b="0" dirty="0"/>
              <a:t>The master knows block ids and locations, and never touches the data</a:t>
            </a:r>
          </a:p>
          <a:p>
            <a:pPr marL="914400" indent="-457200">
              <a:buFont typeface="Arial" panose="020B0604020202020204" pitchFamily="34" charset="0"/>
              <a:buChar char="•"/>
            </a:pPr>
            <a:r>
              <a:rPr lang="en-US" sz="2800" b="0" dirty="0"/>
              <a:t>On a DataNode, a block is an ordinary file on local disk</a:t>
            </a:r>
          </a:p>
          <a:p>
            <a:pPr marL="914400" indent="-457200">
              <a:buFont typeface="Arial" panose="020B0604020202020204" pitchFamily="34" charset="0"/>
              <a:buChar char="•"/>
            </a:pPr>
            <a:endParaRPr lang="en-US" sz="2800" b="0" dirty="0"/>
          </a:p>
          <a:p>
            <a:r>
              <a:rPr lang="en-US" sz="3200" b="1" dirty="0"/>
              <a:t>Then one server dies and the replicas rebuild themselves</a:t>
            </a:r>
          </a:p>
        </p:txBody>
      </p:sp>
    </p:spTree>
    <p:extLst>
      <p:ext uri="{BB962C8B-B14F-4D97-AF65-F5344CB8AC3E}">
        <p14:creationId xmlns:p14="http://schemas.microsoft.com/office/powerpoint/2010/main" val="17206706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8E95D-937D-AD36-D9B1-1EF9D542739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5A018D7-61E0-2C68-485E-11C9AEA18B2F}"/>
              </a:ext>
            </a:extLst>
          </p:cNvPr>
          <p:cNvSpPr>
            <a:spLocks noGrp="1"/>
          </p:cNvSpPr>
          <p:nvPr>
            <p:ph type="title"/>
          </p:nvPr>
        </p:nvSpPr>
        <p:spPr>
          <a:xfrm>
            <a:off x="0" y="1"/>
            <a:ext cx="12161520" cy="914400"/>
          </a:xfrm>
        </p:spPr>
        <p:txBody>
          <a:bodyPr>
            <a:normAutofit/>
          </a:bodyPr>
          <a:lstStyle/>
          <a:p>
            <a:pPr algn="ctr"/>
            <a:r>
              <a:rPr lang="en-US" b="1" dirty="0">
                <a:latin typeface="Helvetica" panose="020B0604020202020204" pitchFamily="34" charset="0"/>
                <a:cs typeface="Helvetica" panose="020B0604020202020204" pitchFamily="34" charset="0"/>
              </a:rPr>
              <a:t>Assumptions of GFS</a:t>
            </a:r>
          </a:p>
        </p:txBody>
      </p:sp>
      <p:sp>
        <p:nvSpPr>
          <p:cNvPr id="8" name="Slide Number Placeholder 4">
            <a:extLst>
              <a:ext uri="{FF2B5EF4-FFF2-40B4-BE49-F238E27FC236}">
                <a16:creationId xmlns:a16="http://schemas.microsoft.com/office/drawing/2014/main" id="{581F7935-A371-9A39-F37D-0BCC2350790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20</a:t>
            </a:fld>
            <a:endParaRPr lang="en-US"/>
          </a:p>
        </p:txBody>
      </p:sp>
      <p:sp>
        <p:nvSpPr>
          <p:cNvPr id="3" name="TextBox 2">
            <a:extLst>
              <a:ext uri="{FF2B5EF4-FFF2-40B4-BE49-F238E27FC236}">
                <a16:creationId xmlns:a16="http://schemas.microsoft.com/office/drawing/2014/main" id="{EA2E0FBF-8D06-1DEC-25B4-848EEFE5C3A0}"/>
              </a:ext>
            </a:extLst>
          </p:cNvPr>
          <p:cNvSpPr txBox="1"/>
          <p:nvPr/>
        </p:nvSpPr>
        <p:spPr>
          <a:xfrm>
            <a:off x="222112" y="854441"/>
            <a:ext cx="11717295" cy="5693866"/>
          </a:xfrm>
          <a:prstGeom prst="rect">
            <a:avLst/>
          </a:prstGeom>
          <a:noFill/>
        </p:spPr>
        <p:txBody>
          <a:bodyPr wrap="square">
            <a:spAutoFit/>
          </a:bodyPr>
          <a:lstStyle/>
          <a:p>
            <a:r>
              <a:rPr lang="en-US" sz="3200" b="1" dirty="0"/>
              <a:t>Just </a:t>
            </a:r>
            <a:r>
              <a:rPr lang="en-US" sz="3200" b="1" dirty="0">
                <a:solidFill>
                  <a:srgbClr val="C00000"/>
                </a:solidFill>
              </a:rPr>
              <a:t>one</a:t>
            </a:r>
            <a:r>
              <a:rPr lang="en-US" sz="3200" b="1" dirty="0"/>
              <a:t> data center per deployment </a:t>
            </a:r>
          </a:p>
          <a:p>
            <a:endParaRPr lang="en-US" sz="3200" b="1" dirty="0"/>
          </a:p>
          <a:p>
            <a:r>
              <a:rPr lang="en-US" sz="3200" b="1" dirty="0"/>
              <a:t>Internal Google applications/users </a:t>
            </a:r>
          </a:p>
          <a:p>
            <a:endParaRPr lang="en-US" sz="3200" b="1" dirty="0"/>
          </a:p>
          <a:p>
            <a:r>
              <a:rPr lang="en-US" sz="3200" b="1" dirty="0"/>
              <a:t>Workload (e.g., crawling -&gt; indexing -&gt; PR -&gt; …) </a:t>
            </a:r>
          </a:p>
          <a:p>
            <a:pPr marL="800100" lvl="1" indent="-342900">
              <a:buFont typeface="Arial" panose="020B0604020202020204" pitchFamily="34" charset="0"/>
              <a:buChar char="•"/>
            </a:pPr>
            <a:r>
              <a:rPr lang="en-US" sz="2800" dirty="0"/>
              <a:t>Multiple clients </a:t>
            </a:r>
          </a:p>
          <a:p>
            <a:pPr marL="800100" lvl="1" indent="-342900">
              <a:buFont typeface="Arial" panose="020B0604020202020204" pitchFamily="34" charset="0"/>
              <a:buChar char="•"/>
            </a:pPr>
            <a:r>
              <a:rPr lang="en-US" sz="2800" dirty="0"/>
              <a:t>Large streaming reads, Small random writes </a:t>
            </a:r>
          </a:p>
          <a:p>
            <a:pPr marL="800100" lvl="1" indent="-342900">
              <a:buFont typeface="Arial" panose="020B0604020202020204" pitchFamily="34" charset="0"/>
              <a:buChar char="•"/>
            </a:pPr>
            <a:r>
              <a:rPr lang="en-US" sz="2800" dirty="0"/>
              <a:t>Concurrent appends to the same file</a:t>
            </a:r>
          </a:p>
          <a:p>
            <a:endParaRPr lang="en-US" sz="3200" b="1" dirty="0"/>
          </a:p>
          <a:p>
            <a:r>
              <a:rPr lang="en-US" sz="3200" b="1" dirty="0"/>
              <a:t>Aimed at sequential access to huge files: read or append </a:t>
            </a:r>
          </a:p>
          <a:p>
            <a:pPr marL="800100" lvl="1" indent="-342900">
              <a:buFont typeface="Arial" panose="020B0604020202020204" pitchFamily="34" charset="0"/>
              <a:buChar char="•"/>
            </a:pPr>
            <a:r>
              <a:rPr lang="en-US" sz="2800" dirty="0"/>
              <a:t> I.e. not a low-latency DB for small items</a:t>
            </a:r>
          </a:p>
          <a:p>
            <a:pPr marL="800100" lvl="1" indent="-342900">
              <a:buFont typeface="Arial" panose="020B0604020202020204" pitchFamily="34" charset="0"/>
              <a:buChar char="•"/>
            </a:pPr>
            <a:r>
              <a:rPr lang="en-US" sz="2800" dirty="0"/>
              <a:t>High Throughput &gt; Low Latency</a:t>
            </a:r>
          </a:p>
        </p:txBody>
      </p:sp>
    </p:spTree>
    <p:extLst>
      <p:ext uri="{BB962C8B-B14F-4D97-AF65-F5344CB8AC3E}">
        <p14:creationId xmlns:p14="http://schemas.microsoft.com/office/powerpoint/2010/main" val="6914102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dissolve">
                                      <p:cBhvr>
                                        <p:cTn id="12" dur="500"/>
                                        <p:tgtEl>
                                          <p:spTgt spid="3">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dissolve">
                                      <p:cBhvr>
                                        <p:cTn id="15" dur="500"/>
                                        <p:tgtEl>
                                          <p:spTgt spid="3">
                                            <p:txEl>
                                              <p:pRg st="5" end="5"/>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dissolve">
                                      <p:cBhvr>
                                        <p:cTn id="18" dur="500"/>
                                        <p:tgtEl>
                                          <p:spTgt spid="3">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dissolve">
                                      <p:cBhvr>
                                        <p:cTn id="21" dur="500"/>
                                        <p:tgtEl>
                                          <p:spTgt spid="3">
                                            <p:txEl>
                                              <p:pRg st="7" end="7"/>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3">
                                            <p:txEl>
                                              <p:pRg st="9" end="9"/>
                                            </p:txEl>
                                          </p:spTgt>
                                        </p:tgtEl>
                                        <p:attrNameLst>
                                          <p:attrName>style.visibility</p:attrName>
                                        </p:attrNameLst>
                                      </p:cBhvr>
                                      <p:to>
                                        <p:strVal val="visible"/>
                                      </p:to>
                                    </p:set>
                                    <p:animEffect transition="in" filter="dissolve">
                                      <p:cBhvr>
                                        <p:cTn id="26" dur="500"/>
                                        <p:tgtEl>
                                          <p:spTgt spid="3">
                                            <p:txEl>
                                              <p:pRg st="9" end="9"/>
                                            </p:txEl>
                                          </p:spTgt>
                                        </p:tgtEl>
                                      </p:cBhvr>
                                    </p:animEffect>
                                  </p:childTnLst>
                                </p:cTn>
                              </p:par>
                              <p:par>
                                <p:cTn id="27" presetID="9" presetClass="entr" presetSubtype="0" fill="hold" nodeType="with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animEffect transition="in" filter="dissolve">
                                      <p:cBhvr>
                                        <p:cTn id="29" dur="500"/>
                                        <p:tgtEl>
                                          <p:spTgt spid="3">
                                            <p:txEl>
                                              <p:pRg st="10" end="10"/>
                                            </p:txEl>
                                          </p:spTgt>
                                        </p:tgtEl>
                                      </p:cBhvr>
                                    </p:animEffect>
                                  </p:childTnLst>
                                </p:cTn>
                              </p:par>
                              <p:par>
                                <p:cTn id="30" presetID="9" presetClass="entr" presetSubtype="0" fill="hold" nodeType="withEffect">
                                  <p:stCondLst>
                                    <p:cond delay="0"/>
                                  </p:stCondLst>
                                  <p:childTnLst>
                                    <p:set>
                                      <p:cBhvr>
                                        <p:cTn id="31" dur="1" fill="hold">
                                          <p:stCondLst>
                                            <p:cond delay="0"/>
                                          </p:stCondLst>
                                        </p:cTn>
                                        <p:tgtEl>
                                          <p:spTgt spid="3">
                                            <p:txEl>
                                              <p:pRg st="11" end="11"/>
                                            </p:txEl>
                                          </p:spTgt>
                                        </p:tgtEl>
                                        <p:attrNameLst>
                                          <p:attrName>style.visibility</p:attrName>
                                        </p:attrNameLst>
                                      </p:cBhvr>
                                      <p:to>
                                        <p:strVal val="visible"/>
                                      </p:to>
                                    </p:set>
                                    <p:animEffect transition="in" filter="dissolve">
                                      <p:cBhvr>
                                        <p:cTn id="32"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ABDB4-C7F0-9803-988F-EE6405DA8A7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0452E1D-A4BE-81D0-1913-157BB64D4B57}"/>
              </a:ext>
            </a:extLst>
          </p:cNvPr>
          <p:cNvSpPr>
            <a:spLocks noGrp="1"/>
          </p:cNvSpPr>
          <p:nvPr>
            <p:ph type="title"/>
          </p:nvPr>
        </p:nvSpPr>
        <p:spPr>
          <a:xfrm>
            <a:off x="0" y="1"/>
            <a:ext cx="12191999" cy="1097280"/>
          </a:xfrm>
        </p:spPr>
        <p:txBody>
          <a:bodyPr>
            <a:normAutofit/>
          </a:bodyPr>
          <a:lstStyle/>
          <a:p>
            <a:pPr algn="ctr"/>
            <a:r>
              <a:rPr lang="en-US" b="1" dirty="0">
                <a:latin typeface="Helvetica" panose="020B0604020202020204" pitchFamily="34" charset="0"/>
                <a:cs typeface="Helvetica" panose="020B0604020202020204" pitchFamily="34" charset="0"/>
              </a:rPr>
              <a:t>What Are the Contribution of the Paper? </a:t>
            </a:r>
          </a:p>
        </p:txBody>
      </p:sp>
      <p:sp>
        <p:nvSpPr>
          <p:cNvPr id="8" name="Slide Number Placeholder 4">
            <a:extLst>
              <a:ext uri="{FF2B5EF4-FFF2-40B4-BE49-F238E27FC236}">
                <a16:creationId xmlns:a16="http://schemas.microsoft.com/office/drawing/2014/main" id="{7D19D596-A7BA-21F2-D9DA-DDA6D7CC537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21</a:t>
            </a:fld>
            <a:endParaRPr lang="en-US"/>
          </a:p>
        </p:txBody>
      </p:sp>
      <p:sp>
        <p:nvSpPr>
          <p:cNvPr id="2" name="TextBox 1">
            <a:extLst>
              <a:ext uri="{FF2B5EF4-FFF2-40B4-BE49-F238E27FC236}">
                <a16:creationId xmlns:a16="http://schemas.microsoft.com/office/drawing/2014/main" id="{BF43BD8F-755A-DCFE-84CA-5B7F656A8A0A}"/>
              </a:ext>
            </a:extLst>
          </p:cNvPr>
          <p:cNvSpPr txBox="1"/>
          <p:nvPr/>
        </p:nvSpPr>
        <p:spPr>
          <a:xfrm>
            <a:off x="222421" y="1097281"/>
            <a:ext cx="11492057" cy="4524315"/>
          </a:xfrm>
          <a:prstGeom prst="rect">
            <a:avLst/>
          </a:prstGeom>
          <a:noFill/>
        </p:spPr>
        <p:txBody>
          <a:bodyPr wrap="none" rtlCol="0">
            <a:spAutoFit/>
          </a:bodyPr>
          <a:lstStyle/>
          <a:p>
            <a:r>
              <a:rPr lang="en-US" sz="3200" b="1" dirty="0"/>
              <a:t>Not the basic ideas of distribution, sharding, fault-tolerance.</a:t>
            </a:r>
          </a:p>
          <a:p>
            <a:endParaRPr lang="en-US" sz="1600" b="1" dirty="0"/>
          </a:p>
          <a:p>
            <a:r>
              <a:rPr lang="en-US" sz="3200" b="1" dirty="0"/>
              <a:t>Huge scale.</a:t>
            </a:r>
          </a:p>
          <a:p>
            <a:endParaRPr lang="en-US" sz="1600" b="1" dirty="0"/>
          </a:p>
          <a:p>
            <a:r>
              <a:rPr lang="en-US" sz="3200" b="1" dirty="0"/>
              <a:t>Used in industry, real-world experience.</a:t>
            </a:r>
          </a:p>
          <a:p>
            <a:endParaRPr lang="en-US" sz="1600" b="1" dirty="0"/>
          </a:p>
          <a:p>
            <a:r>
              <a:rPr lang="en-US" sz="3200" b="1" dirty="0"/>
              <a:t>Successful use of weak consistency.</a:t>
            </a:r>
          </a:p>
          <a:p>
            <a:pPr marL="742950" lvl="1" indent="-285750">
              <a:buFont typeface="Arial" panose="020B0604020202020204" pitchFamily="34" charset="0"/>
              <a:buChar char="•"/>
            </a:pPr>
            <a:r>
              <a:rPr lang="en-US" sz="2800" dirty="0"/>
              <a:t>A missing search result goes unnoticed; ad billing does not</a:t>
            </a:r>
          </a:p>
          <a:p>
            <a:pPr marL="742950" lvl="1" indent="-285750">
              <a:buFont typeface="Arial" panose="020B0604020202020204" pitchFamily="34" charset="0"/>
              <a:buChar char="•"/>
            </a:pPr>
            <a:r>
              <a:rPr lang="en-US" sz="2800" dirty="0"/>
              <a:t>Applications compensate: checksums and explicit record boundaries</a:t>
            </a:r>
          </a:p>
          <a:p>
            <a:endParaRPr lang="en-US" sz="1600" b="1" dirty="0"/>
          </a:p>
          <a:p>
            <a:r>
              <a:rPr lang="en-US" sz="3200" b="1" dirty="0"/>
              <a:t>Successful use of single master.</a:t>
            </a:r>
          </a:p>
        </p:txBody>
      </p:sp>
    </p:spTree>
    <p:extLst>
      <p:ext uri="{BB962C8B-B14F-4D97-AF65-F5344CB8AC3E}">
        <p14:creationId xmlns:p14="http://schemas.microsoft.com/office/powerpoint/2010/main" val="2923506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animEffect transition="in" filter="dissolve">
                                      <p:cBhvr>
                                        <p:cTn id="7" dur="500"/>
                                        <p:tgtEl>
                                          <p:spTgt spid="2">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4" end="4"/>
                                            </p:txEl>
                                          </p:spTgt>
                                        </p:tgtEl>
                                        <p:attrNameLst>
                                          <p:attrName>style.visibility</p:attrName>
                                        </p:attrNameLst>
                                      </p:cBhvr>
                                      <p:to>
                                        <p:strVal val="visible"/>
                                      </p:to>
                                    </p:set>
                                    <p:animEffect transition="in" filter="dissolve">
                                      <p:cBhvr>
                                        <p:cTn id="10" dur="500"/>
                                        <p:tgtEl>
                                          <p:spTgt spid="2">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6" end="6"/>
                                            </p:txEl>
                                          </p:spTgt>
                                        </p:tgtEl>
                                        <p:attrNameLst>
                                          <p:attrName>style.visibility</p:attrName>
                                        </p:attrNameLst>
                                      </p:cBhvr>
                                      <p:to>
                                        <p:strVal val="visible"/>
                                      </p:to>
                                    </p:set>
                                    <p:animEffect transition="in" filter="dissolve">
                                      <p:cBhvr>
                                        <p:cTn id="13" dur="500"/>
                                        <p:tgtEl>
                                          <p:spTgt spid="2">
                                            <p:txEl>
                                              <p:pRg st="6" end="6"/>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2">
                                            <p:txEl>
                                              <p:pRg st="8" end="8"/>
                                            </p:txEl>
                                          </p:spTgt>
                                        </p:tgtEl>
                                        <p:attrNameLst>
                                          <p:attrName>style.visibility</p:attrName>
                                        </p:attrNameLst>
                                      </p:cBhvr>
                                      <p:to>
                                        <p:strVal val="visible"/>
                                      </p:to>
                                    </p:set>
                                    <p:animEffect transition="in" filter="dissolve">
                                      <p:cBhvr>
                                        <p:cTn id="16" dur="500"/>
                                        <p:tgtEl>
                                          <p:spTgt spid="2">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64302-7B1F-F93D-E973-2062D3CC2A5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52E96D9-A957-D99E-FC85-F1D752C37039}"/>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GFS’s Architecture</a:t>
            </a:r>
          </a:p>
        </p:txBody>
      </p:sp>
      <p:sp>
        <p:nvSpPr>
          <p:cNvPr id="8" name="Slide Number Placeholder 4">
            <a:extLst>
              <a:ext uri="{FF2B5EF4-FFF2-40B4-BE49-F238E27FC236}">
                <a16:creationId xmlns:a16="http://schemas.microsoft.com/office/drawing/2014/main" id="{B2167330-B09B-300E-1C3C-6FAF7BCFB5B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22</a:t>
            </a:fld>
            <a:endParaRPr lang="en-US"/>
          </a:p>
        </p:txBody>
      </p:sp>
      <p:pic>
        <p:nvPicPr>
          <p:cNvPr id="2" name="object 2">
            <a:extLst>
              <a:ext uri="{FF2B5EF4-FFF2-40B4-BE49-F238E27FC236}">
                <a16:creationId xmlns:a16="http://schemas.microsoft.com/office/drawing/2014/main" id="{4D13600B-1D33-799A-A751-219B5BE8C101}"/>
              </a:ext>
            </a:extLst>
          </p:cNvPr>
          <p:cNvPicPr/>
          <p:nvPr/>
        </p:nvPicPr>
        <p:blipFill>
          <a:blip r:embed="rId3" cstate="print"/>
          <a:stretch>
            <a:fillRect/>
          </a:stretch>
        </p:blipFill>
        <p:spPr>
          <a:xfrm>
            <a:off x="1572767" y="1097281"/>
            <a:ext cx="9046464" cy="5449824"/>
          </a:xfrm>
          <a:prstGeom prst="rect">
            <a:avLst/>
          </a:prstGeom>
        </p:spPr>
      </p:pic>
    </p:spTree>
    <p:extLst>
      <p:ext uri="{BB962C8B-B14F-4D97-AF65-F5344CB8AC3E}">
        <p14:creationId xmlns:p14="http://schemas.microsoft.com/office/powerpoint/2010/main" val="24713419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55F232-966C-CE36-1BFC-56DE56FF7F6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8A9A9FC-0D69-A16B-1459-31E89A22A68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Overall Architecture</a:t>
            </a:r>
          </a:p>
        </p:txBody>
      </p:sp>
      <p:sp>
        <p:nvSpPr>
          <p:cNvPr id="8" name="Slide Number Placeholder 4">
            <a:extLst>
              <a:ext uri="{FF2B5EF4-FFF2-40B4-BE49-F238E27FC236}">
                <a16:creationId xmlns:a16="http://schemas.microsoft.com/office/drawing/2014/main" id="{70C358D7-34F7-6C89-675B-FD64F3B3C41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23</a:t>
            </a:fld>
            <a:endParaRPr lang="en-US"/>
          </a:p>
        </p:txBody>
      </p:sp>
      <p:sp>
        <p:nvSpPr>
          <p:cNvPr id="3" name="TextBox 2">
            <a:extLst>
              <a:ext uri="{FF2B5EF4-FFF2-40B4-BE49-F238E27FC236}">
                <a16:creationId xmlns:a16="http://schemas.microsoft.com/office/drawing/2014/main" id="{71199DEC-1348-AF17-16F5-0B037B55F5EB}"/>
              </a:ext>
            </a:extLst>
          </p:cNvPr>
          <p:cNvSpPr txBox="1"/>
          <p:nvPr/>
        </p:nvSpPr>
        <p:spPr>
          <a:xfrm>
            <a:off x="367861" y="897584"/>
            <a:ext cx="10815145" cy="2308324"/>
          </a:xfrm>
          <a:prstGeom prst="rect">
            <a:avLst/>
          </a:prstGeom>
          <a:noFill/>
        </p:spPr>
        <p:txBody>
          <a:bodyPr wrap="square">
            <a:spAutoFit/>
          </a:bodyPr>
          <a:lstStyle/>
          <a:p>
            <a:pPr marL="342900" indent="-342900">
              <a:buFont typeface="Arial" panose="020B0604020202020204" pitchFamily="34" charset="0"/>
              <a:buChar char="•"/>
            </a:pPr>
            <a:r>
              <a:rPr lang="en-US" sz="2400" dirty="0"/>
              <a:t>User-level process running on commodity Linux machines </a:t>
            </a:r>
          </a:p>
          <a:p>
            <a:pPr marL="342900" indent="-342900">
              <a:buFont typeface="Arial" panose="020B0604020202020204" pitchFamily="34" charset="0"/>
              <a:buChar char="•"/>
            </a:pPr>
            <a:r>
              <a:rPr lang="en-US" sz="2400" dirty="0"/>
              <a:t>Files broken into chunks (typically 64 MB), </a:t>
            </a:r>
          </a:p>
          <a:p>
            <a:pPr marL="342900" indent="-342900">
              <a:buFont typeface="Arial" panose="020B0604020202020204" pitchFamily="34" charset="0"/>
              <a:buChar char="•"/>
            </a:pPr>
            <a:r>
              <a:rPr lang="en-US" sz="2400" dirty="0"/>
              <a:t>3x redundancy </a:t>
            </a:r>
          </a:p>
          <a:p>
            <a:pPr marL="342900" indent="-342900">
              <a:buFont typeface="Arial" panose="020B0604020202020204" pitchFamily="34" charset="0"/>
              <a:buChar char="•"/>
            </a:pPr>
            <a:r>
              <a:rPr lang="en-US" sz="2400" dirty="0"/>
              <a:t>Data transfers happen directly between clients and Chunk Servers</a:t>
            </a:r>
          </a:p>
          <a:p>
            <a:pPr marL="342900" indent="-342900">
              <a:buFont typeface="Arial" panose="020B0604020202020204" pitchFamily="34" charset="0"/>
              <a:buChar char="•"/>
            </a:pPr>
            <a:r>
              <a:rPr lang="en-US" sz="2400" dirty="0"/>
              <a:t>Single Master and master replicas</a:t>
            </a:r>
          </a:p>
          <a:p>
            <a:pPr marL="342900" indent="-342900">
              <a:buFont typeface="Arial" panose="020B0604020202020204" pitchFamily="34" charset="0"/>
              <a:buChar char="•"/>
            </a:pPr>
            <a:r>
              <a:rPr lang="en-US" sz="2400" dirty="0"/>
              <a:t>Division of Master Server and Chunk Servers </a:t>
            </a:r>
          </a:p>
        </p:txBody>
      </p:sp>
      <p:pic>
        <p:nvPicPr>
          <p:cNvPr id="4" name="object 2">
            <a:extLst>
              <a:ext uri="{FF2B5EF4-FFF2-40B4-BE49-F238E27FC236}">
                <a16:creationId xmlns:a16="http://schemas.microsoft.com/office/drawing/2014/main" id="{26DAB897-F069-36DD-0EDC-3DF44F80B4E5}"/>
              </a:ext>
            </a:extLst>
          </p:cNvPr>
          <p:cNvPicPr/>
          <p:nvPr/>
        </p:nvPicPr>
        <p:blipFill>
          <a:blip r:embed="rId3" cstate="print"/>
          <a:stretch>
            <a:fillRect/>
          </a:stretch>
        </p:blipFill>
        <p:spPr>
          <a:xfrm>
            <a:off x="2266451" y="3155422"/>
            <a:ext cx="7192861" cy="3383490"/>
          </a:xfrm>
          <a:prstGeom prst="rect">
            <a:avLst/>
          </a:prstGeom>
        </p:spPr>
      </p:pic>
    </p:spTree>
    <p:extLst>
      <p:ext uri="{BB962C8B-B14F-4D97-AF65-F5344CB8AC3E}">
        <p14:creationId xmlns:p14="http://schemas.microsoft.com/office/powerpoint/2010/main" val="227420183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11EE2-2E4D-3369-4EB6-0B31EB2379F6}"/>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DF07D588-72DA-24BC-ECF1-E68122EEA2F7}"/>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Node</a:t>
            </a:r>
          </a:p>
        </p:txBody>
      </p:sp>
      <p:sp>
        <p:nvSpPr>
          <p:cNvPr id="8" name="Slide Number Placeholder 4">
            <a:extLst>
              <a:ext uri="{FF2B5EF4-FFF2-40B4-BE49-F238E27FC236}">
                <a16:creationId xmlns:a16="http://schemas.microsoft.com/office/drawing/2014/main" id="{274199B4-9ABA-5C8F-B970-5CFF832407E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24</a:t>
            </a:fld>
            <a:endParaRPr lang="en-US"/>
          </a:p>
        </p:txBody>
      </p:sp>
      <p:sp>
        <p:nvSpPr>
          <p:cNvPr id="3" name="TextBox 2">
            <a:extLst>
              <a:ext uri="{FF2B5EF4-FFF2-40B4-BE49-F238E27FC236}">
                <a16:creationId xmlns:a16="http://schemas.microsoft.com/office/drawing/2014/main" id="{A1B0EA05-4A8C-ABD2-FCB4-4735B4BD4EF4}"/>
              </a:ext>
            </a:extLst>
          </p:cNvPr>
          <p:cNvSpPr txBox="1"/>
          <p:nvPr/>
        </p:nvSpPr>
        <p:spPr>
          <a:xfrm>
            <a:off x="84083" y="719832"/>
            <a:ext cx="11855668" cy="6001643"/>
          </a:xfrm>
          <a:prstGeom prst="rect">
            <a:avLst/>
          </a:prstGeom>
          <a:noFill/>
        </p:spPr>
        <p:txBody>
          <a:bodyPr wrap="square">
            <a:spAutoFit/>
          </a:bodyPr>
          <a:lstStyle/>
          <a:p>
            <a:r>
              <a:rPr lang="en-US" sz="2800" b="1" dirty="0"/>
              <a:t>One master: one place with a global view of the cluster</a:t>
            </a:r>
          </a:p>
          <a:p>
            <a:endParaRPr lang="en-US" sz="2000" dirty="0"/>
          </a:p>
          <a:p>
            <a:r>
              <a:rPr lang="en-US" sz="2800" b="1" dirty="0"/>
              <a:t>What it manages: the namespace, and every chunk</a:t>
            </a:r>
          </a:p>
          <a:p>
            <a:pPr marL="742950" lvl="1" indent="-285750">
              <a:buFont typeface="Arial" panose="020B0604020202020204" pitchFamily="34" charset="0"/>
              <a:buChar char="•"/>
            </a:pPr>
            <a:r>
              <a:rPr lang="en-US" sz="2400" dirty="0"/>
              <a:t>Where they are: file -&gt; chunks, chunk -&gt; replicas</a:t>
            </a:r>
          </a:p>
          <a:p>
            <a:pPr marL="742950" lvl="1" indent="-285750">
              <a:buFont typeface="Arial" panose="020B0604020202020204" pitchFamily="34" charset="0"/>
              <a:buChar char="•"/>
            </a:pPr>
            <a:r>
              <a:rPr lang="en-US" sz="2400" dirty="0"/>
              <a:t>Where to put new ones</a:t>
            </a:r>
          </a:p>
          <a:p>
            <a:pPr marL="742950" lvl="1" indent="-285750">
              <a:buFont typeface="Arial" panose="020B0604020202020204" pitchFamily="34" charset="0"/>
              <a:buChar char="•"/>
            </a:pPr>
            <a:r>
              <a:rPr lang="en-US" sz="2400" dirty="0"/>
              <a:t>When to re-replicate: failure, load balancing</a:t>
            </a:r>
          </a:p>
          <a:p>
            <a:pPr marL="742950" lvl="1" indent="-285750">
              <a:buFont typeface="Arial" panose="020B0604020202020204" pitchFamily="34" charset="0"/>
              <a:buChar char="•"/>
            </a:pPr>
            <a:r>
              <a:rPr lang="en-US" sz="2400" dirty="0"/>
              <a:t>When and what to delete: garbage collection</a:t>
            </a:r>
          </a:p>
          <a:p>
            <a:endParaRPr lang="en-US" sz="2000" dirty="0"/>
          </a:p>
          <a:p>
            <a:r>
              <a:rPr lang="en-US" sz="2800" b="1" dirty="0"/>
              <a:t>All metadata is kept in the master's memory, so lookups are fast</a:t>
            </a:r>
          </a:p>
          <a:p>
            <a:pPr marL="742950" lvl="1" indent="-285750">
              <a:buFont typeface="Arial" panose="020B0604020202020204" pitchFamily="34" charset="0"/>
              <a:buChar char="•"/>
            </a:pPr>
            <a:r>
              <a:rPr lang="en-US" sz="2400" dirty="0"/>
              <a:t>Under 64 B per 64 MB chunk, so 640 TB of data needs under 640 MB</a:t>
            </a:r>
          </a:p>
          <a:p>
            <a:endParaRPr lang="en-US" sz="2000" dirty="0"/>
          </a:p>
          <a:p>
            <a:r>
              <a:rPr lang="en-US" sz="2800" b="1" dirty="0"/>
              <a:t>Periodic heartbeats: chunkserver state out, master instructions back</a:t>
            </a:r>
          </a:p>
        </p:txBody>
      </p:sp>
    </p:spTree>
    <p:extLst>
      <p:ext uri="{BB962C8B-B14F-4D97-AF65-F5344CB8AC3E}">
        <p14:creationId xmlns:p14="http://schemas.microsoft.com/office/powerpoint/2010/main" val="23689175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dissolve">
                                      <p:cBhvr>
                                        <p:cTn id="7" dur="500"/>
                                        <p:tgtEl>
                                          <p:spTgt spid="3">
                                            <p:txEl>
                                              <p:pRg st="3" end="3"/>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4" end="4"/>
                                            </p:txEl>
                                          </p:spTgt>
                                        </p:tgtEl>
                                        <p:attrNameLst>
                                          <p:attrName>style.visibility</p:attrName>
                                        </p:attrNameLst>
                                      </p:cBhvr>
                                      <p:to>
                                        <p:strVal val="visible"/>
                                      </p:to>
                                    </p:set>
                                    <p:animEffect transition="in" filter="dissolve">
                                      <p:cBhvr>
                                        <p:cTn id="10" dur="500"/>
                                        <p:tgtEl>
                                          <p:spTgt spid="3">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animEffect transition="in" filter="dissolve">
                                      <p:cBhvr>
                                        <p:cTn id="13" dur="500"/>
                                        <p:tgtEl>
                                          <p:spTgt spid="3">
                                            <p:txEl>
                                              <p:pRg st="5" end="5"/>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6" end="6"/>
                                            </p:txEl>
                                          </p:spTgt>
                                        </p:tgtEl>
                                        <p:attrNameLst>
                                          <p:attrName>style.visibility</p:attrName>
                                        </p:attrNameLst>
                                      </p:cBhvr>
                                      <p:to>
                                        <p:strVal val="visible"/>
                                      </p:to>
                                    </p:set>
                                    <p:animEffect transition="in" filter="dissolve">
                                      <p:cBhvr>
                                        <p:cTn id="16" dur="500"/>
                                        <p:tgtEl>
                                          <p:spTgt spid="3">
                                            <p:txEl>
                                              <p:pRg st="6" end="6"/>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nodeType="click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animEffect transition="in" filter="dissolve">
                                      <p:cBhvr>
                                        <p:cTn id="21" dur="500"/>
                                        <p:tgtEl>
                                          <p:spTgt spid="3">
                                            <p:txEl>
                                              <p:pRg st="8" end="8"/>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3">
                                            <p:txEl>
                                              <p:pRg st="9" end="9"/>
                                            </p:txEl>
                                          </p:spTgt>
                                        </p:tgtEl>
                                        <p:attrNameLst>
                                          <p:attrName>style.visibility</p:attrName>
                                        </p:attrNameLst>
                                      </p:cBhvr>
                                      <p:to>
                                        <p:strVal val="visible"/>
                                      </p:to>
                                    </p:set>
                                    <p:animEffect transition="in" filter="dissolve">
                                      <p:cBhvr>
                                        <p:cTn id="24" dur="500"/>
                                        <p:tgtEl>
                                          <p:spTgt spid="3">
                                            <p:txEl>
                                              <p:pRg st="9" end="9"/>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animEffect transition="in" filter="dissolve">
                                      <p:cBhvr>
                                        <p:cTn id="27"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State: What Survives a Reboot?</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In memory, so lookups are fast</a:t>
            </a:r>
          </a:p>
          <a:p>
            <a:pPr marL="457200"/>
            <a:r>
              <a:rPr lang="en-US" sz="2800" b="0" dirty="0"/>
              <a:t>file name -&gt; array of chunk handles</a:t>
            </a:r>
          </a:p>
          <a:p>
            <a:pPr marL="457200"/>
            <a:r>
              <a:rPr lang="en-US" sz="2800" b="0" dirty="0"/>
              <a:t>chunk handle -&gt; version number, replica list, primary, lease expiry</a:t>
            </a:r>
          </a:p>
          <a:p>
            <a:r>
              <a:rPr lang="en-US" sz="3200" b="1" dirty="0"/>
              <a:t>On disk: an operation log plus checkpoints</a:t>
            </a:r>
          </a:p>
          <a:p>
            <a:pPr marL="457200"/>
            <a:r>
              <a:rPr lang="en-US" sz="2800" b="0" dirty="0"/>
              <a:t>Written: the file-to-chunk mapping, and the chunk version numbers</a:t>
            </a:r>
          </a:p>
          <a:p>
            <a:pPr marL="457200"/>
            <a:r>
              <a:rPr lang="en-US" sz="2800" b="0" dirty="0"/>
              <a:t>Not written: replica list, primary, lease expiry - they are rebuilt</a:t>
            </a:r>
          </a:p>
          <a:p>
            <a:r>
              <a:rPr lang="en-US" sz="3200" b="1" dirty="0"/>
              <a:t>After a reboot</a:t>
            </a:r>
          </a:p>
          <a:p>
            <a:pPr marL="457200"/>
            <a:r>
              <a:rPr lang="en-US" sz="2800" b="0" dirty="0"/>
              <a:t>Replay the log from the last checkpoint, ask chunkservers what they hold</a:t>
            </a:r>
          </a:p>
          <a:p>
            <a:pPr marL="457200"/>
            <a:r>
              <a:rPr lang="en-US" sz="2800" b="0" dirty="0"/>
              <a:t>Wait one lease time before naming any new primary</a:t>
            </a:r>
          </a:p>
        </p:txBody>
      </p:sp>
    </p:spTree>
    <p:extLst>
      <p:ext uri="{BB962C8B-B14F-4D97-AF65-F5344CB8AC3E}">
        <p14:creationId xmlns:p14="http://schemas.microsoft.com/office/powerpoint/2010/main" val="1720670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dissolve">
                                      <p:cBhvr>
                                        <p:cTn id="7" dur="500"/>
                                        <p:tgtEl>
                                          <p:spTgt spid="3">
                                            <p:txEl>
                                              <p:pRg st="3" end="3"/>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4" end="4"/>
                                            </p:txEl>
                                          </p:spTgt>
                                        </p:tgtEl>
                                        <p:attrNameLst>
                                          <p:attrName>style.visibility</p:attrName>
                                        </p:attrNameLst>
                                      </p:cBhvr>
                                      <p:to>
                                        <p:strVal val="visible"/>
                                      </p:to>
                                    </p:set>
                                    <p:animEffect transition="in" filter="dissolve">
                                      <p:cBhvr>
                                        <p:cTn id="10" dur="500"/>
                                        <p:tgtEl>
                                          <p:spTgt spid="3">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animEffect transition="in" filter="dissolve">
                                      <p:cBhvr>
                                        <p:cTn id="13" dur="500"/>
                                        <p:tgtEl>
                                          <p:spTgt spid="3">
                                            <p:txEl>
                                              <p:pRg st="5" end="5"/>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dissolve">
                                      <p:cBhvr>
                                        <p:cTn id="18" dur="500"/>
                                        <p:tgtEl>
                                          <p:spTgt spid="3">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dissolve">
                                      <p:cBhvr>
                                        <p:cTn id="21" dur="500"/>
                                        <p:tgtEl>
                                          <p:spTgt spid="3">
                                            <p:txEl>
                                              <p:pRg st="7" end="7"/>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3">
                                            <p:txEl>
                                              <p:pRg st="8" end="8"/>
                                            </p:txEl>
                                          </p:spTgt>
                                        </p:tgtEl>
                                        <p:attrNameLst>
                                          <p:attrName>style.visibility</p:attrName>
                                        </p:attrNameLst>
                                      </p:cBhvr>
                                      <p:to>
                                        <p:strVal val="visible"/>
                                      </p:to>
                                    </p:set>
                                    <p:animEffect transition="in" filter="dissolve">
                                      <p:cBhvr>
                                        <p:cTn id="24"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8485F-76FD-D862-018B-1C962C6F0CA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1BDF22B-4E91-2801-1982-FB9BC3379D6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Chunk Servers</a:t>
            </a:r>
          </a:p>
        </p:txBody>
      </p:sp>
      <p:sp>
        <p:nvSpPr>
          <p:cNvPr id="8" name="Slide Number Placeholder 4">
            <a:extLst>
              <a:ext uri="{FF2B5EF4-FFF2-40B4-BE49-F238E27FC236}">
                <a16:creationId xmlns:a16="http://schemas.microsoft.com/office/drawing/2014/main" id="{D6D0FA67-10D7-411A-7872-72C02B241EA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26</a:t>
            </a:fld>
            <a:endParaRPr lang="en-US"/>
          </a:p>
        </p:txBody>
      </p:sp>
      <p:sp>
        <p:nvSpPr>
          <p:cNvPr id="3" name="TextBox 2">
            <a:extLst>
              <a:ext uri="{FF2B5EF4-FFF2-40B4-BE49-F238E27FC236}">
                <a16:creationId xmlns:a16="http://schemas.microsoft.com/office/drawing/2014/main" id="{74FF273F-93E0-87A9-B6C7-BD152A1C0987}"/>
              </a:ext>
            </a:extLst>
          </p:cNvPr>
          <p:cNvSpPr txBox="1"/>
          <p:nvPr/>
        </p:nvSpPr>
        <p:spPr>
          <a:xfrm>
            <a:off x="84083" y="1137433"/>
            <a:ext cx="9007365" cy="3170099"/>
          </a:xfrm>
          <a:prstGeom prst="rect">
            <a:avLst/>
          </a:prstGeom>
          <a:noFill/>
        </p:spPr>
        <p:txBody>
          <a:bodyPr wrap="square">
            <a:spAutoFit/>
          </a:bodyPr>
          <a:lstStyle/>
          <a:p>
            <a:r>
              <a:rPr lang="en-US" sz="2800" b="1" dirty="0"/>
              <a:t>64MB chunks as Linux files </a:t>
            </a:r>
          </a:p>
          <a:p>
            <a:pPr marL="742950" lvl="1" indent="-285750">
              <a:buFont typeface="Arial" panose="020B0604020202020204" pitchFamily="34" charset="0"/>
              <a:buChar char="•"/>
            </a:pPr>
            <a:r>
              <a:rPr lang="en-US" sz="2400" dirty="0"/>
              <a:t>Reduce size of the master data structures </a:t>
            </a:r>
          </a:p>
          <a:p>
            <a:pPr marL="742950" lvl="1" indent="-285750">
              <a:buFont typeface="Arial" panose="020B0604020202020204" pitchFamily="34" charset="0"/>
              <a:buChar char="•"/>
            </a:pPr>
            <a:r>
              <a:rPr lang="en-US" sz="2400" dirty="0"/>
              <a:t>Reduce client-master interaction </a:t>
            </a:r>
          </a:p>
          <a:p>
            <a:pPr marL="742950" lvl="1" indent="-285750">
              <a:buFont typeface="Arial" panose="020B0604020202020204" pitchFamily="34" charset="0"/>
              <a:buChar char="•"/>
            </a:pPr>
            <a:r>
              <a:rPr lang="en-US" sz="2400" dirty="0"/>
              <a:t>Internal fragmentation =&gt; allocate space lazily </a:t>
            </a:r>
          </a:p>
          <a:p>
            <a:endParaRPr lang="en-US" sz="2400" dirty="0"/>
          </a:p>
          <a:p>
            <a:r>
              <a:rPr lang="en-US" sz="2800" b="1" dirty="0"/>
              <a:t>Fault tolerance </a:t>
            </a:r>
          </a:p>
          <a:p>
            <a:pPr marL="742950" lvl="1" indent="-285750">
              <a:buFont typeface="Arial" panose="020B0604020202020204" pitchFamily="34" charset="0"/>
              <a:buChar char="•"/>
            </a:pPr>
            <a:r>
              <a:rPr lang="en-US" sz="2400" dirty="0"/>
              <a:t>Heart-beat to the master </a:t>
            </a:r>
          </a:p>
          <a:p>
            <a:pPr marL="742950" lvl="1" indent="-285750">
              <a:buFont typeface="Arial" panose="020B0604020202020204" pitchFamily="34" charset="0"/>
              <a:buChar char="•"/>
            </a:pPr>
            <a:r>
              <a:rPr lang="en-US" sz="2400" dirty="0"/>
              <a:t>Something wrong =&gt; master </a:t>
            </a:r>
            <a:r>
              <a:rPr lang="en-US" sz="2400" dirty="0" err="1"/>
              <a:t>inits</a:t>
            </a:r>
            <a:r>
              <a:rPr lang="en-US" sz="2400" dirty="0"/>
              <a:t> replication </a:t>
            </a:r>
          </a:p>
        </p:txBody>
      </p:sp>
    </p:spTree>
    <p:extLst>
      <p:ext uri="{BB962C8B-B14F-4D97-AF65-F5344CB8AC3E}">
        <p14:creationId xmlns:p14="http://schemas.microsoft.com/office/powerpoint/2010/main" val="17938897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Data Integrity: Checksums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Each chunkserver checks its own data</a:t>
            </a:r>
          </a:p>
          <a:p>
            <a:pPr marL="457200"/>
            <a:r>
              <a:rPr lang="en-US" sz="2800" b="0" dirty="0"/>
              <a:t>A 32-bit checksum for every 64 KB block, kept in memory and logged to disk</a:t>
            </a:r>
          </a:p>
          <a:p>
            <a:pPr marL="457200"/>
            <a:r>
              <a:rPr lang="en-US" sz="2800" b="0" dirty="0"/>
              <a:t>Verified before any data is returned to a client or copied to another replica</a:t>
            </a:r>
          </a:p>
          <a:p>
            <a:pPr marL="457200"/>
            <a:r>
              <a:rPr lang="en-US" sz="2800" b="0" dirty="0"/>
              <a:t>A bad block is reported to the master, which clones a good replica and drops the bad one</a:t>
            </a:r>
          </a:p>
          <a:p>
            <a:r>
              <a:rPr lang="en-US" sz="3200" b="1" dirty="0"/>
              <a:t>Disks fail quietly, so someone has to look</a:t>
            </a:r>
          </a:p>
          <a:p>
            <a:pPr marL="457200"/>
            <a:r>
              <a:rPr lang="en-US" sz="2800" b="0" dirty="0"/>
              <a:t>The master never compares checksums; the chunkserver holding the data does</a:t>
            </a:r>
          </a:p>
          <a:p>
            <a:pPr marL="457200"/>
            <a:r>
              <a:rPr lang="en-US" sz="2800" b="0" dirty="0"/>
              <a:t>Checksums are most of what a chunkserver stores besides the data itself</a:t>
            </a:r>
          </a:p>
        </p:txBody>
      </p:sp>
    </p:spTree>
    <p:extLst>
      <p:ext uri="{BB962C8B-B14F-4D97-AF65-F5344CB8AC3E}">
        <p14:creationId xmlns:p14="http://schemas.microsoft.com/office/powerpoint/2010/main" val="172067069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396A3D-163E-7287-3C0E-9D5445AE167C}"/>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A281732-FCF6-7343-CCD8-1FEA36A57EE9}"/>
              </a:ext>
            </a:extLst>
          </p:cNvPr>
          <p:cNvSpPr>
            <a:spLocks noGrp="1"/>
          </p:cNvSpPr>
          <p:nvPr>
            <p:ph type="title"/>
          </p:nvPr>
        </p:nvSpPr>
        <p:spPr>
          <a:xfrm>
            <a:off x="1" y="2774732"/>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Basic Ops ( Read, Write)</a:t>
            </a:r>
          </a:p>
        </p:txBody>
      </p:sp>
      <p:sp>
        <p:nvSpPr>
          <p:cNvPr id="8" name="Slide Number Placeholder 4">
            <a:extLst>
              <a:ext uri="{FF2B5EF4-FFF2-40B4-BE49-F238E27FC236}">
                <a16:creationId xmlns:a16="http://schemas.microsoft.com/office/drawing/2014/main" id="{FF6D1714-FEBE-B10D-9687-7C26182098C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28</a:t>
            </a:fld>
            <a:endParaRPr lang="en-US"/>
          </a:p>
        </p:txBody>
      </p:sp>
    </p:spTree>
    <p:extLst>
      <p:ext uri="{BB962C8B-B14F-4D97-AF65-F5344CB8AC3E}">
        <p14:creationId xmlns:p14="http://schemas.microsoft.com/office/powerpoint/2010/main" val="16574235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1B413-C534-2EFE-803A-7FF1A301E95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6ACEC64-07F8-A81F-9ED0-4B2AF7C738E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Read A File?</a:t>
            </a:r>
          </a:p>
        </p:txBody>
      </p:sp>
      <p:sp>
        <p:nvSpPr>
          <p:cNvPr id="8" name="Slide Number Placeholder 4">
            <a:extLst>
              <a:ext uri="{FF2B5EF4-FFF2-40B4-BE49-F238E27FC236}">
                <a16:creationId xmlns:a16="http://schemas.microsoft.com/office/drawing/2014/main" id="{441743BB-16C3-E865-3DA1-972A63BFF18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29</a:t>
            </a:fld>
            <a:endParaRPr lang="en-US"/>
          </a:p>
        </p:txBody>
      </p:sp>
      <p:sp>
        <p:nvSpPr>
          <p:cNvPr id="3" name="TextBox 2">
            <a:extLst>
              <a:ext uri="{FF2B5EF4-FFF2-40B4-BE49-F238E27FC236}">
                <a16:creationId xmlns:a16="http://schemas.microsoft.com/office/drawing/2014/main" id="{DA3485F0-3220-17BD-54F0-AC0027F26F2F}"/>
              </a:ext>
            </a:extLst>
          </p:cNvPr>
          <p:cNvSpPr txBox="1"/>
          <p:nvPr/>
        </p:nvSpPr>
        <p:spPr>
          <a:xfrm>
            <a:off x="199697" y="930315"/>
            <a:ext cx="10857186" cy="5262979"/>
          </a:xfrm>
          <a:prstGeom prst="rect">
            <a:avLst/>
          </a:prstGeom>
          <a:noFill/>
        </p:spPr>
        <p:txBody>
          <a:bodyPr wrap="square">
            <a:spAutoFit/>
          </a:bodyPr>
          <a:lstStyle/>
          <a:p>
            <a:r>
              <a:rPr lang="en-US" sz="2400" dirty="0">
                <a:effectLst/>
              </a:rPr>
              <a:t>1. </a:t>
            </a:r>
            <a:r>
              <a:rPr lang="en-US" sz="2800" dirty="0">
                <a:effectLst/>
              </a:rPr>
              <a:t>C sends filename and offset to master M (if not cached)</a:t>
            </a:r>
          </a:p>
          <a:p>
            <a:pPr marL="800100" lvl="1" indent="-342900">
              <a:buFont typeface="Arial" panose="020B0604020202020204" pitchFamily="34" charset="0"/>
              <a:buChar char="•"/>
            </a:pPr>
            <a:r>
              <a:rPr lang="en-US" sz="2400" dirty="0">
                <a:effectLst/>
              </a:rPr>
              <a:t>M has a filename -&gt; array-of-chunk handle table and a chunk handle -&gt; list-of-chunk servers table</a:t>
            </a:r>
          </a:p>
          <a:p>
            <a:endParaRPr lang="en-US" sz="2400" dirty="0"/>
          </a:p>
          <a:p>
            <a:r>
              <a:rPr lang="en-US" sz="2800" dirty="0">
                <a:effectLst/>
              </a:rPr>
              <a:t>2. M finds chunk handle for that offset</a:t>
            </a:r>
          </a:p>
          <a:p>
            <a:endParaRPr lang="en-US" sz="2400" dirty="0"/>
          </a:p>
          <a:p>
            <a:r>
              <a:rPr lang="en-US" sz="2800" dirty="0">
                <a:effectLst/>
              </a:rPr>
              <a:t>3. M replies with chunk handle + list of chunk servers</a:t>
            </a:r>
          </a:p>
          <a:p>
            <a:endParaRPr lang="en-US" sz="2400" dirty="0">
              <a:effectLst/>
            </a:endParaRPr>
          </a:p>
          <a:p>
            <a:r>
              <a:rPr lang="en-US" sz="2800" dirty="0">
                <a:effectLst/>
              </a:rPr>
              <a:t>4. C caches handle + chunk server list</a:t>
            </a:r>
          </a:p>
          <a:p>
            <a:endParaRPr lang="en-US" sz="2400" dirty="0">
              <a:effectLst/>
            </a:endParaRPr>
          </a:p>
          <a:p>
            <a:r>
              <a:rPr lang="en-US" sz="2800" dirty="0">
                <a:effectLst/>
              </a:rPr>
              <a:t>5. C sends request to nearest chunk server</a:t>
            </a:r>
            <a:r>
              <a:rPr lang="en-US" sz="2800" dirty="0"/>
              <a:t> </a:t>
            </a:r>
            <a:r>
              <a:rPr lang="en-US" sz="2800" dirty="0">
                <a:effectLst/>
              </a:rPr>
              <a:t>chunk handle, offset</a:t>
            </a:r>
          </a:p>
          <a:p>
            <a:endParaRPr lang="en-US" sz="2400" dirty="0">
              <a:effectLst/>
            </a:endParaRPr>
          </a:p>
          <a:p>
            <a:r>
              <a:rPr lang="en-US" sz="2800" dirty="0">
                <a:effectLst/>
              </a:rPr>
              <a:t>6. chunk server reads from chunk file on disk, returns to client</a:t>
            </a:r>
          </a:p>
        </p:txBody>
      </p:sp>
    </p:spTree>
    <p:extLst>
      <p:ext uri="{BB962C8B-B14F-4D97-AF65-F5344CB8AC3E}">
        <p14:creationId xmlns:p14="http://schemas.microsoft.com/office/powerpoint/2010/main" val="314119100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CAC8A-556B-B2D2-CA23-1DAC9EEA9D9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DD9421F6-F0F7-1F21-A3C4-6D8EB2B999F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Read a File</a:t>
            </a:r>
          </a:p>
        </p:txBody>
      </p:sp>
      <p:sp>
        <p:nvSpPr>
          <p:cNvPr id="8" name="Slide Number Placeholder 4">
            <a:extLst>
              <a:ext uri="{FF2B5EF4-FFF2-40B4-BE49-F238E27FC236}">
                <a16:creationId xmlns:a16="http://schemas.microsoft.com/office/drawing/2014/main" id="{AFAD2135-2CA0-85FE-083B-9B9F35199462}"/>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30</a:t>
            </a:fld>
            <a:endParaRPr lang="en-US"/>
          </a:p>
        </p:txBody>
      </p:sp>
      <p:sp>
        <p:nvSpPr>
          <p:cNvPr id="4" name="TextBox 3">
            <a:extLst>
              <a:ext uri="{FF2B5EF4-FFF2-40B4-BE49-F238E27FC236}">
                <a16:creationId xmlns:a16="http://schemas.microsoft.com/office/drawing/2014/main" id="{FDAB6517-27B7-AB4C-4BE5-530302281E94}"/>
              </a:ext>
            </a:extLst>
          </p:cNvPr>
          <p:cNvSpPr txBox="1"/>
          <p:nvPr/>
        </p:nvSpPr>
        <p:spPr>
          <a:xfrm>
            <a:off x="78028" y="941411"/>
            <a:ext cx="10653033" cy="2862322"/>
          </a:xfrm>
          <a:prstGeom prst="rect">
            <a:avLst/>
          </a:prstGeom>
          <a:noFill/>
        </p:spPr>
        <p:txBody>
          <a:bodyPr wrap="square">
            <a:spAutoFit/>
          </a:bodyPr>
          <a:lstStyle/>
          <a:p>
            <a:r>
              <a:rPr lang="en-US" sz="2800" b="1" dirty="0">
                <a:effectLst/>
              </a:rPr>
              <a:t>Clients only ask master where to find a file's chunks</a:t>
            </a:r>
          </a:p>
          <a:p>
            <a:pPr marL="800100" lvl="1" indent="-342900">
              <a:buFont typeface="Arial" panose="020B0604020202020204" pitchFamily="34" charset="0"/>
              <a:buChar char="•"/>
            </a:pPr>
            <a:r>
              <a:rPr lang="en-US" sz="2400" dirty="0"/>
              <a:t>c</a:t>
            </a:r>
            <a:r>
              <a:rPr lang="en-US" sz="2400" dirty="0">
                <a:effectLst/>
              </a:rPr>
              <a:t>lients cache name -&gt; chunk handle info</a:t>
            </a:r>
          </a:p>
          <a:p>
            <a:pPr marL="800100" lvl="1" indent="-342900">
              <a:buFont typeface="Arial" panose="020B0604020202020204" pitchFamily="34" charset="0"/>
              <a:buChar char="•"/>
            </a:pPr>
            <a:r>
              <a:rPr lang="en-US" sz="2400" dirty="0">
                <a:effectLst/>
              </a:rPr>
              <a:t>coordinator does not handle data, so (hopefully) not heavily loaded</a:t>
            </a:r>
          </a:p>
          <a:p>
            <a:endParaRPr lang="en-US" sz="2400" dirty="0">
              <a:effectLst/>
            </a:endParaRPr>
          </a:p>
          <a:p>
            <a:r>
              <a:rPr lang="en-US" sz="2800" b="1" dirty="0">
                <a:effectLst/>
              </a:rPr>
              <a:t>What about writes?</a:t>
            </a:r>
          </a:p>
          <a:p>
            <a:pPr marL="800100" lvl="1" indent="-342900">
              <a:buFont typeface="Arial" panose="020B0604020202020204" pitchFamily="34" charset="0"/>
              <a:buChar char="•"/>
            </a:pPr>
            <a:r>
              <a:rPr lang="en-US" sz="2400" dirty="0">
                <a:effectLst/>
              </a:rPr>
              <a:t>Client knows which chunk servers hold replicas that must be updated.</a:t>
            </a:r>
          </a:p>
          <a:p>
            <a:pPr marL="800100" lvl="1" indent="-342900">
              <a:buFont typeface="Arial" panose="020B0604020202020204" pitchFamily="34" charset="0"/>
              <a:buChar char="•"/>
            </a:pPr>
            <a:r>
              <a:rPr lang="en-US" sz="2400" dirty="0">
                <a:effectLst/>
              </a:rPr>
              <a:t>How should we manage updating of replicas of a chunk</a:t>
            </a:r>
          </a:p>
        </p:txBody>
      </p:sp>
    </p:spTree>
    <p:extLst>
      <p:ext uri="{BB962C8B-B14F-4D97-AF65-F5344CB8AC3E}">
        <p14:creationId xmlns:p14="http://schemas.microsoft.com/office/powerpoint/2010/main" val="25445032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
                                            <p:txEl>
                                              <p:pRg st="4" end="4"/>
                                            </p:txEl>
                                          </p:spTgt>
                                        </p:tgtEl>
                                        <p:attrNameLst>
                                          <p:attrName>style.visibility</p:attrName>
                                        </p:attrNameLst>
                                      </p:cBhvr>
                                      <p:to>
                                        <p:strVal val="visible"/>
                                      </p:to>
                                    </p:set>
                                    <p:animEffect transition="in" filter="dissolve">
                                      <p:cBhvr>
                                        <p:cTn id="7" dur="500"/>
                                        <p:tgtEl>
                                          <p:spTgt spid="4">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
                                            <p:txEl>
                                              <p:pRg st="5" end="5"/>
                                            </p:txEl>
                                          </p:spTgt>
                                        </p:tgtEl>
                                        <p:attrNameLst>
                                          <p:attrName>style.visibility</p:attrName>
                                        </p:attrNameLst>
                                      </p:cBhvr>
                                      <p:to>
                                        <p:strVal val="visible"/>
                                      </p:to>
                                    </p:set>
                                    <p:animEffect transition="in" filter="dissolve">
                                      <p:cBhvr>
                                        <p:cTn id="10" dur="500"/>
                                        <p:tgtEl>
                                          <p:spTgt spid="4">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4">
                                            <p:txEl>
                                              <p:pRg st="6" end="6"/>
                                            </p:txEl>
                                          </p:spTgt>
                                        </p:tgtEl>
                                        <p:attrNameLst>
                                          <p:attrName>style.visibility</p:attrName>
                                        </p:attrNameLst>
                                      </p:cBhvr>
                                      <p:to>
                                        <p:strVal val="visible"/>
                                      </p:to>
                                    </p:set>
                                    <p:animEffect transition="in" filter="dissolve">
                                      <p:cBhvr>
                                        <p:cTn id="13" dur="500"/>
                                        <p:tgtEl>
                                          <p:spTgt spid="4">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4">
                                            <p:txEl>
                                              <p:pRg st="4" end="4"/>
                                            </p:txEl>
                                          </p:spTgt>
                                        </p:tgtEl>
                                        <p:attrNameLst>
                                          <p:attrName>style.visibility</p:attrName>
                                        </p:attrNameLst>
                                      </p:cBhvr>
                                      <p:to>
                                        <p:strVal val="visible"/>
                                      </p:to>
                                    </p:set>
                                    <p:animEffect transition="in" filter="dissolve">
                                      <p:cBhvr>
                                        <p:cTn id="18" dur="500"/>
                                        <p:tgtEl>
                                          <p:spTgt spid="4">
                                            <p:txEl>
                                              <p:pRg st="4" end="4"/>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animEffect transition="in" filter="dissolve">
                                      <p:cBhvr>
                                        <p:cTn id="21" dur="500"/>
                                        <p:tgtEl>
                                          <p:spTgt spid="4">
                                            <p:txEl>
                                              <p:pRg st="5" end="5"/>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4">
                                            <p:txEl>
                                              <p:pRg st="6" end="6"/>
                                            </p:txEl>
                                          </p:spTgt>
                                        </p:tgtEl>
                                        <p:attrNameLst>
                                          <p:attrName>style.visibility</p:attrName>
                                        </p:attrNameLst>
                                      </p:cBhvr>
                                      <p:to>
                                        <p:strVal val="visible"/>
                                      </p:to>
                                    </p:set>
                                    <p:animEffect transition="in" filter="dissolve">
                                      <p:cBhvr>
                                        <p:cTn id="24" dur="500"/>
                                        <p:tgtEl>
                                          <p:spTgt spid="4">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E1F19F-1734-93BF-67B8-ADD2174B522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9D8DABD-8446-BA0E-64C9-9A6FA64F77F7}"/>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Solution: Primary/Secondary Replication</a:t>
            </a:r>
          </a:p>
        </p:txBody>
      </p:sp>
      <p:sp>
        <p:nvSpPr>
          <p:cNvPr id="8" name="Slide Number Placeholder 4">
            <a:extLst>
              <a:ext uri="{FF2B5EF4-FFF2-40B4-BE49-F238E27FC236}">
                <a16:creationId xmlns:a16="http://schemas.microsoft.com/office/drawing/2014/main" id="{162670CA-DD32-FEE9-419F-27DA78130D6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31</a:t>
            </a:fld>
            <a:endParaRPr lang="en-US"/>
          </a:p>
        </p:txBody>
      </p:sp>
      <p:sp>
        <p:nvSpPr>
          <p:cNvPr id="3" name="TextBox 2">
            <a:extLst>
              <a:ext uri="{FF2B5EF4-FFF2-40B4-BE49-F238E27FC236}">
                <a16:creationId xmlns:a16="http://schemas.microsoft.com/office/drawing/2014/main" id="{A4F20FFF-411E-E7DF-0C6E-FB3B3C70923D}"/>
              </a:ext>
            </a:extLst>
          </p:cNvPr>
          <p:cNvSpPr txBox="1"/>
          <p:nvPr/>
        </p:nvSpPr>
        <p:spPr>
          <a:xfrm>
            <a:off x="118240" y="1042160"/>
            <a:ext cx="11056884" cy="3662541"/>
          </a:xfrm>
          <a:prstGeom prst="rect">
            <a:avLst/>
          </a:prstGeom>
          <a:noFill/>
        </p:spPr>
        <p:txBody>
          <a:bodyPr wrap="square">
            <a:spAutoFit/>
          </a:bodyPr>
          <a:lstStyle/>
          <a:p>
            <a:r>
              <a:rPr lang="en-US" sz="2800" b="1" dirty="0">
                <a:effectLst/>
              </a:rPr>
              <a:t>For each chunk, designate one server as "primary".</a:t>
            </a:r>
          </a:p>
          <a:p>
            <a:endParaRPr lang="en-US" sz="2400" dirty="0">
              <a:effectLst/>
            </a:endParaRPr>
          </a:p>
          <a:p>
            <a:r>
              <a:rPr lang="en-US" sz="2800" b="1" dirty="0">
                <a:effectLst/>
              </a:rPr>
              <a:t>Clients send write requests just to the primary.</a:t>
            </a:r>
          </a:p>
          <a:p>
            <a:pPr marL="800100" lvl="1" indent="-342900">
              <a:buFont typeface="Arial" panose="020B0604020202020204" pitchFamily="34" charset="0"/>
              <a:buChar char="•"/>
            </a:pPr>
            <a:r>
              <a:rPr lang="en-US" sz="2400" dirty="0">
                <a:effectLst/>
              </a:rPr>
              <a:t>The primary alone manages interactions with secondary servers.</a:t>
            </a:r>
          </a:p>
          <a:p>
            <a:pPr marL="800100" lvl="1" indent="-342900">
              <a:buFont typeface="Arial" panose="020B0604020202020204" pitchFamily="34" charset="0"/>
              <a:buChar char="•"/>
            </a:pPr>
            <a:r>
              <a:rPr lang="en-US" sz="2400" dirty="0">
                <a:effectLst/>
              </a:rPr>
              <a:t>(Some designs send reads just to primary, some also to secondaries)</a:t>
            </a:r>
          </a:p>
          <a:p>
            <a:pPr marL="800100" lvl="1" indent="-342900">
              <a:buFont typeface="Arial" panose="020B0604020202020204" pitchFamily="34" charset="0"/>
              <a:buChar char="•"/>
            </a:pPr>
            <a:endParaRPr lang="en-US" sz="2400" dirty="0">
              <a:effectLst/>
            </a:endParaRPr>
          </a:p>
          <a:p>
            <a:r>
              <a:rPr lang="en-US" sz="2800" b="1" dirty="0">
                <a:effectLst/>
              </a:rPr>
              <a:t>The primary chooses the order for all client writes.</a:t>
            </a:r>
          </a:p>
          <a:p>
            <a:pPr marL="800100" lvl="1" indent="-342900">
              <a:buFont typeface="Arial" panose="020B0604020202020204" pitchFamily="34" charset="0"/>
              <a:buChar char="•"/>
            </a:pPr>
            <a:r>
              <a:rPr lang="en-US" sz="2400" dirty="0">
                <a:effectLst/>
              </a:rPr>
              <a:t>Tells the secondaries -- with sequence numbers -- so all replicas</a:t>
            </a:r>
          </a:p>
          <a:p>
            <a:pPr marL="800100" lvl="1" indent="-342900">
              <a:buFont typeface="Arial" panose="020B0604020202020204" pitchFamily="34" charset="0"/>
              <a:buChar char="•"/>
            </a:pPr>
            <a:r>
              <a:rPr lang="en-US" sz="2400" dirty="0">
                <a:effectLst/>
              </a:rPr>
              <a:t>apply writes in the same order, even for concurrent client writes.</a:t>
            </a:r>
          </a:p>
        </p:txBody>
      </p:sp>
    </p:spTree>
    <p:extLst>
      <p:ext uri="{BB962C8B-B14F-4D97-AF65-F5344CB8AC3E}">
        <p14:creationId xmlns:p14="http://schemas.microsoft.com/office/powerpoint/2010/main" val="389830171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BE727B-5074-8E30-D1DB-C1EF84C9004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1CB4667E-E19D-76F9-754F-AC7741FFA07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Write </a:t>
            </a:r>
          </a:p>
        </p:txBody>
      </p:sp>
      <p:sp>
        <p:nvSpPr>
          <p:cNvPr id="8" name="Slide Number Placeholder 4">
            <a:extLst>
              <a:ext uri="{FF2B5EF4-FFF2-40B4-BE49-F238E27FC236}">
                <a16:creationId xmlns:a16="http://schemas.microsoft.com/office/drawing/2014/main" id="{469B72AD-0626-70A9-F346-07C3124E972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32</a:t>
            </a:fld>
            <a:endParaRPr lang="en-US"/>
          </a:p>
        </p:txBody>
      </p:sp>
      <p:sp>
        <p:nvSpPr>
          <p:cNvPr id="3" name="TextBox 2">
            <a:extLst>
              <a:ext uri="{FF2B5EF4-FFF2-40B4-BE49-F238E27FC236}">
                <a16:creationId xmlns:a16="http://schemas.microsoft.com/office/drawing/2014/main" id="{08D3D663-5A53-DB28-CDA3-70DD34820083}"/>
              </a:ext>
            </a:extLst>
          </p:cNvPr>
          <p:cNvSpPr txBox="1"/>
          <p:nvPr/>
        </p:nvSpPr>
        <p:spPr>
          <a:xfrm>
            <a:off x="199696" y="604312"/>
            <a:ext cx="10079421" cy="6186309"/>
          </a:xfrm>
          <a:prstGeom prst="rect">
            <a:avLst/>
          </a:prstGeom>
          <a:noFill/>
        </p:spPr>
        <p:txBody>
          <a:bodyPr wrap="square">
            <a:spAutoFit/>
          </a:bodyPr>
          <a:lstStyle/>
          <a:p>
            <a:r>
              <a:rPr lang="en-US" sz="2400" dirty="0">
                <a:effectLst/>
              </a:rPr>
              <a:t>1. C asks </a:t>
            </a:r>
            <a:r>
              <a:rPr lang="en-US" sz="2400" dirty="0"/>
              <a:t>M</a:t>
            </a:r>
            <a:r>
              <a:rPr lang="en-US" sz="2400" dirty="0">
                <a:effectLst/>
              </a:rPr>
              <a:t> about file's chunk @ offset</a:t>
            </a:r>
          </a:p>
          <a:p>
            <a:pPr marL="457200" indent="-457200">
              <a:buAutoNum type="arabicPeriod"/>
            </a:pPr>
            <a:endParaRPr lang="en-US" dirty="0">
              <a:effectLst/>
            </a:endParaRPr>
          </a:p>
          <a:p>
            <a:r>
              <a:rPr lang="en-US" sz="2400" dirty="0">
                <a:effectLst/>
              </a:rPr>
              <a:t>2. M tells C the primary and secondaries</a:t>
            </a:r>
          </a:p>
          <a:p>
            <a:endParaRPr lang="en-US" dirty="0">
              <a:effectLst/>
            </a:endParaRPr>
          </a:p>
          <a:p>
            <a:r>
              <a:rPr lang="en-US" sz="2400" dirty="0">
                <a:effectLst/>
              </a:rPr>
              <a:t>3. C sends data to all (just temporary...), waits for all replies (?)</a:t>
            </a:r>
          </a:p>
          <a:p>
            <a:endParaRPr lang="en-US" dirty="0">
              <a:effectLst/>
            </a:endParaRPr>
          </a:p>
          <a:p>
            <a:r>
              <a:rPr lang="en-US" sz="2400" dirty="0">
                <a:effectLst/>
              </a:rPr>
              <a:t>4. C asks P to write</a:t>
            </a:r>
          </a:p>
          <a:p>
            <a:pPr marL="742950" lvl="1" indent="-285750">
              <a:buFont typeface="Arial" panose="020B0604020202020204" pitchFamily="34" charset="0"/>
              <a:buChar char="•"/>
            </a:pPr>
            <a:r>
              <a:rPr lang="en-US" sz="2400" dirty="0">
                <a:effectLst/>
              </a:rPr>
              <a:t>P checks that lease (?) hasn't expired</a:t>
            </a:r>
          </a:p>
          <a:p>
            <a:pPr marL="742950" lvl="1" indent="-285750">
              <a:buFont typeface="Arial" panose="020B0604020202020204" pitchFamily="34" charset="0"/>
              <a:buChar char="•"/>
            </a:pPr>
            <a:r>
              <a:rPr lang="en-US" sz="2400" dirty="0">
                <a:effectLst/>
              </a:rPr>
              <a:t>P writes its own chunk file (a Linux file)</a:t>
            </a:r>
          </a:p>
          <a:p>
            <a:pPr marL="742950" lvl="1" indent="-285750">
              <a:buFont typeface="Arial" panose="020B0604020202020204" pitchFamily="34" charset="0"/>
              <a:buChar char="•"/>
            </a:pPr>
            <a:endParaRPr lang="en-US" dirty="0">
              <a:effectLst/>
            </a:endParaRPr>
          </a:p>
          <a:p>
            <a:r>
              <a:rPr lang="en-US" sz="2400" dirty="0">
                <a:effectLst/>
              </a:rPr>
              <a:t>5. P tells each secondary to write</a:t>
            </a:r>
          </a:p>
          <a:p>
            <a:pPr marL="742950" lvl="1" indent="-285750">
              <a:buFont typeface="Arial" panose="020B0604020202020204" pitchFamily="34" charset="0"/>
              <a:buChar char="•"/>
            </a:pPr>
            <a:r>
              <a:rPr lang="en-US" sz="2400" dirty="0">
                <a:effectLst/>
              </a:rPr>
              <a:t>(copy temporary into chunk file)</a:t>
            </a:r>
          </a:p>
          <a:p>
            <a:endParaRPr lang="en-US" dirty="0"/>
          </a:p>
          <a:p>
            <a:r>
              <a:rPr lang="en-US" sz="2400" dirty="0">
                <a:effectLst/>
              </a:rPr>
              <a:t>6. P waits for all secondaries to reply, or timeout</a:t>
            </a:r>
          </a:p>
          <a:p>
            <a:pPr marL="742950" lvl="1" indent="-285750">
              <a:buFont typeface="Arial" panose="020B0604020202020204" pitchFamily="34" charset="0"/>
              <a:buChar char="•"/>
            </a:pPr>
            <a:r>
              <a:rPr lang="en-US" sz="2400" dirty="0">
                <a:effectLst/>
              </a:rPr>
              <a:t>secondary can reply "error" e.g. out of disk space</a:t>
            </a:r>
          </a:p>
          <a:p>
            <a:endParaRPr lang="en-US" dirty="0"/>
          </a:p>
          <a:p>
            <a:r>
              <a:rPr lang="en-US" sz="2400" dirty="0">
                <a:effectLst/>
              </a:rPr>
              <a:t>7. P tells C "ok" or "error"</a:t>
            </a:r>
          </a:p>
          <a:p>
            <a:pPr marL="742950" lvl="1" indent="-285750">
              <a:buFont typeface="Arial" panose="020B0604020202020204" pitchFamily="34" charset="0"/>
              <a:buChar char="•"/>
            </a:pPr>
            <a:r>
              <a:rPr lang="en-US" sz="2400" dirty="0">
                <a:effectLst/>
              </a:rPr>
              <a:t>C retries from start if error</a:t>
            </a:r>
          </a:p>
        </p:txBody>
      </p:sp>
    </p:spTree>
    <p:extLst>
      <p:ext uri="{BB962C8B-B14F-4D97-AF65-F5344CB8AC3E}">
        <p14:creationId xmlns:p14="http://schemas.microsoft.com/office/powerpoint/2010/main" val="299260546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Record Append</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33</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An ordinary write names a file, an offset and a buffer</a:t>
            </a:r>
          </a:p>
          <a:p>
            <a:pPr marL="457200"/>
            <a:r>
              <a:rPr lang="en-US" sz="2800" b="0" dirty="0"/>
              <a:t>Concurrent writes to the same range interleave, so clients must coordinate</a:t>
            </a:r>
          </a:p>
          <a:p>
            <a:r>
              <a:rPr lang="en-US" sz="3200" b="1" dirty="0"/>
              <a:t>A record append names a file and a buffer, but no offset</a:t>
            </a:r>
          </a:p>
          <a:p>
            <a:pPr marL="457200"/>
            <a:r>
              <a:rPr lang="en-US" sz="2800" b="0" dirty="0"/>
              <a:t>The primary picks the offset at the end of the chunk and tells every replica to use it</a:t>
            </a:r>
          </a:p>
          <a:p>
            <a:pPr marL="457200"/>
            <a:r>
              <a:rPr lang="en-US" sz="2800" b="0" dirty="0"/>
              <a:t>Many clients can append to one file at once without coordinating with each other</a:t>
            </a:r>
          </a:p>
          <a:p>
            <a:r>
              <a:rPr lang="en-US" sz="3200" b="1" dirty="0"/>
              <a:t>What the client is promised</a:t>
            </a:r>
          </a:p>
          <a:p>
            <a:pPr marL="457200"/>
            <a:r>
              <a:rPr lang="en-US" sz="2800" b="0" dirty="0"/>
              <a:t>On success: the record is in every replica, at the same offset, at least once</a:t>
            </a:r>
          </a:p>
          <a:p>
            <a:pPr marL="457200"/>
            <a:r>
              <a:rPr lang="en-US" sz="2800" b="0" dirty="0"/>
              <a:t>On failure: the client retries the whole append, which can leave duplicates and padding</a:t>
            </a:r>
          </a:p>
          <a:p>
            <a:r>
              <a:rPr lang="en-US" sz="3200" b="1" dirty="0"/>
              <a:t>The operation GFS was built for: many producers, one log</a:t>
            </a:r>
          </a:p>
        </p:txBody>
      </p:sp>
    </p:spTree>
    <p:extLst>
      <p:ext uri="{BB962C8B-B14F-4D97-AF65-F5344CB8AC3E}">
        <p14:creationId xmlns:p14="http://schemas.microsoft.com/office/powerpoint/2010/main" val="17206706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Stale Replicas and Version Numbers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Every chunk carries a version number handed out by the master</a:t>
            </a:r>
          </a:p>
          <a:p>
            <a:pPr marL="457200"/>
            <a:r>
              <a:rPr lang="en-US" sz="2800" b="0" dirty="0"/>
              <a:t>The master bumps it whenever it grants a lease to a new primary</a:t>
            </a:r>
          </a:p>
          <a:p>
            <a:pPr marL="457200"/>
            <a:r>
              <a:rPr lang="en-US" sz="2800" b="0" dirty="0"/>
              <a:t>It writes the new number to its own disk, then tells primary and secondaries</a:t>
            </a:r>
          </a:p>
          <a:p>
            <a:pPr marL="457200"/>
            <a:r>
              <a:rPr lang="en-US" sz="2800" b="0" dirty="0"/>
              <a:t>Those replicas write the number to disk as well</a:t>
            </a:r>
          </a:p>
          <a:p>
            <a:r>
              <a:rPr lang="en-US" sz="3200" b="1" dirty="0"/>
              <a:t>A replica that missed an update keeps an old number</a:t>
            </a:r>
          </a:p>
          <a:p>
            <a:pPr marL="457200"/>
            <a:r>
              <a:rPr lang="en-US" sz="2800" b="0" dirty="0"/>
              <a:t>The master never hands a stale replica to a client, and never makes it primary</a:t>
            </a:r>
          </a:p>
          <a:p>
            <a:pPr marL="457200"/>
            <a:r>
              <a:rPr lang="en-US" sz="2800" b="0" dirty="0"/>
              <a:t>Stale replicas are garbage collected</a:t>
            </a:r>
          </a:p>
          <a:p>
            <a:r>
              <a:rPr lang="en-US" sz="3200" b="1" dirty="0"/>
              <a:t>After a power failure the master waits rather than serve stale data</a:t>
            </a:r>
          </a:p>
        </p:txBody>
      </p:sp>
    </p:spTree>
    <p:extLst>
      <p:ext uri="{BB962C8B-B14F-4D97-AF65-F5344CB8AC3E}">
        <p14:creationId xmlns:p14="http://schemas.microsoft.com/office/powerpoint/2010/main" val="172067069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C0C915-C4E2-2E6A-0232-44BB1A56916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B1FC80D-9F25-6C9F-B02A-EE5EB663AAE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Control and Data Flow</a:t>
            </a:r>
          </a:p>
        </p:txBody>
      </p:sp>
      <p:sp>
        <p:nvSpPr>
          <p:cNvPr id="8" name="Slide Number Placeholder 4">
            <a:extLst>
              <a:ext uri="{FF2B5EF4-FFF2-40B4-BE49-F238E27FC236}">
                <a16:creationId xmlns:a16="http://schemas.microsoft.com/office/drawing/2014/main" id="{968F4D4A-56E2-A3BB-929B-9B779568238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35</a:t>
            </a:fld>
            <a:endParaRPr lang="en-US"/>
          </a:p>
        </p:txBody>
      </p:sp>
      <p:sp>
        <p:nvSpPr>
          <p:cNvPr id="2" name="object 2">
            <a:extLst>
              <a:ext uri="{FF2B5EF4-FFF2-40B4-BE49-F238E27FC236}">
                <a16:creationId xmlns:a16="http://schemas.microsoft.com/office/drawing/2014/main" id="{57584077-2EA7-B8B9-4F87-5AA3582E9AB2}"/>
              </a:ext>
            </a:extLst>
          </p:cNvPr>
          <p:cNvSpPr/>
          <p:nvPr/>
        </p:nvSpPr>
        <p:spPr>
          <a:xfrm>
            <a:off x="5260751" y="914401"/>
            <a:ext cx="2212340" cy="687705"/>
          </a:xfrm>
          <a:custGeom>
            <a:avLst/>
            <a:gdLst/>
            <a:ahLst/>
            <a:cxnLst/>
            <a:rect l="l" t="t" r="r" b="b"/>
            <a:pathLst>
              <a:path w="2212340" h="687705">
                <a:moveTo>
                  <a:pt x="0" y="0"/>
                </a:moveTo>
                <a:lnTo>
                  <a:pt x="2211871" y="0"/>
                </a:lnTo>
                <a:lnTo>
                  <a:pt x="2211871" y="687168"/>
                </a:lnTo>
                <a:lnTo>
                  <a:pt x="0" y="687168"/>
                </a:lnTo>
                <a:lnTo>
                  <a:pt x="0" y="0"/>
                </a:lnTo>
                <a:close/>
              </a:path>
            </a:pathLst>
          </a:custGeom>
          <a:ln w="25400">
            <a:solidFill>
              <a:srgbClr val="6FBE40"/>
            </a:solidFill>
          </a:ln>
        </p:spPr>
        <p:txBody>
          <a:bodyPr wrap="square" lIns="0" tIns="0" rIns="0" bIns="0" rtlCol="0"/>
          <a:lstStyle/>
          <a:p>
            <a:endParaRPr/>
          </a:p>
        </p:txBody>
      </p:sp>
      <p:sp>
        <p:nvSpPr>
          <p:cNvPr id="3" name="object 3">
            <a:extLst>
              <a:ext uri="{FF2B5EF4-FFF2-40B4-BE49-F238E27FC236}">
                <a16:creationId xmlns:a16="http://schemas.microsoft.com/office/drawing/2014/main" id="{853D6164-ED59-57FA-C764-38F8362E6370}"/>
              </a:ext>
            </a:extLst>
          </p:cNvPr>
          <p:cNvSpPr txBox="1"/>
          <p:nvPr/>
        </p:nvSpPr>
        <p:spPr>
          <a:xfrm>
            <a:off x="5364980" y="988252"/>
            <a:ext cx="2003425" cy="537845"/>
          </a:xfrm>
          <a:prstGeom prst="rect">
            <a:avLst/>
          </a:prstGeom>
        </p:spPr>
        <p:txBody>
          <a:bodyPr vert="horz" wrap="square" lIns="0" tIns="26034" rIns="0" bIns="0" rtlCol="0">
            <a:spAutoFit/>
          </a:bodyPr>
          <a:lstStyle/>
          <a:p>
            <a:pPr marL="200660" marR="5080" indent="-188595">
              <a:lnSpc>
                <a:spcPts val="1989"/>
              </a:lnSpc>
              <a:spcBef>
                <a:spcPts val="204"/>
              </a:spcBef>
            </a:pPr>
            <a:r>
              <a:rPr sz="1700" spc="-40" dirty="0">
                <a:solidFill>
                  <a:srgbClr val="0A5C17"/>
                </a:solidFill>
                <a:latin typeface="Arial"/>
                <a:cs typeface="Arial"/>
              </a:rPr>
              <a:t>Which</a:t>
            </a:r>
            <a:r>
              <a:rPr sz="1700" spc="-80" dirty="0">
                <a:solidFill>
                  <a:srgbClr val="0A5C17"/>
                </a:solidFill>
                <a:latin typeface="Arial"/>
                <a:cs typeface="Arial"/>
              </a:rPr>
              <a:t> </a:t>
            </a:r>
            <a:r>
              <a:rPr sz="1700" spc="-10" dirty="0">
                <a:solidFill>
                  <a:srgbClr val="0A5C17"/>
                </a:solidFill>
                <a:latin typeface="Arial"/>
                <a:cs typeface="Arial"/>
              </a:rPr>
              <a:t>chunk</a:t>
            </a:r>
            <a:r>
              <a:rPr sz="1700" spc="-70" dirty="0">
                <a:solidFill>
                  <a:srgbClr val="0A5C17"/>
                </a:solidFill>
                <a:latin typeface="Arial"/>
                <a:cs typeface="Arial"/>
              </a:rPr>
              <a:t> </a:t>
            </a:r>
            <a:r>
              <a:rPr sz="1700" spc="-50" dirty="0">
                <a:solidFill>
                  <a:srgbClr val="0A5C17"/>
                </a:solidFill>
                <a:latin typeface="Arial"/>
                <a:cs typeface="Arial"/>
              </a:rPr>
              <a:t>servers, </a:t>
            </a:r>
            <a:r>
              <a:rPr sz="1700" dirty="0">
                <a:solidFill>
                  <a:srgbClr val="0A5C17"/>
                </a:solidFill>
                <a:latin typeface="Arial"/>
                <a:cs typeface="Arial"/>
              </a:rPr>
              <a:t>who</a:t>
            </a:r>
            <a:r>
              <a:rPr sz="1700" spc="-75" dirty="0">
                <a:solidFill>
                  <a:srgbClr val="0A5C17"/>
                </a:solidFill>
                <a:latin typeface="Arial"/>
                <a:cs typeface="Arial"/>
              </a:rPr>
              <a:t> </a:t>
            </a:r>
            <a:r>
              <a:rPr sz="1700" spc="-20" dirty="0">
                <a:solidFill>
                  <a:srgbClr val="0A5C17"/>
                </a:solidFill>
                <a:latin typeface="Arial"/>
                <a:cs typeface="Arial"/>
              </a:rPr>
              <a:t>holds</a:t>
            </a:r>
            <a:r>
              <a:rPr sz="1700" spc="-70" dirty="0">
                <a:solidFill>
                  <a:srgbClr val="0A5C17"/>
                </a:solidFill>
                <a:latin typeface="Arial"/>
                <a:cs typeface="Arial"/>
              </a:rPr>
              <a:t> </a:t>
            </a:r>
            <a:r>
              <a:rPr sz="1700" spc="-10" dirty="0">
                <a:solidFill>
                  <a:srgbClr val="0A5C17"/>
                </a:solidFill>
                <a:latin typeface="Arial"/>
                <a:cs typeface="Arial"/>
              </a:rPr>
              <a:t>lease?</a:t>
            </a:r>
            <a:endParaRPr sz="1700">
              <a:latin typeface="Arial"/>
              <a:cs typeface="Arial"/>
            </a:endParaRPr>
          </a:p>
        </p:txBody>
      </p:sp>
      <p:sp>
        <p:nvSpPr>
          <p:cNvPr id="4" name="object 4">
            <a:extLst>
              <a:ext uri="{FF2B5EF4-FFF2-40B4-BE49-F238E27FC236}">
                <a16:creationId xmlns:a16="http://schemas.microsoft.com/office/drawing/2014/main" id="{16C063A6-A577-808A-0805-027560C85CEA}"/>
              </a:ext>
            </a:extLst>
          </p:cNvPr>
          <p:cNvSpPr txBox="1"/>
          <p:nvPr/>
        </p:nvSpPr>
        <p:spPr>
          <a:xfrm>
            <a:off x="4853437" y="2503882"/>
            <a:ext cx="2212340" cy="328295"/>
          </a:xfrm>
          <a:prstGeom prst="rect">
            <a:avLst/>
          </a:prstGeom>
          <a:ln w="25400">
            <a:solidFill>
              <a:srgbClr val="6FBE40"/>
            </a:solidFill>
          </a:ln>
        </p:spPr>
        <p:txBody>
          <a:bodyPr vert="horz" wrap="square" lIns="0" tIns="24130" rIns="0" bIns="0" rtlCol="0">
            <a:spAutoFit/>
          </a:bodyPr>
          <a:lstStyle/>
          <a:p>
            <a:pPr marL="141605">
              <a:lnSpc>
                <a:spcPct val="100000"/>
              </a:lnSpc>
              <a:spcBef>
                <a:spcPts val="190"/>
              </a:spcBef>
            </a:pPr>
            <a:r>
              <a:rPr sz="1700" spc="-10" dirty="0">
                <a:solidFill>
                  <a:srgbClr val="0A5C17"/>
                </a:solidFill>
                <a:latin typeface="Arial"/>
                <a:cs typeface="Arial"/>
              </a:rPr>
              <a:t>push</a:t>
            </a:r>
            <a:r>
              <a:rPr sz="1700" spc="-75" dirty="0">
                <a:solidFill>
                  <a:srgbClr val="0A5C17"/>
                </a:solidFill>
                <a:latin typeface="Arial"/>
                <a:cs typeface="Arial"/>
              </a:rPr>
              <a:t> </a:t>
            </a:r>
            <a:r>
              <a:rPr sz="1700" spc="-10" dirty="0">
                <a:solidFill>
                  <a:srgbClr val="0A5C17"/>
                </a:solidFill>
                <a:latin typeface="Arial"/>
                <a:cs typeface="Arial"/>
              </a:rPr>
              <a:t>data</a:t>
            </a:r>
            <a:r>
              <a:rPr sz="1700" spc="-65" dirty="0">
                <a:solidFill>
                  <a:srgbClr val="0A5C17"/>
                </a:solidFill>
                <a:latin typeface="Arial"/>
                <a:cs typeface="Arial"/>
              </a:rPr>
              <a:t> </a:t>
            </a:r>
            <a:r>
              <a:rPr sz="1700" dirty="0">
                <a:solidFill>
                  <a:srgbClr val="0A5C17"/>
                </a:solidFill>
                <a:latin typeface="Arial"/>
                <a:cs typeface="Arial"/>
              </a:rPr>
              <a:t>to</a:t>
            </a:r>
            <a:r>
              <a:rPr sz="1700" spc="-70" dirty="0">
                <a:solidFill>
                  <a:srgbClr val="0A5C17"/>
                </a:solidFill>
                <a:latin typeface="Arial"/>
                <a:cs typeface="Arial"/>
              </a:rPr>
              <a:t> </a:t>
            </a:r>
            <a:r>
              <a:rPr sz="1700" spc="-10" dirty="0">
                <a:solidFill>
                  <a:srgbClr val="0A5C17"/>
                </a:solidFill>
                <a:latin typeface="Arial"/>
                <a:cs typeface="Arial"/>
              </a:rPr>
              <a:t>replicas</a:t>
            </a:r>
            <a:endParaRPr sz="1700">
              <a:latin typeface="Arial"/>
              <a:cs typeface="Arial"/>
            </a:endParaRPr>
          </a:p>
        </p:txBody>
      </p:sp>
      <p:pic>
        <p:nvPicPr>
          <p:cNvPr id="5" name="object 5">
            <a:extLst>
              <a:ext uri="{FF2B5EF4-FFF2-40B4-BE49-F238E27FC236}">
                <a16:creationId xmlns:a16="http://schemas.microsoft.com/office/drawing/2014/main" id="{5C6E8EEF-72A3-4DBB-A6AF-D223A2033854}"/>
              </a:ext>
            </a:extLst>
          </p:cNvPr>
          <p:cNvPicPr/>
          <p:nvPr/>
        </p:nvPicPr>
        <p:blipFill>
          <a:blip r:embed="rId3" cstate="print"/>
          <a:stretch>
            <a:fillRect/>
          </a:stretch>
        </p:blipFill>
        <p:spPr>
          <a:xfrm>
            <a:off x="2633998" y="1387539"/>
            <a:ext cx="6160008" cy="5071872"/>
          </a:xfrm>
          <a:prstGeom prst="rect">
            <a:avLst/>
          </a:prstGeom>
        </p:spPr>
      </p:pic>
      <p:sp>
        <p:nvSpPr>
          <p:cNvPr id="6" name="object 6">
            <a:extLst>
              <a:ext uri="{FF2B5EF4-FFF2-40B4-BE49-F238E27FC236}">
                <a16:creationId xmlns:a16="http://schemas.microsoft.com/office/drawing/2014/main" id="{40007C00-F66F-C8D5-6CE7-3E9E87DF73E7}"/>
              </a:ext>
            </a:extLst>
          </p:cNvPr>
          <p:cNvSpPr txBox="1"/>
          <p:nvPr/>
        </p:nvSpPr>
        <p:spPr>
          <a:xfrm>
            <a:off x="1561354" y="2688439"/>
            <a:ext cx="1404620" cy="328295"/>
          </a:xfrm>
          <a:prstGeom prst="rect">
            <a:avLst/>
          </a:prstGeom>
          <a:ln w="25400">
            <a:solidFill>
              <a:srgbClr val="6FBE40"/>
            </a:solidFill>
          </a:ln>
        </p:spPr>
        <p:txBody>
          <a:bodyPr vert="horz" wrap="square" lIns="0" tIns="22225" rIns="0" bIns="0" rtlCol="0">
            <a:spAutoFit/>
          </a:bodyPr>
          <a:lstStyle/>
          <a:p>
            <a:pPr marL="106045">
              <a:lnSpc>
                <a:spcPct val="100000"/>
              </a:lnSpc>
              <a:spcBef>
                <a:spcPts val="17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9" name="object 7">
            <a:extLst>
              <a:ext uri="{FF2B5EF4-FFF2-40B4-BE49-F238E27FC236}">
                <a16:creationId xmlns:a16="http://schemas.microsoft.com/office/drawing/2014/main" id="{1377E1C1-79E0-AB70-2F40-58DF3F8ED7EE}"/>
              </a:ext>
            </a:extLst>
          </p:cNvPr>
          <p:cNvSpPr txBox="1"/>
          <p:nvPr/>
        </p:nvSpPr>
        <p:spPr>
          <a:xfrm>
            <a:off x="6163124" y="3734131"/>
            <a:ext cx="1404620" cy="328295"/>
          </a:xfrm>
          <a:prstGeom prst="rect">
            <a:avLst/>
          </a:prstGeom>
          <a:ln w="25400">
            <a:solidFill>
              <a:srgbClr val="6FBE40"/>
            </a:solidFill>
          </a:ln>
        </p:spPr>
        <p:txBody>
          <a:bodyPr vert="horz" wrap="square" lIns="0" tIns="22225" rIns="0" bIns="0" rtlCol="0">
            <a:spAutoFit/>
          </a:bodyPr>
          <a:lstStyle/>
          <a:p>
            <a:pPr marL="106045">
              <a:lnSpc>
                <a:spcPct val="100000"/>
              </a:lnSpc>
              <a:spcBef>
                <a:spcPts val="17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10" name="object 8">
            <a:extLst>
              <a:ext uri="{FF2B5EF4-FFF2-40B4-BE49-F238E27FC236}">
                <a16:creationId xmlns:a16="http://schemas.microsoft.com/office/drawing/2014/main" id="{0B5FD371-4BF5-28FE-31E7-837E2DF478F1}"/>
              </a:ext>
            </a:extLst>
          </p:cNvPr>
          <p:cNvSpPr txBox="1"/>
          <p:nvPr/>
        </p:nvSpPr>
        <p:spPr>
          <a:xfrm>
            <a:off x="6163124" y="5180750"/>
            <a:ext cx="1404620" cy="328295"/>
          </a:xfrm>
          <a:prstGeom prst="rect">
            <a:avLst/>
          </a:prstGeom>
          <a:ln w="25400">
            <a:solidFill>
              <a:srgbClr val="6FBE40"/>
            </a:solidFill>
          </a:ln>
        </p:spPr>
        <p:txBody>
          <a:bodyPr vert="horz" wrap="square" lIns="0" tIns="23495" rIns="0" bIns="0" rtlCol="0">
            <a:spAutoFit/>
          </a:bodyPr>
          <a:lstStyle/>
          <a:p>
            <a:pPr marL="106045">
              <a:lnSpc>
                <a:spcPct val="100000"/>
              </a:lnSpc>
              <a:spcBef>
                <a:spcPts val="18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11" name="object 9">
            <a:extLst>
              <a:ext uri="{FF2B5EF4-FFF2-40B4-BE49-F238E27FC236}">
                <a16:creationId xmlns:a16="http://schemas.microsoft.com/office/drawing/2014/main" id="{4D63D0C6-BECB-E05F-E63D-CD17B47444FA}"/>
              </a:ext>
            </a:extLst>
          </p:cNvPr>
          <p:cNvSpPr txBox="1"/>
          <p:nvPr/>
        </p:nvSpPr>
        <p:spPr>
          <a:xfrm>
            <a:off x="3417003" y="2266951"/>
            <a:ext cx="786130" cy="599440"/>
          </a:xfrm>
          <a:prstGeom prst="rect">
            <a:avLst/>
          </a:prstGeom>
          <a:ln w="25400">
            <a:solidFill>
              <a:srgbClr val="6FBE40"/>
            </a:solidFill>
          </a:ln>
        </p:spPr>
        <p:txBody>
          <a:bodyPr vert="horz" wrap="square" lIns="0" tIns="20320" rIns="0" bIns="0" rtlCol="0">
            <a:spAutoFit/>
          </a:bodyPr>
          <a:lstStyle/>
          <a:p>
            <a:pPr marL="186055" marR="106680" indent="-71755">
              <a:lnSpc>
                <a:spcPct val="103499"/>
              </a:lnSpc>
              <a:spcBef>
                <a:spcPts val="160"/>
              </a:spcBef>
            </a:pPr>
            <a:r>
              <a:rPr sz="1700" spc="-45" dirty="0">
                <a:solidFill>
                  <a:srgbClr val="0A5C17"/>
                </a:solidFill>
                <a:latin typeface="Arial"/>
                <a:cs typeface="Arial"/>
              </a:rPr>
              <a:t>ACK</a:t>
            </a:r>
            <a:r>
              <a:rPr sz="1700" spc="-70" dirty="0">
                <a:solidFill>
                  <a:srgbClr val="0A5C17"/>
                </a:solidFill>
                <a:latin typeface="Arial"/>
                <a:cs typeface="Arial"/>
              </a:rPr>
              <a:t> </a:t>
            </a:r>
            <a:r>
              <a:rPr sz="1700" spc="40" dirty="0">
                <a:solidFill>
                  <a:srgbClr val="0A5C17"/>
                </a:solidFill>
                <a:latin typeface="Arial"/>
                <a:cs typeface="Arial"/>
              </a:rPr>
              <a:t>/ </a:t>
            </a:r>
            <a:r>
              <a:rPr sz="1700" spc="-25" dirty="0">
                <a:solidFill>
                  <a:srgbClr val="0A5C17"/>
                </a:solidFill>
                <a:latin typeface="Arial"/>
                <a:cs typeface="Arial"/>
              </a:rPr>
              <a:t>ERR</a:t>
            </a:r>
            <a:endParaRPr sz="1700">
              <a:latin typeface="Arial"/>
              <a:cs typeface="Arial"/>
            </a:endParaRPr>
          </a:p>
        </p:txBody>
      </p:sp>
    </p:spTree>
    <p:extLst>
      <p:ext uri="{BB962C8B-B14F-4D97-AF65-F5344CB8AC3E}">
        <p14:creationId xmlns:p14="http://schemas.microsoft.com/office/powerpoint/2010/main" val="138473704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Demo 2: What a Read and a Write Actually Do</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Read: ask the master once, then go straight to the data</a:t>
            </a:r>
          </a:p>
          <a:p>
            <a:pPr marL="457200"/>
            <a:r>
              <a:rPr lang="en-US" sz="2800" b="0" dirty="0"/>
              <a:t>One getBlockLocations call covers the whole file</a:t>
            </a:r>
          </a:p>
          <a:p>
            <a:pPr marL="457200"/>
            <a:r>
              <a:rPr lang="en-US" sz="2800" b="0" dirty="0"/>
              <a:t>Then one connection per block, to a server holding that block</a:t>
            </a:r>
          </a:p>
          <a:p>
            <a:r>
              <a:rPr lang="en-US" sz="3200" b="1" dirty="0"/>
              <a:t>Write: one addBlock per block, then a chain</a:t>
            </a:r>
          </a:p>
          <a:p>
            <a:pPr marL="457200"/>
            <a:r>
              <a:rPr lang="en-US" sz="2800" b="0" dirty="0"/>
              <a:t>The master picks the replicas and returns them as a pipeline</a:t>
            </a:r>
          </a:p>
          <a:p>
            <a:pPr marL="457200"/>
            <a:r>
              <a:rPr lang="en-US" sz="2800" b="0" dirty="0"/>
              <a:t>The client sends the bytes once, to the first server, which forwards them on</a:t>
            </a:r>
          </a:p>
          <a:p>
            <a:r>
              <a:rPr lang="en-US" sz="3200" b="1" dirty="0"/>
              <a:t>What the master recorded for 40 MB: a few log entries, no data</a:t>
            </a:r>
          </a:p>
        </p:txBody>
      </p:sp>
    </p:spTree>
    <p:extLst>
      <p:ext uri="{BB962C8B-B14F-4D97-AF65-F5344CB8AC3E}">
        <p14:creationId xmlns:p14="http://schemas.microsoft.com/office/powerpoint/2010/main" val="172067069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4C437-4A27-A111-5C03-DF1C4511D6E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CEB2BE5-EB07-C5D2-AFA8-DFDBABC585A1}"/>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GFS Consistency Guarantees</a:t>
            </a:r>
          </a:p>
        </p:txBody>
      </p:sp>
      <p:sp>
        <p:nvSpPr>
          <p:cNvPr id="8" name="Slide Number Placeholder 4">
            <a:extLst>
              <a:ext uri="{FF2B5EF4-FFF2-40B4-BE49-F238E27FC236}">
                <a16:creationId xmlns:a16="http://schemas.microsoft.com/office/drawing/2014/main" id="{45F9F35D-811B-23DD-CC90-D88AD47C9D0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37</a:t>
            </a:fld>
            <a:endParaRPr lang="en-US"/>
          </a:p>
        </p:txBody>
      </p:sp>
      <p:sp>
        <p:nvSpPr>
          <p:cNvPr id="3" name="TextBox 2">
            <a:extLst>
              <a:ext uri="{FF2B5EF4-FFF2-40B4-BE49-F238E27FC236}">
                <a16:creationId xmlns:a16="http://schemas.microsoft.com/office/drawing/2014/main" id="{A9AB61DF-8E89-55FD-EB17-9EA6A33AE417}"/>
              </a:ext>
            </a:extLst>
          </p:cNvPr>
          <p:cNvSpPr txBox="1"/>
          <p:nvPr/>
        </p:nvSpPr>
        <p:spPr>
          <a:xfrm>
            <a:off x="193112" y="812165"/>
            <a:ext cx="10436771" cy="5909310"/>
          </a:xfrm>
          <a:prstGeom prst="rect">
            <a:avLst/>
          </a:prstGeom>
          <a:noFill/>
        </p:spPr>
        <p:txBody>
          <a:bodyPr wrap="square">
            <a:spAutoFit/>
          </a:bodyPr>
          <a:lstStyle/>
          <a:p>
            <a:r>
              <a:rPr lang="en-US" sz="2400" b="1" dirty="0">
                <a:effectLst/>
              </a:rPr>
              <a:t>somewhat complex!</a:t>
            </a:r>
          </a:p>
          <a:p>
            <a:endParaRPr lang="en-US" dirty="0">
              <a:effectLst/>
            </a:endParaRPr>
          </a:p>
          <a:p>
            <a:r>
              <a:rPr lang="en-US" sz="2400" b="1" dirty="0">
                <a:effectLst/>
              </a:rPr>
              <a:t>if primary tells client that a write succeeded,</a:t>
            </a:r>
          </a:p>
          <a:p>
            <a:pPr marL="742950" lvl="1" indent="-285750">
              <a:buFont typeface="Arial" panose="020B0604020202020204" pitchFamily="34" charset="0"/>
              <a:buChar char="•"/>
            </a:pPr>
            <a:r>
              <a:rPr lang="en-US" sz="2400" dirty="0">
                <a:effectLst/>
              </a:rPr>
              <a:t>and no other client is writing the same part of the file,</a:t>
            </a:r>
          </a:p>
          <a:p>
            <a:pPr marL="742950" lvl="1" indent="-285750">
              <a:buFont typeface="Arial" panose="020B0604020202020204" pitchFamily="34" charset="0"/>
              <a:buChar char="•"/>
            </a:pPr>
            <a:r>
              <a:rPr lang="en-US" sz="2400" dirty="0">
                <a:effectLst/>
              </a:rPr>
              <a:t>all readers will see the write.</a:t>
            </a:r>
          </a:p>
          <a:p>
            <a:pPr marL="742950" lvl="1" indent="-285750">
              <a:buFont typeface="Arial" panose="020B0604020202020204" pitchFamily="34" charset="0"/>
              <a:buChar char="•"/>
            </a:pPr>
            <a:r>
              <a:rPr lang="en-US" sz="2400" dirty="0">
                <a:effectLst/>
              </a:rPr>
              <a:t>"defined”</a:t>
            </a:r>
          </a:p>
          <a:p>
            <a:endParaRPr lang="en-US" sz="2000" dirty="0"/>
          </a:p>
          <a:p>
            <a:r>
              <a:rPr lang="en-US" sz="2400" b="1" dirty="0">
                <a:effectLst/>
              </a:rPr>
              <a:t>if successful concurrent writes to the same part of a file,</a:t>
            </a:r>
          </a:p>
          <a:p>
            <a:pPr marL="742950" lvl="1" indent="-285750">
              <a:buFont typeface="Arial" panose="020B0604020202020204" pitchFamily="34" charset="0"/>
              <a:buChar char="•"/>
            </a:pPr>
            <a:r>
              <a:rPr lang="en-US" sz="2400" dirty="0">
                <a:effectLst/>
              </a:rPr>
              <a:t>and they all succeed, all readers will see the same content,</a:t>
            </a:r>
          </a:p>
          <a:p>
            <a:pPr marL="742950" lvl="1" indent="-285750">
              <a:buFont typeface="Arial" panose="020B0604020202020204" pitchFamily="34" charset="0"/>
              <a:buChar char="•"/>
            </a:pPr>
            <a:r>
              <a:rPr lang="en-US" sz="2400" dirty="0">
                <a:effectLst/>
              </a:rPr>
              <a:t>but maybe it will be a mix of the writes.</a:t>
            </a:r>
          </a:p>
          <a:p>
            <a:pPr marL="742950" lvl="1" indent="-285750">
              <a:buFont typeface="Arial" panose="020B0604020202020204" pitchFamily="34" charset="0"/>
              <a:buChar char="•"/>
            </a:pPr>
            <a:r>
              <a:rPr lang="en-US" sz="2400" dirty="0">
                <a:effectLst/>
              </a:rPr>
              <a:t>"consistent"</a:t>
            </a:r>
          </a:p>
          <a:p>
            <a:pPr marL="742950" lvl="1" indent="-285750">
              <a:buFont typeface="Arial" panose="020B0604020202020204" pitchFamily="34" charset="0"/>
              <a:buChar char="•"/>
            </a:pPr>
            <a:r>
              <a:rPr lang="en-US" sz="2400" dirty="0">
                <a:effectLst/>
              </a:rPr>
              <a:t>E.g. C1 writes "ab", C2 writes "</a:t>
            </a:r>
            <a:r>
              <a:rPr lang="en-US" sz="2400" dirty="0" err="1">
                <a:effectLst/>
              </a:rPr>
              <a:t>xy</a:t>
            </a:r>
            <a:r>
              <a:rPr lang="en-US" sz="2400" dirty="0">
                <a:effectLst/>
              </a:rPr>
              <a:t>", everyone might see "</a:t>
            </a:r>
            <a:r>
              <a:rPr lang="en-US" sz="2400" dirty="0" err="1">
                <a:effectLst/>
              </a:rPr>
              <a:t>xb</a:t>
            </a:r>
            <a:r>
              <a:rPr lang="en-US" sz="2400" dirty="0">
                <a:effectLst/>
              </a:rPr>
              <a:t>".</a:t>
            </a:r>
          </a:p>
          <a:p>
            <a:endParaRPr lang="en-US" dirty="0"/>
          </a:p>
          <a:p>
            <a:r>
              <a:rPr lang="en-US" sz="2400" b="1" dirty="0">
                <a:effectLst/>
              </a:rPr>
              <a:t>If primary doesn't tell the client that the write succeeded,</a:t>
            </a:r>
          </a:p>
          <a:p>
            <a:pPr marL="742950" lvl="1" indent="-285750">
              <a:buFont typeface="Arial" panose="020B0604020202020204" pitchFamily="34" charset="0"/>
              <a:buChar char="•"/>
            </a:pPr>
            <a:r>
              <a:rPr lang="en-US" sz="2400" dirty="0">
                <a:effectLst/>
              </a:rPr>
              <a:t>different readers may see different content, or none.</a:t>
            </a:r>
          </a:p>
          <a:p>
            <a:pPr marL="742950" lvl="1" indent="-285750">
              <a:buFont typeface="Arial" panose="020B0604020202020204" pitchFamily="34" charset="0"/>
              <a:buChar char="•"/>
            </a:pPr>
            <a:r>
              <a:rPr lang="en-US" sz="2400" dirty="0">
                <a:effectLst/>
              </a:rPr>
              <a:t>"inconsistent"</a:t>
            </a:r>
          </a:p>
        </p:txBody>
      </p:sp>
    </p:spTree>
    <p:extLst>
      <p:ext uri="{BB962C8B-B14F-4D97-AF65-F5344CB8AC3E}">
        <p14:creationId xmlns:p14="http://schemas.microsoft.com/office/powerpoint/2010/main" val="41553020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animEffect transition="in" filter="dissolve">
                                      <p:cBhvr>
                                        <p:cTn id="7" dur="500"/>
                                        <p:tgtEl>
                                          <p:spTgt spid="3">
                                            <p:txEl>
                                              <p:pRg st="7" end="7"/>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8" end="8"/>
                                            </p:txEl>
                                          </p:spTgt>
                                        </p:tgtEl>
                                        <p:attrNameLst>
                                          <p:attrName>style.visibility</p:attrName>
                                        </p:attrNameLst>
                                      </p:cBhvr>
                                      <p:to>
                                        <p:strVal val="visible"/>
                                      </p:to>
                                    </p:set>
                                    <p:animEffect transition="in" filter="dissolve">
                                      <p:cBhvr>
                                        <p:cTn id="10" dur="500"/>
                                        <p:tgtEl>
                                          <p:spTgt spid="3">
                                            <p:txEl>
                                              <p:pRg st="8" end="8"/>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9" end="9"/>
                                            </p:txEl>
                                          </p:spTgt>
                                        </p:tgtEl>
                                        <p:attrNameLst>
                                          <p:attrName>style.visibility</p:attrName>
                                        </p:attrNameLst>
                                      </p:cBhvr>
                                      <p:to>
                                        <p:strVal val="visible"/>
                                      </p:to>
                                    </p:set>
                                    <p:animEffect transition="in" filter="dissolve">
                                      <p:cBhvr>
                                        <p:cTn id="13" dur="500"/>
                                        <p:tgtEl>
                                          <p:spTgt spid="3">
                                            <p:txEl>
                                              <p:pRg st="9" end="9"/>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10" end="10"/>
                                            </p:txEl>
                                          </p:spTgt>
                                        </p:tgtEl>
                                        <p:attrNameLst>
                                          <p:attrName>style.visibility</p:attrName>
                                        </p:attrNameLst>
                                      </p:cBhvr>
                                      <p:to>
                                        <p:strVal val="visible"/>
                                      </p:to>
                                    </p:set>
                                    <p:animEffect transition="in" filter="dissolve">
                                      <p:cBhvr>
                                        <p:cTn id="16" dur="500"/>
                                        <p:tgtEl>
                                          <p:spTgt spid="3">
                                            <p:txEl>
                                              <p:pRg st="10" end="10"/>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11" end="11"/>
                                            </p:txEl>
                                          </p:spTgt>
                                        </p:tgtEl>
                                        <p:attrNameLst>
                                          <p:attrName>style.visibility</p:attrName>
                                        </p:attrNameLst>
                                      </p:cBhvr>
                                      <p:to>
                                        <p:strVal val="visible"/>
                                      </p:to>
                                    </p:set>
                                    <p:animEffect transition="in" filter="dissolve">
                                      <p:cBhvr>
                                        <p:cTn id="19" dur="500"/>
                                        <p:tgtEl>
                                          <p:spTgt spid="3">
                                            <p:txEl>
                                              <p:pRg st="11" end="11"/>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3">
                                            <p:txEl>
                                              <p:pRg st="13" end="13"/>
                                            </p:txEl>
                                          </p:spTgt>
                                        </p:tgtEl>
                                        <p:attrNameLst>
                                          <p:attrName>style.visibility</p:attrName>
                                        </p:attrNameLst>
                                      </p:cBhvr>
                                      <p:to>
                                        <p:strVal val="visible"/>
                                      </p:to>
                                    </p:set>
                                    <p:animEffect transition="in" filter="dissolve">
                                      <p:cBhvr>
                                        <p:cTn id="24" dur="500"/>
                                        <p:tgtEl>
                                          <p:spTgt spid="3">
                                            <p:txEl>
                                              <p:pRg st="13" end="13"/>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4" end="14"/>
                                            </p:txEl>
                                          </p:spTgt>
                                        </p:tgtEl>
                                        <p:attrNameLst>
                                          <p:attrName>style.visibility</p:attrName>
                                        </p:attrNameLst>
                                      </p:cBhvr>
                                      <p:to>
                                        <p:strVal val="visible"/>
                                      </p:to>
                                    </p:set>
                                    <p:animEffect transition="in" filter="dissolve">
                                      <p:cBhvr>
                                        <p:cTn id="27" dur="500"/>
                                        <p:tgtEl>
                                          <p:spTgt spid="3">
                                            <p:txEl>
                                              <p:pRg st="14" end="14"/>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5" end="15"/>
                                            </p:txEl>
                                          </p:spTgt>
                                        </p:tgtEl>
                                        <p:attrNameLst>
                                          <p:attrName>style.visibility</p:attrName>
                                        </p:attrNameLst>
                                      </p:cBhvr>
                                      <p:to>
                                        <p:strVal val="visible"/>
                                      </p:to>
                                    </p:set>
                                    <p:animEffect transition="in" filter="dissolve">
                                      <p:cBhvr>
                                        <p:cTn id="30" dur="500"/>
                                        <p:tgtEl>
                                          <p:spTgt spid="3">
                                            <p:txEl>
                                              <p:pRg st="15" end="1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33E88-5A83-8A29-F7FE-CF65B9BA04B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F20B710-AF7B-67EA-4692-F771CC24F9C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How Can Inconsistent Content Arise?</a:t>
            </a:r>
          </a:p>
        </p:txBody>
      </p:sp>
      <p:sp>
        <p:nvSpPr>
          <p:cNvPr id="8" name="Slide Number Placeholder 4">
            <a:extLst>
              <a:ext uri="{FF2B5EF4-FFF2-40B4-BE49-F238E27FC236}">
                <a16:creationId xmlns:a16="http://schemas.microsoft.com/office/drawing/2014/main" id="{E54D52BC-A6F1-D24A-8F6F-B741B6B8535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38</a:t>
            </a:fld>
            <a:endParaRPr lang="en-US"/>
          </a:p>
        </p:txBody>
      </p:sp>
      <p:sp>
        <p:nvSpPr>
          <p:cNvPr id="16" name="object 15">
            <a:extLst>
              <a:ext uri="{FF2B5EF4-FFF2-40B4-BE49-F238E27FC236}">
                <a16:creationId xmlns:a16="http://schemas.microsoft.com/office/drawing/2014/main" id="{4A935279-B37C-035E-7537-5B2FD9BAF455}"/>
              </a:ext>
            </a:extLst>
          </p:cNvPr>
          <p:cNvSpPr txBox="1"/>
          <p:nvPr/>
        </p:nvSpPr>
        <p:spPr>
          <a:xfrm>
            <a:off x="7144561" y="2934684"/>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17" name="object 16">
            <a:extLst>
              <a:ext uri="{FF2B5EF4-FFF2-40B4-BE49-F238E27FC236}">
                <a16:creationId xmlns:a16="http://schemas.microsoft.com/office/drawing/2014/main" id="{576D4241-467A-E3E9-923D-FB62EDF393D0}"/>
              </a:ext>
            </a:extLst>
          </p:cNvPr>
          <p:cNvSpPr/>
          <p:nvPr/>
        </p:nvSpPr>
        <p:spPr>
          <a:xfrm>
            <a:off x="10196406" y="2934684"/>
            <a:ext cx="1812925" cy="1073785"/>
          </a:xfrm>
          <a:custGeom>
            <a:avLst/>
            <a:gdLst/>
            <a:ahLst/>
            <a:cxnLst/>
            <a:rect l="l" t="t" r="r" b="b"/>
            <a:pathLst>
              <a:path w="1812925" h="1073785">
                <a:moveTo>
                  <a:pt x="0" y="0"/>
                </a:moveTo>
                <a:lnTo>
                  <a:pt x="1812803" y="0"/>
                </a:lnTo>
                <a:lnTo>
                  <a:pt x="1812803" y="1073265"/>
                </a:lnTo>
                <a:lnTo>
                  <a:pt x="0" y="1073265"/>
                </a:lnTo>
                <a:lnTo>
                  <a:pt x="0" y="0"/>
                </a:lnTo>
                <a:close/>
              </a:path>
            </a:pathLst>
          </a:custGeom>
          <a:ln w="20941">
            <a:solidFill>
              <a:srgbClr val="222C4A"/>
            </a:solidFill>
          </a:ln>
        </p:spPr>
        <p:txBody>
          <a:bodyPr wrap="square" lIns="0" tIns="0" rIns="0" bIns="0" rtlCol="0"/>
          <a:lstStyle/>
          <a:p>
            <a:endParaRPr/>
          </a:p>
        </p:txBody>
      </p:sp>
      <p:sp>
        <p:nvSpPr>
          <p:cNvPr id="18" name="object 17">
            <a:extLst>
              <a:ext uri="{FF2B5EF4-FFF2-40B4-BE49-F238E27FC236}">
                <a16:creationId xmlns:a16="http://schemas.microsoft.com/office/drawing/2014/main" id="{72300482-C573-0490-0B7E-83E74B654E48}"/>
              </a:ext>
            </a:extLst>
          </p:cNvPr>
          <p:cNvSpPr txBox="1"/>
          <p:nvPr/>
        </p:nvSpPr>
        <p:spPr>
          <a:xfrm>
            <a:off x="10356894" y="3192133"/>
            <a:ext cx="1492250" cy="528320"/>
          </a:xfrm>
          <a:prstGeom prst="rect">
            <a:avLst/>
          </a:prstGeom>
        </p:spPr>
        <p:txBody>
          <a:bodyPr vert="horz" wrap="square" lIns="0" tIns="12065" rIns="0" bIns="0" rtlCol="0">
            <a:spAutoFit/>
          </a:bodyPr>
          <a:lstStyle/>
          <a:p>
            <a:pPr marL="12700">
              <a:lnSpc>
                <a:spcPct val="100000"/>
              </a:lnSpc>
              <a:spcBef>
                <a:spcPts val="95"/>
              </a:spcBef>
            </a:pPr>
            <a:r>
              <a:rPr sz="3300" spc="-10" dirty="0">
                <a:solidFill>
                  <a:srgbClr val="222C4A"/>
                </a:solidFill>
                <a:latin typeface="Arial"/>
                <a:cs typeface="Arial"/>
              </a:rPr>
              <a:t>Server1</a:t>
            </a:r>
            <a:endParaRPr sz="3300">
              <a:latin typeface="Arial"/>
              <a:cs typeface="Arial"/>
            </a:endParaRPr>
          </a:p>
        </p:txBody>
      </p:sp>
      <p:sp>
        <p:nvSpPr>
          <p:cNvPr id="19" name="object 18">
            <a:extLst>
              <a:ext uri="{FF2B5EF4-FFF2-40B4-BE49-F238E27FC236}">
                <a16:creationId xmlns:a16="http://schemas.microsoft.com/office/drawing/2014/main" id="{E2B6A1A4-F9AC-F9AC-4CEA-AA1564438B98}"/>
              </a:ext>
            </a:extLst>
          </p:cNvPr>
          <p:cNvSpPr/>
          <p:nvPr/>
        </p:nvSpPr>
        <p:spPr>
          <a:xfrm>
            <a:off x="10196406" y="4648349"/>
            <a:ext cx="1812925" cy="1073785"/>
          </a:xfrm>
          <a:custGeom>
            <a:avLst/>
            <a:gdLst/>
            <a:ahLst/>
            <a:cxnLst/>
            <a:rect l="l" t="t" r="r" b="b"/>
            <a:pathLst>
              <a:path w="1812925" h="1073784">
                <a:moveTo>
                  <a:pt x="0" y="0"/>
                </a:moveTo>
                <a:lnTo>
                  <a:pt x="1812803" y="0"/>
                </a:lnTo>
                <a:lnTo>
                  <a:pt x="1812803" y="1073265"/>
                </a:lnTo>
                <a:lnTo>
                  <a:pt x="0" y="1073265"/>
                </a:lnTo>
                <a:lnTo>
                  <a:pt x="0" y="0"/>
                </a:lnTo>
                <a:close/>
              </a:path>
            </a:pathLst>
          </a:custGeom>
          <a:ln w="20941">
            <a:solidFill>
              <a:srgbClr val="222C4A"/>
            </a:solidFill>
          </a:ln>
        </p:spPr>
        <p:txBody>
          <a:bodyPr wrap="square" lIns="0" tIns="0" rIns="0" bIns="0" rtlCol="0"/>
          <a:lstStyle/>
          <a:p>
            <a:endParaRPr/>
          </a:p>
        </p:txBody>
      </p:sp>
      <p:sp>
        <p:nvSpPr>
          <p:cNvPr id="20" name="object 19">
            <a:extLst>
              <a:ext uri="{FF2B5EF4-FFF2-40B4-BE49-F238E27FC236}">
                <a16:creationId xmlns:a16="http://schemas.microsoft.com/office/drawing/2014/main" id="{B9599D1F-9A10-5FFF-6DBF-DF68F062AFC0}"/>
              </a:ext>
            </a:extLst>
          </p:cNvPr>
          <p:cNvSpPr txBox="1"/>
          <p:nvPr/>
        </p:nvSpPr>
        <p:spPr>
          <a:xfrm>
            <a:off x="10356894" y="4905808"/>
            <a:ext cx="1492250" cy="528320"/>
          </a:xfrm>
          <a:prstGeom prst="rect">
            <a:avLst/>
          </a:prstGeom>
        </p:spPr>
        <p:txBody>
          <a:bodyPr vert="horz" wrap="square" lIns="0" tIns="12065" rIns="0" bIns="0" rtlCol="0">
            <a:spAutoFit/>
          </a:bodyPr>
          <a:lstStyle/>
          <a:p>
            <a:pPr marL="12700">
              <a:lnSpc>
                <a:spcPct val="100000"/>
              </a:lnSpc>
              <a:spcBef>
                <a:spcPts val="95"/>
              </a:spcBef>
            </a:pPr>
            <a:r>
              <a:rPr sz="3300" spc="-10" dirty="0">
                <a:solidFill>
                  <a:srgbClr val="222C4A"/>
                </a:solidFill>
                <a:latin typeface="Arial"/>
                <a:cs typeface="Arial"/>
              </a:rPr>
              <a:t>Server2</a:t>
            </a:r>
            <a:endParaRPr sz="3300">
              <a:latin typeface="Arial"/>
              <a:cs typeface="Arial"/>
            </a:endParaRPr>
          </a:p>
        </p:txBody>
      </p:sp>
      <p:grpSp>
        <p:nvGrpSpPr>
          <p:cNvPr id="21" name="object 20">
            <a:extLst>
              <a:ext uri="{FF2B5EF4-FFF2-40B4-BE49-F238E27FC236}">
                <a16:creationId xmlns:a16="http://schemas.microsoft.com/office/drawing/2014/main" id="{DEFC0F76-C4E1-DE1C-3C7E-65927EEA8BB2}"/>
              </a:ext>
            </a:extLst>
          </p:cNvPr>
          <p:cNvGrpSpPr/>
          <p:nvPr/>
        </p:nvGrpSpPr>
        <p:grpSpPr>
          <a:xfrm>
            <a:off x="7144561" y="3421046"/>
            <a:ext cx="3035300" cy="2300605"/>
            <a:chOff x="15056294" y="5822105"/>
            <a:chExt cx="3035300" cy="2300605"/>
          </a:xfrm>
        </p:grpSpPr>
        <p:sp>
          <p:nvSpPr>
            <p:cNvPr id="22" name="object 21">
              <a:extLst>
                <a:ext uri="{FF2B5EF4-FFF2-40B4-BE49-F238E27FC236}">
                  <a16:creationId xmlns:a16="http://schemas.microsoft.com/office/drawing/2014/main" id="{585D007D-68B5-80BD-87EA-388F983E43C9}"/>
                </a:ext>
              </a:extLst>
            </p:cNvPr>
            <p:cNvSpPr/>
            <p:nvPr/>
          </p:nvSpPr>
          <p:spPr>
            <a:xfrm>
              <a:off x="16883045" y="5872365"/>
              <a:ext cx="1118870" cy="0"/>
            </a:xfrm>
            <a:custGeom>
              <a:avLst/>
              <a:gdLst/>
              <a:ahLst/>
              <a:cxnLst/>
              <a:rect l="l" t="t" r="r" b="b"/>
              <a:pathLst>
                <a:path w="1118869">
                  <a:moveTo>
                    <a:pt x="0" y="0"/>
                  </a:moveTo>
                  <a:lnTo>
                    <a:pt x="1108050" y="0"/>
                  </a:lnTo>
                  <a:lnTo>
                    <a:pt x="1118520" y="0"/>
                  </a:lnTo>
                </a:path>
              </a:pathLst>
            </a:custGeom>
            <a:ln w="20941">
              <a:solidFill>
                <a:srgbClr val="222C4A"/>
              </a:solidFill>
            </a:ln>
          </p:spPr>
          <p:txBody>
            <a:bodyPr wrap="square" lIns="0" tIns="0" rIns="0" bIns="0" rtlCol="0"/>
            <a:lstStyle/>
            <a:p>
              <a:endParaRPr/>
            </a:p>
          </p:txBody>
        </p:sp>
        <p:sp>
          <p:nvSpPr>
            <p:cNvPr id="23" name="object 22">
              <a:extLst>
                <a:ext uri="{FF2B5EF4-FFF2-40B4-BE49-F238E27FC236}">
                  <a16:creationId xmlns:a16="http://schemas.microsoft.com/office/drawing/2014/main" id="{D83E5A71-FE7C-C17F-01A4-89DCF0A8FD10}"/>
                </a:ext>
              </a:extLst>
            </p:cNvPr>
            <p:cNvSpPr/>
            <p:nvPr/>
          </p:nvSpPr>
          <p:spPr>
            <a:xfrm>
              <a:off x="17991074" y="5822105"/>
              <a:ext cx="100965" cy="100965"/>
            </a:xfrm>
            <a:custGeom>
              <a:avLst/>
              <a:gdLst/>
              <a:ahLst/>
              <a:cxnLst/>
              <a:rect l="l" t="t" r="r" b="b"/>
              <a:pathLst>
                <a:path w="100965" h="100964">
                  <a:moveTo>
                    <a:pt x="0" y="0"/>
                  </a:moveTo>
                  <a:lnTo>
                    <a:pt x="0" y="100530"/>
                  </a:lnTo>
                  <a:lnTo>
                    <a:pt x="100520" y="50260"/>
                  </a:lnTo>
                  <a:lnTo>
                    <a:pt x="0" y="0"/>
                  </a:lnTo>
                  <a:close/>
                </a:path>
              </a:pathLst>
            </a:custGeom>
            <a:solidFill>
              <a:srgbClr val="222C4A"/>
            </a:solidFill>
          </p:spPr>
          <p:txBody>
            <a:bodyPr wrap="square" lIns="0" tIns="0" rIns="0" bIns="0" rtlCol="0"/>
            <a:lstStyle/>
            <a:p>
              <a:endParaRPr/>
            </a:p>
          </p:txBody>
        </p:sp>
        <p:sp>
          <p:nvSpPr>
            <p:cNvPr id="24" name="object 23">
              <a:extLst>
                <a:ext uri="{FF2B5EF4-FFF2-40B4-BE49-F238E27FC236}">
                  <a16:creationId xmlns:a16="http://schemas.microsoft.com/office/drawing/2014/main" id="{DBDCFC12-6496-82B5-7219-40686F24D34E}"/>
                </a:ext>
              </a:extLst>
            </p:cNvPr>
            <p:cNvSpPr/>
            <p:nvPr/>
          </p:nvSpPr>
          <p:spPr>
            <a:xfrm>
              <a:off x="15056294" y="7049408"/>
              <a:ext cx="1812925" cy="1073785"/>
            </a:xfrm>
            <a:custGeom>
              <a:avLst/>
              <a:gdLst/>
              <a:ahLst/>
              <a:cxnLst/>
              <a:rect l="l" t="t" r="r" b="b"/>
              <a:pathLst>
                <a:path w="1812925" h="1073784">
                  <a:moveTo>
                    <a:pt x="1812803" y="0"/>
                  </a:moveTo>
                  <a:lnTo>
                    <a:pt x="0" y="0"/>
                  </a:lnTo>
                  <a:lnTo>
                    <a:pt x="0" y="1073265"/>
                  </a:lnTo>
                  <a:lnTo>
                    <a:pt x="1812803" y="1073265"/>
                  </a:lnTo>
                  <a:lnTo>
                    <a:pt x="1812803" y="0"/>
                  </a:lnTo>
                  <a:close/>
                </a:path>
              </a:pathLst>
            </a:custGeom>
            <a:solidFill>
              <a:srgbClr val="FFFFFF"/>
            </a:solidFill>
          </p:spPr>
          <p:txBody>
            <a:bodyPr wrap="square" lIns="0" tIns="0" rIns="0" bIns="0" rtlCol="0"/>
            <a:lstStyle/>
            <a:p>
              <a:endParaRPr/>
            </a:p>
          </p:txBody>
        </p:sp>
      </p:grpSp>
      <p:sp>
        <p:nvSpPr>
          <p:cNvPr id="25" name="object 24">
            <a:extLst>
              <a:ext uri="{FF2B5EF4-FFF2-40B4-BE49-F238E27FC236}">
                <a16:creationId xmlns:a16="http://schemas.microsoft.com/office/drawing/2014/main" id="{7C0057B6-DAD4-344B-F0AD-C0CD6B26E5FA}"/>
              </a:ext>
            </a:extLst>
          </p:cNvPr>
          <p:cNvSpPr txBox="1"/>
          <p:nvPr/>
        </p:nvSpPr>
        <p:spPr>
          <a:xfrm>
            <a:off x="7144561" y="4648349"/>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Client2</a:t>
            </a:r>
            <a:endParaRPr sz="3300">
              <a:latin typeface="Arial"/>
              <a:cs typeface="Arial"/>
            </a:endParaRPr>
          </a:p>
        </p:txBody>
      </p:sp>
      <p:grpSp>
        <p:nvGrpSpPr>
          <p:cNvPr id="26" name="object 25">
            <a:extLst>
              <a:ext uri="{FF2B5EF4-FFF2-40B4-BE49-F238E27FC236}">
                <a16:creationId xmlns:a16="http://schemas.microsoft.com/office/drawing/2014/main" id="{CDFDE02B-6867-7C4F-706C-4488C591E5B6}"/>
              </a:ext>
            </a:extLst>
          </p:cNvPr>
          <p:cNvGrpSpPr/>
          <p:nvPr/>
        </p:nvGrpSpPr>
        <p:grpSpPr>
          <a:xfrm>
            <a:off x="8971313" y="3929910"/>
            <a:ext cx="2665730" cy="1305560"/>
            <a:chOff x="16883046" y="6330969"/>
            <a:chExt cx="2665730" cy="1305560"/>
          </a:xfrm>
        </p:grpSpPr>
        <p:sp>
          <p:nvSpPr>
            <p:cNvPr id="27" name="object 26">
              <a:extLst>
                <a:ext uri="{FF2B5EF4-FFF2-40B4-BE49-F238E27FC236}">
                  <a16:creationId xmlns:a16="http://schemas.microsoft.com/office/drawing/2014/main" id="{24EFFEEE-F452-C880-7A7C-D7E0590DD5C9}"/>
                </a:ext>
              </a:extLst>
            </p:cNvPr>
            <p:cNvSpPr/>
            <p:nvPr/>
          </p:nvSpPr>
          <p:spPr>
            <a:xfrm>
              <a:off x="16883046" y="7586041"/>
              <a:ext cx="1118870" cy="0"/>
            </a:xfrm>
            <a:custGeom>
              <a:avLst/>
              <a:gdLst/>
              <a:ahLst/>
              <a:cxnLst/>
              <a:rect l="l" t="t" r="r" b="b"/>
              <a:pathLst>
                <a:path w="1118869">
                  <a:moveTo>
                    <a:pt x="0" y="0"/>
                  </a:moveTo>
                  <a:lnTo>
                    <a:pt x="1108050" y="0"/>
                  </a:lnTo>
                  <a:lnTo>
                    <a:pt x="1118520" y="0"/>
                  </a:lnTo>
                </a:path>
              </a:pathLst>
            </a:custGeom>
            <a:ln w="20941">
              <a:solidFill>
                <a:srgbClr val="222C4A"/>
              </a:solidFill>
            </a:ln>
          </p:spPr>
          <p:txBody>
            <a:bodyPr wrap="square" lIns="0" tIns="0" rIns="0" bIns="0" rtlCol="0"/>
            <a:lstStyle/>
            <a:p>
              <a:endParaRPr/>
            </a:p>
          </p:txBody>
        </p:sp>
        <p:sp>
          <p:nvSpPr>
            <p:cNvPr id="28" name="object 27">
              <a:extLst>
                <a:ext uri="{FF2B5EF4-FFF2-40B4-BE49-F238E27FC236}">
                  <a16:creationId xmlns:a16="http://schemas.microsoft.com/office/drawing/2014/main" id="{532E9290-199C-D8DA-AB92-CB5AE8BC3311}"/>
                </a:ext>
              </a:extLst>
            </p:cNvPr>
            <p:cNvSpPr/>
            <p:nvPr/>
          </p:nvSpPr>
          <p:spPr>
            <a:xfrm>
              <a:off x="17991075" y="7535780"/>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sp>
          <p:nvSpPr>
            <p:cNvPr id="29" name="object 28">
              <a:extLst>
                <a:ext uri="{FF2B5EF4-FFF2-40B4-BE49-F238E27FC236}">
                  <a16:creationId xmlns:a16="http://schemas.microsoft.com/office/drawing/2014/main" id="{7F29DFD9-8408-ABE3-4162-047D4F068906}"/>
                </a:ext>
              </a:extLst>
            </p:cNvPr>
            <p:cNvSpPr/>
            <p:nvPr/>
          </p:nvSpPr>
          <p:spPr>
            <a:xfrm>
              <a:off x="18491060" y="6341440"/>
              <a:ext cx="1047115" cy="749935"/>
            </a:xfrm>
            <a:custGeom>
              <a:avLst/>
              <a:gdLst/>
              <a:ahLst/>
              <a:cxnLst/>
              <a:rect l="l" t="t" r="r" b="b"/>
              <a:pathLst>
                <a:path w="1047115" h="749934">
                  <a:moveTo>
                    <a:pt x="670555" y="0"/>
                  </a:moveTo>
                  <a:lnTo>
                    <a:pt x="376533" y="0"/>
                  </a:lnTo>
                  <a:lnTo>
                    <a:pt x="376533" y="423997"/>
                  </a:lnTo>
                  <a:lnTo>
                    <a:pt x="0" y="423997"/>
                  </a:lnTo>
                  <a:lnTo>
                    <a:pt x="523544" y="749767"/>
                  </a:lnTo>
                  <a:lnTo>
                    <a:pt x="1047088" y="423997"/>
                  </a:lnTo>
                  <a:lnTo>
                    <a:pt x="670555" y="423997"/>
                  </a:lnTo>
                  <a:lnTo>
                    <a:pt x="670555" y="0"/>
                  </a:lnTo>
                  <a:close/>
                </a:path>
              </a:pathLst>
            </a:custGeom>
            <a:solidFill>
              <a:srgbClr val="FFFFFF"/>
            </a:solidFill>
          </p:spPr>
          <p:txBody>
            <a:bodyPr wrap="square" lIns="0" tIns="0" rIns="0" bIns="0" rtlCol="0"/>
            <a:lstStyle/>
            <a:p>
              <a:endParaRPr/>
            </a:p>
          </p:txBody>
        </p:sp>
        <p:sp>
          <p:nvSpPr>
            <p:cNvPr id="30" name="object 29">
              <a:extLst>
                <a:ext uri="{FF2B5EF4-FFF2-40B4-BE49-F238E27FC236}">
                  <a16:creationId xmlns:a16="http://schemas.microsoft.com/office/drawing/2014/main" id="{0D916D01-D2E4-525C-E078-4C812D64AA39}"/>
                </a:ext>
              </a:extLst>
            </p:cNvPr>
            <p:cNvSpPr/>
            <p:nvPr/>
          </p:nvSpPr>
          <p:spPr>
            <a:xfrm>
              <a:off x="18491060" y="6341440"/>
              <a:ext cx="1047115" cy="749935"/>
            </a:xfrm>
            <a:custGeom>
              <a:avLst/>
              <a:gdLst/>
              <a:ahLst/>
              <a:cxnLst/>
              <a:rect l="l" t="t" r="r" b="b"/>
              <a:pathLst>
                <a:path w="1047115" h="749934">
                  <a:moveTo>
                    <a:pt x="376545" y="423996"/>
                  </a:moveTo>
                  <a:lnTo>
                    <a:pt x="0" y="423996"/>
                  </a:lnTo>
                  <a:lnTo>
                    <a:pt x="523544" y="749763"/>
                  </a:lnTo>
                  <a:lnTo>
                    <a:pt x="1047088" y="423996"/>
                  </a:lnTo>
                  <a:lnTo>
                    <a:pt x="670542" y="423996"/>
                  </a:lnTo>
                  <a:lnTo>
                    <a:pt x="670542" y="0"/>
                  </a:lnTo>
                  <a:lnTo>
                    <a:pt x="376545" y="0"/>
                  </a:lnTo>
                  <a:lnTo>
                    <a:pt x="376545" y="423996"/>
                  </a:lnTo>
                  <a:close/>
                </a:path>
              </a:pathLst>
            </a:custGeom>
            <a:ln w="20941">
              <a:solidFill>
                <a:srgbClr val="222C4A"/>
              </a:solidFill>
            </a:ln>
          </p:spPr>
          <p:txBody>
            <a:bodyPr wrap="square" lIns="0" tIns="0" rIns="0" bIns="0" rtlCol="0"/>
            <a:lstStyle/>
            <a:p>
              <a:endParaRPr/>
            </a:p>
          </p:txBody>
        </p:sp>
      </p:grpSp>
      <p:sp>
        <p:nvSpPr>
          <p:cNvPr id="32" name="TextBox 31">
            <a:extLst>
              <a:ext uri="{FF2B5EF4-FFF2-40B4-BE49-F238E27FC236}">
                <a16:creationId xmlns:a16="http://schemas.microsoft.com/office/drawing/2014/main" id="{B4E2EA9A-FE90-FEA9-B22D-6AF33B00F083}"/>
              </a:ext>
            </a:extLst>
          </p:cNvPr>
          <p:cNvSpPr txBox="1"/>
          <p:nvPr/>
        </p:nvSpPr>
        <p:spPr>
          <a:xfrm>
            <a:off x="342855" y="1050052"/>
            <a:ext cx="6801706" cy="5262979"/>
          </a:xfrm>
          <a:prstGeom prst="rect">
            <a:avLst/>
          </a:prstGeom>
          <a:noFill/>
        </p:spPr>
        <p:txBody>
          <a:bodyPr wrap="square">
            <a:spAutoFit/>
          </a:bodyPr>
          <a:lstStyle/>
          <a:p>
            <a:r>
              <a:rPr lang="en-US" sz="2400" dirty="0">
                <a:effectLst/>
              </a:rPr>
              <a:t>Primary P updated its own state.</a:t>
            </a:r>
          </a:p>
          <a:p>
            <a:endParaRPr lang="en-US" sz="2400" dirty="0"/>
          </a:p>
          <a:p>
            <a:r>
              <a:rPr lang="en-US" sz="2400" dirty="0">
                <a:effectLst/>
              </a:rPr>
              <a:t>But secondary S1 did not update (failed? slow? </a:t>
            </a:r>
            <a:r>
              <a:rPr lang="en-US" sz="2400" dirty="0"/>
              <a:t>n</a:t>
            </a:r>
            <a:r>
              <a:rPr lang="en-US" sz="2400" dirty="0">
                <a:effectLst/>
              </a:rPr>
              <a:t>etwork problem?).</a:t>
            </a:r>
          </a:p>
          <a:p>
            <a:endParaRPr lang="en-US" sz="2400" dirty="0"/>
          </a:p>
          <a:p>
            <a:r>
              <a:rPr lang="en-US" sz="2400" dirty="0">
                <a:effectLst/>
              </a:rPr>
              <a:t>Client C1 reads from P; Client C2 reads from S1.</a:t>
            </a:r>
          </a:p>
          <a:p>
            <a:pPr marL="742950" lvl="1" indent="-285750">
              <a:buFont typeface="Arial" panose="020B0604020202020204" pitchFamily="34" charset="0"/>
              <a:buChar char="•"/>
            </a:pPr>
            <a:r>
              <a:rPr lang="en-US" sz="2400" dirty="0">
                <a:effectLst/>
              </a:rPr>
              <a:t>they will see different results!</a:t>
            </a:r>
          </a:p>
          <a:p>
            <a:endParaRPr lang="en-US" sz="2400" dirty="0"/>
          </a:p>
          <a:p>
            <a:r>
              <a:rPr lang="en-US" sz="2400" dirty="0">
                <a:effectLst/>
              </a:rPr>
              <a:t>Such a departure from ideal behavior is an "anomaly".</a:t>
            </a:r>
          </a:p>
          <a:p>
            <a:endParaRPr lang="en-US" sz="2400" dirty="0">
              <a:effectLst/>
            </a:endParaRPr>
          </a:p>
          <a:p>
            <a:r>
              <a:rPr lang="en-US" sz="2400" dirty="0">
                <a:effectLst/>
              </a:rPr>
              <a:t>But note that in this case the primary would have returned</a:t>
            </a:r>
          </a:p>
          <a:p>
            <a:pPr marL="742950" lvl="1" indent="-285750">
              <a:buFont typeface="Arial" panose="020B0604020202020204" pitchFamily="34" charset="0"/>
              <a:buChar char="•"/>
            </a:pPr>
            <a:r>
              <a:rPr lang="en-US" sz="2400" dirty="0">
                <a:effectLst/>
              </a:rPr>
              <a:t>an error to the writing client.</a:t>
            </a:r>
          </a:p>
        </p:txBody>
      </p:sp>
    </p:spTree>
    <p:extLst>
      <p:ext uri="{BB962C8B-B14F-4D97-AF65-F5344CB8AC3E}">
        <p14:creationId xmlns:p14="http://schemas.microsoft.com/office/powerpoint/2010/main" val="11444850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dissolve">
                                      <p:cBhvr>
                                        <p:cTn id="7" dur="500"/>
                                        <p:tgtEl>
                                          <p:spTgt spid="16"/>
                                        </p:tgtEl>
                                      </p:cBhvr>
                                    </p:animEffect>
                                  </p:childTnLst>
                                </p:cTn>
                              </p:par>
                              <p:par>
                                <p:cTn id="8" presetID="9"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dissolve">
                                      <p:cBhvr>
                                        <p:cTn id="10" dur="500"/>
                                        <p:tgtEl>
                                          <p:spTgt spid="17"/>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dissolve">
                                      <p:cBhvr>
                                        <p:cTn id="13" dur="500"/>
                                        <p:tgtEl>
                                          <p:spTgt spid="18"/>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dissolve">
                                      <p:cBhvr>
                                        <p:cTn id="16" dur="500"/>
                                        <p:tgtEl>
                                          <p:spTgt spid="19"/>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dissolve">
                                      <p:cBhvr>
                                        <p:cTn id="19" dur="500"/>
                                        <p:tgtEl>
                                          <p:spTgt spid="20"/>
                                        </p:tgtEl>
                                      </p:cBhvr>
                                    </p:animEffect>
                                  </p:childTnLst>
                                </p:cTn>
                              </p:par>
                              <p:par>
                                <p:cTn id="20" presetID="9" presetClass="entr" presetSubtype="0" fill="hold" nodeType="with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dissolve">
                                      <p:cBhvr>
                                        <p:cTn id="22" dur="500"/>
                                        <p:tgtEl>
                                          <p:spTgt spid="21"/>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dissolve">
                                      <p:cBhvr>
                                        <p:cTn id="25" dur="500"/>
                                        <p:tgtEl>
                                          <p:spTgt spid="25"/>
                                        </p:tgtEl>
                                      </p:cBhvr>
                                    </p:animEffect>
                                  </p:childTnLst>
                                </p:cTn>
                              </p:par>
                              <p:par>
                                <p:cTn id="26" presetID="9" presetClass="entr" presetSubtype="0" fill="hold"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dissolve">
                                      <p:cBhvr>
                                        <p:cTn id="28" dur="500"/>
                                        <p:tgtEl>
                                          <p:spTgt spid="26"/>
                                        </p:tgtEl>
                                      </p:cBhvr>
                                    </p:animEffect>
                                  </p:childTnLst>
                                </p:cTn>
                              </p:par>
                              <p:par>
                                <p:cTn id="29" presetID="9" presetClass="entr" presetSubtype="0" fill="hold" grpId="0"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dissolve">
                                      <p:cBhvr>
                                        <p:cTn id="31"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18" grpId="0"/>
      <p:bldP spid="19" grpId="0" animBg="1"/>
      <p:bldP spid="20" grpId="0"/>
      <p:bldP spid="25" grpId="0" animBg="1"/>
      <p:bldP spid="32"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46B0CE-EE10-C2A9-A460-22DBD977049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EA06BED2-C238-0FB9-8200-91F74A3FE19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How Can Consistent but Undefined Arise?</a:t>
            </a:r>
          </a:p>
        </p:txBody>
      </p:sp>
      <p:sp>
        <p:nvSpPr>
          <p:cNvPr id="8" name="Slide Number Placeholder 4">
            <a:extLst>
              <a:ext uri="{FF2B5EF4-FFF2-40B4-BE49-F238E27FC236}">
                <a16:creationId xmlns:a16="http://schemas.microsoft.com/office/drawing/2014/main" id="{11348897-32C0-E84D-2852-ED797663CFA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39</a:t>
            </a:fld>
            <a:endParaRPr lang="en-US"/>
          </a:p>
        </p:txBody>
      </p:sp>
      <p:sp>
        <p:nvSpPr>
          <p:cNvPr id="3" name="TextBox 2">
            <a:extLst>
              <a:ext uri="{FF2B5EF4-FFF2-40B4-BE49-F238E27FC236}">
                <a16:creationId xmlns:a16="http://schemas.microsoft.com/office/drawing/2014/main" id="{A09181C9-F8E5-923E-6204-8E185D42224D}"/>
              </a:ext>
            </a:extLst>
          </p:cNvPr>
          <p:cNvSpPr txBox="1"/>
          <p:nvPr/>
        </p:nvSpPr>
        <p:spPr>
          <a:xfrm>
            <a:off x="139535" y="1294412"/>
            <a:ext cx="8814459" cy="1261884"/>
          </a:xfrm>
          <a:prstGeom prst="rect">
            <a:avLst/>
          </a:prstGeom>
          <a:noFill/>
        </p:spPr>
        <p:txBody>
          <a:bodyPr wrap="square">
            <a:spAutoFit/>
          </a:bodyPr>
          <a:lstStyle/>
          <a:p>
            <a:r>
              <a:rPr lang="en-US" sz="2800" b="1" dirty="0">
                <a:solidFill>
                  <a:srgbClr val="1A2039"/>
                </a:solidFill>
                <a:effectLst/>
              </a:rPr>
              <a:t>Clients break big writes into multiple small writes,</a:t>
            </a:r>
          </a:p>
          <a:p>
            <a:pPr marL="800100" lvl="1" indent="-342900">
              <a:buFont typeface="Arial" panose="020B0604020202020204" pitchFamily="34" charset="0"/>
              <a:buChar char="•"/>
            </a:pPr>
            <a:r>
              <a:rPr lang="en-US" sz="2400" dirty="0">
                <a:solidFill>
                  <a:srgbClr val="1A2039"/>
                </a:solidFill>
                <a:effectLst/>
              </a:rPr>
              <a:t>e.g. at chunk boundaries, and GFS may interleave</a:t>
            </a:r>
          </a:p>
          <a:p>
            <a:pPr marL="800100" lvl="1" indent="-342900">
              <a:buFont typeface="Arial" panose="020B0604020202020204" pitchFamily="34" charset="0"/>
              <a:buChar char="•"/>
            </a:pPr>
            <a:r>
              <a:rPr lang="en-US" sz="2400" dirty="0">
                <a:solidFill>
                  <a:srgbClr val="1A2039"/>
                </a:solidFill>
                <a:effectLst/>
              </a:rPr>
              <a:t>them if concurrent client writes.</a:t>
            </a:r>
          </a:p>
        </p:txBody>
      </p:sp>
    </p:spTree>
    <p:extLst>
      <p:ext uri="{BB962C8B-B14F-4D97-AF65-F5344CB8AC3E}">
        <p14:creationId xmlns:p14="http://schemas.microsoft.com/office/powerpoint/2010/main" val="270950902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Three Appends, Three Replicas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40</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Append A: all three replicas write it, the client gets success</a:t>
            </a:r>
          </a:p>
          <a:p>
            <a:r>
              <a:rPr lang="en-US" sz="3200" b="1" dirty="0"/>
              <a:t>Append B: one replica misses it, so the client gets an error</a:t>
            </a:r>
          </a:p>
          <a:p>
            <a:r>
              <a:rPr lang="en-US" sz="3200" b="1" dirty="0"/>
              <a:t>Append C: the primary picks the next offset for everyone</a:t>
            </a:r>
          </a:p>
          <a:p>
            <a:r>
              <a:rPr lang="en-US" sz="3200" b="1" dirty="0"/>
              <a:t>The client retries B, and this time all three write it</a:t>
            </a:r>
          </a:p>
          <a:p>
            <a:pPr marL="457200"/>
            <a:r>
              <a:rPr lang="en-US" sz="2800" b="0" dirty="0"/>
              <a:t>One replica now holds A, B, C, B; another holds A, padding, C, B</a:t>
            </a:r>
          </a:p>
          <a:p>
            <a:pPr marL="457200"/>
            <a:r>
              <a:rPr lang="en-US" sz="2800" b="0" dirty="0"/>
              <a:t>Different readers see different orders, and B appears twice</a:t>
            </a:r>
          </a:p>
          <a:p>
            <a:pPr marL="457200"/>
            <a:r>
              <a:rPr lang="en-US" sz="2800" b="0" dirty="0"/>
              <a:t>If the client dies before retrying, a record can live on some replicas only</a:t>
            </a:r>
          </a:p>
        </p:txBody>
      </p:sp>
    </p:spTree>
    <p:extLst>
      <p:ext uri="{BB962C8B-B14F-4D97-AF65-F5344CB8AC3E}">
        <p14:creationId xmlns:p14="http://schemas.microsoft.com/office/powerpoint/2010/main" val="172067069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Are These Anomalies OK?</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41</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GFS only had to serve Google’s own applications</a:t>
            </a:r>
          </a:p>
          <a:p>
            <a:pPr marL="457200"/>
            <a:r>
              <a:rPr lang="en-US" sz="2800" b="0" dirty="0"/>
              <a:t>Mostly one writer per file, or concurrent record appends</a:t>
            </a:r>
          </a:p>
          <a:p>
            <a:pPr marL="457200"/>
            <a:r>
              <a:rPr lang="en-US" sz="2800" b="0" dirty="0"/>
              <a:t>Applications write checksums and record IDs into their own records</a:t>
            </a:r>
          </a:p>
          <a:p>
            <a:pPr marL="457200"/>
            <a:r>
              <a:rPr lang="en-US" sz="2800" b="0" dirty="0"/>
              <a:t>Readers use them to skip padding, junk and duplicates</a:t>
            </a:r>
          </a:p>
          <a:p>
            <a:pPr marL="457200"/>
            <a:r>
              <a:rPr lang="en-US" sz="2800" b="0" dirty="0"/>
              <a:t>MapReduce re-runs tasks anyway, so it already tolerates repeated output</a:t>
            </a:r>
          </a:p>
          <a:p>
            <a:r>
              <a:rPr lang="en-US" sz="3200" b="1" dirty="0"/>
              <a:t>Google engineers later said they should have made it more consistent</a:t>
            </a:r>
          </a:p>
          <a:p>
            <a:pPr marL="457200"/>
            <a:r>
              <a:rPr lang="en-US" sz="2800" b="0" dirty="0"/>
              <a:t>Applications that needed order had to arrange it themselves</a:t>
            </a:r>
          </a:p>
        </p:txBody>
      </p:sp>
    </p:spTree>
    <p:extLst>
      <p:ext uri="{BB962C8B-B14F-4D97-AF65-F5344CB8AC3E}">
        <p14:creationId xmlns:p14="http://schemas.microsoft.com/office/powerpoint/2010/main" val="172067069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C2566-7C17-1C22-6795-1C24C5CECCF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BF498509-D76F-9495-7BB2-1384750D0056}"/>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A Client Crashes While Writing?</a:t>
            </a:r>
          </a:p>
        </p:txBody>
      </p:sp>
      <p:sp>
        <p:nvSpPr>
          <p:cNvPr id="8" name="Slide Number Placeholder 4">
            <a:extLst>
              <a:ext uri="{FF2B5EF4-FFF2-40B4-BE49-F238E27FC236}">
                <a16:creationId xmlns:a16="http://schemas.microsoft.com/office/drawing/2014/main" id="{86770406-6D65-6114-7149-D7597E285F8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42</a:t>
            </a:fld>
            <a:endParaRPr lang="en-US"/>
          </a:p>
        </p:txBody>
      </p:sp>
      <p:sp>
        <p:nvSpPr>
          <p:cNvPr id="3" name="TextBox 2">
            <a:extLst>
              <a:ext uri="{FF2B5EF4-FFF2-40B4-BE49-F238E27FC236}">
                <a16:creationId xmlns:a16="http://schemas.microsoft.com/office/drawing/2014/main" id="{07BCE55F-4C0E-768B-BD5C-59832FBF5EB7}"/>
              </a:ext>
            </a:extLst>
          </p:cNvPr>
          <p:cNvSpPr txBox="1"/>
          <p:nvPr/>
        </p:nvSpPr>
        <p:spPr>
          <a:xfrm>
            <a:off x="293914" y="1032555"/>
            <a:ext cx="7258791" cy="461665"/>
          </a:xfrm>
          <a:prstGeom prst="rect">
            <a:avLst/>
          </a:prstGeom>
          <a:noFill/>
        </p:spPr>
        <p:txBody>
          <a:bodyPr wrap="square">
            <a:spAutoFit/>
          </a:bodyPr>
          <a:lstStyle/>
          <a:p>
            <a:r>
              <a:rPr lang="en-US" sz="2400" dirty="0">
                <a:solidFill>
                  <a:srgbClr val="1A2039"/>
                </a:solidFill>
                <a:effectLst/>
              </a:rPr>
              <a:t>Either it got as far as asking primary to write, or not.</a:t>
            </a:r>
          </a:p>
        </p:txBody>
      </p:sp>
    </p:spTree>
    <p:extLst>
      <p:ext uri="{BB962C8B-B14F-4D97-AF65-F5344CB8AC3E}">
        <p14:creationId xmlns:p14="http://schemas.microsoft.com/office/powerpoint/2010/main" val="6922006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D168E5-8938-15CE-6AA9-239BEB132DB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24573AA-EF13-A390-6AAC-4464AB455FAD}"/>
              </a:ext>
            </a:extLst>
          </p:cNvPr>
          <p:cNvSpPr>
            <a:spLocks noGrp="1"/>
          </p:cNvSpPr>
          <p:nvPr>
            <p:ph type="title"/>
          </p:nvPr>
        </p:nvSpPr>
        <p:spPr>
          <a:xfrm>
            <a:off x="0" y="1"/>
            <a:ext cx="12191999" cy="914400"/>
          </a:xfrm>
        </p:spPr>
        <p:txBody>
          <a:bodyPr>
            <a:noAutofit/>
          </a:bodyPr>
          <a:lstStyle/>
          <a:p>
            <a:pPr algn="ctr"/>
            <a:r>
              <a:rPr lang="en-US" sz="3200" b="1" dirty="0">
                <a:latin typeface="Helvetica" panose="020B0604020202020204" pitchFamily="34" charset="0"/>
                <a:cs typeface="Helvetica" panose="020B0604020202020204" pitchFamily="34" charset="0"/>
              </a:rPr>
              <a:t>A Secondary Crashes Just As The Primary Asks It to Write?</a:t>
            </a:r>
          </a:p>
        </p:txBody>
      </p:sp>
      <p:sp>
        <p:nvSpPr>
          <p:cNvPr id="8" name="Slide Number Placeholder 4">
            <a:extLst>
              <a:ext uri="{FF2B5EF4-FFF2-40B4-BE49-F238E27FC236}">
                <a16:creationId xmlns:a16="http://schemas.microsoft.com/office/drawing/2014/main" id="{851A535A-75AA-831E-267A-20B118667BA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43</a:t>
            </a:fld>
            <a:endParaRPr lang="en-US"/>
          </a:p>
        </p:txBody>
      </p:sp>
      <p:sp>
        <p:nvSpPr>
          <p:cNvPr id="3" name="TextBox 2">
            <a:extLst>
              <a:ext uri="{FF2B5EF4-FFF2-40B4-BE49-F238E27FC236}">
                <a16:creationId xmlns:a16="http://schemas.microsoft.com/office/drawing/2014/main" id="{0F49AED1-43B1-B2F1-1C9E-F7D7F744F705}"/>
              </a:ext>
            </a:extLst>
          </p:cNvPr>
          <p:cNvSpPr txBox="1"/>
          <p:nvPr/>
        </p:nvSpPr>
        <p:spPr>
          <a:xfrm>
            <a:off x="424543" y="1054924"/>
            <a:ext cx="10108870" cy="4893647"/>
          </a:xfrm>
          <a:prstGeom prst="rect">
            <a:avLst/>
          </a:prstGeom>
          <a:noFill/>
        </p:spPr>
        <p:txBody>
          <a:bodyPr wrap="square">
            <a:spAutoFit/>
          </a:bodyPr>
          <a:lstStyle/>
          <a:p>
            <a:r>
              <a:rPr lang="en-US" sz="2400" dirty="0">
                <a:effectLst/>
                <a:latin typeface="Arial" pitchFamily="2" charset="0"/>
              </a:rPr>
              <a:t>1. </a:t>
            </a:r>
            <a:r>
              <a:rPr lang="en-US" sz="2400" b="1" dirty="0">
                <a:effectLst/>
                <a:latin typeface="Arial" pitchFamily="2" charset="0"/>
              </a:rPr>
              <a:t>Primary may retry a few times, if secondary revives quickly</a:t>
            </a:r>
          </a:p>
          <a:p>
            <a:pPr marL="742950" lvl="1" indent="-285750">
              <a:buFont typeface="Arial" panose="020B0604020202020204" pitchFamily="34" charset="0"/>
              <a:buChar char="•"/>
            </a:pPr>
            <a:r>
              <a:rPr lang="en-US" sz="2400" dirty="0">
                <a:effectLst/>
                <a:latin typeface="Arial" pitchFamily="2" charset="0"/>
              </a:rPr>
              <a:t>with disk intact, it may execute the primary's request</a:t>
            </a:r>
          </a:p>
          <a:p>
            <a:pPr marL="742950" lvl="1" indent="-285750">
              <a:buFont typeface="Arial" panose="020B0604020202020204" pitchFamily="34" charset="0"/>
              <a:buChar char="•"/>
            </a:pPr>
            <a:r>
              <a:rPr lang="en-US" sz="2400" dirty="0">
                <a:effectLst/>
                <a:latin typeface="Arial" pitchFamily="2" charset="0"/>
              </a:rPr>
              <a:t>and all is well.</a:t>
            </a:r>
          </a:p>
          <a:p>
            <a:pPr marL="742950" lvl="1" indent="-285750">
              <a:buFont typeface="Arial" panose="020B0604020202020204" pitchFamily="34" charset="0"/>
              <a:buChar char="•"/>
            </a:pPr>
            <a:endParaRPr lang="en-US" sz="2400" dirty="0">
              <a:effectLst/>
              <a:latin typeface="Arial" pitchFamily="2" charset="0"/>
            </a:endParaRPr>
          </a:p>
          <a:p>
            <a:r>
              <a:rPr lang="en-US" sz="2400" dirty="0">
                <a:effectLst/>
                <a:latin typeface="Arial" pitchFamily="2" charset="0"/>
              </a:rPr>
              <a:t>2. </a:t>
            </a:r>
            <a:r>
              <a:rPr lang="en-US" sz="2400" b="1" dirty="0">
                <a:effectLst/>
                <a:latin typeface="Arial" pitchFamily="2" charset="0"/>
              </a:rPr>
              <a:t>Primary gives up, and returns an error to the client</a:t>
            </a:r>
            <a:r>
              <a:rPr lang="en-US" sz="2400" dirty="0">
                <a:effectLst/>
                <a:latin typeface="Arial" pitchFamily="2" charset="0"/>
              </a:rPr>
              <a:t>.</a:t>
            </a:r>
          </a:p>
          <a:p>
            <a:pPr marL="742950" lvl="1" indent="-285750">
              <a:buFont typeface="Arial" panose="020B0604020202020204" pitchFamily="34" charset="0"/>
              <a:buChar char="•"/>
            </a:pPr>
            <a:r>
              <a:rPr lang="en-US" sz="2400" dirty="0">
                <a:effectLst/>
                <a:latin typeface="Arial" pitchFamily="2" charset="0"/>
              </a:rPr>
              <a:t>Client can retry -- but why would the write work the second</a:t>
            </a:r>
          </a:p>
          <a:p>
            <a:pPr marL="742950" lvl="1" indent="-285750">
              <a:buFont typeface="Arial" panose="020B0604020202020204" pitchFamily="34" charset="0"/>
              <a:buChar char="•"/>
            </a:pPr>
            <a:r>
              <a:rPr lang="en-US" sz="2400" dirty="0">
                <a:effectLst/>
                <a:latin typeface="Arial" pitchFamily="2" charset="0"/>
              </a:rPr>
              <a:t>time around?</a:t>
            </a:r>
          </a:p>
          <a:p>
            <a:pPr marL="742950" lvl="1" indent="-285750">
              <a:buFont typeface="Arial" panose="020B0604020202020204" pitchFamily="34" charset="0"/>
              <a:buChar char="•"/>
            </a:pPr>
            <a:endParaRPr lang="en-US" sz="2400" dirty="0">
              <a:effectLst/>
              <a:latin typeface="Arial" pitchFamily="2" charset="0"/>
            </a:endParaRPr>
          </a:p>
          <a:p>
            <a:r>
              <a:rPr lang="en-US" sz="2400" dirty="0">
                <a:effectLst/>
                <a:latin typeface="Arial" pitchFamily="2" charset="0"/>
              </a:rPr>
              <a:t>3. </a:t>
            </a:r>
            <a:r>
              <a:rPr lang="en-US" sz="2400" b="1" dirty="0">
                <a:effectLst/>
                <a:latin typeface="Arial" pitchFamily="2" charset="0"/>
              </a:rPr>
              <a:t>Coordinator notices that a </a:t>
            </a:r>
            <a:r>
              <a:rPr lang="en-US" sz="2400" b="1" dirty="0" err="1">
                <a:effectLst/>
                <a:latin typeface="Arial" pitchFamily="2" charset="0"/>
              </a:rPr>
              <a:t>chunkserver</a:t>
            </a:r>
            <a:r>
              <a:rPr lang="en-US" sz="2400" b="1" dirty="0">
                <a:effectLst/>
                <a:latin typeface="Arial" pitchFamily="2" charset="0"/>
              </a:rPr>
              <a:t> is down.</a:t>
            </a:r>
          </a:p>
          <a:p>
            <a:pPr marL="742950" lvl="1" indent="-285750">
              <a:buFont typeface="Arial" panose="020B0604020202020204" pitchFamily="34" charset="0"/>
              <a:buChar char="•"/>
            </a:pPr>
            <a:r>
              <a:rPr lang="en-US" sz="2400" dirty="0">
                <a:effectLst/>
                <a:latin typeface="Arial" pitchFamily="2" charset="0"/>
              </a:rPr>
              <a:t>Periodically pings all chunk servers.</a:t>
            </a:r>
          </a:p>
          <a:p>
            <a:pPr marL="742950" lvl="1" indent="-285750">
              <a:buFont typeface="Arial" panose="020B0604020202020204" pitchFamily="34" charset="0"/>
              <a:buChar char="•"/>
            </a:pPr>
            <a:r>
              <a:rPr lang="en-US" sz="2400" dirty="0">
                <a:effectLst/>
                <a:latin typeface="Arial" pitchFamily="2" charset="0"/>
              </a:rPr>
              <a:t>Removes the failed </a:t>
            </a:r>
            <a:r>
              <a:rPr lang="en-US" sz="2400" dirty="0" err="1">
                <a:effectLst/>
                <a:latin typeface="Arial" pitchFamily="2" charset="0"/>
              </a:rPr>
              <a:t>chunkserver</a:t>
            </a:r>
            <a:r>
              <a:rPr lang="en-US" sz="2400" dirty="0">
                <a:effectLst/>
                <a:latin typeface="Arial" pitchFamily="2" charset="0"/>
              </a:rPr>
              <a:t> from all </a:t>
            </a:r>
            <a:r>
              <a:rPr lang="en-US" sz="2400" dirty="0" err="1">
                <a:effectLst/>
                <a:latin typeface="Arial" pitchFamily="2" charset="0"/>
              </a:rPr>
              <a:t>chunkhandle</a:t>
            </a:r>
            <a:r>
              <a:rPr lang="en-US" sz="2400" dirty="0">
                <a:effectLst/>
                <a:latin typeface="Arial" pitchFamily="2" charset="0"/>
              </a:rPr>
              <a:t> lists.</a:t>
            </a:r>
          </a:p>
          <a:p>
            <a:pPr marL="742950" lvl="1" indent="-285750">
              <a:buFont typeface="Arial" panose="020B0604020202020204" pitchFamily="34" charset="0"/>
              <a:buChar char="•"/>
            </a:pPr>
            <a:r>
              <a:rPr lang="en-US" sz="2400" dirty="0">
                <a:effectLst/>
                <a:latin typeface="Arial" pitchFamily="2" charset="0"/>
              </a:rPr>
              <a:t>Perhaps re-replicates, to maintain 3 replicas.</a:t>
            </a:r>
          </a:p>
          <a:p>
            <a:pPr marL="742950" lvl="1" indent="-285750">
              <a:buFont typeface="Arial" panose="020B0604020202020204" pitchFamily="34" charset="0"/>
              <a:buChar char="•"/>
            </a:pPr>
            <a:r>
              <a:rPr lang="en-US" sz="2400" dirty="0">
                <a:effectLst/>
                <a:latin typeface="Arial" pitchFamily="2" charset="0"/>
              </a:rPr>
              <a:t>Tells primary the new secondary list.</a:t>
            </a:r>
          </a:p>
        </p:txBody>
      </p:sp>
    </p:spTree>
    <p:extLst>
      <p:ext uri="{BB962C8B-B14F-4D97-AF65-F5344CB8AC3E}">
        <p14:creationId xmlns:p14="http://schemas.microsoft.com/office/powerpoint/2010/main" val="3799763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dissolve">
                                      <p:cBhvr>
                                        <p:cTn id="7" dur="500"/>
                                        <p:tgtEl>
                                          <p:spTgt spid="3">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5" end="5"/>
                                            </p:txEl>
                                          </p:spTgt>
                                        </p:tgtEl>
                                        <p:attrNameLst>
                                          <p:attrName>style.visibility</p:attrName>
                                        </p:attrNameLst>
                                      </p:cBhvr>
                                      <p:to>
                                        <p:strVal val="visible"/>
                                      </p:to>
                                    </p:set>
                                    <p:animEffect transition="in" filter="dissolve">
                                      <p:cBhvr>
                                        <p:cTn id="10" dur="500"/>
                                        <p:tgtEl>
                                          <p:spTgt spid="3">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dissolve">
                                      <p:cBhvr>
                                        <p:cTn id="13" dur="500"/>
                                        <p:tgtEl>
                                          <p:spTgt spid="3">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3">
                                            <p:txEl>
                                              <p:pRg st="8" end="8"/>
                                            </p:txEl>
                                          </p:spTgt>
                                        </p:tgtEl>
                                        <p:attrNameLst>
                                          <p:attrName>style.visibility</p:attrName>
                                        </p:attrNameLst>
                                      </p:cBhvr>
                                      <p:to>
                                        <p:strVal val="visible"/>
                                      </p:to>
                                    </p:set>
                                    <p:animEffect transition="in" filter="dissolve">
                                      <p:cBhvr>
                                        <p:cTn id="18" dur="500"/>
                                        <p:tgtEl>
                                          <p:spTgt spid="3">
                                            <p:txEl>
                                              <p:pRg st="8" end="8"/>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animEffect transition="in" filter="dissolve">
                                      <p:cBhvr>
                                        <p:cTn id="21" dur="500"/>
                                        <p:tgtEl>
                                          <p:spTgt spid="3">
                                            <p:txEl>
                                              <p:pRg st="9" end="9"/>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3">
                                            <p:txEl>
                                              <p:pRg st="10" end="10"/>
                                            </p:txEl>
                                          </p:spTgt>
                                        </p:tgtEl>
                                        <p:attrNameLst>
                                          <p:attrName>style.visibility</p:attrName>
                                        </p:attrNameLst>
                                      </p:cBhvr>
                                      <p:to>
                                        <p:strVal val="visible"/>
                                      </p:to>
                                    </p:set>
                                    <p:animEffect transition="in" filter="dissolve">
                                      <p:cBhvr>
                                        <p:cTn id="24" dur="500"/>
                                        <p:tgtEl>
                                          <p:spTgt spid="3">
                                            <p:txEl>
                                              <p:pRg st="10" end="10"/>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animEffect transition="in" filter="dissolve">
                                      <p:cBhvr>
                                        <p:cTn id="27" dur="500"/>
                                        <p:tgtEl>
                                          <p:spTgt spid="3">
                                            <p:txEl>
                                              <p:pRg st="11" end="11"/>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2" end="12"/>
                                            </p:txEl>
                                          </p:spTgt>
                                        </p:tgtEl>
                                        <p:attrNameLst>
                                          <p:attrName>style.visibility</p:attrName>
                                        </p:attrNameLst>
                                      </p:cBhvr>
                                      <p:to>
                                        <p:strVal val="visible"/>
                                      </p:to>
                                    </p:set>
                                    <p:animEffect transition="in" filter="dissolve">
                                      <p:cBhvr>
                                        <p:cTn id="30" dur="500"/>
                                        <p:tgtEl>
                                          <p:spTgt spid="3">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A6ECA-9759-8C31-29D3-C9C1F773236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07281EBD-CD70-F2E5-D83C-EBDB242FF73A}"/>
              </a:ext>
            </a:extLst>
          </p:cNvPr>
          <p:cNvSpPr>
            <a:spLocks noGrp="1"/>
          </p:cNvSpPr>
          <p:nvPr>
            <p:ph type="title"/>
          </p:nvPr>
        </p:nvSpPr>
        <p:spPr>
          <a:xfrm>
            <a:off x="0" y="1"/>
            <a:ext cx="12191999" cy="914400"/>
          </a:xfrm>
        </p:spPr>
        <p:txBody>
          <a:bodyPr>
            <a:noAutofit/>
          </a:bodyPr>
          <a:lstStyle/>
          <a:p>
            <a:pPr algn="ctr"/>
            <a:r>
              <a:rPr lang="en-US" sz="3200" b="1" dirty="0">
                <a:latin typeface="Helvetica" panose="020B0604020202020204" pitchFamily="34" charset="0"/>
                <a:cs typeface="Helvetica" panose="020B0604020202020204" pitchFamily="34" charset="0"/>
              </a:rPr>
              <a:t>A Secondary Crashes Just As The Primary Asks It to Write?</a:t>
            </a:r>
          </a:p>
        </p:txBody>
      </p:sp>
      <p:sp>
        <p:nvSpPr>
          <p:cNvPr id="8" name="Slide Number Placeholder 4">
            <a:extLst>
              <a:ext uri="{FF2B5EF4-FFF2-40B4-BE49-F238E27FC236}">
                <a16:creationId xmlns:a16="http://schemas.microsoft.com/office/drawing/2014/main" id="{359A4F27-7F3A-40C1-651E-3CC18EBCC3E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44</a:t>
            </a:fld>
            <a:endParaRPr lang="en-US"/>
          </a:p>
        </p:txBody>
      </p:sp>
      <p:sp>
        <p:nvSpPr>
          <p:cNvPr id="4" name="TextBox 3">
            <a:extLst>
              <a:ext uri="{FF2B5EF4-FFF2-40B4-BE49-F238E27FC236}">
                <a16:creationId xmlns:a16="http://schemas.microsoft.com/office/drawing/2014/main" id="{5E467C7A-3A49-BE4A-7845-2B354366E1C1}"/>
              </a:ext>
            </a:extLst>
          </p:cNvPr>
          <p:cNvSpPr txBox="1"/>
          <p:nvPr/>
        </p:nvSpPr>
        <p:spPr>
          <a:xfrm>
            <a:off x="0" y="1009404"/>
            <a:ext cx="10964883" cy="4585871"/>
          </a:xfrm>
          <a:prstGeom prst="rect">
            <a:avLst/>
          </a:prstGeom>
          <a:noFill/>
        </p:spPr>
        <p:txBody>
          <a:bodyPr wrap="square">
            <a:spAutoFit/>
          </a:bodyPr>
          <a:lstStyle/>
          <a:p>
            <a:r>
              <a:rPr lang="en-US" sz="2800" dirty="0">
                <a:effectLst/>
              </a:rPr>
              <a:t> Re-replication after a </a:t>
            </a:r>
            <a:r>
              <a:rPr lang="en-US" sz="2800" dirty="0" err="1">
                <a:effectLst/>
              </a:rPr>
              <a:t>chunkserver</a:t>
            </a:r>
            <a:r>
              <a:rPr lang="en-US" sz="2800" dirty="0">
                <a:effectLst/>
              </a:rPr>
              <a:t> failure may take a </a:t>
            </a:r>
            <a:r>
              <a:rPr lang="en-US" sz="2800" b="1" dirty="0">
                <a:effectLst/>
              </a:rPr>
              <a:t>long time</a:t>
            </a:r>
            <a:endParaRPr lang="en-US" sz="2800" dirty="0"/>
          </a:p>
          <a:p>
            <a:pPr marL="742950" lvl="1" indent="-285750">
              <a:buFont typeface="Arial" panose="020B0604020202020204" pitchFamily="34" charset="0"/>
              <a:buChar char="•"/>
            </a:pPr>
            <a:r>
              <a:rPr lang="en-US" sz="2400" dirty="0"/>
              <a:t>Since a </a:t>
            </a:r>
            <a:r>
              <a:rPr lang="en-US" sz="2400" dirty="0" err="1"/>
              <a:t>chunkserver</a:t>
            </a:r>
            <a:r>
              <a:rPr lang="en-US" sz="2400" dirty="0"/>
              <a:t> failure requires re-replication of all its chunks. 80 GB disk, 10 MB/s network -&gt; an hour or two for full copy.</a:t>
            </a:r>
          </a:p>
          <a:p>
            <a:pPr marL="742950" lvl="1" indent="-285750">
              <a:buFont typeface="Arial" panose="020B0604020202020204" pitchFamily="34" charset="0"/>
              <a:buChar char="•"/>
            </a:pPr>
            <a:r>
              <a:rPr lang="en-US" sz="2400" dirty="0"/>
              <a:t>So the primary probably re-tries for a while,</a:t>
            </a:r>
          </a:p>
          <a:p>
            <a:pPr marL="742950" lvl="1" indent="-285750">
              <a:buFont typeface="Arial" panose="020B0604020202020204" pitchFamily="34" charset="0"/>
              <a:buChar char="•"/>
            </a:pPr>
            <a:r>
              <a:rPr lang="en-US" sz="2400" dirty="0"/>
              <a:t>and the master lets the system operate with a missing</a:t>
            </a:r>
          </a:p>
          <a:p>
            <a:pPr marL="742950" lvl="1" indent="-285750">
              <a:buFont typeface="Arial" panose="020B0604020202020204" pitchFamily="34" charset="0"/>
              <a:buChar char="•"/>
            </a:pPr>
            <a:r>
              <a:rPr lang="en-US" sz="2400" dirty="0"/>
              <a:t>chunk replica, before declaring the </a:t>
            </a:r>
            <a:r>
              <a:rPr lang="en-US" sz="2400" dirty="0" err="1"/>
              <a:t>chunkserver</a:t>
            </a:r>
            <a:r>
              <a:rPr lang="en-US" sz="2400" dirty="0"/>
              <a:t> permanently dead.</a:t>
            </a:r>
          </a:p>
          <a:p>
            <a:pPr marL="742950" lvl="1" indent="-285750">
              <a:buFont typeface="Arial" panose="020B0604020202020204" pitchFamily="34" charset="0"/>
              <a:buChar char="•"/>
            </a:pPr>
            <a:r>
              <a:rPr lang="en-US" sz="2400" dirty="0"/>
              <a:t>How long to wait before re-replicating?</a:t>
            </a:r>
          </a:p>
          <a:p>
            <a:pPr marL="742950" lvl="1" indent="-285750">
              <a:buFont typeface="Arial" panose="020B0604020202020204" pitchFamily="34" charset="0"/>
              <a:buChar char="•"/>
            </a:pPr>
            <a:r>
              <a:rPr lang="en-US" sz="2400" dirty="0"/>
              <a:t>Too short: wasted copying work if </a:t>
            </a:r>
            <a:r>
              <a:rPr lang="en-US" sz="2400" dirty="0" err="1"/>
              <a:t>chunkserver</a:t>
            </a:r>
            <a:r>
              <a:rPr lang="en-US" sz="2400" dirty="0"/>
              <a:t> comes back to life. Too long: more failures might destroy all copies of data.</a:t>
            </a:r>
          </a:p>
          <a:p>
            <a:endParaRPr lang="en-US" sz="2400" dirty="0"/>
          </a:p>
          <a:p>
            <a:endParaRPr lang="en-US" sz="2400" dirty="0"/>
          </a:p>
          <a:p>
            <a:endParaRPr lang="en-US" sz="2400" dirty="0"/>
          </a:p>
        </p:txBody>
      </p:sp>
    </p:spTree>
    <p:extLst>
      <p:ext uri="{BB962C8B-B14F-4D97-AF65-F5344CB8AC3E}">
        <p14:creationId xmlns:p14="http://schemas.microsoft.com/office/powerpoint/2010/main" val="8414580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1E15A8-CE1E-6260-D98B-B7DACB8CA98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993B7FF-91FD-DB52-4DC6-8E08BDE899B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216196A9-3EE7-41E4-625D-4EF5F67D5D1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45</a:t>
            </a:fld>
            <a:endParaRPr lang="en-US"/>
          </a:p>
        </p:txBody>
      </p:sp>
      <p:sp>
        <p:nvSpPr>
          <p:cNvPr id="3" name="TextBox 2">
            <a:extLst>
              <a:ext uri="{FF2B5EF4-FFF2-40B4-BE49-F238E27FC236}">
                <a16:creationId xmlns:a16="http://schemas.microsoft.com/office/drawing/2014/main" id="{CFC333E4-500A-7568-78A2-ACFBA95BC657}"/>
              </a:ext>
            </a:extLst>
          </p:cNvPr>
          <p:cNvSpPr txBox="1"/>
          <p:nvPr/>
        </p:nvSpPr>
        <p:spPr>
          <a:xfrm>
            <a:off x="412667" y="1052852"/>
            <a:ext cx="11094523" cy="4832092"/>
          </a:xfrm>
          <a:prstGeom prst="rect">
            <a:avLst/>
          </a:prstGeom>
          <a:noFill/>
        </p:spPr>
        <p:txBody>
          <a:bodyPr wrap="square">
            <a:spAutoFit/>
          </a:bodyPr>
          <a:lstStyle/>
          <a:p>
            <a:r>
              <a:rPr lang="en-US" sz="2800" b="1" dirty="0">
                <a:effectLst/>
              </a:rPr>
              <a:t>The master must be able to designate a new primary if the present primary fails.</a:t>
            </a:r>
          </a:p>
          <a:p>
            <a:endParaRPr lang="en-US" sz="2800" b="1" dirty="0"/>
          </a:p>
          <a:p>
            <a:r>
              <a:rPr lang="en-US" sz="2800" b="1" dirty="0">
                <a:effectLst/>
              </a:rPr>
              <a:t>But the master cannot distinguish "primary has failed” from "primary is still alive but the network has a problem."</a:t>
            </a:r>
          </a:p>
          <a:p>
            <a:endParaRPr lang="en-US" sz="2800" b="1" dirty="0"/>
          </a:p>
          <a:p>
            <a:r>
              <a:rPr lang="en-US" sz="2800" b="1" dirty="0">
                <a:effectLst/>
              </a:rPr>
              <a:t>What if the master designates a new primary while old one is active?</a:t>
            </a:r>
          </a:p>
          <a:p>
            <a:pPr marL="914400" lvl="1" indent="-457200">
              <a:buFont typeface="Arial" panose="020B0604020202020204" pitchFamily="34" charset="0"/>
              <a:buChar char="•"/>
            </a:pPr>
            <a:r>
              <a:rPr lang="en-US" sz="2800" dirty="0">
                <a:effectLst/>
              </a:rPr>
              <a:t>two active primaries!</a:t>
            </a:r>
          </a:p>
          <a:p>
            <a:pPr marL="914400" lvl="1" indent="-457200">
              <a:buFont typeface="Arial" panose="020B0604020202020204" pitchFamily="34" charset="0"/>
              <a:buChar char="•"/>
            </a:pPr>
            <a:r>
              <a:rPr lang="en-US" sz="2800" dirty="0">
                <a:effectLst/>
              </a:rPr>
              <a:t>C1 writes to P1, C2 reads from P2, doesn't seen C1's write!</a:t>
            </a:r>
          </a:p>
          <a:p>
            <a:pPr marL="914400" lvl="1" indent="-457200">
              <a:buFont typeface="Arial" panose="020B0604020202020204" pitchFamily="34" charset="0"/>
              <a:buChar char="•"/>
            </a:pPr>
            <a:r>
              <a:rPr lang="en-US" sz="2800" dirty="0">
                <a:effectLst/>
              </a:rPr>
              <a:t>called "split brain" -- a disaster</a:t>
            </a:r>
          </a:p>
        </p:txBody>
      </p:sp>
    </p:spTree>
    <p:extLst>
      <p:ext uri="{BB962C8B-B14F-4D97-AF65-F5344CB8AC3E}">
        <p14:creationId xmlns:p14="http://schemas.microsoft.com/office/powerpoint/2010/main" val="34282676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dissolve">
                                      <p:cBhvr>
                                        <p:cTn id="12" dur="500"/>
                                        <p:tgtEl>
                                          <p:spTgt spid="3">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dissolve">
                                      <p:cBhvr>
                                        <p:cTn id="15" dur="500"/>
                                        <p:tgtEl>
                                          <p:spTgt spid="3">
                                            <p:txEl>
                                              <p:pRg st="5" end="5"/>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dissolve">
                                      <p:cBhvr>
                                        <p:cTn id="18" dur="500"/>
                                        <p:tgtEl>
                                          <p:spTgt spid="3">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dissolve">
                                      <p:cBhvr>
                                        <p:cTn id="21"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5B954-4795-4A51-4D0C-1F3E54BA5F3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BF45D5F-00DF-610C-5AB8-33DFBAF71AF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2A87F9BA-1276-2169-128B-43BAC08FD2A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46</a:t>
            </a:fld>
            <a:endParaRPr lang="en-US"/>
          </a:p>
        </p:txBody>
      </p:sp>
      <p:sp>
        <p:nvSpPr>
          <p:cNvPr id="3" name="TextBox 2">
            <a:extLst>
              <a:ext uri="{FF2B5EF4-FFF2-40B4-BE49-F238E27FC236}">
                <a16:creationId xmlns:a16="http://schemas.microsoft.com/office/drawing/2014/main" id="{6D67B72B-1485-A6FB-1F12-DBCB9736E82C}"/>
              </a:ext>
            </a:extLst>
          </p:cNvPr>
          <p:cNvSpPr txBox="1"/>
          <p:nvPr/>
        </p:nvSpPr>
        <p:spPr>
          <a:xfrm>
            <a:off x="412667" y="1052852"/>
            <a:ext cx="9693233" cy="3539430"/>
          </a:xfrm>
          <a:prstGeom prst="rect">
            <a:avLst/>
          </a:prstGeom>
          <a:noFill/>
        </p:spPr>
        <p:txBody>
          <a:bodyPr wrap="square">
            <a:spAutoFit/>
          </a:bodyPr>
          <a:lstStyle/>
          <a:p>
            <a:r>
              <a:rPr lang="en-US" sz="2800" b="1" dirty="0">
                <a:effectLst/>
              </a:rPr>
              <a:t>Solution: Lease</a:t>
            </a:r>
          </a:p>
          <a:p>
            <a:pPr marL="742950" lvl="1" indent="-285750">
              <a:buFont typeface="Arial" panose="020B0604020202020204" pitchFamily="34" charset="0"/>
              <a:buChar char="•"/>
            </a:pPr>
            <a:r>
              <a:rPr lang="en-US" sz="2400" dirty="0">
                <a:effectLst/>
              </a:rPr>
              <a:t>Permission to act as primary for a given time (60 seconds).</a:t>
            </a:r>
          </a:p>
          <a:p>
            <a:pPr marL="742950" lvl="1" indent="-285750">
              <a:buFont typeface="Arial" panose="020B0604020202020204" pitchFamily="34" charset="0"/>
              <a:buChar char="•"/>
            </a:pPr>
            <a:r>
              <a:rPr lang="en-US" sz="2400" dirty="0">
                <a:effectLst/>
              </a:rPr>
              <a:t>Primary promises to stop acting as primary before lease expires.</a:t>
            </a:r>
          </a:p>
          <a:p>
            <a:pPr marL="742950" lvl="1" indent="-285750">
              <a:buFont typeface="Arial" panose="020B0604020202020204" pitchFamily="34" charset="0"/>
              <a:buChar char="•"/>
            </a:pPr>
            <a:r>
              <a:rPr lang="en-US" sz="2400" dirty="0">
                <a:effectLst/>
              </a:rPr>
              <a:t>Master promises not to change primaries until after expiration.</a:t>
            </a:r>
          </a:p>
          <a:p>
            <a:pPr marL="742950" lvl="1" indent="-285750">
              <a:buFont typeface="Arial" panose="020B0604020202020204" pitchFamily="34" charset="0"/>
              <a:buChar char="•"/>
            </a:pPr>
            <a:r>
              <a:rPr lang="en-US" sz="2400" dirty="0">
                <a:effectLst/>
              </a:rPr>
              <a:t>Separate lease per actively written chunk.</a:t>
            </a:r>
          </a:p>
          <a:p>
            <a:pPr marL="285750" indent="-285750">
              <a:buFont typeface="Arial" panose="020B0604020202020204" pitchFamily="34" charset="0"/>
              <a:buChar char="•"/>
            </a:pPr>
            <a:endParaRPr lang="en-US" sz="2400" dirty="0">
              <a:effectLst/>
            </a:endParaRPr>
          </a:p>
          <a:p>
            <a:r>
              <a:rPr lang="en-US" sz="2800" b="1" dirty="0">
                <a:effectLst/>
              </a:rPr>
              <a:t>Leases help prevent split brain:</a:t>
            </a:r>
          </a:p>
          <a:p>
            <a:pPr marL="742950" lvl="1" indent="-285750">
              <a:buFont typeface="Arial" panose="020B0604020202020204" pitchFamily="34" charset="0"/>
              <a:buChar char="•"/>
            </a:pPr>
            <a:r>
              <a:rPr lang="en-US" sz="2400" dirty="0">
                <a:effectLst/>
              </a:rPr>
              <a:t>Master won't designate new primary until the current one is</a:t>
            </a:r>
          </a:p>
          <a:p>
            <a:pPr marL="742950" lvl="1" indent="-285750">
              <a:buFont typeface="Arial" panose="020B0604020202020204" pitchFamily="34" charset="0"/>
              <a:buChar char="•"/>
            </a:pPr>
            <a:r>
              <a:rPr lang="en-US" sz="2400" dirty="0">
                <a:effectLst/>
              </a:rPr>
              <a:t>guaranteed to have stopped acting as primary.</a:t>
            </a:r>
          </a:p>
        </p:txBody>
      </p:sp>
    </p:spTree>
    <p:extLst>
      <p:ext uri="{BB962C8B-B14F-4D97-AF65-F5344CB8AC3E}">
        <p14:creationId xmlns:p14="http://schemas.microsoft.com/office/powerpoint/2010/main" val="320407530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086BE-5A45-8F87-9EED-D946B491856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4433898-B8E2-65BE-42A1-3D6AC40C2C8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427856FC-8E59-37DB-033B-8060BDFA336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47</a:t>
            </a:fld>
            <a:endParaRPr lang="en-US"/>
          </a:p>
        </p:txBody>
      </p:sp>
      <p:sp>
        <p:nvSpPr>
          <p:cNvPr id="2" name="TextBox 1">
            <a:extLst>
              <a:ext uri="{FF2B5EF4-FFF2-40B4-BE49-F238E27FC236}">
                <a16:creationId xmlns:a16="http://schemas.microsoft.com/office/drawing/2014/main" id="{67CDF4C4-D1AC-F86E-5C84-2F4BB2515EC1}"/>
              </a:ext>
            </a:extLst>
          </p:cNvPr>
          <p:cNvSpPr txBox="1"/>
          <p:nvPr/>
        </p:nvSpPr>
        <p:spPr>
          <a:xfrm>
            <a:off x="279159" y="1142385"/>
            <a:ext cx="8938922" cy="2492990"/>
          </a:xfrm>
          <a:prstGeom prst="rect">
            <a:avLst/>
          </a:prstGeom>
          <a:noFill/>
        </p:spPr>
        <p:txBody>
          <a:bodyPr wrap="none" rtlCol="0">
            <a:spAutoFit/>
          </a:bodyPr>
          <a:lstStyle/>
          <a:p>
            <a:r>
              <a:rPr lang="en-US" sz="2800" b="1" dirty="0">
                <a:effectLst/>
              </a:rPr>
              <a:t>Remove that chunk server from all chunk handle lists.</a:t>
            </a:r>
          </a:p>
          <a:p>
            <a:endParaRPr lang="en-US" sz="2800" b="1" dirty="0">
              <a:effectLst/>
            </a:endParaRPr>
          </a:p>
          <a:p>
            <a:r>
              <a:rPr lang="en-US" sz="2800" b="1" dirty="0">
                <a:effectLst/>
              </a:rPr>
              <a:t>For each chunk for which it was primary,</a:t>
            </a:r>
          </a:p>
          <a:p>
            <a:pPr marL="742950" lvl="1" indent="-285750">
              <a:buFont typeface="Arial" panose="020B0604020202020204" pitchFamily="34" charset="0"/>
              <a:buChar char="•"/>
            </a:pPr>
            <a:r>
              <a:rPr lang="en-US" sz="2400" dirty="0">
                <a:effectLst/>
              </a:rPr>
              <a:t>wait for lease to expire,</a:t>
            </a:r>
          </a:p>
          <a:p>
            <a:pPr marL="742950" lvl="1" indent="-285750">
              <a:buFont typeface="Arial" panose="020B0604020202020204" pitchFamily="34" charset="0"/>
              <a:buChar char="•"/>
            </a:pPr>
            <a:r>
              <a:rPr lang="en-US" sz="2400" dirty="0">
                <a:effectLst/>
              </a:rPr>
              <a:t>grant lease to another chunk server holding that chunk.</a:t>
            </a:r>
          </a:p>
          <a:p>
            <a:endParaRPr lang="en-US" sz="2400" dirty="0"/>
          </a:p>
        </p:txBody>
      </p:sp>
    </p:spTree>
    <p:extLst>
      <p:ext uri="{BB962C8B-B14F-4D97-AF65-F5344CB8AC3E}">
        <p14:creationId xmlns:p14="http://schemas.microsoft.com/office/powerpoint/2010/main" val="332543903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the Master Crashes?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48</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Every metadata change is logged before the master replies</a:t>
            </a:r>
          </a:p>
          <a:p>
            <a:pPr marL="457200"/>
            <a:r>
              <a:rPr lang="en-US" sz="2800" b="0" dirty="0"/>
              <a:t>The log and the checkpoints are replicated to other machines</a:t>
            </a:r>
          </a:p>
          <a:p>
            <a:pPr marL="457200"/>
            <a:r>
              <a:rPr lang="en-US" sz="2800" b="0" dirty="0"/>
              <a:t>A change counts as committed only once the replicas have it on disk</a:t>
            </a:r>
          </a:p>
          <a:p>
            <a:r>
              <a:rPr lang="en-US" sz="3200" b="1" dirty="0"/>
              <a:t>Shadow masters keep serving reads while the master is down</a:t>
            </a:r>
          </a:p>
          <a:p>
            <a:pPr marL="457200"/>
            <a:r>
              <a:rPr lang="en-US" sz="2800" b="0" dirty="0"/>
              <a:t>They lag slightly behind and cannot accept mutations</a:t>
            </a:r>
          </a:p>
          <a:p>
            <a:r>
              <a:rPr lang="en-US" sz="3200" b="1" dirty="0"/>
              <a:t>In the 2003 design, replacing a dead master needed a human</a:t>
            </a:r>
          </a:p>
          <a:p>
            <a:pPr marL="457200"/>
            <a:r>
              <a:rPr lang="en-US" sz="2800" b="0" dirty="0"/>
              <a:t>That took tens of minutes, and it is the weakest part of the paper</a:t>
            </a:r>
          </a:p>
        </p:txBody>
      </p:sp>
    </p:spTree>
    <p:extLst>
      <p:ext uri="{BB962C8B-B14F-4D97-AF65-F5344CB8AC3E}">
        <p14:creationId xmlns:p14="http://schemas.microsoft.com/office/powerpoint/2010/main" val="172067069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Would Strong Consistency Take?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49</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The primary would have to detect duplicate requests</a:t>
            </a:r>
          </a:p>
          <a:p>
            <a:r>
              <a:rPr lang="en-US" sz="3200" b="1" dirty="0"/>
              <a:t>A write must reach every replica, or none of them</a:t>
            </a:r>
          </a:p>
          <a:p>
            <a:pPr marL="457200"/>
            <a:r>
              <a:rPr lang="en-US" sz="2800" b="0" dirty="0"/>
              <a:t>Keep it invisible until all replicas promise they can apply it</a:t>
            </a:r>
          </a:p>
          <a:p>
            <a:pPr marL="457200"/>
            <a:r>
              <a:rPr lang="en-US" sz="2800" b="0" dirty="0"/>
              <a:t>Remove a secondary that cannot, instead of failing every client</a:t>
            </a:r>
          </a:p>
          <a:p>
            <a:r>
              <a:rPr lang="en-US" sz="3200" b="1" dirty="0"/>
              <a:t>A new primary must resynchronize with the secondaries before serving</a:t>
            </a:r>
          </a:p>
          <a:p>
            <a:r>
              <a:rPr lang="en-US" sz="3200" b="1" dirty="0"/>
              <a:t>Reads go to the primary, or secondaries need leases of their own</a:t>
            </a:r>
          </a:p>
          <a:p>
            <a:pPr marL="457200"/>
            <a:r>
              <a:rPr lang="en-US" sz="2800" b="0" dirty="0"/>
              <a:t>All of this costs round trips: that is the price of the ideal model from the start of class</a:t>
            </a:r>
          </a:p>
        </p:txBody>
      </p:sp>
    </p:spTree>
    <p:extLst>
      <p:ext uri="{BB962C8B-B14F-4D97-AF65-F5344CB8AC3E}">
        <p14:creationId xmlns:p14="http://schemas.microsoft.com/office/powerpoint/2010/main" val="172067069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Takeaways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50</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Good ideas</a:t>
            </a:r>
          </a:p>
          <a:p>
            <a:pPr marL="457200"/>
            <a:r>
              <a:rPr lang="en-US" sz="2800" b="0" dirty="0"/>
              <a:t>One global file system as shared infrastructure for many applications</a:t>
            </a:r>
          </a:p>
          <a:p>
            <a:pPr marL="457200"/>
            <a:r>
              <a:rPr lang="en-US" sz="2800" b="0" dirty="0"/>
              <a:t>Naming in the master, data in the chunkservers</a:t>
            </a:r>
          </a:p>
          <a:p>
            <a:pPr marL="457200"/>
            <a:r>
              <a:rPr lang="en-US" sz="2800" b="0" dirty="0"/>
              <a:t>Sharding for throughput, huge chunks to keep metadata small</a:t>
            </a:r>
          </a:p>
          <a:p>
            <a:pPr marL="457200"/>
            <a:r>
              <a:rPr lang="en-US" sz="2800" b="0" dirty="0"/>
              <a:t>A primary orders concurrent writes; leases stop split brain</a:t>
            </a:r>
          </a:p>
          <a:p>
            <a:r>
              <a:rPr lang="en-US" sz="3200" b="1" dirty="0"/>
              <a:t>Not so great</a:t>
            </a:r>
          </a:p>
          <a:p>
            <a:pPr marL="457200"/>
            <a:r>
              <a:rPr lang="en-US" sz="2800" b="0" dirty="0"/>
              <a:t>One master ran out of RAM and CPU as the number of files grew</a:t>
            </a:r>
          </a:p>
          <a:p>
            <a:pPr marL="457200"/>
            <a:r>
              <a:rPr lang="en-US" sz="2800" b="0" dirty="0"/>
              <a:t>Small files are inefficient; master failover was manual</a:t>
            </a:r>
          </a:p>
          <a:p>
            <a:pPr marL="457200"/>
            <a:r>
              <a:rPr lang="en-US" sz="2800" b="0" dirty="0"/>
              <a:t>Weak consistency pushed work into every application</a:t>
            </a:r>
          </a:p>
          <a:p>
            <a:r>
              <a:rPr lang="en-US" sz="3200" b="1" dirty="0"/>
              <a:t>What came next: BigTable, then Colossus, which shards the master</a:t>
            </a:r>
          </a:p>
        </p:txBody>
      </p:sp>
    </p:spTree>
    <p:extLst>
      <p:ext uri="{BB962C8B-B14F-4D97-AF65-F5344CB8AC3E}">
        <p14:creationId xmlns:p14="http://schemas.microsoft.com/office/powerpoint/2010/main" val="172067069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C0FAD-581C-0570-3517-51B381D079F7}"/>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A3C383E-C893-444E-A2B5-15F7AD506DA2}"/>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Wanna Play With GFS Yourself?</a:t>
            </a:r>
          </a:p>
        </p:txBody>
      </p:sp>
      <p:sp>
        <p:nvSpPr>
          <p:cNvPr id="8" name="Slide Number Placeholder 4">
            <a:extLst>
              <a:ext uri="{FF2B5EF4-FFF2-40B4-BE49-F238E27FC236}">
                <a16:creationId xmlns:a16="http://schemas.microsoft.com/office/drawing/2014/main" id="{A6CA42B9-3603-6CD6-91C4-CF35F10716C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51</a:t>
            </a:fld>
            <a:endParaRPr lang="en-US"/>
          </a:p>
        </p:txBody>
      </p:sp>
      <p:sp>
        <p:nvSpPr>
          <p:cNvPr id="3" name="TextBox 2">
            <a:extLst>
              <a:ext uri="{FF2B5EF4-FFF2-40B4-BE49-F238E27FC236}">
                <a16:creationId xmlns:a16="http://schemas.microsoft.com/office/drawing/2014/main" id="{2FAC3C5C-39AC-49D9-17B4-7DCB863C6201}"/>
              </a:ext>
            </a:extLst>
          </p:cNvPr>
          <p:cNvSpPr txBox="1"/>
          <p:nvPr/>
        </p:nvSpPr>
        <p:spPr>
          <a:xfrm>
            <a:off x="388916" y="1210685"/>
            <a:ext cx="7948551" cy="523220"/>
          </a:xfrm>
          <a:prstGeom prst="rect">
            <a:avLst/>
          </a:prstGeom>
          <a:noFill/>
        </p:spPr>
        <p:txBody>
          <a:bodyPr wrap="square">
            <a:spAutoFit/>
          </a:bodyPr>
          <a:lstStyle/>
          <a:p>
            <a:r>
              <a:rPr lang="en-US" sz="2800" dirty="0">
                <a:solidFill>
                  <a:srgbClr val="1A2039"/>
                </a:solidFill>
                <a:effectLst/>
              </a:rPr>
              <a:t>Try HDFS (an open-source clone inspired by GFS)!</a:t>
            </a:r>
          </a:p>
        </p:txBody>
      </p:sp>
      <p:pic>
        <p:nvPicPr>
          <p:cNvPr id="4" name="object 7">
            <a:extLst>
              <a:ext uri="{FF2B5EF4-FFF2-40B4-BE49-F238E27FC236}">
                <a16:creationId xmlns:a16="http://schemas.microsoft.com/office/drawing/2014/main" id="{20D91495-4BF1-98AC-C3C5-1A3BA6F761ED}"/>
              </a:ext>
            </a:extLst>
          </p:cNvPr>
          <p:cNvPicPr/>
          <p:nvPr/>
        </p:nvPicPr>
        <p:blipFill>
          <a:blip r:embed="rId3" cstate="print"/>
          <a:stretch>
            <a:fillRect/>
          </a:stretch>
        </p:blipFill>
        <p:spPr>
          <a:xfrm>
            <a:off x="3072717" y="1873155"/>
            <a:ext cx="5743737" cy="4240394"/>
          </a:xfrm>
          <a:prstGeom prst="rect">
            <a:avLst/>
          </a:prstGeom>
        </p:spPr>
      </p:pic>
    </p:spTree>
    <p:extLst>
      <p:ext uri="{BB962C8B-B14F-4D97-AF65-F5344CB8AC3E}">
        <p14:creationId xmlns:p14="http://schemas.microsoft.com/office/powerpoint/2010/main" val="405321583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16B14-7BE8-A5B8-5CF3-E81A63DC0A9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D5AF816-23B8-6FD3-95E3-A00196962BF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 Attendance</a:t>
            </a:r>
          </a:p>
        </p:txBody>
      </p:sp>
      <p:sp>
        <p:nvSpPr>
          <p:cNvPr id="8" name="Slide Number Placeholder 4">
            <a:extLst>
              <a:ext uri="{FF2B5EF4-FFF2-40B4-BE49-F238E27FC236}">
                <a16:creationId xmlns:a16="http://schemas.microsoft.com/office/drawing/2014/main" id="{82EE4825-740D-135A-3D4A-2BCCA28C4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52</a:t>
            </a:fld>
            <a:endParaRPr lang="en-US"/>
          </a:p>
        </p:txBody>
      </p:sp>
      <p:pic>
        <p:nvPicPr>
          <p:cNvPr id="3" name="Picture 2" descr="A qr code with a few black squares&#10;&#10;Description automatically generated">
            <a:extLst>
              <a:ext uri="{FF2B5EF4-FFF2-40B4-BE49-F238E27FC236}">
                <a16:creationId xmlns:a16="http://schemas.microsoft.com/office/drawing/2014/main" id="{9E001843-A7A3-36AF-F9BA-D7DEF773F566}"/>
              </a:ext>
            </a:extLst>
          </p:cNvPr>
          <p:cNvPicPr>
            <a:picLocks noChangeAspect="1"/>
          </p:cNvPicPr>
          <p:nvPr/>
        </p:nvPicPr>
        <p:blipFill>
          <a:blip r:embed="rId3"/>
          <a:stretch>
            <a:fillRect/>
          </a:stretch>
        </p:blipFill>
        <p:spPr>
          <a:xfrm>
            <a:off x="5833872" y="1078992"/>
            <a:ext cx="5120640" cy="5120640"/>
          </a:xfrm>
          <a:prstGeom prst="rect">
            <a:avLst/>
          </a:prstGeom>
        </p:spPr>
      </p:pic>
      <p:sp>
        <p:nvSpPr>
          <p:cNvPr id="10" name="Quiz link"/>
          <p:cNvSpPr txBox="1"/>
          <p:nvPr/>
        </p:nvSpPr>
        <p:spPr>
          <a:xfrm>
            <a:off x="274320" y="1905000"/>
            <a:ext cx="5344602" cy="830997"/>
          </a:xfrm>
          <a:prstGeom prst="rect">
            <a:avLst/>
          </a:prstGeom>
          <a:noFill/>
        </p:spPr>
        <p:txBody>
          <a:bodyPr wrap="square">
            <a:spAutoFit/>
          </a:bodyPr>
          <a:lstStyle/>
          <a:p>
            <a:r>
              <a:rPr lang="en-US" sz="2400" dirty="0">
                <a:solidFill>
                  <a:srgbClr val="1A2039"/>
                </a:solidFill>
                <a:effectLst/>
              </a:rPr>
              <a:t>https://forms.gle/jwbSKDuKGsZVEs3U9</a:t>
            </a:r>
          </a:p>
        </p:txBody>
      </p:sp>
    </p:spTree>
    <p:extLst>
      <p:ext uri="{BB962C8B-B14F-4D97-AF65-F5344CB8AC3E}">
        <p14:creationId xmlns:p14="http://schemas.microsoft.com/office/powerpoint/2010/main" val="115535365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16B14-7BE8-A5B8-5CF3-E81A63DC0A9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D5AF816-23B8-6FD3-95E3-A00196962BF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a:t>
            </a:r>
          </a:p>
        </p:txBody>
      </p:sp>
      <p:sp>
        <p:nvSpPr>
          <p:cNvPr id="8" name="Slide Number Placeholder 4">
            <a:extLst>
              <a:ext uri="{FF2B5EF4-FFF2-40B4-BE49-F238E27FC236}">
                <a16:creationId xmlns:a16="http://schemas.microsoft.com/office/drawing/2014/main" id="{82EE4825-740D-135A-3D4A-2BCCA28C4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53</a:t>
            </a:fld>
            <a:endParaRPr lang="en-US"/>
          </a:p>
        </p:txBody>
      </p:sp>
      <p:pic>
        <p:nvPicPr>
          <p:cNvPr id="3" name="Picture 2" descr="A qr code with a few black squares&#10;&#10;Description automatically generated">
            <a:extLst>
              <a:ext uri="{FF2B5EF4-FFF2-40B4-BE49-F238E27FC236}">
                <a16:creationId xmlns:a16="http://schemas.microsoft.com/office/drawing/2014/main" id="{9E001843-A7A3-36AF-F9BA-D7DEF773F566}"/>
              </a:ext>
            </a:extLst>
          </p:cNvPr>
          <p:cNvPicPr>
            <a:picLocks noChangeAspect="1"/>
          </p:cNvPicPr>
          <p:nvPr/>
        </p:nvPicPr>
        <p:blipFill>
          <a:blip r:embed="rId3"/>
          <a:stretch>
            <a:fillRect/>
          </a:stretch>
        </p:blipFill>
        <p:spPr>
          <a:xfrm>
            <a:off x="5833872" y="1078992"/>
            <a:ext cx="5120640" cy="5120640"/>
          </a:xfrm>
          <a:prstGeom prst="rect">
            <a:avLst/>
          </a:prstGeom>
        </p:spPr>
      </p:pic>
      <p:sp>
        <p:nvSpPr>
          <p:cNvPr id="9" name="Quiz rules"/>
          <p:cNvSpPr txBox="1"/>
          <p:nvPr/>
        </p:nvSpPr>
        <p:spPr>
          <a:xfrm>
            <a:off x="274320" y="1078992"/>
            <a:ext cx="4937760" cy="1384995"/>
          </a:xfrm>
          <a:prstGeom prst="rect">
            <a:avLst/>
          </a:prstGeom>
          <a:noFill/>
        </p:spPr>
        <p:txBody>
          <a:bodyPr wrap="square">
            <a:spAutoFit/>
          </a:bodyPr>
          <a:lstStyle/>
          <a:p>
            <a:r>
              <a:rPr lang="en-US" sz="2800" dirty="0">
                <a:solidFill>
                  <a:srgbClr val="1A2039"/>
                </a:solidFill>
                <a:effectLst/>
              </a:rPr>
              <a:t>10 multiple-choice questions</a:t>
            </a:r>
          </a:p>
          <a:p>
            <a:r>
              <a:rPr lang="en-US" sz="2800" dirty="0">
                <a:solidFill>
                  <a:srgbClr val="1A2039"/>
                </a:solidFill>
                <a:effectLst/>
              </a:rPr>
              <a:t>10 minutes</a:t>
            </a:r>
          </a:p>
          <a:p>
            <a:r>
              <a:rPr lang="en-US" sz="2800" dirty="0">
                <a:solidFill>
                  <a:srgbClr val="1A2039"/>
                </a:solidFill>
                <a:effectLst/>
              </a:rPr>
              <a:t>Open book and open internet</a:t>
            </a:r>
          </a:p>
        </p:txBody>
      </p:sp>
      <p:sp>
        <p:nvSpPr>
          <p:cNvPr id="10" name="Quiz link"/>
          <p:cNvSpPr txBox="1"/>
          <p:nvPr/>
        </p:nvSpPr>
        <p:spPr>
          <a:xfrm>
            <a:off x="274320" y="3429000"/>
            <a:ext cx="5394960" cy="457200"/>
          </a:xfrm>
          <a:prstGeom prst="rect">
            <a:avLst/>
          </a:prstGeom>
          <a:noFill/>
        </p:spPr>
        <p:txBody>
          <a:bodyPr wrap="square">
            <a:spAutoFit/>
          </a:bodyPr>
          <a:lstStyle/>
          <a:p>
            <a:r>
              <a:rPr lang="en-US" sz="2400" dirty="0">
                <a:solidFill>
                  <a:srgbClr val="1A2039"/>
                </a:solidFill>
                <a:effectLst/>
              </a:rPr>
              <a:t>https://forms.gle/KX6h17o1A2hE7HMa8</a:t>
            </a:r>
          </a:p>
        </p:txBody>
      </p:sp>
    </p:spTree>
    <p:extLst>
      <p:ext uri="{BB962C8B-B14F-4D97-AF65-F5344CB8AC3E}">
        <p14:creationId xmlns:p14="http://schemas.microsoft.com/office/powerpoint/2010/main" val="115535365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1722</TotalTime>
  <Words>15232</Words>
  <Application>Microsoft Macintosh PowerPoint</Application>
  <PresentationFormat>Widescreen</PresentationFormat>
  <Paragraphs>1239</Paragraphs>
  <Slides>53</Slides>
  <Notes>53</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53</vt:i4>
      </vt:variant>
    </vt:vector>
  </HeadingPairs>
  <TitlesOfParts>
    <vt:vector size="59" baseType="lpstr">
      <vt:lpstr>Aptos</vt:lpstr>
      <vt:lpstr>Aptos Display</vt:lpstr>
      <vt:lpstr>Arial</vt:lpstr>
      <vt:lpstr>Helvetica</vt:lpstr>
      <vt:lpstr>Helvetica Neue</vt:lpstr>
      <vt:lpstr>Office Theme</vt:lpstr>
      <vt:lpstr>Lecture 4: Google File System         Fall 2026 </vt:lpstr>
      <vt:lpstr>Demo 1: Design Proposal</vt:lpstr>
      <vt:lpstr>Presentation Grading</vt:lpstr>
      <vt:lpstr>AWS Credits: One Code per Account</vt:lpstr>
      <vt:lpstr>Why Storage?</vt:lpstr>
      <vt:lpstr>One Machine Is Not Enough</vt:lpstr>
      <vt:lpstr>Then Everything Fails</vt:lpstr>
      <vt:lpstr>Fault Tolerance Comes with a Cost</vt:lpstr>
      <vt:lpstr>Two Questions for This Lecture</vt:lpstr>
      <vt:lpstr>What Would We Like for Consistency?</vt:lpstr>
      <vt:lpstr>What Should the Readers See?</vt:lpstr>
      <vt:lpstr>Bad Replication Design</vt:lpstr>
      <vt:lpstr>What Can Go Wrong?</vt:lpstr>
      <vt:lpstr>Can We Just Always Read from Server 1?</vt:lpstr>
      <vt:lpstr>The Fix Has a Price</vt:lpstr>
      <vt:lpstr>The Google File System</vt:lpstr>
      <vt:lpstr>Why Are We Reading This Paper?</vt:lpstr>
      <vt:lpstr>Goal of GFS</vt:lpstr>
      <vt:lpstr>Assumptions of GFS</vt:lpstr>
      <vt:lpstr>What Are the Contribution of the Paper? </vt:lpstr>
      <vt:lpstr>GFS’s Architecture</vt:lpstr>
      <vt:lpstr>Overall Architecture</vt:lpstr>
      <vt:lpstr>Master Node</vt:lpstr>
      <vt:lpstr>Master State: What Survives a Reboot?</vt:lpstr>
      <vt:lpstr>Chunk Servers</vt:lpstr>
      <vt:lpstr>Demo 1: HDFS</vt:lpstr>
      <vt:lpstr>Data Integrity: Checksums</vt:lpstr>
      <vt:lpstr>Basic Ops ( Read, Write)</vt:lpstr>
      <vt:lpstr>When Client Wants to Read A File?</vt:lpstr>
      <vt:lpstr>When Client Wants to Read a File</vt:lpstr>
      <vt:lpstr>Solution: Primary/Secondary Replication</vt:lpstr>
      <vt:lpstr>When Client Wants to Write </vt:lpstr>
      <vt:lpstr>Record Append</vt:lpstr>
      <vt:lpstr>Stale Replicas and Version Numbers</vt:lpstr>
      <vt:lpstr>Control and Data Flow</vt:lpstr>
      <vt:lpstr>Demo 2: What a Read and a Write Actually Do</vt:lpstr>
      <vt:lpstr>GFS Consistency Guarantees</vt:lpstr>
      <vt:lpstr>How Can Inconsistent Content Arise?</vt:lpstr>
      <vt:lpstr>How Can Consistent but Undefined Arise?</vt:lpstr>
      <vt:lpstr>Three Appends, Three Replicas</vt:lpstr>
      <vt:lpstr>Why Are These Anomalies OK?</vt:lpstr>
      <vt:lpstr>A Client Crashes While Writing?</vt:lpstr>
      <vt:lpstr>A Secondary Crashes Just As The Primary Asks It to Write?</vt:lpstr>
      <vt:lpstr>A Secondary Crashes Just As The Primary Asks It to Write?</vt:lpstr>
      <vt:lpstr>What If a Primary Crashes?</vt:lpstr>
      <vt:lpstr>What If a Primary Crashes?</vt:lpstr>
      <vt:lpstr>What If a Primary Crashes?</vt:lpstr>
      <vt:lpstr>What If the Master Crashes?</vt:lpstr>
      <vt:lpstr>What Would Strong Consistency Take?</vt:lpstr>
      <vt:lpstr>Takeaways</vt:lpstr>
      <vt:lpstr>Wanna Play With GFS Yourself?</vt:lpstr>
      <vt:lpstr>Quiz Attendance</vt:lpstr>
      <vt:lpstr>Quiz</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 Yigong</dc:creator>
  <cp:lastModifiedBy>Hu, Yigong</cp:lastModifiedBy>
  <cp:revision>41</cp:revision>
  <dcterms:created xsi:type="dcterms:W3CDTF">2026-02-04T02:27:39Z</dcterms:created>
  <dcterms:modified xsi:type="dcterms:W3CDTF">2026-09-16T21:27:35Z</dcterms:modified>
</cp:coreProperties>
</file>