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422" r:id="rId2"/>
    <p:sldId id="426" r:id="rId3"/>
    <p:sldId id="481" r:id="rId4"/>
    <p:sldId id="467" r:id="rId5"/>
    <p:sldId id="477" r:id="rId6"/>
    <p:sldId id="478" r:id="rId7"/>
    <p:sldId id="479" r:id="rId8"/>
    <p:sldId id="428" r:id="rId9"/>
    <p:sldId id="483" r:id="rId10"/>
    <p:sldId id="443" r:id="rId11"/>
    <p:sldId id="486" r:id="rId12"/>
    <p:sldId id="444" r:id="rId13"/>
    <p:sldId id="445" r:id="rId14"/>
    <p:sldId id="487" r:id="rId15"/>
    <p:sldId id="485" r:id="rId16"/>
    <p:sldId id="262" r:id="rId17"/>
    <p:sldId id="430" r:id="rId18"/>
    <p:sldId id="435" r:id="rId19"/>
    <p:sldId id="480" r:id="rId20"/>
    <p:sldId id="431" r:id="rId21"/>
    <p:sldId id="433" r:id="rId22"/>
    <p:sldId id="434" r:id="rId23"/>
    <p:sldId id="436" r:id="rId24"/>
    <p:sldId id="437" r:id="rId25"/>
    <p:sldId id="468" r:id="rId26"/>
    <p:sldId id="439" r:id="rId27"/>
    <p:sldId id="469" r:id="rId28"/>
    <p:sldId id="440" r:id="rId29"/>
    <p:sldId id="441" r:id="rId30"/>
    <p:sldId id="442" r:id="rId31"/>
    <p:sldId id="446" r:id="rId32"/>
    <p:sldId id="447" r:id="rId33"/>
    <p:sldId id="484" r:id="rId34"/>
    <p:sldId id="470" r:id="rId35"/>
    <p:sldId id="448" r:id="rId36"/>
    <p:sldId id="482" r:id="rId37"/>
    <p:sldId id="449" r:id="rId38"/>
    <p:sldId id="450" r:id="rId39"/>
    <p:sldId id="451" r:id="rId40"/>
    <p:sldId id="471" r:id="rId41"/>
    <p:sldId id="472" r:id="rId42"/>
    <p:sldId id="452" r:id="rId43"/>
    <p:sldId id="453" r:id="rId44"/>
    <p:sldId id="454" r:id="rId45"/>
    <p:sldId id="465" r:id="rId46"/>
    <p:sldId id="455" r:id="rId47"/>
    <p:sldId id="457" r:id="rId48"/>
    <p:sldId id="473" r:id="rId49"/>
    <p:sldId id="475" r:id="rId50"/>
    <p:sldId id="476" r:id="rId51"/>
    <p:sldId id="459" r:id="rId52"/>
    <p:sldId id="466" r:id="rId53"/>
    <p:sldId id="464"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989"/>
    <p:restoredTop sz="65066"/>
  </p:normalViewPr>
  <p:slideViewPr>
    <p:cSldViewPr snapToGrid="0">
      <p:cViewPr varScale="1">
        <p:scale>
          <a:sx n="79" d="100"/>
          <a:sy n="79" d="100"/>
        </p:scale>
        <p:origin x="132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we focused on computation, but every map task had to read its input from somewhere, and every reducer had to write its output somewhere. At Google, that shared storage layer was GFS.</a:t>
            </a:r>
          </a:p>
          <a:p>
            <a:endParaRPr lang="en-US" dirty="0"/>
          </a:p>
          <a:p>
            <a:r>
              <a:rPr lang="en-US" dirty="0"/>
              <a:t>Storage became a key abstraction because a simple interface—name some data, read it, and write it—was useful across many different systems. A large part of distributed-systems work therefore either builds storage systems or builds on top of a well-behaved distributed store. At Google, MapReduce used GFS for input and output, and BigTable later stored its files in GFS. GFS is also a useful first case study because it brings together four themes we will see repeatedly: parallel performance, fault tolerance, replication, and consistency.</a:t>
            </a:r>
          </a:p>
          <a:p>
            <a:endParaRPr lang="en-US" dirty="0"/>
          </a:p>
          <a:p>
            <a:r>
              <a:rPr lang="en-US" dirty="0"/>
              <a:t>Two pressures drive the design: one machine cannot provide enough capacity or throughput, and once data is spread across many machines, failures become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Start with the first pressure: one machine cannot provide enough capacity or throughput.</a:t>
            </a:r>
          </a:p>
          <a:p>
            <a:endParaRPr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p>
          <a:p>
            <a:endParaRPr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p>
          <a:p>
            <a:endParaRPr dirty="0"/>
          </a:p>
          <a:p>
            <a:r>
              <a:rPr dirty="0"/>
              <a:t>This decision solves the capacity and performance problem, but it creates the next problem. Once the system depends on hundreds or thousands of machines, some component will almost always be unavailable.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dirty="0"/>
              <a:t>That brings us to the second pressure. Once storage depends on hundreds or thousands of machines, failure becomes the normal operating condition.</a:t>
            </a:r>
          </a:p>
          <a:p>
            <a:endParaRPr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p>
          <a:p>
            <a:endParaRPr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p>
          <a:p>
            <a:endParaRPr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p>
          <a:p>
            <a:endParaRPr dirty="0"/>
          </a:p>
          <a:p>
            <a:r>
              <a:rPr dirty="0"/>
              <a:t>Replication gives us fault tolerance, but it also creates a new question: how do we keep those copies from disagreeing</a:t>
            </a:r>
            <a:r>
              <a:rPr lang="en-US"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Up to this point, performance has pushed us to spread the data across many servers, and failures have pushed us to replicate it. Now replication creates a new problem.</a:t>
            </a:r>
          </a:p>
          <a:p>
            <a:endParaRPr lang="en-US" dirty="0"/>
          </a:p>
          <a:p>
            <a:r>
              <a:rPr lang="en-US" dirty="0"/>
              <a:t>If we are not careful, the replicas get out of sync. What were supposed to be interchangeable copies become two almost identical copies, and the value a client reads depends on which server it contacts.</a:t>
            </a:r>
          </a:p>
          <a:p>
            <a:endParaRPr lang="en-US" dirty="0"/>
          </a:p>
          <a:p>
            <a:r>
              <a:rPr lang="en-US" dirty="0"/>
              <a:t>We can eliminate those inconsistencies with more careful coordination, but coordination requires extra work and extra communication among the servers and clients. That adds waiting and reduces performance.</a:t>
            </a:r>
          </a:p>
          <a:p>
            <a:endParaRPr lang="en-US" dirty="0"/>
          </a:p>
          <a:p>
            <a:r>
              <a:rPr lang="en-US" dirty="0"/>
              <a:t>So the argument comes full circle. We started by distributing the data to gain performance, but stronger consistency makes us give some of that performance back. GFS chooses a point in this tradeoff rather than paying the full cost of strict consistency.</a:t>
            </a:r>
          </a:p>
          <a:p>
            <a:endParaRPr lang="en-US" dirty="0"/>
          </a:p>
          <a:p>
            <a:r>
              <a:rPr lang="en-US" dirty="0"/>
              <a:t>SOURCE
MIT 6.824, Spring 2020, Lecture 3 transcript/video, 04:05–05:42.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Replication leaves us with two questions that will organize the rest of this lecture.</a:t>
            </a:r>
          </a:p>
          <a:p>
            <a:endParaRPr lang="en-US" dirty="0"/>
          </a:p>
          <a:p>
            <a:r>
              <a:rPr lang="en-US" dirty="0"/>
              <a:t>The first is a correctness question. Once data is split and replicated across machines that can fail independently, what does it mean for the storage system to return the correct result? Different copies may receive requests at different times, and a client may reach a different copy after a failure. We need a clear model for deciding whether the behavior observed by the clients is still correct.</a:t>
            </a:r>
          </a:p>
          <a:p>
            <a:endParaRPr lang="en-US" dirty="0"/>
          </a:p>
          <a:p>
            <a:r>
              <a:rPr lang="en-US" dirty="0"/>
              <a:t>The second is a performance question. How much coordination do we need to obtain that behavior? If replicas must communicate and agree before every reply, each operation requires more messages and more waiting. A slow or unreachable replica may also delay the others.</a:t>
            </a:r>
          </a:p>
          <a:p>
            <a:endParaRPr lang="en-US" dirty="0"/>
          </a:p>
          <a:p>
            <a:r>
              <a:rPr lang="en-US" dirty="0"/>
              <a:t>These two questions create the central tradeoff. More coordination usually gives applications simpler behavior, but it costs latency, throughput, and sometimes availability during failures. GFS chooses guarantees that fit Google's workloads instead of paying the full cost of the strongest possible consistency.</a:t>
            </a:r>
          </a:p>
          <a:p>
            <a:endParaRPr lang="en-US" dirty="0"/>
          </a:p>
          <a:p>
            <a:r>
              <a:rPr lang="en-US" dirty="0"/>
              <a:t>To understand that choice, we first need a baseline: what behavior would one correct machine with one copy of the data provide?</a:t>
            </a:r>
          </a:p>
          <a:p>
            <a:endParaRPr lang="en-US" dirty="0"/>
          </a:p>
          <a:p>
            <a:r>
              <a:rPr lang="en-US" dirty="0"/>
              <a:t>SOURCE
MIT 6.824, Spring 2020, Lecture 3 transcript/video, 05:42–06:34.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rPr lang="en-US" dirty="0"/>
              <a:t>From the application's point of view, the ideal distributed storage system behaves like one correct machine with one copy of the data. The implementation may contain hundreds of machines and several replicas, but those internal details should not change the behavior that clients observe.</a:t>
            </a:r>
          </a:p>
          <a:p>
            <a:endParaRPr lang="en-US" dirty="0"/>
          </a:p>
          <a:p>
            <a:r>
              <a:rPr lang="en-US" dirty="0"/>
              <a:t>Imagine that this one machine is single-threaded. Many clients may send requests concurrently, but the machine performs only one operation at a time. It chooses one request, runs it to completion, and then starts the next request. Every operation therefore has a position in one single order.</a:t>
            </a:r>
          </a:p>
          <a:p>
            <a:endParaRPr lang="en-US" dirty="0"/>
          </a:p>
          <a:p>
            <a:r>
              <a:rPr lang="en-US" dirty="0"/>
              <a:t>If the operation is a write, it updates the machine's state. If the operation is a read, it returns a value that reflects all the writes that came before it in that order. Concurrent requests still have to be ordered, but we may not know that order in advance. The machine is allowed to choose either concurrent request first. Once it chooses, all later results must remain consistent with that choice.</a:t>
            </a:r>
          </a:p>
          <a:p>
            <a:endParaRPr lang="en-US" dirty="0"/>
          </a:p>
          <a:p>
            <a:r>
              <a:rPr lang="en-US" dirty="0"/>
              <a:t>That gives us the test shown at the bottom of the slide: could one correct machine, executing one request at a time, have produced everything the clients observed? We do not require one predetermined result for concurrent requests. We require that all the results fit one possible sequential order.</a:t>
            </a:r>
          </a:p>
          <a:p>
            <a:endParaRPr lang="en-US" dirty="0"/>
          </a:p>
          <a:p>
            <a:r>
              <a:rPr lang="en-US" dirty="0"/>
              <a:t>Now suppose two clients write the same key at the same time.</a:t>
            </a:r>
          </a:p>
          <a:p>
            <a:endParaRPr lang="en-US" dirty="0"/>
          </a:p>
          <a:p>
            <a:r>
              <a:rPr lang="en-US" dirty="0"/>
              <a:t>SOURCE
MIT 6.824, Spring 2020, Lecture 3 transcript/video, 05:42–08:11.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Client 1 writes x equals 1, and client 2 writes x equals 2 at the same time. After both writes have completed, client 3 and client 4 each read x. What are the two readers allowed to see?</a:t>
            </a:r>
          </a:p>
          <a:p>
            <a:endParaRPr lang="en-US" dirty="0"/>
          </a:p>
          <a:p>
            <a:r>
              <a:rPr lang="en-US" dirty="0"/>
              <a:t>There is not enough information to say which write the machine processed first. Because the two writes overlap, either order is legal. If the machine executes the write of 2 and then the write of 1, the final value is 1, so both readers may return 1. If it executes the write of 1 and then the write of 2, the final value is 2, so both readers may return 2.</a:t>
            </a:r>
          </a:p>
          <a:p>
            <a:endParaRPr lang="en-US" dirty="0"/>
          </a:p>
          <a:p>
            <a:r>
              <a:rPr lang="en-US" dirty="0"/>
              <a:t>Those are the first two outcomes on the slide. Strong consistency does not promise which concurrent write wins. It promises that every result can be explained by one order chosen by the machine.</a:t>
            </a:r>
          </a:p>
          <a:p>
            <a:endParaRPr lang="en-US" dirty="0"/>
          </a:p>
          <a:p>
            <a:r>
              <a:rPr lang="en-US" dirty="0"/>
              <a:t>The third outcome is not allowed. If client 3 reads 1 while client 4 reads 2 after both writes have finished, the two observations cannot fit the same final order. One of the writes must be last, and without another intervening write, both later readers should see the value produced by that same last write.</a:t>
            </a:r>
          </a:p>
          <a:p>
            <a:endParaRPr lang="en-US" dirty="0"/>
          </a:p>
          <a:p>
            <a:r>
              <a:rPr lang="en-US" dirty="0"/>
              <a:t>So consistency is not a claim that one particular value must come back. It is a claim that everything the clients observed can be explained by one coherent order.</a:t>
            </a:r>
          </a:p>
          <a:p>
            <a:endParaRPr lang="en-US" dirty="0"/>
          </a:p>
          <a:p>
            <a:r>
              <a:rPr lang="en-US" dirty="0"/>
              <a:t>With one machine, choosing one order comes naturally. But one machine cannot survive a machine or disk failure. Once we keep multiple copies, those copies must somehow preserve the same order. That is where replication becomes difficult.</a:t>
            </a:r>
          </a:p>
          <a:p>
            <a:endParaRPr lang="en-US" dirty="0"/>
          </a:p>
          <a:p>
            <a:r>
              <a:rPr lang="en-US" dirty="0"/>
              <a:t>SOURCE
MIT 6.824, Spring 2020, Lecture 3 transcript/video, 08:11–10:47.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rPr lang="en-US" dirty="0"/>
              <a:t>The simplest way to add fault tolerance is to keep two complete copies of the data. If either server fails, the other server still has a copy and can continue serving clients.</a:t>
            </a:r>
          </a:p>
          <a:p>
            <a:endParaRPr lang="en-US" dirty="0"/>
          </a:p>
          <a:p>
            <a:r>
              <a:rPr lang="en-US" dirty="0"/>
              <a:t>That goal gives us two requirements. Every write must eventually reach both servers, so their copies remain up to date. But a read must be able to use either server by itself. If every read had to consult both servers, then losing one server would still make the system unavailable, and replication would not have solved the failure problem.</a:t>
            </a:r>
          </a:p>
          <a:p>
            <a:endParaRPr lang="en-US" dirty="0"/>
          </a:p>
          <a:p>
            <a:r>
              <a:rPr lang="en-US" dirty="0"/>
              <a:t>The obvious protocol is for the client to send each update to both replicas. Each server applies the update to its own copy when the request arrives. If the two servers begin with the same data and receive the same updates, this initially sounds sufficient to keep them identical.</a:t>
            </a:r>
          </a:p>
          <a:p>
            <a:endParaRPr lang="en-US" dirty="0"/>
          </a:p>
          <a:p>
            <a:r>
              <a:rPr lang="en-US" dirty="0"/>
              <a:t>The protocol is missing one rule: it never says that the two servers must apply concurrent updates in the same order. Each server simply follows the order in which messages happen to arrive over the network. With one writer, that may be enough. With two clients writing concurrently, the arrival orders can differ, and the two copies can diverge even though neither server has failed.</a:t>
            </a:r>
          </a:p>
          <a:p>
            <a:endParaRPr lang="en-US" dirty="0"/>
          </a:p>
          <a:p>
            <a:r>
              <a:rPr lang="en-US" dirty="0"/>
              <a:t>SOURCE
MIT 6.824, Spring 2020, Lecture 3 transcript/video, 10:47–12:29.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Now client 1 writes x equals 1, and client 2 writes x equals 2. Each client sends its write to both servers because both replicas are supposed to contain the complete data.</a:t>
            </a:r>
          </a:p>
          <a:p>
            <a:endParaRPr lang="en-US" dirty="0"/>
          </a:p>
          <a:p>
            <a:r>
              <a:rPr lang="en-US" dirty="0"/>
              <a:t>The network does not promise to deliver those messages in the same order. Suppose server 1 receives client 1's write first and client 2's write second. It sets x to 1 and then overwrites it with 2, so server 1 ends with x equal to 2.</a:t>
            </a:r>
          </a:p>
          <a:p>
            <a:endParaRPr lang="en-US" dirty="0"/>
          </a:p>
          <a:p>
            <a:r>
              <a:rPr lang="en-US" dirty="0"/>
              <a:t>Server 2 may receive the same two requests in the opposite order. It sets x to 2 and then overwrites it with 1, so server 2 ends with x equal to 1.</a:t>
            </a:r>
          </a:p>
          <a:p>
            <a:endParaRPr lang="en-US" dirty="0"/>
          </a:p>
          <a:p>
            <a:r>
              <a:rPr lang="en-US" dirty="0"/>
              <a:t>Notice that neither server behaved incorrectly by itself. Each one processed one request at a time, and each one chose a legal order for two concurrent writes. The failure is that they chose different orders. The replicated system no longer behaves like one logical machine.</a:t>
            </a:r>
          </a:p>
          <a:p>
            <a:endParaRPr lang="en-US" dirty="0"/>
          </a:p>
          <a:p>
            <a:r>
              <a:rPr lang="en-US" dirty="0"/>
              <a:t>A client reading from server 1 now receives 2, while a client reading from server 2 receives 1. Those results cannot both be explained by one final write order. The replicas were meant to be interchangeable, but the answer now depends on which replica the client happens to contact.</a:t>
            </a:r>
          </a:p>
          <a:p>
            <a:endParaRPr lang="en-US" dirty="0"/>
          </a:p>
          <a:p>
            <a:r>
              <a:rPr lang="en-US" dirty="0"/>
              <a:t>A natural response is to stop reading from arbitrary replicas and always read from one designated server. That makes the disagreement harder to see, but it does not make the copies agree.</a:t>
            </a:r>
          </a:p>
          <a:p>
            <a:endParaRPr lang="en-US" dirty="0"/>
          </a:p>
          <a:p>
            <a:r>
              <a:rPr lang="en-US" dirty="0"/>
              <a:t>SOURCE
MIT 6.824, Spring 2020, Lecture 3 transcript/video, 12:29–13:18.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13</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Suppose every client reads from server 1 while it is available and uses server 2 only as a backup. Server 1 contains 2 and server 2 contains 1, but while server 1 is running, every reader sees 2. The system appears consistent because the disagreement is hidden.</a:t>
            </a:r>
          </a:p>
          <a:p>
            <a:endParaRPr lang="en-US" dirty="0"/>
          </a:p>
          <a:p>
            <a:r>
              <a:rPr lang="en-US" dirty="0"/>
              <a:t>Now server 1 fails. The clients fall back to server 2, and the visible value becomes 1. No client wrote x between those reads. The value changed from 2 back to 1 only because the system switched replicas.</a:t>
            </a:r>
          </a:p>
          <a:p>
            <a:endParaRPr lang="en-US" dirty="0"/>
          </a:p>
          <a:p>
            <a:r>
              <a:rPr lang="en-US" dirty="0"/>
              <a:t>This cannot be explained by the one-machine model. A correct machine that performs one request at a time changes a stored value only when some operation changes it. Here the clients observe a change that corresponds to no write at all.</a:t>
            </a:r>
          </a:p>
          <a:p>
            <a:endParaRPr lang="en-US" dirty="0"/>
          </a:p>
          <a:p>
            <a:r>
              <a:rPr lang="en-US" dirty="0"/>
              <a:t>Always reading from one designated server therefore hides divergence instead of repairing it. The stale copy remains in the system, and the disagreement becomes visible at exactly the moment when the preferred server fails.</a:t>
            </a:r>
          </a:p>
          <a:p>
            <a:endParaRPr lang="en-US" dirty="0"/>
          </a:p>
          <a:p>
            <a:r>
              <a:rPr lang="en-US" dirty="0"/>
              <a:t>Preventing this behavior requires the replicas to agree on one order before the system treats a write as complete. That agreement requires communication between the servers, a protocol for deciding the order, and additional waiting before the client receives a reply. Consistency can be improved, but the coordination has a cost.</a:t>
            </a:r>
          </a:p>
          <a:p>
            <a:endParaRPr lang="en-US" dirty="0"/>
          </a:p>
          <a:p>
            <a:r>
              <a:rPr lang="en-US" dirty="0"/>
              <a:t>SOURCE
MIT 6.824, Spring 2020, Lecture 3 transcript/video, 13:18–14:54.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The two failures we just saw have the same root cause: the replicas were allowed to diverge. In the first case, the two servers applied concurrent writes in different orders. In the second case, always reading from server 1 merely hid that disagreement until server 1 failed. A real fix cannot simply choose which copy to read. It has to prevent the copies from diverging.</a:t>
            </a:r>
          </a:p>
          <a:p>
            <a:endParaRPr lang="en-US" dirty="0"/>
          </a:p>
          <a:p>
            <a:r>
              <a:rPr lang="en-US" dirty="0"/>
              <a:t>That is possible, but it is not free. The servers need to exchange more messages and run a more complicated protocol so that they agree on one order. A write may also have to wait for that agreement before the system can report success to the client. The extra communication and waiting reduce performance.</a:t>
            </a:r>
          </a:p>
          <a:p>
            <a:endParaRPr lang="en-US" dirty="0"/>
          </a:p>
          <a:p>
            <a:r>
              <a:rPr lang="en-US" dirty="0"/>
              <a:t>Once we recognize that cost, there is no single obvious design. A system can coordinate more and provide behavior closer to one correct machine, or coordinate less and expose more anomalies that applications must handle.</a:t>
            </a:r>
          </a:p>
          <a:p>
            <a:endParaRPr lang="en-US" dirty="0"/>
          </a:p>
          <a:p>
            <a:r>
              <a:rPr lang="en-US" dirty="0"/>
              <a:t>GFS deliberately chooses a point in that range. Its behavior is much better than the naive replication scheme, but it does not pay the full cost of perfect consistency. The rest of the lecture explains what guarantees GFS provides and why those guarantees were a reasonable match for Google's workloads.</a:t>
            </a:r>
          </a:p>
          <a:p>
            <a:endParaRPr lang="en-US" dirty="0"/>
          </a:p>
          <a:p>
            <a:r>
              <a:rPr lang="en-US" dirty="0"/>
              <a:t>SOURCE
MIT 6.824, Spring 2020, Lecture 3 transcript/video, 14:07–15:00.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lang="en-US" dirty="0"/>
              <a:t>That choice is the subject of The Google File System, published at SOSP in 2003 by Sanjay Ghemawat, Howard Gobioff, and Shun-Tak Leung.</a:t>
            </a:r>
          </a:p>
          <a:p>
            <a:endParaRPr lang="en-US" dirty="0"/>
          </a:p>
          <a:p>
            <a:r>
              <a:rPr lang="en-US" dirty="0"/>
              <a:t>The date matters. Distributed-systems research had already developed many ideas for parallelism and fault tolerance, but few companies had deployed them at the scale that large web services were beginning to require. GFS records the point when those ideas became day-to-day production infrastructure.</a:t>
            </a:r>
          </a:p>
          <a:p>
            <a:endParaRPr lang="en-US" dirty="0"/>
          </a:p>
          <a:p>
            <a:r>
              <a:rPr lang="en-US" dirty="0"/>
              <a:t>The mechanisms are important, but the paper is best read as a complete design built around one environment. We will keep asking how Google's workload, hardware, and application requirements made each choice reasonable.</a:t>
            </a:r>
          </a:p>
          <a:p>
            <a:endParaRPr lang="en-US" dirty="0"/>
          </a:p>
          <a:p>
            <a:r>
              <a:rPr lang="en-US" dirty="0"/>
              <a:t>SOURCE
MIT 6.824, Spring 2020, Lecture 3 transcript/video, 14:54–15:43.
Local transcript: fall2026/lectures/references/mit-6824-2020-lecture3-gfs-transcript.txt
https://www.youtube.com/watch?v=EpIgvowZr00
Ghemawat, Gobioff, and Leung, The Google File System, 2003.
https://pdos.csail.mit.edu/6.824/papers/gfs.pdf</a:t>
            </a:r>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16</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rPr lang="en-US" dirty="0"/>
              <a:t>So far, we have examined the pieces separately: sharding for throughput, replication for failures, and coordination for consistency. GFS is useful because it shows how those pieces interact inside one complete system.</a:t>
            </a:r>
          </a:p>
          <a:p>
            <a:endParaRPr lang="en-US" dirty="0"/>
          </a:p>
          <a:p>
            <a:r>
              <a:rPr lang="en-US" dirty="0"/>
              <a:t>The paper connects decisions across several levels. It begins with the applications and their workload. Those requirements determine the file-system interface, the division of work between the master and chunkservers, the replication protocol, and the way data moves through the network. We can follow a requirement at the top of the stack down to a concrete mechanism and its cost.</a:t>
            </a:r>
          </a:p>
          <a:p>
            <a:endParaRPr lang="en-US" dirty="0"/>
          </a:p>
          <a:p>
            <a:r>
              <a:rPr lang="en-US" dirty="0"/>
              <a:t>GFS also gives us production evidence. Google deployed it at large scale and used it for years, so the paper can discuss the failures and operational problems that appeared in practice. That lets us judge the design by the applications it actually supported, while keeping the original workload assumptions in view.</a:t>
            </a:r>
          </a:p>
          <a:p>
            <a:endParaRPr lang="en-US" dirty="0"/>
          </a:p>
          <a:p>
            <a:r>
              <a:rPr lang="en-US" dirty="0"/>
              <a:t>This is why the paper works well as a case study: it presents an end-to-end design and enough real experience to evaluate the tradeoffs.</a:t>
            </a:r>
          </a:p>
          <a:p>
            <a:endParaRPr lang="en-US" dirty="0"/>
          </a:p>
          <a:p>
            <a:r>
              <a:rPr lang="en-US" dirty="0"/>
              <a:t>SOURCE
MIT 6.824, Spring 2020, Lecture 3 transcript/video, 00:50–01:38 and 14:54–15:43.
Local transcript: fall2026/lectures/references/mit-6824-2020-lecture3-gfs-transcript.txt
https://www.youtube.com/watch?v=EpIgvowZr00
Ghemawat, Gobioff, and Leung, The Google File System, Sections 1, 2, and 6.
https://pdos.csail.mit.edu/6.824/papers/gfs.pdf</a:t>
            </a:r>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The scale and failure problems from the first part of the lecture now become three concrete requirements for GFS.</a:t>
            </a:r>
          </a:p>
          <a:p>
            <a:endParaRPr lang="en-US" dirty="0"/>
          </a:p>
          <a:p>
            <a:r>
              <a:rPr lang="en-US" dirty="0"/>
              <a:t>First, Google needed one storage system that was big and fast enough for many services, including web crawling, search-index construction, server-log analysis, MapReduce jobs, and later video. Instead of building a separate storage system for each application, GFS provides one shared file system. It divides files into chunks and distributes them across servers, so capacity and parallel throughput grow with the cluster.</a:t>
            </a:r>
          </a:p>
          <a:p>
            <a:endParaRPr lang="en-US" dirty="0"/>
          </a:p>
          <a:p>
            <a:r>
              <a:rPr lang="en-US" dirty="0"/>
              <a:t>Second, the file system had to be global within one data center. Different applications can name and read the same files. A crawler can produce a data set, and an indexing job can consume it directly without copying the data into a separate storage silo.</a:t>
            </a:r>
          </a:p>
          <a:p>
            <a:endParaRPr lang="en-US" dirty="0"/>
          </a:p>
          <a:p>
            <a:r>
              <a:rPr lang="en-US" dirty="0"/>
              <a:t>Third, management had to be automatic. GFS places chunks, detects lost replicas, and creates new replicas when machines or disks fail. The applications should continue using files without an operator repairing each failure by hand.</a:t>
            </a:r>
          </a:p>
          <a:p>
            <a:endParaRPr lang="en-US" dirty="0"/>
          </a:p>
          <a:p>
            <a:r>
              <a:rPr lang="en-US" dirty="0"/>
              <a:t>The HDFS demo shows these requirements in a small cluster: one shared namespace, a large file divided into blocks across several servers, and automatic reconstruction after a server fails.</a:t>
            </a:r>
          </a:p>
          <a:p>
            <a:endParaRPr lang="en-US" dirty="0"/>
          </a:p>
          <a:p>
            <a:r>
              <a:rPr lang="en-US" dirty="0"/>
              <a:t>SOURCE
MIT 6.824, Spring 2020, Lecture 3 transcript/video, 15:43–18:55.
Local transcript: fall2026/lectures/references/mit-6824-2020-lecture3-gfs-transcript.txt
https://www.youtube.com/watch?v=EpIgvowZr00
Ghemawat, Gobioff, and Leung, The Google File System, Sections 1, 2.1, and 2.3.
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TERMINAL</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rPr lang="en-US" dirty="0"/>
              <a:t>The demo showed the mechanisms at a small scale. Those mechanisms make sense because GFS serves a deliberately specialized environment rather than every possible storage workload.</a:t>
            </a:r>
          </a:p>
          <a:p>
            <a:endParaRPr lang="en-US" dirty="0"/>
          </a:p>
          <a:p>
            <a:r>
              <a:rPr lang="en-US" dirty="0"/>
              <a:t>One GFS deployment lives inside a single data center. It does not try to keep replicas synchronized across distant sites with wide-area delays and network partitions. It is also an internal service for Google applications. Because Google controls both the storage system and most of its clients, application developers can understand the guarantees and adapt their data formats when necessary.</a:t>
            </a:r>
          </a:p>
          <a:p>
            <a:endParaRPr lang="en-US" dirty="0"/>
          </a:p>
          <a:p>
            <a:r>
              <a:rPr lang="en-US" dirty="0"/>
              <a:t>The expected workload is dominated by very large files. Reads are usually long sequential streams, with some small random reads. Writes are mainly large sequential appends, including cases where many clients append to the same file. Small writes at arbitrary offsets are possible, but they are not the design center.</a:t>
            </a:r>
          </a:p>
          <a:p>
            <a:endParaRPr lang="en-US" dirty="0"/>
          </a:p>
          <a:p>
            <a:r>
              <a:rPr lang="en-US" dirty="0"/>
              <a:t>This workload values aggregate throughput more than the response time of one tiny operation. A database holding bank-account records needs fast random updates and strong transactional behavior. GFS was designed for crawls, indexes, logs, and batch-processing pipelines.</a:t>
            </a:r>
          </a:p>
          <a:p>
            <a:endParaRPr lang="en-US" dirty="0"/>
          </a:p>
          <a:p>
            <a:r>
              <a:rPr lang="en-US" dirty="0"/>
              <a:t>These assumptions provide design freedom. GFS can optimize the operations Google performs constantly and accept weaker behavior in cases its applications can detect, retry, or avoid.</a:t>
            </a:r>
          </a:p>
          <a:p>
            <a:endParaRPr lang="en-US" dirty="0"/>
          </a:p>
          <a:p>
            <a:r>
              <a:rPr lang="en-US" dirty="0"/>
              <a:t>SOURCE
MIT 6.824, Spring 2020, Lecture 3 transcript/video, 18:07–20:39.
Local transcript: fall2026/lectures/references/mit-6824-2020-lecture3-gfs-transcript.txt
https://www.youtube.com/watch?v=EpIgvowZr00
Ghemawat, Gobioff, and Leung, The Google File System, Sections 1 and 2.1.
https://pdos.csail.mit.edu/6.824/papers/gfs.pdf</a:t>
            </a:r>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rPr lang="en-US" dirty="0"/>
              <a:t>Given those assumptions, what did the paper contribute? Distribution, sharding, replication, and fault tolerance were already established ideas in 2003. The research contribution was the way GFS combined them into a complete system and the evidence that the resulting design worked at production scale.</a:t>
            </a:r>
          </a:p>
          <a:p>
            <a:endParaRPr lang="en-US" dirty="0"/>
          </a:p>
          <a:p>
            <a:r>
              <a:rPr lang="en-US" dirty="0"/>
              <a:t>The first contribution is that operational evidence. Google needed the system to survive real failures, support real applications, and remain economical on commodity hardware. The paper reports experience from a deployed system rather than results from a small prototype.</a:t>
            </a:r>
          </a:p>
          <a:p>
            <a:endParaRPr lang="en-US" dirty="0"/>
          </a:p>
          <a:p>
            <a:r>
              <a:rPr lang="en-US" dirty="0"/>
              <a:t>The second contribution is the successful use of relaxed consistency. GFS accepts some anomalous results when avoiding them would require more coordination. That choice fits data such as a search index, where one missing result may go unnoticed. It does not fit data such as ad billing, where every recorded impression affects money. Applications can also protect themselves by attaching checksums and marking record boundaries, allowing readers to detect corruption or incomplete records.</a:t>
            </a:r>
          </a:p>
          <a:p>
            <a:endParaRPr lang="en-US" dirty="0"/>
          </a:p>
          <a:p>
            <a:r>
              <a:rPr lang="en-US" dirty="0"/>
              <a:t>The third contribution is the successful use of one master for metadata. Centralizing metadata makes namespace and placement decisions simpler. The clients still transfer file data directly to chunkservers, so the master does not carry the system's data bandwidth. The choice was surprising in an academic system, and the production experience showed that it worked for the original workload.</a:t>
            </a:r>
          </a:p>
          <a:p>
            <a:endParaRPr lang="en-US" dirty="0"/>
          </a:p>
          <a:p>
            <a:r>
              <a:rPr lang="en-US" dirty="0"/>
              <a:t>With the goals, assumptions, and contributions established, we can now examine that master-and-chunkserver architecture in detail.</a:t>
            </a:r>
          </a:p>
          <a:p>
            <a:endParaRPr lang="en-US" dirty="0"/>
          </a:p>
          <a:p>
            <a:r>
              <a:rPr lang="en-US" dirty="0"/>
              <a:t>SOURCE
MIT 6.824, Spring 2020, Lecture 3 transcript/video, 20:39–23:59.
Local transcript: fall2026/lectures/references/mit-6824-2020-lecture3-gfs-transcript.txt
https://www.youtube.com/watch?v=EpIgvowZr00
Ghemawat, Gobioff, and Leung, The Google File System, Sections 1, 2.3, 2.4, 2.7, and 6.
https://pdos.csail.mit.edu/6.824/papers/gfs.pdf</a:t>
            </a:r>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r>
              <a:rPr lang="en-US" dirty="0"/>
              <a:t>The architecture makes the single-master choice more concrete. There is one master, many chunkservers, and a GFS client library linked into each application.</a:t>
            </a:r>
          </a:p>
          <a:p>
            <a:endParaRPr lang="en-US" dirty="0"/>
          </a:p>
          <a:p>
            <a:r>
              <a:rPr lang="en-US" dirty="0"/>
              <a:t>The master controls the file system. It knows the namespace, how each file is divided into chunks, where the replicas are, and which replica currently coordinates mutations. The chunkservers hold the actual file data on their local disks.</a:t>
            </a:r>
          </a:p>
          <a:p>
            <a:endParaRPr lang="en-US" dirty="0"/>
          </a:p>
          <a:p>
            <a:r>
              <a:rPr lang="en-US" dirty="0"/>
              <a:t>The key is that control and data take different paths. A client asks the master where to find a chunk, but the file data moves directly between the client and a chunkserver. The master can make decisions using a global view without carrying every byte read or written. That is how GFS gains the simplicity of one master without placing the master in the main data path.</a:t>
            </a:r>
          </a:p>
          <a:p>
            <a:endParaRPr lang="en-US" dirty="0"/>
          </a:p>
          <a:p>
            <a:r>
              <a:rPr lang="en-US" dirty="0"/>
              <a:t>SOURCE
MIT 6.824, Spring 2020, Lecture 3 transcript/video, 23:05–24:48.
Local transcript: fall2026/lectures/references/mit-6824-2020-lecture3-gfs-transcript.txt
https://www.youtube.com/watch?v=EpIgvowZr00
Ghemawat, Gobioff, and Leung, The Google File System, Sections 2.3 and 2.4.
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rPr lang="en-US" dirty="0"/>
              <a:t>Now we can unpack the same architecture more precisely. Every component is a user-level process running on a commodity Linux machine. A machine may run a client, a chunkserver, or both, although separating them can reduce interference from application failures.</a:t>
            </a:r>
          </a:p>
          <a:p>
            <a:endParaRPr lang="en-US" dirty="0"/>
          </a:p>
          <a:p>
            <a:r>
              <a:rPr lang="en-US" dirty="0"/>
              <a:t>GFS divides a file into fixed-size chunks, normally 64 megabytes. When it creates a chunk, the master assigns an immutable 64-bit chunk handle. A chunkserver stores that chunk as an ordinary Linux file and accesses it using the handle and a byte range.</a:t>
            </a:r>
          </a:p>
          <a:p>
            <a:endParaRPr lang="en-US" dirty="0"/>
          </a:p>
          <a:p>
            <a:r>
              <a:rPr lang="en-US" dirty="0"/>
              <a:t>Each chunk normally has three replicas on different chunkservers. Replication keeps the chunk available after a machine or disk failure and gives the client a choice of replicas when reading.</a:t>
            </a:r>
          </a:p>
          <a:p>
            <a:endParaRPr lang="en-US" dirty="0"/>
          </a:p>
          <a:p>
            <a:r>
              <a:rPr lang="en-US" dirty="0"/>
              <a:t>The client library talks to both sides of the system. For metadata, it sends the file name and chunk index to the master. The master replies with the chunk handle and the replica locations. The client caches that answer, chooses a suitable replica, and transfers data directly with that chunkserver. Later operations on the same chunk can reuse the cached location information.</a:t>
            </a:r>
          </a:p>
          <a:p>
            <a:endParaRPr lang="en-US" dirty="0"/>
          </a:p>
          <a:p>
            <a:r>
              <a:rPr lang="en-US" dirty="0"/>
              <a:t>The arrows in the figure therefore represent two different paths. Small control messages go through the master. Large data transfers bypass it. Many clients can communicate with many chunkservers in parallel, while the master remains responsible for the global organization of the file system.</a:t>
            </a:r>
          </a:p>
          <a:p>
            <a:endParaRPr lang="en-US" dirty="0"/>
          </a:p>
          <a:p>
            <a:r>
              <a:rPr lang="en-US" dirty="0"/>
              <a:t>SOURCE
MIT 6.824, Spring 2020, Lecture 3 transcript/video, 23:05–24:48 and 31:21–33:59.
Local transcript: fall2026/lectures/references/mit-6824-2020-lecture3-gfs-transcript.txt
https://www.youtube.com/watch?v=EpIgvowZr00
Ghemawat, Gobioff, and Leung, The Google File System, Sections 2.3 and 2.4.
https://pdos.csail.mit.edu/6.824/papers/gfs.pdf</a:t>
            </a:r>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The master maintains one global view of the cluster. Its namespace maps file names to ordered arrays of chunk handles. For each chunk, it tracks metadata such as the version number and learns which chunkservers currently hold replicas. During a mutation, it also records the primary and the lease expiration time.</a:t>
            </a:r>
          </a:p>
          <a:p>
            <a:endParaRPr lang="en-US" dirty="0"/>
          </a:p>
          <a:p>
            <a:r>
              <a:rPr lang="en-US" dirty="0"/>
              <a:t>That global view allows the master to make cluster-wide decisions. It chooses where to place new chunks, creates replacement replicas after failures, moves chunks to balance load and disk usage, and removes chunks that no longer belong to any file. A chunkserver sees only its own local files, so it cannot make these decisions by itself.</a:t>
            </a:r>
          </a:p>
          <a:p>
            <a:endParaRPr lang="en-US" dirty="0"/>
          </a:p>
          <a:p>
            <a:r>
              <a:rPr lang="en-US" dirty="0"/>
              <a:t>All of this metadata stays in the master's memory, which makes lookups and background scans fast. The amount is small because GFS has large chunks. At less than 64 bytes per 64-megabyte chunk, 640 terabytes of full chunks requires less than about 640 megabytes of per-chunk metadata.</a:t>
            </a:r>
          </a:p>
          <a:p>
            <a:endParaRPr lang="en-US" dirty="0"/>
          </a:p>
          <a:p>
            <a:r>
              <a:rPr lang="en-US" dirty="0"/>
              <a:t>The master and chunkservers exchange periodic heartbeat messages. A chunkserver reports its state and the chunks it holds. The master uses the reply to send instructions, such as creating or deleting a replica. These heartbeats keep the master's view current as machines join, fail, and restart.</a:t>
            </a:r>
          </a:p>
          <a:p>
            <a:endParaRPr lang="en-US" dirty="0"/>
          </a:p>
          <a:p>
            <a:r>
              <a:rPr lang="en-US" dirty="0"/>
              <a:t>Keeping metadata in memory makes the master fast, but it raises an immediate question: what happens to that state when the master reboots?</a:t>
            </a:r>
          </a:p>
          <a:p>
            <a:endParaRPr lang="en-US" dirty="0"/>
          </a:p>
          <a:p>
            <a:r>
              <a:rPr lang="en-US" dirty="0"/>
              <a:t>SOURCE
MIT 6.824, Spring 2020, Lecture 3 transcript/video, 24:48–27:17.
Local transcript: fall2026/lectures/references/mit-6824-2020-lecture3-gfs-transcript.txt
https://www.youtube.com/watch?v=EpIgvowZr00
Ghemawat, Gobioff, and Leung, The Google File System, Sections 2.3, 2.6.1, 2.6.2, 4.3, and 4.4.
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To answer that question, separate the metadata that must survive from the metadata that can be reconstructed.</a:t>
            </a:r>
          </a:p>
          <a:p>
            <a:endParaRPr lang="en-US" dirty="0"/>
          </a:p>
          <a:p>
            <a:r>
              <a:rPr lang="en-US" dirty="0"/>
              <a:t>The file name to chunk-handle mapping must survive. No chunkserver knows the complete order of chunks that forms a file. Chunk version numbers must also survive because the master later uses them to distinguish current replicas from stale replicas that missed mutations.</a:t>
            </a:r>
          </a:p>
          <a:p>
            <a:endParaRPr lang="en-US" dirty="0"/>
          </a:p>
          <a:p>
            <a:r>
              <a:rPr lang="en-US" dirty="0"/>
              <a:t>The replica locations do not need to be written to disk. After a restart, the master asks every chunkserver which chunks it actually holds. This is more reliable than trying to keep an on-disk location table synchronized while chunkservers fail, restart, change names, or lose disks. The chunkserver has the final word about what remains on its own storage.</a:t>
            </a:r>
          </a:p>
          <a:p>
            <a:endParaRPr lang="en-US" dirty="0"/>
          </a:p>
          <a:p>
            <a:r>
              <a:rPr lang="en-US" dirty="0"/>
              <a:t>The identity of a primary and its lease expiration also do not need to survive. If the master forgets the current primary, it waits for one lease period. After that time, any old primary has lost the right to act, and the master can safely assign a new one.</a:t>
            </a:r>
          </a:p>
          <a:p>
            <a:endParaRPr lang="en-US" dirty="0"/>
          </a:p>
          <a:p>
            <a:r>
              <a:rPr lang="en-US" dirty="0"/>
              <a:t>The persistent part of the master's state is recorded in an operation log. Before a metadata change becomes visible to a client, the master flushes the corresponding log record to its local disk and to remote replicas of the log. The log also establishes one order for concurrent namespace operations.</a:t>
            </a:r>
          </a:p>
          <a:p>
            <a:endParaRPr lang="en-US" dirty="0"/>
          </a:p>
          <a:p>
            <a:r>
              <a:rPr lang="en-US" dirty="0"/>
              <a:t>Appending to a log is efficient because several records can be batched into one sequential disk write. A log grows forever, however, so the master periodically creates a checkpoint of its complete state. After a reboot, it loads the latest complete checkpoint, replays only the newer log records, and asks the chunkservers for their current replica lists.</a:t>
            </a:r>
          </a:p>
          <a:p>
            <a:endParaRPr lang="en-US" dirty="0"/>
          </a:p>
          <a:p>
            <a:r>
              <a:rPr lang="en-US" dirty="0"/>
              <a:t>This design keeps normal lookups in memory while preserving the information that cannot be reconstructed after a crash.</a:t>
            </a:r>
          </a:p>
          <a:p>
            <a:endParaRPr lang="en-US" dirty="0"/>
          </a:p>
          <a:p>
            <a:r>
              <a:rPr lang="en-US" dirty="0"/>
              <a:t>SOURCE
MIT 6.824, Spring 2020, Lecture 3 transcript/video, 27:17–31:21.
Local transcript: fall2026/lectures/references/mit-6824-2020-lecture3-gfs-transcript.txt
https://www.youtube.com/watch?v=EpIgvowZr00
Ghemawat, Gobioff, and Leung, The Google File System, Sections 2.6.1, 2.6.2, and 2.6.3.
https://pdos.csail.mit.edu/6.824/papers/gfs.pdf</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The chunkservers are the data side of the architecture. Each one stores chunk replicas as ordinary Linux files, identified by their chunk handles. GFS relies on the local Linux file system and its buffer cache rather than building another disk format or data cache inside the chunkserver.</a:t>
            </a:r>
          </a:p>
          <a:p>
            <a:endParaRPr lang="en-US" dirty="0"/>
          </a:p>
          <a:p>
            <a:r>
              <a:rPr lang="en-US" dirty="0"/>
              <a:t>The 64-megabyte chunk size is much larger than a conventional file-system block. A large chunk reduces the number of chunk records the master must keep. It also reduces client-master traffic because one location lookup can support many operations on the same chunk. For sequential workloads, a client can keep one connection to a chunkserver and transfer a long region of data efficiently.</a:t>
            </a:r>
          </a:p>
          <a:p>
            <a:endParaRPr lang="en-US" dirty="0"/>
          </a:p>
          <a:p>
            <a:r>
              <a:rPr lang="en-US" dirty="0"/>
              <a:t>The main space concern is internal fragmentation. GFS avoids reserving all 64 megabytes when a chunk is created. The Linux file grows only as data is written, so a partially filled last chunk consumes only the space it needs.</a:t>
            </a:r>
          </a:p>
          <a:p>
            <a:endParaRPr lang="en-US" dirty="0"/>
          </a:p>
          <a:p>
            <a:r>
              <a:rPr lang="en-US" dirty="0"/>
              <a:t>A large chunk can still create a hot spot when a small file occupies one chunk and hundreds of clients read it at once. The paper reports this happening when many machines simultaneously fetched the same executable. Google handled that case with more replicas and staggered start times. The normal workload of large, multi-chunk files made the tradeoff acceptable.</a:t>
            </a:r>
          </a:p>
          <a:p>
            <a:endParaRPr lang="en-US" dirty="0"/>
          </a:p>
          <a:p>
            <a:r>
              <a:rPr lang="en-US" dirty="0"/>
              <a:t>Chunkservers send heartbeats to the master. If a machine disappears or a replica becomes unavailable, the master selects a healthy copy and instructs chunkservers to create another replica. The master coordinates recovery, while the chunk data moves between chunkservers.</a:t>
            </a:r>
          </a:p>
          <a:p>
            <a:endParaRPr lang="en-US" dirty="0"/>
          </a:p>
          <a:p>
            <a:r>
              <a:rPr lang="en-US" dirty="0"/>
              <a:t>We now know the roles, the metadata, and what survives a reboot. We can use them to trace the read and write paths.</a:t>
            </a:r>
          </a:p>
          <a:p>
            <a:endParaRPr lang="en-US" dirty="0"/>
          </a:p>
          <a:p>
            <a:r>
              <a:rPr lang="en-US" dirty="0"/>
              <a:t>SOURCE
MIT 6.824, Spring 2020, Lecture 3 transcript/video, 23:59–24:48.
Local transcript: fall2026/lectures/references/mit-6824-2020-lecture3-gfs-transcript.txt
https://www.youtube.com/watch?v=EpIgvowZr00
Ghemawat, Gobioff, and Leung, The Google File System, Sections 2.3, 2.5, 2.6.2, and 4.3.
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rPr lang="en-US" dirty="0"/>
              <a:t>ASK THE CLASS HERE: what interface should a large distributed storage system expose to applications? GFS presents a familiar file interface - open, read, write - plus a record append that has no counterpart in an ordinary file system. The operations and their guarantees are adapted to Google's large, sequential workloads. A good interface hides placement, replication, failure and recovery, without promising behaviour the implementation cannot deliver cheaply. Record Append, a few slides later, is the concrete answer.</a:t>
            </a:r>
          </a:p>
          <a:p>
            <a:r>
              <a:t>With the architecture in place, we can trace the two basic operations.</a:t>
            </a:r>
            <a:endParaRPr lang="en-US" dirty="0"/>
          </a:p>
          <a:p>
            <a:endParaRPr lang="en-US" dirty="0"/>
          </a:p>
          <a:p>
            <a:r>
              <a:t>Reads are relatively simple because a client can fetch data from one up-to-date replica. Writes are harder because all replicas must apply mutations in the same order. We will use the read path first to see why the master stays out of the data path, then use the write path to introduce primary and secondary replication.</a:t>
            </a:r>
            <a:endParaRPr lang="en-US" dirty="0"/>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t>CUES</a:t>
            </a:r>
            <a:endParaRPr lang="en-US" dirty="0"/>
          </a:p>
          <a:p>
            <a:r>
              <a:t>Translate file offset to chunk index</a:t>
            </a:r>
            <a:endParaRPr lang="en-US" dirty="0"/>
          </a:p>
          <a:p>
            <a:r>
              <a:t>Ask master for handle and replica locations</a:t>
            </a:r>
            <a:endParaRPr lang="en-US" dirty="0"/>
          </a:p>
          <a:p>
            <a:r>
              <a:t>Cache metadata</a:t>
            </a:r>
            <a:endParaRPr lang="en-US" dirty="0"/>
          </a:p>
          <a:p>
            <a:r>
              <a:t>Read from a nearby chunkserver</a:t>
            </a:r>
            <a:endParaRPr lang="en-US" dirty="0"/>
          </a:p>
          <a:p>
            <a:endParaRPr lang="en-US" dirty="0"/>
          </a:p>
          <a:p>
            <a:r>
              <a:t>Suppose a client wants bytes at a particular offset. The GFS client library computes the chunk index from the fixed chunk size and sends the file name and chunk index to the master, unless it already cached the answer.</a:t>
            </a:r>
            <a:endParaRPr lang="en-US" dirty="0"/>
          </a:p>
          <a:p>
            <a:endParaRPr lang="en-US" dirty="0"/>
          </a:p>
          <a:p>
            <a:r>
              <a:t>The master looks up the chunk handle and returns the locations of the replicas. The client caches that metadata and chooses a nearby chunkserver, often one in the same rack.</a:t>
            </a:r>
            <a:endParaRPr lang="en-US" dirty="0"/>
          </a:p>
          <a:p>
            <a:endParaRPr lang="en-US" dirty="0"/>
          </a:p>
          <a:p>
            <a:r>
              <a:t>The client then sends the chunk handle and byte range directly to that chunkserver. The chunkserver reads the corresponding Linux file and returns the data. Repeated reads from the same chunk do not contact the master again until the cached metadata expires.</a:t>
            </a:r>
            <a:endParaRPr lang="en-US" dirty="0"/>
          </a:p>
          <a:p>
            <a:endParaRPr lang="en-US" dirty="0"/>
          </a:p>
          <a:p>
            <a:r>
              <a:t>SOURCE</a:t>
            </a:r>
            <a:endParaRPr lang="en-US" dirty="0"/>
          </a:p>
          <a:p>
            <a:r>
              <a:t>MIT 6.824, Spring 2020, Lecture 3 video, 30:24-35:30.</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t>The main architectural point is that the master performs naming and placement, while chunkservers perform data transfer.</a:t>
            </a:r>
            <a:endParaRPr lang="en-US" dirty="0"/>
          </a:p>
          <a:p>
            <a:endParaRPr lang="en-US" dirty="0"/>
          </a:p>
          <a:p>
            <a:r>
              <a:t>Clients cache the mapping from a file and chunk index to the chunk handle and replica locations. That reduces repeated load on the master. The master can therefore serve many clients even though it is centralized.</a:t>
            </a:r>
            <a:endParaRPr lang="en-US" dirty="0"/>
          </a:p>
          <a:p>
            <a:endParaRPr lang="en-US" dirty="0"/>
          </a:p>
          <a:p>
            <a:r>
              <a:t>For a read, one replica is enough. For a write, the client knows all replicas that need the mutation, but we still need a protocol that keeps their update order consistent. That is the next problem.</a:t>
            </a:r>
            <a:endParaRPr lang="en-US" dirty="0"/>
          </a:p>
          <a:p>
            <a:endParaRPr lang="en-US" dirty="0"/>
          </a:p>
          <a:p>
            <a:r>
              <a:t>SOURCE</a:t>
            </a:r>
            <a:endParaRPr lang="en-US" dirty="0"/>
          </a:p>
          <a:p>
            <a:r>
              <a:t>MIT 6.824, Spring 2020, Lecture 3 video, 30:24-40:32.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2.4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CUES</a:t>
            </a:r>
          </a:p>
          <a:p>
            <a:r>
              <a:rPr lang="en-US" dirty="0"/>
              <a:t>One primary per chunk</a:t>
            </a:r>
          </a:p>
          <a:p>
            <a:r>
              <a:rPr lang="en-US" dirty="0"/>
              <a:t>Primary chooses the mutation order</a:t>
            </a:r>
          </a:p>
          <a:p>
            <a:r>
              <a:rPr lang="en-US" dirty="0"/>
              <a:t>Secondaries follow that order</a:t>
            </a:r>
          </a:p>
          <a:p>
            <a:r>
              <a:rPr lang="en-US" dirty="0"/>
              <a:t>Reads may use any replica under GFS's consistency model</a:t>
            </a:r>
          </a:p>
          <a:p>
            <a:endParaRPr lang="en-US" dirty="0"/>
          </a:p>
          <a:p>
            <a:r>
              <a:rPr lang="en-US" dirty="0"/>
              <a:t>GFS designates one replica as the primary for each actively mutated chunk. The other replicas act as secondaries.</a:t>
            </a:r>
          </a:p>
          <a:p>
            <a:endParaRPr lang="en-US" dirty="0"/>
          </a:p>
          <a:p>
            <a:r>
              <a:rPr lang="en-US" dirty="0"/>
              <a:t>The primary receives concurrent write requests and assigns one serial order. It applies the mutations in that order and sends the same order to every secondary. The secondaries may receive data earlier, but they do not decide the operation order themselves.</a:t>
            </a:r>
          </a:p>
          <a:p>
            <a:endParaRPr lang="en-US" dirty="0"/>
          </a:p>
          <a:p>
            <a:r>
              <a:rPr lang="en-US" dirty="0"/>
              <a:t>The master grants primary status through a lease and records a new chunk version when it establishes a new replica group. Version numbers let the master recognize stale replicas that missed an earlier period of updates.</a:t>
            </a:r>
          </a:p>
          <a:p>
            <a:endParaRPr lang="en-US" dirty="0"/>
          </a:p>
          <a:p>
            <a:r>
              <a:rPr lang="en-US" dirty="0"/>
              <a:t>SOURCE</a:t>
            </a:r>
          </a:p>
          <a:p>
            <a:r>
              <a:rPr lang="en-US" dirty="0"/>
              <a:t>MIT 6.824, Spring 2020, Lecture 3 video, 40:32-50:35.</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3.1, 3.2, and 4.5.</a:t>
            </a:r>
          </a:p>
          <a:p>
            <a:r>
              <a:rPr lang="en-US" dirty="0"/>
              <a:t>https://pdos.csail.mit.edu/6.824/papers/gfs.pdf</a:t>
            </a:r>
          </a:p>
          <a:p>
            <a:r>
              <a:t>Call back to the broken design at the start of class: the two servers applied the same two writes in different orders. A primary exists to pick one order and impose it on every replica.</a:t>
            </a:r>
            <a:endParaRPr lang="en-US"/>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t>CUES</a:t>
            </a:r>
            <a:endParaRPr lang="en-US" dirty="0"/>
          </a:p>
          <a:p>
            <a:r>
              <a:t>Ask master for primary and secondaries</a:t>
            </a:r>
            <a:endParaRPr lang="en-US" dirty="0"/>
          </a:p>
          <a:p>
            <a:r>
              <a:t>Push data to every replica</a:t>
            </a:r>
            <a:endParaRPr lang="en-US" dirty="0"/>
          </a:p>
          <a:p>
            <a:r>
              <a:t>Send the write command to the primary</a:t>
            </a:r>
            <a:endParaRPr lang="en-US" dirty="0"/>
          </a:p>
          <a:p>
            <a:r>
              <a:t>Primary orders the mutation</a:t>
            </a:r>
            <a:endParaRPr lang="en-US" dirty="0"/>
          </a:p>
          <a:p>
            <a:r>
              <a:t>Secondaries apply that order</a:t>
            </a:r>
            <a:endParaRPr lang="en-US" dirty="0"/>
          </a:p>
          <a:p>
            <a:r>
              <a:t>Return success only after acknowledgments</a:t>
            </a:r>
            <a:endParaRPr lang="en-US" dirty="0"/>
          </a:p>
          <a:p>
            <a:endParaRPr lang="en-US" dirty="0"/>
          </a:p>
          <a:p>
            <a:r>
              <a:t>The write path separates moving bytes from ordering the mutation.</a:t>
            </a:r>
            <a:endParaRPr lang="en-US" dirty="0"/>
          </a:p>
          <a:p>
            <a:endParaRPr lang="en-US" dirty="0"/>
          </a:p>
          <a:p>
            <a:r>
              <a:t>First, the client asks the master for the current primary and secondaries. The client pushes the data to all replicas, where each server holds it temporarily. After the replicas have the bytes, the client sends the write request to the primary.</a:t>
            </a:r>
            <a:endParaRPr lang="en-US" dirty="0"/>
          </a:p>
          <a:p>
            <a:endParaRPr lang="en-US" dirty="0"/>
          </a:p>
          <a:p>
            <a:r>
              <a:t>The primary verifies its lease, chooses the order, writes its local chunk, and tells the secondaries to apply the same mutation. It waits for their acknowledgments and then returns success or failure to the client. If the client receives an error, it retries the operation from the beginning.</a:t>
            </a:r>
            <a:endParaRPr lang="en-US" dirty="0"/>
          </a:p>
          <a:p>
            <a:endParaRPr lang="en-US" dirty="0"/>
          </a:p>
          <a:p>
            <a:r>
              <a:t>This retry behavior improves availability, but it can create duplicates or inconsistent regions when only some replicas completed an earlier attempt.</a:t>
            </a:r>
            <a:endParaRPr lang="en-US" dirty="0"/>
          </a:p>
          <a:p>
            <a:endParaRPr lang="en-US" dirty="0"/>
          </a:p>
          <a:p>
            <a:r>
              <a:t>SOURCE</a:t>
            </a:r>
            <a:endParaRPr lang="en-US" dirty="0"/>
          </a:p>
          <a:p>
            <a:r>
              <a:t>MIT 6.824, Spring 2020, Lecture 3 video, 40:32-60:46.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This is the write operation that matters for GFS, and the one the paper optimises. MIT makes the same choice in lecture: it starts to describe an ordinary offset write, then deliberately backs up and says it will only talk about record append.</a:t>
            </a:r>
            <a:endParaRPr lang="en-US" dirty="0"/>
          </a:p>
          <a:p>
            <a:r>
              <a:rPr dirty="0"/>
              <a:t>Contrast it with the previous slide, where the client knew the offset. Here it does not, and that is the point: with many clients appending to one file, letting each pick its own offset would force them to coordinate, which is exactly what GFS wants to avoid. Think of a log that hundreds of web servers append to at once.</a:t>
            </a:r>
            <a:endParaRPr lang="en-US" dirty="0"/>
          </a:p>
          <a:p>
            <a:r>
              <a:rPr dirty="0"/>
              <a:t>The at-least-once promise is where the anomalies later in the lecture come from. A failed append is retried, so a record can land twice, and abandoned attempts leave padding behind. Point forward to "Why Are These Anomalies OK?".</a:t>
            </a:r>
            <a:endParaRPr lang="en-US" dirty="0"/>
          </a:p>
          <a:p>
            <a:r>
              <a:rPr dirty="0"/>
              <a:t>This is also the honest answer to the first of the two questions: the interface is a file name plus a buffer, offered by a client library, not a POSIX file system.</a:t>
            </a:r>
            <a:endParaRPr lang="en-US" dirty="0"/>
          </a:p>
          <a:p>
            <a:r>
              <a:rPr dirty="0"/>
              <a:t>SOURCE</a:t>
            </a:r>
            <a:endParaRPr lang="en-US" dirty="0"/>
          </a:p>
          <a:p>
            <a:r>
              <a:rPr dirty="0"/>
              <a:t>MIT 6.824, Spring 2020, Lecture 3 video, 40:04-43:00.</a:t>
            </a:r>
            <a:endParaRPr lang="en-US" dirty="0"/>
          </a:p>
          <a:p>
            <a:r>
              <a:rPr dirty="0"/>
              <a:t>https://www.youtube.com/watch?v=EpIgvowZr00</a:t>
            </a:r>
            <a:endParaRPr lang="en-US" dirty="0"/>
          </a:p>
          <a:p>
            <a:r>
              <a:rPr dirty="0"/>
              <a:t>Ghemawat, Gobioff, and Leung, The Google File System, Sections 2.3 and 3.3.</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the master forgets the replica list on a reboot and asks the chunkservers instead. Why can it not also ask them for the version number and take the highest answer?</a:t>
            </a:r>
            <a:endParaRPr lang="en-US"/>
          </a:p>
          <a:p>
            <a:r>
              <a:t>Because the chunkservers holding the newest copy may still be down. The ones that answer first could be the machines that were offline last week, and their version is old. So the version number has to be on the master disk.</a:t>
            </a:r>
            <a:endParaRPr lang="en-US"/>
          </a:p>
          <a:p>
            <a:r>
              <a:t>Whole-building power failure is the case to describe: the master comes back before most chunkservers. If no replica reports the version the master expects, it waits or tells the client to retry rather than hand out old data.</a:t>
            </a:r>
            <a:endParaRPr lang="en-US"/>
          </a:p>
          <a:p>
            <a:r>
              <a:t>SOURCE</a:t>
            </a:r>
            <a:endParaRPr lang="en-US"/>
          </a:p>
          <a:p>
            <a:r>
              <a:t>MIT 6.824, Spring 2020, Lecture 3 video, 41:39-49:51.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4.5.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t>This diagram distinguishes control flow from data flow.</a:t>
            </a:r>
            <a:endParaRPr lang="en-US" dirty="0"/>
          </a:p>
          <a:p>
            <a:endParaRPr lang="en-US" dirty="0"/>
          </a:p>
          <a:p>
            <a:r>
              <a:t>The client first asks the master which replicas hold the chunk and which replica has the lease. That message contains only metadata. The file data then moves directly among the client and chunkservers.</a:t>
            </a:r>
            <a:endParaRPr lang="en-US" dirty="0"/>
          </a:p>
          <a:p>
            <a:endParaRPr lang="en-US" dirty="0"/>
          </a:p>
          <a:p>
            <a:r>
              <a:t>GFS pipelines the data through the replicas in an order chosen to reduce network distance. This uses each machine's outgoing bandwidth once instead of having the client send the full data separately across the network to every replica.</a:t>
            </a:r>
            <a:endParaRPr lang="en-US" dirty="0"/>
          </a:p>
          <a:p>
            <a:endParaRPr lang="en-US" dirty="0"/>
          </a:p>
          <a:p>
            <a:r>
              <a:t>After all replicas buffer the data, the client sends the control request to the primary. The primary orders the write and tells the secondaries when and where to apply the buffered bytes. The final acknowledgment travels back through the primary.</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LIVE DEMO 2, about 4 minutes.</a:t>
            </a:r>
            <a:endParaRPr lang="en-US" dirty="0"/>
          </a:p>
          <a:p>
            <a:r>
              <a:rPr dirty="0"/>
              <a:t>In a terminal: cd ~/work/BU/teaching/ec528/fall2026/lectures/demo/hdfs-gfs &amp;&amp; bash demo2-readwrite.sh</a:t>
            </a:r>
            <a:endParaRPr lang="en-US" dirty="0"/>
          </a:p>
          <a:p>
            <a:r>
              <a:rPr dirty="0"/>
              <a:t>If "Demo 1: HDFS" earlier in the lecture was run with KEEP=1, its cluster is still up and this reuses it in a couple of seconds; otherwise it starts its own, which takes 20 seconds warm and up to 90 seconds cold - run a warm-up before class. Rehearsed 09/16.</a:t>
            </a:r>
            <a:endParaRPr lang="en-US" dirty="0"/>
          </a:p>
          <a:p>
            <a:r>
              <a:rPr dirty="0"/>
              <a:t>Step 1, the read: point at the two kinds of line. One getBlockLocations call to the master for the whole file, then a direct connection per block. Which server serves which block depends on where the replicas are, so with only two live servers a block may come from the same machine as the previous one - say that before a student asks.</a:t>
            </a:r>
            <a:endParaRPr lang="en-US" dirty="0"/>
          </a:p>
          <a:p>
            <a:r>
              <a:rPr dirty="0"/>
              <a:t>Step 2, the write: three blocks means three addBlock calls. For each one the master returns a pipeline of two servers, and the client connects only to the first. That node forwards to the second. This is the slide you just showed: control to the master, data along a chain, and the bytes never touch the master.</a:t>
            </a:r>
            <a:endParaRPr lang="en-US" dirty="0"/>
          </a:p>
          <a:p>
            <a:r>
              <a:rPr dirty="0"/>
              <a:t>Step 3, the operation log: one OP_ADD, three OP_ADD_BLOCK, one OP_CLOSE, one OP_RENAME_OLD. The temporary file name and the rename are the CLI committing the file atomically once the data is written. Tie it back to the Master State slide: this log is what survives a reboot, and block locations are not in it.</a:t>
            </a:r>
            <a:endParaRPr lang="en-US" dirty="0"/>
          </a:p>
          <a:p>
            <a:r>
              <a:rPr dirty="0"/>
              <a:t>What this cannot show: GFS leases, a primary ordering concurrent writes, or record append. HDFS has a single writer per file and no record append, so the anomalies later in the lecture stay on the slides.</a:t>
            </a:r>
            <a:endParaRPr lang="en-US" dirty="0"/>
          </a:p>
          <a:p>
            <a:r>
              <a:rPr dirty="0"/>
              <a:t>SOURCE</a:t>
            </a:r>
            <a:endParaRPr lang="en-US" dirty="0"/>
          </a:p>
          <a:p>
            <a:r>
              <a:rPr dirty="0"/>
              <a:t>Local demo: fall2026/lectures/demo/hdfs-gfs/README.md (Hadoop 3.5.0).</a:t>
            </a:r>
            <a:endParaRPr lang="en-US" dirty="0"/>
          </a:p>
          <a:p>
            <a:r>
              <a:rPr dirty="0"/>
              <a:t>Ghemawat, Gobioff, and Leung, The Google File System, Sections 2.4, 3.1 and 3.2.</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"What Would We Like for Consistency?" slide near the start: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50</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51</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52</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53</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At this scale, commodity machines are the only affordable option</a:t>
            </a:r>
          </a:p>
          <a:p>
            <a:pPr marL="914400" indent="-457200">
              <a:buFont typeface="Arial" panose="020B0604020202020204" pitchFamily="34" charset="0"/>
              <a:buChar char="•"/>
            </a:pPr>
            <a:r>
              <a:rPr lang="en-US" sz="2800" b="0" dirty="0"/>
              <a:t>Far better performance per dollar than reliable, expensive hardware</a:t>
            </a:r>
          </a:p>
          <a:p>
            <a:pPr marL="914400" indent="-457200">
              <a:buFont typeface="Arial" panose="020B0604020202020204" pitchFamily="34" charset="0"/>
              <a:buChar char="•"/>
            </a:pPr>
            <a:r>
              <a:rPr lang="en-US" sz="2800" b="0" dirty="0"/>
              <a:t>Expensive hardware fails less often, but it still fails</a:t>
            </a:r>
          </a:p>
          <a:p>
            <a:pPr marL="457200"/>
            <a:endParaRPr lang="en-US" sz="2800" b="0" dirty="0"/>
          </a:p>
          <a:p>
            <a:r>
              <a:rPr lang="en-US" sz="3200" b="1" dirty="0"/>
              <a:t>One Google cluster, first year of service</a:t>
            </a:r>
          </a:p>
          <a:p>
            <a:pPr marL="914400" indent="-457200">
              <a:buFont typeface="Arial" panose="020B0604020202020204" pitchFamily="34" charset="0"/>
              <a:buChar char="•"/>
            </a:pPr>
            <a:r>
              <a:rPr lang="en-US" sz="2800" b="0" dirty="0"/>
              <a:t>Around 20 rack failures, each taking 40-80 machines away for hours</a:t>
            </a:r>
          </a:p>
          <a:p>
            <a:pPr marL="914400" indent="-457200">
              <a:buFont typeface="Arial" panose="020B0604020202020204" pitchFamily="34" charset="0"/>
              <a:buChar char="•"/>
            </a:pPr>
            <a:r>
              <a:rPr lang="en-US" sz="2800" b="0" dirty="0"/>
              <a:t>About a thousand machine failures and thousands of disk failures</a:t>
            </a:r>
          </a:p>
          <a:p>
            <a:pPr marL="914400" indent="-457200">
              <a:buFont typeface="Arial" panose="020B0604020202020204" pitchFamily="34" charset="0"/>
              <a:buChar char="•"/>
            </a:pPr>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Fault Tolerance Comes with a Cost</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Fault tolerance requires replication</a:t>
            </a:r>
          </a:p>
          <a:p>
            <a:pPr marL="342900" indent="-342900">
              <a:buFont typeface="Arial"/>
              <a:buChar char="•"/>
            </a:pPr>
            <a:endParaRPr sz="1200" dirty="0"/>
          </a:p>
          <a:p>
            <a:pPr marL="342900" indent="-342900">
              <a:buFont typeface="Arial"/>
              <a:buChar char="•"/>
            </a:pPr>
            <a:r>
              <a:rPr sz="2400" dirty="0"/>
              <a:t>Replication risks inconsistency</a:t>
            </a:r>
          </a:p>
          <a:p>
            <a:pPr marL="342900" indent="-342900">
              <a:buFont typeface="Arial"/>
              <a:buChar char="•"/>
            </a:pPr>
            <a:endParaRPr sz="1200" dirty="0"/>
          </a:p>
          <a:p>
            <a:pPr marL="342900" indent="-342900">
              <a:buFont typeface="Arial"/>
              <a:buChar char="•"/>
            </a:pPr>
            <a:r>
              <a:rPr sz="2400" dirty="0"/>
              <a:t>Consistency requires coordination</a:t>
            </a:r>
          </a:p>
          <a:p>
            <a:pPr marL="342900" indent="-342900">
              <a:buFont typeface="Arial"/>
              <a:buChar char="•"/>
            </a:pPr>
            <a:endParaRPr sz="1200" dirty="0"/>
          </a:p>
          <a:p>
            <a:pPr marL="342900" indent="-342900">
              <a:buFont typeface="Arial"/>
              <a:buChar char="•"/>
            </a:pPr>
            <a:r>
              <a:rPr sz="2400" dirty="0"/>
              <a:t>Coordination lowers performance</a:t>
            </a:r>
          </a:p>
        </p:txBody>
      </p:sp>
      <p:sp>
        <p:nvSpPr>
          <p:cNvPr id="49" name="Partial writ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A partial write can make replicas disagree</a:t>
            </a:r>
          </a:p>
        </p:txBody>
      </p:sp>
      <p:sp>
        <p:nvSpPr>
          <p:cNvPr id="50" name="Write request">
            <a:extLst>
              <a:ext uri="{FF2B5EF4-FFF2-40B4-BE49-F238E27FC236}">
                <a16:creationId xmlns:a16="http://schemas.microsoft.com/office/drawing/2014/main" id="{75D3A3DE-8E0D-482B-BCFD-2AD2458A4DA5}"/>
              </a:ext>
            </a:extLst>
          </p:cNvPr>
          <p:cNvSpPr>
            <a:spLocks noGrp="1"/>
          </p:cNvSpPr>
          <p:nvPr/>
        </p:nvSpPr>
        <p:spPr>
          <a:xfrm>
            <a:off x="2838450" y="1438275"/>
            <a:ext cx="12192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WRITE</a:t>
            </a:r>
          </a:p>
          <a:p>
            <a:pPr algn="ctr">
              <a:defRPr sz="1425" b="1">
                <a:solidFill>
                  <a:srgbClr val="FFFFFF"/>
                </a:solidFill>
                <a:latin typeface="Aptos"/>
                <a:ea typeface="Aptos"/>
                <a:cs typeface="Aptos"/>
              </a:defRPr>
            </a:pPr>
            <a:r>
              <a:rPr sz="1425" b="1">
                <a:solidFill>
                  <a:srgbClr val="FFFFFF"/>
                </a:solidFill>
                <a:latin typeface="Aptos"/>
                <a:ea typeface="Aptos"/>
                <a:cs typeface="Aptos"/>
              </a:rPr>
              <a:t>x = B</a:t>
            </a:r>
          </a:p>
        </p:txBody>
      </p:sp>
      <p:sp>
        <p:nvSpPr>
          <p:cNvPr id="51" name="Top replica 1">
            <a:extLst>
              <a:ext uri="{FF2B5EF4-FFF2-40B4-BE49-F238E27FC236}">
                <a16:creationId xmlns:a16="http://schemas.microsoft.com/office/drawing/2014/main" id="{C047F16D-4224-436C-BA2F-7F4F14E7970E}"/>
              </a:ext>
            </a:extLst>
          </p:cNvPr>
          <p:cNvSpPr>
            <a:spLocks noGrp="1"/>
          </p:cNvSpPr>
          <p:nvPr/>
        </p:nvSpPr>
        <p:spPr>
          <a:xfrm>
            <a:off x="581025"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2" name="Top replica 2">
            <a:extLst>
              <a:ext uri="{FF2B5EF4-FFF2-40B4-BE49-F238E27FC236}">
                <a16:creationId xmlns:a16="http://schemas.microsoft.com/office/drawing/2014/main" id="{B89A6385-D3E5-42F1-8972-B1EBFAE8F87F}"/>
              </a:ext>
            </a:extLst>
          </p:cNvPr>
          <p:cNvSpPr>
            <a:spLocks noGrp="1"/>
          </p:cNvSpPr>
          <p:nvPr/>
        </p:nvSpPr>
        <p:spPr>
          <a:xfrm>
            <a:off x="2781300"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3" name="Stale replica">
            <a:extLst>
              <a:ext uri="{FF2B5EF4-FFF2-40B4-BE49-F238E27FC236}">
                <a16:creationId xmlns:a16="http://schemas.microsoft.com/office/drawing/2014/main" id="{14E7EFFC-DB2B-4ECF-A2D6-8B87D9C1B16D}"/>
              </a:ext>
            </a:extLst>
          </p:cNvPr>
          <p:cNvSpPr>
            <a:spLocks noGrp="1"/>
          </p:cNvSpPr>
          <p:nvPr/>
        </p:nvSpPr>
        <p:spPr>
          <a:xfrm>
            <a:off x="4981575" y="2266950"/>
            <a:ext cx="1333500" cy="685800"/>
          </a:xfrm>
          <a:prstGeom prst="roundRect">
            <a:avLst>
              <a:gd name="adj" fmla="val 13889"/>
            </a:avLst>
          </a:prstGeom>
          <a:solidFill>
            <a:srgbClr val="F7E8F5"/>
          </a:solidFill>
          <a:ln w="28575">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Replica 3</a:t>
            </a:r>
          </a:p>
          <a:p>
            <a:pPr algn="ctr">
              <a:defRPr sz="1350" b="1">
                <a:solidFill>
                  <a:srgbClr val="A02B93"/>
                </a:solidFill>
                <a:latin typeface="Aptos"/>
                <a:ea typeface="Aptos"/>
                <a:cs typeface="Aptos"/>
              </a:defRPr>
            </a:pPr>
            <a:r>
              <a:rPr sz="1350" b="1">
                <a:solidFill>
                  <a:srgbClr val="A02B93"/>
                </a:solidFill>
                <a:latin typeface="Aptos"/>
                <a:ea typeface="Aptos"/>
                <a:cs typeface="Aptos"/>
              </a:rPr>
              <a:t>x = A</a:t>
            </a:r>
          </a:p>
        </p:txBody>
      </p:sp>
      <p:cxnSp>
        <p:nvCxnSpPr>
          <p:cNvPr id="76" name="Straight Arrow Connector 75"/>
          <p:cNvCxnSpPr>
            <a:stCxn id="50" idx="2"/>
            <a:endCxn id="51" idx="0"/>
          </p:cNvCxnSpPr>
          <p:nvPr/>
        </p:nvCxnSpPr>
        <p:spPr>
          <a:xfrm flipH="1">
            <a:off x="1247775" y="2028825"/>
            <a:ext cx="2200275" cy="238125"/>
          </a:xfrm>
          <a:prstGeom prst="straightConnector1">
            <a:avLst/>
          </a:prstGeom>
          <a:ln w="19050">
            <a:solidFill>
              <a:srgbClr val="5B6573"/>
            </a:solidFill>
            <a:prstDash val="solid"/>
            <a:tailEnd type="triangle" w="sm" len="sm"/>
          </a:ln>
        </p:spPr>
      </p:cxnSp>
      <p:cxnSp>
        <p:nvCxnSpPr>
          <p:cNvPr id="77" name="Straight Arrow Connector 76"/>
          <p:cNvCxnSpPr>
            <a:stCxn id="50" idx="2"/>
            <a:endCxn id="52" idx="0"/>
          </p:cNvCxnSpPr>
          <p:nvPr/>
        </p:nvCxnSpPr>
        <p:spPr>
          <a:xfrm>
            <a:off x="3448050" y="2028825"/>
            <a:ext cx="0" cy="238125"/>
          </a:xfrm>
          <a:prstGeom prst="straightConnector1">
            <a:avLst/>
          </a:prstGeom>
          <a:ln w="19050">
            <a:solidFill>
              <a:srgbClr val="5B6573"/>
            </a:solidFill>
            <a:prstDash val="solid"/>
            <a:tailEnd type="triangle" w="sm" len="sm"/>
          </a:ln>
        </p:spPr>
      </p:cxnSp>
      <p:cxnSp>
        <p:nvCxnSpPr>
          <p:cNvPr id="78" name="Straight Arrow Connector 77"/>
          <p:cNvCxnSpPr>
            <a:stCxn id="50" idx="2"/>
            <a:endCxn id="53" idx="0"/>
          </p:cNvCxnSpPr>
          <p:nvPr/>
        </p:nvCxnSpPr>
        <p:spPr>
          <a:xfrm>
            <a:off x="3448050" y="2028825"/>
            <a:ext cx="2200275" cy="238125"/>
          </a:xfrm>
          <a:prstGeom prst="straightConnector1">
            <a:avLst/>
          </a:prstGeom>
          <a:ln w="19050">
            <a:solidFill>
              <a:srgbClr val="A02B93"/>
            </a:solidFill>
            <a:prstDash val="dash"/>
            <a:tailEnd type="triangle" w="sm" len="sm"/>
          </a:ln>
        </p:spPr>
      </p:cxnSp>
      <p:sp>
        <p:nvSpPr>
          <p:cNvPr id="57" name="Stale copy label">
            <a:extLst>
              <a:ext uri="{FF2B5EF4-FFF2-40B4-BE49-F238E27FC236}">
                <a16:creationId xmlns:a16="http://schemas.microsoft.com/office/drawing/2014/main" id="{8E2343DF-2BB9-401F-B950-594DD72F33BC}"/>
              </a:ext>
            </a:extLst>
          </p:cNvPr>
          <p:cNvSpPr>
            <a:spLocks noGrp="1"/>
          </p:cNvSpPr>
          <p:nvPr/>
        </p:nvSpPr>
        <p:spPr>
          <a:xfrm>
            <a:off x="5000625" y="2971800"/>
            <a:ext cx="1295400" cy="257175"/>
          </a:xfrm>
          <a:prstGeom prst="rect">
            <a:avLst/>
          </a:prstGeom>
          <a:noFill/>
          <a:ln w="0">
            <a:noFill/>
          </a:ln>
        </p:spPr>
        <p:txBody>
          <a:bodyPr>
            <a:normAutofit fontScale="76316"/>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stale copy</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Coordination heading">
            <a:extLst>
              <a:ext uri="{FF2B5EF4-FFF2-40B4-BE49-F238E27FC236}">
                <a16:creationId xmlns:a16="http://schemas.microsoft.com/office/drawing/2014/main" id="{A3E49605-0D7A-41CB-AFA0-72806CB22D49}"/>
              </a:ext>
            </a:extLst>
          </p:cNvPr>
          <p:cNvSpPr>
            <a:spLocks noGrp="1"/>
          </p:cNvSpPr>
          <p:nvPr/>
        </p:nvSpPr>
        <p:spPr>
          <a:xfrm>
            <a:off x="409575" y="351472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Stronger consistency makes replicas coordinate</a:t>
            </a:r>
          </a:p>
        </p:txBody>
      </p:sp>
      <p:sp>
        <p:nvSpPr>
          <p:cNvPr id="60" name="Consistent replica 1">
            <a:extLst>
              <a:ext uri="{FF2B5EF4-FFF2-40B4-BE49-F238E27FC236}">
                <a16:creationId xmlns:a16="http://schemas.microsoft.com/office/drawing/2014/main" id="{038D7E5E-8B95-4F93-B217-322D71EE6C6C}"/>
              </a:ext>
            </a:extLst>
          </p:cNvPr>
          <p:cNvSpPr>
            <a:spLocks noGrp="1"/>
          </p:cNvSpPr>
          <p:nvPr/>
        </p:nvSpPr>
        <p:spPr>
          <a:xfrm>
            <a:off x="5238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1" name="Consistent replica 2">
            <a:extLst>
              <a:ext uri="{FF2B5EF4-FFF2-40B4-BE49-F238E27FC236}">
                <a16:creationId xmlns:a16="http://schemas.microsoft.com/office/drawing/2014/main" id="{E7B20FF7-ACB2-41C6-84C8-20B1208AB980}"/>
              </a:ext>
            </a:extLst>
          </p:cNvPr>
          <p:cNvSpPr>
            <a:spLocks noGrp="1"/>
          </p:cNvSpPr>
          <p:nvPr/>
        </p:nvSpPr>
        <p:spPr>
          <a:xfrm>
            <a:off x="23526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2" name="Consistent replica 3">
            <a:extLst>
              <a:ext uri="{FF2B5EF4-FFF2-40B4-BE49-F238E27FC236}">
                <a16:creationId xmlns:a16="http://schemas.microsoft.com/office/drawing/2014/main" id="{87044477-B397-489B-940A-AABA6864C522}"/>
              </a:ext>
            </a:extLst>
          </p:cNvPr>
          <p:cNvSpPr>
            <a:spLocks noGrp="1"/>
          </p:cNvSpPr>
          <p:nvPr/>
        </p:nvSpPr>
        <p:spPr>
          <a:xfrm>
            <a:off x="41814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3</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3" name="Wait before reply">
            <a:extLst>
              <a:ext uri="{FF2B5EF4-FFF2-40B4-BE49-F238E27FC236}">
                <a16:creationId xmlns:a16="http://schemas.microsoft.com/office/drawing/2014/main" id="{B0C8692A-27AE-4FA6-8FCE-A48108951AB8}"/>
              </a:ext>
            </a:extLst>
          </p:cNvPr>
          <p:cNvSpPr>
            <a:spLocks noGrp="1"/>
          </p:cNvSpPr>
          <p:nvPr/>
        </p:nvSpPr>
        <p:spPr>
          <a:xfrm>
            <a:off x="5915025" y="4076700"/>
            <a:ext cx="838200" cy="762000"/>
          </a:xfrm>
          <a:prstGeom prst="roundRect">
            <a:avLst>
              <a:gd name="adj" fmla="val 12500"/>
            </a:avLst>
          </a:prstGeom>
          <a:solidFill>
            <a:srgbClr val="FFFFFF"/>
          </a:solidFill>
          <a:ln w="28575">
            <a:solidFill>
              <a:srgbClr val="A02B93"/>
            </a:solidFill>
            <a:prstDash val="solid"/>
          </a:ln>
        </p:spPr>
        <p:txBody>
          <a:bodyPr lIns="47625" tIns="47625" rIns="47625" bIns="47625" anchor="ctr">
            <a:normAutofit/>
          </a:bodyPr>
          <a:lstStyle/>
          <a:p>
            <a:pPr algn="ctr">
              <a:defRPr sz="1200" b="1">
                <a:solidFill>
                  <a:srgbClr val="A02B93"/>
                </a:solidFill>
                <a:latin typeface="Aptos"/>
                <a:ea typeface="Aptos"/>
                <a:cs typeface="Aptos"/>
              </a:defRPr>
            </a:pPr>
            <a:r>
              <a:rPr sz="1200" b="1">
                <a:solidFill>
                  <a:srgbClr val="A02B93"/>
                </a:solidFill>
                <a:latin typeface="Aptos"/>
                <a:ea typeface="Aptos"/>
                <a:cs typeface="Aptos"/>
              </a:rPr>
              <a:t>WAIT</a:t>
            </a:r>
          </a:p>
          <a:p>
            <a:pPr algn="ctr">
              <a:defRPr sz="1200" b="1">
                <a:solidFill>
                  <a:srgbClr val="A02B93"/>
                </a:solidFill>
                <a:latin typeface="Aptos"/>
                <a:ea typeface="Aptos"/>
                <a:cs typeface="Aptos"/>
              </a:defRPr>
            </a:pPr>
            <a:r>
              <a:rPr sz="1200" b="1">
                <a:solidFill>
                  <a:srgbClr val="A02B93"/>
                </a:solidFill>
                <a:latin typeface="Aptos"/>
                <a:ea typeface="Aptos"/>
                <a:cs typeface="Aptos"/>
              </a:rPr>
              <a:t>before reply</a:t>
            </a:r>
          </a:p>
        </p:txBody>
      </p:sp>
      <p:cxnSp>
        <p:nvCxnSpPr>
          <p:cNvPr id="86" name="Straight Arrow Connector 85"/>
          <p:cNvCxnSpPr>
            <a:stCxn id="60" idx="3"/>
            <a:endCxn id="61" idx="1"/>
          </p:cNvCxnSpPr>
          <p:nvPr/>
        </p:nvCxnSpPr>
        <p:spPr>
          <a:xfrm>
            <a:off x="1781175" y="4457700"/>
            <a:ext cx="571500" cy="0"/>
          </a:xfrm>
          <a:prstGeom prst="straightConnector1">
            <a:avLst/>
          </a:prstGeom>
          <a:ln w="19050">
            <a:solidFill>
              <a:srgbClr val="5B6573"/>
            </a:solidFill>
            <a:prstDash val="solid"/>
            <a:headEnd type="triangle" w="sm" len="sm"/>
            <a:tailEnd type="triangle" w="sm" len="sm"/>
          </a:ln>
        </p:spPr>
      </p:cxnSp>
      <p:cxnSp>
        <p:nvCxnSpPr>
          <p:cNvPr id="87" name="Straight Arrow Connector 86"/>
          <p:cNvCxnSpPr>
            <a:stCxn id="61" idx="3"/>
            <a:endCxn id="62" idx="1"/>
          </p:cNvCxnSpPr>
          <p:nvPr/>
        </p:nvCxnSpPr>
        <p:spPr>
          <a:xfrm>
            <a:off x="3609975" y="4457700"/>
            <a:ext cx="571500" cy="0"/>
          </a:xfrm>
          <a:prstGeom prst="straightConnector1">
            <a:avLst/>
          </a:prstGeom>
          <a:ln w="19050">
            <a:solidFill>
              <a:srgbClr val="5B6573"/>
            </a:solidFill>
            <a:prstDash val="solid"/>
            <a:headEnd type="triangle" w="sm" len="sm"/>
            <a:tailEnd type="triangle" w="sm" len="sm"/>
          </a:ln>
        </p:spPr>
      </p:cxnSp>
      <p:cxnSp>
        <p:nvCxnSpPr>
          <p:cNvPr id="88" name="Straight Arrow Connector 87"/>
          <p:cNvCxnSpPr>
            <a:stCxn id="62" idx="3"/>
            <a:endCxn id="63" idx="1"/>
          </p:cNvCxnSpPr>
          <p:nvPr/>
        </p:nvCxnSpPr>
        <p:spPr>
          <a:xfrm>
            <a:off x="5438775" y="4457700"/>
            <a:ext cx="476250" cy="0"/>
          </a:xfrm>
          <a:prstGeom prst="straightConnector1">
            <a:avLst/>
          </a:prstGeom>
          <a:ln w="19050">
            <a:solidFill>
              <a:srgbClr val="A02B93"/>
            </a:solidFill>
            <a:prstDash val="solid"/>
            <a:tailEnd type="triangle" w="sm" len="sm"/>
          </a:ln>
        </p:spPr>
      </p:cxnSp>
      <p:sp>
        <p:nvSpPr>
          <p:cNvPr id="67" name="Coordination cost">
            <a:extLst>
              <a:ext uri="{FF2B5EF4-FFF2-40B4-BE49-F238E27FC236}">
                <a16:creationId xmlns:a16="http://schemas.microsoft.com/office/drawing/2014/main" id="{F52DF72F-2902-473C-9FF3-D23AA5738F62}"/>
              </a:ext>
            </a:extLst>
          </p:cNvPr>
          <p:cNvSpPr>
            <a:spLocks noGrp="1"/>
          </p:cNvSpPr>
          <p:nvPr/>
        </p:nvSpPr>
        <p:spPr>
          <a:xfrm>
            <a:off x="533400" y="5105400"/>
            <a:ext cx="6191250"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extra messages + waiting  →  lower performance</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par>
                                <p:cTn id="26" presetID="9" presetClass="entr" presetSubtype="0" fill="hold" nodeType="withEffect">
                                  <p:stCondLst>
                                    <p:cond delay="0"/>
                                  </p:stCondLst>
                                  <p:childTnLst>
                                    <p:set>
                                      <p:cBhvr>
                                        <p:cTn id="27" dur="1" fill="hold">
                                          <p:stCondLst>
                                            <p:cond delay="0"/>
                                          </p:stCondLst>
                                        </p:cTn>
                                        <p:tgtEl>
                                          <p:spTgt spid="86"/>
                                        </p:tgtEl>
                                        <p:attrNameLst>
                                          <p:attrName>style.visibility</p:attrName>
                                        </p:attrNameLst>
                                      </p:cBhvr>
                                      <p:to>
                                        <p:strVal val="visible"/>
                                      </p:to>
                                    </p:set>
                                    <p:animEffect transition="in" filter="dissolve">
                                      <p:cBhvr>
                                        <p:cTn id="28" dur="500"/>
                                        <p:tgtEl>
                                          <p:spTgt spid="86"/>
                                        </p:tgtEl>
                                      </p:cBhvr>
                                    </p:animEffect>
                                  </p:childTnLst>
                                </p:cTn>
                              </p:par>
                              <p:par>
                                <p:cTn id="29" presetID="9" presetClass="entr" presetSubtype="0" fill="hold" nodeType="withEffect">
                                  <p:stCondLst>
                                    <p:cond delay="0"/>
                                  </p:stCondLst>
                                  <p:childTnLst>
                                    <p:set>
                                      <p:cBhvr>
                                        <p:cTn id="30" dur="1" fill="hold">
                                          <p:stCondLst>
                                            <p:cond delay="0"/>
                                          </p:stCondLst>
                                        </p:cTn>
                                        <p:tgtEl>
                                          <p:spTgt spid="87"/>
                                        </p:tgtEl>
                                        <p:attrNameLst>
                                          <p:attrName>style.visibility</p:attrName>
                                        </p:attrNameLst>
                                      </p:cBhvr>
                                      <p:to>
                                        <p:strVal val="visible"/>
                                      </p:to>
                                    </p:set>
                                    <p:animEffect transition="in" filter="dissolve">
                                      <p:cBhvr>
                                        <p:cTn id="31" dur="500"/>
                                        <p:tgtEl>
                                          <p:spTgt spid="87"/>
                                        </p:tgtEl>
                                      </p:cBhvr>
                                    </p:animEffect>
                                  </p:childTnLst>
                                </p:cTn>
                              </p:par>
                              <p:par>
                                <p:cTn id="32" presetID="9" presetClass="entr" presetSubtype="0" fill="hold" nodeType="withEffect">
                                  <p:stCondLst>
                                    <p:cond delay="0"/>
                                  </p:stCondLst>
                                  <p:childTnLst>
                                    <p:set>
                                      <p:cBhvr>
                                        <p:cTn id="33" dur="1" fill="hold">
                                          <p:stCondLst>
                                            <p:cond delay="0"/>
                                          </p:stCondLst>
                                        </p:cTn>
                                        <p:tgtEl>
                                          <p:spTgt spid="88"/>
                                        </p:tgtEl>
                                        <p:attrNameLst>
                                          <p:attrName>style.visibility</p:attrName>
                                        </p:attrNameLst>
                                      </p:cBhvr>
                                      <p:to>
                                        <p:strVal val="visible"/>
                                      </p:to>
                                    </p:set>
                                    <p:animEffect transition="in" filter="dissolve">
                                      <p:cBhvr>
                                        <p:cTn id="34" dur="500"/>
                                        <p:tgtEl>
                                          <p:spTgt spid="88"/>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67"/>
                                        </p:tgtEl>
                                        <p:attrNameLst>
                                          <p:attrName>style.visibility</p:attrName>
                                        </p:attrNameLst>
                                      </p:cBhvr>
                                      <p:to>
                                        <p:strVal val="visible"/>
                                      </p:to>
                                    </p:set>
                                    <p:animEffect transition="in" filter="dissolve">
                                      <p:cBhvr>
                                        <p:cTn id="37"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animBg="1"/>
      <p:bldP spid="6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Two Questions for This Lecture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How can data remain correct when it is spread across machines that fail?</a:t>
            </a:r>
          </a:p>
          <a:p>
            <a:endParaRPr lang="en-US" sz="3200" dirty="0"/>
          </a:p>
          <a:p>
            <a:r>
              <a:rPr lang="en-US" sz="3200" b="1" dirty="0"/>
              <a:t>What performance cost must we pay to make that happen?</a:t>
            </a:r>
          </a:p>
        </p:txBody>
      </p:sp>
    </p:spTree>
    <p:extLst>
      <p:ext uri="{BB962C8B-B14F-4D97-AF65-F5344CB8AC3E}">
        <p14:creationId xmlns:p14="http://schemas.microsoft.com/office/powerpoint/2010/main" val="17206706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r>
              <a:rPr lang="en-US" sz="3200" b="1" dirty="0"/>
              <a:t>That one machine does one thing at a time</a:t>
            </a:r>
          </a:p>
          <a:p>
            <a:pPr marL="914400" indent="-457200">
              <a:buFont typeface="Arial" panose="020B0604020202020204" pitchFamily="34" charset="0"/>
              <a:buChar char="•"/>
            </a:pPr>
            <a:r>
              <a:rPr lang="en-US" sz="2800" b="0" dirty="0"/>
              <a:t>Concurrent requests are put in some order, and the machine picks the order</a:t>
            </a:r>
          </a:p>
          <a:p>
            <a:pPr marL="914400" indent="-457200">
              <a:buFont typeface="Arial" panose="020B0604020202020204" pitchFamily="34" charset="0"/>
              <a:buChar char="•"/>
            </a:pPr>
            <a:r>
              <a:rPr lang="en-US" sz="2800" b="0" dirty="0"/>
              <a:t>Each request finishes before the next one starts</a:t>
            </a:r>
          </a:p>
          <a:p>
            <a:endParaRPr lang="en-US" sz="3200" b="1" dirty="0"/>
          </a:p>
          <a:p>
            <a:r>
              <a:rPr lang="en-US" sz="3200" b="1" dirty="0"/>
              <a:t>So the test is: could one machine have produced what the clients saw?</a:t>
            </a:r>
          </a:p>
          <a:p>
            <a:pPr marL="914400" indent="-457200">
              <a:buFont typeface="Arial" panose="020B0604020202020204" pitchFamily="34" charset="0"/>
              <a:buChar char="•"/>
            </a:pPr>
            <a:r>
              <a:rPr lang="en-US" sz="2800" b="0" dirty="0"/>
              <a:t>Not a particular answer, but an answer that fits one single order</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6" end="7"/>
                                            </p:txEl>
                                          </p:spTgt>
                                        </p:tgtEl>
                                        <p:attrNameLst>
                                          <p:attrName>style.visibility</p:attrName>
                                        </p:attrNameLst>
                                      </p:cBhvr>
                                      <p:to>
                                        <p:strVal val="visible"/>
                                      </p:to>
                                    </p:set>
                                    <p:animEffect transition="in" filter="dissolve">
                                      <p:cBhvr>
                                        <p:cTn id="7" dur="500"/>
                                        <p:tgtEl>
                                          <p:spTgt spid="2">
                                            <p:txEl>
                                              <p:pRg st="6"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What Should the Readers See?</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11</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Suppose C1 and C2 write concurrently, and after the writes have completed, C3 and C4 read. what can they see?</a:t>
            </a:r>
          </a:p>
          <a:p>
            <a:pPr marL="342900" indent="-342900">
              <a:buFont typeface="Arial"/>
              <a:buChar char="•"/>
            </a:pPr>
            <a:endParaRPr sz="1200" dirty="0"/>
          </a:p>
          <a:p>
            <a:pPr marL="342900" indent="-342900">
              <a:buFont typeface="Arial"/>
              <a:buChar char="•"/>
            </a:pPr>
            <a:r>
              <a:rPr sz="2400" dirty="0"/>
              <a:t>One correct machine would pick an order and stick to it</a:t>
            </a:r>
          </a:p>
          <a:p>
            <a:pPr marL="342900" indent="-342900">
              <a:buFont typeface="Arial"/>
              <a:buChar char="•"/>
            </a:pPr>
            <a:endParaRPr sz="1200" dirty="0"/>
          </a:p>
          <a:p>
            <a:pPr marL="342900" indent="-342900">
              <a:buFont typeface="Arial"/>
              <a:buChar char="•"/>
            </a:pPr>
            <a:r>
              <a:rPr sz="2400" dirty="0"/>
              <a:t>Either order is acceptable</a:t>
            </a:r>
          </a:p>
          <a:p>
            <a:pPr marL="342900" indent="-342900">
              <a:buFont typeface="Arial"/>
              <a:buChar char="•"/>
            </a:pPr>
            <a:endParaRPr sz="1200" dirty="0"/>
          </a:p>
          <a:p>
            <a:pPr marL="342900" indent="-342900">
              <a:buFont typeface="Arial"/>
              <a:buChar char="•"/>
            </a:pPr>
            <a:r>
              <a:rPr sz="2400" dirty="0"/>
              <a:t>The two readers disagreeing is not</a:t>
            </a:r>
          </a:p>
        </p:txBody>
      </p:sp>
      <p:sp>
        <p:nvSpPr>
          <p:cNvPr id="49" name="Scenario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C1 and C2 write at the same time, then C3 and C4 read</a:t>
            </a:r>
          </a:p>
        </p:txBody>
      </p:sp>
      <p:sp>
        <p:nvSpPr>
          <p:cNvPr id="50" name="Client 1 write">
            <a:extLst>
              <a:ext uri="{FF2B5EF4-FFF2-40B4-BE49-F238E27FC236}">
                <a16:creationId xmlns:a16="http://schemas.microsoft.com/office/drawing/2014/main" id="{75D3A3DE-8E0D-482B-BCFD-2AD2458A4DA5}"/>
              </a:ext>
            </a:extLst>
          </p:cNvPr>
          <p:cNvSpPr>
            <a:spLocks noGrp="1"/>
          </p:cNvSpPr>
          <p:nvPr/>
        </p:nvSpPr>
        <p:spPr>
          <a:xfrm>
            <a:off x="450000" y="150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C1</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1</a:t>
            </a:r>
          </a:p>
        </p:txBody>
      </p:sp>
      <p:sp>
        <p:nvSpPr>
          <p:cNvPr id="51" name="Client 2 write">
            <a:extLst>
              <a:ext uri="{FF2B5EF4-FFF2-40B4-BE49-F238E27FC236}">
                <a16:creationId xmlns:a16="http://schemas.microsoft.com/office/drawing/2014/main" id="{75D3A3DE-8E0D-482B-BCFD-2AD2458A4DA5}"/>
              </a:ext>
            </a:extLst>
          </p:cNvPr>
          <p:cNvSpPr>
            <a:spLocks noGrp="1"/>
          </p:cNvSpPr>
          <p:nvPr/>
        </p:nvSpPr>
        <p:spPr>
          <a:xfrm>
            <a:off x="450000" y="225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C2</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2</a:t>
            </a:r>
          </a:p>
        </p:txBody>
      </p:sp>
      <p:sp>
        <p:nvSpPr>
          <p:cNvPr id="52" name="One machine">
            <a:extLst>
              <a:ext uri="{FF2B5EF4-FFF2-40B4-BE49-F238E27FC236}">
                <a16:creationId xmlns:a16="http://schemas.microsoft.com/office/drawing/2014/main" id="{C047F16D-4224-436C-BA2F-7F4F14E7970E}"/>
              </a:ext>
            </a:extLst>
          </p:cNvPr>
          <p:cNvSpPr>
            <a:spLocks noGrp="1"/>
          </p:cNvSpPr>
          <p:nvPr/>
        </p:nvSpPr>
        <p:spPr>
          <a:xfrm>
            <a:off x="2400000" y="1650275"/>
            <a:ext cx="2200000" cy="104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One correct machine</a:t>
            </a:r>
          </a:p>
          <a:p>
            <a:pPr algn="ctr">
              <a:defRPr sz="1350" b="1">
                <a:solidFill>
                  <a:srgbClr val="0E2841"/>
                </a:solidFill>
                <a:latin typeface="Aptos"/>
                <a:ea typeface="Aptos"/>
                <a:cs typeface="Aptos"/>
              </a:defRPr>
            </a:pPr>
            <a:r>
              <a:rPr sz="1350" b="1">
                <a:solidFill>
                  <a:srgbClr val="0E2841"/>
                </a:solidFill>
                <a:latin typeface="Aptos"/>
                <a:ea typeface="Aptos"/>
                <a:cs typeface="Aptos"/>
              </a:rPr>
              <a:t>one request at a time</a:t>
            </a:r>
          </a:p>
        </p:txBody>
      </p:sp>
      <p:sp>
        <p:nvSpPr>
          <p:cNvPr id="53" name="Client 3 read">
            <a:extLst>
              <a:ext uri="{FF2B5EF4-FFF2-40B4-BE49-F238E27FC236}">
                <a16:creationId xmlns:a16="http://schemas.microsoft.com/office/drawing/2014/main" id="{C047F16D-4224-436C-BA2F-7F4F14E7970E}"/>
              </a:ext>
            </a:extLst>
          </p:cNvPr>
          <p:cNvSpPr>
            <a:spLocks noGrp="1"/>
          </p:cNvSpPr>
          <p:nvPr/>
        </p:nvSpPr>
        <p:spPr>
          <a:xfrm>
            <a:off x="5100000" y="150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sp>
        <p:nvSpPr>
          <p:cNvPr id="57" name="Client 4 read">
            <a:extLst>
              <a:ext uri="{FF2B5EF4-FFF2-40B4-BE49-F238E27FC236}">
                <a16:creationId xmlns:a16="http://schemas.microsoft.com/office/drawing/2014/main" id="{C047F16D-4224-436C-BA2F-7F4F14E7970E}"/>
              </a:ext>
            </a:extLst>
          </p:cNvPr>
          <p:cNvSpPr>
            <a:spLocks noGrp="1"/>
          </p:cNvSpPr>
          <p:nvPr/>
        </p:nvSpPr>
        <p:spPr>
          <a:xfrm>
            <a:off x="5100000" y="225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cxnSp>
        <p:nvCxnSpPr>
          <p:cNvPr id="76" name="Write arrow 1"/>
          <p:cNvCxnSpPr/>
          <p:nvPr/>
        </p:nvCxnSpPr>
        <p:spPr>
          <a:xfrm>
            <a:off x="1850000" y="1795275"/>
            <a:ext cx="550000" cy="375000"/>
          </a:xfrm>
          <a:prstGeom prst="straightConnector1">
            <a:avLst/>
          </a:prstGeom>
          <a:ln w="19050">
            <a:solidFill>
              <a:srgbClr val="A02B93"/>
            </a:solidFill>
            <a:prstDash val="solid"/>
            <a:tailEnd type="triangle" w="sm" len="sm"/>
          </a:ln>
        </p:spPr>
      </p:cxnSp>
      <p:cxnSp>
        <p:nvCxnSpPr>
          <p:cNvPr id="77" name="Write arrow 2"/>
          <p:cNvCxnSpPr/>
          <p:nvPr/>
        </p:nvCxnSpPr>
        <p:spPr>
          <a:xfrm flipV="1">
            <a:off x="1850000" y="2170275"/>
            <a:ext cx="550000" cy="375000"/>
          </a:xfrm>
          <a:prstGeom prst="straightConnector1">
            <a:avLst/>
          </a:prstGeom>
          <a:ln w="19050">
            <a:solidFill>
              <a:srgbClr val="A02B93"/>
            </a:solidFill>
            <a:prstDash val="solid"/>
            <a:tailEnd type="triangle" w="sm" len="sm"/>
          </a:ln>
        </p:spPr>
      </p:cxnSp>
      <p:cxnSp>
        <p:nvCxnSpPr>
          <p:cNvPr id="78" name="Read arrow 1"/>
          <p:cNvCxnSpPr/>
          <p:nvPr/>
        </p:nvCxnSpPr>
        <p:spPr>
          <a:xfrm flipV="1">
            <a:off x="4600000" y="1795275"/>
            <a:ext cx="500000" cy="375000"/>
          </a:xfrm>
          <a:prstGeom prst="straightConnector1">
            <a:avLst/>
          </a:prstGeom>
          <a:ln w="19050">
            <a:solidFill>
              <a:srgbClr val="5B6573"/>
            </a:solidFill>
            <a:prstDash val="solid"/>
            <a:tailEnd type="triangle" w="sm" len="sm"/>
          </a:ln>
        </p:spPr>
      </p:cxnSp>
      <p:cxnSp>
        <p:nvCxnSpPr>
          <p:cNvPr id="79" name="Read arrow 2"/>
          <p:cNvCxnSpPr/>
          <p:nvPr/>
        </p:nvCxnSpPr>
        <p:spPr>
          <a:xfrm>
            <a:off x="4600000" y="2170275"/>
            <a:ext cx="500000" cy="375000"/>
          </a:xfrm>
          <a:prstGeom prst="straightConnector1">
            <a:avLst/>
          </a:prstGeom>
          <a:ln w="19050">
            <a:solidFill>
              <a:srgbClr val="5B6573"/>
            </a:solidFill>
            <a:prstDash val="solid"/>
            <a:tailEnd type="triangle" w="sm" len="sm"/>
          </a:ln>
        </p:spPr>
      </p:cxnSp>
      <p:sp>
        <p:nvSpPr>
          <p:cNvPr id="68" name="Same value label">
            <a:extLst>
              <a:ext uri="{FF2B5EF4-FFF2-40B4-BE49-F238E27FC236}">
                <a16:creationId xmlns:a16="http://schemas.microsoft.com/office/drawing/2014/main" id="{8E2343DF-2BB9-401F-B950-594DD72F33BC}"/>
              </a:ext>
            </a:extLst>
          </p:cNvPr>
          <p:cNvSpPr>
            <a:spLocks noGrp="1"/>
          </p:cNvSpPr>
          <p:nvPr/>
        </p:nvSpPr>
        <p:spPr>
          <a:xfrm>
            <a:off x="5100000" y="2900000"/>
            <a:ext cx="14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same value?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Answer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What are they allowed to see?</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1</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2</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one reads 1,</a:t>
            </a:r>
          </a:p>
          <a:p>
            <a:pPr algn="ctr">
              <a:defRPr sz="1350" b="1">
                <a:solidFill>
                  <a:srgbClr val="A02B93"/>
                </a:solidFill>
                <a:latin typeface="Aptos"/>
                <a:ea typeface="Aptos"/>
                <a:cs typeface="Aptos"/>
              </a:defRPr>
            </a:pPr>
            <a:r>
              <a:rPr sz="1350" b="1">
                <a:solidFill>
                  <a:srgbClr val="A02B93"/>
                </a:solidFill>
                <a:latin typeface="Aptos"/>
                <a:ea typeface="Aptos"/>
                <a:cs typeface="Aptos"/>
              </a:rPr>
              <a:t>the other reads 2</a:t>
            </a:r>
          </a:p>
          <a:p>
            <a:pPr algn="ctr">
              <a:defRPr sz="1350" b="1">
                <a:solidFill>
                  <a:srgbClr val="A02B93"/>
                </a:solidFill>
                <a:latin typeface="Aptos"/>
                <a:ea typeface="Aptos"/>
                <a:cs typeface="Aptos"/>
              </a:defRPr>
            </a:pPr>
            <a:r>
              <a:rPr sz="1350" b="1">
                <a:solidFill>
                  <a:srgbClr val="A02B93"/>
                </a:solidFill>
                <a:latin typeface="Aptos"/>
                <a:ea typeface="Aptos"/>
                <a:cs typeface="Aptos"/>
              </a:rPr>
              <a:t>not allowed</a:t>
            </a:r>
          </a:p>
        </p:txBody>
      </p:sp>
      <p:sp>
        <p:nvSpPr>
          <p:cNvPr id="63" name="Answer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Either order is fine; disagreeing is not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dissolv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grpSp>
      <p:grpSp>
        <p:nvGrpSpPr>
          <p:cNvPr id="21" name="object 21">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
        <p:nvSpPr>
          <p:cNvPr id="22" name="C1 value">
            <a:extLst>
              <a:ext uri="{FF2B5EF4-FFF2-40B4-BE49-F238E27FC236}">
                <a16:creationId xmlns:a16="http://schemas.microsoft.com/office/drawing/2014/main" id="{B3234D3B-6A3A-C4E5-86E3-56006E2E9CDE}"/>
              </a:ext>
            </a:extLst>
          </p:cNvPr>
          <p:cNvSpPr txBox="1"/>
          <p:nvPr/>
        </p:nvSpPr>
        <p:spPr>
          <a:xfrm>
            <a:off x="2245261" y="4260000"/>
            <a:ext cx="1812925" cy="35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writes x = 1</a:t>
            </a:r>
            <a:endParaRPr sz="2000" b="1">
              <a:latin typeface="Arial"/>
              <a:cs typeface="Arial"/>
            </a:endParaRPr>
          </a:p>
        </p:txBody>
      </p:sp>
      <p:sp>
        <p:nvSpPr>
          <p:cNvPr id="23" name="C2 value">
            <a:extLst>
              <a:ext uri="{FF2B5EF4-FFF2-40B4-BE49-F238E27FC236}">
                <a16:creationId xmlns:a16="http://schemas.microsoft.com/office/drawing/2014/main" id="{B3234D3B-6A3A-C4E5-86E3-56006E2E9CDE}"/>
              </a:ext>
            </a:extLst>
          </p:cNvPr>
          <p:cNvSpPr txBox="1"/>
          <p:nvPr/>
        </p:nvSpPr>
        <p:spPr>
          <a:xfrm>
            <a:off x="2245261" y="5770000"/>
            <a:ext cx="1812925" cy="35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writes x = 2</a:t>
            </a:r>
            <a:endParaRPr sz="2000" b="1">
              <a:latin typeface="Arial"/>
              <a:cs typeface="Arial"/>
            </a:endParaRPr>
          </a:p>
        </p:txBody>
      </p:sp>
      <p:sp>
        <p:nvSpPr>
          <p:cNvPr id="24" name="S1 result">
            <a:extLst>
              <a:ext uri="{FF2B5EF4-FFF2-40B4-BE49-F238E27FC236}">
                <a16:creationId xmlns:a16="http://schemas.microsoft.com/office/drawing/2014/main" id="{B3234D3B-6A3A-C4E5-86E3-56006E2E9CDE}"/>
              </a:ext>
            </a:extLst>
          </p:cNvPr>
          <p:cNvSpPr txBox="1"/>
          <p:nvPr/>
        </p:nvSpPr>
        <p:spPr>
          <a:xfrm>
            <a:off x="9200000" y="3500000"/>
            <a:ext cx="2300000" cy="40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ends with x = 2</a:t>
            </a:r>
            <a:endParaRPr sz="2000" b="1">
              <a:latin typeface="Arial"/>
              <a:cs typeface="Arial"/>
            </a:endParaRPr>
          </a:p>
        </p:txBody>
      </p:sp>
      <p:sp>
        <p:nvSpPr>
          <p:cNvPr id="25" name="S2 result">
            <a:extLst>
              <a:ext uri="{FF2B5EF4-FFF2-40B4-BE49-F238E27FC236}">
                <a16:creationId xmlns:a16="http://schemas.microsoft.com/office/drawing/2014/main" id="{B3234D3B-6A3A-C4E5-86E3-56006E2E9CDE}"/>
              </a:ext>
            </a:extLst>
          </p:cNvPr>
          <p:cNvSpPr txBox="1"/>
          <p:nvPr/>
        </p:nvSpPr>
        <p:spPr>
          <a:xfrm>
            <a:off x="9200000" y="5220000"/>
            <a:ext cx="2300000" cy="40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ends with x = 1</a:t>
            </a:r>
            <a:endParaRPr sz="2000" b="1">
              <a:latin typeface="Arial"/>
              <a:cs typeface="Arial"/>
            </a:endParaRPr>
          </a:p>
        </p:txBody>
      </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par>
                                <p:cTn id="8" presetID="9"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dissolv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dissolve">
                                      <p:cBhvr>
                                        <p:cTn id="15" dur="500"/>
                                        <p:tgtEl>
                                          <p:spTgt spid="21"/>
                                        </p:tgtEl>
                                      </p:cBhvr>
                                    </p:animEffect>
                                  </p:childTnLst>
                                </p:cTn>
                              </p:par>
                              <p:par>
                                <p:cTn id="16" presetID="9" presetClass="entr" presetSubtype="0" fill="hold"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dissolve">
                                      <p:cBhvr>
                                        <p:cTn id="18" dur="5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dissolve">
                                      <p:cBhvr>
                                        <p:cTn id="23" dur="500"/>
                                        <p:tgtEl>
                                          <p:spTgt spid="24"/>
                                        </p:tgtEl>
                                      </p:cBhvr>
                                    </p:animEffect>
                                  </p:childTnLst>
                                </p:cTn>
                              </p:par>
                              <p:par>
                                <p:cTn id="24" presetID="9"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dissolve">
                                      <p:cBhvr>
                                        <p:cTn id="26"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Can We Just Always Read from Server 1?</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14</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A natural patch: everyone reads Server 1, and falls back to Server 2 only when S1 is down</a:t>
            </a:r>
          </a:p>
          <a:p>
            <a:pPr marL="342900" indent="-342900">
              <a:buFont typeface="Arial"/>
              <a:buChar char="•"/>
            </a:pPr>
            <a:endParaRPr sz="1200" dirty="0"/>
          </a:p>
          <a:p>
            <a:pPr marL="342900" indent="-342900">
              <a:buFont typeface="Arial"/>
              <a:buChar char="•"/>
            </a:pPr>
            <a:r>
              <a:rPr sz="2400" dirty="0"/>
              <a:t>While S1 is up every reader sees 2, so the disagreement is hidden, not repaired</a:t>
            </a:r>
          </a:p>
          <a:p>
            <a:pPr marL="342900" indent="-342900">
              <a:buFont typeface="Arial"/>
              <a:buChar char="•"/>
            </a:pPr>
            <a:endParaRPr sz="1200" dirty="0"/>
          </a:p>
          <a:p>
            <a:pPr marL="342900" indent="-342900">
              <a:buFont typeface="Arial"/>
              <a:buChar char="•"/>
            </a:pPr>
            <a:r>
              <a:rPr sz="2400" dirty="0"/>
              <a:t>S1 dies, the readers fall back to S2, and the value goes back to 1</a:t>
            </a:r>
          </a:p>
          <a:p>
            <a:pPr marL="342900" indent="-342900">
              <a:buFont typeface="Arial"/>
              <a:buChar char="•"/>
            </a:pPr>
            <a:endParaRPr sz="1200" dirty="0"/>
          </a:p>
          <a:p>
            <a:pPr marL="342900" indent="-342900">
              <a:buFont typeface="Arial"/>
              <a:buChar char="•"/>
            </a:pPr>
            <a:r>
              <a:rPr sz="2400" dirty="0"/>
              <a:t>Nobody wrote. One machine could never do that.</a:t>
            </a:r>
          </a:p>
        </p:txBody>
      </p:sp>
      <p:sp>
        <p:nvSpPr>
          <p:cNvPr id="49" name="Rul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Rule: always read S1, fall back to S2</a:t>
            </a:r>
          </a:p>
        </p:txBody>
      </p:sp>
      <p:sp>
        <p:nvSpPr>
          <p:cNvPr id="50" name="Server 1 up">
            <a:extLst>
              <a:ext uri="{FF2B5EF4-FFF2-40B4-BE49-F238E27FC236}">
                <a16:creationId xmlns:a16="http://schemas.microsoft.com/office/drawing/2014/main" id="{C047F16D-4224-436C-BA2F-7F4F14E7970E}"/>
              </a:ext>
            </a:extLst>
          </p:cNvPr>
          <p:cNvSpPr>
            <a:spLocks noGrp="1"/>
          </p:cNvSpPr>
          <p:nvPr/>
        </p:nvSpPr>
        <p:spPr>
          <a:xfrm>
            <a:off x="450000" y="150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2</a:t>
            </a:r>
          </a:p>
        </p:txBody>
      </p:sp>
      <p:sp>
        <p:nvSpPr>
          <p:cNvPr id="51" name="Server 2">
            <a:extLst>
              <a:ext uri="{FF2B5EF4-FFF2-40B4-BE49-F238E27FC236}">
                <a16:creationId xmlns:a16="http://schemas.microsoft.com/office/drawing/2014/main" id="{C047F16D-4224-436C-BA2F-7F4F14E7970E}"/>
              </a:ext>
            </a:extLst>
          </p:cNvPr>
          <p:cNvSpPr>
            <a:spLocks noGrp="1"/>
          </p:cNvSpPr>
          <p:nvPr/>
        </p:nvSpPr>
        <p:spPr>
          <a:xfrm>
            <a:off x="450000" y="225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1</a:t>
            </a:r>
          </a:p>
        </p:txBody>
      </p:sp>
      <p:sp>
        <p:nvSpPr>
          <p:cNvPr id="52" name="Reader C3">
            <a:extLst>
              <a:ext uri="{FF2B5EF4-FFF2-40B4-BE49-F238E27FC236}">
                <a16:creationId xmlns:a16="http://schemas.microsoft.com/office/drawing/2014/main" id="{C047F16D-4224-436C-BA2F-7F4F14E7970E}"/>
              </a:ext>
            </a:extLst>
          </p:cNvPr>
          <p:cNvSpPr>
            <a:spLocks noGrp="1"/>
          </p:cNvSpPr>
          <p:nvPr/>
        </p:nvSpPr>
        <p:spPr>
          <a:xfrm>
            <a:off x="4400000" y="150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sp>
        <p:nvSpPr>
          <p:cNvPr id="53" name="Reader C4">
            <a:extLst>
              <a:ext uri="{FF2B5EF4-FFF2-40B4-BE49-F238E27FC236}">
                <a16:creationId xmlns:a16="http://schemas.microsoft.com/office/drawing/2014/main" id="{C047F16D-4224-436C-BA2F-7F4F14E7970E}"/>
              </a:ext>
            </a:extLst>
          </p:cNvPr>
          <p:cNvSpPr>
            <a:spLocks noGrp="1"/>
          </p:cNvSpPr>
          <p:nvPr/>
        </p:nvSpPr>
        <p:spPr>
          <a:xfrm>
            <a:off x="4400000" y="225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cxnSp>
        <p:nvCxnSpPr>
          <p:cNvPr id="76" name="Read arrow 1"/>
          <p:cNvCxnSpPr/>
          <p:nvPr/>
        </p:nvCxnSpPr>
        <p:spPr>
          <a:xfrm>
            <a:off x="2050000" y="1795275"/>
            <a:ext cx="2350000" cy="0"/>
          </a:xfrm>
          <a:prstGeom prst="straightConnector1">
            <a:avLst/>
          </a:prstGeom>
          <a:ln w="19050">
            <a:solidFill>
              <a:srgbClr val="5B6573"/>
            </a:solidFill>
            <a:prstDash val="solid"/>
            <a:tailEnd type="triangle" w="sm" len="sm"/>
          </a:ln>
        </p:spPr>
      </p:cxnSp>
      <p:cxnSp>
        <p:nvCxnSpPr>
          <p:cNvPr id="77" name="Read arrow 2"/>
          <p:cNvCxnSpPr/>
          <p:nvPr/>
        </p:nvCxnSpPr>
        <p:spPr>
          <a:xfrm>
            <a:off x="2050000" y="1795275"/>
            <a:ext cx="2350000" cy="750000"/>
          </a:xfrm>
          <a:prstGeom prst="straightConnector1">
            <a:avLst/>
          </a:prstGeom>
          <a:ln w="19050">
            <a:solidFill>
              <a:srgbClr val="5B6573"/>
            </a:solidFill>
            <a:prstDash val="solid"/>
            <a:tailEnd type="triangle" w="sm" len="sm"/>
          </a:ln>
        </p:spPr>
      </p:cxnSp>
      <p:sp>
        <p:nvSpPr>
          <p:cNvPr id="68" name="Looks fine label">
            <a:extLst>
              <a:ext uri="{FF2B5EF4-FFF2-40B4-BE49-F238E27FC236}">
                <a16:creationId xmlns:a16="http://schemas.microsoft.com/office/drawing/2014/main" id="{8E2343DF-2BB9-401F-B950-594DD72F33BC}"/>
              </a:ext>
            </a:extLst>
          </p:cNvPr>
          <p:cNvSpPr>
            <a:spLocks noGrp="1"/>
          </p:cNvSpPr>
          <p:nvPr/>
        </p:nvSpPr>
        <p:spPr>
          <a:xfrm>
            <a:off x="4400000" y="2900000"/>
            <a:ext cx="15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looks fine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Failure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Then Server 1 fails</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S1 is gone</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go to S2</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 reads 1</a:t>
            </a:r>
          </a:p>
          <a:p>
            <a:pPr algn="ctr">
              <a:defRPr sz="1350" b="1">
                <a:solidFill>
                  <a:srgbClr val="0E2841"/>
                </a:solidFill>
                <a:latin typeface="Aptos"/>
                <a:ea typeface="Aptos"/>
                <a:cs typeface="Aptos"/>
              </a:defRPr>
            </a:pPr>
            <a:r>
              <a:rPr sz="1350" b="1">
                <a:solidFill>
                  <a:srgbClr val="0E2841"/>
                </a:solidFill>
                <a:latin typeface="Aptos"/>
                <a:ea typeface="Aptos"/>
                <a:cs typeface="Aptos"/>
              </a:rPr>
              <a:t>C4 reads 1</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x:  2 → 1</a:t>
            </a:r>
          </a:p>
          <a:p>
            <a:pPr algn="ctr">
              <a:defRPr sz="1350" b="1">
                <a:solidFill>
                  <a:srgbClr val="A02B93"/>
                </a:solidFill>
                <a:latin typeface="Aptos"/>
                <a:ea typeface="Aptos"/>
                <a:cs typeface="Aptos"/>
              </a:defRPr>
            </a:pPr>
            <a:r>
              <a:rPr sz="1350" b="1">
                <a:solidFill>
                  <a:srgbClr val="A02B93"/>
                </a:solidFill>
                <a:latin typeface="Aptos"/>
                <a:ea typeface="Aptos"/>
                <a:cs typeface="Aptos"/>
              </a:rPr>
              <a:t>nobody wrote</a:t>
            </a:r>
          </a:p>
        </p:txBody>
      </p:sp>
      <p:sp>
        <p:nvSpPr>
          <p:cNvPr id="63" name="Failure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Nobody wrote, yet the value changed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 Fix Has a Price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015730" cy="3200000"/>
          </a:xfrm>
          <a:prstGeom prst="rect">
            <a:avLst/>
          </a:prstGeom>
          <a:noFill/>
        </p:spPr>
        <p:txBody>
          <a:bodyPr wrap="square" rtlCol="0">
            <a:spAutoFit/>
          </a:bodyPr>
          <a:lstStyle/>
          <a:p>
            <a:r>
              <a:rPr lang="en-US" sz="3200" b="1" dirty="0"/>
              <a:t>Both failures have one root: the replicas diverged</a:t>
            </a:r>
          </a:p>
          <a:p>
            <a:pPr marL="914400" indent="-457200">
              <a:buFont typeface="Arial" panose="020B0604020202020204" pitchFamily="34" charset="0"/>
              <a:buChar char="•"/>
            </a:pPr>
            <a:r>
              <a:rPr lang="en-US" sz="2800" b="0" dirty="0"/>
              <a:t>A fix must prevent divergence, not pick who to read</a:t>
            </a:r>
          </a:p>
          <a:p>
            <a:pPr marL="457200"/>
            <a:endParaRPr lang="en-US" sz="1400" b="0" dirty="0"/>
          </a:p>
          <a:p>
            <a:r>
              <a:rPr lang="en-US" sz="3200" b="1" dirty="0"/>
              <a:t>Agreement is not free</a:t>
            </a:r>
          </a:p>
          <a:p>
            <a:pPr marL="914400" indent="-457200">
              <a:buFont typeface="Arial" panose="020B0604020202020204" pitchFamily="34" charset="0"/>
              <a:buChar char="•"/>
            </a:pPr>
            <a:r>
              <a:rPr lang="en-US" sz="2800" b="0" dirty="0"/>
              <a:t>More messages, more complexity, longer waits</a:t>
            </a:r>
          </a:p>
          <a:p>
            <a:pPr marL="457200"/>
            <a:endParaRPr lang="en-US" sz="1400" b="0" dirty="0"/>
          </a:p>
          <a:p>
            <a:r>
              <a:rPr lang="en-US" sz="3200" b="1" dirty="0"/>
              <a:t>So there is a range of designs, not one answer</a:t>
            </a:r>
          </a:p>
          <a:p>
            <a:pPr marL="914400" indent="-457200">
              <a:buFont typeface="Arial" panose="020B0604020202020204" pitchFamily="34" charset="0"/>
              <a:buChar char="•"/>
            </a:pPr>
            <a:r>
              <a:rPr lang="en-US" sz="2800" b="0" dirty="0"/>
              <a:t>Stronger consistency costs performance</a:t>
            </a:r>
          </a:p>
          <a:p>
            <a:pPr marL="914400" indent="-457200">
              <a:buFont typeface="Arial" panose="020B0604020202020204" pitchFamily="34" charset="0"/>
              <a:buChar char="•"/>
            </a:pPr>
            <a:r>
              <a:rPr lang="en-US" sz="2800" b="0" dirty="0"/>
              <a:t>Weaker consistency costs the application</a:t>
            </a:r>
          </a:p>
          <a:p>
            <a:pPr marL="457200"/>
            <a:endParaRPr lang="en-US" sz="1400" b="0" dirty="0"/>
          </a:p>
          <a:p>
            <a:r>
              <a:rPr lang="en-US" sz="3200" b="1" dirty="0"/>
              <a:t>GFS picks a point on it, deliberately not perfect</a:t>
            </a:r>
          </a:p>
        </p:txBody>
      </p:sp>
    </p:spTree>
    <p:extLst>
      <p:ext uri="{BB962C8B-B14F-4D97-AF65-F5344CB8AC3E}">
        <p14:creationId xmlns:p14="http://schemas.microsoft.com/office/powerpoint/2010/main" val="17206706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GFS touches many themes of this course</a:t>
            </a:r>
          </a:p>
          <a:p>
            <a:pPr marL="742950" lvl="1" indent="-285750">
              <a:buFont typeface="Arial" panose="020B0604020202020204" pitchFamily="34" charset="0"/>
              <a:buChar char="•"/>
            </a:pPr>
            <a:r>
              <a:rPr lang="en-US" sz="2800" dirty="0"/>
              <a:t>parallel performance, fault tolerance, replication, consistency</a:t>
            </a:r>
          </a:p>
          <a:p>
            <a:endParaRPr lang="en-US" sz="1600" b="1" dirty="0"/>
          </a:p>
          <a:p>
            <a:r>
              <a:rPr lang="en-US" sz="3200" b="1" dirty="0"/>
              <a:t>A good systems paper: applications down to the network</a:t>
            </a:r>
          </a:p>
          <a:p>
            <a:endParaRPr lang="en-US" sz="1600" b="1" dirty="0"/>
          </a:p>
          <a:p>
            <a:r>
              <a:rPr lang="en-US" sz="3200" b="1" dirty="0"/>
              <a:t>A successful real-world design, judged on production experience</a:t>
            </a:r>
          </a:p>
        </p:txBody>
      </p:sp>
    </p:spTree>
    <p:extLst>
      <p:ext uri="{BB962C8B-B14F-4D97-AF65-F5344CB8AC3E}">
        <p14:creationId xmlns:p14="http://schemas.microsoft.com/office/powerpoint/2010/main" val="36778841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1: HDFS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a:t>
            </a:r>
          </a:p>
          <a:p>
            <a:endParaRPr lang="en-US" sz="1600" b="1" dirty="0"/>
          </a:p>
          <a:p>
            <a:r>
              <a:rPr lang="en-US" sz="3200" b="1" dirty="0"/>
              <a:t>Huge scale.</a:t>
            </a:r>
          </a:p>
          <a:p>
            <a:endParaRPr lang="en-US" sz="1600" b="1" dirty="0"/>
          </a:p>
          <a:p>
            <a:r>
              <a:rPr lang="en-US" sz="3200" b="1" dirty="0"/>
              <a:t>Used in industry, real-world experience.</a:t>
            </a:r>
          </a:p>
          <a:p>
            <a:endParaRPr lang="en-US" sz="1600" b="1" dirty="0"/>
          </a:p>
          <a:p>
            <a:r>
              <a:rPr lang="en-US" sz="3200" b="1" dirty="0"/>
              <a:t>Successful use of weak consistency.</a:t>
            </a:r>
          </a:p>
          <a:p>
            <a:pPr marL="742950" lvl="1" indent="-285750">
              <a:buFont typeface="Arial" panose="020B0604020202020204" pitchFamily="34" charset="0"/>
              <a:buChar char="•"/>
            </a:pPr>
            <a:r>
              <a:rPr lang="en-US" sz="2800" dirty="0"/>
              <a:t>A missing search result goes unnoticed; ad billing does not</a:t>
            </a:r>
          </a:p>
          <a:p>
            <a:pPr marL="742950" lvl="1" indent="-285750">
              <a:buFont typeface="Arial" panose="020B0604020202020204" pitchFamily="34" charset="0"/>
              <a:buChar char="•"/>
            </a:pPr>
            <a:r>
              <a:rPr lang="en-US" sz="2800" dirty="0"/>
              <a:t>Applications compensate: checksums and explicit record boundaries</a:t>
            </a:r>
          </a:p>
          <a:p>
            <a:endParaRPr lang="en-US" sz="16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One master: one place with a global view of the cluster</a:t>
            </a:r>
          </a:p>
          <a:p>
            <a:endParaRPr lang="en-US" sz="2000" dirty="0"/>
          </a:p>
          <a:p>
            <a:r>
              <a:rPr lang="en-US" sz="2800" b="1" dirty="0"/>
              <a:t>What it manages: the namespace, and every chunk</a:t>
            </a:r>
          </a:p>
          <a:p>
            <a:pPr marL="742950" lvl="1" indent="-285750">
              <a:buFont typeface="Arial" panose="020B0604020202020204" pitchFamily="34" charset="0"/>
              <a:buChar char="•"/>
            </a:pPr>
            <a:r>
              <a:rPr lang="en-US" sz="2400" dirty="0"/>
              <a:t>Where they are: file -&gt; chunks, chunk -&gt; replicas</a:t>
            </a:r>
          </a:p>
          <a:p>
            <a:pPr marL="742950" lvl="1" indent="-285750">
              <a:buFont typeface="Arial" panose="020B0604020202020204" pitchFamily="34" charset="0"/>
              <a:buChar char="•"/>
            </a:pPr>
            <a:r>
              <a:rPr lang="en-US" sz="2400" dirty="0"/>
              <a:t>Where to put new ones</a:t>
            </a:r>
          </a:p>
          <a:p>
            <a:pPr marL="742950" lvl="1" indent="-285750">
              <a:buFont typeface="Arial" panose="020B0604020202020204" pitchFamily="34" charset="0"/>
              <a:buChar char="•"/>
            </a:pPr>
            <a:r>
              <a:rPr lang="en-US" sz="2400" dirty="0"/>
              <a:t>When to re-replicate: failure, load balancing</a:t>
            </a:r>
          </a:p>
          <a:p>
            <a:pPr marL="742950" lvl="1" indent="-285750">
              <a:buFont typeface="Arial" panose="020B0604020202020204" pitchFamily="34" charset="0"/>
              <a:buChar char="•"/>
            </a:pPr>
            <a:r>
              <a:rPr lang="en-US" sz="2400" dirty="0"/>
              <a:t>When and what to delete: garbage collection</a:t>
            </a:r>
          </a:p>
          <a:p>
            <a:endParaRPr lang="en-US" sz="2000" dirty="0"/>
          </a:p>
          <a:p>
            <a:r>
              <a:rPr lang="en-US" sz="2800" b="1" dirty="0"/>
              <a:t>All metadata is kept in the master's memory, so lookups are fast</a:t>
            </a:r>
          </a:p>
          <a:p>
            <a:pPr marL="742950" lvl="1" indent="-285750">
              <a:buFont typeface="Arial" panose="020B0604020202020204" pitchFamily="34" charset="0"/>
              <a:buChar char="•"/>
            </a:pPr>
            <a:r>
              <a:rPr lang="en-US" sz="2400" dirty="0"/>
              <a:t>Under 64 B per 64 MB chunk, so 640 TB of data needs under 640 MB</a:t>
            </a:r>
          </a:p>
          <a:p>
            <a:endParaRPr lang="en-US" sz="2000" dirty="0"/>
          </a:p>
          <a:p>
            <a:r>
              <a:rPr lang="en-US" sz="2800" b="1" dirty="0"/>
              <a:t>Periodic heartbeats: chunkserver state out, master instructions back</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6" end="6"/>
                                            </p:txEl>
                                          </p:spTgt>
                                        </p:tgtEl>
                                        <p:attrNameLst>
                                          <p:attrName>style.visibility</p:attrName>
                                        </p:attrNameLst>
                                      </p:cBhvr>
                                      <p:to>
                                        <p:strVal val="visible"/>
                                      </p:to>
                                    </p:set>
                                    <p:animEffect transition="in" filter="dissolve">
                                      <p:cBhvr>
                                        <p:cTn id="16" dur="500"/>
                                        <p:tgtEl>
                                          <p:spTgt spid="3">
                                            <p:txEl>
                                              <p:pRg st="6" end="6"/>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animEffect transition="in" filter="dissolve">
                                      <p:cBhvr>
                                        <p:cTn id="21" dur="500"/>
                                        <p:tgtEl>
                                          <p:spTgt spid="3">
                                            <p:txEl>
                                              <p:pRg st="8" end="8"/>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9" end="9"/>
                                            </p:txEl>
                                          </p:spTgt>
                                        </p:tgtEl>
                                        <p:attrNameLst>
                                          <p:attrName>style.visibility</p:attrName>
                                        </p:attrNameLst>
                                      </p:cBhvr>
                                      <p:to>
                                        <p:strVal val="visible"/>
                                      </p:to>
                                    </p:set>
                                    <p:animEffect transition="in" filter="dissolve">
                                      <p:cBhvr>
                                        <p:cTn id="24" dur="500"/>
                                        <p:tgtEl>
                                          <p:spTgt spid="3">
                                            <p:txEl>
                                              <p:pRg st="9" end="9"/>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Written: the file-to-chunk mapping, and the chunk version numbers</a:t>
            </a:r>
          </a:p>
          <a:p>
            <a:pPr marL="457200"/>
            <a:r>
              <a:rPr lang="en-US" sz="2800" b="0" dirty="0"/>
              <a:t>Not written: replica list, primary, lease expiry -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8" end="8"/>
                                            </p:txEl>
                                          </p:spTgt>
                                        </p:tgtEl>
                                        <p:attrNameLst>
                                          <p:attrName>style.visibility</p:attrName>
                                        </p:attrNameLst>
                                      </p:cBhvr>
                                      <p:to>
                                        <p:strVal val="visible"/>
                                      </p:to>
                                    </p:set>
                                    <p:animEffect transition="in" filter="dissolve">
                                      <p:cBhvr>
                                        <p:cTn id="24"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Tree>
    <p:extLst>
      <p:ext uri="{BB962C8B-B14F-4D97-AF65-F5344CB8AC3E}">
        <p14:creationId xmlns:p14="http://schemas.microsoft.com/office/powerpoint/2010/main" val="16574235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Record Append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An ordinary write names a file, an offset and a buffer</a:t>
            </a:r>
          </a:p>
          <a:p>
            <a:pPr marL="457200"/>
            <a:r>
              <a:rPr lang="en-US" sz="2800" b="0" dirty="0"/>
              <a:t>Concurrent writes to the same range interleave, so clients must coordinate</a:t>
            </a:r>
          </a:p>
          <a:p>
            <a:r>
              <a:rPr lang="en-US" sz="3200" b="1" dirty="0"/>
              <a:t>A record append names a file and a buffer, but no offset</a:t>
            </a:r>
          </a:p>
          <a:p>
            <a:pPr marL="457200"/>
            <a:r>
              <a:rPr lang="en-US" sz="2800" b="0" dirty="0"/>
              <a:t>The primary picks the offset at the end of the chunk and tells every replica to use it</a:t>
            </a:r>
          </a:p>
          <a:p>
            <a:pPr marL="457200"/>
            <a:r>
              <a:rPr lang="en-US" sz="2800" b="0" dirty="0"/>
              <a:t>Many clients can append to one file at once without coordinating with each other</a:t>
            </a:r>
          </a:p>
          <a:p>
            <a:r>
              <a:rPr lang="en-US" sz="3200" b="1" dirty="0"/>
              <a:t>What the client is promised</a:t>
            </a:r>
          </a:p>
          <a:p>
            <a:pPr marL="457200"/>
            <a:r>
              <a:rPr lang="en-US" sz="2800" b="0" dirty="0"/>
              <a:t>On success: the record is in every replica, at the same offset, at least once</a:t>
            </a:r>
          </a:p>
          <a:p>
            <a:pPr marL="457200"/>
            <a:r>
              <a:rPr lang="en-US" sz="2800" b="0" dirty="0"/>
              <a:t>On failure: the client retries the whole append, which can leave duplicates and padding</a:t>
            </a:r>
          </a:p>
          <a:p>
            <a:r>
              <a:rPr lang="en-US" sz="3200" b="1" dirty="0"/>
              <a:t>The operation GFS was built for: many producers, one log</a:t>
            </a:r>
          </a:p>
        </p:txBody>
      </p:sp>
    </p:spTree>
    <p:extLst>
      <p:ext uri="{BB962C8B-B14F-4D97-AF65-F5344CB8AC3E}">
        <p14:creationId xmlns:p14="http://schemas.microsoft.com/office/powerpoint/2010/main" val="17206706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2: What a Read and a Write Actually Do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Read: ask the master once, then go straight to the data</a:t>
            </a:r>
          </a:p>
          <a:p>
            <a:pPr marL="457200"/>
            <a:r>
              <a:rPr lang="en-US" sz="2800" b="0" dirty="0"/>
              <a:t>One getBlockLocations call covers the whole file</a:t>
            </a:r>
          </a:p>
          <a:p>
            <a:pPr marL="457200"/>
            <a:r>
              <a:rPr lang="en-US" sz="2800" b="0" dirty="0"/>
              <a:t>Then one connection per block, to a server holding that block</a:t>
            </a:r>
          </a:p>
          <a:p>
            <a:r>
              <a:rPr lang="en-US" sz="3200" b="1" dirty="0"/>
              <a:t>Write: one addBlock per block, then a chain</a:t>
            </a:r>
          </a:p>
          <a:p>
            <a:pPr marL="457200"/>
            <a:r>
              <a:rPr lang="en-US" sz="2800" b="0" dirty="0"/>
              <a:t>The master picks the replicas and returns them as a pipeline</a:t>
            </a:r>
          </a:p>
          <a:p>
            <a:pPr marL="457200"/>
            <a:r>
              <a:rPr lang="en-US" sz="2800" b="0" dirty="0"/>
              <a:t>The client sends the bytes once, to the first server, which forwards them on</a:t>
            </a:r>
          </a:p>
          <a:p>
            <a:r>
              <a:rPr lang="en-US" sz="3200" b="1" dirty="0"/>
              <a:t>What the master recorded for 40 MB: a few log entries, no data</a:t>
            </a:r>
          </a:p>
        </p:txBody>
      </p:sp>
    </p:spTree>
    <p:extLst>
      <p:ext uri="{BB962C8B-B14F-4D97-AF65-F5344CB8AC3E}">
        <p14:creationId xmlns:p14="http://schemas.microsoft.com/office/powerpoint/2010/main" val="17206706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51</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52</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53</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1722</TotalTime>
  <Words>15232</Words>
  <Application>Microsoft Macintosh PowerPoint</Application>
  <PresentationFormat>Widescreen</PresentationFormat>
  <Paragraphs>1239</Paragraphs>
  <Slides>53</Slides>
  <Notes>53</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53</vt:i4>
      </vt:variant>
    </vt:vector>
  </HeadingPairs>
  <TitlesOfParts>
    <vt:vector size="59" baseType="lpstr">
      <vt:lpstr>Aptos</vt:lpstr>
      <vt:lpstr>Aptos Display</vt:lpstr>
      <vt:lpstr>Arial</vt:lpstr>
      <vt:lpstr>Helvetica</vt:lpstr>
      <vt:lpstr>Helvetica Neue</vt:lpstr>
      <vt:lpstr>Office Theme</vt:lpstr>
      <vt:lpstr>Lecture 4: Google File System         Fall 2026 </vt:lpstr>
      <vt:lpstr>Demo 1: Design Proposal</vt:lpstr>
      <vt:lpstr>Presentation Grading</vt:lpstr>
      <vt:lpstr>AWS Credits: One Code per Account</vt:lpstr>
      <vt:lpstr>Why Storage?</vt:lpstr>
      <vt:lpstr>One Machine Is Not Enough</vt:lpstr>
      <vt:lpstr>Then Everything Fails</vt:lpstr>
      <vt:lpstr>Fault Tolerance Comes with a Cost</vt:lpstr>
      <vt:lpstr>Two Questions for This Lecture</vt:lpstr>
      <vt:lpstr>What Would We Like for Consistency?</vt:lpstr>
      <vt:lpstr>What Should the Readers See?</vt:lpstr>
      <vt:lpstr>Bad Replication Design</vt:lpstr>
      <vt:lpstr>What Can Go Wrong?</vt:lpstr>
      <vt:lpstr>Can We Just Always Read from Server 1?</vt:lpstr>
      <vt:lpstr>The Fix Has a Price</vt:lpstr>
      <vt:lpstr>The Google File System</vt:lpstr>
      <vt:lpstr>Why Are We Reading This Paper?</vt:lpstr>
      <vt:lpstr>Goal of GFS</vt:lpstr>
      <vt:lpstr>Demo 1: HDFS</vt:lpstr>
      <vt:lpstr>Assumptions of GFS</vt:lpstr>
      <vt:lpstr>What Are the Contribution of the Paper? </vt:lpstr>
      <vt:lpstr>GFS’s Architecture</vt:lpstr>
      <vt:lpstr>Overall Architecture</vt:lpstr>
      <vt:lpstr>Master Node</vt:lpstr>
      <vt:lpstr>Master State: What Survives a Reboot?</vt:lpstr>
      <vt:lpstr>Chunk Servers</vt:lpstr>
      <vt:lpstr>Data Integrity: Checksums</vt:lpstr>
      <vt:lpstr>Basic Ops ( Read, Write)</vt:lpstr>
      <vt:lpstr>When Client Wants to Read A File?</vt:lpstr>
      <vt:lpstr>When Client Wants to Read a File</vt:lpstr>
      <vt:lpstr>Solution: Primary/Secondary Replication</vt:lpstr>
      <vt:lpstr>When Client Wants to Write </vt:lpstr>
      <vt:lpstr>Record Append</vt:lpstr>
      <vt:lpstr>Stale Replicas and Version Numbers</vt:lpstr>
      <vt:lpstr>Control and Data Flow</vt:lpstr>
      <vt:lpstr>Demo 2: What a Read and a Write Actually Do</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41</cp:revision>
  <dcterms:created xsi:type="dcterms:W3CDTF">2026-02-04T02:27:39Z</dcterms:created>
  <dcterms:modified xsi:type="dcterms:W3CDTF">2026-09-16T21:27:35Z</dcterms:modified>
</cp:coreProperties>
</file>