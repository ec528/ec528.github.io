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2"/>
  </p:notesMasterIdLst>
  <p:sldIdLst>
    <p:sldId id="422" r:id="rId2"/>
    <p:sldId id="426" r:id="rId3"/>
    <p:sldId id="481" r:id="rId4"/>
    <p:sldId id="467" r:id="rId5"/>
    <p:sldId id="477" r:id="rId6"/>
    <p:sldId id="478" r:id="rId7"/>
    <p:sldId id="479" r:id="rId8"/>
    <p:sldId id="483" r:id="rId9"/>
    <p:sldId id="428" r:id="rId10"/>
    <p:sldId id="443" r:id="rId11"/>
    <p:sldId id="444" r:id="rId12"/>
    <p:sldId id="445" r:id="rId13"/>
    <p:sldId id="262" r:id="rId14"/>
    <p:sldId id="430" r:id="rId15"/>
    <p:sldId id="435" r:id="rId16"/>
    <p:sldId id="480" r:id="rId17"/>
    <p:sldId id="431" r:id="rId18"/>
    <p:sldId id="433" r:id="rId19"/>
    <p:sldId id="434" r:id="rId20"/>
    <p:sldId id="436" r:id="rId21"/>
    <p:sldId id="437" r:id="rId22"/>
    <p:sldId id="438" r:id="rId23"/>
    <p:sldId id="468" r:id="rId24"/>
    <p:sldId id="439" r:id="rId25"/>
    <p:sldId id="469" r:id="rId26"/>
    <p:sldId id="440" r:id="rId27"/>
    <p:sldId id="441" r:id="rId28"/>
    <p:sldId id="442" r:id="rId29"/>
    <p:sldId id="446" r:id="rId30"/>
    <p:sldId id="447" r:id="rId31"/>
    <p:sldId id="470" r:id="rId32"/>
    <p:sldId id="448" r:id="rId33"/>
    <p:sldId id="482" r:id="rId34"/>
    <p:sldId id="449" r:id="rId35"/>
    <p:sldId id="450" r:id="rId36"/>
    <p:sldId id="451" r:id="rId37"/>
    <p:sldId id="471" r:id="rId38"/>
    <p:sldId id="472" r:id="rId39"/>
    <p:sldId id="452" r:id="rId40"/>
    <p:sldId id="453" r:id="rId41"/>
    <p:sldId id="454" r:id="rId42"/>
    <p:sldId id="465" r:id="rId43"/>
    <p:sldId id="455" r:id="rId44"/>
    <p:sldId id="457" r:id="rId45"/>
    <p:sldId id="473" r:id="rId46"/>
    <p:sldId id="475" r:id="rId47"/>
    <p:sldId id="476" r:id="rId48"/>
    <p:sldId id="459" r:id="rId49"/>
    <p:sldId id="466" r:id="rId50"/>
    <p:sldId id="464"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C627D7-3369-2644-8171-3465024537BB}" v="94" dt="2026-02-04T23:24:50.1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897"/>
    <p:restoredTop sz="65066"/>
  </p:normalViewPr>
  <p:slideViewPr>
    <p:cSldViewPr snapToGrid="0">
      <p:cViewPr varScale="1">
        <p:scale>
          <a:sx n="79" d="100"/>
          <a:sy n="79" d="100"/>
        </p:scale>
        <p:origin x="92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DB495E-9202-DD42-BBE2-37ADBBB054B7}" type="datetimeFigureOut">
              <a:rPr lang="en-US" smtClean="0"/>
              <a:t>9/16/26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27446A-061B-8F4D-8E35-F1BABDAC0B81}" type="slidenum">
              <a:rPr lang="en-US" smtClean="0"/>
              <a:t>‹#›</a:t>
            </a:fld>
            <a:endParaRPr lang="en-US"/>
          </a:p>
        </p:txBody>
      </p:sp>
    </p:spTree>
    <p:extLst>
      <p:ext uri="{BB962C8B-B14F-4D97-AF65-F5344CB8AC3E}">
        <p14:creationId xmlns:p14="http://schemas.microsoft.com/office/powerpoint/2010/main" val="3673920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BBCA3-A9CF-B7F8-9D46-89DE25703A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EC58D5-8FB2-83AE-BE48-7F301BA215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4EEB12-94CF-2099-95BB-F8F99E02E961}"/>
              </a:ext>
            </a:extLst>
          </p:cNvPr>
          <p:cNvSpPr>
            <a:spLocks noGrp="1"/>
          </p:cNvSpPr>
          <p:nvPr>
            <p:ph type="body" idx="1"/>
          </p:nvPr>
        </p:nvSpPr>
        <p:spPr/>
        <p:txBody>
          <a:bodyPr/>
          <a:lstStyle/>
          <a:p>
            <a:r>
              <a:rPr dirty="0"/>
              <a:t>Today we move from MapReduce to the storage system underneath it: the Google File System, or GFS.</a:t>
            </a:r>
            <a:endParaRPr lang="en-US" dirty="0"/>
          </a:p>
          <a:p>
            <a:endParaRPr lang="en-US" dirty="0"/>
          </a:p>
          <a:p>
            <a:r>
              <a:rPr dirty="0"/>
              <a:t>The MapReduce runtime can schedule and retry computation, but it still needs a place to store enormous input and output files. GFS provides that shared distributed storage. This lecture uses the 2003 GFS paper as a case study in performance, replication, consistency, and recovery.</a:t>
            </a:r>
            <a:endParaRPr lang="en-US" dirty="0"/>
          </a:p>
        </p:txBody>
      </p:sp>
      <p:sp>
        <p:nvSpPr>
          <p:cNvPr id="4" name="Slide Number Placeholder 3">
            <a:extLst>
              <a:ext uri="{FF2B5EF4-FFF2-40B4-BE49-F238E27FC236}">
                <a16:creationId xmlns:a16="http://schemas.microsoft.com/office/drawing/2014/main" id="{B8AB7C6A-36E9-5C23-5BE4-853D3626EDA5}"/>
              </a:ext>
            </a:extLst>
          </p:cNvPr>
          <p:cNvSpPr>
            <a:spLocks noGrp="1"/>
          </p:cNvSpPr>
          <p:nvPr>
            <p:ph type="sldNum" sz="quarter" idx="5"/>
          </p:nvPr>
        </p:nvSpPr>
        <p:spPr/>
        <p:txBody>
          <a:bodyPr/>
          <a:lstStyle/>
          <a:p>
            <a:fld id="{EF6C4B67-53EF-164D-AE78-2A15C544BE9D}" type="slidenum">
              <a:rPr lang="en-US" smtClean="0"/>
              <a:t>1</a:t>
            </a:fld>
            <a:endParaRPr lang="en-US"/>
          </a:p>
        </p:txBody>
      </p:sp>
    </p:spTree>
    <p:extLst>
      <p:ext uri="{BB962C8B-B14F-4D97-AF65-F5344CB8AC3E}">
        <p14:creationId xmlns:p14="http://schemas.microsoft.com/office/powerpoint/2010/main" val="3908176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Demo 1 is Wednesday, September 23. Push the design proposal and slides to the demo-1 branch by 12:00 noon. Next Monday is a lab day, so there is no lecture.</a:t>
            </a:r>
          </a:p>
          <a:p>
            <a:endParaRPr dirty="0"/>
          </a:p>
          <a:p>
            <a:r>
              <a:rPr dirty="0"/>
              <a:t>Walk through the rubric. The design proposal is 50 percent. It should define the problem, explain the proposed system, include an architecture diagram, identify what makes the work technically difficult, explain how the team will measure success, and give verifiable milestones for Demo 2, Demo 3, and the final.</a:t>
            </a:r>
          </a:p>
          <a:p>
            <a:endParaRPr dirty="0"/>
          </a:p>
          <a:p>
            <a:r>
              <a:rPr dirty="0"/>
              <a:t>The slides are 25 percent and follow the shared slides rubric. The remaining 25 percent is challenge, which measures the technical difficulty and ambition of the proposal.</a:t>
            </a:r>
          </a:p>
          <a:p>
            <a:endParaRPr dirty="0"/>
          </a:p>
          <a:p>
            <a:r>
              <a:rPr dirty="0"/>
              <a:t>Emphasize the milestone requirement. Later progress grades use the milestones in this proposal. A statement such as “improve performance” is too vague. A milestone should state a measurable result and how the team will demonstrate it.</a:t>
            </a:r>
          </a:p>
          <a:p>
            <a:endParaRPr dirty="0"/>
          </a:p>
          <a:p>
            <a:r>
              <a:rPr dirty="0"/>
              <a:t>SOURCE</a:t>
            </a:r>
          </a:p>
          <a:p>
            <a:r>
              <a:rPr dirty="0"/>
              <a:t>EC528 Fall 2026 grading policy, Demo 1 rubric.</a:t>
            </a:r>
          </a:p>
          <a:p>
            <a:r>
              <a:rPr dirty="0"/>
              <a:t>EC528 Fall 2026 design-proposal template.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Presentation is graded separately from the team project score.</a:t>
            </a:r>
          </a:p>
          <a:p>
            <a:endParaRPr dirty="0"/>
          </a:p>
          <a:p>
            <a:r>
              <a:rPr dirty="0"/>
              <a:t>Each milestone demo has a 10-minute presentation and 5 minutes for questions. We will stop presentations that run over time. At most two team members may present in one demo, and every team member must present at least once across Demo 1, Demo 2, and Demo 3.</a:t>
            </a:r>
          </a:p>
          <a:p>
            <a:endParaRPr dirty="0"/>
          </a:p>
          <a:p>
            <a:r>
              <a:rPr dirty="0"/>
              <a:t>The presentation score is individual. We grade the part you personally deliver, including clarity, engagement, staying within time, and how you answer questions about the design.</a:t>
            </a:r>
          </a:p>
          <a:p>
            <a:endParaRPr dirty="0"/>
          </a:p>
          <a:p>
            <a:r>
              <a:rPr dirty="0"/>
              <a:t>If you present in more than one milestone demo, we use your highest presentation score. A second presentation can improve the score, but it will not lower it.</a:t>
            </a:r>
          </a:p>
          <a:p>
            <a:endParaRPr dirty="0"/>
          </a:p>
          <a:p>
            <a:r>
              <a:rPr dirty="0"/>
              <a:t>This presentation component is 10 percent of the course grade. The final presentation is graded separately inside the final project score.</a:t>
            </a:r>
          </a:p>
          <a:p>
            <a:endParaRPr dirty="0"/>
          </a:p>
          <a:p>
            <a:r>
              <a:rPr dirty="0"/>
              <a:t>SOURCE</a:t>
            </a:r>
          </a:p>
          <a:p>
            <a:r>
              <a:rPr dirty="0"/>
              <a:t>EC528 Fall 2026 grading policy, Presentation section.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BB8B7-6C3A-826B-BEDC-11B455E4E5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59D6B3-B338-2117-3D33-BCA332753A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01A163-C2DA-77C8-7422-DB4C8C9F21C5}"/>
              </a:ext>
            </a:extLst>
          </p:cNvPr>
          <p:cNvSpPr>
            <a:spLocks noGrp="1"/>
          </p:cNvSpPr>
          <p:nvPr>
            <p:ph type="body" idx="1"/>
          </p:nvPr>
        </p:nvSpPr>
        <p:spPr/>
        <p:txBody>
          <a:bodyPr/>
          <a:lstStyle/>
          <a:p>
            <a:r>
              <a:rPr lang="en-US" dirty="0"/>
              <a:t>One quick AWS credit note. One team found that an AWS account would accept only one credit code. If your team encounters the same problem, do not try to redeem all of the team's codes in one account.</a:t>
            </a:r>
          </a:p>
          <a:p>
            <a:endParaRPr lang="en-US" dirty="0"/>
          </a:p>
          <a:p>
            <a:r>
              <a:rPr lang="en-US" dirty="0"/>
              <a:t>Instead, have each teammate redeem one code in their own AWS account. Run the project from one account at a time, and move to another teammate's account when needed. Use scripts to create the resources so moving is easy, and delete the resources in the old account after you move. The detailed instructions are on the course Setup page.</a:t>
            </a:r>
          </a:p>
        </p:txBody>
      </p:sp>
      <p:sp>
        <p:nvSpPr>
          <p:cNvPr id="4" name="Slide Number Placeholder 3">
            <a:extLst>
              <a:ext uri="{FF2B5EF4-FFF2-40B4-BE49-F238E27FC236}">
                <a16:creationId xmlns:a16="http://schemas.microsoft.com/office/drawing/2014/main" id="{09D73A9A-D881-2613-9D53-6BBD01037D23}"/>
              </a:ext>
            </a:extLst>
          </p:cNvPr>
          <p:cNvSpPr>
            <a:spLocks noGrp="1"/>
          </p:cNvSpPr>
          <p:nvPr>
            <p:ph type="sldNum" sz="quarter" idx="5"/>
          </p:nvPr>
        </p:nvSpPr>
        <p:spPr/>
        <p:txBody>
          <a:bodyPr/>
          <a:lstStyle/>
          <a:p>
            <a:fld id="{1C9584DC-3658-4054-9DA4-7B68A1D8CC6D}" type="slidenum">
              <a:rPr lang="zh-CN" altLang="en-US" smtClean="0"/>
              <a:t>4</a:t>
            </a:fld>
            <a:endParaRPr lang="zh-CN" altLang="en-US"/>
          </a:p>
        </p:txBody>
      </p:sp>
    </p:spTree>
    <p:extLst>
      <p:ext uri="{BB962C8B-B14F-4D97-AF65-F5344CB8AC3E}">
        <p14:creationId xmlns:p14="http://schemas.microsoft.com/office/powerpoint/2010/main" val="3354523721"/>
      </p:ext>
    </p:extLst>
  </p:cSld>
  <p:clrMapOvr>
    <a:masterClrMapping/>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Last time we focused on computation, but every map task had to read its input from somewhere, and every reducer had to write its output somewhere. At Google, that shared storage layer was GFS.</a:t>
            </a:r>
            <a:endParaRPr/>
          </a:p>
          <a:p xmlns:a="http://schemas.openxmlformats.org/drawingml/2006/main">
            <a:r>
              <a:t/>
            </a:r>
            <a:endParaRPr/>
          </a:p>
          <a:p xmlns:a="http://schemas.openxmlformats.org/drawingml/2006/main">
            <a:r>
              <a:t>Storage became a key abstraction because a simple interface—name some data, read it, and write it—was general enough to support many different systems. MapReduce used GFS for input and output files. BigTable later stored its table data in GFS as well. If the storage layer handles scale and failures, every system above it becomes easier to build.</a:t>
            </a:r>
            <a:endParaRPr/>
          </a:p>
          <a:p xmlns:a="http://schemas.openxmlformats.org/drawingml/2006/main">
            <a:r>
              <a:t/>
            </a:r>
            <a:endParaRPr/>
          </a:p>
          <a:p xmlns:a="http://schemas.openxmlformats.org/drawingml/2006/main">
            <a:r>
              <a:t>That gives us two questions for today. What interface should this storage layer expose to applications? And what must happen behind that interface when the data is spread across many machines? Before we look at the GFS interface, we need to understand why the storage has to be distributed at all. Two pressures drive the design: one machine cannot provide enough capacity or throughput, and once data is spread across many machines, failures become routine.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first pressure: one machine cannot provide enough capacity or throughput.</a:t>
            </a:r>
            <a:endParaRPr/>
          </a:p>
          <a:p xmlns:a="http://schemas.openxmlformats.org/drawingml/2006/main">
            <a:r>
              <a:t/>
            </a:r>
            <a:endParaRPr/>
          </a:p>
          <a:p xmlns:a="http://schemas.openxmlformats.org/drawingml/2006/main">
            <a:r>
              <a:t>Use the numbers on the slide as a scale estimate. A crawled copy of the web was on the order of hundreds of terabytes. At roughly 35 megabytes per second, one disk would take about four months just to scan 400 terabytes once. And the data would require roughly a thousand disks to store in the first place.</a:t>
            </a:r>
            <a:endParaRPr/>
          </a:p>
          <a:p xmlns:a="http://schemas.openxmlformats.org/drawingml/2006/main">
            <a:r>
              <a:t/>
            </a:r>
            <a:endParaRPr/>
          </a:p>
          <a:p xmlns:a="http://schemas.openxmlformats.org/drawingml/2006/main">
            <a:r>
              <a:t>So one machine is not merely inconvenient; it cannot hold the data or process it at the required rate. The natural solution is sharding: split each large file into pieces and place those pieces across many machines. Now one file can be larger than any single disk, and many clients can read different pieces in parallel. Aggregate throughput grows with the number of disks and servers.</a:t>
            </a:r>
            <a:endParaRPr/>
          </a:p>
          <a:p xmlns:a="http://schemas.openxmlformats.org/drawingml/2006/main">
            <a:r>
              <a:t/>
            </a:r>
            <a:endParaRPr/>
          </a:p>
          <a:p xmlns:a="http://schemas.openxmlformats.org/drawingml/2006/main">
            <a:r>
              <a:t>This decision solves the capacity and performance problem, but it creates the next problem. Once the system depends on hundreds or thousands of machines, some component will almost always be unavailable.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That brings us to the second pressure. Once storage depends on hundreds or thousands of machines, failure becomes the normal operating condition.</a:t>
            </a:r>
            <a:endParaRPr/>
          </a:p>
          <a:p xmlns:a="http://schemas.openxmlformats.org/drawingml/2006/main">
            <a:r>
              <a:t/>
            </a:r>
            <a:endParaRPr/>
          </a:p>
          <a:p xmlns:a="http://schemas.openxmlformats.org/drawingml/2006/main">
            <a:r>
              <a:t>Commodity machines provide much better performance per dollar, so Google built clusters from many ordinary servers and disks. More reliable hardware would reduce the failure rate, but it would not eliminate failures—and it would be far more expensive. Once the cluster contains a thousand machines and thousands of disks, even a small failure probability produces failures every day.</a:t>
            </a:r>
            <a:endParaRPr/>
          </a:p>
          <a:p xmlns:a="http://schemas.openxmlformats.org/drawingml/2006/main">
            <a:r>
              <a:t/>
            </a:r>
            <a:endParaRPr/>
          </a:p>
          <a:p xmlns:a="http://schemas.openxmlformats.org/drawingml/2006/main">
            <a:r>
              <a:t>The operational examples make this concrete: rack failures can remove dozens of machines at once; individual machines and disks fail repeatedly; network maintenance and transient communication failures also make healthy machines appear unavailable.</a:t>
            </a:r>
            <a:endParaRPr/>
          </a:p>
          <a:p xmlns:a="http://schemas.openxmlformats.org/drawingml/2006/main">
            <a:r>
              <a:t/>
            </a:r>
            <a:endParaRPr/>
          </a:p>
          <a:p xmlns:a="http://schemas.openxmlformats.org/drawingml/2006/main">
            <a:r>
              <a:t>Human repair cannot be part of the normal data-access path. The storage system must detect failures, keep serving data, and restore redundancy automatically. The standard technique is replication: keep several copies so that another copy remains available when one machine fails.</a:t>
            </a:r>
            <a:endParaRPr/>
          </a:p>
          <a:p xmlns:a="http://schemas.openxmlformats.org/drawingml/2006/main">
            <a:r>
              <a:t/>
            </a:r>
            <a:endParaRPr/>
          </a:p>
          <a:p xmlns:a="http://schemas.openxmlformats.org/drawingml/2006/main">
            <a:r>
              <a:t>Replication gives us fault tolerance, but it also creates a new question: how do we keep those copies from disagreeing?</a:t>
            </a:r>
            <a:endParaRPr/>
          </a:p>
          <a:p xmlns:a="http://schemas.openxmlformats.org/drawingml/2006/main">
            <a:r>
              <a:t/>
            </a:r>
            <a:endParaRPr/>
          </a:p>
          <a:p xmlns:a="http://schemas.openxmlformats.org/drawingml/2006/main">
            <a:r>
              <a:t>SOURCE</a:t>
            </a:r>
            <a:endParaRPr/>
          </a:p>
          <a:p xmlns:a="http://schemas.openxmlformats.org/drawingml/2006/main">
            <a:r>
              <a:t>MIT 6.824, Spring 2020, Lecture 3 transcript/video, 02:28–04:05 and 18:07–18:55.</a:t>
            </a:r>
            <a:endParaRPr/>
          </a:p>
          <a:p xmlns:a="http://schemas.openxmlformats.org/drawingml/2006/main">
            <a:r>
              <a:t>Local transcript: fall2026/lectures/references/mit-6824-2020-lecture3-gfs-transcript.txt</a:t>
            </a:r>
            <a:endParaRPr/>
          </a:p>
          <a:p xmlns:a="http://schemas.openxmlformats.org/drawingml/2006/main">
            <a:r>
              <a:t>EC528 Fall 2023 GFS lecture and Jeff Dean talks for the failure counts.</a:t>
            </a:r>
            <a:endParaRPr/>
          </a:p>
          <a:p xmlns:a="http://schemas.openxmlformats.org/drawingml/2006/main">
            <a:r>
              <a:t>https://www.youtube.com/watch?v=EpIgvowZr00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BB8B7-6C3A-826B-BEDC-11B455E4E5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59D6B3-B338-2117-3D33-BCA332753A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01A163-C2DA-77C8-7422-DB4C8C9F21C5}"/>
              </a:ext>
            </a:extLst>
          </p:cNvPr>
          <p:cNvSpPr>
            <a:spLocks noGrp="1"/>
          </p:cNvSpPr>
          <p:nvPr>
            <p:ph type="body" idx="1"/>
          </p:nvPr>
        </p:nvSpPr>
        <p:spPr/>
        <p:txBody>
          <a:bodyPr/>
          <a:lstStyle/>
          <a:p>
            <a:r>
              <a:rPr dirty="0"/>
              <a:t>There are therefore two questions for this lecture. What interface should a large distributed storage system expose? And what must happen inside the system so that the interface remains useful when data spans many machines and those machines fail?</a:t>
            </a:r>
            <a:endParaRPr lang="en-US" dirty="0"/>
          </a:p>
          <a:p>
            <a:r>
              <a:rPr dirty="0"/>
              <a:t>PIVOT, about 20 seconds. The last three slides built the case: storage is the foundation, one machine cannot hold the data, and at that scale something is always broken. Stop here and name what the lecture has to answer.</a:t>
            </a:r>
            <a:endParaRPr lang="en-US" dirty="0"/>
          </a:p>
          <a:p>
            <a:r>
              <a:rPr dirty="0"/>
              <a:t>The first question is answered by the GFS API and its consistency guarantees; the second is what the next slide, and the rest of the lecture, is about.</a:t>
            </a:r>
            <a:endParaRPr lang="en-US" dirty="0"/>
          </a:p>
          <a:p>
            <a:r>
              <a:rPr dirty="0"/>
              <a:t>SOURCE</a:t>
            </a:r>
            <a:endParaRPr lang="en-US" dirty="0"/>
          </a:p>
          <a:p>
            <a:r>
              <a:rPr dirty="0"/>
              <a:t>MIT 6.5840, GFS lecture notes, "Why are we reading this paper?".</a:t>
            </a:r>
            <a:endParaRPr lang="en-US" dirty="0"/>
          </a:p>
          <a:p>
            <a:r>
              <a:rPr dirty="0"/>
              <a:t>https://pdos.csail.mit.edu/6.824/notes/l-gfs.txt</a:t>
            </a:r>
            <a:endParaRPr lang="en-US" dirty="0"/>
          </a:p>
        </p:txBody>
      </p:sp>
      <p:sp>
        <p:nvSpPr>
          <p:cNvPr id="4" name="Slide Number Placeholder 3">
            <a:extLst>
              <a:ext uri="{FF2B5EF4-FFF2-40B4-BE49-F238E27FC236}">
                <a16:creationId xmlns:a16="http://schemas.microsoft.com/office/drawing/2014/main" id="{09D73A9A-D881-2613-9D53-6BBD01037D23}"/>
              </a:ext>
            </a:extLst>
          </p:cNvPr>
          <p:cNvSpPr>
            <a:spLocks noGrp="1"/>
          </p:cNvSpPr>
          <p:nvPr>
            <p:ph type="sldNum" sz="quarter" idx="5"/>
          </p:nvPr>
        </p:nvSpPr>
        <p:spPr/>
        <p:txBody>
          <a:bodyPr/>
          <a:lstStyle/>
          <a:p>
            <a:fld id="{1C9584DC-3658-4054-9DA4-7B68A1D8CC6D}" type="slidenum">
              <a:rPr lang="zh-CN" altLang="en-US" smtClean="0"/>
              <a:t>8</a:t>
            </a:fld>
            <a:endParaRPr lang="zh-CN" altLang="en-US"/>
          </a:p>
        </p:txBody>
      </p:sp>
    </p:spTree>
    <p:extLst>
      <p:ext uri="{BB962C8B-B14F-4D97-AF65-F5344CB8AC3E}">
        <p14:creationId xmlns:p14="http://schemas.microsoft.com/office/powerpoint/2010/main" val="33545237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59D2F-F719-1204-3BE4-5648B3224D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C7BD6E-9ED5-B0EB-2519-0B5A471E32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9AF431-6503-9F6E-44FB-746BDA533D73}"/>
              </a:ext>
            </a:extLst>
          </p:cNvPr>
          <p:cNvSpPr>
            <a:spLocks noGrp="1"/>
          </p:cNvSpPr>
          <p:nvPr>
            <p:ph type="body" idx="1"/>
          </p:nvPr>
        </p:nvSpPr>
        <p:spPr/>
        <p:txBody>
          <a:bodyPr/>
          <a:lstStyle/>
          <a:p>
            <a:r>
              <a:rPr lang="en-US" dirty="0"/>
              <a:t>This diagram summarizes the design pressure we have just built up.</a:t>
            </a:r>
          </a:p>
          <a:p>
            <a:endParaRPr lang="en-US" dirty="0"/>
          </a:p>
          <a:p>
            <a:r>
              <a:rPr lang="en-US" dirty="0"/>
              <a:t>We begin with performance. To obtain high aggregate throughput and enough capacity, we shard data across many servers. With many servers, failures become routine, so the system must tolerate them automatically. Replication is the basic tool: keep multiple copies and use a surviving copy when another one fails.</a:t>
            </a:r>
          </a:p>
          <a:p>
            <a:endParaRPr lang="en-US" dirty="0"/>
          </a:p>
          <a:p>
            <a:r>
              <a:rPr lang="en-US" dirty="0"/>
              <a:t>But replication changes the correctness problem. Two copies are useful only if they represent the same data. Concurrent writes, lost messages, or a server failure in the middle of an update can leave replicas in different states. Different readers may then observe different answers.</a:t>
            </a:r>
          </a:p>
          <a:p>
            <a:endParaRPr lang="en-US" dirty="0"/>
          </a:p>
          <a:p>
            <a:r>
              <a:rPr lang="en-US" dirty="0"/>
              <a:t>We can coordinate the replicas more carefully and provide behavior closer to a single correct server, but that requires additional messages, waiting, and recovery logic. GFS deliberately chooses a point in this tradeoff space. It prioritizes high throughput and a relatively simple design for Google's batch workloads, while exposing weaker behavior in some failure cases.</a:t>
            </a:r>
          </a:p>
          <a:p>
            <a:endParaRPr lang="en-US" dirty="0"/>
          </a:p>
          <a:p>
            <a:r>
              <a:rPr lang="en-US" dirty="0"/>
              <a:t>Before examining the GFS protocol, the next slide defines the single-server behavior we would ideally like to preserve.</a:t>
            </a:r>
          </a:p>
          <a:p>
            <a:endParaRPr lang="en-US" dirty="0"/>
          </a:p>
          <a:p>
            <a:r>
              <a:rPr lang="en-US" dirty="0"/>
              <a:t>SOURCE</a:t>
            </a:r>
          </a:p>
          <a:p>
            <a:r>
              <a:rPr lang="en-US" dirty="0"/>
              <a:t>MIT 6.824, Spring 2020, Lecture 3 transcript/video, 02:28–05:42.</a:t>
            </a:r>
          </a:p>
          <a:p>
            <a:r>
              <a:rPr lang="en-US" dirty="0"/>
              <a:t>Local transcript: fall2026/lectures/references/mit-6824-2020-lecture3-gfs-transcript.txt</a:t>
            </a:r>
          </a:p>
          <a:p>
            <a:r>
              <a:rPr lang="en-US" dirty="0"/>
              <a:t>https://www.youtube.com/watch?v=EpIgvowZr00</a:t>
            </a:r>
          </a:p>
        </p:txBody>
      </p:sp>
      <p:sp>
        <p:nvSpPr>
          <p:cNvPr id="4" name="Slide Number Placeholder 3">
            <a:extLst>
              <a:ext uri="{FF2B5EF4-FFF2-40B4-BE49-F238E27FC236}">
                <a16:creationId xmlns:a16="http://schemas.microsoft.com/office/drawing/2014/main" id="{E8FE7602-B30B-17D7-6742-4BE51445636D}"/>
              </a:ext>
            </a:extLst>
          </p:cNvPr>
          <p:cNvSpPr>
            <a:spLocks noGrp="1"/>
          </p:cNvSpPr>
          <p:nvPr>
            <p:ph type="sldNum" sz="quarter" idx="5"/>
          </p:nvPr>
        </p:nvSpPr>
        <p:spPr/>
        <p:txBody>
          <a:bodyPr/>
          <a:lstStyle/>
          <a:p>
            <a:fld id="{1C9584DC-3658-4054-9DA4-7B68A1D8CC6D}" type="slidenum">
              <a:rPr lang="zh-CN" altLang="en-US" smtClean="0"/>
              <a:t>9</a:t>
            </a:fld>
            <a:endParaRPr lang="zh-CN" altLang="en-US"/>
          </a:p>
        </p:txBody>
      </p:sp>
    </p:spTree>
    <p:extLst>
      <p:ext uri="{BB962C8B-B14F-4D97-AF65-F5344CB8AC3E}">
        <p14:creationId xmlns:p14="http://schemas.microsoft.com/office/powerpoint/2010/main" val="27754432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B540A-D8BB-3966-785D-AB106A801E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F815BF-B820-7F52-AC8F-55D4D4013E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3F7EF1-280E-6AA5-7965-A18D81B21B8E}"/>
              </a:ext>
            </a:extLst>
          </p:cNvPr>
          <p:cNvSpPr>
            <a:spLocks noGrp="1"/>
          </p:cNvSpPr>
          <p:nvPr>
            <p:ph type="body" idx="1"/>
          </p:nvPr>
        </p:nvSpPr>
        <p:spPr/>
        <p:txBody>
          <a:bodyPr/>
          <a:lstStyle/>
          <a:p>
            <a:r>
              <a:t>Before looking at the write protocol, establish the behavior we would ideally like.</a:t>
            </a:r>
            <a:endParaRPr lang="en-US" dirty="0"/>
          </a:p>
          <a:p>
            <a:endParaRPr lang="en-US" dirty="0"/>
          </a:p>
          <a:p>
            <a:r>
              <a:t>Imagine one correct server that processes operations one at a time. If two clients write concurrently, the server may choose either order. Once both operations finish, however, every later reader should observe the same final order and the same value.</a:t>
            </a:r>
            <a:endParaRPr lang="en-US" dirty="0"/>
          </a:p>
          <a:p>
            <a:endParaRPr lang="en-US" dirty="0"/>
          </a:p>
          <a:p>
            <a:r>
              <a:t>A replicated system tries to preserve that single-server illusion while storing several copies. The difficulty is that messages can arrive in different orders and some replicas can fail midway through an update.</a:t>
            </a:r>
            <a:endParaRPr lang="en-US" dirty="0"/>
          </a:p>
          <a:p>
            <a:endParaRPr lang="en-US" dirty="0"/>
          </a:p>
          <a:p>
            <a:r>
              <a:t>SOURCE</a:t>
            </a:r>
            <a:endParaRPr lang="en-US" dirty="0"/>
          </a:p>
          <a:p>
            <a:r>
              <a:t>MIT 6.824, Spring 2020, Lecture 3 video, 5:09-10:11.</a:t>
            </a:r>
            <a:endParaRPr lang="en-US" dirty="0"/>
          </a:p>
          <a:p>
            <a:r>
              <a:t>https://www.youtube.com/watch?v=EpIgvowZr00</a:t>
            </a:r>
            <a:endParaRPr lang="en-US" dirty="0"/>
          </a:p>
          <a:p>
            <a:r>
              <a:t>MIT 6.5840, GFS lecture notes.</a:t>
            </a:r>
            <a:endParaRPr lang="en-US" dirty="0"/>
          </a:p>
          <a:p>
            <a:r>
              <a:t>https://pdos.csail.mit.edu/6.824/notes/l-gfs.txt</a:t>
            </a:r>
            <a:endParaRPr lang="en-US" dirty="0"/>
          </a:p>
          <a:p>
            <a:r>
              <a:t>Ghemawat, Gobioff, and Leung, The Google File System, Section 2.7.</a:t>
            </a:r>
            <a:endParaRPr lang="en-US" dirty="0"/>
          </a:p>
          <a:p>
            <a:r>
              <a:t>https://pdos.csail.mit.edu/6.824/papers/gfs.pdf</a:t>
            </a:r>
            <a:endParaRPr lang="en-US" dirty="0"/>
          </a:p>
        </p:txBody>
      </p:sp>
      <p:sp>
        <p:nvSpPr>
          <p:cNvPr id="4" name="Slide Number Placeholder 3">
            <a:extLst>
              <a:ext uri="{FF2B5EF4-FFF2-40B4-BE49-F238E27FC236}">
                <a16:creationId xmlns:a16="http://schemas.microsoft.com/office/drawing/2014/main" id="{75E36274-B2B6-8B11-AF55-DA5CB0EF4B0B}"/>
              </a:ext>
            </a:extLst>
          </p:cNvPr>
          <p:cNvSpPr>
            <a:spLocks noGrp="1"/>
          </p:cNvSpPr>
          <p:nvPr>
            <p:ph type="sldNum" sz="quarter" idx="5"/>
          </p:nvPr>
        </p:nvSpPr>
        <p:spPr/>
        <p:txBody>
          <a:bodyPr/>
          <a:lstStyle/>
          <a:p>
            <a:fld id="{1C9584DC-3658-4054-9DA4-7B68A1D8CC6D}" type="slidenum">
              <a:rPr lang="zh-CN" altLang="en-US" smtClean="0"/>
              <a:t>10</a:t>
            </a:fld>
            <a:endParaRPr lang="zh-CN" altLang="en-US"/>
          </a:p>
        </p:txBody>
      </p:sp>
    </p:spTree>
    <p:extLst>
      <p:ext uri="{BB962C8B-B14F-4D97-AF65-F5344CB8AC3E}">
        <p14:creationId xmlns:p14="http://schemas.microsoft.com/office/powerpoint/2010/main" val="9912003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50EEB-B394-3283-2DDC-B7F0C207D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74923A-04FA-794B-CEF8-2F698F2431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1E1D79-29DC-217E-E030-155A14798152}"/>
              </a:ext>
            </a:extLst>
          </p:cNvPr>
          <p:cNvSpPr>
            <a:spLocks noGrp="1"/>
          </p:cNvSpPr>
          <p:nvPr>
            <p:ph type="body" idx="1"/>
          </p:nvPr>
        </p:nvSpPr>
        <p:spPr/>
        <p:txBody>
          <a:bodyPr/>
          <a:lstStyle/>
          <a:p>
            <a:r>
              <a:t>This slide shows a tempting but incorrect replication design.</a:t>
            </a:r>
            <a:endParaRPr lang="en-US" dirty="0"/>
          </a:p>
          <a:p>
            <a:endParaRPr lang="en-US" dirty="0"/>
          </a:p>
          <a:p>
            <a:r>
              <a:t>The client sends the update independently to every replica, and each server applies requests in the order it receives them. This looks fault tolerant because every server stores a copy.</a:t>
            </a:r>
            <a:endParaRPr lang="en-US" dirty="0"/>
          </a:p>
          <a:p>
            <a:endParaRPr lang="en-US" dirty="0"/>
          </a:p>
          <a:p>
            <a:r>
              <a:t>The protocol has no single component that chooses one order for concurrent writes. Network timing can therefore make the replicas execute the same requests in different orders. The copies stop being interchangeable, which defeats the purpose of replication.</a:t>
            </a:r>
            <a:endParaRPr lang="en-US" dirty="0"/>
          </a:p>
          <a:p>
            <a:endParaRPr lang="en-US" dirty="0"/>
          </a:p>
          <a:p>
            <a:r>
              <a:t>SOURCE</a:t>
            </a:r>
            <a:endParaRPr lang="en-US" dirty="0"/>
          </a:p>
          <a:p>
            <a:r>
              <a:t>MIT 6.824, Spring 2020, Lecture 3 video, 10:11-15:13.</a:t>
            </a:r>
            <a:endParaRPr lang="en-US" dirty="0"/>
          </a:p>
          <a:p>
            <a:r>
              <a:t>https://www.youtube.com/watch?v=EpIgvowZr00</a:t>
            </a:r>
            <a:endParaRPr lang="en-US" dirty="0"/>
          </a:p>
          <a:p>
            <a:r>
              <a:t>MIT 6.5840, GFS lecture notes.</a:t>
            </a:r>
            <a:endParaRPr lang="en-US" dirty="0"/>
          </a:p>
          <a:p>
            <a:r>
              <a:t>https://pdos.csail.mit.edu/6.824/notes/l-gfs.txt</a:t>
            </a:r>
            <a:endParaRPr lang="en-US" dirty="0"/>
          </a:p>
          <a:p>
            <a:r>
              <a:t>Ghemawat, Gobioff, and Leung, The Google File System, Section 3.1.</a:t>
            </a:r>
            <a:endParaRPr lang="en-US" dirty="0"/>
          </a:p>
          <a:p>
            <a:r>
              <a:t>https://pdos.csail.mit.edu/6.824/papers/gfs.pdf</a:t>
            </a:r>
            <a:endParaRPr lang="en-US" dirty="0"/>
          </a:p>
        </p:txBody>
      </p:sp>
      <p:sp>
        <p:nvSpPr>
          <p:cNvPr id="4" name="Slide Number Placeholder 3">
            <a:extLst>
              <a:ext uri="{FF2B5EF4-FFF2-40B4-BE49-F238E27FC236}">
                <a16:creationId xmlns:a16="http://schemas.microsoft.com/office/drawing/2014/main" id="{0D40CE49-9A34-9E91-C24C-2735EB541585}"/>
              </a:ext>
            </a:extLst>
          </p:cNvPr>
          <p:cNvSpPr>
            <a:spLocks noGrp="1"/>
          </p:cNvSpPr>
          <p:nvPr>
            <p:ph type="sldNum" sz="quarter" idx="5"/>
          </p:nvPr>
        </p:nvSpPr>
        <p:spPr/>
        <p:txBody>
          <a:bodyPr/>
          <a:lstStyle/>
          <a:p>
            <a:fld id="{1C9584DC-3658-4054-9DA4-7B68A1D8CC6D}" type="slidenum">
              <a:rPr lang="zh-CN" altLang="en-US" smtClean="0"/>
              <a:t>11</a:t>
            </a:fld>
            <a:endParaRPr lang="zh-CN" altLang="en-US"/>
          </a:p>
        </p:txBody>
      </p:sp>
    </p:spTree>
    <p:extLst>
      <p:ext uri="{BB962C8B-B14F-4D97-AF65-F5344CB8AC3E}">
        <p14:creationId xmlns:p14="http://schemas.microsoft.com/office/powerpoint/2010/main" val="5954971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57F6F-974F-F53C-ED3C-4EABC142FA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7769DE-EE2B-CDF0-B3A8-4860B154D6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B13888-86BD-70E9-CE9B-FF85C31CFD9A}"/>
              </a:ext>
            </a:extLst>
          </p:cNvPr>
          <p:cNvSpPr>
            <a:spLocks noGrp="1"/>
          </p:cNvSpPr>
          <p:nvPr>
            <p:ph type="body" idx="1"/>
          </p:nvPr>
        </p:nvSpPr>
        <p:spPr/>
        <p:txBody>
          <a:bodyPr/>
          <a:lstStyle/>
          <a:p>
            <a:r>
              <a:t>Now add a second client that writes the same region concurrently.</a:t>
            </a:r>
            <a:endParaRPr lang="en-US" dirty="0"/>
          </a:p>
          <a:p>
            <a:endParaRPr lang="en-US" dirty="0"/>
          </a:p>
          <a:p>
            <a:r>
              <a:t>Server 1 may receive client 1's request first and client 2's request second. Server 2 may receive the opposite order. If the writes overlap, the final bytes on the two servers can differ.</a:t>
            </a:r>
            <a:endParaRPr lang="en-US" dirty="0"/>
          </a:p>
          <a:p>
            <a:endParaRPr lang="en-US" dirty="0"/>
          </a:p>
          <a:p>
            <a:r>
              <a:t>A later reader can then get a different answer depending on which replica it contacts. Even worse, if clients normally read from server 1 and that server fails, the visible value can suddenly change without any new write.</a:t>
            </a:r>
            <a:endParaRPr lang="en-US" dirty="0"/>
          </a:p>
          <a:p>
            <a:endParaRPr lang="en-US" dirty="0"/>
          </a:p>
          <a:p>
            <a:r>
              <a:t>The missing ingredient is one authority that chooses the mutation order for this chunk.</a:t>
            </a:r>
            <a:endParaRPr lang="en-US" dirty="0"/>
          </a:p>
          <a:p>
            <a:endParaRPr lang="en-US" dirty="0"/>
          </a:p>
          <a:p>
            <a:r>
              <a:t>SOURCE</a:t>
            </a:r>
            <a:endParaRPr lang="en-US" dirty="0"/>
          </a:p>
          <a:p>
            <a:r>
              <a:t>MIT 6.824, Spring 2020, Lecture 3 video, 10:11-15:13.</a:t>
            </a:r>
            <a:endParaRPr lang="en-US" dirty="0"/>
          </a:p>
          <a:p>
            <a:r>
              <a:t>https://www.youtube.com/watch?v=EpIgvowZr00</a:t>
            </a:r>
            <a:endParaRPr lang="en-US" dirty="0"/>
          </a:p>
          <a:p>
            <a:r>
              <a:t>MIT 6.5840, GFS lecture notes.</a:t>
            </a:r>
            <a:endParaRPr lang="en-US" dirty="0"/>
          </a:p>
          <a:p>
            <a:r>
              <a:t>https://pdos.csail.mit.edu/6.824/notes/l-gfs.txt</a:t>
            </a:r>
            <a:endParaRPr lang="en-US" dirty="0"/>
          </a:p>
          <a:p>
            <a:r>
              <a:t>Ghemawat, Gobioff, and Leung, The Google File System, Sections 3.1 and 3.2.</a:t>
            </a:r>
            <a:endParaRPr lang="en-US" dirty="0"/>
          </a:p>
          <a:p>
            <a:r>
              <a:t>https://pdos.csail.mit.edu/6.824/papers/gfs.pdf</a:t>
            </a:r>
            <a:endParaRPr lang="en-US" dirty="0"/>
          </a:p>
        </p:txBody>
      </p:sp>
      <p:sp>
        <p:nvSpPr>
          <p:cNvPr id="4" name="Slide Number Placeholder 3">
            <a:extLst>
              <a:ext uri="{FF2B5EF4-FFF2-40B4-BE49-F238E27FC236}">
                <a16:creationId xmlns:a16="http://schemas.microsoft.com/office/drawing/2014/main" id="{B1960F15-BADC-8306-DE62-2CD20BDF9BC7}"/>
              </a:ext>
            </a:extLst>
          </p:cNvPr>
          <p:cNvSpPr>
            <a:spLocks noGrp="1"/>
          </p:cNvSpPr>
          <p:nvPr>
            <p:ph type="sldNum" sz="quarter" idx="5"/>
          </p:nvPr>
        </p:nvSpPr>
        <p:spPr/>
        <p:txBody>
          <a:bodyPr/>
          <a:lstStyle/>
          <a:p>
            <a:fld id="{1C9584DC-3658-4054-9DA4-7B68A1D8CC6D}" type="slidenum">
              <a:rPr lang="zh-CN" altLang="en-US" smtClean="0"/>
              <a:t>12</a:t>
            </a:fld>
            <a:endParaRPr lang="zh-CN" altLang="en-US"/>
          </a:p>
        </p:txBody>
      </p:sp>
    </p:spTree>
    <p:extLst>
      <p:ext uri="{BB962C8B-B14F-4D97-AF65-F5344CB8AC3E}">
        <p14:creationId xmlns:p14="http://schemas.microsoft.com/office/powerpoint/2010/main" val="20049932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BBCA3-A9CF-B7F8-9D46-89DE25703A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EC58D5-8FB2-83AE-BE48-7F301BA215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4EEB12-94CF-2099-95BB-F8F99E02E961}"/>
              </a:ext>
            </a:extLst>
          </p:cNvPr>
          <p:cNvSpPr>
            <a:spLocks noGrp="1"/>
          </p:cNvSpPr>
          <p:nvPr>
            <p:ph type="body" idx="1"/>
          </p:nvPr>
        </p:nvSpPr>
        <p:spPr/>
        <p:txBody>
          <a:bodyPr/>
          <a:lstStyle/>
          <a:p>
            <a:r>
              <a:t>TRANSITION: the problem statement is now on the table - shard for speed, replicate for failures, then fight the inconsistency that replication creates. This is the paper that picks one point in that trade-off. Keep this slide to about 30 seconds.</a:t>
            </a:r>
            <a:endParaRPr lang="en-US"/>
          </a:p>
          <a:p>
            <a:r>
              <a:t>Same people as last lecture: Sanjay Ghemawat is also an author of the MapReduce paper (Dean and Ghemawat, OSDI 2004). MapReduce runs on top of GFS, and the two papers are one year apart from the same group. Lecture 3 was the computation layer; this is the storage layer underneath it.</a:t>
            </a:r>
            <a:endParaRPr lang="en-US"/>
          </a:p>
          <a:p>
            <a:r>
              <a:t>The year matters: 2003, commodity Linux machines, one disk about 30 MB/s, a network card about 10 MB/s, and in a cluster of thousands something fails every day. Every trade-off in this paper follows from that hardware.</a:t>
            </a:r>
            <a:endParaRPr lang="en-US"/>
          </a:p>
          <a:p>
            <a:r>
              <a:t>Next slide: why we are reading this paper.</a:t>
            </a:r>
            <a:endParaRPr lang="en-US"/>
          </a:p>
        </p:txBody>
      </p:sp>
      <p:sp>
        <p:nvSpPr>
          <p:cNvPr id="4" name="Slide Number Placeholder 3">
            <a:extLst>
              <a:ext uri="{FF2B5EF4-FFF2-40B4-BE49-F238E27FC236}">
                <a16:creationId xmlns:a16="http://schemas.microsoft.com/office/drawing/2014/main" id="{B8AB7C6A-36E9-5C23-5BE4-853D3626EDA5}"/>
              </a:ext>
            </a:extLst>
          </p:cNvPr>
          <p:cNvSpPr>
            <a:spLocks noGrp="1"/>
          </p:cNvSpPr>
          <p:nvPr>
            <p:ph type="sldNum" sz="quarter" idx="5"/>
          </p:nvPr>
        </p:nvSpPr>
        <p:spPr/>
        <p:txBody>
          <a:bodyPr/>
          <a:lstStyle/>
          <a:p>
            <a:fld id="{EF6C4B67-53EF-164D-AE78-2A15C544BE9D}" type="slidenum">
              <a:rPr lang="en-US" smtClean="0"/>
              <a:t>13</a:t>
            </a:fld>
            <a:endParaRPr lang="en-US"/>
          </a:p>
        </p:txBody>
      </p:sp>
    </p:spTree>
    <p:extLst>
      <p:ext uri="{BB962C8B-B14F-4D97-AF65-F5344CB8AC3E}">
        <p14:creationId xmlns:p14="http://schemas.microsoft.com/office/powerpoint/2010/main" val="39081766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85D24-230C-6270-6214-3E867A2550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553026-D75E-0E0C-F4A0-B2BFCACF24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C0A957-8562-1954-5E3F-EBB74140409F}"/>
              </a:ext>
            </a:extLst>
          </p:cNvPr>
          <p:cNvSpPr>
            <a:spLocks noGrp="1"/>
          </p:cNvSpPr>
          <p:nvPr>
            <p:ph type="body" idx="1"/>
          </p:nvPr>
        </p:nvSpPr>
        <p:spPr/>
        <p:txBody>
          <a:bodyPr/>
          <a:lstStyle/>
          <a:p>
            <a:r>
              <a:t>We read GFS because distributed storage is one of the most useful abstractions in distributed systems. Applications can build on a file interface while the storage layer handles placement, replication, failures, and recovery.</a:t>
            </a:r>
            <a:endParaRPr lang="en-US" dirty="0"/>
          </a:p>
          <a:p>
            <a:endParaRPr lang="en-US" dirty="0"/>
          </a:p>
          <a:p>
            <a:r>
              <a:t>The paper also connects several themes from this course. Sharding gives parallel performance. Replication gives fault tolerance, but it creates consistency problems. The designers then choose where to spend coordination cost and where to accept weaker behavior.</a:t>
            </a:r>
            <a:endParaRPr lang="en-US" dirty="0"/>
          </a:p>
          <a:p>
            <a:endParaRPr lang="en-US" dirty="0"/>
          </a:p>
          <a:p>
            <a:r>
              <a:t>This is also a strong systems paper because it connects application workloads to machine-level details. The system succeeded in production, so we can judge the tradeoffs using real experience rather than only a conceptual design.</a:t>
            </a:r>
            <a:endParaRPr lang="en-US" dirty="0"/>
          </a:p>
          <a:p>
            <a:endParaRPr lang="en-US" dirty="0"/>
          </a:p>
          <a:p>
            <a:r>
              <a:t>SOURCE</a:t>
            </a:r>
            <a:endParaRPr lang="en-US" dirty="0"/>
          </a:p>
          <a:p>
            <a:r>
              <a:t>MIT 6.824, Spring 2020, Lecture 3 video, 0:00-5:09.</a:t>
            </a:r>
            <a:endParaRPr lang="en-US" dirty="0"/>
          </a:p>
          <a:p>
            <a:r>
              <a:t>https://www.youtube.com/watch?v=EpIgvowZr00</a:t>
            </a:r>
            <a:endParaRPr lang="en-US" dirty="0"/>
          </a:p>
          <a:p>
            <a:r>
              <a:t>MIT 6.5840, GFS lecture notes.</a:t>
            </a:r>
            <a:endParaRPr lang="en-US" dirty="0"/>
          </a:p>
          <a:p>
            <a:r>
              <a:t>https://pdos.csail.mit.edu/6.824/notes/l-gfs.txt</a:t>
            </a:r>
            <a:endParaRPr lang="en-US" dirty="0"/>
          </a:p>
          <a:p>
            <a:r>
              <a:t>Ghemawat, Gobioff, and Leung, The Google File System, Sections 1, 2, and 6.</a:t>
            </a:r>
            <a:endParaRPr lang="en-US" dirty="0"/>
          </a:p>
          <a:p>
            <a:r>
              <a:t>https://pdos.csail.mit.edu/6.824/papers/gfs.pdf</a:t>
            </a:r>
            <a:endParaRPr lang="en-US" dirty="0"/>
          </a:p>
        </p:txBody>
      </p:sp>
      <p:sp>
        <p:nvSpPr>
          <p:cNvPr id="4" name="Slide Number Placeholder 3">
            <a:extLst>
              <a:ext uri="{FF2B5EF4-FFF2-40B4-BE49-F238E27FC236}">
                <a16:creationId xmlns:a16="http://schemas.microsoft.com/office/drawing/2014/main" id="{2069476A-DD91-FBC3-1B32-A751589B309A}"/>
              </a:ext>
            </a:extLst>
          </p:cNvPr>
          <p:cNvSpPr>
            <a:spLocks noGrp="1"/>
          </p:cNvSpPr>
          <p:nvPr>
            <p:ph type="sldNum" sz="quarter" idx="5"/>
          </p:nvPr>
        </p:nvSpPr>
        <p:spPr/>
        <p:txBody>
          <a:bodyPr/>
          <a:lstStyle/>
          <a:p>
            <a:fld id="{1C9584DC-3658-4054-9DA4-7B68A1D8CC6D}" type="slidenum">
              <a:rPr lang="zh-CN" altLang="en-US" smtClean="0"/>
              <a:t>14</a:t>
            </a:fld>
            <a:endParaRPr lang="zh-CN" altLang="en-US"/>
          </a:p>
        </p:txBody>
      </p:sp>
    </p:spTree>
    <p:extLst>
      <p:ext uri="{BB962C8B-B14F-4D97-AF65-F5344CB8AC3E}">
        <p14:creationId xmlns:p14="http://schemas.microsoft.com/office/powerpoint/2010/main" val="32654974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1FD1D-D796-6965-8901-BA28B6A8BA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12E15F-18CD-384C-E084-D1E9DB5B5B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F1B6B6-B262-EC97-7AB4-2A2F0F304C97}"/>
              </a:ext>
            </a:extLst>
          </p:cNvPr>
          <p:cNvSpPr>
            <a:spLocks noGrp="1"/>
          </p:cNvSpPr>
          <p:nvPr>
            <p:ph type="body" idx="1"/>
          </p:nvPr>
        </p:nvSpPr>
        <p:spPr/>
        <p:txBody>
          <a:bodyPr/>
          <a:lstStyle/>
          <a:p>
            <a:r>
              <a:rPr lang="en-US" dirty="0"/>
              <a:t>Google needed one large shared storage system for crawled pages, search indexes, logs, MapReduce inputs, and later many other services.</a:t>
            </a:r>
          </a:p>
          <a:p>
            <a:endParaRPr lang="en-US" dirty="0"/>
          </a:p>
          <a:p>
            <a:r>
              <a:rPr lang="en-US" dirty="0"/>
              <a:t>The first goal was scale. GFS automatically splits a file across many chunkservers, so a file can exceed the capacity of one disk and many clients can read different chunks in parallel. The second goal was automatic recovery. Losing one commodity machine should not require an operator to reconstruct every affected file by hand.</a:t>
            </a:r>
          </a:p>
          <a:p>
            <a:endParaRPr lang="en-US" dirty="0"/>
          </a:p>
          <a:p>
            <a:r>
              <a:rPr lang="en-US" dirty="0"/>
              <a:t>The shared namespace also matters. One application can produce a data set and another application can consume it without building a separate storage system or copying everything into a new silo.</a:t>
            </a:r>
          </a:p>
          <a:p>
            <a:endParaRPr lang="en-US" dirty="0"/>
          </a:p>
          <a:p>
            <a:r>
              <a:rPr lang="en-US" dirty="0"/>
              <a:t>SOURCE</a:t>
            </a:r>
          </a:p>
          <a:p>
            <a:r>
              <a:rPr lang="en-US" dirty="0"/>
              <a:t>MIT 6.824, Spring 2020, Lecture 3 video, 15:13-20:22.</a:t>
            </a:r>
          </a:p>
          <a:p>
            <a:r>
              <a:rPr lang="en-US" dirty="0"/>
              <a:t>https://www.youtube.com/watch?v=EpIgvowZr00</a:t>
            </a:r>
          </a:p>
          <a:p>
            <a:r>
              <a:rPr lang="en-US" dirty="0"/>
              <a:t>MIT 6.5840, GFS lecture notes.</a:t>
            </a:r>
          </a:p>
          <a:p>
            <a:r>
              <a:rPr lang="en-US" dirty="0"/>
              <a:t>https://pdos.csail.mit.edu/6.824/notes/l-gfs.txt</a:t>
            </a:r>
          </a:p>
          <a:p>
            <a:r>
              <a:rPr lang="en-US" dirty="0"/>
              <a:t>Ghemawat, Gobioff, and Leung, The Google File System, Sections 1, 2.1, and 2.3.</a:t>
            </a:r>
          </a:p>
          <a:p>
            <a:r>
              <a:rPr lang="en-US" dirty="0"/>
              <a:t>https://pdos.csail.mit.edu/6.824/papers/gfs.pdf</a:t>
            </a:r>
          </a:p>
        </p:txBody>
      </p:sp>
      <p:sp>
        <p:nvSpPr>
          <p:cNvPr id="4" name="Slide Number Placeholder 3">
            <a:extLst>
              <a:ext uri="{FF2B5EF4-FFF2-40B4-BE49-F238E27FC236}">
                <a16:creationId xmlns:a16="http://schemas.microsoft.com/office/drawing/2014/main" id="{9CD163E9-153E-1ED7-2B1D-97200CB2C836}"/>
              </a:ext>
            </a:extLst>
          </p:cNvPr>
          <p:cNvSpPr>
            <a:spLocks noGrp="1"/>
          </p:cNvSpPr>
          <p:nvPr>
            <p:ph type="sldNum" sz="quarter" idx="5"/>
          </p:nvPr>
        </p:nvSpPr>
        <p:spPr/>
        <p:txBody>
          <a:bodyPr/>
          <a:lstStyle/>
          <a:p>
            <a:fld id="{1C9584DC-3658-4054-9DA4-7B68A1D8CC6D}" type="slidenum">
              <a:rPr lang="zh-CN" altLang="en-US" smtClean="0"/>
              <a:t>15</a:t>
            </a:fld>
            <a:endParaRPr lang="zh-CN" altLang="en-US"/>
          </a:p>
        </p:txBody>
      </p:sp>
    </p:spTree>
    <p:extLst>
      <p:ext uri="{BB962C8B-B14F-4D97-AF65-F5344CB8AC3E}">
        <p14:creationId xmlns:p14="http://schemas.microsoft.com/office/powerpoint/2010/main" val="19434829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BB8B7-6C3A-826B-BEDC-11B455E4E5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59D6B3-B338-2117-3D33-BCA332753A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01A163-C2DA-77C8-7422-DB4C8C9F21C5}"/>
              </a:ext>
            </a:extLst>
          </p:cNvPr>
          <p:cNvSpPr>
            <a:spLocks noGrp="1"/>
          </p:cNvSpPr>
          <p:nvPr>
            <p:ph type="body" idx="1"/>
          </p:nvPr>
        </p:nvSpPr>
        <p:spPr/>
        <p:txBody>
          <a:bodyPr/>
          <a:lstStyle/>
          <a:p>
            <a:r>
              <a:t>LIVE DEMO, about 7 minutes.</a:t>
            </a:r>
            <a:endParaRPr lang="en-US"/>
          </a:p>
          <a:p>
            <a:r>
              <a:t>In a terminal: cd ~/work/BU/teaching/ec528/fall2026/lectures/demo/hdfs-gfs &amp;&amp; bash demo-hdfs.sh</a:t>
            </a:r>
            <a:endParaRPr lang="en-US"/>
          </a:p>
          <a:p>
            <a:r>
              <a:t>Seven steps; press Enter between them. Rehearsed 09/15: 51 seconds unattended with a clean teardown. Talking points for each step are in README.md in that folder, and fallback-hdfs-demo.txt has the expected output if the live run breaks.</a:t>
            </a:r>
            <a:endParaRPr lang="en-US"/>
          </a:p>
          <a:p>
            <a:r>
              <a:t>Say the vocabulary out loud as it appears: NameNode is the master, DataNode is a chunkserver, block is a chunk. Block size is 16 MB and replication is 2 here, against 64 MB and 3 in the paper, so that a 100 MB file splits into something readable on screen.</a:t>
            </a:r>
            <a:endParaRPr lang="en-US"/>
          </a:p>
          <a:p>
            <a:r>
              <a:t>Step 6 has a wait of roughly 30 seconds: after one DataNode is killed the replica count sits at 9 while the master waits out missed heartbeats, then jumps to 14. That pause is the point, not a hang - it is the same detection trade-off as the lease timeout later in the lecture. Talk through the goal slide while it runs.</a:t>
            </a:r>
            <a:endParaRPr lang="en-US"/>
          </a:p>
          <a:p>
            <a:r>
              <a:t>Key line to land: this is the shape of the paper - one master for names and locations, many chunkservers for the data, fixed-size chunks, replicas, and automatic re-replication after a failure. The rest of the lecture is how the paper makes that correct as well as fast.</a:t>
            </a:r>
            <a:endParaRPr lang="en-US"/>
          </a:p>
          <a:p>
            <a:r>
              <a:t>SOURCE</a:t>
            </a:r>
            <a:endParaRPr lang="en-US"/>
          </a:p>
          <a:p>
            <a:r>
              <a:t>Local demo: fall2026/lectures/demo/hdfs-gfs/README.md (Hadoop 3.5.0).</a:t>
            </a:r>
            <a:endParaRPr lang="en-US"/>
          </a:p>
          <a:p>
            <a:r>
              <a:t>Ghemawat, Gobioff, and Leung, The Google File System, Sections 2.1-2.5.</a:t>
            </a:r>
            <a:endParaRPr lang="en-US"/>
          </a:p>
          <a:p>
            <a:r>
              <a:t>https://pdos.csail.mit.edu/6.824/papers/gfs.pdf</a:t>
            </a:r>
            <a:endParaRPr lang="en-US"/>
          </a:p>
        </p:txBody>
      </p:sp>
      <p:sp>
        <p:nvSpPr>
          <p:cNvPr id="4" name="Slide Number Placeholder 3">
            <a:extLst>
              <a:ext uri="{FF2B5EF4-FFF2-40B4-BE49-F238E27FC236}">
                <a16:creationId xmlns:a16="http://schemas.microsoft.com/office/drawing/2014/main" id="{09D73A9A-D881-2613-9D53-6BBD01037D23}"/>
              </a:ext>
            </a:extLst>
          </p:cNvPr>
          <p:cNvSpPr>
            <a:spLocks noGrp="1"/>
          </p:cNvSpPr>
          <p:nvPr>
            <p:ph type="sldNum" sz="quarter" idx="5"/>
          </p:nvPr>
        </p:nvSpPr>
        <p:spPr/>
        <p:txBody>
          <a:bodyPr/>
          <a:lstStyle/>
          <a:p>
            <a:fld id="{1C9584DC-3658-4054-9DA4-7B68A1D8CC6D}" type="slidenum">
              <a:rPr lang="zh-CN" altLang="en-US" smtClean="0"/>
              <a:t>16</a:t>
            </a:fld>
            <a:endParaRPr lang="zh-CN" altLang="en-US"/>
          </a:p>
        </p:txBody>
      </p:sp>
    </p:spTree>
    <p:extLst>
      <p:ext uri="{BB962C8B-B14F-4D97-AF65-F5344CB8AC3E}">
        <p14:creationId xmlns:p14="http://schemas.microsoft.com/office/powerpoint/2010/main" val="33545237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07305-DF4E-A6F8-F2A2-17B8D7640F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C5DA89-110B-F02F-D7AE-1E3FA01AED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0A9E07-475C-1777-8D7B-534AC6D8ADEF}"/>
              </a:ext>
            </a:extLst>
          </p:cNvPr>
          <p:cNvSpPr>
            <a:spLocks noGrp="1"/>
          </p:cNvSpPr>
          <p:nvPr>
            <p:ph type="body" idx="1"/>
          </p:nvPr>
        </p:nvSpPr>
        <p:spPr/>
        <p:txBody>
          <a:bodyPr/>
          <a:lstStyle/>
          <a:p>
            <a:r>
              <a:t>CUES</a:t>
            </a:r>
            <a:endParaRPr lang="en-US" dirty="0"/>
          </a:p>
          <a:p>
            <a:r>
              <a:t>One data center</a:t>
            </a:r>
            <a:endParaRPr lang="en-US" dirty="0"/>
          </a:p>
          <a:p>
            <a:r>
              <a:t>Internal Google applications</a:t>
            </a:r>
            <a:endParaRPr lang="en-US" dirty="0"/>
          </a:p>
          <a:p>
            <a:r>
              <a:t>Huge files and streaming access</a:t>
            </a:r>
            <a:endParaRPr lang="en-US" dirty="0"/>
          </a:p>
          <a:p>
            <a:r>
              <a:t>Append-heavy mutations</a:t>
            </a:r>
            <a:endParaRPr lang="en-US" dirty="0"/>
          </a:p>
          <a:p>
            <a:r>
              <a:t>Throughput over latency</a:t>
            </a:r>
            <a:endParaRPr lang="en-US" dirty="0"/>
          </a:p>
          <a:p>
            <a:endParaRPr lang="en-US" dirty="0"/>
          </a:p>
          <a:p>
            <a:r>
              <a:t>GFS targets one data center, rather than replicas distributed around the world. Its clients are internal Google applications written by engineers who know the file system's behavior.</a:t>
            </a:r>
            <a:endParaRPr lang="en-US" dirty="0"/>
          </a:p>
          <a:p>
            <a:endParaRPr lang="en-US" dirty="0"/>
          </a:p>
          <a:p>
            <a:r>
              <a:t>The paper's precise workload assumption is large streaming reads plus some small random reads. Writes are mainly large sequential appends. Small writes at arbitrary offsets remain possible, but GFS does not optimize for them.</a:t>
            </a:r>
            <a:endParaRPr lang="en-US" dirty="0"/>
          </a:p>
          <a:p>
            <a:endParaRPr lang="en-US" dirty="0"/>
          </a:p>
          <a:p>
            <a:r>
              <a:t>This makes GFS a poor match for a low-latency transactional database with many tiny records. It is designed for bulk data processing where sustained bandwidth matters more than the latency of one operation.</a:t>
            </a:r>
            <a:endParaRPr lang="en-US" dirty="0"/>
          </a:p>
          <a:p>
            <a:endParaRPr lang="en-US" dirty="0"/>
          </a:p>
          <a:p>
            <a:r>
              <a:t>SOURCE</a:t>
            </a:r>
            <a:endParaRPr lang="en-US" dirty="0"/>
          </a:p>
          <a:p>
            <a:r>
              <a:t>MIT 6.824, Spring 2020, Lecture 3 video, 15:13-20:22.</a:t>
            </a:r>
            <a:endParaRPr lang="en-US" dirty="0"/>
          </a:p>
          <a:p>
            <a:r>
              <a:t>https://www.youtube.com/watch?v=EpIgvowZr00</a:t>
            </a:r>
            <a:endParaRPr lang="en-US" dirty="0"/>
          </a:p>
          <a:p>
            <a:r>
              <a:t>MIT 6.5840, GFS lecture notes.</a:t>
            </a:r>
            <a:endParaRPr lang="en-US" dirty="0"/>
          </a:p>
          <a:p>
            <a:r>
              <a:t>https://pdos.csail.mit.edu/6.824/notes/l-gfs.txt</a:t>
            </a:r>
            <a:endParaRPr lang="en-US" dirty="0"/>
          </a:p>
          <a:p>
            <a:r>
              <a:t>Ghemawat, Gobioff, and Leung, The Google File System, Sections 1 and 2.1.</a:t>
            </a:r>
            <a:endParaRPr lang="en-US" dirty="0"/>
          </a:p>
          <a:p>
            <a:r>
              <a:t>https://pdos.csail.mit.edu/6.824/papers/gfs.pdf</a:t>
            </a:r>
            <a:endParaRPr lang="en-US" dirty="0"/>
          </a:p>
        </p:txBody>
      </p:sp>
      <p:sp>
        <p:nvSpPr>
          <p:cNvPr id="4" name="Slide Number Placeholder 3">
            <a:extLst>
              <a:ext uri="{FF2B5EF4-FFF2-40B4-BE49-F238E27FC236}">
                <a16:creationId xmlns:a16="http://schemas.microsoft.com/office/drawing/2014/main" id="{42ECC76C-7CE7-C58A-1EBE-1940C2ECA583}"/>
              </a:ext>
            </a:extLst>
          </p:cNvPr>
          <p:cNvSpPr>
            <a:spLocks noGrp="1"/>
          </p:cNvSpPr>
          <p:nvPr>
            <p:ph type="sldNum" sz="quarter" idx="5"/>
          </p:nvPr>
        </p:nvSpPr>
        <p:spPr/>
        <p:txBody>
          <a:bodyPr/>
          <a:lstStyle/>
          <a:p>
            <a:fld id="{1C9584DC-3658-4054-9DA4-7B68A1D8CC6D}" type="slidenum">
              <a:rPr lang="zh-CN" altLang="en-US" smtClean="0"/>
              <a:t>17</a:t>
            </a:fld>
            <a:endParaRPr lang="zh-CN" altLang="en-US"/>
          </a:p>
        </p:txBody>
      </p:sp>
    </p:spTree>
    <p:extLst>
      <p:ext uri="{BB962C8B-B14F-4D97-AF65-F5344CB8AC3E}">
        <p14:creationId xmlns:p14="http://schemas.microsoft.com/office/powerpoint/2010/main" val="18482371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96688-AA5D-D826-C009-5CF1269C9D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4AC404-2431-6075-00E3-3EA2F32026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824043-9947-20E7-F01F-B8DFFD74B736}"/>
              </a:ext>
            </a:extLst>
          </p:cNvPr>
          <p:cNvSpPr>
            <a:spLocks noGrp="1"/>
          </p:cNvSpPr>
          <p:nvPr>
            <p:ph type="body" idx="1"/>
          </p:nvPr>
        </p:nvSpPr>
        <p:spPr/>
        <p:txBody>
          <a:bodyPr/>
          <a:lstStyle/>
          <a:p>
            <a:r>
              <a:t>The paper's contribution is the complete design and the evidence that its tradeoffs worked at unprecedented production scale.</a:t>
            </a:r>
            <a:endParaRPr lang="en-US" dirty="0"/>
          </a:p>
          <a:p>
            <a:endParaRPr lang="en-US" dirty="0"/>
          </a:p>
          <a:p>
            <a:r>
              <a:t>Sharding, replication, and fault tolerance already existed. GFS combines them for clusters with hundreds of chunkservers and for applications that process multi-gigabyte files. The paper reports operational experience, not only a prototype.</a:t>
            </a:r>
            <a:endParaRPr lang="en-US" dirty="0"/>
          </a:p>
          <a:p>
            <a:endParaRPr lang="en-US" dirty="0"/>
          </a:p>
          <a:p>
            <a:r>
              <a:t>Two choices were especially provocative. GFS uses one master for metadata and accepts a relaxed consistency model. Both choices simplify the design. They work because the master stays out of the data path and because Google controls the applications that consume the data.</a:t>
            </a:r>
            <a:endParaRPr lang="en-US" dirty="0"/>
          </a:p>
          <a:p>
            <a:endParaRPr lang="en-US" dirty="0"/>
          </a:p>
          <a:p>
            <a:r>
              <a:t>SOURCE</a:t>
            </a:r>
            <a:endParaRPr lang="en-US" dirty="0"/>
          </a:p>
          <a:p>
            <a:r>
              <a:t>MIT 6.824, Spring 2020, Lecture 3 video, 20:22-25:23.</a:t>
            </a:r>
            <a:endParaRPr lang="en-US" dirty="0"/>
          </a:p>
          <a:p>
            <a:r>
              <a:t>https://www.youtube.com/watch?v=EpIgvowZr00</a:t>
            </a:r>
            <a:endParaRPr lang="en-US" dirty="0"/>
          </a:p>
          <a:p>
            <a:r>
              <a:t>MIT 6.5840, GFS lecture notes.</a:t>
            </a:r>
            <a:endParaRPr lang="en-US" dirty="0"/>
          </a:p>
          <a:p>
            <a:r>
              <a:t>https://pdos.csail.mit.edu/6.824/notes/l-gfs.txt</a:t>
            </a:r>
            <a:endParaRPr lang="en-US" dirty="0"/>
          </a:p>
          <a:p>
            <a:r>
              <a:t>Ghemawat, Gobioff, and Leung, The Google File System, Sections 1, 2.4, 2.7, and 6.</a:t>
            </a:r>
            <a:endParaRPr lang="en-US" dirty="0"/>
          </a:p>
          <a:p>
            <a:r>
              <a:t>https://pdos.csail.mit.edu/6.824/papers/gfs.pdf</a:t>
            </a:r>
            <a:endParaRPr lang="en-US" dirty="0"/>
          </a:p>
        </p:txBody>
      </p:sp>
      <p:sp>
        <p:nvSpPr>
          <p:cNvPr id="4" name="Slide Number Placeholder 3">
            <a:extLst>
              <a:ext uri="{FF2B5EF4-FFF2-40B4-BE49-F238E27FC236}">
                <a16:creationId xmlns:a16="http://schemas.microsoft.com/office/drawing/2014/main" id="{B46CE21D-8478-5098-7773-3E65E0798B0F}"/>
              </a:ext>
            </a:extLst>
          </p:cNvPr>
          <p:cNvSpPr>
            <a:spLocks noGrp="1"/>
          </p:cNvSpPr>
          <p:nvPr>
            <p:ph type="sldNum" sz="quarter" idx="5"/>
          </p:nvPr>
        </p:nvSpPr>
        <p:spPr/>
        <p:txBody>
          <a:bodyPr/>
          <a:lstStyle/>
          <a:p>
            <a:fld id="{1C9584DC-3658-4054-9DA4-7B68A1D8CC6D}" type="slidenum">
              <a:rPr lang="zh-CN" altLang="en-US" smtClean="0"/>
              <a:t>18</a:t>
            </a:fld>
            <a:endParaRPr lang="zh-CN" altLang="en-US"/>
          </a:p>
        </p:txBody>
      </p:sp>
    </p:spTree>
    <p:extLst>
      <p:ext uri="{BB962C8B-B14F-4D97-AF65-F5344CB8AC3E}">
        <p14:creationId xmlns:p14="http://schemas.microsoft.com/office/powerpoint/2010/main" val="30884713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5EC9D-A496-0076-E5E9-1AC3089FF9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75D8C2-7CC9-2865-D19E-B429D664B0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624639-F51D-4827-5F83-20793FD7BC9E}"/>
              </a:ext>
            </a:extLst>
          </p:cNvPr>
          <p:cNvSpPr>
            <a:spLocks noGrp="1"/>
          </p:cNvSpPr>
          <p:nvPr>
            <p:ph type="body" idx="1"/>
          </p:nvPr>
        </p:nvSpPr>
        <p:spPr/>
        <p:txBody>
          <a:bodyPr/>
          <a:lstStyle/>
          <a:p>
            <a:pPr marL="342900" indent="-342900">
              <a:buFont typeface="Arial" panose="020B0604020202020204" pitchFamily="34" charset="0"/>
              <a:buChar char="•"/>
            </a:pPr>
            <a:r>
              <a:rPr lang="en-US" sz="1200" dirty="0"/>
              <a:t>We now move from motivation to architecture.</a:t>
            </a:r>
          </a:p>
          <a:p>
            <a:pPr marL="342900" indent="-342900">
              <a:buFont typeface="Arial" panose="020B0604020202020204" pitchFamily="34" charset="0"/>
              <a:buChar char="•"/>
            </a:pPr>
            <a:endParaRPr lang="en-US" sz="1200" dirty="0"/>
          </a:p>
          <a:p>
            <a:pPr marL="342900" indent="-342900">
              <a:buFont typeface="Arial" panose="020B0604020202020204" pitchFamily="34" charset="0"/>
              <a:buChar char="•"/>
            </a:pPr>
            <a:r>
              <a:rPr lang="en-US" sz="1200" dirty="0"/>
              <a:t>GFS runs as user-level processes on commodity Linux machines. One master manages metadata and coordinates system-wide decisions. Many chunkservers store the actual file data. Clients link against a GFS library that talks to both roles.</a:t>
            </a:r>
          </a:p>
          <a:p>
            <a:pPr marL="342900" indent="-342900">
              <a:buFont typeface="Arial" panose="020B0604020202020204" pitchFamily="34" charset="0"/>
              <a:buChar char="•"/>
            </a:pPr>
            <a:endParaRPr lang="en-US" sz="1200" dirty="0"/>
          </a:p>
          <a:p>
            <a:pPr marL="342900" indent="-342900">
              <a:buFont typeface="Arial" panose="020B0604020202020204" pitchFamily="34" charset="0"/>
              <a:buChar char="•"/>
            </a:pPr>
            <a:r>
              <a:rPr lang="en-US" sz="1200" dirty="0"/>
              <a:t>The key separation is control versus data. The master answers questions about names, chunk handles, replicas, and leases. Clients transfer file data directly to chunkservers.</a:t>
            </a:r>
          </a:p>
          <a:p>
            <a:pPr marL="342900" indent="-342900">
              <a:buFont typeface="Arial" panose="020B0604020202020204" pitchFamily="34" charset="0"/>
              <a:buChar char="•"/>
            </a:pPr>
            <a:endParaRPr lang="en-US" sz="1200" dirty="0"/>
          </a:p>
          <a:p>
            <a:pPr marL="342900" indent="-342900">
              <a:buFont typeface="Arial" panose="020B0604020202020204" pitchFamily="34" charset="0"/>
              <a:buChar char="•"/>
            </a:pPr>
            <a:r>
              <a:rPr lang="en-US" sz="1200" dirty="0"/>
              <a:t>SOURCE</a:t>
            </a:r>
          </a:p>
          <a:p>
            <a:pPr marL="342900" indent="-342900">
              <a:buFont typeface="Arial" panose="020B0604020202020204" pitchFamily="34" charset="0"/>
              <a:buChar char="•"/>
            </a:pPr>
            <a:r>
              <a:rPr lang="en-US" sz="1200" dirty="0"/>
              <a:t>MIT 6.824, Spring 2020, Lecture 3 video, 20:22-25:23.</a:t>
            </a:r>
          </a:p>
          <a:p>
            <a:pPr marL="342900" indent="-342900">
              <a:buFont typeface="Arial" panose="020B0604020202020204" pitchFamily="34" charset="0"/>
              <a:buChar char="•"/>
            </a:pPr>
            <a:r>
              <a:rPr lang="en-US" sz="1200" dirty="0"/>
              <a:t>https://www.youtube.com/watch?v=EpIgvowZr00</a:t>
            </a:r>
          </a:p>
          <a:p>
            <a:pPr marL="342900" indent="-342900">
              <a:buFont typeface="Arial" panose="020B0604020202020204" pitchFamily="34" charset="0"/>
              <a:buChar char="•"/>
            </a:pPr>
            <a:r>
              <a:rPr lang="en-US" sz="1200" dirty="0"/>
              <a:t>MIT 6.5840, GFS lecture notes.</a:t>
            </a:r>
          </a:p>
          <a:p>
            <a:pPr marL="342900" indent="-342900">
              <a:buFont typeface="Arial" panose="020B0604020202020204" pitchFamily="34" charset="0"/>
              <a:buChar char="•"/>
            </a:pPr>
            <a:r>
              <a:rPr lang="en-US" sz="1200" dirty="0"/>
              <a:t>https://pdos.csail.mit.edu/6.824/notes/l-gfs.txt</a:t>
            </a:r>
          </a:p>
          <a:p>
            <a:pPr marL="342900" indent="-342900">
              <a:buFont typeface="Arial" panose="020B0604020202020204" pitchFamily="34" charset="0"/>
              <a:buChar char="•"/>
            </a:pPr>
            <a:r>
              <a:rPr lang="en-US" sz="1200" dirty="0"/>
              <a:t>Ghemawat, Gobioff, and Leung, The Google File System, Section 2.3.</a:t>
            </a:r>
          </a:p>
          <a:p>
            <a:pPr marL="342900" indent="-342900">
              <a:buFont typeface="Arial" panose="020B0604020202020204" pitchFamily="34" charset="0"/>
              <a:buChar char="•"/>
            </a:pPr>
            <a:r>
              <a:rPr lang="en-US" sz="1200" dirty="0"/>
              <a:t>https://pdos.csail.mit.edu/6.824/papers/gfs.pdf</a:t>
            </a:r>
          </a:p>
        </p:txBody>
      </p:sp>
      <p:sp>
        <p:nvSpPr>
          <p:cNvPr id="4" name="Slide Number Placeholder 3">
            <a:extLst>
              <a:ext uri="{FF2B5EF4-FFF2-40B4-BE49-F238E27FC236}">
                <a16:creationId xmlns:a16="http://schemas.microsoft.com/office/drawing/2014/main" id="{08DD17C7-F5D6-E241-97FE-B524537D4F9E}"/>
              </a:ext>
            </a:extLst>
          </p:cNvPr>
          <p:cNvSpPr>
            <a:spLocks noGrp="1"/>
          </p:cNvSpPr>
          <p:nvPr>
            <p:ph type="sldNum" sz="quarter" idx="5"/>
          </p:nvPr>
        </p:nvSpPr>
        <p:spPr/>
        <p:txBody>
          <a:bodyPr/>
          <a:lstStyle/>
          <a:p>
            <a:fld id="{1C9584DC-3658-4054-9DA4-7B68A1D8CC6D}" type="slidenum">
              <a:rPr lang="zh-CN" altLang="en-US" smtClean="0"/>
              <a:t>19</a:t>
            </a:fld>
            <a:endParaRPr lang="zh-CN" altLang="en-US"/>
          </a:p>
        </p:txBody>
      </p:sp>
    </p:spTree>
    <p:extLst>
      <p:ext uri="{BB962C8B-B14F-4D97-AF65-F5344CB8AC3E}">
        <p14:creationId xmlns:p14="http://schemas.microsoft.com/office/powerpoint/2010/main" val="37663578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21D75-5A7F-4754-C597-FD6471ACA9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F5248B-2775-98F8-E3B5-ABDBFF54C3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AAE112-C58A-04B6-01EA-CB05A5FFBCAD}"/>
              </a:ext>
            </a:extLst>
          </p:cNvPr>
          <p:cNvSpPr>
            <a:spLocks noGrp="1"/>
          </p:cNvSpPr>
          <p:nvPr>
            <p:ph type="body" idx="1"/>
          </p:nvPr>
        </p:nvSpPr>
        <p:spPr/>
        <p:txBody>
          <a:bodyPr/>
          <a:lstStyle/>
          <a:p>
            <a:r>
              <a:t>CUES</a:t>
            </a:r>
            <a:endParaRPr lang="en-US" dirty="0"/>
          </a:p>
          <a:p>
            <a:r>
              <a:t>Files become 64 MB chunks</a:t>
            </a:r>
            <a:endParaRPr lang="en-US" dirty="0"/>
          </a:p>
          <a:p>
            <a:r>
              <a:t>Three replicas by default</a:t>
            </a:r>
            <a:endParaRPr lang="en-US" dirty="0"/>
          </a:p>
          <a:p>
            <a:r>
              <a:t>Master manages metadata</a:t>
            </a:r>
            <a:endParaRPr lang="en-US" dirty="0"/>
          </a:p>
          <a:p>
            <a:r>
              <a:t>Clients transfer data directly with chunkservers</a:t>
            </a:r>
            <a:endParaRPr lang="en-US" dirty="0"/>
          </a:p>
          <a:p>
            <a:endParaRPr lang="en-US" dirty="0"/>
          </a:p>
          <a:p>
            <a:r>
              <a:t>A file is divided into fixed-size chunks, typically 64 megabytes. The master assigns each chunk a unique handle. Chunkservers store each chunk as an ordinary Linux file on local disk.</a:t>
            </a:r>
            <a:endParaRPr lang="en-US" dirty="0"/>
          </a:p>
          <a:p>
            <a:endParaRPr lang="en-US" dirty="0"/>
          </a:p>
          <a:p>
            <a:r>
              <a:t>GFS normally keeps three replicas of every chunk. Replicas improve durability and availability, and they allow clients to choose a nearby server for reads.</a:t>
            </a:r>
            <a:endParaRPr lang="en-US" dirty="0"/>
          </a:p>
          <a:p>
            <a:endParaRPr lang="en-US" dirty="0"/>
          </a:p>
          <a:p>
            <a:r>
              <a:t>The client asks the master for metadata, such as the chunk handle and replica locations. The client then reads or writes data directly with chunkservers. Because file data never passes through the master, many clients can transfer different chunks in parallel without turning the master into the main bandwidth bottleneck.</a:t>
            </a:r>
            <a:endParaRPr lang="en-US" dirty="0"/>
          </a:p>
          <a:p>
            <a:endParaRPr lang="en-US" dirty="0"/>
          </a:p>
          <a:p>
            <a:r>
              <a:t>SOURCE</a:t>
            </a:r>
            <a:endParaRPr lang="en-US" dirty="0"/>
          </a:p>
          <a:p>
            <a:r>
              <a:t>MIT 6.824, Spring 2020, Lecture 3 video, 20:22-25:23.</a:t>
            </a:r>
            <a:endParaRPr lang="en-US" dirty="0"/>
          </a:p>
          <a:p>
            <a:r>
              <a:t>https://www.youtube.com/watch?v=EpIgvowZr00</a:t>
            </a:r>
            <a:endParaRPr lang="en-US" dirty="0"/>
          </a:p>
          <a:p>
            <a:r>
              <a:t>MIT 6.5840, GFS lecture notes.</a:t>
            </a:r>
            <a:endParaRPr lang="en-US" dirty="0"/>
          </a:p>
          <a:p>
            <a:r>
              <a:t>https://pdos.csail.mit.edu/6.824/notes/l-gfs.txt</a:t>
            </a:r>
            <a:endParaRPr lang="en-US" dirty="0"/>
          </a:p>
          <a:p>
            <a:r>
              <a:t>Ghemawat, Gobioff, and Leung, The Google File System, Sections 2.3 and 2.4.</a:t>
            </a:r>
            <a:endParaRPr lang="en-US" dirty="0"/>
          </a:p>
          <a:p>
            <a:r>
              <a:t>https://pdos.csail.mit.edu/6.824/papers/gfs.pdf</a:t>
            </a:r>
            <a:endParaRPr lang="en-US" dirty="0"/>
          </a:p>
        </p:txBody>
      </p:sp>
      <p:sp>
        <p:nvSpPr>
          <p:cNvPr id="4" name="Slide Number Placeholder 3">
            <a:extLst>
              <a:ext uri="{FF2B5EF4-FFF2-40B4-BE49-F238E27FC236}">
                <a16:creationId xmlns:a16="http://schemas.microsoft.com/office/drawing/2014/main" id="{870ED85B-0C6F-C719-DF64-674321EC9989}"/>
              </a:ext>
            </a:extLst>
          </p:cNvPr>
          <p:cNvSpPr>
            <a:spLocks noGrp="1"/>
          </p:cNvSpPr>
          <p:nvPr>
            <p:ph type="sldNum" sz="quarter" idx="5"/>
          </p:nvPr>
        </p:nvSpPr>
        <p:spPr/>
        <p:txBody>
          <a:bodyPr/>
          <a:lstStyle/>
          <a:p>
            <a:fld id="{1C9584DC-3658-4054-9DA4-7B68A1D8CC6D}" type="slidenum">
              <a:rPr lang="zh-CN" altLang="en-US" smtClean="0"/>
              <a:t>20</a:t>
            </a:fld>
            <a:endParaRPr lang="zh-CN" altLang="en-US"/>
          </a:p>
        </p:txBody>
      </p:sp>
    </p:spTree>
    <p:extLst>
      <p:ext uri="{BB962C8B-B14F-4D97-AF65-F5344CB8AC3E}">
        <p14:creationId xmlns:p14="http://schemas.microsoft.com/office/powerpoint/2010/main" val="13221742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4BF34-ABCA-9E59-9BA0-6C11D89683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042908-54FE-228F-F55D-780DF5D487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E96EF8-1F93-66B5-3C07-301167CA6369}"/>
              </a:ext>
            </a:extLst>
          </p:cNvPr>
          <p:cNvSpPr>
            <a:spLocks noGrp="1"/>
          </p:cNvSpPr>
          <p:nvPr>
            <p:ph type="body" idx="1"/>
          </p:nvPr>
        </p:nvSpPr>
        <p:spPr/>
        <p:txBody>
          <a:bodyPr/>
          <a:lstStyle/>
          <a:p>
            <a:r>
              <a:rPr lang="en-US" dirty="0"/>
              <a:t>CUES</a:t>
            </a:r>
          </a:p>
          <a:p>
            <a:r>
              <a:rPr lang="en-US" dirty="0"/>
              <a:t>Global placement decisions</a:t>
            </a:r>
          </a:p>
          <a:p>
            <a:r>
              <a:rPr lang="en-US" dirty="0"/>
              <a:t>Namespace and chunk metadata</a:t>
            </a:r>
          </a:p>
          <a:p>
            <a:r>
              <a:rPr lang="en-US" dirty="0"/>
              <a:t>Replication, migration, and garbage collection</a:t>
            </a:r>
          </a:p>
          <a:p>
            <a:r>
              <a:rPr lang="en-US" dirty="0"/>
              <a:t>Operation log and checkpoints</a:t>
            </a:r>
          </a:p>
          <a:p>
            <a:r>
              <a:rPr lang="en-US" dirty="0"/>
              <a:t>Shadow masters and external monitoring</a:t>
            </a:r>
          </a:p>
          <a:p>
            <a:endParaRPr lang="en-US" dirty="0"/>
          </a:p>
          <a:p>
            <a:r>
              <a:rPr lang="en-US" dirty="0"/>
              <a:t>The single master gives GFS one place with global knowledge. It manages the namespace and the mapping from files to chunks. For every chunk, it tracks the current version and learns which chunkservers hold replicas.</a:t>
            </a:r>
          </a:p>
          <a:p>
            <a:endParaRPr lang="en-US" dirty="0"/>
          </a:p>
          <a:p>
            <a:r>
              <a:rPr lang="en-US" dirty="0"/>
              <a:t>That global view lets the master choose locations for new chunks, spread replicas across machines and racks, move chunks for load balance, create replacement replicas after failures, and garbage-collect abandoned chunks.</a:t>
            </a:r>
          </a:p>
          <a:p>
            <a:endParaRPr lang="en-US" dirty="0"/>
          </a:p>
          <a:p>
            <a:r>
              <a:rPr lang="en-US" dirty="0"/>
              <a:t>The master is a critical component, so GFS keeps its persistent metadata in a replicated operation log and periodically creates checkpoints. Shadow masters can provide limited read access, while monitoring infrastructure can restart or replace the primary master. The original design did not provide instant automatic master failover.</a:t>
            </a:r>
          </a:p>
          <a:p>
            <a:endParaRPr lang="en-US" dirty="0"/>
          </a:p>
          <a:p>
            <a:r>
              <a:rPr lang="en-US" dirty="0"/>
              <a:t>SOURCE</a:t>
            </a:r>
          </a:p>
          <a:p>
            <a:r>
              <a:rPr lang="en-US" dirty="0"/>
              <a:t>MIT 6.824, Spring 2020, Lecture 3 video, 25:23-30:24.</a:t>
            </a:r>
          </a:p>
          <a:p>
            <a:r>
              <a:rPr lang="en-US" dirty="0"/>
              <a:t>https://www.youtube.com/watch?v=EpIgvowZr00</a:t>
            </a:r>
          </a:p>
          <a:p>
            <a:r>
              <a:rPr lang="en-US" dirty="0"/>
              <a:t>MIT 6.5840, GFS lecture notes.</a:t>
            </a:r>
          </a:p>
          <a:p>
            <a:r>
              <a:rPr lang="en-US" dirty="0"/>
              <a:t>https://pdos.csail.mit.edu/6.824/notes/l-gfs.txt</a:t>
            </a:r>
          </a:p>
          <a:p>
            <a:r>
              <a:rPr lang="en-US" dirty="0"/>
              <a:t>Ghemawat, Gobioff, and Leung, The Google File System, Sections 2.3, 2.6, 4.1, 4.3, and 5.1.</a:t>
            </a:r>
          </a:p>
          <a:p>
            <a:r>
              <a:rPr lang="en-US" dirty="0"/>
              <a:t>https://pdos.csail.mit.edu/6.824/papers/gfs.pdf</a:t>
            </a:r>
          </a:p>
        </p:txBody>
      </p:sp>
      <p:sp>
        <p:nvSpPr>
          <p:cNvPr id="4" name="Slide Number Placeholder 3">
            <a:extLst>
              <a:ext uri="{FF2B5EF4-FFF2-40B4-BE49-F238E27FC236}">
                <a16:creationId xmlns:a16="http://schemas.microsoft.com/office/drawing/2014/main" id="{598EC296-D952-4467-D6EE-59B7F3E2CEE5}"/>
              </a:ext>
            </a:extLst>
          </p:cNvPr>
          <p:cNvSpPr>
            <a:spLocks noGrp="1"/>
          </p:cNvSpPr>
          <p:nvPr>
            <p:ph type="sldNum" sz="quarter" idx="5"/>
          </p:nvPr>
        </p:nvSpPr>
        <p:spPr/>
        <p:txBody>
          <a:bodyPr/>
          <a:lstStyle/>
          <a:p>
            <a:fld id="{1C9584DC-3658-4054-9DA4-7B68A1D8CC6D}" type="slidenum">
              <a:rPr lang="zh-CN" altLang="en-US" smtClean="0"/>
              <a:t>21</a:t>
            </a:fld>
            <a:endParaRPr lang="zh-CN" altLang="en-US"/>
          </a:p>
        </p:txBody>
      </p:sp>
    </p:spTree>
    <p:extLst>
      <p:ext uri="{BB962C8B-B14F-4D97-AF65-F5344CB8AC3E}">
        <p14:creationId xmlns:p14="http://schemas.microsoft.com/office/powerpoint/2010/main" val="10334560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70219-D7E1-5877-06D6-11CB3D5BAA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9A574D-2C7A-5667-9FC9-D21C525E5F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EF847E-5B0A-DFD1-3E16-140AC925DA0C}"/>
              </a:ext>
            </a:extLst>
          </p:cNvPr>
          <p:cNvSpPr>
            <a:spLocks noGrp="1"/>
          </p:cNvSpPr>
          <p:nvPr>
            <p:ph type="body" idx="1"/>
          </p:nvPr>
        </p:nvSpPr>
        <p:spPr/>
        <p:txBody>
          <a:bodyPr/>
          <a:lstStyle/>
          <a:p>
            <a:r>
              <a:rPr lang="en-US" dirty="0"/>
              <a:t>CUES</a:t>
            </a:r>
          </a:p>
          <a:p>
            <a:r>
              <a:rPr lang="en-US" dirty="0"/>
              <a:t>Metadata stays in memory</a:t>
            </a:r>
          </a:p>
          <a:p>
            <a:r>
              <a:rPr lang="en-US" dirty="0"/>
              <a:t>Persistent namespace and file-to-chunk mapping</a:t>
            </a:r>
          </a:p>
          <a:p>
            <a:r>
              <a:rPr lang="en-US" dirty="0"/>
              <a:t>Chunk locations reconstructed from chunkservers</a:t>
            </a:r>
          </a:p>
          <a:p>
            <a:r>
              <a:rPr lang="en-US" dirty="0"/>
              <a:t>Operation log orders mutations</a:t>
            </a:r>
          </a:p>
          <a:p>
            <a:r>
              <a:rPr lang="en-US" dirty="0"/>
              <a:t>Checkpoints shorten recovery</a:t>
            </a:r>
          </a:p>
          <a:p>
            <a:endParaRPr lang="en-US" dirty="0"/>
          </a:p>
          <a:p>
            <a:r>
              <a:rPr lang="en-US" dirty="0"/>
              <a:t>The master keeps metadata in memory, which makes lookups fast. A large chunk size keeps the metadata small. At less than 64 bytes per 64-megabyte chunk, even millions of chunks require hundreds of megabytes rather than hundreds of gigabytes of metadata.</a:t>
            </a:r>
          </a:p>
          <a:p>
            <a:endParaRPr lang="en-US" dirty="0"/>
          </a:p>
          <a:p>
            <a:r>
              <a:rPr lang="en-US" dirty="0"/>
              <a:t>Not every field needs the same durability. The namespace and file-to-chunk mapping must survive a master crash, as must the chunk version information used to reject stale replicas. The master does not persist the current chunkserver locations. After restart, it asks chunkservers what they store.</a:t>
            </a:r>
          </a:p>
          <a:p>
            <a:endParaRPr lang="en-US" dirty="0"/>
          </a:p>
          <a:p>
            <a:r>
              <a:rPr lang="en-US" dirty="0"/>
              <a:t>Every critical metadata mutation enters an operation log. The master replicates the log and acknowledges the operation only after the record reaches local and remote storage. A checkpoint captures a compact snapshot so recovery can load the latest checkpoint and replay only the newer part of the log.</a:t>
            </a:r>
          </a:p>
          <a:p>
            <a:endParaRPr lang="en-US" dirty="0"/>
          </a:p>
          <a:p>
            <a:r>
              <a:rPr lang="en-US" dirty="0"/>
              <a:t>SOURCE</a:t>
            </a:r>
          </a:p>
          <a:p>
            <a:r>
              <a:rPr lang="en-US" dirty="0"/>
              <a:t>MIT 6.824, Spring 2020, Lecture 3 video, 25:23-30:24.</a:t>
            </a:r>
          </a:p>
          <a:p>
            <a:r>
              <a:rPr lang="en-US" dirty="0"/>
              <a:t>https://www.youtube.com/watch?v=EpIgvowZr00</a:t>
            </a:r>
          </a:p>
          <a:p>
            <a:r>
              <a:rPr lang="en-US" dirty="0"/>
              <a:t>MIT 6.5840, GFS lecture notes.</a:t>
            </a:r>
          </a:p>
          <a:p>
            <a:r>
              <a:rPr lang="en-US" dirty="0"/>
              <a:t>https://pdos.csail.mit.edu/6.824/notes/l-gfs.txt</a:t>
            </a:r>
          </a:p>
          <a:p>
            <a:r>
              <a:rPr lang="en-US" dirty="0"/>
              <a:t>Ghemawat, Gobioff, and Leung, The Google File System, Sections 2.6.1-2.6.3.</a:t>
            </a:r>
          </a:p>
          <a:p>
            <a:r>
              <a:rPr lang="en-US" dirty="0"/>
              <a:t>https://pdos.csail.mit.edu/6.824/papers/gfs.pdf</a:t>
            </a:r>
          </a:p>
        </p:txBody>
      </p:sp>
      <p:sp>
        <p:nvSpPr>
          <p:cNvPr id="4" name="Slide Number Placeholder 3">
            <a:extLst>
              <a:ext uri="{FF2B5EF4-FFF2-40B4-BE49-F238E27FC236}">
                <a16:creationId xmlns:a16="http://schemas.microsoft.com/office/drawing/2014/main" id="{E74323AB-CD3B-BE01-23E0-E5328A35AB1C}"/>
              </a:ext>
            </a:extLst>
          </p:cNvPr>
          <p:cNvSpPr>
            <a:spLocks noGrp="1"/>
          </p:cNvSpPr>
          <p:nvPr>
            <p:ph type="sldNum" sz="quarter" idx="5"/>
          </p:nvPr>
        </p:nvSpPr>
        <p:spPr/>
        <p:txBody>
          <a:bodyPr/>
          <a:lstStyle/>
          <a:p>
            <a:fld id="{1C9584DC-3658-4054-9DA4-7B68A1D8CC6D}" type="slidenum">
              <a:rPr lang="zh-CN" altLang="en-US" smtClean="0"/>
              <a:t>22</a:t>
            </a:fld>
            <a:endParaRPr lang="zh-CN" altLang="en-US"/>
          </a:p>
        </p:txBody>
      </p:sp>
    </p:spTree>
    <p:extLst>
      <p:ext uri="{BB962C8B-B14F-4D97-AF65-F5344CB8AC3E}">
        <p14:creationId xmlns:p14="http://schemas.microsoft.com/office/powerpoint/2010/main" val="14907006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BB8B7-6C3A-826B-BEDC-11B455E4E5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59D6B3-B338-2117-3D33-BCA332753A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01A163-C2DA-77C8-7422-DB4C8C9F21C5}"/>
              </a:ext>
            </a:extLst>
          </p:cNvPr>
          <p:cNvSpPr>
            <a:spLocks noGrp="1"/>
          </p:cNvSpPr>
          <p:nvPr>
            <p:ph type="body" idx="1"/>
          </p:nvPr>
        </p:nvSpPr>
        <p:spPr/>
        <p:txBody>
          <a:bodyPr/>
          <a:lstStyle/>
          <a:p>
            <a:r>
              <a:t>Walk the master state item by item and ask the class: does this have to survive a reboot?</a:t>
            </a:r>
            <a:endParaRPr lang="en-US"/>
          </a:p>
          <a:p>
            <a:r>
              <a:t>File name to chunk handles: yes, nothing else can reconstruct it. Chunk version number: yes, and the reason comes two slides later - without it the master cannot tell a fresh replica from a stale one.</a:t>
            </a:r>
            <a:endParaRPr lang="en-US"/>
          </a:p>
          <a:p>
            <a:r>
              <a:t>Replica list: no. Chunkservers report what they hold when the master restarts. Primary and lease expiry: no. The master can simply wait out the 60-second lease, after which no old primary is still acting.</a:t>
            </a:r>
            <a:endParaRPr lang="en-US"/>
          </a:p>
          <a:p>
            <a:r>
              <a:t>Why a log rather than a B-tree on disk: appending is one sequential write, so the master can commit metadata changes quickly. Checkpoints bound how much log has to be replayed after a restart.</a:t>
            </a:r>
            <a:endParaRPr lang="en-US"/>
          </a:p>
          <a:p>
            <a:r>
              <a:t>SOURCE</a:t>
            </a:r>
            <a:endParaRPr lang="en-US"/>
          </a:p>
          <a:p>
            <a:r>
              <a:t>MIT 6.824, Spring 2020, Lecture 3 video, 23:50-31:20.</a:t>
            </a:r>
            <a:endParaRPr lang="en-US"/>
          </a:p>
          <a:p>
            <a:r>
              <a:t>https://www.youtube.com/watch?v=EpIgvowZr00</a:t>
            </a:r>
            <a:endParaRPr lang="en-US"/>
          </a:p>
          <a:p>
            <a:r>
              <a:t>MIT 6.5840, GFS lecture notes.</a:t>
            </a:r>
            <a:endParaRPr lang="en-US"/>
          </a:p>
          <a:p>
            <a:r>
              <a:t>https://pdos.csail.mit.edu/6.824/notes/l-gfs.txt</a:t>
            </a:r>
            <a:endParaRPr lang="en-US"/>
          </a:p>
          <a:p>
            <a:r>
              <a:t>Ghemawat, Gobioff, and Leung, The Google File System, Sections 2.6 and 4.1.</a:t>
            </a:r>
            <a:endParaRPr lang="en-US"/>
          </a:p>
          <a:p>
            <a:r>
              <a:t>https://pdos.csail.mit.edu/6.824/papers/gfs.pdf</a:t>
            </a:r>
            <a:endParaRPr lang="en-US"/>
          </a:p>
        </p:txBody>
      </p:sp>
      <p:sp>
        <p:nvSpPr>
          <p:cNvPr id="4" name="Slide Number Placeholder 3">
            <a:extLst>
              <a:ext uri="{FF2B5EF4-FFF2-40B4-BE49-F238E27FC236}">
                <a16:creationId xmlns:a16="http://schemas.microsoft.com/office/drawing/2014/main" id="{09D73A9A-D881-2613-9D53-6BBD01037D23}"/>
              </a:ext>
            </a:extLst>
          </p:cNvPr>
          <p:cNvSpPr>
            <a:spLocks noGrp="1"/>
          </p:cNvSpPr>
          <p:nvPr>
            <p:ph type="sldNum" sz="quarter" idx="5"/>
          </p:nvPr>
        </p:nvSpPr>
        <p:spPr/>
        <p:txBody>
          <a:bodyPr/>
          <a:lstStyle/>
          <a:p>
            <a:fld id="{1C9584DC-3658-4054-9DA4-7B68A1D8CC6D}" type="slidenum">
              <a:rPr lang="zh-CN" altLang="en-US" smtClean="0"/>
              <a:t>23</a:t>
            </a:fld>
            <a:endParaRPr lang="zh-CN" altLang="en-US"/>
          </a:p>
        </p:txBody>
      </p:sp>
    </p:spTree>
    <p:extLst>
      <p:ext uri="{BB962C8B-B14F-4D97-AF65-F5344CB8AC3E}">
        <p14:creationId xmlns:p14="http://schemas.microsoft.com/office/powerpoint/2010/main" val="33545237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29312-4BB2-2E40-2824-3CBB049A76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362CF8-3C71-A9FE-59E6-23BEE9FE83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3B898F-B96C-928E-9EBB-95B37160DB4C}"/>
              </a:ext>
            </a:extLst>
          </p:cNvPr>
          <p:cNvSpPr>
            <a:spLocks noGrp="1"/>
          </p:cNvSpPr>
          <p:nvPr>
            <p:ph type="body" idx="1"/>
          </p:nvPr>
        </p:nvSpPr>
        <p:spPr/>
        <p:txBody>
          <a:bodyPr/>
          <a:lstStyle/>
          <a:p>
            <a:r>
              <a:rPr lang="en-US" dirty="0"/>
              <a:t>Why choose such a large chunk size?</a:t>
            </a:r>
          </a:p>
          <a:p>
            <a:endParaRPr lang="en-US" dirty="0"/>
          </a:p>
          <a:p>
            <a:r>
              <a:rPr lang="en-US" dirty="0"/>
              <a:t>A 64-megabyte chunk reduces metadata at the master and lets a client reuse one location lookup for many reads. It also supports long sequential transfers, which match the target workload.</a:t>
            </a:r>
          </a:p>
          <a:p>
            <a:endParaRPr lang="en-US" dirty="0"/>
          </a:p>
          <a:p>
            <a:r>
              <a:rPr lang="en-US" dirty="0"/>
              <a:t>The tradeoff is that a small file may occupy only one chunk. If many clients simultaneously read that file, the few servers holding its replicas can become hot spots. GFS accepts this risk because its common files are large. It also allocates physical space lazily, so a partially filled chunk does not reserve all 64 megabytes immediately.</a:t>
            </a:r>
          </a:p>
          <a:p>
            <a:endParaRPr lang="en-US" dirty="0"/>
          </a:p>
          <a:p>
            <a:r>
              <a:rPr lang="en-US" dirty="0"/>
              <a:t>Chunkservers report their state through heartbeats. When the master detects a missing replica, it schedules re-replication from an existing good copy.</a:t>
            </a:r>
          </a:p>
          <a:p>
            <a:endParaRPr lang="en-US" dirty="0"/>
          </a:p>
          <a:p>
            <a:r>
              <a:rPr lang="en-US" dirty="0"/>
              <a:t>SOURCE</a:t>
            </a:r>
          </a:p>
          <a:p>
            <a:r>
              <a:rPr lang="en-US" dirty="0"/>
              <a:t>MIT 6.824, Spring 2020, Lecture 3 video, 20:22-25:23.</a:t>
            </a:r>
          </a:p>
          <a:p>
            <a:r>
              <a:rPr lang="en-US" dirty="0"/>
              <a:t>https://www.youtube.com/watch?v=EpIgvowZr00</a:t>
            </a:r>
          </a:p>
          <a:p>
            <a:r>
              <a:rPr lang="en-US" dirty="0"/>
              <a:t>MIT 6.5840, GFS lecture notes.</a:t>
            </a:r>
          </a:p>
          <a:p>
            <a:r>
              <a:rPr lang="en-US" dirty="0"/>
              <a:t>https://pdos.csail.mit.edu/6.824/notes/l-gfs.txt</a:t>
            </a:r>
          </a:p>
          <a:p>
            <a:r>
              <a:rPr lang="en-US" dirty="0"/>
              <a:t>Ghemawat, Gobioff, and Leung, The Google File System, Sections 2.3, 2.5, and 4.3.</a:t>
            </a:r>
          </a:p>
          <a:p>
            <a:r>
              <a:rPr lang="en-US" dirty="0"/>
              <a:t>https://pdos.csail.mit.edu/6.824/papers/gfs.pdf</a:t>
            </a:r>
          </a:p>
        </p:txBody>
      </p:sp>
      <p:sp>
        <p:nvSpPr>
          <p:cNvPr id="4" name="Slide Number Placeholder 3">
            <a:extLst>
              <a:ext uri="{FF2B5EF4-FFF2-40B4-BE49-F238E27FC236}">
                <a16:creationId xmlns:a16="http://schemas.microsoft.com/office/drawing/2014/main" id="{9D1F8925-A10A-6FEB-7EB2-F2E33038CC7F}"/>
              </a:ext>
            </a:extLst>
          </p:cNvPr>
          <p:cNvSpPr>
            <a:spLocks noGrp="1"/>
          </p:cNvSpPr>
          <p:nvPr>
            <p:ph type="sldNum" sz="quarter" idx="5"/>
          </p:nvPr>
        </p:nvSpPr>
        <p:spPr/>
        <p:txBody>
          <a:bodyPr/>
          <a:lstStyle/>
          <a:p>
            <a:fld id="{1C9584DC-3658-4054-9DA4-7B68A1D8CC6D}" type="slidenum">
              <a:rPr lang="zh-CN" altLang="en-US" smtClean="0"/>
              <a:t>24</a:t>
            </a:fld>
            <a:endParaRPr lang="zh-CN" altLang="en-US"/>
          </a:p>
        </p:txBody>
      </p:sp>
    </p:spTree>
    <p:extLst>
      <p:ext uri="{BB962C8B-B14F-4D97-AF65-F5344CB8AC3E}">
        <p14:creationId xmlns:p14="http://schemas.microsoft.com/office/powerpoint/2010/main" val="42562955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BB8B7-6C3A-826B-BEDC-11B455E4E5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59D6B3-B338-2117-3D33-BCA332753A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01A163-C2DA-77C8-7422-DB4C8C9F21C5}"/>
              </a:ext>
            </a:extLst>
          </p:cNvPr>
          <p:cNvSpPr>
            <a:spLocks noGrp="1"/>
          </p:cNvSpPr>
          <p:nvPr>
            <p:ph type="body" idx="1"/>
          </p:nvPr>
        </p:nvSpPr>
        <p:spPr/>
        <p:txBody>
          <a:bodyPr/>
          <a:lstStyle/>
          <a:p>
            <a:r>
              <a:t>Replication protects against a machine dying. It does not protect against a disk quietly returning wrong bytes, which is what checksums are for.</a:t>
            </a:r>
            <a:endParaRPr lang="en-US"/>
          </a:p>
          <a:p>
            <a:r>
              <a:t>Note who does the checking: the chunkserver that holds the block, on every read. The master is not in the data path at all, so it cannot verify data for clients.</a:t>
            </a:r>
            <a:endParaRPr lang="en-US"/>
          </a:p>
          <a:p>
            <a:r>
              <a:t>In the paper the chunkservers of the two reported clusters hold 13 GB and 21 GB of metadata each, almost all of it checksums, against 48 MB and 60 MB at the master.</a:t>
            </a:r>
            <a:endParaRPr lang="en-US"/>
          </a:p>
          <a:p>
            <a:r>
              <a:t>This is also the one failure mode in the lecture that replication alone cannot catch: a wrong answer rather than no answer.</a:t>
            </a:r>
            <a:endParaRPr lang="en-US"/>
          </a:p>
          <a:p>
            <a:r>
              <a:t>SOURCE</a:t>
            </a:r>
            <a:endParaRPr lang="en-US"/>
          </a:p>
          <a:p>
            <a:r>
              <a:t>MIT 6.5840, GFS lecture notes.</a:t>
            </a:r>
            <a:endParaRPr lang="en-US"/>
          </a:p>
          <a:p>
            <a:r>
              <a:t>https://pdos.csail.mit.edu/6.824/notes/l-gfs.txt</a:t>
            </a:r>
            <a:endParaRPr lang="en-US"/>
          </a:p>
          <a:p>
            <a:r>
              <a:t>Ghemawat, Gobioff, and Leung, The Google File System, Section 5.2 and Table 2.</a:t>
            </a:r>
            <a:endParaRPr lang="en-US"/>
          </a:p>
          <a:p>
            <a:r>
              <a:t>https://pdos.csail.mit.edu/6.824/papers/gfs.pdf</a:t>
            </a:r>
            <a:endParaRPr lang="en-US"/>
          </a:p>
        </p:txBody>
      </p:sp>
      <p:sp>
        <p:nvSpPr>
          <p:cNvPr id="4" name="Slide Number Placeholder 3">
            <a:extLst>
              <a:ext uri="{FF2B5EF4-FFF2-40B4-BE49-F238E27FC236}">
                <a16:creationId xmlns:a16="http://schemas.microsoft.com/office/drawing/2014/main" id="{09D73A9A-D881-2613-9D53-6BBD01037D23}"/>
              </a:ext>
            </a:extLst>
          </p:cNvPr>
          <p:cNvSpPr>
            <a:spLocks noGrp="1"/>
          </p:cNvSpPr>
          <p:nvPr>
            <p:ph type="sldNum" sz="quarter" idx="5"/>
          </p:nvPr>
        </p:nvSpPr>
        <p:spPr/>
        <p:txBody>
          <a:bodyPr/>
          <a:lstStyle/>
          <a:p>
            <a:fld id="{1C9584DC-3658-4054-9DA4-7B68A1D8CC6D}" type="slidenum">
              <a:rPr lang="zh-CN" altLang="en-US" smtClean="0"/>
              <a:t>25</a:t>
            </a:fld>
            <a:endParaRPr lang="zh-CN" altLang="en-US"/>
          </a:p>
        </p:txBody>
      </p:sp>
    </p:spTree>
    <p:extLst>
      <p:ext uri="{BB962C8B-B14F-4D97-AF65-F5344CB8AC3E}">
        <p14:creationId xmlns:p14="http://schemas.microsoft.com/office/powerpoint/2010/main" val="33545237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193C7-5B9E-DD00-B136-46BC4E99CA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BF3FFF-E0C1-57AE-3E31-BC43FD0223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9EB5A0-B8F9-567F-7740-AC2CA254719A}"/>
              </a:ext>
            </a:extLst>
          </p:cNvPr>
          <p:cNvSpPr>
            <a:spLocks noGrp="1"/>
          </p:cNvSpPr>
          <p:nvPr>
            <p:ph type="body" idx="1"/>
          </p:nvPr>
        </p:nvSpPr>
        <p:spPr/>
        <p:txBody>
          <a:bodyPr/>
          <a:lstStyle/>
          <a:p>
            <a:r>
              <a:t>With the architecture in place, we can trace the two basic operations.</a:t>
            </a:r>
            <a:endParaRPr lang="en-US" dirty="0"/>
          </a:p>
          <a:p>
            <a:endParaRPr lang="en-US" dirty="0"/>
          </a:p>
          <a:p>
            <a:r>
              <a:t>Reads are relatively simple because a client can fetch data from one up-to-date replica. Writes are harder because all replicas must apply mutations in the same order. We will use the read path first to see why the master stays out of the data path, then use the write path to introduce primary and secondary replication.</a:t>
            </a:r>
            <a:endParaRPr lang="en-US" dirty="0"/>
          </a:p>
        </p:txBody>
      </p:sp>
      <p:sp>
        <p:nvSpPr>
          <p:cNvPr id="4" name="Slide Number Placeholder 3">
            <a:extLst>
              <a:ext uri="{FF2B5EF4-FFF2-40B4-BE49-F238E27FC236}">
                <a16:creationId xmlns:a16="http://schemas.microsoft.com/office/drawing/2014/main" id="{67E8B70A-C890-D41C-4FBB-74BEEDE20D75}"/>
              </a:ext>
            </a:extLst>
          </p:cNvPr>
          <p:cNvSpPr>
            <a:spLocks noGrp="1"/>
          </p:cNvSpPr>
          <p:nvPr>
            <p:ph type="sldNum" sz="quarter" idx="5"/>
          </p:nvPr>
        </p:nvSpPr>
        <p:spPr/>
        <p:txBody>
          <a:bodyPr/>
          <a:lstStyle/>
          <a:p>
            <a:fld id="{1C9584DC-3658-4054-9DA4-7B68A1D8CC6D}" type="slidenum">
              <a:rPr lang="zh-CN" altLang="en-US" smtClean="0"/>
              <a:t>26</a:t>
            </a:fld>
            <a:endParaRPr lang="zh-CN" altLang="en-US"/>
          </a:p>
        </p:txBody>
      </p:sp>
    </p:spTree>
    <p:extLst>
      <p:ext uri="{BB962C8B-B14F-4D97-AF65-F5344CB8AC3E}">
        <p14:creationId xmlns:p14="http://schemas.microsoft.com/office/powerpoint/2010/main" val="34254982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8F2DC-C063-0319-05D8-61E202D43C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114C03-123D-C33C-BE81-5C1E8A4DA6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CBF360-A63A-1658-5947-32DF51C5EA04}"/>
              </a:ext>
            </a:extLst>
          </p:cNvPr>
          <p:cNvSpPr>
            <a:spLocks noGrp="1"/>
          </p:cNvSpPr>
          <p:nvPr>
            <p:ph type="body" idx="1"/>
          </p:nvPr>
        </p:nvSpPr>
        <p:spPr/>
        <p:txBody>
          <a:bodyPr/>
          <a:lstStyle/>
          <a:p>
            <a:r>
              <a:t>CUES</a:t>
            </a:r>
            <a:endParaRPr lang="en-US" dirty="0"/>
          </a:p>
          <a:p>
            <a:r>
              <a:t>Translate file offset to chunk index</a:t>
            </a:r>
            <a:endParaRPr lang="en-US" dirty="0"/>
          </a:p>
          <a:p>
            <a:r>
              <a:t>Ask master for handle and replica locations</a:t>
            </a:r>
            <a:endParaRPr lang="en-US" dirty="0"/>
          </a:p>
          <a:p>
            <a:r>
              <a:t>Cache metadata</a:t>
            </a:r>
            <a:endParaRPr lang="en-US" dirty="0"/>
          </a:p>
          <a:p>
            <a:r>
              <a:t>Read from a nearby chunkserver</a:t>
            </a:r>
            <a:endParaRPr lang="en-US" dirty="0"/>
          </a:p>
          <a:p>
            <a:endParaRPr lang="en-US" dirty="0"/>
          </a:p>
          <a:p>
            <a:r>
              <a:t>Suppose a client wants bytes at a particular offset. The GFS client library computes the chunk index from the fixed chunk size and sends the file name and chunk index to the master, unless it already cached the answer.</a:t>
            </a:r>
            <a:endParaRPr lang="en-US" dirty="0"/>
          </a:p>
          <a:p>
            <a:endParaRPr lang="en-US" dirty="0"/>
          </a:p>
          <a:p>
            <a:r>
              <a:t>The master looks up the chunk handle and returns the locations of the replicas. The client caches that metadata and chooses a nearby chunkserver, often one in the same rack.</a:t>
            </a:r>
            <a:endParaRPr lang="en-US" dirty="0"/>
          </a:p>
          <a:p>
            <a:endParaRPr lang="en-US" dirty="0"/>
          </a:p>
          <a:p>
            <a:r>
              <a:t>The client then sends the chunk handle and byte range directly to that chunkserver. The chunkserver reads the corresponding Linux file and returns the data. Repeated reads from the same chunk do not contact the master again until the cached metadata expires.</a:t>
            </a:r>
            <a:endParaRPr lang="en-US" dirty="0"/>
          </a:p>
          <a:p>
            <a:endParaRPr lang="en-US" dirty="0"/>
          </a:p>
          <a:p>
            <a:r>
              <a:t>SOURCE</a:t>
            </a:r>
            <a:endParaRPr lang="en-US" dirty="0"/>
          </a:p>
          <a:p>
            <a:r>
              <a:t>MIT 6.824, Spring 2020, Lecture 3 video, 30:24-35:30.</a:t>
            </a:r>
            <a:endParaRPr lang="en-US" dirty="0"/>
          </a:p>
          <a:p>
            <a:r>
              <a:t>https://www.youtube.com/watch?v=EpIgvowZr00</a:t>
            </a:r>
            <a:endParaRPr lang="en-US" dirty="0"/>
          </a:p>
          <a:p>
            <a:r>
              <a:t>MIT 6.5840, GFS lecture notes.</a:t>
            </a:r>
            <a:endParaRPr lang="en-US" dirty="0"/>
          </a:p>
          <a:p>
            <a:r>
              <a:t>https://pdos.csail.mit.edu/6.824/notes/l-gfs.txt</a:t>
            </a:r>
            <a:endParaRPr lang="en-US" dirty="0"/>
          </a:p>
          <a:p>
            <a:r>
              <a:t>Ghemawat, Gobioff, and Leung, The Google File System, Section 2.4.</a:t>
            </a:r>
            <a:endParaRPr lang="en-US" dirty="0"/>
          </a:p>
          <a:p>
            <a:r>
              <a:t>https://pdos.csail.mit.edu/6.824/papers/gfs.pdf</a:t>
            </a:r>
            <a:endParaRPr lang="en-US" dirty="0"/>
          </a:p>
        </p:txBody>
      </p:sp>
      <p:sp>
        <p:nvSpPr>
          <p:cNvPr id="4" name="Slide Number Placeholder 3">
            <a:extLst>
              <a:ext uri="{FF2B5EF4-FFF2-40B4-BE49-F238E27FC236}">
                <a16:creationId xmlns:a16="http://schemas.microsoft.com/office/drawing/2014/main" id="{275B48E4-919D-036C-E70E-9C481AFA70BE}"/>
              </a:ext>
            </a:extLst>
          </p:cNvPr>
          <p:cNvSpPr>
            <a:spLocks noGrp="1"/>
          </p:cNvSpPr>
          <p:nvPr>
            <p:ph type="sldNum" sz="quarter" idx="5"/>
          </p:nvPr>
        </p:nvSpPr>
        <p:spPr/>
        <p:txBody>
          <a:bodyPr/>
          <a:lstStyle/>
          <a:p>
            <a:fld id="{1C9584DC-3658-4054-9DA4-7B68A1D8CC6D}" type="slidenum">
              <a:rPr lang="zh-CN" altLang="en-US" smtClean="0"/>
              <a:t>27</a:t>
            </a:fld>
            <a:endParaRPr lang="zh-CN" altLang="en-US"/>
          </a:p>
        </p:txBody>
      </p:sp>
    </p:spTree>
    <p:extLst>
      <p:ext uri="{BB962C8B-B14F-4D97-AF65-F5344CB8AC3E}">
        <p14:creationId xmlns:p14="http://schemas.microsoft.com/office/powerpoint/2010/main" val="14212402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34190-1D13-E903-E171-5F8E328D72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F16CA5-BAC1-80AF-C609-2E12529856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1464E4-E070-F595-FAF8-E065B04DC379}"/>
              </a:ext>
            </a:extLst>
          </p:cNvPr>
          <p:cNvSpPr>
            <a:spLocks noGrp="1"/>
          </p:cNvSpPr>
          <p:nvPr>
            <p:ph type="body" idx="1"/>
          </p:nvPr>
        </p:nvSpPr>
        <p:spPr/>
        <p:txBody>
          <a:bodyPr/>
          <a:lstStyle/>
          <a:p>
            <a:r>
              <a:t>The main architectural point is that the master performs naming and placement, while chunkservers perform data transfer.</a:t>
            </a:r>
            <a:endParaRPr lang="en-US" dirty="0"/>
          </a:p>
          <a:p>
            <a:endParaRPr lang="en-US" dirty="0"/>
          </a:p>
          <a:p>
            <a:r>
              <a:t>Clients cache the mapping from a file and chunk index to the chunk handle and replica locations. That reduces repeated load on the master. The master can therefore serve many clients even though it is centralized.</a:t>
            </a:r>
            <a:endParaRPr lang="en-US" dirty="0"/>
          </a:p>
          <a:p>
            <a:endParaRPr lang="en-US" dirty="0"/>
          </a:p>
          <a:p>
            <a:r>
              <a:t>For a read, one replica is enough. For a write, the client knows all replicas that need the mutation, but we still need a protocol that keeps their update order consistent. That is the next problem.</a:t>
            </a:r>
            <a:endParaRPr lang="en-US" dirty="0"/>
          </a:p>
          <a:p>
            <a:endParaRPr lang="en-US" dirty="0"/>
          </a:p>
          <a:p>
            <a:r>
              <a:t>SOURCE</a:t>
            </a:r>
            <a:endParaRPr lang="en-US" dirty="0"/>
          </a:p>
          <a:p>
            <a:r>
              <a:t>MIT 6.824, Spring 2020, Lecture 3 video, 30:24-40:32.</a:t>
            </a:r>
            <a:endParaRPr lang="en-US" dirty="0"/>
          </a:p>
          <a:p>
            <a:r>
              <a:t>https://www.youtube.com/watch?v=EpIgvowZr00</a:t>
            </a:r>
            <a:endParaRPr lang="en-US" dirty="0"/>
          </a:p>
          <a:p>
            <a:r>
              <a:t>MIT 6.5840, GFS lecture notes.</a:t>
            </a:r>
            <a:endParaRPr lang="en-US" dirty="0"/>
          </a:p>
          <a:p>
            <a:r>
              <a:t>https://pdos.csail.mit.edu/6.824/notes/l-gfs.txt</a:t>
            </a:r>
            <a:endParaRPr lang="en-US" dirty="0"/>
          </a:p>
          <a:p>
            <a:r>
              <a:t>Ghemawat, Gobioff, and Leung, The Google File System, Sections 2.4 and 3.1.</a:t>
            </a:r>
            <a:endParaRPr lang="en-US" dirty="0"/>
          </a:p>
          <a:p>
            <a:r>
              <a:t>https://pdos.csail.mit.edu/6.824/papers/gfs.pdf</a:t>
            </a:r>
            <a:endParaRPr lang="en-US" dirty="0"/>
          </a:p>
        </p:txBody>
      </p:sp>
      <p:sp>
        <p:nvSpPr>
          <p:cNvPr id="4" name="Slide Number Placeholder 3">
            <a:extLst>
              <a:ext uri="{FF2B5EF4-FFF2-40B4-BE49-F238E27FC236}">
                <a16:creationId xmlns:a16="http://schemas.microsoft.com/office/drawing/2014/main" id="{2B6B2956-570A-D285-4402-E49E881345E4}"/>
              </a:ext>
            </a:extLst>
          </p:cNvPr>
          <p:cNvSpPr>
            <a:spLocks noGrp="1"/>
          </p:cNvSpPr>
          <p:nvPr>
            <p:ph type="sldNum" sz="quarter" idx="5"/>
          </p:nvPr>
        </p:nvSpPr>
        <p:spPr/>
        <p:txBody>
          <a:bodyPr/>
          <a:lstStyle/>
          <a:p>
            <a:fld id="{1C9584DC-3658-4054-9DA4-7B68A1D8CC6D}" type="slidenum">
              <a:rPr lang="zh-CN" altLang="en-US" smtClean="0"/>
              <a:t>28</a:t>
            </a:fld>
            <a:endParaRPr lang="zh-CN" altLang="en-US"/>
          </a:p>
        </p:txBody>
      </p:sp>
    </p:spTree>
    <p:extLst>
      <p:ext uri="{BB962C8B-B14F-4D97-AF65-F5344CB8AC3E}">
        <p14:creationId xmlns:p14="http://schemas.microsoft.com/office/powerpoint/2010/main" val="16374216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B2618-9A36-81C1-68AF-8F6945E61F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BDCD1A-8AC8-BD94-5676-F0F4005F0A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42226A-716C-7627-BD8C-6ECB19FD8351}"/>
              </a:ext>
            </a:extLst>
          </p:cNvPr>
          <p:cNvSpPr>
            <a:spLocks noGrp="1"/>
          </p:cNvSpPr>
          <p:nvPr>
            <p:ph type="body" idx="1"/>
          </p:nvPr>
        </p:nvSpPr>
        <p:spPr/>
        <p:txBody>
          <a:bodyPr/>
          <a:lstStyle/>
          <a:p>
            <a:r>
              <a:rPr lang="en-US" dirty="0"/>
              <a:t>CUES</a:t>
            </a:r>
          </a:p>
          <a:p>
            <a:r>
              <a:rPr lang="en-US" dirty="0"/>
              <a:t>One primary per chunk</a:t>
            </a:r>
          </a:p>
          <a:p>
            <a:r>
              <a:rPr lang="en-US" dirty="0"/>
              <a:t>Primary chooses the mutation order</a:t>
            </a:r>
          </a:p>
          <a:p>
            <a:r>
              <a:rPr lang="en-US" dirty="0"/>
              <a:t>Secondaries follow that order</a:t>
            </a:r>
          </a:p>
          <a:p>
            <a:r>
              <a:rPr lang="en-US" dirty="0"/>
              <a:t>Reads may use any replica under GFS's consistency model</a:t>
            </a:r>
          </a:p>
          <a:p>
            <a:endParaRPr lang="en-US" dirty="0"/>
          </a:p>
          <a:p>
            <a:r>
              <a:rPr lang="en-US" dirty="0"/>
              <a:t>GFS designates one replica as the primary for each actively mutated chunk. The other replicas act as secondaries.</a:t>
            </a:r>
          </a:p>
          <a:p>
            <a:endParaRPr lang="en-US" dirty="0"/>
          </a:p>
          <a:p>
            <a:r>
              <a:rPr lang="en-US" dirty="0"/>
              <a:t>The primary receives concurrent write requests and assigns one serial order. It applies the mutations in that order and sends the same order to every secondary. The secondaries may receive data earlier, but they do not decide the operation order themselves.</a:t>
            </a:r>
          </a:p>
          <a:p>
            <a:endParaRPr lang="en-US" dirty="0"/>
          </a:p>
          <a:p>
            <a:r>
              <a:rPr lang="en-US" dirty="0"/>
              <a:t>The master grants primary status through a lease and records a new chunk version when it establishes a new replica group. Version numbers let the master recognize stale replicas that missed an earlier period of updates.</a:t>
            </a:r>
          </a:p>
          <a:p>
            <a:endParaRPr lang="en-US" dirty="0"/>
          </a:p>
          <a:p>
            <a:r>
              <a:rPr lang="en-US" dirty="0"/>
              <a:t>SOURCE</a:t>
            </a:r>
          </a:p>
          <a:p>
            <a:r>
              <a:rPr lang="en-US" dirty="0"/>
              <a:t>MIT 6.824, Spring 2020, Lecture 3 video, 40:32-50:35.</a:t>
            </a:r>
          </a:p>
          <a:p>
            <a:r>
              <a:rPr lang="en-US" dirty="0"/>
              <a:t>https://www.youtube.com/watch?v=EpIgvowZr00</a:t>
            </a:r>
          </a:p>
          <a:p>
            <a:r>
              <a:rPr lang="en-US" dirty="0"/>
              <a:t>MIT 6.5840, GFS lecture notes.</a:t>
            </a:r>
          </a:p>
          <a:p>
            <a:r>
              <a:rPr lang="en-US" dirty="0"/>
              <a:t>https://pdos.csail.mit.edu/6.824/notes/l-gfs.txt</a:t>
            </a:r>
          </a:p>
          <a:p>
            <a:r>
              <a:rPr lang="en-US" dirty="0"/>
              <a:t>Ghemawat, Gobioff, and Leung, The Google File System, Sections 3.1, 3.2, and 4.5.</a:t>
            </a:r>
          </a:p>
          <a:p>
            <a:r>
              <a:rPr lang="en-US" dirty="0"/>
              <a:t>https://pdos.csail.mit.edu/6.824/papers/gfs.pdf</a:t>
            </a:r>
          </a:p>
          <a:p>
            <a:r>
              <a:t>Call back to the broken design at the start of class: the two servers applied the same two writes in different orders. A primary exists to pick one order and impose it on every replica.</a:t>
            </a:r>
            <a:endParaRPr lang="en-US"/>
          </a:p>
        </p:txBody>
      </p:sp>
      <p:sp>
        <p:nvSpPr>
          <p:cNvPr id="4" name="Slide Number Placeholder 3">
            <a:extLst>
              <a:ext uri="{FF2B5EF4-FFF2-40B4-BE49-F238E27FC236}">
                <a16:creationId xmlns:a16="http://schemas.microsoft.com/office/drawing/2014/main" id="{FAB35EB8-37B5-CDA0-EE3E-CBA11EB50583}"/>
              </a:ext>
            </a:extLst>
          </p:cNvPr>
          <p:cNvSpPr>
            <a:spLocks noGrp="1"/>
          </p:cNvSpPr>
          <p:nvPr>
            <p:ph type="sldNum" sz="quarter" idx="5"/>
          </p:nvPr>
        </p:nvSpPr>
        <p:spPr/>
        <p:txBody>
          <a:bodyPr/>
          <a:lstStyle/>
          <a:p>
            <a:fld id="{1C9584DC-3658-4054-9DA4-7B68A1D8CC6D}" type="slidenum">
              <a:rPr lang="zh-CN" altLang="en-US" smtClean="0"/>
              <a:t>29</a:t>
            </a:fld>
            <a:endParaRPr lang="zh-CN" altLang="en-US"/>
          </a:p>
        </p:txBody>
      </p:sp>
    </p:spTree>
    <p:extLst>
      <p:ext uri="{BB962C8B-B14F-4D97-AF65-F5344CB8AC3E}">
        <p14:creationId xmlns:p14="http://schemas.microsoft.com/office/powerpoint/2010/main" val="28528304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339A2-3791-7F6C-1CDC-1A698F4080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645E0C-2E2A-DC2F-D6D5-CCEC0C8C66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FD9BFF-F75F-A66F-643C-4112C930FB05}"/>
              </a:ext>
            </a:extLst>
          </p:cNvPr>
          <p:cNvSpPr>
            <a:spLocks noGrp="1"/>
          </p:cNvSpPr>
          <p:nvPr>
            <p:ph type="body" idx="1"/>
          </p:nvPr>
        </p:nvSpPr>
        <p:spPr/>
        <p:txBody>
          <a:bodyPr/>
          <a:lstStyle/>
          <a:p>
            <a:r>
              <a:t>CUES</a:t>
            </a:r>
            <a:endParaRPr lang="en-US" dirty="0"/>
          </a:p>
          <a:p>
            <a:r>
              <a:t>Ask master for primary and secondaries</a:t>
            </a:r>
            <a:endParaRPr lang="en-US" dirty="0"/>
          </a:p>
          <a:p>
            <a:r>
              <a:t>Push data to every replica</a:t>
            </a:r>
            <a:endParaRPr lang="en-US" dirty="0"/>
          </a:p>
          <a:p>
            <a:r>
              <a:t>Send the write command to the primary</a:t>
            </a:r>
            <a:endParaRPr lang="en-US" dirty="0"/>
          </a:p>
          <a:p>
            <a:r>
              <a:t>Primary orders the mutation</a:t>
            </a:r>
            <a:endParaRPr lang="en-US" dirty="0"/>
          </a:p>
          <a:p>
            <a:r>
              <a:t>Secondaries apply that order</a:t>
            </a:r>
            <a:endParaRPr lang="en-US" dirty="0"/>
          </a:p>
          <a:p>
            <a:r>
              <a:t>Return success only after acknowledgments</a:t>
            </a:r>
            <a:endParaRPr lang="en-US" dirty="0"/>
          </a:p>
          <a:p>
            <a:endParaRPr lang="en-US" dirty="0"/>
          </a:p>
          <a:p>
            <a:r>
              <a:t>The write path separates moving bytes from ordering the mutation.</a:t>
            </a:r>
            <a:endParaRPr lang="en-US" dirty="0"/>
          </a:p>
          <a:p>
            <a:endParaRPr lang="en-US" dirty="0"/>
          </a:p>
          <a:p>
            <a:r>
              <a:t>First, the client asks the master for the current primary and secondaries. The client pushes the data to all replicas, where each server holds it temporarily. After the replicas have the bytes, the client sends the write request to the primary.</a:t>
            </a:r>
            <a:endParaRPr lang="en-US" dirty="0"/>
          </a:p>
          <a:p>
            <a:endParaRPr lang="en-US" dirty="0"/>
          </a:p>
          <a:p>
            <a:r>
              <a:t>The primary verifies its lease, chooses the order, writes its local chunk, and tells the secondaries to apply the same mutation. It waits for their acknowledgments and then returns success or failure to the client. If the client receives an error, it retries the operation from the beginning.</a:t>
            </a:r>
            <a:endParaRPr lang="en-US" dirty="0"/>
          </a:p>
          <a:p>
            <a:endParaRPr lang="en-US" dirty="0"/>
          </a:p>
          <a:p>
            <a:r>
              <a:t>This retry behavior improves availability, but it can create duplicates or inconsistent regions when only some replicas completed an earlier attempt.</a:t>
            </a:r>
            <a:endParaRPr lang="en-US" dirty="0"/>
          </a:p>
          <a:p>
            <a:endParaRPr lang="en-US" dirty="0"/>
          </a:p>
          <a:p>
            <a:r>
              <a:t>SOURCE</a:t>
            </a:r>
            <a:endParaRPr lang="en-US" dirty="0"/>
          </a:p>
          <a:p>
            <a:r>
              <a:t>MIT 6.824, Spring 2020, Lecture 3 video, 40:32-60:46.</a:t>
            </a:r>
            <a:endParaRPr lang="en-US" dirty="0"/>
          </a:p>
          <a:p>
            <a:r>
              <a:t>https://www.youtube.com/watch?v=EpIgvowZr00</a:t>
            </a:r>
            <a:endParaRPr lang="en-US" dirty="0"/>
          </a:p>
          <a:p>
            <a:r>
              <a:t>MIT 6.5840, GFS lecture notes.</a:t>
            </a:r>
            <a:endParaRPr lang="en-US" dirty="0"/>
          </a:p>
          <a:p>
            <a:r>
              <a:t>https://pdos.csail.mit.edu/6.824/notes/l-gfs.txt</a:t>
            </a:r>
            <a:endParaRPr lang="en-US" dirty="0"/>
          </a:p>
          <a:p>
            <a:r>
              <a:t>Ghemawat, Gobioff, and Leung, The Google File System, Section 3.1.</a:t>
            </a:r>
            <a:endParaRPr lang="en-US" dirty="0"/>
          </a:p>
          <a:p>
            <a:r>
              <a:t>https://pdos.csail.mit.edu/6.824/papers/gfs.pdf</a:t>
            </a:r>
            <a:endParaRPr lang="en-US" dirty="0"/>
          </a:p>
        </p:txBody>
      </p:sp>
      <p:sp>
        <p:nvSpPr>
          <p:cNvPr id="4" name="Slide Number Placeholder 3">
            <a:extLst>
              <a:ext uri="{FF2B5EF4-FFF2-40B4-BE49-F238E27FC236}">
                <a16:creationId xmlns:a16="http://schemas.microsoft.com/office/drawing/2014/main" id="{C976C11B-CE7F-618B-C943-7F49B959579B}"/>
              </a:ext>
            </a:extLst>
          </p:cNvPr>
          <p:cNvSpPr>
            <a:spLocks noGrp="1"/>
          </p:cNvSpPr>
          <p:nvPr>
            <p:ph type="sldNum" sz="quarter" idx="5"/>
          </p:nvPr>
        </p:nvSpPr>
        <p:spPr/>
        <p:txBody>
          <a:bodyPr/>
          <a:lstStyle/>
          <a:p>
            <a:fld id="{1C9584DC-3658-4054-9DA4-7B68A1D8CC6D}" type="slidenum">
              <a:rPr lang="zh-CN" altLang="en-US" smtClean="0"/>
              <a:t>30</a:t>
            </a:fld>
            <a:endParaRPr lang="zh-CN" altLang="en-US"/>
          </a:p>
        </p:txBody>
      </p:sp>
    </p:spTree>
    <p:extLst>
      <p:ext uri="{BB962C8B-B14F-4D97-AF65-F5344CB8AC3E}">
        <p14:creationId xmlns:p14="http://schemas.microsoft.com/office/powerpoint/2010/main" val="11289875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BB8B7-6C3A-826B-BEDC-11B455E4E5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59D6B3-B338-2117-3D33-BCA332753A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01A163-C2DA-77C8-7422-DB4C8C9F21C5}"/>
              </a:ext>
            </a:extLst>
          </p:cNvPr>
          <p:cNvSpPr>
            <a:spLocks noGrp="1"/>
          </p:cNvSpPr>
          <p:nvPr>
            <p:ph type="body" idx="1"/>
          </p:nvPr>
        </p:nvSpPr>
        <p:spPr/>
        <p:txBody>
          <a:bodyPr/>
          <a:lstStyle/>
          <a:p>
            <a:r>
              <a:t>Ask the class: the master forgets the replica list on a reboot and asks the chunkservers instead. Why can it not also ask them for the version number and take the highest answer?</a:t>
            </a:r>
            <a:endParaRPr lang="en-US"/>
          </a:p>
          <a:p>
            <a:r>
              <a:t>Because the chunkservers holding the newest copy may still be down. The ones that answer first could be the machines that were offline last week, and their version is old. So the version number has to be on the master disk.</a:t>
            </a:r>
            <a:endParaRPr lang="en-US"/>
          </a:p>
          <a:p>
            <a:r>
              <a:t>Whole-building power failure is the case to describe: the master comes back before most chunkservers. If no replica reports the version the master expects, it waits or tells the client to retry rather than hand out old data.</a:t>
            </a:r>
            <a:endParaRPr lang="en-US"/>
          </a:p>
          <a:p>
            <a:r>
              <a:t>SOURCE</a:t>
            </a:r>
            <a:endParaRPr lang="en-US"/>
          </a:p>
          <a:p>
            <a:r>
              <a:t>MIT 6.824, Spring 2020, Lecture 3 video, 41:39-49:51.</a:t>
            </a:r>
            <a:endParaRPr lang="en-US"/>
          </a:p>
          <a:p>
            <a:r>
              <a:t>https://www.youtube.com/watch?v=EpIgvowZr00</a:t>
            </a:r>
            <a:endParaRPr lang="en-US"/>
          </a:p>
          <a:p>
            <a:r>
              <a:t>MIT 6.5840, GFS lecture notes.</a:t>
            </a:r>
            <a:endParaRPr lang="en-US"/>
          </a:p>
          <a:p>
            <a:r>
              <a:t>https://pdos.csail.mit.edu/6.824/notes/l-gfs.txt</a:t>
            </a:r>
            <a:endParaRPr lang="en-US"/>
          </a:p>
          <a:p>
            <a:r>
              <a:t>Ghemawat, Gobioff, and Leung, The Google File System, Section 4.5.</a:t>
            </a:r>
            <a:endParaRPr lang="en-US"/>
          </a:p>
          <a:p>
            <a:r>
              <a:t>https://pdos.csail.mit.edu/6.824/papers/gfs.pdf</a:t>
            </a:r>
            <a:endParaRPr lang="en-US"/>
          </a:p>
        </p:txBody>
      </p:sp>
      <p:sp>
        <p:nvSpPr>
          <p:cNvPr id="4" name="Slide Number Placeholder 3">
            <a:extLst>
              <a:ext uri="{FF2B5EF4-FFF2-40B4-BE49-F238E27FC236}">
                <a16:creationId xmlns:a16="http://schemas.microsoft.com/office/drawing/2014/main" id="{09D73A9A-D881-2613-9D53-6BBD01037D23}"/>
              </a:ext>
            </a:extLst>
          </p:cNvPr>
          <p:cNvSpPr>
            <a:spLocks noGrp="1"/>
          </p:cNvSpPr>
          <p:nvPr>
            <p:ph type="sldNum" sz="quarter" idx="5"/>
          </p:nvPr>
        </p:nvSpPr>
        <p:spPr/>
        <p:txBody>
          <a:bodyPr/>
          <a:lstStyle/>
          <a:p>
            <a:fld id="{1C9584DC-3658-4054-9DA4-7B68A1D8CC6D}" type="slidenum">
              <a:rPr lang="zh-CN" altLang="en-US" smtClean="0"/>
              <a:t>31</a:t>
            </a:fld>
            <a:endParaRPr lang="zh-CN" altLang="en-US"/>
          </a:p>
        </p:txBody>
      </p:sp>
    </p:spTree>
    <p:extLst>
      <p:ext uri="{BB962C8B-B14F-4D97-AF65-F5344CB8AC3E}">
        <p14:creationId xmlns:p14="http://schemas.microsoft.com/office/powerpoint/2010/main" val="33545237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AB19F-E2BA-2F6F-9145-E35E02DE22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9CA11C-F206-F652-3730-F2C02674F2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FC03F9-D2B9-F669-F2C1-37935B63EFF7}"/>
              </a:ext>
            </a:extLst>
          </p:cNvPr>
          <p:cNvSpPr>
            <a:spLocks noGrp="1"/>
          </p:cNvSpPr>
          <p:nvPr>
            <p:ph type="body" idx="1"/>
          </p:nvPr>
        </p:nvSpPr>
        <p:spPr/>
        <p:txBody>
          <a:bodyPr/>
          <a:lstStyle/>
          <a:p>
            <a:r>
              <a:t>This diagram distinguishes control flow from data flow.</a:t>
            </a:r>
            <a:endParaRPr lang="en-US" dirty="0"/>
          </a:p>
          <a:p>
            <a:endParaRPr lang="en-US" dirty="0"/>
          </a:p>
          <a:p>
            <a:r>
              <a:t>The client first asks the master which replicas hold the chunk and which replica has the lease. That message contains only metadata. The file data then moves directly among the client and chunkservers.</a:t>
            </a:r>
            <a:endParaRPr lang="en-US" dirty="0"/>
          </a:p>
          <a:p>
            <a:endParaRPr lang="en-US" dirty="0"/>
          </a:p>
          <a:p>
            <a:r>
              <a:t>GFS pipelines the data through the replicas in an order chosen to reduce network distance. This uses each machine's outgoing bandwidth once instead of having the client send the full data separately across the network to every replica.</a:t>
            </a:r>
            <a:endParaRPr lang="en-US" dirty="0"/>
          </a:p>
          <a:p>
            <a:endParaRPr lang="en-US" dirty="0"/>
          </a:p>
          <a:p>
            <a:r>
              <a:t>After all replicas buffer the data, the client sends the control request to the primary. The primary orders the write and tells the secondaries when and where to apply the buffered bytes. The final acknowledgment travels back through the primary.</a:t>
            </a:r>
            <a:endParaRPr lang="en-US" dirty="0"/>
          </a:p>
          <a:p>
            <a:endParaRPr lang="en-US" dirty="0"/>
          </a:p>
          <a:p>
            <a:r>
              <a:t>SOURCE</a:t>
            </a:r>
            <a:endParaRPr lang="en-US" dirty="0"/>
          </a:p>
          <a:p>
            <a:r>
              <a:t>MIT 6.824, Spring 2020, Lecture 3 video, 50:35-60:46.</a:t>
            </a:r>
            <a:endParaRPr lang="en-US" dirty="0"/>
          </a:p>
          <a:p>
            <a:r>
              <a:t>https://www.youtube.com/watch?v=EpIgvowZr00</a:t>
            </a:r>
            <a:endParaRPr lang="en-US" dirty="0"/>
          </a:p>
          <a:p>
            <a:r>
              <a:t>MIT 6.5840, GFS lecture notes.</a:t>
            </a:r>
            <a:endParaRPr lang="en-US" dirty="0"/>
          </a:p>
          <a:p>
            <a:r>
              <a:t>https://pdos.csail.mit.edu/6.824/notes/l-gfs.txt</a:t>
            </a:r>
            <a:endParaRPr lang="en-US" dirty="0"/>
          </a:p>
          <a:p>
            <a:r>
              <a:t>Ghemawat, Gobioff, and Leung, The Google File System, Sections 3.1 and 3.2.</a:t>
            </a:r>
            <a:endParaRPr lang="en-US" dirty="0"/>
          </a:p>
          <a:p>
            <a:r>
              <a:t>https://pdos.csail.mit.edu/6.824/papers/gfs.pdf</a:t>
            </a:r>
            <a:endParaRPr lang="en-US" dirty="0"/>
          </a:p>
        </p:txBody>
      </p:sp>
      <p:sp>
        <p:nvSpPr>
          <p:cNvPr id="4" name="Slide Number Placeholder 3">
            <a:extLst>
              <a:ext uri="{FF2B5EF4-FFF2-40B4-BE49-F238E27FC236}">
                <a16:creationId xmlns:a16="http://schemas.microsoft.com/office/drawing/2014/main" id="{2D0659C9-61D4-31C7-3155-BE6F1B1DF380}"/>
              </a:ext>
            </a:extLst>
          </p:cNvPr>
          <p:cNvSpPr>
            <a:spLocks noGrp="1"/>
          </p:cNvSpPr>
          <p:nvPr>
            <p:ph type="sldNum" sz="quarter" idx="5"/>
          </p:nvPr>
        </p:nvSpPr>
        <p:spPr/>
        <p:txBody>
          <a:bodyPr/>
          <a:lstStyle/>
          <a:p>
            <a:fld id="{1C9584DC-3658-4054-9DA4-7B68A1D8CC6D}" type="slidenum">
              <a:rPr lang="zh-CN" altLang="en-US" smtClean="0"/>
              <a:t>32</a:t>
            </a:fld>
            <a:endParaRPr lang="zh-CN" altLang="en-US"/>
          </a:p>
        </p:txBody>
      </p:sp>
    </p:spTree>
    <p:extLst>
      <p:ext uri="{BB962C8B-B14F-4D97-AF65-F5344CB8AC3E}">
        <p14:creationId xmlns:p14="http://schemas.microsoft.com/office/powerpoint/2010/main" val="38976910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BB8B7-6C3A-826B-BEDC-11B455E4E5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59D6B3-B338-2117-3D33-BCA332753A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01A163-C2DA-77C8-7422-DB4C8C9F21C5}"/>
              </a:ext>
            </a:extLst>
          </p:cNvPr>
          <p:cNvSpPr>
            <a:spLocks noGrp="1"/>
          </p:cNvSpPr>
          <p:nvPr>
            <p:ph type="body" idx="1"/>
          </p:nvPr>
        </p:nvSpPr>
        <p:spPr/>
        <p:txBody>
          <a:bodyPr/>
          <a:lstStyle/>
          <a:p>
            <a:r>
              <a:rPr dirty="0"/>
              <a:t>LIVE DEMO 2, about 4 minutes.</a:t>
            </a:r>
            <a:endParaRPr lang="en-US" dirty="0"/>
          </a:p>
          <a:p>
            <a:r>
              <a:rPr dirty="0"/>
              <a:t>In a terminal: cd ~/work/BU/teaching/ec528/fall2026/lectures/demo/hdfs-gfs &amp;&amp; bash demo2-readwrite.sh</a:t>
            </a:r>
            <a:endParaRPr lang="en-US" dirty="0"/>
          </a:p>
          <a:p>
            <a:r>
              <a:rPr dirty="0"/>
              <a:t>If "Demo 1: HDFS" earlier in the lecture was run with KEEP=1, its cluster is still up and this reuses it in a couple of seconds; otherwise it starts its own, which takes 20 seconds warm and up to 90 seconds cold - run a warm-up before class. Rehearsed 09/16.</a:t>
            </a:r>
            <a:endParaRPr lang="en-US" dirty="0"/>
          </a:p>
          <a:p>
            <a:r>
              <a:rPr dirty="0"/>
              <a:t>Step 1, the read: point at the two kinds of line. One getBlockLocations call to the master for the whole file, then a direct connection per block. Which server serves which block depends on where the replicas are, so with only two live servers a block may come from the same machine as the previous one - say that before a student asks.</a:t>
            </a:r>
            <a:endParaRPr lang="en-US" dirty="0"/>
          </a:p>
          <a:p>
            <a:r>
              <a:rPr dirty="0"/>
              <a:t>Step 2, the write: three blocks means three addBlock calls. For each one the master returns a pipeline of two servers, and the client connects only to the first. That node forwards to the second. This is the slide you just showed: control to the master, data along a chain, and the bytes never touch the master.</a:t>
            </a:r>
            <a:endParaRPr lang="en-US" dirty="0"/>
          </a:p>
          <a:p>
            <a:r>
              <a:rPr dirty="0"/>
              <a:t>Step 3, the operation log: one OP_ADD, three OP_ADD_BLOCK, one OP_CLOSE, one OP_RENAME_OLD. The temporary file name and the rename are the CLI committing the file atomically once the data is written. Tie it back to the Master State slide: this log is what survives a reboot, and block locations are not in it.</a:t>
            </a:r>
            <a:endParaRPr lang="en-US" dirty="0"/>
          </a:p>
          <a:p>
            <a:r>
              <a:rPr dirty="0"/>
              <a:t>What this cannot show: GFS leases, a primary ordering concurrent writes, or record append. HDFS has a single writer per file and no record append, so the anomalies later in the lecture stay on the slides.</a:t>
            </a:r>
            <a:endParaRPr lang="en-US" dirty="0"/>
          </a:p>
          <a:p>
            <a:r>
              <a:rPr dirty="0"/>
              <a:t>SOURCE</a:t>
            </a:r>
            <a:endParaRPr lang="en-US" dirty="0"/>
          </a:p>
          <a:p>
            <a:r>
              <a:rPr dirty="0"/>
              <a:t>Local demo: fall2026/lectures/demo/hdfs-gfs/README.md (Hadoop 3.5.0).</a:t>
            </a:r>
            <a:endParaRPr lang="en-US" dirty="0"/>
          </a:p>
          <a:p>
            <a:r>
              <a:rPr dirty="0"/>
              <a:t>Ghemawat, Gobioff, and Leung, The Google File System, Sections 2.4, 3.1 and 3.2.</a:t>
            </a:r>
            <a:endParaRPr lang="en-US" dirty="0"/>
          </a:p>
          <a:p>
            <a:r>
              <a:rPr dirty="0"/>
              <a:t>https://pdos.csail.mit.edu/6.824/papers/gfs.pdf</a:t>
            </a:r>
            <a:endParaRPr lang="en-US" dirty="0"/>
          </a:p>
        </p:txBody>
      </p:sp>
      <p:sp>
        <p:nvSpPr>
          <p:cNvPr id="4" name="Slide Number Placeholder 3">
            <a:extLst>
              <a:ext uri="{FF2B5EF4-FFF2-40B4-BE49-F238E27FC236}">
                <a16:creationId xmlns:a16="http://schemas.microsoft.com/office/drawing/2014/main" id="{09D73A9A-D881-2613-9D53-6BBD01037D23}"/>
              </a:ext>
            </a:extLst>
          </p:cNvPr>
          <p:cNvSpPr>
            <a:spLocks noGrp="1"/>
          </p:cNvSpPr>
          <p:nvPr>
            <p:ph type="sldNum" sz="quarter" idx="5"/>
          </p:nvPr>
        </p:nvSpPr>
        <p:spPr/>
        <p:txBody>
          <a:bodyPr/>
          <a:lstStyle/>
          <a:p>
            <a:fld id="{1C9584DC-3658-4054-9DA4-7B68A1D8CC6D}" type="slidenum">
              <a:rPr lang="zh-CN" altLang="en-US" smtClean="0"/>
              <a:t>33</a:t>
            </a:fld>
            <a:endParaRPr lang="zh-CN" altLang="en-US"/>
          </a:p>
        </p:txBody>
      </p:sp>
    </p:spTree>
    <p:extLst>
      <p:ext uri="{BB962C8B-B14F-4D97-AF65-F5344CB8AC3E}">
        <p14:creationId xmlns:p14="http://schemas.microsoft.com/office/powerpoint/2010/main" val="33545237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3818E-E686-B4A7-47B7-D10FD3739D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F40398-8DF5-C22D-D829-856B7BD92B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36401E-9558-0871-C63C-0ECB2A30DFBF}"/>
              </a:ext>
            </a:extLst>
          </p:cNvPr>
          <p:cNvSpPr>
            <a:spLocks noGrp="1"/>
          </p:cNvSpPr>
          <p:nvPr>
            <p:ph type="body" idx="1"/>
          </p:nvPr>
        </p:nvSpPr>
        <p:spPr/>
        <p:txBody>
          <a:bodyPr/>
          <a:lstStyle/>
          <a:p>
            <a:r>
              <a:t>CUES</a:t>
            </a:r>
            <a:endParaRPr lang="en-US" dirty="0"/>
          </a:p>
          <a:p>
            <a:r>
              <a:t>Defined means consistent and complete</a:t>
            </a:r>
            <a:endParaRPr lang="en-US" dirty="0"/>
          </a:p>
          <a:p>
            <a:r>
              <a:t>Consistent means every replica returns the same bytes</a:t>
            </a:r>
            <a:endParaRPr lang="en-US" dirty="0"/>
          </a:p>
          <a:p>
            <a:r>
              <a:t>Failed mutations may leave replicas different</a:t>
            </a:r>
            <a:endParaRPr lang="en-US" dirty="0"/>
          </a:p>
          <a:p>
            <a:endParaRPr lang="en-US" dirty="0"/>
          </a:p>
          <a:p>
            <a:r>
              <a:t>GFS uses precise terms for file regions.</a:t>
            </a:r>
            <a:endParaRPr lang="en-US" dirty="0"/>
          </a:p>
          <a:p>
            <a:endParaRPr lang="en-US" dirty="0"/>
          </a:p>
          <a:p>
            <a:r>
              <a:t>A region is consistent when every client sees the same data regardless of which replica it reads. A region is defined when it is consistent and the bytes match one complete mutation.</a:t>
            </a:r>
            <a:endParaRPr lang="en-US" dirty="0"/>
          </a:p>
          <a:p>
            <a:endParaRPr lang="en-US" dirty="0"/>
          </a:p>
          <a:p>
            <a:r>
              <a:t>After a successful write with no concurrent writer, the region is defined. After successful concurrent writes, the replicas agree, so the region is consistent, but the bytes may contain fragments from different writes and therefore remain undefined. If a mutation fails, some replicas may have applied it and others may not, leaving the region inconsistent.</a:t>
            </a:r>
            <a:endParaRPr lang="en-US" dirty="0"/>
          </a:p>
          <a:p>
            <a:endParaRPr lang="en-US" dirty="0"/>
          </a:p>
          <a:p>
            <a:r>
              <a:t>This model is weaker than the single-server illusion. Google accepted it because its applications could avoid concurrent overwrites or detect unwanted records with checksums and identifiers.</a:t>
            </a:r>
            <a:endParaRPr lang="en-US" dirty="0"/>
          </a:p>
          <a:p>
            <a:endParaRPr lang="en-US" dirty="0"/>
          </a:p>
          <a:p>
            <a:r>
              <a:t>SOURCE</a:t>
            </a:r>
            <a:endParaRPr lang="en-US" dirty="0"/>
          </a:p>
          <a:p>
            <a:r>
              <a:t>MIT 6.824, Spring 2020, Lecture 3 video, 65:47-75:56.</a:t>
            </a:r>
            <a:endParaRPr lang="en-US" dirty="0"/>
          </a:p>
          <a:p>
            <a:r>
              <a:t>https://www.youtube.com/watch?v=EpIgvowZr00</a:t>
            </a:r>
            <a:endParaRPr lang="en-US" dirty="0"/>
          </a:p>
          <a:p>
            <a:r>
              <a:t>MIT 6.5840, GFS lecture notes.</a:t>
            </a:r>
            <a:endParaRPr lang="en-US" dirty="0"/>
          </a:p>
          <a:p>
            <a:r>
              <a:t>https://pdos.csail.mit.edu/6.824/notes/l-gfs.txt</a:t>
            </a:r>
            <a:endParaRPr lang="en-US" dirty="0"/>
          </a:p>
          <a:p>
            <a:r>
              <a:t>Ghemawat, Gobioff, and Leung, The Google File System, Sections 2.7.1 and 2.7.2.</a:t>
            </a:r>
            <a:endParaRPr lang="en-US" dirty="0"/>
          </a:p>
          <a:p>
            <a:r>
              <a:t>https://pdos.csail.mit.edu/6.824/papers/gfs.pdf</a:t>
            </a:r>
            <a:endParaRPr lang="en-US" dirty="0"/>
          </a:p>
        </p:txBody>
      </p:sp>
      <p:sp>
        <p:nvSpPr>
          <p:cNvPr id="4" name="Slide Number Placeholder 3">
            <a:extLst>
              <a:ext uri="{FF2B5EF4-FFF2-40B4-BE49-F238E27FC236}">
                <a16:creationId xmlns:a16="http://schemas.microsoft.com/office/drawing/2014/main" id="{C941085A-B44F-AA74-55AE-74461F4DFC7A}"/>
              </a:ext>
            </a:extLst>
          </p:cNvPr>
          <p:cNvSpPr>
            <a:spLocks noGrp="1"/>
          </p:cNvSpPr>
          <p:nvPr>
            <p:ph type="sldNum" sz="quarter" idx="5"/>
          </p:nvPr>
        </p:nvSpPr>
        <p:spPr/>
        <p:txBody>
          <a:bodyPr/>
          <a:lstStyle/>
          <a:p>
            <a:fld id="{1C9584DC-3658-4054-9DA4-7B68A1D8CC6D}" type="slidenum">
              <a:rPr lang="zh-CN" altLang="en-US" smtClean="0"/>
              <a:t>34</a:t>
            </a:fld>
            <a:endParaRPr lang="zh-CN" altLang="en-US"/>
          </a:p>
        </p:txBody>
      </p:sp>
    </p:spTree>
    <p:extLst>
      <p:ext uri="{BB962C8B-B14F-4D97-AF65-F5344CB8AC3E}">
        <p14:creationId xmlns:p14="http://schemas.microsoft.com/office/powerpoint/2010/main" val="24409687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F17AA-B54E-2B1A-097B-E0899EF178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EB499E-5450-2854-5B67-10AEF20344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285366-A8AA-52CE-2759-67BC6C7C3D57}"/>
              </a:ext>
            </a:extLst>
          </p:cNvPr>
          <p:cNvSpPr>
            <a:spLocks noGrp="1"/>
          </p:cNvSpPr>
          <p:nvPr>
            <p:ph type="body" idx="1"/>
          </p:nvPr>
        </p:nvSpPr>
        <p:spPr/>
        <p:txBody>
          <a:bodyPr/>
          <a:lstStyle/>
          <a:p>
            <a:r>
              <a:t>This is the concrete failure behind an inconsistent region.</a:t>
            </a:r>
            <a:endParaRPr lang="en-US" dirty="0"/>
          </a:p>
          <a:p>
            <a:endParaRPr lang="en-US" dirty="0"/>
          </a:p>
          <a:p>
            <a:r>
              <a:t>The primary applies a mutation, but one secondary does not. The secondary may have crashed, run out of disk space, or missed a network message. Because not every replica acknowledged the operation, the primary returns an error to the writer.</a:t>
            </a:r>
            <a:endParaRPr lang="en-US" dirty="0"/>
          </a:p>
          <a:p>
            <a:endParaRPr lang="en-US" dirty="0"/>
          </a:p>
          <a:p>
            <a:r>
              <a:t>The partial update still exists. A reader that contacts the primary may see the new bytes, while a reader that contacts the secondary may see the old bytes. GFS does not immediately roll back the successful replicas.</a:t>
            </a:r>
            <a:endParaRPr lang="en-US" dirty="0"/>
          </a:p>
          <a:p>
            <a:endParaRPr lang="en-US" dirty="0"/>
          </a:p>
          <a:p>
            <a:r>
              <a:t>The application must treat a failed write as having an uncertain outcome. Retrying may eventually create one successful copy of the record, but earlier partial copies can remain.</a:t>
            </a:r>
            <a:endParaRPr lang="en-US" dirty="0"/>
          </a:p>
          <a:p>
            <a:endParaRPr lang="en-US" dirty="0"/>
          </a:p>
          <a:p>
            <a:r>
              <a:t>SOURCE</a:t>
            </a:r>
            <a:endParaRPr lang="en-US" dirty="0"/>
          </a:p>
          <a:p>
            <a:r>
              <a:t>MIT 6.824, Spring 2020, Lecture 3 video, 50:35-60:46.</a:t>
            </a:r>
            <a:endParaRPr lang="en-US" dirty="0"/>
          </a:p>
          <a:p>
            <a:r>
              <a:t>https://www.youtube.com/watch?v=EpIgvowZr00</a:t>
            </a:r>
            <a:endParaRPr lang="en-US" dirty="0"/>
          </a:p>
          <a:p>
            <a:r>
              <a:t>MIT 6.5840, GFS lecture notes.</a:t>
            </a:r>
            <a:endParaRPr lang="en-US" dirty="0"/>
          </a:p>
          <a:p>
            <a:r>
              <a:t>https://pdos.csail.mit.edu/6.824/notes/l-gfs.txt</a:t>
            </a:r>
            <a:endParaRPr lang="en-US" dirty="0"/>
          </a:p>
          <a:p>
            <a:r>
              <a:t>Ghemawat, Gobioff, and Leung, The Google File System, Sections 2.7 and 3.1.</a:t>
            </a:r>
            <a:endParaRPr lang="en-US" dirty="0"/>
          </a:p>
          <a:p>
            <a:r>
              <a:t>https://pdos.csail.mit.edu/6.824/papers/gfs.pdf</a:t>
            </a:r>
            <a:endParaRPr lang="en-US" dirty="0"/>
          </a:p>
        </p:txBody>
      </p:sp>
      <p:sp>
        <p:nvSpPr>
          <p:cNvPr id="4" name="Slide Number Placeholder 3">
            <a:extLst>
              <a:ext uri="{FF2B5EF4-FFF2-40B4-BE49-F238E27FC236}">
                <a16:creationId xmlns:a16="http://schemas.microsoft.com/office/drawing/2014/main" id="{D6A671E7-EAFA-EDC3-A7DA-ADF1C5ADA039}"/>
              </a:ext>
            </a:extLst>
          </p:cNvPr>
          <p:cNvSpPr>
            <a:spLocks noGrp="1"/>
          </p:cNvSpPr>
          <p:nvPr>
            <p:ph type="sldNum" sz="quarter" idx="5"/>
          </p:nvPr>
        </p:nvSpPr>
        <p:spPr/>
        <p:txBody>
          <a:bodyPr/>
          <a:lstStyle/>
          <a:p>
            <a:fld id="{1C9584DC-3658-4054-9DA4-7B68A1D8CC6D}" type="slidenum">
              <a:rPr lang="zh-CN" altLang="en-US" smtClean="0"/>
              <a:t>35</a:t>
            </a:fld>
            <a:endParaRPr lang="zh-CN" altLang="en-US"/>
          </a:p>
        </p:txBody>
      </p:sp>
    </p:spTree>
    <p:extLst>
      <p:ext uri="{BB962C8B-B14F-4D97-AF65-F5344CB8AC3E}">
        <p14:creationId xmlns:p14="http://schemas.microsoft.com/office/powerpoint/2010/main" val="25743304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20F2C-5B1C-13F5-B344-9B13FC1584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10F3CF-255C-27EE-A8B3-386F524D1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A6B3F5-8978-1E7C-6D42-CC0A42D729C2}"/>
              </a:ext>
            </a:extLst>
          </p:cNvPr>
          <p:cNvSpPr>
            <a:spLocks noGrp="1"/>
          </p:cNvSpPr>
          <p:nvPr>
            <p:ph type="body" idx="1"/>
          </p:nvPr>
        </p:nvSpPr>
        <p:spPr/>
        <p:txBody>
          <a:bodyPr/>
          <a:lstStyle/>
          <a:p>
            <a:r>
              <a:t>Large writes can span chunk boundaries, so the client library breaks them into smaller mutations. Two clients performing such writes concurrently can interleave those pieces in different ways.</a:t>
            </a:r>
            <a:endParaRPr lang="en-US" dirty="0"/>
          </a:p>
          <a:p>
            <a:endParaRPr lang="en-US" dirty="0"/>
          </a:p>
          <a:p>
            <a:r>
              <a:t>GFS therefore emphasizes record append for workloads such as logs and producer-consumer queues. With record append, the primary chooses the offset and appends one record atomically. A retry can place the same record more than once, and a failed attempt can leave padding or an incomplete region.</a:t>
            </a:r>
            <a:endParaRPr lang="en-US" dirty="0"/>
          </a:p>
          <a:p>
            <a:endParaRPr lang="en-US" dirty="0"/>
          </a:p>
          <a:p>
            <a:r>
              <a:t>Applications can include record identifiers and checksums. Readers then discard padding and duplicate records. This is a clear example of co-design: GFS exposes weaker semantics, and applications include logic that makes those semantics usable.</a:t>
            </a:r>
            <a:endParaRPr lang="en-US" dirty="0"/>
          </a:p>
          <a:p>
            <a:endParaRPr lang="en-US" dirty="0"/>
          </a:p>
          <a:p>
            <a:r>
              <a:t>SOURCE</a:t>
            </a:r>
            <a:endParaRPr lang="en-US" dirty="0"/>
          </a:p>
          <a:p>
            <a:r>
              <a:t>MIT 6.824, Spring 2020, Lecture 3 video, 65:47-75:56.</a:t>
            </a:r>
            <a:endParaRPr lang="en-US" dirty="0"/>
          </a:p>
          <a:p>
            <a:r>
              <a:t>https://www.youtube.com/watch?v=EpIgvowZr00</a:t>
            </a:r>
            <a:endParaRPr lang="en-US" dirty="0"/>
          </a:p>
          <a:p>
            <a:r>
              <a:t>MIT 6.5840, GFS lecture notes.</a:t>
            </a:r>
            <a:endParaRPr lang="en-US" dirty="0"/>
          </a:p>
          <a:p>
            <a:r>
              <a:t>https://pdos.csail.mit.edu/6.824/notes/l-gfs.txt</a:t>
            </a:r>
            <a:endParaRPr lang="en-US" dirty="0"/>
          </a:p>
          <a:p>
            <a:r>
              <a:t>Ghemawat, Gobioff, and Leung, The Google File System, Sections 2.7.2 and 3.3.</a:t>
            </a:r>
            <a:endParaRPr lang="en-US" dirty="0"/>
          </a:p>
          <a:p>
            <a:r>
              <a:t>https://pdos.csail.mit.edu/6.824/papers/gfs.pdf</a:t>
            </a:r>
            <a:endParaRPr lang="en-US" dirty="0"/>
          </a:p>
        </p:txBody>
      </p:sp>
      <p:sp>
        <p:nvSpPr>
          <p:cNvPr id="4" name="Slide Number Placeholder 3">
            <a:extLst>
              <a:ext uri="{FF2B5EF4-FFF2-40B4-BE49-F238E27FC236}">
                <a16:creationId xmlns:a16="http://schemas.microsoft.com/office/drawing/2014/main" id="{054E87E4-5EDA-F440-9536-5B573A4BB733}"/>
              </a:ext>
            </a:extLst>
          </p:cNvPr>
          <p:cNvSpPr>
            <a:spLocks noGrp="1"/>
          </p:cNvSpPr>
          <p:nvPr>
            <p:ph type="sldNum" sz="quarter" idx="5"/>
          </p:nvPr>
        </p:nvSpPr>
        <p:spPr/>
        <p:txBody>
          <a:bodyPr/>
          <a:lstStyle/>
          <a:p>
            <a:fld id="{1C9584DC-3658-4054-9DA4-7B68A1D8CC6D}" type="slidenum">
              <a:rPr lang="zh-CN" altLang="en-US" smtClean="0"/>
              <a:t>36</a:t>
            </a:fld>
            <a:endParaRPr lang="zh-CN" altLang="en-US"/>
          </a:p>
        </p:txBody>
      </p:sp>
    </p:spTree>
    <p:extLst>
      <p:ext uri="{BB962C8B-B14F-4D97-AF65-F5344CB8AC3E}">
        <p14:creationId xmlns:p14="http://schemas.microsoft.com/office/powerpoint/2010/main" val="264261898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BB8B7-6C3A-826B-BEDC-11B455E4E5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59D6B3-B338-2117-3D33-BCA332753A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01A163-C2DA-77C8-7422-DB4C8C9F21C5}"/>
              </a:ext>
            </a:extLst>
          </p:cNvPr>
          <p:cNvSpPr>
            <a:spLocks noGrp="1"/>
          </p:cNvSpPr>
          <p:nvPr>
            <p:ph type="body" idx="1"/>
          </p:nvPr>
        </p:nvSpPr>
        <p:spPr/>
        <p:txBody>
          <a:bodyPr/>
          <a:lstStyle/>
          <a:p>
            <a:r>
              <a:t>Draw this on the board as you go; it is the concrete picture behind the consistency table.</a:t>
            </a:r>
            <a:endParaRPr lang="en-US"/>
          </a:p>
          <a:p>
            <a:r>
              <a:t>The key detail is step 3: the primary does not go back and fix B. It has already picked the offset for C, because appends from many clients are in flight at once and waiting would cost throughput.</a:t>
            </a:r>
            <a:endParaRPr lang="en-US"/>
          </a:p>
          <a:p>
            <a:r>
              <a:t>What the client is promised: if the append returned success, the record is in all replicas at the same offset. If it returned an error, anything is possible, which is why the client retries the whole append.</a:t>
            </a:r>
            <a:endParaRPr lang="en-US"/>
          </a:p>
          <a:p>
            <a:r>
              <a:t>That retry is what produces the duplicate B. An application that cannot live with duplicates has to filter them itself.</a:t>
            </a:r>
            <a:endParaRPr lang="en-US"/>
          </a:p>
          <a:p>
            <a:r>
              <a:t>SOURCE</a:t>
            </a:r>
            <a:endParaRPr lang="en-US"/>
          </a:p>
          <a:p>
            <a:r>
              <a:t>MIT 6.824, Spring 2020, Lecture 3 video, 67:47-75:11.</a:t>
            </a:r>
            <a:endParaRPr lang="en-US"/>
          </a:p>
          <a:p>
            <a:r>
              <a:t>https://www.youtube.com/watch?v=EpIgvowZr00</a:t>
            </a:r>
            <a:endParaRPr lang="en-US"/>
          </a:p>
          <a:p>
            <a:r>
              <a:t>MIT 6.5840, GFS lecture notes.</a:t>
            </a:r>
            <a:endParaRPr lang="en-US"/>
          </a:p>
          <a:p>
            <a:r>
              <a:t>https://pdos.csail.mit.edu/6.824/notes/l-gfs.txt</a:t>
            </a:r>
            <a:endParaRPr lang="en-US"/>
          </a:p>
          <a:p>
            <a:r>
              <a:t>Ghemawat, Gobioff, and Leung, The Google File System, Section 3.3.</a:t>
            </a:r>
            <a:endParaRPr lang="en-US"/>
          </a:p>
          <a:p>
            <a:r>
              <a:t>https://pdos.csail.mit.edu/6.824/papers/gfs.pdf</a:t>
            </a:r>
            <a:endParaRPr lang="en-US"/>
          </a:p>
        </p:txBody>
      </p:sp>
      <p:sp>
        <p:nvSpPr>
          <p:cNvPr id="4" name="Slide Number Placeholder 3">
            <a:extLst>
              <a:ext uri="{FF2B5EF4-FFF2-40B4-BE49-F238E27FC236}">
                <a16:creationId xmlns:a16="http://schemas.microsoft.com/office/drawing/2014/main" id="{09D73A9A-D881-2613-9D53-6BBD01037D23}"/>
              </a:ext>
            </a:extLst>
          </p:cNvPr>
          <p:cNvSpPr>
            <a:spLocks noGrp="1"/>
          </p:cNvSpPr>
          <p:nvPr>
            <p:ph type="sldNum" sz="quarter" idx="5"/>
          </p:nvPr>
        </p:nvSpPr>
        <p:spPr/>
        <p:txBody>
          <a:bodyPr/>
          <a:lstStyle/>
          <a:p>
            <a:fld id="{1C9584DC-3658-4054-9DA4-7B68A1D8CC6D}" type="slidenum">
              <a:rPr lang="zh-CN" altLang="en-US" smtClean="0"/>
              <a:t>37</a:t>
            </a:fld>
            <a:endParaRPr lang="zh-CN" altLang="en-US"/>
          </a:p>
        </p:txBody>
      </p:sp>
    </p:spTree>
    <p:extLst>
      <p:ext uri="{BB962C8B-B14F-4D97-AF65-F5344CB8AC3E}">
        <p14:creationId xmlns:p14="http://schemas.microsoft.com/office/powerpoint/2010/main" val="335452372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BB8B7-6C3A-826B-BEDC-11B455E4E5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59D6B3-B338-2117-3D33-BCA332753A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01A163-C2DA-77C8-7422-DB4C8C9F21C5}"/>
              </a:ext>
            </a:extLst>
          </p:cNvPr>
          <p:cNvSpPr>
            <a:spLocks noGrp="1"/>
          </p:cNvSpPr>
          <p:nvPr>
            <p:ph type="body" idx="1"/>
          </p:nvPr>
        </p:nvSpPr>
        <p:spPr/>
        <p:txBody>
          <a:bodyPr/>
          <a:lstStyle/>
          <a:p>
            <a:r>
              <a:t>The honest answer to "why is this acceptable" is that the system and its applications were written by the same company, and the applications were written knowing this behaviour.</a:t>
            </a:r>
            <a:endParaRPr lang="en-US"/>
          </a:p>
          <a:p>
            <a:r>
              <a:t>Ask: which of our own project workloads could tolerate a duplicated or reordered record, and which could not?</a:t>
            </a:r>
            <a:endParaRPr lang="en-US"/>
          </a:p>
          <a:p>
            <a:r>
              <a:t>The retrospective interview with a GFS engineer is worth quoting here: the relaxed consistency pushed real work into every application, and with hindsight they would have tightened it.</a:t>
            </a:r>
            <a:endParaRPr lang="en-US"/>
          </a:p>
          <a:p>
            <a:r>
              <a:t>SOURCE</a:t>
            </a:r>
            <a:endParaRPr lang="en-US"/>
          </a:p>
          <a:p>
            <a:r>
              <a:t>MIT 6.5840, GFS lecture notes.</a:t>
            </a:r>
            <a:endParaRPr lang="en-US"/>
          </a:p>
          <a:p>
            <a:r>
              <a:t>https://pdos.csail.mit.edu/6.824/notes/l-gfs.txt</a:t>
            </a:r>
            <a:endParaRPr lang="en-US"/>
          </a:p>
          <a:p>
            <a:r>
              <a:t>Ghemawat, Gobioff, and Leung, The Google File System, Section 2.7.</a:t>
            </a:r>
            <a:endParaRPr lang="en-US"/>
          </a:p>
          <a:p>
            <a:r>
              <a:t>https://pdos.csail.mit.edu/6.824/papers/gfs.pdf</a:t>
            </a:r>
            <a:endParaRPr lang="en-US"/>
          </a:p>
          <a:p>
            <a:r>
              <a:t>ACM Queue, GFS: Evolution on Fast-forward, interview with Sean Quinlan.</a:t>
            </a:r>
            <a:endParaRPr lang="en-US"/>
          </a:p>
          <a:p>
            <a:r>
              <a:t>http://queue.acm.org/detail.cfm?id=1594206</a:t>
            </a:r>
            <a:endParaRPr lang="en-US"/>
          </a:p>
        </p:txBody>
      </p:sp>
      <p:sp>
        <p:nvSpPr>
          <p:cNvPr id="4" name="Slide Number Placeholder 3">
            <a:extLst>
              <a:ext uri="{FF2B5EF4-FFF2-40B4-BE49-F238E27FC236}">
                <a16:creationId xmlns:a16="http://schemas.microsoft.com/office/drawing/2014/main" id="{09D73A9A-D881-2613-9D53-6BBD01037D23}"/>
              </a:ext>
            </a:extLst>
          </p:cNvPr>
          <p:cNvSpPr>
            <a:spLocks noGrp="1"/>
          </p:cNvSpPr>
          <p:nvPr>
            <p:ph type="sldNum" sz="quarter" idx="5"/>
          </p:nvPr>
        </p:nvSpPr>
        <p:spPr/>
        <p:txBody>
          <a:bodyPr/>
          <a:lstStyle/>
          <a:p>
            <a:fld id="{1C9584DC-3658-4054-9DA4-7B68A1D8CC6D}" type="slidenum">
              <a:rPr lang="zh-CN" altLang="en-US" smtClean="0"/>
              <a:t>38</a:t>
            </a:fld>
            <a:endParaRPr lang="zh-CN" altLang="en-US"/>
          </a:p>
        </p:txBody>
      </p:sp>
    </p:spTree>
    <p:extLst>
      <p:ext uri="{BB962C8B-B14F-4D97-AF65-F5344CB8AC3E}">
        <p14:creationId xmlns:p14="http://schemas.microsoft.com/office/powerpoint/2010/main" val="33545237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F948D-7E44-147F-A902-88379D5D7D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D5C3E1-2CC2-7FEB-7379-F8D6762B66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764C69-9C2D-4C4B-87D1-E8469E932C08}"/>
              </a:ext>
            </a:extLst>
          </p:cNvPr>
          <p:cNvSpPr>
            <a:spLocks noGrp="1"/>
          </p:cNvSpPr>
          <p:nvPr>
            <p:ph type="body" idx="1"/>
          </p:nvPr>
        </p:nvSpPr>
        <p:spPr/>
        <p:txBody>
          <a:bodyPr/>
          <a:lstStyle/>
          <a:p>
            <a:r>
              <a:rPr lang="en-US" b="1" dirty="0"/>
              <a:t>A client crash creates an uncertain outcome.</a:t>
            </a:r>
          </a:p>
          <a:p>
            <a:endParaRPr lang="en-US" b="1" dirty="0"/>
          </a:p>
          <a:p>
            <a:r>
              <a:rPr lang="en-US" b="1" dirty="0"/>
              <a:t>If the client crashes before asking the primary to perform the mutation, no replica applies it and the file stays unchanged.</a:t>
            </a:r>
          </a:p>
          <a:p>
            <a:endParaRPr lang="en-US" b="1" dirty="0"/>
          </a:p>
          <a:p>
            <a:r>
              <a:rPr lang="en-US" b="1" dirty="0"/>
              <a:t>If the client crashes after sending the request, the primary may complete the mutation, may update only some replicas, or may finish but lose the acknowledgment before the client sees it. The system cannot infer the client's intention from the missing connection.</a:t>
            </a:r>
          </a:p>
          <a:p>
            <a:endParaRPr lang="en-US" b="1" dirty="0"/>
          </a:p>
          <a:p>
            <a:r>
              <a:rPr lang="en-US" b="1" dirty="0"/>
              <a:t>For record append, a surviving client normally retries after an error or timeout, which gives at-least-once behavior and may create duplicates. If the client itself dies and never retries, the file may contain a complete record, a partial outcome across replicas, or no record. Readers and higher-level applications must tolerate that uncertainty.</a:t>
            </a:r>
          </a:p>
          <a:p>
            <a:endParaRPr lang="en-US" b="1" dirty="0"/>
          </a:p>
          <a:p>
            <a:r>
              <a:rPr lang="en-US" b="1" dirty="0"/>
              <a:t>SOURCE</a:t>
            </a:r>
          </a:p>
          <a:p>
            <a:r>
              <a:rPr lang="en-US" b="1" dirty="0"/>
              <a:t>MIT 6.824, Spring 2020, Lecture 3 video, 50:35-60:46.</a:t>
            </a:r>
          </a:p>
          <a:p>
            <a:r>
              <a:rPr lang="en-US" b="1" dirty="0"/>
              <a:t>https://www.youtube.com/watch?v=EpIgvowZr00</a:t>
            </a:r>
          </a:p>
          <a:p>
            <a:r>
              <a:rPr lang="en-US" b="1" dirty="0"/>
              <a:t>MIT 6.5840, GFS lecture notes.</a:t>
            </a:r>
          </a:p>
          <a:p>
            <a:r>
              <a:rPr lang="en-US" b="1" dirty="0"/>
              <a:t>https://pdos.csail.mit.edu/6.824/notes/l-gfs.txt</a:t>
            </a:r>
          </a:p>
          <a:p>
            <a:r>
              <a:rPr lang="en-US" b="1" dirty="0"/>
              <a:t>Ghemawat, Gobioff, and Leung, The Google File System, Sections 2.7.2, 3.1, and 3.3.</a:t>
            </a:r>
          </a:p>
          <a:p>
            <a:r>
              <a:rPr lang="en-US" b="1" dirty="0"/>
              <a:t>https://pdos.csail.mit.edu/6.824/papers/gfs.pdf</a:t>
            </a:r>
          </a:p>
        </p:txBody>
      </p:sp>
      <p:sp>
        <p:nvSpPr>
          <p:cNvPr id="4" name="Slide Number Placeholder 3">
            <a:extLst>
              <a:ext uri="{FF2B5EF4-FFF2-40B4-BE49-F238E27FC236}">
                <a16:creationId xmlns:a16="http://schemas.microsoft.com/office/drawing/2014/main" id="{90313BB5-9EB2-BB18-980A-26E8A18ED45D}"/>
              </a:ext>
            </a:extLst>
          </p:cNvPr>
          <p:cNvSpPr>
            <a:spLocks noGrp="1"/>
          </p:cNvSpPr>
          <p:nvPr>
            <p:ph type="sldNum" sz="quarter" idx="5"/>
          </p:nvPr>
        </p:nvSpPr>
        <p:spPr/>
        <p:txBody>
          <a:bodyPr/>
          <a:lstStyle/>
          <a:p>
            <a:fld id="{1C9584DC-3658-4054-9DA4-7B68A1D8CC6D}" type="slidenum">
              <a:rPr lang="zh-CN" altLang="en-US" smtClean="0"/>
              <a:t>39</a:t>
            </a:fld>
            <a:endParaRPr lang="zh-CN" altLang="en-US"/>
          </a:p>
        </p:txBody>
      </p:sp>
    </p:spTree>
    <p:extLst>
      <p:ext uri="{BB962C8B-B14F-4D97-AF65-F5344CB8AC3E}">
        <p14:creationId xmlns:p14="http://schemas.microsoft.com/office/powerpoint/2010/main" val="29744265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23F44-56C0-8903-42EF-A2C278000C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41EC11-3EBB-E8B6-C84B-73D1296AFC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BEB641-9F73-67EC-572D-BAE27EC85BCF}"/>
              </a:ext>
            </a:extLst>
          </p:cNvPr>
          <p:cNvSpPr>
            <a:spLocks noGrp="1"/>
          </p:cNvSpPr>
          <p:nvPr>
            <p:ph type="body" idx="1"/>
          </p:nvPr>
        </p:nvSpPr>
        <p:spPr/>
        <p:txBody>
          <a:bodyPr/>
          <a:lstStyle/>
          <a:p>
            <a:r>
              <a:t>CUES</a:t>
            </a:r>
            <a:endParaRPr lang="en-US" dirty="0"/>
          </a:p>
          <a:p>
            <a:r>
              <a:t>Retry transient failures</a:t>
            </a:r>
            <a:endParaRPr lang="en-US" dirty="0"/>
          </a:p>
          <a:p>
            <a:r>
              <a:t>Return an error if a secondary does not acknowledge</a:t>
            </a:r>
            <a:endParaRPr lang="en-US" dirty="0"/>
          </a:p>
          <a:p>
            <a:r>
              <a:t>Detect dead chunkservers through heartbeats</a:t>
            </a:r>
            <a:endParaRPr lang="en-US" dirty="0"/>
          </a:p>
          <a:p>
            <a:r>
              <a:t>Remove failed replicas and create replacements</a:t>
            </a:r>
            <a:endParaRPr lang="en-US" dirty="0"/>
          </a:p>
          <a:p>
            <a:endParaRPr lang="en-US" dirty="0"/>
          </a:p>
          <a:p>
            <a:r>
              <a:t>Suppose a secondary crashes while the primary is applying a write. The primary can retry briefly in case the process or network recovers. If the secondary still cannot acknowledge, the primary returns an error to the client, and the client may retry the full operation.</a:t>
            </a:r>
            <a:endParaRPr lang="en-US" dirty="0"/>
          </a:p>
          <a:p>
            <a:endParaRPr lang="en-US" dirty="0"/>
          </a:p>
          <a:p>
            <a:r>
              <a:t>Separately, the master exchanges heartbeat messages with every chunkserver. When it decides that a server has failed, it removes that server from the replica-location lists and schedules new replicas to restore the target replication level.</a:t>
            </a:r>
            <a:endParaRPr lang="en-US" dirty="0"/>
          </a:p>
          <a:p>
            <a:endParaRPr lang="en-US" dirty="0"/>
          </a:p>
          <a:p>
            <a:r>
              <a:t>A newly chosen replica group receives a new chunk version. That version lets the master exclude a server that later returns with a stale copy.</a:t>
            </a:r>
            <a:endParaRPr lang="en-US" dirty="0"/>
          </a:p>
          <a:p>
            <a:endParaRPr lang="en-US" dirty="0"/>
          </a:p>
          <a:p>
            <a:r>
              <a:t>SOURCE</a:t>
            </a:r>
            <a:endParaRPr lang="en-US" dirty="0"/>
          </a:p>
          <a:p>
            <a:r>
              <a:t>MIT 6.824, Spring 2020, Lecture 3 video, 60:46-65:47.</a:t>
            </a:r>
            <a:endParaRPr lang="en-US" dirty="0"/>
          </a:p>
          <a:p>
            <a:r>
              <a:t>https://www.youtube.com/watch?v=EpIgvowZr00</a:t>
            </a:r>
            <a:endParaRPr lang="en-US" dirty="0"/>
          </a:p>
          <a:p>
            <a:r>
              <a:t>MIT 6.5840, GFS lecture notes.</a:t>
            </a:r>
            <a:endParaRPr lang="en-US" dirty="0"/>
          </a:p>
          <a:p>
            <a:r>
              <a:t>https://pdos.csail.mit.edu/6.824/notes/l-gfs.txt</a:t>
            </a:r>
            <a:endParaRPr lang="en-US" dirty="0"/>
          </a:p>
          <a:p>
            <a:r>
              <a:t>Ghemawat, Gobioff, and Leung, The Google File System, Sections 4.3 and 4.5.</a:t>
            </a:r>
            <a:endParaRPr lang="en-US" dirty="0"/>
          </a:p>
          <a:p>
            <a:r>
              <a:t>https://pdos.csail.mit.edu/6.824/papers/gfs.pdf</a:t>
            </a:r>
            <a:endParaRPr lang="en-US" dirty="0"/>
          </a:p>
        </p:txBody>
      </p:sp>
      <p:sp>
        <p:nvSpPr>
          <p:cNvPr id="4" name="Slide Number Placeholder 3">
            <a:extLst>
              <a:ext uri="{FF2B5EF4-FFF2-40B4-BE49-F238E27FC236}">
                <a16:creationId xmlns:a16="http://schemas.microsoft.com/office/drawing/2014/main" id="{FC2B20AC-B371-CB96-0972-05A53F6693B5}"/>
              </a:ext>
            </a:extLst>
          </p:cNvPr>
          <p:cNvSpPr>
            <a:spLocks noGrp="1"/>
          </p:cNvSpPr>
          <p:nvPr>
            <p:ph type="sldNum" sz="quarter" idx="5"/>
          </p:nvPr>
        </p:nvSpPr>
        <p:spPr/>
        <p:txBody>
          <a:bodyPr/>
          <a:lstStyle/>
          <a:p>
            <a:fld id="{1C9584DC-3658-4054-9DA4-7B68A1D8CC6D}" type="slidenum">
              <a:rPr lang="zh-CN" altLang="en-US" smtClean="0"/>
              <a:t>40</a:t>
            </a:fld>
            <a:endParaRPr lang="zh-CN" altLang="en-US"/>
          </a:p>
        </p:txBody>
      </p:sp>
    </p:spTree>
    <p:extLst>
      <p:ext uri="{BB962C8B-B14F-4D97-AF65-F5344CB8AC3E}">
        <p14:creationId xmlns:p14="http://schemas.microsoft.com/office/powerpoint/2010/main" val="299223687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28018-8C23-1B0A-E4D9-655D40642E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1E3055-E841-9EDB-7A90-8D57DFCB72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768315-6CE4-DC46-F292-2FA46DD4FD52}"/>
              </a:ext>
            </a:extLst>
          </p:cNvPr>
          <p:cNvSpPr>
            <a:spLocks noGrp="1"/>
          </p:cNvSpPr>
          <p:nvPr>
            <p:ph type="body" idx="1"/>
          </p:nvPr>
        </p:nvSpPr>
        <p:spPr/>
        <p:txBody>
          <a:bodyPr/>
          <a:lstStyle/>
          <a:p>
            <a:r>
              <a:t>Re-replication is necessary, but it consumes real time and bandwidth.</a:t>
            </a:r>
            <a:endParaRPr lang="en-US" dirty="0"/>
          </a:p>
          <a:p>
            <a:endParaRPr lang="en-US" dirty="0"/>
          </a:p>
          <a:p>
            <a:r>
              <a:t>The historical example on the slide shows the scale. Copying an 80-gigabyte disk over a 10-megabyte-per-second link can take hours. A server that misses one heartbeat may simply be restarting, so immediate reconstruction could waste that copying work.</a:t>
            </a:r>
            <a:endParaRPr lang="en-US" dirty="0"/>
          </a:p>
          <a:p>
            <a:endParaRPr lang="en-US" dirty="0"/>
          </a:p>
          <a:p>
            <a:r>
              <a:t>Waiting too long creates a different risk. While a chunk has fewer replicas, another disk or machine failure could destroy the remaining copies. The master therefore prioritizes re-replication based on factors such as how far a chunk has fallen below its target and whether it blocks important jobs.</a:t>
            </a:r>
            <a:endParaRPr lang="en-US" dirty="0"/>
          </a:p>
          <a:p>
            <a:endParaRPr lang="en-US" dirty="0"/>
          </a:p>
          <a:p>
            <a:r>
              <a:t>This is a general failure-detector tradeoff. Fast suspicion improves recovery time, while conservative suspicion avoids unnecessary reconfiguration.</a:t>
            </a:r>
            <a:endParaRPr lang="en-US" dirty="0"/>
          </a:p>
          <a:p>
            <a:endParaRPr lang="en-US" dirty="0"/>
          </a:p>
          <a:p>
            <a:r>
              <a:t>SOURCE</a:t>
            </a:r>
            <a:endParaRPr lang="en-US" dirty="0"/>
          </a:p>
          <a:p>
            <a:r>
              <a:t>MIT 6.824, Spring 2020, Lecture 3 video, 60:46-65:47.</a:t>
            </a:r>
            <a:endParaRPr lang="en-US" dirty="0"/>
          </a:p>
          <a:p>
            <a:r>
              <a:t>https://www.youtube.com/watch?v=EpIgvowZr00</a:t>
            </a:r>
            <a:endParaRPr lang="en-US" dirty="0"/>
          </a:p>
          <a:p>
            <a:r>
              <a:t>MIT 6.5840, GFS lecture notes.</a:t>
            </a:r>
            <a:endParaRPr lang="en-US" dirty="0"/>
          </a:p>
          <a:p>
            <a:r>
              <a:t>https://pdos.csail.mit.edu/6.824/notes/l-gfs.txt</a:t>
            </a:r>
            <a:endParaRPr lang="en-US" dirty="0"/>
          </a:p>
          <a:p>
            <a:r>
              <a:t>Ghemawat, Gobioff, and Leung, The Google File System, Section 4.3.</a:t>
            </a:r>
            <a:endParaRPr lang="en-US" dirty="0"/>
          </a:p>
          <a:p>
            <a:r>
              <a:t>https://pdos.csail.mit.edu/6.824/papers/gfs.pdf</a:t>
            </a:r>
            <a:endParaRPr lang="en-US" dirty="0"/>
          </a:p>
        </p:txBody>
      </p:sp>
      <p:sp>
        <p:nvSpPr>
          <p:cNvPr id="4" name="Slide Number Placeholder 3">
            <a:extLst>
              <a:ext uri="{FF2B5EF4-FFF2-40B4-BE49-F238E27FC236}">
                <a16:creationId xmlns:a16="http://schemas.microsoft.com/office/drawing/2014/main" id="{405159DA-B620-946F-FBBE-C2D2F49EA169}"/>
              </a:ext>
            </a:extLst>
          </p:cNvPr>
          <p:cNvSpPr>
            <a:spLocks noGrp="1"/>
          </p:cNvSpPr>
          <p:nvPr>
            <p:ph type="sldNum" sz="quarter" idx="5"/>
          </p:nvPr>
        </p:nvSpPr>
        <p:spPr/>
        <p:txBody>
          <a:bodyPr/>
          <a:lstStyle/>
          <a:p>
            <a:fld id="{1C9584DC-3658-4054-9DA4-7B68A1D8CC6D}" type="slidenum">
              <a:rPr lang="zh-CN" altLang="en-US" smtClean="0"/>
              <a:t>41</a:t>
            </a:fld>
            <a:endParaRPr lang="zh-CN" altLang="en-US"/>
          </a:p>
        </p:txBody>
      </p:sp>
    </p:spTree>
    <p:extLst>
      <p:ext uri="{BB962C8B-B14F-4D97-AF65-F5344CB8AC3E}">
        <p14:creationId xmlns:p14="http://schemas.microsoft.com/office/powerpoint/2010/main" val="38000855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34872-59CF-C0D2-4374-EEE4A89178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E7C7F2-318A-9210-225E-82B4F450FF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09FA5F-A68E-6FF7-1200-B1E7465F13EE}"/>
              </a:ext>
            </a:extLst>
          </p:cNvPr>
          <p:cNvSpPr>
            <a:spLocks noGrp="1"/>
          </p:cNvSpPr>
          <p:nvPr>
            <p:ph type="body" idx="1"/>
          </p:nvPr>
        </p:nvSpPr>
        <p:spPr/>
        <p:txBody>
          <a:bodyPr/>
          <a:lstStyle/>
          <a:p>
            <a:r>
              <a:t>The primary for a chunk can fail, but the master cannot instantly know whether it crashed or merely became unreachable from part of the network.</a:t>
            </a:r>
            <a:endParaRPr lang="en-US" dirty="0"/>
          </a:p>
          <a:p>
            <a:endParaRPr lang="en-US" dirty="0"/>
          </a:p>
          <a:p>
            <a:r>
              <a:t>If the master immediately appoints a replacement while the old primary still serves some clients, both servers may accept writes. The replicas then follow two independent orders. This is split brain.</a:t>
            </a:r>
            <a:endParaRPr lang="en-US" dirty="0"/>
          </a:p>
          <a:p>
            <a:endParaRPr lang="en-US" dirty="0"/>
          </a:p>
          <a:p>
            <a:r>
              <a:t>Client caching makes the problem harder. A client may hold recently issued information that still names the old primary. Even if the master has changed its answer, an in-flight or cached response can direct that client to the old server.</a:t>
            </a:r>
            <a:endParaRPr lang="en-US" dirty="0"/>
          </a:p>
          <a:p>
            <a:endParaRPr lang="en-US" dirty="0"/>
          </a:p>
          <a:p>
            <a:r>
              <a:t>GFS needs a rule that limits how long any primary can continue acting without renewed permission.</a:t>
            </a:r>
            <a:endParaRPr lang="en-US" dirty="0"/>
          </a:p>
          <a:p>
            <a:endParaRPr lang="en-US" dirty="0"/>
          </a:p>
          <a:p>
            <a:r>
              <a:t>SOURCE</a:t>
            </a:r>
            <a:endParaRPr lang="en-US" dirty="0"/>
          </a:p>
          <a:p>
            <a:r>
              <a:t>MIT 6.824, Spring 2020, Lecture 3 video, 60:46-70:49.</a:t>
            </a:r>
            <a:endParaRPr lang="en-US" dirty="0"/>
          </a:p>
          <a:p>
            <a:r>
              <a:t>https://www.youtube.com/watch?v=EpIgvowZr00</a:t>
            </a:r>
            <a:endParaRPr lang="en-US" dirty="0"/>
          </a:p>
          <a:p>
            <a:r>
              <a:t>MIT 6.5840, GFS lecture notes.</a:t>
            </a:r>
            <a:endParaRPr lang="en-US" dirty="0"/>
          </a:p>
          <a:p>
            <a:r>
              <a:t>https://pdos.csail.mit.edu/6.824/notes/l-gfs.txt</a:t>
            </a:r>
            <a:endParaRPr lang="en-US" dirty="0"/>
          </a:p>
          <a:p>
            <a:r>
              <a:t>Ghemawat, Gobioff, and Leung, The Google File System, Sections 3.1 and 4.5.</a:t>
            </a:r>
            <a:endParaRPr lang="en-US" dirty="0"/>
          </a:p>
          <a:p>
            <a:r>
              <a:t>https://pdos.csail.mit.edu/6.824/papers/gfs.pdf</a:t>
            </a:r>
            <a:endParaRPr lang="en-US" dirty="0"/>
          </a:p>
        </p:txBody>
      </p:sp>
      <p:sp>
        <p:nvSpPr>
          <p:cNvPr id="4" name="Slide Number Placeholder 3">
            <a:extLst>
              <a:ext uri="{FF2B5EF4-FFF2-40B4-BE49-F238E27FC236}">
                <a16:creationId xmlns:a16="http://schemas.microsoft.com/office/drawing/2014/main" id="{8A3EE63F-F912-5C21-B45B-BCD536A47914}"/>
              </a:ext>
            </a:extLst>
          </p:cNvPr>
          <p:cNvSpPr>
            <a:spLocks noGrp="1"/>
          </p:cNvSpPr>
          <p:nvPr>
            <p:ph type="sldNum" sz="quarter" idx="5"/>
          </p:nvPr>
        </p:nvSpPr>
        <p:spPr/>
        <p:txBody>
          <a:bodyPr/>
          <a:lstStyle/>
          <a:p>
            <a:fld id="{1C9584DC-3658-4054-9DA4-7B68A1D8CC6D}" type="slidenum">
              <a:rPr lang="zh-CN" altLang="en-US" smtClean="0"/>
              <a:t>42</a:t>
            </a:fld>
            <a:endParaRPr lang="zh-CN" altLang="en-US"/>
          </a:p>
        </p:txBody>
      </p:sp>
    </p:spTree>
    <p:extLst>
      <p:ext uri="{BB962C8B-B14F-4D97-AF65-F5344CB8AC3E}">
        <p14:creationId xmlns:p14="http://schemas.microsoft.com/office/powerpoint/2010/main" val="38649570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9AD81-B259-BE92-167E-AB72405C53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107EDA-2069-B1E6-417D-E5F3664376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4761A3-70EE-A99B-45F1-D9055A234D85}"/>
              </a:ext>
            </a:extLst>
          </p:cNvPr>
          <p:cNvSpPr>
            <a:spLocks noGrp="1"/>
          </p:cNvSpPr>
          <p:nvPr>
            <p:ph type="body" idx="1"/>
          </p:nvPr>
        </p:nvSpPr>
        <p:spPr/>
        <p:txBody>
          <a:bodyPr/>
          <a:lstStyle/>
          <a:p>
            <a:r>
              <a:t>CUES</a:t>
            </a:r>
            <a:endParaRPr lang="en-US" dirty="0"/>
          </a:p>
          <a:p>
            <a:r>
              <a:t>Lease grants temporary primary authority</a:t>
            </a:r>
            <a:endParaRPr lang="en-US" dirty="0"/>
          </a:p>
          <a:p>
            <a:r>
              <a:t>Primary stops when the lease expires</a:t>
            </a:r>
            <a:endParaRPr lang="en-US" dirty="0"/>
          </a:p>
          <a:p>
            <a:r>
              <a:t>Master waits before appointing a replacement</a:t>
            </a:r>
            <a:endParaRPr lang="en-US" dirty="0"/>
          </a:p>
          <a:p>
            <a:r>
              <a:t>One lease per actively mutated chunk</a:t>
            </a:r>
            <a:endParaRPr lang="en-US" dirty="0"/>
          </a:p>
          <a:p>
            <a:endParaRPr lang="en-US" dirty="0"/>
          </a:p>
          <a:p>
            <a:r>
              <a:t>The master gives the primary a lease, normally for 60 seconds. The lease is permission to order mutations for one chunk until a known expiration time.</a:t>
            </a:r>
            <a:endParaRPr lang="en-US" dirty="0"/>
          </a:p>
          <a:p>
            <a:endParaRPr lang="en-US" dirty="0"/>
          </a:p>
          <a:p>
            <a:r>
              <a:t>The primary promises to stop acting as primary when the lease expires. The master promises not to appoint another primary before that expiration. If communication fails, the master waits out the old lease before granting a new one.</a:t>
            </a:r>
            <a:endParaRPr lang="en-US" dirty="0"/>
          </a:p>
          <a:p>
            <a:endParaRPr lang="en-US" dirty="0"/>
          </a:p>
          <a:p>
            <a:r>
              <a:t>That waiting period prevents two primaries from acting at once, assuming the servers' clocks remain within the timing assumptions used by the lease protocol. Active writes can extend a lease through heartbeat messages.</a:t>
            </a:r>
            <a:endParaRPr lang="en-US" dirty="0"/>
          </a:p>
          <a:p>
            <a:endParaRPr lang="en-US" dirty="0"/>
          </a:p>
          <a:p>
            <a:r>
              <a:t>SOURCE</a:t>
            </a:r>
            <a:endParaRPr lang="en-US" dirty="0"/>
          </a:p>
          <a:p>
            <a:r>
              <a:t>MIT 6.824, Spring 2020, Lecture 3 video, 60:46-70:49.</a:t>
            </a:r>
            <a:endParaRPr lang="en-US" dirty="0"/>
          </a:p>
          <a:p>
            <a:r>
              <a:t>https://www.youtube.com/watch?v=EpIgvowZr00</a:t>
            </a:r>
            <a:endParaRPr lang="en-US" dirty="0"/>
          </a:p>
          <a:p>
            <a:r>
              <a:t>MIT 6.5840, GFS lecture notes.</a:t>
            </a:r>
            <a:endParaRPr lang="en-US" dirty="0"/>
          </a:p>
          <a:p>
            <a:r>
              <a:t>https://pdos.csail.mit.edu/6.824/notes/l-gfs.txt</a:t>
            </a:r>
            <a:endParaRPr lang="en-US" dirty="0"/>
          </a:p>
          <a:p>
            <a:r>
              <a:t>Ghemawat, Gobioff, and Leung, The Google File System, Sections 3.1 and 4.5.</a:t>
            </a:r>
            <a:endParaRPr lang="en-US" dirty="0"/>
          </a:p>
          <a:p>
            <a:r>
              <a:t>https://pdos.csail.mit.edu/6.824/papers/gfs.pdf</a:t>
            </a:r>
            <a:endParaRPr lang="en-US" dirty="0"/>
          </a:p>
        </p:txBody>
      </p:sp>
      <p:sp>
        <p:nvSpPr>
          <p:cNvPr id="4" name="Slide Number Placeholder 3">
            <a:extLst>
              <a:ext uri="{FF2B5EF4-FFF2-40B4-BE49-F238E27FC236}">
                <a16:creationId xmlns:a16="http://schemas.microsoft.com/office/drawing/2014/main" id="{E7E98E07-8F81-A69A-CA05-625214346D65}"/>
              </a:ext>
            </a:extLst>
          </p:cNvPr>
          <p:cNvSpPr>
            <a:spLocks noGrp="1"/>
          </p:cNvSpPr>
          <p:nvPr>
            <p:ph type="sldNum" sz="quarter" idx="5"/>
          </p:nvPr>
        </p:nvSpPr>
        <p:spPr/>
        <p:txBody>
          <a:bodyPr/>
          <a:lstStyle/>
          <a:p>
            <a:fld id="{1C9584DC-3658-4054-9DA4-7B68A1D8CC6D}" type="slidenum">
              <a:rPr lang="zh-CN" altLang="en-US" smtClean="0"/>
              <a:t>43</a:t>
            </a:fld>
            <a:endParaRPr lang="zh-CN" altLang="en-US"/>
          </a:p>
        </p:txBody>
      </p:sp>
    </p:spTree>
    <p:extLst>
      <p:ext uri="{BB962C8B-B14F-4D97-AF65-F5344CB8AC3E}">
        <p14:creationId xmlns:p14="http://schemas.microsoft.com/office/powerpoint/2010/main" val="372264673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306A2-1628-4258-5329-0E6ECB5D7B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99FEF1-955A-DFF2-D703-AC0458B1C9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F99A59-EBDF-A787-3BE1-6C9839F1E20C}"/>
              </a:ext>
            </a:extLst>
          </p:cNvPr>
          <p:cNvSpPr>
            <a:spLocks noGrp="1"/>
          </p:cNvSpPr>
          <p:nvPr>
            <p:ph type="body" idx="1"/>
          </p:nvPr>
        </p:nvSpPr>
        <p:spPr/>
        <p:txBody>
          <a:bodyPr/>
          <a:lstStyle/>
          <a:p>
            <a:r>
              <a:t>When a primary chunkserver fails, the master removes it from the location lists. For every chunk that used that primary, the master waits until the old lease must have expired.</a:t>
            </a:r>
            <a:endParaRPr lang="en-US" dirty="0"/>
          </a:p>
          <a:p>
            <a:endParaRPr lang="en-US" dirty="0"/>
          </a:p>
          <a:p>
            <a:r>
              <a:t>The master then chooses a new primary from the replicas with the current chunk version and grants a new lease. Replicas with older version numbers remain stale and cannot rejoin the active replica group until GFS replaces or updates them.</a:t>
            </a:r>
            <a:endParaRPr lang="en-US" dirty="0"/>
          </a:p>
          <a:p>
            <a:endParaRPr lang="en-US" dirty="0"/>
          </a:p>
          <a:p>
            <a:r>
              <a:t>Notice the deliberate availability tradeoff. GFS may pause mutations for up to one lease period to avoid split brain. Reads from surviving replicas may continue, but the system delays a new writer until it can safely establish one ordering authority.</a:t>
            </a:r>
            <a:endParaRPr lang="en-US" dirty="0"/>
          </a:p>
          <a:p>
            <a:endParaRPr lang="en-US" dirty="0"/>
          </a:p>
          <a:p>
            <a:r>
              <a:t>SOURCE</a:t>
            </a:r>
            <a:endParaRPr lang="en-US" dirty="0"/>
          </a:p>
          <a:p>
            <a:r>
              <a:t>MIT 6.824, Spring 2020, Lecture 3 video, 60:46-70:49.</a:t>
            </a:r>
            <a:endParaRPr lang="en-US" dirty="0"/>
          </a:p>
          <a:p>
            <a:r>
              <a:t>https://www.youtube.com/watch?v=EpIgvowZr00</a:t>
            </a:r>
            <a:endParaRPr lang="en-US" dirty="0"/>
          </a:p>
          <a:p>
            <a:r>
              <a:t>MIT 6.5840, GFS lecture notes.</a:t>
            </a:r>
            <a:endParaRPr lang="en-US" dirty="0"/>
          </a:p>
          <a:p>
            <a:r>
              <a:t>https://pdos.csail.mit.edu/6.824/notes/l-gfs.txt</a:t>
            </a:r>
            <a:endParaRPr lang="en-US" dirty="0"/>
          </a:p>
          <a:p>
            <a:r>
              <a:t>Ghemawat, Gobioff, and Leung, The Google File System, Sections 3.1, 4.3, and 4.5.</a:t>
            </a:r>
            <a:endParaRPr lang="en-US" dirty="0"/>
          </a:p>
          <a:p>
            <a:r>
              <a:t>https://pdos.csail.mit.edu/6.824/papers/gfs.pdf</a:t>
            </a:r>
            <a:endParaRPr lang="en-US" dirty="0"/>
          </a:p>
        </p:txBody>
      </p:sp>
      <p:sp>
        <p:nvSpPr>
          <p:cNvPr id="4" name="Slide Number Placeholder 3">
            <a:extLst>
              <a:ext uri="{FF2B5EF4-FFF2-40B4-BE49-F238E27FC236}">
                <a16:creationId xmlns:a16="http://schemas.microsoft.com/office/drawing/2014/main" id="{B2059626-2CD0-FBEE-4954-EB0FB3BCC1A6}"/>
              </a:ext>
            </a:extLst>
          </p:cNvPr>
          <p:cNvSpPr>
            <a:spLocks noGrp="1"/>
          </p:cNvSpPr>
          <p:nvPr>
            <p:ph type="sldNum" sz="quarter" idx="5"/>
          </p:nvPr>
        </p:nvSpPr>
        <p:spPr/>
        <p:txBody>
          <a:bodyPr/>
          <a:lstStyle/>
          <a:p>
            <a:fld id="{1C9584DC-3658-4054-9DA4-7B68A1D8CC6D}" type="slidenum">
              <a:rPr lang="zh-CN" altLang="en-US" smtClean="0"/>
              <a:t>44</a:t>
            </a:fld>
            <a:endParaRPr lang="zh-CN" altLang="en-US"/>
          </a:p>
        </p:txBody>
      </p:sp>
    </p:spTree>
    <p:extLst>
      <p:ext uri="{BB962C8B-B14F-4D97-AF65-F5344CB8AC3E}">
        <p14:creationId xmlns:p14="http://schemas.microsoft.com/office/powerpoint/2010/main" val="370273557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BB8B7-6C3A-826B-BEDC-11B455E4E5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59D6B3-B338-2117-3D33-BCA332753A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01A163-C2DA-77C8-7422-DB4C8C9F21C5}"/>
              </a:ext>
            </a:extLst>
          </p:cNvPr>
          <p:cNvSpPr>
            <a:spLocks noGrp="1"/>
          </p:cNvSpPr>
          <p:nvPr>
            <p:ph type="body" idx="1"/>
          </p:nvPr>
        </p:nvSpPr>
        <p:spPr/>
        <p:txBody>
          <a:bodyPr/>
          <a:lstStyle/>
          <a:p>
            <a:r>
              <a:t>This closes the failure section: we have covered a client, a secondary, a primary, and now the one machine the paper admits is a single point of failure.</a:t>
            </a:r>
            <a:endParaRPr lang="en-US"/>
          </a:p>
          <a:p>
            <a:r>
              <a:t>Point out the asymmetry: chunkserver failures are handled automatically and constantly, while master failure was handled by a person on call.</a:t>
            </a:r>
            <a:endParaRPr lang="en-US"/>
          </a:p>
          <a:p>
            <a:r>
              <a:t>Shadow masters are for read availability, not for taking over. Students confuse them with a standby master: a shadow may serve slightly stale metadata and never grants leases.</a:t>
            </a:r>
            <a:endParaRPr lang="en-US"/>
          </a:p>
          <a:p>
            <a:r>
              <a:t>SOURCE</a:t>
            </a:r>
            <a:endParaRPr lang="en-US"/>
          </a:p>
          <a:p>
            <a:r>
              <a:t>MIT 6.824, Spring 2020, Lecture 3 video, 80:05-84:00.</a:t>
            </a:r>
            <a:endParaRPr lang="en-US"/>
          </a:p>
          <a:p>
            <a:r>
              <a:t>https://www.youtube.com/watch?v=EpIgvowZr00</a:t>
            </a:r>
            <a:endParaRPr lang="en-US"/>
          </a:p>
          <a:p>
            <a:r>
              <a:t>MIT 6.5840, GFS lecture notes.</a:t>
            </a:r>
            <a:endParaRPr lang="en-US"/>
          </a:p>
          <a:p>
            <a:r>
              <a:t>https://pdos.csail.mit.edu/6.824/notes/l-gfs.txt</a:t>
            </a:r>
            <a:endParaRPr lang="en-US"/>
          </a:p>
          <a:p>
            <a:r>
              <a:t>Ghemawat, Gobioff, and Leung, The Google File System, Sections 5.1.2 and 5.1.3.</a:t>
            </a:r>
            <a:endParaRPr lang="en-US"/>
          </a:p>
          <a:p>
            <a:r>
              <a:t>https://pdos.csail.mit.edu/6.824/papers/gfs.pdf</a:t>
            </a:r>
            <a:endParaRPr lang="en-US"/>
          </a:p>
          <a:p>
            <a:r>
              <a:t>ACM Queue, GFS: Evolution on Fast-forward, interview with Sean Quinlan.</a:t>
            </a:r>
            <a:endParaRPr lang="en-US"/>
          </a:p>
          <a:p>
            <a:r>
              <a:t>http://queue.acm.org/detail.cfm?id=1594206</a:t>
            </a:r>
            <a:endParaRPr lang="en-US"/>
          </a:p>
        </p:txBody>
      </p:sp>
      <p:sp>
        <p:nvSpPr>
          <p:cNvPr id="4" name="Slide Number Placeholder 3">
            <a:extLst>
              <a:ext uri="{FF2B5EF4-FFF2-40B4-BE49-F238E27FC236}">
                <a16:creationId xmlns:a16="http://schemas.microsoft.com/office/drawing/2014/main" id="{09D73A9A-D881-2613-9D53-6BBD01037D23}"/>
              </a:ext>
            </a:extLst>
          </p:cNvPr>
          <p:cNvSpPr>
            <a:spLocks noGrp="1"/>
          </p:cNvSpPr>
          <p:nvPr>
            <p:ph type="sldNum" sz="quarter" idx="5"/>
          </p:nvPr>
        </p:nvSpPr>
        <p:spPr/>
        <p:txBody>
          <a:bodyPr/>
          <a:lstStyle/>
          <a:p>
            <a:fld id="{1C9584DC-3658-4054-9DA4-7B68A1D8CC6D}" type="slidenum">
              <a:rPr lang="zh-CN" altLang="en-US" smtClean="0"/>
              <a:t>45</a:t>
            </a:fld>
            <a:endParaRPr lang="zh-CN" altLang="en-US"/>
          </a:p>
        </p:txBody>
      </p:sp>
    </p:spTree>
    <p:extLst>
      <p:ext uri="{BB962C8B-B14F-4D97-AF65-F5344CB8AC3E}">
        <p14:creationId xmlns:p14="http://schemas.microsoft.com/office/powerpoint/2010/main" val="335452372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BB8B7-6C3A-826B-BEDC-11B455E4E5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59D6B3-B338-2117-3D33-BCA332753A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01A163-C2DA-77C8-7422-DB4C8C9F21C5}"/>
              </a:ext>
            </a:extLst>
          </p:cNvPr>
          <p:cNvSpPr>
            <a:spLocks noGrp="1"/>
          </p:cNvSpPr>
          <p:nvPr>
            <p:ph type="body" idx="1"/>
          </p:nvPr>
        </p:nvSpPr>
        <p:spPr/>
        <p:txBody>
          <a:bodyPr/>
          <a:lstStyle/>
          <a:p>
            <a:r>
              <a:t>Close the loop with the "What Would We Like for Consistency?" slide near the start: we wanted single-server behaviour, GFS gave up part of it for performance, and this is the bill for buying it back.</a:t>
            </a:r>
            <a:endParaRPr lang="en-US"/>
          </a:p>
          <a:p>
            <a:r>
              <a:t>Each line here is a real mechanism: duplicate detection, two-phase commit, log reconciliation on leader change, and leases for readers.</a:t>
            </a:r>
            <a:endParaRPr lang="en-US"/>
          </a:p>
          <a:p>
            <a:r>
              <a:t>This is exactly what the next lecture builds. On 09/28 we read Raft, which makes a replicated log that keeps replicas identical.</a:t>
            </a:r>
            <a:endParaRPr lang="en-US"/>
          </a:p>
          <a:p>
            <a:r>
              <a:t>SOURCE</a:t>
            </a:r>
            <a:endParaRPr lang="en-US"/>
          </a:p>
          <a:p>
            <a:r>
              <a:t>MIT 6.824, Spring 2020, Lecture 3 video, 76:04-80:05.</a:t>
            </a:r>
            <a:endParaRPr lang="en-US"/>
          </a:p>
          <a:p>
            <a:r>
              <a:t>https://www.youtube.com/watch?v=EpIgvowZr00</a:t>
            </a:r>
            <a:endParaRPr lang="en-US"/>
          </a:p>
          <a:p>
            <a:r>
              <a:t>MIT 6.5840, GFS lecture notes.</a:t>
            </a:r>
            <a:endParaRPr lang="en-US"/>
          </a:p>
          <a:p>
            <a:r>
              <a:t>https://pdos.csail.mit.edu/6.824/notes/l-gfs.txt</a:t>
            </a:r>
            <a:endParaRPr lang="en-US"/>
          </a:p>
        </p:txBody>
      </p:sp>
      <p:sp>
        <p:nvSpPr>
          <p:cNvPr id="4" name="Slide Number Placeholder 3">
            <a:extLst>
              <a:ext uri="{FF2B5EF4-FFF2-40B4-BE49-F238E27FC236}">
                <a16:creationId xmlns:a16="http://schemas.microsoft.com/office/drawing/2014/main" id="{09D73A9A-D881-2613-9D53-6BBD01037D23}"/>
              </a:ext>
            </a:extLst>
          </p:cNvPr>
          <p:cNvSpPr>
            <a:spLocks noGrp="1"/>
          </p:cNvSpPr>
          <p:nvPr>
            <p:ph type="sldNum" sz="quarter" idx="5"/>
          </p:nvPr>
        </p:nvSpPr>
        <p:spPr/>
        <p:txBody>
          <a:bodyPr/>
          <a:lstStyle/>
          <a:p>
            <a:fld id="{1C9584DC-3658-4054-9DA4-7B68A1D8CC6D}" type="slidenum">
              <a:rPr lang="zh-CN" altLang="en-US" smtClean="0"/>
              <a:t>46</a:t>
            </a:fld>
            <a:endParaRPr lang="zh-CN" altLang="en-US"/>
          </a:p>
        </p:txBody>
      </p:sp>
    </p:spTree>
    <p:extLst>
      <p:ext uri="{BB962C8B-B14F-4D97-AF65-F5344CB8AC3E}">
        <p14:creationId xmlns:p14="http://schemas.microsoft.com/office/powerpoint/2010/main" val="335452372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BB8B7-6C3A-826B-BEDC-11B455E4E5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59D6B3-B338-2117-3D33-BCA332753A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01A163-C2DA-77C8-7422-DB4C8C9F21C5}"/>
              </a:ext>
            </a:extLst>
          </p:cNvPr>
          <p:cNvSpPr>
            <a:spLocks noGrp="1"/>
          </p:cNvSpPr>
          <p:nvPr>
            <p:ph type="body" idx="1"/>
          </p:nvPr>
        </p:nvSpPr>
        <p:spPr/>
        <p:txBody>
          <a:bodyPr/>
          <a:lstStyle/>
          <a:p>
            <a:r>
              <a:t>Use this as the summary of the case study, and as the template for reading the next system: what did it buy, and what did it cost?</a:t>
            </a:r>
            <a:endParaRPr lang="en-US"/>
          </a:p>
          <a:p>
            <a:r>
              <a:t>The file-count problem is the one that eventually killed the design: the number of files grew far beyond the paper, and the master could not hold the metadata.</a:t>
            </a:r>
            <a:endParaRPr lang="en-US"/>
          </a:p>
          <a:p>
            <a:r>
              <a:t>Colossus is the successor and shards master state across many machines; BigTable was the answer for workloads made of many small records.</a:t>
            </a:r>
            <a:endParaRPr lang="en-US"/>
          </a:p>
          <a:p>
            <a:r>
              <a:t>SOURCE</a:t>
            </a:r>
            <a:endParaRPr lang="en-US"/>
          </a:p>
          <a:p>
            <a:r>
              <a:t>MIT 6.824, Spring 2020, Lecture 3 video, 80:05-84:00.</a:t>
            </a:r>
            <a:endParaRPr lang="en-US"/>
          </a:p>
          <a:p>
            <a:r>
              <a:t>https://www.youtube.com/watch?v=EpIgvowZr00</a:t>
            </a:r>
            <a:endParaRPr lang="en-US"/>
          </a:p>
          <a:p>
            <a:r>
              <a:t>MIT 6.5840, GFS lecture notes.</a:t>
            </a:r>
            <a:endParaRPr lang="en-US"/>
          </a:p>
          <a:p>
            <a:r>
              <a:t>https://pdos.csail.mit.edu/6.824/notes/l-gfs.txt</a:t>
            </a:r>
            <a:endParaRPr lang="en-US"/>
          </a:p>
          <a:p>
            <a:r>
              <a:t>ACM Queue, GFS: Evolution on Fast-forward, interview with Sean Quinlan.</a:t>
            </a:r>
            <a:endParaRPr lang="en-US"/>
          </a:p>
          <a:p>
            <a:r>
              <a:t>http://queue.acm.org/detail.cfm?id=1594206</a:t>
            </a:r>
            <a:endParaRPr lang="en-US"/>
          </a:p>
        </p:txBody>
      </p:sp>
      <p:sp>
        <p:nvSpPr>
          <p:cNvPr id="4" name="Slide Number Placeholder 3">
            <a:extLst>
              <a:ext uri="{FF2B5EF4-FFF2-40B4-BE49-F238E27FC236}">
                <a16:creationId xmlns:a16="http://schemas.microsoft.com/office/drawing/2014/main" id="{09D73A9A-D881-2613-9D53-6BBD01037D23}"/>
              </a:ext>
            </a:extLst>
          </p:cNvPr>
          <p:cNvSpPr>
            <a:spLocks noGrp="1"/>
          </p:cNvSpPr>
          <p:nvPr>
            <p:ph type="sldNum" sz="quarter" idx="5"/>
          </p:nvPr>
        </p:nvSpPr>
        <p:spPr/>
        <p:txBody>
          <a:bodyPr/>
          <a:lstStyle/>
          <a:p>
            <a:fld id="{1C9584DC-3658-4054-9DA4-7B68A1D8CC6D}" type="slidenum">
              <a:rPr lang="zh-CN" altLang="en-US" smtClean="0"/>
              <a:t>47</a:t>
            </a:fld>
            <a:endParaRPr lang="zh-CN" altLang="en-US"/>
          </a:p>
        </p:txBody>
      </p:sp>
    </p:spTree>
    <p:extLst>
      <p:ext uri="{BB962C8B-B14F-4D97-AF65-F5344CB8AC3E}">
        <p14:creationId xmlns:p14="http://schemas.microsoft.com/office/powerpoint/2010/main" val="335452372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B9B3B-1E66-4133-2E9D-89CA8130D6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785021-8898-E22B-2F0B-6175C89EA2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BCEF51-4E62-DE80-175B-C53780B5EF6C}"/>
              </a:ext>
            </a:extLst>
          </p:cNvPr>
          <p:cNvSpPr>
            <a:spLocks noGrp="1"/>
          </p:cNvSpPr>
          <p:nvPr>
            <p:ph type="body" idx="1"/>
          </p:nvPr>
        </p:nvSpPr>
        <p:spPr/>
        <p:txBody>
          <a:bodyPr/>
          <a:lstStyle/>
          <a:p>
            <a:r>
              <a:t>GFS was an internal Google system, so we cannot install the original service for a class exercise. HDFS is a useful system to try because its design drew heavily from GFS.</a:t>
            </a:r>
            <a:endParaRPr lang="en-US" dirty="0"/>
          </a:p>
          <a:p>
            <a:endParaRPr lang="en-US" dirty="0"/>
          </a:p>
          <a:p>
            <a:r>
              <a:t>HDFS also separates a metadata server from data-storage servers, divides files into large blocks, and replicates those blocks. The names and details differ, and HDFS is not an exact copy of GFS, but operating it makes the architecture concrete.</a:t>
            </a:r>
            <a:endParaRPr lang="en-US" dirty="0"/>
          </a:p>
          <a:p>
            <a:endParaRPr lang="en-US" dirty="0"/>
          </a:p>
          <a:p>
            <a:r>
              <a:t>As you experiment, look for the same questions from this lecture: where metadata lives, how clients find blocks, how replicas recover, and what consistency guarantees applications receive.</a:t>
            </a:r>
            <a:endParaRPr lang="en-US" dirty="0"/>
          </a:p>
          <a:p>
            <a:endParaRPr lang="en-US" dirty="0"/>
          </a:p>
          <a:p>
            <a:r>
              <a:t>SOURCE</a:t>
            </a:r>
            <a:endParaRPr lang="en-US" dirty="0"/>
          </a:p>
          <a:p>
            <a:r>
              <a:t>MIT 6.824, Spring 2020, Lecture 3 video, 80:57-82:22.</a:t>
            </a:r>
            <a:endParaRPr lang="en-US" dirty="0"/>
          </a:p>
          <a:p>
            <a:r>
              <a:t>https://www.youtube.com/watch?v=EpIgvowZr00</a:t>
            </a:r>
            <a:endParaRPr lang="en-US" dirty="0"/>
          </a:p>
          <a:p>
            <a:r>
              <a:t>MIT 6.5840, GFS lecture notes.</a:t>
            </a:r>
            <a:endParaRPr lang="en-US" dirty="0"/>
          </a:p>
          <a:p>
            <a:r>
              <a:t>https://pdos.csail.mit.edu/6.824/notes/l-gfs.txt</a:t>
            </a:r>
            <a:endParaRPr lang="en-US" dirty="0"/>
          </a:p>
          <a:p>
            <a:r>
              <a:t>Ghemawat, Gobioff, and Leung, The Google File System, Section 8.</a:t>
            </a:r>
            <a:endParaRPr lang="en-US" dirty="0"/>
          </a:p>
          <a:p>
            <a:r>
              <a:t>https://pdos.csail.mit.edu/6.824/papers/gfs.pdf</a:t>
            </a:r>
            <a:endParaRPr lang="en-US" dirty="0"/>
          </a:p>
        </p:txBody>
      </p:sp>
      <p:sp>
        <p:nvSpPr>
          <p:cNvPr id="4" name="Slide Number Placeholder 3">
            <a:extLst>
              <a:ext uri="{FF2B5EF4-FFF2-40B4-BE49-F238E27FC236}">
                <a16:creationId xmlns:a16="http://schemas.microsoft.com/office/drawing/2014/main" id="{1ADBC9C7-DCF6-3B2D-3477-46EBFF3DA800}"/>
              </a:ext>
            </a:extLst>
          </p:cNvPr>
          <p:cNvSpPr>
            <a:spLocks noGrp="1"/>
          </p:cNvSpPr>
          <p:nvPr>
            <p:ph type="sldNum" sz="quarter" idx="5"/>
          </p:nvPr>
        </p:nvSpPr>
        <p:spPr/>
        <p:txBody>
          <a:bodyPr/>
          <a:lstStyle/>
          <a:p>
            <a:fld id="{1C9584DC-3658-4054-9DA4-7B68A1D8CC6D}" type="slidenum">
              <a:rPr lang="zh-CN" altLang="en-US" smtClean="0"/>
              <a:t>48</a:t>
            </a:fld>
            <a:endParaRPr lang="zh-CN" altLang="en-US"/>
          </a:p>
        </p:txBody>
      </p:sp>
    </p:spTree>
    <p:extLst>
      <p:ext uri="{BB962C8B-B14F-4D97-AF65-F5344CB8AC3E}">
        <p14:creationId xmlns:p14="http://schemas.microsoft.com/office/powerpoint/2010/main" val="281117664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2E359-FF4A-0705-7BE2-EE3039C058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75381D-4A7F-4F3A-755B-4AFD5EE123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B77ED8-E1A1-1EE8-4434-7361BFD3A8B5}"/>
              </a:ext>
            </a:extLst>
          </p:cNvPr>
          <p:cNvSpPr>
            <a:spLocks noGrp="1"/>
          </p:cNvSpPr>
          <p:nvPr>
            <p:ph type="body" idx="1"/>
          </p:nvPr>
        </p:nvSpPr>
        <p:spPr/>
        <p:txBody>
          <a:bodyPr/>
          <a:lstStyle/>
          <a:p>
            <a:r>
              <a:rPr lang="en-US" dirty="0"/>
              <a:t>ATTENDANCE CHECK - do this right before the quiz.</a:t>
            </a:r>
          </a:p>
          <a:p>
            <a:r>
              <a:rPr lang="en-US" dirty="0"/>
              <a:t>1. In Google Forms, open 'Quiz 02 Attendance - GFS (Fall 2026)' and turn on Accepting responses. Then show this slide.</a:t>
            </a:r>
          </a:p>
          <a:p>
            <a:r>
              <a:rPr lang="en-US" dirty="0"/>
              <a:t>2. Tell the class: this attendance check is NOT graded. It only confirms that the number of quiz submissions matches the number of students in the room. Sign in with your BU account and enter your BU ID.</a:t>
            </a:r>
          </a:p>
          <a:p>
            <a:r>
              <a:rPr lang="en-US" dirty="0"/>
              <a:t>3. While they submit, count the students in the room. Headcount: ____</a:t>
            </a:r>
          </a:p>
          <a:p>
            <a:r>
              <a:rPr lang="en-US" dirty="0"/>
              <a:t>4. After about 2 minutes, turn OFF Accepting responses on the attendance form and compare its response count with your headcount. If they differ, say so now, before the quiz starts.</a:t>
            </a:r>
          </a:p>
          <a:p>
            <a:r>
              <a:rPr lang="en-US" dirty="0"/>
              <a:t>5. Only then open the quiz form and go to the next slide. After class, compare the quiz responses with this attendance list: a quiz submission whose email is not on the list did not check in.</a:t>
            </a:r>
          </a:p>
        </p:txBody>
      </p:sp>
      <p:sp>
        <p:nvSpPr>
          <p:cNvPr id="4" name="Slide Number Placeholder 3">
            <a:extLst>
              <a:ext uri="{FF2B5EF4-FFF2-40B4-BE49-F238E27FC236}">
                <a16:creationId xmlns:a16="http://schemas.microsoft.com/office/drawing/2014/main" id="{00E16A6E-D8FA-3B9D-6E26-9620C1E230C5}"/>
              </a:ext>
            </a:extLst>
          </p:cNvPr>
          <p:cNvSpPr>
            <a:spLocks noGrp="1"/>
          </p:cNvSpPr>
          <p:nvPr>
            <p:ph type="sldNum" sz="quarter" idx="5"/>
          </p:nvPr>
        </p:nvSpPr>
        <p:spPr/>
        <p:txBody>
          <a:bodyPr/>
          <a:lstStyle/>
          <a:p>
            <a:fld id="{1C9584DC-3658-4054-9DA4-7B68A1D8CC6D}" type="slidenum">
              <a:rPr lang="zh-CN" altLang="en-US" smtClean="0"/>
              <a:t>49</a:t>
            </a:fld>
            <a:endParaRPr lang="zh-CN" altLang="en-US"/>
          </a:p>
        </p:txBody>
      </p:sp>
    </p:spTree>
    <p:extLst>
      <p:ext uri="{BB962C8B-B14F-4D97-AF65-F5344CB8AC3E}">
        <p14:creationId xmlns:p14="http://schemas.microsoft.com/office/powerpoint/2010/main" val="300044797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2E359-FF4A-0705-7BE2-EE3039C058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75381D-4A7F-4F3A-755B-4AFD5EE123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B77ED8-E1A1-1EE8-4434-7361BFD3A8B5}"/>
              </a:ext>
            </a:extLst>
          </p:cNvPr>
          <p:cNvSpPr>
            <a:spLocks noGrp="1"/>
          </p:cNvSpPr>
          <p:nvPr>
            <p:ph type="body" idx="1"/>
          </p:nvPr>
        </p:nvSpPr>
        <p:spPr/>
        <p:txBody>
          <a:bodyPr/>
          <a:lstStyle/>
          <a:p>
            <a:r>
              <a:rPr lang="en-US" dirty="0"/>
              <a:t>BEFORE THE QUIZ: the Fall 2026 form was created closed. In Google Forms, turn on 'Accepting responses' when you start the quiz, and turn it off after 10 minutes.</a:t>
            </a:r>
          </a:p>
          <a:p>
            <a:r>
              <a:rPr lang="en-US" dirty="0"/>
              <a:t>Form: 'Quiz 02 - GFS (Fall 2026)' in the Drive folder EC528-Fall26. Students sign in with their BU account and must enter their BU ID.</a:t>
            </a:r>
          </a:p>
        </p:txBody>
      </p:sp>
      <p:sp>
        <p:nvSpPr>
          <p:cNvPr id="4" name="Slide Number Placeholder 3">
            <a:extLst>
              <a:ext uri="{FF2B5EF4-FFF2-40B4-BE49-F238E27FC236}">
                <a16:creationId xmlns:a16="http://schemas.microsoft.com/office/drawing/2014/main" id="{00E16A6E-D8FA-3B9D-6E26-9620C1E230C5}"/>
              </a:ext>
            </a:extLst>
          </p:cNvPr>
          <p:cNvSpPr>
            <a:spLocks noGrp="1"/>
          </p:cNvSpPr>
          <p:nvPr>
            <p:ph type="sldNum" sz="quarter" idx="5"/>
          </p:nvPr>
        </p:nvSpPr>
        <p:spPr/>
        <p:txBody>
          <a:bodyPr/>
          <a:lstStyle/>
          <a:p>
            <a:fld id="{1C9584DC-3658-4054-9DA4-7B68A1D8CC6D}" type="slidenum">
              <a:rPr lang="zh-CN" altLang="en-US" smtClean="0"/>
              <a:t>50</a:t>
            </a:fld>
            <a:endParaRPr lang="zh-CN" altLang="en-US"/>
          </a:p>
        </p:txBody>
      </p:sp>
    </p:spTree>
    <p:extLst>
      <p:ext uri="{BB962C8B-B14F-4D97-AF65-F5344CB8AC3E}">
        <p14:creationId xmlns:p14="http://schemas.microsoft.com/office/powerpoint/2010/main" val="30004479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53399-254F-D88B-7A1A-925FBF43AE4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D28513F-4AC8-980D-B195-D207601DA4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B36CB1D-E623-0879-978C-1B091F4CBEDE}"/>
              </a:ext>
            </a:extLst>
          </p:cNvPr>
          <p:cNvSpPr>
            <a:spLocks noGrp="1"/>
          </p:cNvSpPr>
          <p:nvPr>
            <p:ph type="dt" sz="half" idx="10"/>
          </p:nvPr>
        </p:nvSpPr>
        <p:spPr/>
        <p:txBody>
          <a:bodyPr/>
          <a:lstStyle/>
          <a:p>
            <a:fld id="{83F9661A-DF8C-6B42-8B78-3A84FEB91D29}" type="datetimeFigureOut">
              <a:rPr lang="en-US" smtClean="0"/>
              <a:t>9/16/26</a:t>
            </a:fld>
            <a:endParaRPr lang="en-US"/>
          </a:p>
        </p:txBody>
      </p:sp>
      <p:sp>
        <p:nvSpPr>
          <p:cNvPr id="5" name="Footer Placeholder 4">
            <a:extLst>
              <a:ext uri="{FF2B5EF4-FFF2-40B4-BE49-F238E27FC236}">
                <a16:creationId xmlns:a16="http://schemas.microsoft.com/office/drawing/2014/main" id="{451C5ACD-D971-83C7-AADF-C05E7DE4B1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4BE188-5963-8900-099F-9DDA014F75BD}"/>
              </a:ext>
            </a:extLst>
          </p:cNvPr>
          <p:cNvSpPr>
            <a:spLocks noGrp="1"/>
          </p:cNvSpPr>
          <p:nvPr>
            <p:ph type="sldNum" sz="quarter" idx="12"/>
          </p:nvPr>
        </p:nvSpPr>
        <p:spPr/>
        <p:txBody>
          <a:bodyPr/>
          <a:lstStyle/>
          <a:p>
            <a:fld id="{A846371D-E34A-BF46-8CB8-2BD99D320C6D}" type="slidenum">
              <a:rPr lang="en-US" smtClean="0"/>
              <a:t>‹#›</a:t>
            </a:fld>
            <a:endParaRPr lang="en-US"/>
          </a:p>
        </p:txBody>
      </p:sp>
    </p:spTree>
    <p:extLst>
      <p:ext uri="{BB962C8B-B14F-4D97-AF65-F5344CB8AC3E}">
        <p14:creationId xmlns:p14="http://schemas.microsoft.com/office/powerpoint/2010/main" val="20966781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A86AB-11EE-9E29-AE7E-9B75B1E0DD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A9DB0B-9606-FDF6-98CE-5B488A0DFA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49F3E7-F5F1-DC26-59BC-0A6714BD2E80}"/>
              </a:ext>
            </a:extLst>
          </p:cNvPr>
          <p:cNvSpPr>
            <a:spLocks noGrp="1"/>
          </p:cNvSpPr>
          <p:nvPr>
            <p:ph type="dt" sz="half" idx="10"/>
          </p:nvPr>
        </p:nvSpPr>
        <p:spPr/>
        <p:txBody>
          <a:bodyPr/>
          <a:lstStyle/>
          <a:p>
            <a:fld id="{83F9661A-DF8C-6B42-8B78-3A84FEB91D29}" type="datetimeFigureOut">
              <a:rPr lang="en-US" smtClean="0"/>
              <a:t>9/16/26</a:t>
            </a:fld>
            <a:endParaRPr lang="en-US"/>
          </a:p>
        </p:txBody>
      </p:sp>
      <p:sp>
        <p:nvSpPr>
          <p:cNvPr id="5" name="Footer Placeholder 4">
            <a:extLst>
              <a:ext uri="{FF2B5EF4-FFF2-40B4-BE49-F238E27FC236}">
                <a16:creationId xmlns:a16="http://schemas.microsoft.com/office/drawing/2014/main" id="{5F64FC79-BF7C-600A-7259-7B4F815030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C61F1C-6512-B271-73E4-B23F524EF089}"/>
              </a:ext>
            </a:extLst>
          </p:cNvPr>
          <p:cNvSpPr>
            <a:spLocks noGrp="1"/>
          </p:cNvSpPr>
          <p:nvPr>
            <p:ph type="sldNum" sz="quarter" idx="12"/>
          </p:nvPr>
        </p:nvSpPr>
        <p:spPr/>
        <p:txBody>
          <a:bodyPr/>
          <a:lstStyle/>
          <a:p>
            <a:fld id="{A846371D-E34A-BF46-8CB8-2BD99D320C6D}" type="slidenum">
              <a:rPr lang="en-US" smtClean="0"/>
              <a:t>‹#›</a:t>
            </a:fld>
            <a:endParaRPr lang="en-US"/>
          </a:p>
        </p:txBody>
      </p:sp>
    </p:spTree>
    <p:extLst>
      <p:ext uri="{BB962C8B-B14F-4D97-AF65-F5344CB8AC3E}">
        <p14:creationId xmlns:p14="http://schemas.microsoft.com/office/powerpoint/2010/main" val="3486283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58413-2C43-6DA0-98D9-32FBBE287F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D623C8-0E1D-5A94-47EF-FA66BD0CE51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77135D6-B8A3-3307-047B-A5F88BC82478}"/>
              </a:ext>
            </a:extLst>
          </p:cNvPr>
          <p:cNvSpPr>
            <a:spLocks noGrp="1"/>
          </p:cNvSpPr>
          <p:nvPr>
            <p:ph type="dt" sz="half" idx="10"/>
          </p:nvPr>
        </p:nvSpPr>
        <p:spPr/>
        <p:txBody>
          <a:bodyPr/>
          <a:lstStyle/>
          <a:p>
            <a:fld id="{83F9661A-DF8C-6B42-8B78-3A84FEB91D29}" type="datetimeFigureOut">
              <a:rPr lang="en-US" smtClean="0"/>
              <a:t>9/16/26</a:t>
            </a:fld>
            <a:endParaRPr lang="en-US"/>
          </a:p>
        </p:txBody>
      </p:sp>
      <p:sp>
        <p:nvSpPr>
          <p:cNvPr id="5" name="Footer Placeholder 4">
            <a:extLst>
              <a:ext uri="{FF2B5EF4-FFF2-40B4-BE49-F238E27FC236}">
                <a16:creationId xmlns:a16="http://schemas.microsoft.com/office/drawing/2014/main" id="{9A9BCE30-A405-BA37-CF90-791D52CFA2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4E625E-CC52-3715-B09C-2C7A0EDC2B7A}"/>
              </a:ext>
            </a:extLst>
          </p:cNvPr>
          <p:cNvSpPr>
            <a:spLocks noGrp="1"/>
          </p:cNvSpPr>
          <p:nvPr>
            <p:ph type="sldNum" sz="quarter" idx="12"/>
          </p:nvPr>
        </p:nvSpPr>
        <p:spPr/>
        <p:txBody>
          <a:bodyPr/>
          <a:lstStyle/>
          <a:p>
            <a:fld id="{A846371D-E34A-BF46-8CB8-2BD99D320C6D}" type="slidenum">
              <a:rPr lang="en-US" smtClean="0"/>
              <a:t>‹#›</a:t>
            </a:fld>
            <a:endParaRPr lang="en-US"/>
          </a:p>
        </p:txBody>
      </p:sp>
    </p:spTree>
    <p:extLst>
      <p:ext uri="{BB962C8B-B14F-4D97-AF65-F5344CB8AC3E}">
        <p14:creationId xmlns:p14="http://schemas.microsoft.com/office/powerpoint/2010/main" val="28906318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D413-6A7F-B90D-4D9A-185D061400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6A5C8CC-8C9C-27AA-DC36-634400A41C7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21EFDB7-0CBE-DF2E-85DD-421A2209F6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25D0E94-930D-0C22-229F-881BC4287A03}"/>
              </a:ext>
            </a:extLst>
          </p:cNvPr>
          <p:cNvSpPr>
            <a:spLocks noGrp="1"/>
          </p:cNvSpPr>
          <p:nvPr>
            <p:ph type="dt" sz="half" idx="10"/>
          </p:nvPr>
        </p:nvSpPr>
        <p:spPr/>
        <p:txBody>
          <a:bodyPr/>
          <a:lstStyle/>
          <a:p>
            <a:fld id="{83F9661A-DF8C-6B42-8B78-3A84FEB91D29}" type="datetimeFigureOut">
              <a:rPr lang="en-US" smtClean="0"/>
              <a:t>9/16/26</a:t>
            </a:fld>
            <a:endParaRPr lang="en-US"/>
          </a:p>
        </p:txBody>
      </p:sp>
      <p:sp>
        <p:nvSpPr>
          <p:cNvPr id="6" name="Footer Placeholder 5">
            <a:extLst>
              <a:ext uri="{FF2B5EF4-FFF2-40B4-BE49-F238E27FC236}">
                <a16:creationId xmlns:a16="http://schemas.microsoft.com/office/drawing/2014/main" id="{623830F4-C67D-9A67-F617-9F16717687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BF2893-E494-FDC7-5096-9B9A0070F312}"/>
              </a:ext>
            </a:extLst>
          </p:cNvPr>
          <p:cNvSpPr>
            <a:spLocks noGrp="1"/>
          </p:cNvSpPr>
          <p:nvPr>
            <p:ph type="sldNum" sz="quarter" idx="12"/>
          </p:nvPr>
        </p:nvSpPr>
        <p:spPr/>
        <p:txBody>
          <a:bodyPr/>
          <a:lstStyle/>
          <a:p>
            <a:fld id="{A846371D-E34A-BF46-8CB8-2BD99D320C6D}" type="slidenum">
              <a:rPr lang="en-US" smtClean="0"/>
              <a:t>‹#›</a:t>
            </a:fld>
            <a:endParaRPr lang="en-US"/>
          </a:p>
        </p:txBody>
      </p:sp>
    </p:spTree>
    <p:extLst>
      <p:ext uri="{BB962C8B-B14F-4D97-AF65-F5344CB8AC3E}">
        <p14:creationId xmlns:p14="http://schemas.microsoft.com/office/powerpoint/2010/main" val="3410468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D199B-8F76-018F-ECCB-502704AB79C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7F994B-A2BF-CE8F-F90D-7CE579BC26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DFC1971-5734-5ED6-15AF-483B74A150F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F4E15A8-1F37-5A24-8A0F-12D7BB54D4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D926AA9-62B4-B873-15BC-D35F11E463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613AB1E-476C-4E27-2058-31A01617A84C}"/>
              </a:ext>
            </a:extLst>
          </p:cNvPr>
          <p:cNvSpPr>
            <a:spLocks noGrp="1"/>
          </p:cNvSpPr>
          <p:nvPr>
            <p:ph type="dt" sz="half" idx="10"/>
          </p:nvPr>
        </p:nvSpPr>
        <p:spPr/>
        <p:txBody>
          <a:bodyPr/>
          <a:lstStyle/>
          <a:p>
            <a:fld id="{83F9661A-DF8C-6B42-8B78-3A84FEB91D29}" type="datetimeFigureOut">
              <a:rPr lang="en-US" smtClean="0"/>
              <a:t>9/16/26</a:t>
            </a:fld>
            <a:endParaRPr lang="en-US"/>
          </a:p>
        </p:txBody>
      </p:sp>
      <p:sp>
        <p:nvSpPr>
          <p:cNvPr id="8" name="Footer Placeholder 7">
            <a:extLst>
              <a:ext uri="{FF2B5EF4-FFF2-40B4-BE49-F238E27FC236}">
                <a16:creationId xmlns:a16="http://schemas.microsoft.com/office/drawing/2014/main" id="{8AABFA01-DD68-A864-78AD-B43E369F278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02BF45D-0FD1-5DF8-E9EF-ABAC6D183C50}"/>
              </a:ext>
            </a:extLst>
          </p:cNvPr>
          <p:cNvSpPr>
            <a:spLocks noGrp="1"/>
          </p:cNvSpPr>
          <p:nvPr>
            <p:ph type="sldNum" sz="quarter" idx="12"/>
          </p:nvPr>
        </p:nvSpPr>
        <p:spPr/>
        <p:txBody>
          <a:bodyPr/>
          <a:lstStyle/>
          <a:p>
            <a:fld id="{A846371D-E34A-BF46-8CB8-2BD99D320C6D}" type="slidenum">
              <a:rPr lang="en-US" smtClean="0"/>
              <a:t>‹#›</a:t>
            </a:fld>
            <a:endParaRPr lang="en-US"/>
          </a:p>
        </p:txBody>
      </p:sp>
    </p:spTree>
    <p:extLst>
      <p:ext uri="{BB962C8B-B14F-4D97-AF65-F5344CB8AC3E}">
        <p14:creationId xmlns:p14="http://schemas.microsoft.com/office/powerpoint/2010/main" val="2863480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C5BDA-FDA2-DF86-27F5-59239ED1071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E9B1D8F-6E3F-3EA9-08B0-6034C2D077E8}"/>
              </a:ext>
            </a:extLst>
          </p:cNvPr>
          <p:cNvSpPr>
            <a:spLocks noGrp="1"/>
          </p:cNvSpPr>
          <p:nvPr>
            <p:ph type="dt" sz="half" idx="10"/>
          </p:nvPr>
        </p:nvSpPr>
        <p:spPr/>
        <p:txBody>
          <a:bodyPr/>
          <a:lstStyle/>
          <a:p>
            <a:fld id="{83F9661A-DF8C-6B42-8B78-3A84FEB91D29}" type="datetimeFigureOut">
              <a:rPr lang="en-US" smtClean="0"/>
              <a:t>9/16/26</a:t>
            </a:fld>
            <a:endParaRPr lang="en-US"/>
          </a:p>
        </p:txBody>
      </p:sp>
      <p:sp>
        <p:nvSpPr>
          <p:cNvPr id="4" name="Footer Placeholder 3">
            <a:extLst>
              <a:ext uri="{FF2B5EF4-FFF2-40B4-BE49-F238E27FC236}">
                <a16:creationId xmlns:a16="http://schemas.microsoft.com/office/drawing/2014/main" id="{8CA792B9-720A-22DB-337C-522574A88FA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2A5ACC5-7AD1-6E8A-68A6-904CF975C262}"/>
              </a:ext>
            </a:extLst>
          </p:cNvPr>
          <p:cNvSpPr>
            <a:spLocks noGrp="1"/>
          </p:cNvSpPr>
          <p:nvPr>
            <p:ph type="sldNum" sz="quarter" idx="12"/>
          </p:nvPr>
        </p:nvSpPr>
        <p:spPr/>
        <p:txBody>
          <a:bodyPr/>
          <a:lstStyle/>
          <a:p>
            <a:fld id="{A846371D-E34A-BF46-8CB8-2BD99D320C6D}" type="slidenum">
              <a:rPr lang="en-US" smtClean="0"/>
              <a:t>‹#›</a:t>
            </a:fld>
            <a:endParaRPr lang="en-US"/>
          </a:p>
        </p:txBody>
      </p:sp>
    </p:spTree>
    <p:extLst>
      <p:ext uri="{BB962C8B-B14F-4D97-AF65-F5344CB8AC3E}">
        <p14:creationId xmlns:p14="http://schemas.microsoft.com/office/powerpoint/2010/main" val="41564686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6AA2D8-ED16-626B-51D0-32BF8FF296B8}"/>
              </a:ext>
            </a:extLst>
          </p:cNvPr>
          <p:cNvSpPr>
            <a:spLocks noGrp="1"/>
          </p:cNvSpPr>
          <p:nvPr>
            <p:ph type="dt" sz="half" idx="10"/>
          </p:nvPr>
        </p:nvSpPr>
        <p:spPr/>
        <p:txBody>
          <a:bodyPr/>
          <a:lstStyle/>
          <a:p>
            <a:fld id="{83F9661A-DF8C-6B42-8B78-3A84FEB91D29}" type="datetimeFigureOut">
              <a:rPr lang="en-US" smtClean="0"/>
              <a:t>9/16/26</a:t>
            </a:fld>
            <a:endParaRPr lang="en-US"/>
          </a:p>
        </p:txBody>
      </p:sp>
      <p:sp>
        <p:nvSpPr>
          <p:cNvPr id="3" name="Footer Placeholder 2">
            <a:extLst>
              <a:ext uri="{FF2B5EF4-FFF2-40B4-BE49-F238E27FC236}">
                <a16:creationId xmlns:a16="http://schemas.microsoft.com/office/drawing/2014/main" id="{90982DB3-2FED-21CB-4C1C-D4EBC409816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6763F49-FE0E-284E-C519-D6FBA915957F}"/>
              </a:ext>
            </a:extLst>
          </p:cNvPr>
          <p:cNvSpPr>
            <a:spLocks noGrp="1"/>
          </p:cNvSpPr>
          <p:nvPr>
            <p:ph type="sldNum" sz="quarter" idx="12"/>
          </p:nvPr>
        </p:nvSpPr>
        <p:spPr/>
        <p:txBody>
          <a:bodyPr/>
          <a:lstStyle/>
          <a:p>
            <a:fld id="{A846371D-E34A-BF46-8CB8-2BD99D320C6D}" type="slidenum">
              <a:rPr lang="en-US" smtClean="0"/>
              <a:t>‹#›</a:t>
            </a:fld>
            <a:endParaRPr lang="en-US"/>
          </a:p>
        </p:txBody>
      </p:sp>
    </p:spTree>
    <p:extLst>
      <p:ext uri="{BB962C8B-B14F-4D97-AF65-F5344CB8AC3E}">
        <p14:creationId xmlns:p14="http://schemas.microsoft.com/office/powerpoint/2010/main" val="239692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50A5B-E910-B3E4-18A0-A5C7A91A2C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7BA12FB-A833-59D0-C560-51D6EEE4C8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DDC57B4-1A31-0EC7-1BC1-B464A6EF1E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C09C41-138C-AEE6-962C-AFA235419C7D}"/>
              </a:ext>
            </a:extLst>
          </p:cNvPr>
          <p:cNvSpPr>
            <a:spLocks noGrp="1"/>
          </p:cNvSpPr>
          <p:nvPr>
            <p:ph type="dt" sz="half" idx="10"/>
          </p:nvPr>
        </p:nvSpPr>
        <p:spPr/>
        <p:txBody>
          <a:bodyPr/>
          <a:lstStyle/>
          <a:p>
            <a:fld id="{83F9661A-DF8C-6B42-8B78-3A84FEB91D29}" type="datetimeFigureOut">
              <a:rPr lang="en-US" smtClean="0"/>
              <a:t>9/16/26</a:t>
            </a:fld>
            <a:endParaRPr lang="en-US"/>
          </a:p>
        </p:txBody>
      </p:sp>
      <p:sp>
        <p:nvSpPr>
          <p:cNvPr id="6" name="Footer Placeholder 5">
            <a:extLst>
              <a:ext uri="{FF2B5EF4-FFF2-40B4-BE49-F238E27FC236}">
                <a16:creationId xmlns:a16="http://schemas.microsoft.com/office/drawing/2014/main" id="{AE956CF4-4560-150D-747B-9F4248DFC6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95B601-E580-42A2-5D80-8979484CEF53}"/>
              </a:ext>
            </a:extLst>
          </p:cNvPr>
          <p:cNvSpPr>
            <a:spLocks noGrp="1"/>
          </p:cNvSpPr>
          <p:nvPr>
            <p:ph type="sldNum" sz="quarter" idx="12"/>
          </p:nvPr>
        </p:nvSpPr>
        <p:spPr/>
        <p:txBody>
          <a:bodyPr/>
          <a:lstStyle/>
          <a:p>
            <a:fld id="{A846371D-E34A-BF46-8CB8-2BD99D320C6D}" type="slidenum">
              <a:rPr lang="en-US" smtClean="0"/>
              <a:t>‹#›</a:t>
            </a:fld>
            <a:endParaRPr lang="en-US"/>
          </a:p>
        </p:txBody>
      </p:sp>
    </p:spTree>
    <p:extLst>
      <p:ext uri="{BB962C8B-B14F-4D97-AF65-F5344CB8AC3E}">
        <p14:creationId xmlns:p14="http://schemas.microsoft.com/office/powerpoint/2010/main" val="3274317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B366C-DD04-A1C7-08A7-7ACE3A404A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718FAFA-55FF-C51C-9983-F5BED8B78B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17243C6-48CC-9D04-77A8-D393AC533F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5AFB0D-4041-E79B-129B-78A3C743F8B8}"/>
              </a:ext>
            </a:extLst>
          </p:cNvPr>
          <p:cNvSpPr>
            <a:spLocks noGrp="1"/>
          </p:cNvSpPr>
          <p:nvPr>
            <p:ph type="dt" sz="half" idx="10"/>
          </p:nvPr>
        </p:nvSpPr>
        <p:spPr/>
        <p:txBody>
          <a:bodyPr/>
          <a:lstStyle/>
          <a:p>
            <a:fld id="{83F9661A-DF8C-6B42-8B78-3A84FEB91D29}" type="datetimeFigureOut">
              <a:rPr lang="en-US" smtClean="0"/>
              <a:t>9/16/26</a:t>
            </a:fld>
            <a:endParaRPr lang="en-US"/>
          </a:p>
        </p:txBody>
      </p:sp>
      <p:sp>
        <p:nvSpPr>
          <p:cNvPr id="6" name="Footer Placeholder 5">
            <a:extLst>
              <a:ext uri="{FF2B5EF4-FFF2-40B4-BE49-F238E27FC236}">
                <a16:creationId xmlns:a16="http://schemas.microsoft.com/office/drawing/2014/main" id="{BC6A7807-4C53-44F9-A39F-51043A833D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B73998-D43C-D32A-FAC5-2DE1025D3367}"/>
              </a:ext>
            </a:extLst>
          </p:cNvPr>
          <p:cNvSpPr>
            <a:spLocks noGrp="1"/>
          </p:cNvSpPr>
          <p:nvPr>
            <p:ph type="sldNum" sz="quarter" idx="12"/>
          </p:nvPr>
        </p:nvSpPr>
        <p:spPr/>
        <p:txBody>
          <a:bodyPr/>
          <a:lstStyle/>
          <a:p>
            <a:fld id="{A846371D-E34A-BF46-8CB8-2BD99D320C6D}" type="slidenum">
              <a:rPr lang="en-US" smtClean="0"/>
              <a:t>‹#›</a:t>
            </a:fld>
            <a:endParaRPr lang="en-US"/>
          </a:p>
        </p:txBody>
      </p:sp>
    </p:spTree>
    <p:extLst>
      <p:ext uri="{BB962C8B-B14F-4D97-AF65-F5344CB8AC3E}">
        <p14:creationId xmlns:p14="http://schemas.microsoft.com/office/powerpoint/2010/main" val="119326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89195-3631-A628-0D39-3E37BDD92E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D3A9CF5-D643-C22B-D3B2-47C11126E91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8CF096-B401-3740-7E11-ED26D17E4B49}"/>
              </a:ext>
            </a:extLst>
          </p:cNvPr>
          <p:cNvSpPr>
            <a:spLocks noGrp="1"/>
          </p:cNvSpPr>
          <p:nvPr>
            <p:ph type="dt" sz="half" idx="10"/>
          </p:nvPr>
        </p:nvSpPr>
        <p:spPr/>
        <p:txBody>
          <a:bodyPr/>
          <a:lstStyle/>
          <a:p>
            <a:fld id="{83F9661A-DF8C-6B42-8B78-3A84FEB91D29}" type="datetimeFigureOut">
              <a:rPr lang="en-US" smtClean="0"/>
              <a:t>9/16/26</a:t>
            </a:fld>
            <a:endParaRPr lang="en-US"/>
          </a:p>
        </p:txBody>
      </p:sp>
      <p:sp>
        <p:nvSpPr>
          <p:cNvPr id="5" name="Footer Placeholder 4">
            <a:extLst>
              <a:ext uri="{FF2B5EF4-FFF2-40B4-BE49-F238E27FC236}">
                <a16:creationId xmlns:a16="http://schemas.microsoft.com/office/drawing/2014/main" id="{5BE08F0C-3318-3196-94D8-E350C9D1A9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F4A995-16E0-213A-7F76-12851A7C3469}"/>
              </a:ext>
            </a:extLst>
          </p:cNvPr>
          <p:cNvSpPr>
            <a:spLocks noGrp="1"/>
          </p:cNvSpPr>
          <p:nvPr>
            <p:ph type="sldNum" sz="quarter" idx="12"/>
          </p:nvPr>
        </p:nvSpPr>
        <p:spPr/>
        <p:txBody>
          <a:bodyPr/>
          <a:lstStyle/>
          <a:p>
            <a:fld id="{A846371D-E34A-BF46-8CB8-2BD99D320C6D}" type="slidenum">
              <a:rPr lang="en-US" smtClean="0"/>
              <a:t>‹#›</a:t>
            </a:fld>
            <a:endParaRPr lang="en-US"/>
          </a:p>
        </p:txBody>
      </p:sp>
    </p:spTree>
    <p:extLst>
      <p:ext uri="{BB962C8B-B14F-4D97-AF65-F5344CB8AC3E}">
        <p14:creationId xmlns:p14="http://schemas.microsoft.com/office/powerpoint/2010/main" val="5170944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E17571-D17D-A389-17AD-C1D465C4B5A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3CC80F3-7413-258B-7684-9B13E018455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77FEEA-F360-EB6F-2F33-DE0C2E9EF7D3}"/>
              </a:ext>
            </a:extLst>
          </p:cNvPr>
          <p:cNvSpPr>
            <a:spLocks noGrp="1"/>
          </p:cNvSpPr>
          <p:nvPr>
            <p:ph type="dt" sz="half" idx="10"/>
          </p:nvPr>
        </p:nvSpPr>
        <p:spPr/>
        <p:txBody>
          <a:bodyPr/>
          <a:lstStyle/>
          <a:p>
            <a:fld id="{83F9661A-DF8C-6B42-8B78-3A84FEB91D29}" type="datetimeFigureOut">
              <a:rPr lang="en-US" smtClean="0"/>
              <a:t>9/16/26</a:t>
            </a:fld>
            <a:endParaRPr lang="en-US"/>
          </a:p>
        </p:txBody>
      </p:sp>
      <p:sp>
        <p:nvSpPr>
          <p:cNvPr id="5" name="Footer Placeholder 4">
            <a:extLst>
              <a:ext uri="{FF2B5EF4-FFF2-40B4-BE49-F238E27FC236}">
                <a16:creationId xmlns:a16="http://schemas.microsoft.com/office/drawing/2014/main" id="{404D4CEF-D514-E389-3A43-55FA943A8C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9B72C0-DA6E-DCD6-35F9-8843E13990C0}"/>
              </a:ext>
            </a:extLst>
          </p:cNvPr>
          <p:cNvSpPr>
            <a:spLocks noGrp="1"/>
          </p:cNvSpPr>
          <p:nvPr>
            <p:ph type="sldNum" sz="quarter" idx="12"/>
          </p:nvPr>
        </p:nvSpPr>
        <p:spPr/>
        <p:txBody>
          <a:bodyPr/>
          <a:lstStyle/>
          <a:p>
            <a:fld id="{A846371D-E34A-BF46-8CB8-2BD99D320C6D}" type="slidenum">
              <a:rPr lang="en-US" smtClean="0"/>
              <a:t>‹#›</a:t>
            </a:fld>
            <a:endParaRPr lang="en-US"/>
          </a:p>
        </p:txBody>
      </p:sp>
    </p:spTree>
    <p:extLst>
      <p:ext uri="{BB962C8B-B14F-4D97-AF65-F5344CB8AC3E}">
        <p14:creationId xmlns:p14="http://schemas.microsoft.com/office/powerpoint/2010/main" val="25753461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F44446-A0E4-A9F4-61C2-669A3E5715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5296F2D-B520-787C-94B1-9BD942F81B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EAFC36-A670-D665-66C1-D7FD989623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3F9661A-DF8C-6B42-8B78-3A84FEB91D29}" type="datetimeFigureOut">
              <a:rPr lang="en-US" smtClean="0"/>
              <a:t>9/16/26</a:t>
            </a:fld>
            <a:endParaRPr lang="en-US"/>
          </a:p>
        </p:txBody>
      </p:sp>
      <p:sp>
        <p:nvSpPr>
          <p:cNvPr id="5" name="Footer Placeholder 4">
            <a:extLst>
              <a:ext uri="{FF2B5EF4-FFF2-40B4-BE49-F238E27FC236}">
                <a16:creationId xmlns:a16="http://schemas.microsoft.com/office/drawing/2014/main" id="{48D9DC8C-B4DF-58FA-321B-8768BBDF94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FFF321B-B0AB-1885-79CD-3B6536FA2D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846371D-E34A-BF46-8CB8-2BD99D320C6D}" type="slidenum">
              <a:rPr lang="en-US" smtClean="0"/>
              <a:t>‹#›</a:t>
            </a:fld>
            <a:endParaRPr lang="en-US"/>
          </a:p>
        </p:txBody>
      </p:sp>
    </p:spTree>
    <p:extLst>
      <p:ext uri="{BB962C8B-B14F-4D97-AF65-F5344CB8AC3E}">
        <p14:creationId xmlns:p14="http://schemas.microsoft.com/office/powerpoint/2010/main" val="14954921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A850B-404C-F9A6-0EEB-60ED8F2BC92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896CCFB-2739-B9C3-25E4-F83CCCC7D277}"/>
              </a:ext>
            </a:extLst>
          </p:cNvPr>
          <p:cNvSpPr>
            <a:spLocks noGrp="1"/>
          </p:cNvSpPr>
          <p:nvPr>
            <p:ph type="ctrTitle"/>
          </p:nvPr>
        </p:nvSpPr>
        <p:spPr>
          <a:xfrm>
            <a:off x="0" y="2239794"/>
            <a:ext cx="12192000" cy="1433046"/>
          </a:xfrm>
        </p:spPr>
        <p:txBody>
          <a:bodyPr>
            <a:noAutofit/>
          </a:bodyPr>
          <a:lstStyle/>
          <a:p>
            <a:pPr rtl="0">
              <a:lnSpc>
                <a:spcPct val="100000"/>
              </a:lnSpc>
            </a:pPr>
            <a:r>
              <a:rPr lang="en-US" sz="4000" b="0" i="0" u="none" strike="noStrike"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Lecture 4: Google File System       </a:t>
            </a:r>
            <a:br>
              <a:rPr lang="en-US" sz="4000" b="0" i="0" u="none" strike="noStrike"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br>
            <a:r>
              <a:rPr lang="en-US" sz="4000" b="0" i="0" u="none" strike="noStrike"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 Fall 2026</a:t>
            </a:r>
            <a:br>
              <a:rPr lang="en-US" sz="4000"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br>
            <a:endParaRPr lang="zh-CN" altLang="en-US" sz="4000" dirty="0">
              <a:solidFill>
                <a:srgbClr val="000000"/>
              </a:solidFill>
              <a:latin typeface="Helvetica Neue" panose="02000503000000020004" pitchFamily="2" charset="0"/>
              <a:cs typeface="Helvetica Neue" panose="02000503000000020004" pitchFamily="2" charset="0"/>
            </a:endParaRPr>
          </a:p>
        </p:txBody>
      </p:sp>
      <p:sp>
        <p:nvSpPr>
          <p:cNvPr id="6" name="TextBox 5">
            <a:extLst>
              <a:ext uri="{FF2B5EF4-FFF2-40B4-BE49-F238E27FC236}">
                <a16:creationId xmlns:a16="http://schemas.microsoft.com/office/drawing/2014/main" id="{78E14E69-6BD7-C52A-EB3E-F381AEF7CB4A}"/>
              </a:ext>
            </a:extLst>
          </p:cNvPr>
          <p:cNvSpPr txBox="1"/>
          <p:nvPr/>
        </p:nvSpPr>
        <p:spPr>
          <a:xfrm>
            <a:off x="1" y="653143"/>
            <a:ext cx="12192000" cy="830997"/>
          </a:xfrm>
          <a:prstGeom prst="rect">
            <a:avLst/>
          </a:prstGeom>
          <a:noFill/>
        </p:spPr>
        <p:txBody>
          <a:bodyPr wrap="square" rtlCol="0">
            <a:spAutoFit/>
          </a:bodyPr>
          <a:lstStyle/>
          <a:p>
            <a:pPr algn="ctr"/>
            <a:r>
              <a:rPr lang="en-US" sz="4800" b="1" dirty="0">
                <a:solidFill>
                  <a:schemeClr val="tx2">
                    <a:lumMod val="75000"/>
                    <a:lumOff val="25000"/>
                  </a:schemeClr>
                </a:solidFill>
                <a:latin typeface="Arial" pitchFamily="2" charset="0"/>
              </a:rPr>
              <a:t>CE 528 Cloud Computing</a:t>
            </a:r>
          </a:p>
        </p:txBody>
      </p:sp>
      <p:sp>
        <p:nvSpPr>
          <p:cNvPr id="7" name="标题 1">
            <a:extLst>
              <a:ext uri="{FF2B5EF4-FFF2-40B4-BE49-F238E27FC236}">
                <a16:creationId xmlns:a16="http://schemas.microsoft.com/office/drawing/2014/main" id="{3BDC3145-A181-687D-BD4A-904B04ED2006}"/>
              </a:ext>
            </a:extLst>
          </p:cNvPr>
          <p:cNvSpPr txBox="1">
            <a:spLocks/>
          </p:cNvSpPr>
          <p:nvPr/>
        </p:nvSpPr>
        <p:spPr>
          <a:xfrm>
            <a:off x="1237543" y="4003019"/>
            <a:ext cx="9499200" cy="9146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Prof. Yigong Hu</a:t>
            </a:r>
            <a:endParaRPr lang="zh-CN" altLang="en-US" sz="3200" b="1" dirty="0">
              <a:latin typeface="Helvetica Neue" panose="02000503000000020004" pitchFamily="2" charset="0"/>
              <a:cs typeface="Helvetica Neue" panose="02000503000000020004" pitchFamily="2" charset="0"/>
            </a:endParaRPr>
          </a:p>
        </p:txBody>
      </p:sp>
      <p:pic>
        <p:nvPicPr>
          <p:cNvPr id="4" name="Graphic 3">
            <a:extLst>
              <a:ext uri="{FF2B5EF4-FFF2-40B4-BE49-F238E27FC236}">
                <a16:creationId xmlns:a16="http://schemas.microsoft.com/office/drawing/2014/main" id="{7E111180-ABF3-5E9E-B47F-CE63C0162A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887" y="5247828"/>
            <a:ext cx="2875237" cy="1288106"/>
          </a:xfrm>
          <a:prstGeom prst="rect">
            <a:avLst/>
          </a:prstGeom>
        </p:spPr>
      </p:pic>
    </p:spTree>
    <p:extLst>
      <p:ext uri="{BB962C8B-B14F-4D97-AF65-F5344CB8AC3E}">
        <p14:creationId xmlns:p14="http://schemas.microsoft.com/office/powerpoint/2010/main" val="2118921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ED557C7-2CDD-8C0B-07A1-1DABA8EF652A}"/>
              </a:ext>
            </a:extLst>
          </p:cNvPr>
          <p:cNvSpPr>
            <a:spLocks noGrp="1"/>
          </p:cNvSpPr>
          <p:nvPr>
            <p:ph type="title"/>
          </p:nvPr>
        </p:nvSpPr>
        <p:spPr>
          <a:xfrm>
            <a:off x="0" y="1"/>
            <a:ext cx="12191999" cy="914400"/>
          </a:xfrm>
        </p:spPr>
        <p:txBody>
          <a:bodyPr>
            <a:normAutofit/>
          </a:bodyPr>
          <a:lstStyle/>
          <a:p>
            <a:pPr algn="ctr">
              <a:buNone/>
            </a:pPr>
            <a:r>
              <a:rPr b="1">
                <a:latin typeface="Helvetica"/>
                <a:ea typeface="Helvetica"/>
                <a:cs typeface="Helvetica"/>
              </a:rPr>
              <a:t>Demo 1: Design Proposal</a:t>
            </a:r>
          </a:p>
        </p:txBody>
      </p:sp>
      <p:sp>
        <p:nvSpPr>
          <p:cNvPr id="8" name="Slide Number Placeholder 4">
            <a:extLst>
              <a:ext uri="{FF2B5EF4-FFF2-40B4-BE49-F238E27FC236}">
                <a16:creationId xmlns:a16="http://schemas.microsoft.com/office/drawing/2014/main" id="{25E098EE-1299-32C0-2821-1DB599BAC8E9}"/>
              </a:ext>
            </a:extLst>
          </p:cNvPr>
          <p:cNvSpPr>
            <a:spLocks noGrp="1"/>
          </p:cNvSpPr>
          <p:nvPr>
            <p:ph type="sldNum" idx="12"/>
          </p:nvPr>
        </p:nvSpPr>
        <p:spPr>
          <a:xfrm>
            <a:off x="8610600" y="6356350"/>
            <a:ext cx="2743200" cy="365125"/>
          </a:xfrm>
        </p:spPr>
        <p:txBody>
          <a:bodyPr/>
          <a:lstStyle/>
          <a:p>
            <a:fld id="{212DA15D-5F50-8B40-811F-34F736B90848}" type="slidenum">
              <a:rPr/>
              <a:t>2</a:t>
            </a:fld>
            <a:endParaRPr/>
          </a:p>
        </p:txBody>
      </p:sp>
      <p:sp>
        <p:nvSpPr>
          <p:cNvPr id="9" name="Demo 1 deadline">
            <a:extLst>
              <a:ext uri="{FF2B5EF4-FFF2-40B4-BE49-F238E27FC236}">
                <a16:creationId xmlns:a16="http://schemas.microsoft.com/office/drawing/2014/main" id="{28A03A3E-853D-4FA2-AE8E-9CDFB2A1C51A}"/>
              </a:ext>
            </a:extLst>
          </p:cNvPr>
          <p:cNvSpPr>
            <a:spLocks noGrp="1"/>
          </p:cNvSpPr>
          <p:nvPr/>
        </p:nvSpPr>
        <p:spPr>
          <a:xfrm>
            <a:off x="361950" y="933450"/>
            <a:ext cx="11468100" cy="457200"/>
          </a:xfrm>
          <a:prstGeom prst="rect">
            <a:avLst/>
          </a:prstGeom>
          <a:noFill/>
          <a:ln w="0">
            <a:noFill/>
            <a:prstDash val="solid"/>
          </a:ln>
        </p:spPr>
        <p:txBody>
          <a:bodyPr>
            <a:normAutofit/>
          </a:bodyPr>
          <a:lstStyle/>
          <a:p>
            <a:pPr algn="ctr">
              <a:defRPr sz="2250" b="1">
                <a:solidFill>
                  <a:srgbClr val="000000"/>
                </a:solidFill>
                <a:latin typeface="Helvetica"/>
                <a:ea typeface="Helvetica"/>
                <a:cs typeface="Helvetica"/>
              </a:defRPr>
            </a:pPr>
            <a:r>
              <a:rPr sz="2250" b="1">
                <a:solidFill>
                  <a:srgbClr val="000000"/>
                </a:solidFill>
                <a:latin typeface="Helvetica"/>
                <a:ea typeface="Helvetica"/>
                <a:cs typeface="Helvetica"/>
              </a:rPr>
              <a:t>Wednesday 09/23, due 12:00 noon in branch demo-1</a:t>
            </a:r>
          </a:p>
        </p:txBody>
      </p:sp>
      <p:sp>
        <p:nvSpPr>
          <p:cNvPr id="10" name="Lab day notice">
            <a:extLst>
              <a:ext uri="{FF2B5EF4-FFF2-40B4-BE49-F238E27FC236}">
                <a16:creationId xmlns:a16="http://schemas.microsoft.com/office/drawing/2014/main" id="{F0C367EF-21EA-42FF-BA10-C1A905D549A5}"/>
              </a:ext>
            </a:extLst>
          </p:cNvPr>
          <p:cNvSpPr>
            <a:spLocks noGrp="1"/>
          </p:cNvSpPr>
          <p:nvPr/>
        </p:nvSpPr>
        <p:spPr>
          <a:xfrm>
            <a:off x="361950" y="1352550"/>
            <a:ext cx="11468100" cy="400050"/>
          </a:xfrm>
          <a:prstGeom prst="rect">
            <a:avLst/>
          </a:prstGeom>
          <a:noFill/>
          <a:ln w="0">
            <a:noFill/>
            <a:prstDash val="solid"/>
          </a:ln>
        </p:spPr>
        <p:txBody>
          <a:bodyPr>
            <a:normAutofit/>
          </a:bodyPr>
          <a:lstStyle/>
          <a:p>
            <a:pPr algn="ctr">
              <a:defRPr sz="1800">
                <a:solidFill>
                  <a:srgbClr val="000000"/>
                </a:solidFill>
                <a:latin typeface="Helvetica"/>
                <a:ea typeface="Helvetica"/>
                <a:cs typeface="Helvetica"/>
              </a:defRPr>
            </a:pPr>
            <a:r>
              <a:rPr sz="1800">
                <a:solidFill>
                  <a:srgbClr val="000000"/>
                </a:solidFill>
                <a:latin typeface="Helvetica"/>
                <a:ea typeface="Helvetica"/>
                <a:cs typeface="Helvetica"/>
              </a:rPr>
              <a:t>Next Monday (09/21) is a lab day. There is no lecture.</a:t>
            </a:r>
          </a:p>
        </p:txBody>
      </p:sp>
      <p:graphicFrame>
        <p:nvGraphicFramePr>
          <p:cNvPr id="17" name="Table 16"/>
          <p:cNvGraphicFramePr/>
          <p:nvPr/>
        </p:nvGraphicFramePr>
        <p:xfrm>
          <a:off x="381000" y="1885950"/>
          <a:ext cx="11430001" cy="3324225"/>
        </p:xfrm>
        <a:graphic>
          <a:graphicData uri="http://schemas.openxmlformats.org/drawingml/2006/table">
            <a:tbl>
              <a:tblPr/>
              <a:tblGrid>
                <a:gridCol w="2071688">
                  <a:extLst>
                    <a:ext uri="{9D8B030D-6E8A-4147-A177-3AD203B41FA5}">
                      <a16:colId xmlns:a16="http://schemas.microsoft.com/office/drawing/2014/main" val="20000"/>
                    </a:ext>
                  </a:extLst>
                </a:gridCol>
                <a:gridCol w="1071563">
                  <a:extLst>
                    <a:ext uri="{9D8B030D-6E8A-4147-A177-3AD203B41FA5}">
                      <a16:colId xmlns:a16="http://schemas.microsoft.com/office/drawing/2014/main" val="20001"/>
                    </a:ext>
                  </a:extLst>
                </a:gridCol>
                <a:gridCol w="8286750">
                  <a:extLst>
                    <a:ext uri="{9D8B030D-6E8A-4147-A177-3AD203B41FA5}">
                      <a16:colId xmlns:a16="http://schemas.microsoft.com/office/drawing/2014/main" val="20002"/>
                    </a:ext>
                  </a:extLst>
                </a:gridCol>
              </a:tblGrid>
              <a:tr h="476250">
                <a:tc>
                  <a:txBody>
                    <a:bodyPr/>
                    <a:lstStyle/>
                    <a:p>
                      <a:r>
                        <a:rPr sz="1950" b="1">
                          <a:solidFill>
                            <a:srgbClr val="000000"/>
                          </a:solidFill>
                          <a:latin typeface="Helvetica"/>
                          <a:ea typeface="Helvetica"/>
                          <a:cs typeface="Helvetica"/>
                        </a:rPr>
                        <a:t>Criterion</a:t>
                      </a:r>
                    </a:p>
                  </a:txBody>
                  <a:tcPr marL="95250" marR="95250" marT="76200" marB="76200">
                    <a:solidFill>
                      <a:srgbClr val="E8E8E8"/>
                    </a:solidFill>
                  </a:tcPr>
                </a:tc>
                <a:tc>
                  <a:txBody>
                    <a:bodyPr/>
                    <a:lstStyle/>
                    <a:p>
                      <a:pPr algn="ctr"/>
                      <a:r>
                        <a:rPr sz="1800" b="1">
                          <a:solidFill>
                            <a:srgbClr val="000000"/>
                          </a:solidFill>
                          <a:latin typeface="Helvetica"/>
                          <a:ea typeface="Helvetica"/>
                          <a:cs typeface="Helvetica"/>
                        </a:rPr>
                        <a:t>Weight</a:t>
                      </a:r>
                    </a:p>
                  </a:txBody>
                  <a:tcPr marL="95250" marR="95250" marT="76200" marB="76200">
                    <a:solidFill>
                      <a:srgbClr val="E8E8E8"/>
                    </a:solidFill>
                  </a:tcPr>
                </a:tc>
                <a:tc>
                  <a:txBody>
                    <a:bodyPr/>
                    <a:lstStyle/>
                    <a:p>
                      <a:r>
                        <a:rPr sz="1950" b="1">
                          <a:solidFill>
                            <a:srgbClr val="000000"/>
                          </a:solidFill>
                          <a:latin typeface="Helvetica"/>
                          <a:ea typeface="Helvetica"/>
                          <a:cs typeface="Helvetica"/>
                        </a:rPr>
                        <a:t>What we look for</a:t>
                      </a:r>
                    </a:p>
                  </a:txBody>
                  <a:tcPr marL="95250" marR="95250" marT="76200" marB="76200">
                    <a:solidFill>
                      <a:srgbClr val="E8E8E8"/>
                    </a:solidFill>
                  </a:tcPr>
                </a:tc>
                <a:extLst>
                  <a:ext uri="{0D108BD9-81ED-4DB2-BD59-A6C34878D82A}">
                    <a16:rowId xmlns:a16="http://schemas.microsoft.com/office/drawing/2014/main" val="10000"/>
                  </a:ext>
                </a:extLst>
              </a:tr>
              <a:tr h="1285875">
                <a:tc>
                  <a:txBody>
                    <a:bodyPr/>
                    <a:lstStyle/>
                    <a:p>
                      <a:r>
                        <a:rPr sz="1725" b="1">
                          <a:solidFill>
                            <a:srgbClr val="000000"/>
                          </a:solidFill>
                          <a:latin typeface="Helvetica"/>
                          <a:ea typeface="Helvetica"/>
                          <a:cs typeface="Helvetica"/>
                        </a:rPr>
                        <a:t>Design proposal</a:t>
                      </a:r>
                    </a:p>
                  </a:txBody>
                  <a:tcPr marL="95250" marR="95250" marT="76200" marB="76200"/>
                </a:tc>
                <a:tc>
                  <a:txBody>
                    <a:bodyPr/>
                    <a:lstStyle/>
                    <a:p>
                      <a:pPr algn="ctr"/>
                      <a:r>
                        <a:rPr sz="1800" b="1">
                          <a:solidFill>
                            <a:srgbClr val="000000"/>
                          </a:solidFill>
                          <a:latin typeface="Helvetica"/>
                          <a:ea typeface="Helvetica"/>
                          <a:cs typeface="Helvetica"/>
                        </a:rPr>
                        <a:t>50%</a:t>
                      </a:r>
                    </a:p>
                  </a:txBody>
                  <a:tcPr marL="95250" marR="95250" marT="76200" marB="76200"/>
                </a:tc>
                <a:tc>
                  <a:txBody>
                    <a:bodyPr/>
                    <a:lstStyle/>
                    <a:p>
                      <a:r>
                        <a:rPr sz="1725">
                          <a:solidFill>
                            <a:srgbClr val="000000"/>
                          </a:solidFill>
                          <a:latin typeface="Helvetica"/>
                          <a:ea typeface="Helvetica"/>
                          <a:cs typeface="Helvetica"/>
                        </a:rPr>
                        <a:t>Clear problem and proposed design, an architecture diagram, measurable success, and verifiable milestones for Demo 2, Demo 3, and the final. A working system is not required.</a:t>
                      </a:r>
                    </a:p>
                  </a:txBody>
                  <a:tcPr marL="95250" marR="95250" marT="76200" marB="76200"/>
                </a:tc>
                <a:extLst>
                  <a:ext uri="{0D108BD9-81ED-4DB2-BD59-A6C34878D82A}">
                    <a16:rowId xmlns:a16="http://schemas.microsoft.com/office/drawing/2014/main" val="10001"/>
                  </a:ext>
                </a:extLst>
              </a:tr>
              <a:tr h="781050">
                <a:tc>
                  <a:txBody>
                    <a:bodyPr/>
                    <a:lstStyle/>
                    <a:p>
                      <a:r>
                        <a:rPr sz="1725" b="1">
                          <a:solidFill>
                            <a:srgbClr val="000000"/>
                          </a:solidFill>
                          <a:latin typeface="Helvetica"/>
                          <a:ea typeface="Helvetica"/>
                          <a:cs typeface="Helvetica"/>
                        </a:rPr>
                        <a:t>Slides</a:t>
                      </a:r>
                    </a:p>
                  </a:txBody>
                  <a:tcPr marL="95250" marR="95250" marT="76200" marB="76200"/>
                </a:tc>
                <a:tc>
                  <a:txBody>
                    <a:bodyPr/>
                    <a:lstStyle/>
                    <a:p>
                      <a:pPr algn="ctr"/>
                      <a:r>
                        <a:rPr sz="1800" b="1">
                          <a:solidFill>
                            <a:srgbClr val="000000"/>
                          </a:solidFill>
                          <a:latin typeface="Helvetica"/>
                          <a:ea typeface="Helvetica"/>
                          <a:cs typeface="Helvetica"/>
                        </a:rPr>
                        <a:t>25%</a:t>
                      </a:r>
                    </a:p>
                  </a:txBody>
                  <a:tcPr marL="95250" marR="95250" marT="76200" marB="76200"/>
                </a:tc>
                <a:tc>
                  <a:txBody>
                    <a:bodyPr/>
                    <a:lstStyle/>
                    <a:p>
                      <a:r>
                        <a:rPr sz="1725">
                          <a:solidFill>
                            <a:srgbClr val="000000"/>
                          </a:solidFill>
                          <a:latin typeface="Helvetica"/>
                          <a:ea typeface="Helvetica"/>
                          <a:cs typeface="Helvetica"/>
                        </a:rPr>
                        <a:t>Problem and motivation, design, evidence, clarity, and finishing within 10 minutes.</a:t>
                      </a:r>
                    </a:p>
                  </a:txBody>
                  <a:tcPr marL="95250" marR="95250" marT="76200" marB="76200"/>
                </a:tc>
                <a:extLst>
                  <a:ext uri="{0D108BD9-81ED-4DB2-BD59-A6C34878D82A}">
                    <a16:rowId xmlns:a16="http://schemas.microsoft.com/office/drawing/2014/main" val="10002"/>
                  </a:ext>
                </a:extLst>
              </a:tr>
              <a:tr h="781050">
                <a:tc>
                  <a:txBody>
                    <a:bodyPr/>
                    <a:lstStyle/>
                    <a:p>
                      <a:r>
                        <a:rPr sz="1725" b="1">
                          <a:solidFill>
                            <a:srgbClr val="000000"/>
                          </a:solidFill>
                          <a:latin typeface="Helvetica"/>
                          <a:ea typeface="Helvetica"/>
                          <a:cs typeface="Helvetica"/>
                        </a:rPr>
                        <a:t>Challenge</a:t>
                      </a:r>
                    </a:p>
                  </a:txBody>
                  <a:tcPr marL="95250" marR="95250" marT="76200" marB="76200"/>
                </a:tc>
                <a:tc>
                  <a:txBody>
                    <a:bodyPr/>
                    <a:lstStyle/>
                    <a:p>
                      <a:pPr algn="ctr"/>
                      <a:r>
                        <a:rPr sz="1800" b="1">
                          <a:solidFill>
                            <a:srgbClr val="000000"/>
                          </a:solidFill>
                          <a:latin typeface="Helvetica"/>
                          <a:ea typeface="Helvetica"/>
                          <a:cs typeface="Helvetica"/>
                        </a:rPr>
                        <a:t>25%</a:t>
                      </a:r>
                    </a:p>
                  </a:txBody>
                  <a:tcPr marL="95250" marR="95250" marT="76200" marB="76200"/>
                </a:tc>
                <a:tc>
                  <a:txBody>
                    <a:bodyPr/>
                    <a:lstStyle/>
                    <a:p>
                      <a:r>
                        <a:rPr sz="1725">
                          <a:solidFill>
                            <a:srgbClr val="000000"/>
                          </a:solidFill>
                          <a:latin typeface="Helvetica"/>
                          <a:ea typeface="Helvetica"/>
                          <a:cs typeface="Helvetica"/>
                        </a:rPr>
                        <a:t>The technical difficulty and ambition of the proposed system.</a:t>
                      </a:r>
                    </a:p>
                  </a:txBody>
                  <a:tcPr marL="95250" marR="95250" marT="76200" marB="76200"/>
                </a:tc>
                <a:extLst>
                  <a:ext uri="{0D108BD9-81ED-4DB2-BD59-A6C34878D82A}">
                    <a16:rowId xmlns:a16="http://schemas.microsoft.com/office/drawing/2014/main" val="10003"/>
                  </a:ext>
                </a:extLst>
              </a:tr>
            </a:tbl>
          </a:graphicData>
        </a:graphic>
      </p:graphicFrame>
      <p:sp>
        <p:nvSpPr>
          <p:cNvPr id="12" name="Milestone grading note">
            <a:extLst>
              <a:ext uri="{FF2B5EF4-FFF2-40B4-BE49-F238E27FC236}">
                <a16:creationId xmlns:a16="http://schemas.microsoft.com/office/drawing/2014/main" id="{19113F98-AD09-45E2-9DEF-AC28BD3E4130}"/>
              </a:ext>
            </a:extLst>
          </p:cNvPr>
          <p:cNvSpPr>
            <a:spLocks noGrp="1"/>
          </p:cNvSpPr>
          <p:nvPr/>
        </p:nvSpPr>
        <p:spPr>
          <a:xfrm>
            <a:off x="438150" y="5429250"/>
            <a:ext cx="11315700" cy="438150"/>
          </a:xfrm>
          <a:prstGeom prst="rect">
            <a:avLst/>
          </a:prstGeom>
          <a:noFill/>
          <a:ln w="0">
            <a:noFill/>
            <a:prstDash val="solid"/>
          </a:ln>
        </p:spPr>
        <p:txBody>
          <a:bodyPr>
            <a:normAutofit/>
          </a:bodyPr>
          <a:lstStyle/>
          <a:p>
            <a:pPr algn="ctr">
              <a:defRPr sz="1875" b="1">
                <a:solidFill>
                  <a:srgbClr val="000000"/>
                </a:solidFill>
                <a:latin typeface="Helvetica"/>
                <a:ea typeface="Helvetica"/>
                <a:cs typeface="Helvetica"/>
              </a:defRPr>
            </a:pPr>
            <a:r>
              <a:rPr sz="1875" b="1">
                <a:solidFill>
                  <a:srgbClr val="000000"/>
                </a:solidFill>
                <a:latin typeface="Helvetica"/>
                <a:ea typeface="Helvetica"/>
                <a:cs typeface="Helvetica"/>
              </a:rPr>
              <a:t>Later progress grades use the milestones your team commits to here.</a:t>
            </a:r>
          </a:p>
        </p:txBody>
      </p:sp>
    </p:spTree>
    <p:extLst>
      <p:ext uri="{BB962C8B-B14F-4D97-AF65-F5344CB8AC3E}">
        <p14:creationId xmlns:p14="http://schemas.microsoft.com/office/powerpoint/2010/main" val="17206706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ED557C7-2CDD-8C0B-07A1-1DABA8EF652A}"/>
              </a:ext>
            </a:extLst>
          </p:cNvPr>
          <p:cNvSpPr>
            <a:spLocks noGrp="1"/>
          </p:cNvSpPr>
          <p:nvPr>
            <p:ph type="title"/>
          </p:nvPr>
        </p:nvSpPr>
        <p:spPr>
          <a:xfrm>
            <a:off x="0" y="1"/>
            <a:ext cx="12191999" cy="914400"/>
          </a:xfrm>
        </p:spPr>
        <p:txBody>
          <a:bodyPr>
            <a:normAutofit/>
          </a:bodyPr>
          <a:lstStyle/>
          <a:p>
            <a:pPr algn="ctr">
              <a:buNone/>
            </a:pPr>
            <a:r>
              <a:rPr b="1">
                <a:latin typeface="Helvetica"/>
                <a:ea typeface="Helvetica"/>
                <a:cs typeface="Helvetica"/>
              </a:rPr>
              <a:t>Presentation Grading</a:t>
            </a:r>
          </a:p>
        </p:txBody>
      </p:sp>
      <p:sp>
        <p:nvSpPr>
          <p:cNvPr id="8" name="Slide Number Placeholder 4">
            <a:extLst>
              <a:ext uri="{FF2B5EF4-FFF2-40B4-BE49-F238E27FC236}">
                <a16:creationId xmlns:a16="http://schemas.microsoft.com/office/drawing/2014/main" id="{25E098EE-1299-32C0-2821-1DB599BAC8E9}"/>
              </a:ext>
            </a:extLst>
          </p:cNvPr>
          <p:cNvSpPr>
            <a:spLocks noGrp="1"/>
          </p:cNvSpPr>
          <p:nvPr>
            <p:ph type="sldNum" idx="12"/>
          </p:nvPr>
        </p:nvSpPr>
        <p:spPr>
          <a:xfrm>
            <a:off x="8610600" y="6356350"/>
            <a:ext cx="2743200" cy="365125"/>
          </a:xfrm>
        </p:spPr>
        <p:txBody>
          <a:bodyPr/>
          <a:lstStyle/>
          <a:p>
            <a:fld id="{212DA15D-5F50-8B40-811F-34F736B90848}" type="slidenum">
              <a:rPr/>
              <a:t>3</a:t>
            </a:fld>
            <a:endParaRPr/>
          </a:p>
        </p:txBody>
      </p:sp>
      <p:graphicFrame>
        <p:nvGraphicFramePr>
          <p:cNvPr id="12" name="Table 11"/>
          <p:cNvGraphicFramePr/>
          <p:nvPr/>
        </p:nvGraphicFramePr>
        <p:xfrm>
          <a:off x="552450" y="1200150"/>
          <a:ext cx="11087100" cy="4333875"/>
        </p:xfrm>
        <a:graphic>
          <a:graphicData uri="http://schemas.openxmlformats.org/drawingml/2006/table">
            <a:tbl>
              <a:tblPr/>
              <a:tblGrid>
                <a:gridCol w="2692581">
                  <a:extLst>
                    <a:ext uri="{9D8B030D-6E8A-4147-A177-3AD203B41FA5}">
                      <a16:colId xmlns:a16="http://schemas.microsoft.com/office/drawing/2014/main" val="20000"/>
                    </a:ext>
                  </a:extLst>
                </a:gridCol>
                <a:gridCol w="8394519">
                  <a:extLst>
                    <a:ext uri="{9D8B030D-6E8A-4147-A177-3AD203B41FA5}">
                      <a16:colId xmlns:a16="http://schemas.microsoft.com/office/drawing/2014/main" val="20001"/>
                    </a:ext>
                  </a:extLst>
                </a:gridCol>
              </a:tblGrid>
              <a:tr h="476250">
                <a:tc>
                  <a:txBody>
                    <a:bodyPr/>
                    <a:lstStyle/>
                    <a:p>
                      <a:r>
                        <a:rPr sz="1950" b="1">
                          <a:solidFill>
                            <a:srgbClr val="000000"/>
                          </a:solidFill>
                          <a:latin typeface="Helvetica"/>
                          <a:ea typeface="Helvetica"/>
                          <a:cs typeface="Helvetica"/>
                        </a:rPr>
                        <a:t>Rule</a:t>
                      </a:r>
                    </a:p>
                  </a:txBody>
                  <a:tcPr marL="95250" marR="95250" marT="76200" marB="76200">
                    <a:solidFill>
                      <a:srgbClr val="E8E8E8"/>
                    </a:solidFill>
                  </a:tcPr>
                </a:tc>
                <a:tc>
                  <a:txBody>
                    <a:bodyPr/>
                    <a:lstStyle/>
                    <a:p>
                      <a:r>
                        <a:rPr sz="1950" b="1">
                          <a:solidFill>
                            <a:srgbClr val="000000"/>
                          </a:solidFill>
                          <a:latin typeface="Helvetica"/>
                          <a:ea typeface="Helvetica"/>
                          <a:cs typeface="Helvetica"/>
                        </a:rPr>
                        <a:t>Policy</a:t>
                      </a:r>
                    </a:p>
                  </a:txBody>
                  <a:tcPr marL="95250" marR="95250" marT="76200" marB="76200">
                    <a:solidFill>
                      <a:srgbClr val="E8E8E8"/>
                    </a:solidFill>
                  </a:tcPr>
                </a:tc>
                <a:extLst>
                  <a:ext uri="{0D108BD9-81ED-4DB2-BD59-A6C34878D82A}">
                    <a16:rowId xmlns:a16="http://schemas.microsoft.com/office/drawing/2014/main" val="10000"/>
                  </a:ext>
                </a:extLst>
              </a:tr>
              <a:tr h="771525">
                <a:tc>
                  <a:txBody>
                    <a:bodyPr/>
                    <a:lstStyle/>
                    <a:p>
                      <a:r>
                        <a:rPr sz="1725" b="1">
                          <a:solidFill>
                            <a:srgbClr val="000000"/>
                          </a:solidFill>
                          <a:latin typeface="Helvetica"/>
                          <a:ea typeface="Helvetica"/>
                          <a:cs typeface="Helvetica"/>
                        </a:rPr>
                        <a:t>Time</a:t>
                      </a:r>
                    </a:p>
                  </a:txBody>
                  <a:tcPr marL="95250" marR="95250" marT="76200" marB="76200"/>
                </a:tc>
                <a:tc>
                  <a:txBody>
                    <a:bodyPr/>
                    <a:lstStyle/>
                    <a:p>
                      <a:r>
                        <a:rPr sz="1725">
                          <a:solidFill>
                            <a:srgbClr val="000000"/>
                          </a:solidFill>
                          <a:latin typeface="Helvetica"/>
                          <a:ea typeface="Helvetica"/>
                          <a:cs typeface="Helvetica"/>
                        </a:rPr>
                        <a:t>10-minute presentation, followed by 5 minutes of Q&amp;A</a:t>
                      </a:r>
                    </a:p>
                  </a:txBody>
                  <a:tcPr marL="95250" marR="95250" marT="76200" marB="76200"/>
                </a:tc>
                <a:extLst>
                  <a:ext uri="{0D108BD9-81ED-4DB2-BD59-A6C34878D82A}">
                    <a16:rowId xmlns:a16="http://schemas.microsoft.com/office/drawing/2014/main" val="10001"/>
                  </a:ext>
                </a:extLst>
              </a:tr>
              <a:tr h="771525">
                <a:tc>
                  <a:txBody>
                    <a:bodyPr/>
                    <a:lstStyle/>
                    <a:p>
                      <a:r>
                        <a:rPr sz="1725" b="1">
                          <a:solidFill>
                            <a:srgbClr val="000000"/>
                          </a:solidFill>
                          <a:latin typeface="Helvetica"/>
                          <a:ea typeface="Helvetica"/>
                          <a:cs typeface="Helvetica"/>
                        </a:rPr>
                        <a:t>Presenters</a:t>
                      </a:r>
                    </a:p>
                  </a:txBody>
                  <a:tcPr marL="95250" marR="95250" marT="76200" marB="76200"/>
                </a:tc>
                <a:tc>
                  <a:txBody>
                    <a:bodyPr/>
                    <a:lstStyle/>
                    <a:p>
                      <a:r>
                        <a:rPr sz="1725">
                          <a:solidFill>
                            <a:srgbClr val="000000"/>
                          </a:solidFill>
                          <a:latin typeface="Helvetica"/>
                          <a:ea typeface="Helvetica"/>
                          <a:cs typeface="Helvetica"/>
                        </a:rPr>
                        <a:t>At most two presenters per demo. Every team member presents at least once across Demo 1, Demo 2, and Demo 3.</a:t>
                      </a:r>
                    </a:p>
                  </a:txBody>
                  <a:tcPr marL="95250" marR="95250" marT="76200" marB="76200"/>
                </a:tc>
                <a:extLst>
                  <a:ext uri="{0D108BD9-81ED-4DB2-BD59-A6C34878D82A}">
                    <a16:rowId xmlns:a16="http://schemas.microsoft.com/office/drawing/2014/main" val="10002"/>
                  </a:ext>
                </a:extLst>
              </a:tr>
              <a:tr h="771525">
                <a:tc>
                  <a:txBody>
                    <a:bodyPr/>
                    <a:lstStyle/>
                    <a:p>
                      <a:r>
                        <a:rPr sz="1725" b="1">
                          <a:solidFill>
                            <a:srgbClr val="000000"/>
                          </a:solidFill>
                          <a:latin typeface="Helvetica"/>
                          <a:ea typeface="Helvetica"/>
                          <a:cs typeface="Helvetica"/>
                        </a:rPr>
                        <a:t>Individual score</a:t>
                      </a:r>
                    </a:p>
                  </a:txBody>
                  <a:tcPr marL="95250" marR="95250" marT="76200" marB="76200"/>
                </a:tc>
                <a:tc>
                  <a:txBody>
                    <a:bodyPr/>
                    <a:lstStyle/>
                    <a:p>
                      <a:r>
                        <a:rPr sz="1725">
                          <a:solidFill>
                            <a:srgbClr val="000000"/>
                          </a:solidFill>
                          <a:latin typeface="Helvetica"/>
                          <a:ea typeface="Helvetica"/>
                          <a:cs typeface="Helvetica"/>
                        </a:rPr>
                        <a:t>Presentation quality, clarity, engagement, finishing on time, and answering questions</a:t>
                      </a:r>
                    </a:p>
                  </a:txBody>
                  <a:tcPr marL="95250" marR="95250" marT="76200" marB="76200"/>
                </a:tc>
                <a:extLst>
                  <a:ext uri="{0D108BD9-81ED-4DB2-BD59-A6C34878D82A}">
                    <a16:rowId xmlns:a16="http://schemas.microsoft.com/office/drawing/2014/main" val="10003"/>
                  </a:ext>
                </a:extLst>
              </a:tr>
              <a:tr h="771525">
                <a:tc>
                  <a:txBody>
                    <a:bodyPr/>
                    <a:lstStyle/>
                    <a:p>
                      <a:r>
                        <a:rPr sz="1800" b="1">
                          <a:solidFill>
                            <a:srgbClr val="000000"/>
                          </a:solidFill>
                          <a:latin typeface="Helvetica"/>
                          <a:ea typeface="Helvetica"/>
                          <a:cs typeface="Helvetica"/>
                        </a:rPr>
                        <a:t>Multiple demos</a:t>
                      </a:r>
                    </a:p>
                  </a:txBody>
                  <a:tcPr marL="95250" marR="95250" marT="76200" marB="76200">
                    <a:solidFill>
                      <a:srgbClr val="EAF2F8"/>
                    </a:solidFill>
                  </a:tcPr>
                </a:tc>
                <a:tc>
                  <a:txBody>
                    <a:bodyPr/>
                    <a:lstStyle/>
                    <a:p>
                      <a:r>
                        <a:rPr sz="1800" b="1">
                          <a:solidFill>
                            <a:srgbClr val="000000"/>
                          </a:solidFill>
                          <a:latin typeface="Helvetica"/>
                          <a:ea typeface="Helvetica"/>
                          <a:cs typeface="Helvetica"/>
                        </a:rPr>
                        <a:t>If you present more than once, your highest presentation score counts.</a:t>
                      </a:r>
                    </a:p>
                  </a:txBody>
                  <a:tcPr marL="95250" marR="95250" marT="76200" marB="76200">
                    <a:solidFill>
                      <a:srgbClr val="EAF2F8"/>
                    </a:solidFill>
                  </a:tcPr>
                </a:tc>
                <a:extLst>
                  <a:ext uri="{0D108BD9-81ED-4DB2-BD59-A6C34878D82A}">
                    <a16:rowId xmlns:a16="http://schemas.microsoft.com/office/drawing/2014/main" val="10004"/>
                  </a:ext>
                </a:extLst>
              </a:tr>
              <a:tr h="771525">
                <a:tc>
                  <a:txBody>
                    <a:bodyPr/>
                    <a:lstStyle/>
                    <a:p>
                      <a:r>
                        <a:rPr sz="1725" b="1">
                          <a:solidFill>
                            <a:srgbClr val="000000"/>
                          </a:solidFill>
                          <a:latin typeface="Helvetica"/>
                          <a:ea typeface="Helvetica"/>
                          <a:cs typeface="Helvetica"/>
                        </a:rPr>
                        <a:t>Course weight</a:t>
                      </a:r>
                    </a:p>
                  </a:txBody>
                  <a:tcPr marL="95250" marR="95250" marT="76200" marB="76200"/>
                </a:tc>
                <a:tc>
                  <a:txBody>
                    <a:bodyPr/>
                    <a:lstStyle/>
                    <a:p>
                      <a:r>
                        <a:rPr sz="1725">
                          <a:solidFill>
                            <a:srgbClr val="000000"/>
                          </a:solidFill>
                          <a:latin typeface="Helvetica"/>
                          <a:ea typeface="Helvetica"/>
                          <a:cs typeface="Helvetica"/>
                        </a:rPr>
                        <a:t>10% of the course grade. The final presentation is graded separately.</a:t>
                      </a:r>
                    </a:p>
                  </a:txBody>
                  <a:tcPr marL="95250" marR="95250" marT="76200" marB="7620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7206706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729AB-5EBB-FD20-43DD-D6E0374E683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2ED557C7-2CDD-8C0B-07A1-1DABA8EF652A}"/>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AWS Credits: One Code per Account</a:t>
            </a:r>
          </a:p>
        </p:txBody>
      </p:sp>
      <p:sp>
        <p:nvSpPr>
          <p:cNvPr id="8" name="Slide Number Placeholder 4">
            <a:extLst>
              <a:ext uri="{FF2B5EF4-FFF2-40B4-BE49-F238E27FC236}">
                <a16:creationId xmlns:a16="http://schemas.microsoft.com/office/drawing/2014/main" id="{25E098EE-1299-32C0-2821-1DB599BAC8E9}"/>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4</a:t>
            </a:fld>
            <a:endParaRPr lang="en-US"/>
          </a:p>
        </p:txBody>
      </p:sp>
      <p:sp>
        <p:nvSpPr>
          <p:cNvPr id="3" name="TextBox 2">
            <a:extLst>
              <a:ext uri="{FF2B5EF4-FFF2-40B4-BE49-F238E27FC236}">
                <a16:creationId xmlns:a16="http://schemas.microsoft.com/office/drawing/2014/main" id="{857EC8A2-DB9F-8BB1-7445-FE716E76BAC5}"/>
              </a:ext>
            </a:extLst>
          </p:cNvPr>
          <p:cNvSpPr txBox="1"/>
          <p:nvPr/>
        </p:nvSpPr>
        <p:spPr>
          <a:xfrm>
            <a:off x="88135" y="914401"/>
            <a:ext cx="11265665" cy="5016758"/>
          </a:xfrm>
          <a:prstGeom prst="rect">
            <a:avLst/>
          </a:prstGeom>
          <a:noFill/>
        </p:spPr>
        <p:txBody>
          <a:bodyPr wrap="square" rtlCol="0">
            <a:spAutoFit/>
          </a:bodyPr>
          <a:lstStyle/>
          <a:p>
            <a:r>
              <a:rPr lang="en-US" sz="3200" b="1" dirty="0"/>
              <a:t>AWS accepts only ONE code per account</a:t>
            </a:r>
          </a:p>
          <a:p>
            <a:pPr marL="914400" indent="-457200">
              <a:buFont typeface="Arial" panose="020B0604020202020204" pitchFamily="34" charset="0"/>
              <a:buChar char="•"/>
            </a:pPr>
            <a:r>
              <a:rPr lang="en-US" sz="2800" b="0" dirty="0"/>
              <a:t>Redeeming all codes into one team account does not work</a:t>
            </a:r>
          </a:p>
          <a:p>
            <a:pPr marL="914400" indent="-457200">
              <a:buFont typeface="Arial" panose="020B0604020202020204" pitchFamily="34" charset="0"/>
              <a:buChar char="•"/>
            </a:pPr>
            <a:endParaRPr lang="en-US" sz="2800" b="0" dirty="0"/>
          </a:p>
          <a:p>
            <a:r>
              <a:rPr lang="en-US" sz="3200" b="1" dirty="0"/>
              <a:t>What to do instead</a:t>
            </a:r>
          </a:p>
          <a:p>
            <a:pPr marL="914400" indent="-457200">
              <a:buFont typeface="Arial" panose="020B0604020202020204" pitchFamily="34" charset="0"/>
              <a:buChar char="•"/>
            </a:pPr>
            <a:r>
              <a:rPr lang="en-US" sz="2800" b="0" dirty="0"/>
              <a:t>Each teammate redeems one code in their own account</a:t>
            </a:r>
          </a:p>
          <a:p>
            <a:pPr marL="914400" indent="-457200">
              <a:buFont typeface="Arial" panose="020B0604020202020204" pitchFamily="34" charset="0"/>
              <a:buChar char="•"/>
            </a:pPr>
            <a:r>
              <a:rPr lang="en-US" sz="2800" b="0" dirty="0"/>
              <a:t>Run the project in one account at a time</a:t>
            </a:r>
          </a:p>
          <a:p>
            <a:pPr marL="914400" indent="-457200">
              <a:buFont typeface="Arial" panose="020B0604020202020204" pitchFamily="34" charset="0"/>
              <a:buChar char="•"/>
            </a:pPr>
            <a:r>
              <a:rPr lang="en-US" sz="2800" b="0" dirty="0"/>
              <a:t>When its credit runs low, move to the next teammate's account</a:t>
            </a:r>
          </a:p>
          <a:p>
            <a:pPr marL="914400" indent="-457200">
              <a:buFont typeface="Arial" panose="020B0604020202020204" pitchFamily="34" charset="0"/>
              <a:buChar char="•"/>
            </a:pPr>
            <a:r>
              <a:rPr lang="en-US" sz="2800" b="0" dirty="0"/>
              <a:t>Create resources with scripts, so moving is easy</a:t>
            </a:r>
          </a:p>
          <a:p>
            <a:pPr marL="914400" indent="-457200">
              <a:buFont typeface="Arial" panose="020B0604020202020204" pitchFamily="34" charset="0"/>
              <a:buChar char="•"/>
            </a:pPr>
            <a:r>
              <a:rPr lang="en-US" sz="2800" b="0" dirty="0"/>
              <a:t>After moving, delete everything in the old account</a:t>
            </a:r>
          </a:p>
          <a:p>
            <a:pPr marL="914400" indent="-457200">
              <a:buFont typeface="Arial" panose="020B0604020202020204" pitchFamily="34" charset="0"/>
              <a:buChar char="•"/>
            </a:pPr>
            <a:endParaRPr lang="en-US" sz="2800" b="0" dirty="0"/>
          </a:p>
          <a:p>
            <a:r>
              <a:rPr lang="en-US" sz="3200" b="1" dirty="0"/>
              <a:t>Details: Setup page on the course website</a:t>
            </a:r>
          </a:p>
        </p:txBody>
      </p:sp>
    </p:spTree>
    <p:extLst>
      <p:ext uri="{BB962C8B-B14F-4D97-AF65-F5344CB8AC3E}">
        <p14:creationId xmlns:p14="http://schemas.microsoft.com/office/powerpoint/2010/main" val="17206706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729AB-5EBB-FD20-43DD-D6E0374E683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2ED557C7-2CDD-8C0B-07A1-1DABA8EF652A}"/>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Why Storage?</a:t>
            </a:r>
          </a:p>
        </p:txBody>
      </p:sp>
      <p:sp>
        <p:nvSpPr>
          <p:cNvPr id="8" name="Slide Number Placeholder 4">
            <a:extLst>
              <a:ext uri="{FF2B5EF4-FFF2-40B4-BE49-F238E27FC236}">
                <a16:creationId xmlns:a16="http://schemas.microsoft.com/office/drawing/2014/main" id="{25E098EE-1299-32C0-2821-1DB599BAC8E9}"/>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5</a:t>
            </a:fld>
            <a:endParaRPr lang="en-US"/>
          </a:p>
        </p:txBody>
      </p:sp>
      <p:sp>
        <p:nvSpPr>
          <p:cNvPr id="3" name="TextBox 2">
            <a:extLst>
              <a:ext uri="{FF2B5EF4-FFF2-40B4-BE49-F238E27FC236}">
                <a16:creationId xmlns:a16="http://schemas.microsoft.com/office/drawing/2014/main" id="{857EC8A2-DB9F-8BB1-7445-FE716E76BAC5}"/>
              </a:ext>
            </a:extLst>
          </p:cNvPr>
          <p:cNvSpPr txBox="1"/>
          <p:nvPr/>
        </p:nvSpPr>
        <p:spPr>
          <a:xfrm>
            <a:off x="88135" y="914401"/>
            <a:ext cx="12191998" cy="3231654"/>
          </a:xfrm>
          <a:prstGeom prst="rect">
            <a:avLst/>
          </a:prstGeom>
          <a:noFill/>
        </p:spPr>
        <p:txBody>
          <a:bodyPr wrap="square" rtlCol="0">
            <a:spAutoFit/>
          </a:bodyPr>
          <a:lstStyle/>
          <a:p>
            <a:r>
              <a:rPr lang="en-US" sz="3200" b="1" dirty="0"/>
              <a:t>Storage is the layer the rest of the stack stands on</a:t>
            </a:r>
          </a:p>
          <a:p>
            <a:pPr marL="914400" indent="-457200">
              <a:buFont typeface="Arial" panose="020B0604020202020204" pitchFamily="34" charset="0"/>
              <a:buChar char="•"/>
            </a:pPr>
            <a:r>
              <a:rPr lang="en-US" sz="2800" b="0" dirty="0"/>
              <a:t>MapReduce, last lecture, reads its input and writes its output to GFS</a:t>
            </a:r>
          </a:p>
          <a:p>
            <a:pPr marL="914400" indent="-457200">
              <a:buFont typeface="Arial" panose="020B0604020202020204" pitchFamily="34" charset="0"/>
              <a:buChar char="•"/>
            </a:pPr>
            <a:r>
              <a:rPr lang="en-US" sz="2800" b="0" dirty="0"/>
              <a:t>BigTable, Google’s table store, keeps its files in GFS as well</a:t>
            </a:r>
          </a:p>
          <a:p>
            <a:pPr marL="914400" indent="-457200">
              <a:buFont typeface="Arial" panose="020B0604020202020204" pitchFamily="34" charset="0"/>
              <a:buChar char="•"/>
            </a:pPr>
            <a:r>
              <a:rPr lang="en-US" sz="2800" b="0" dirty="0"/>
              <a:t>Three papers in three years: GFS 2003, MapReduce 2004, </a:t>
            </a:r>
            <a:r>
              <a:rPr lang="en-US" sz="2800" b="0" dirty="0" err="1"/>
              <a:t>BigTable</a:t>
            </a:r>
            <a:r>
              <a:rPr lang="en-US" sz="2800" b="0" dirty="0"/>
              <a:t> 2006</a:t>
            </a:r>
          </a:p>
          <a:p>
            <a:pPr marL="457200"/>
            <a:endParaRPr lang="en-US" sz="2800" b="0" dirty="0"/>
          </a:p>
          <a:p>
            <a:r>
              <a:rPr lang="en-US" sz="3200" b="1" dirty="0"/>
              <a:t>Get the storage right and the systems above it get simpler</a:t>
            </a:r>
          </a:p>
          <a:p>
            <a:pPr marL="914400" indent="-457200">
              <a:buFont typeface="Arial" panose="020B0604020202020204" pitchFamily="34" charset="0"/>
              <a:buChar char="•"/>
            </a:pPr>
            <a:r>
              <a:rPr lang="en-US" sz="2800" b="0" dirty="0"/>
              <a:t>Your own project has to keep its state somewhere too</a:t>
            </a:r>
          </a:p>
        </p:txBody>
      </p:sp>
    </p:spTree>
    <p:extLst>
      <p:ext uri="{BB962C8B-B14F-4D97-AF65-F5344CB8AC3E}">
        <p14:creationId xmlns:p14="http://schemas.microsoft.com/office/powerpoint/2010/main" val="1720670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729AB-5EBB-FD20-43DD-D6E0374E683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2ED557C7-2CDD-8C0B-07A1-1DABA8EF652A}"/>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One Machine Is Not Enough</a:t>
            </a:r>
          </a:p>
        </p:txBody>
      </p:sp>
      <p:sp>
        <p:nvSpPr>
          <p:cNvPr id="8" name="Slide Number Placeholder 4">
            <a:extLst>
              <a:ext uri="{FF2B5EF4-FFF2-40B4-BE49-F238E27FC236}">
                <a16:creationId xmlns:a16="http://schemas.microsoft.com/office/drawing/2014/main" id="{25E098EE-1299-32C0-2821-1DB599BAC8E9}"/>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6</a:t>
            </a:fld>
            <a:endParaRPr lang="en-US"/>
          </a:p>
        </p:txBody>
      </p:sp>
      <p:sp>
        <p:nvSpPr>
          <p:cNvPr id="3" name="TextBox 2">
            <a:extLst>
              <a:ext uri="{FF2B5EF4-FFF2-40B4-BE49-F238E27FC236}">
                <a16:creationId xmlns:a16="http://schemas.microsoft.com/office/drawing/2014/main" id="{857EC8A2-DB9F-8BB1-7445-FE716E76BAC5}"/>
              </a:ext>
            </a:extLst>
          </p:cNvPr>
          <p:cNvSpPr txBox="1"/>
          <p:nvPr/>
        </p:nvSpPr>
        <p:spPr>
          <a:xfrm>
            <a:off x="88135" y="914401"/>
            <a:ext cx="11414752" cy="4154984"/>
          </a:xfrm>
          <a:prstGeom prst="rect">
            <a:avLst/>
          </a:prstGeom>
          <a:noFill/>
        </p:spPr>
        <p:txBody>
          <a:bodyPr wrap="square" rtlCol="0">
            <a:spAutoFit/>
          </a:bodyPr>
          <a:lstStyle/>
          <a:p>
            <a:r>
              <a:rPr lang="en-US" sz="3200" b="1" dirty="0"/>
              <a:t>A crawled copy of the web in 2004: roughly 400 TB</a:t>
            </a:r>
          </a:p>
          <a:p>
            <a:pPr marL="914400" indent="-457200">
              <a:buFont typeface="Arial" panose="020B0604020202020204" pitchFamily="34" charset="0"/>
              <a:buChar char="•"/>
            </a:pPr>
            <a:r>
              <a:rPr lang="en-US" sz="2800" b="0" dirty="0"/>
              <a:t>About 20 billion pages at around 20 KB each</a:t>
            </a:r>
          </a:p>
          <a:p>
            <a:pPr marL="457200"/>
            <a:endParaRPr lang="en-US" sz="2800" b="0" dirty="0"/>
          </a:p>
          <a:p>
            <a:r>
              <a:rPr lang="en-US" sz="3200" b="1" dirty="0"/>
              <a:t>One disk of that era read at 30-35 MB/s</a:t>
            </a:r>
          </a:p>
          <a:p>
            <a:pPr marL="914400" indent="-457200">
              <a:buFont typeface="Arial" panose="020B0604020202020204" pitchFamily="34" charset="0"/>
              <a:buChar char="•"/>
            </a:pPr>
            <a:r>
              <a:rPr lang="en-US" sz="2800" b="0" dirty="0"/>
              <a:t>Reading 400 TB through a single disk takes about four months</a:t>
            </a:r>
          </a:p>
          <a:p>
            <a:pPr marL="914400" indent="-457200">
              <a:buFont typeface="Arial" panose="020B0604020202020204" pitchFamily="34" charset="0"/>
              <a:buChar char="•"/>
            </a:pPr>
            <a:r>
              <a:rPr lang="en-US" sz="2800" b="0" dirty="0"/>
              <a:t>Storing it takes on the order of a thousand disks</a:t>
            </a:r>
          </a:p>
          <a:p>
            <a:pPr marL="457200"/>
            <a:endParaRPr lang="en-US" sz="2800" b="0" dirty="0"/>
          </a:p>
          <a:p>
            <a:r>
              <a:rPr lang="en-US" sz="3200" b="1" dirty="0"/>
              <a:t>So the data has to be spread over many machines</a:t>
            </a:r>
          </a:p>
          <a:p>
            <a:pPr marL="914400" indent="-457200">
              <a:buFont typeface="Arial" panose="020B0604020202020204" pitchFamily="34" charset="0"/>
              <a:buChar char="•"/>
            </a:pPr>
            <a:r>
              <a:rPr lang="en-US" sz="2800" b="0" dirty="0"/>
              <a:t>Many disks read in parallel, and one file can outgrow any single disk</a:t>
            </a:r>
          </a:p>
        </p:txBody>
      </p:sp>
    </p:spTree>
    <p:extLst>
      <p:ext uri="{BB962C8B-B14F-4D97-AF65-F5344CB8AC3E}">
        <p14:creationId xmlns:p14="http://schemas.microsoft.com/office/powerpoint/2010/main" val="1720670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729AB-5EBB-FD20-43DD-D6E0374E683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2ED557C7-2CDD-8C0B-07A1-1DABA8EF652A}"/>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Then Everything Fails</a:t>
            </a:r>
          </a:p>
        </p:txBody>
      </p:sp>
      <p:sp>
        <p:nvSpPr>
          <p:cNvPr id="8" name="Slide Number Placeholder 4">
            <a:extLst>
              <a:ext uri="{FF2B5EF4-FFF2-40B4-BE49-F238E27FC236}">
                <a16:creationId xmlns:a16="http://schemas.microsoft.com/office/drawing/2014/main" id="{25E098EE-1299-32C0-2821-1DB599BAC8E9}"/>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7</a:t>
            </a:fld>
            <a:endParaRPr lang="en-US"/>
          </a:p>
        </p:txBody>
      </p:sp>
      <p:sp>
        <p:nvSpPr>
          <p:cNvPr id="3" name="TextBox 2">
            <a:extLst>
              <a:ext uri="{FF2B5EF4-FFF2-40B4-BE49-F238E27FC236}">
                <a16:creationId xmlns:a16="http://schemas.microsoft.com/office/drawing/2014/main" id="{857EC8A2-DB9F-8BB1-7445-FE716E76BAC5}"/>
              </a:ext>
            </a:extLst>
          </p:cNvPr>
          <p:cNvSpPr txBox="1"/>
          <p:nvPr/>
        </p:nvSpPr>
        <p:spPr>
          <a:xfrm>
            <a:off x="88135" y="914401"/>
            <a:ext cx="11414752" cy="5078313"/>
          </a:xfrm>
          <a:prstGeom prst="rect">
            <a:avLst/>
          </a:prstGeom>
          <a:noFill/>
        </p:spPr>
        <p:txBody>
          <a:bodyPr wrap="square" rtlCol="0">
            <a:spAutoFit/>
          </a:bodyPr>
          <a:lstStyle/>
          <a:p>
            <a:r>
              <a:rPr lang="en-US" sz="3200" b="1" dirty="0"/>
              <a:t>At this scale, commodity machines are the only affordable option</a:t>
            </a:r>
          </a:p>
          <a:p>
            <a:pPr marL="457200"/>
            <a:r>
              <a:rPr lang="en-US" sz="2800" b="0" dirty="0"/>
              <a:t>Far better performance per dollar than reliable, expensive hardware</a:t>
            </a:r>
          </a:p>
          <a:p>
            <a:pPr marL="457200"/>
            <a:r>
              <a:rPr lang="en-US" sz="2800" b="0" dirty="0"/>
              <a:t>Expensive hardware fails less often, but it still fails</a:t>
            </a:r>
          </a:p>
          <a:p>
            <a:pPr marL="457200"/>
            <a:endParaRPr lang="en-US" sz="2800" b="0" dirty="0"/>
          </a:p>
          <a:p>
            <a:r>
              <a:rPr lang="en-US" sz="3200" b="1" dirty="0"/>
              <a:t>One Google cluster, first year of service</a:t>
            </a:r>
          </a:p>
          <a:p>
            <a:pPr marL="457200"/>
            <a:r>
              <a:rPr lang="en-US" sz="2800" b="0" dirty="0"/>
              <a:t>Around 20 rack failures, each taking 40-80 machines away for hours</a:t>
            </a:r>
          </a:p>
          <a:p>
            <a:pPr marL="457200"/>
            <a:r>
              <a:rPr lang="en-US" sz="2800" b="0" dirty="0"/>
              <a:t>About a thousand machine failures and thousands of disk failures</a:t>
            </a:r>
          </a:p>
          <a:p>
            <a:pPr marL="457200"/>
            <a:r>
              <a:rPr lang="en-US" sz="2800" b="0" dirty="0"/>
              <a:t>Plus rewiring, router reloads and network blips</a:t>
            </a:r>
          </a:p>
          <a:p>
            <a:pPr marL="457200"/>
            <a:endParaRPr lang="en-US" sz="2800" b="0" dirty="0"/>
          </a:p>
          <a:p>
            <a:r>
              <a:rPr lang="en-US" sz="3200" b="1" dirty="0"/>
              <a:t>Reliability has to come from the software</a:t>
            </a:r>
          </a:p>
        </p:txBody>
      </p:sp>
    </p:spTree>
    <p:extLst>
      <p:ext uri="{BB962C8B-B14F-4D97-AF65-F5344CB8AC3E}">
        <p14:creationId xmlns:p14="http://schemas.microsoft.com/office/powerpoint/2010/main" val="1720670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729AB-5EBB-FD20-43DD-D6E0374E683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2ED557C7-2CDD-8C0B-07A1-1DABA8EF652A}"/>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Two Questions for This Lecture</a:t>
            </a:r>
          </a:p>
        </p:txBody>
      </p:sp>
      <p:sp>
        <p:nvSpPr>
          <p:cNvPr id="8" name="Slide Number Placeholder 4">
            <a:extLst>
              <a:ext uri="{FF2B5EF4-FFF2-40B4-BE49-F238E27FC236}">
                <a16:creationId xmlns:a16="http://schemas.microsoft.com/office/drawing/2014/main" id="{25E098EE-1299-32C0-2821-1DB599BAC8E9}"/>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8</a:t>
            </a:fld>
            <a:endParaRPr lang="en-US"/>
          </a:p>
        </p:txBody>
      </p:sp>
      <p:sp>
        <p:nvSpPr>
          <p:cNvPr id="3" name="TextBox 2">
            <a:extLst>
              <a:ext uri="{FF2B5EF4-FFF2-40B4-BE49-F238E27FC236}">
                <a16:creationId xmlns:a16="http://schemas.microsoft.com/office/drawing/2014/main" id="{857EC8A2-DB9F-8BB1-7445-FE716E76BAC5}"/>
              </a:ext>
            </a:extLst>
          </p:cNvPr>
          <p:cNvSpPr txBox="1"/>
          <p:nvPr/>
        </p:nvSpPr>
        <p:spPr>
          <a:xfrm>
            <a:off x="88135" y="914401"/>
            <a:ext cx="11265665" cy="5016758"/>
          </a:xfrm>
          <a:prstGeom prst="rect">
            <a:avLst/>
          </a:prstGeom>
          <a:noFill/>
        </p:spPr>
        <p:txBody>
          <a:bodyPr wrap="square" rtlCol="0">
            <a:spAutoFit/>
          </a:bodyPr>
          <a:lstStyle/>
          <a:p>
            <a:r>
              <a:rPr lang="en-US" sz="3200" b="1" dirty="0"/>
              <a:t>What interface should a large distributed storage system expose?</a:t>
            </a:r>
          </a:p>
          <a:p>
            <a:endParaRPr lang="en-US" sz="3200" b="1" dirty="0"/>
          </a:p>
          <a:p>
            <a:r>
              <a:rPr lang="en-US" sz="3200" b="1" dirty="0"/>
              <a:t>How can that interface remain useful as data spans machines that fail?</a:t>
            </a:r>
          </a:p>
        </p:txBody>
      </p:sp>
    </p:spTree>
    <p:extLst>
      <p:ext uri="{BB962C8B-B14F-4D97-AF65-F5344CB8AC3E}">
        <p14:creationId xmlns:p14="http://schemas.microsoft.com/office/powerpoint/2010/main" val="17206706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006AC-979F-0806-0955-EC68D0D83E2B}"/>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9452C5CF-C823-F93B-EC88-BA4478E024CE}"/>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Why Is Distributed Storage Hard?</a:t>
            </a:r>
          </a:p>
        </p:txBody>
      </p:sp>
      <p:sp>
        <p:nvSpPr>
          <p:cNvPr id="8" name="Slide Number Placeholder 4">
            <a:extLst>
              <a:ext uri="{FF2B5EF4-FFF2-40B4-BE49-F238E27FC236}">
                <a16:creationId xmlns:a16="http://schemas.microsoft.com/office/drawing/2014/main" id="{16D0A24B-6300-8D05-5AB9-F3998A2F3009}"/>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9</a:t>
            </a:fld>
            <a:endParaRPr lang="en-US"/>
          </a:p>
        </p:txBody>
      </p:sp>
      <p:grpSp>
        <p:nvGrpSpPr>
          <p:cNvPr id="46" name="Group 45">
            <a:extLst>
              <a:ext uri="{FF2B5EF4-FFF2-40B4-BE49-F238E27FC236}">
                <a16:creationId xmlns:a16="http://schemas.microsoft.com/office/drawing/2014/main" id="{1B5B40A3-42ED-D7FD-CD41-D3E850056927}"/>
              </a:ext>
            </a:extLst>
          </p:cNvPr>
          <p:cNvGrpSpPr/>
          <p:nvPr/>
        </p:nvGrpSpPr>
        <p:grpSpPr>
          <a:xfrm>
            <a:off x="331574" y="1589379"/>
            <a:ext cx="6761205" cy="3896732"/>
            <a:chOff x="838200" y="1097281"/>
            <a:chExt cx="10136302" cy="6086348"/>
          </a:xfrm>
        </p:grpSpPr>
        <p:pic>
          <p:nvPicPr>
            <p:cNvPr id="2" name="object 3">
              <a:extLst>
                <a:ext uri="{FF2B5EF4-FFF2-40B4-BE49-F238E27FC236}">
                  <a16:creationId xmlns:a16="http://schemas.microsoft.com/office/drawing/2014/main" id="{142A3B20-70B3-1E06-BF84-CC4A6EFF3338}"/>
                </a:ext>
              </a:extLst>
            </p:cNvPr>
            <p:cNvPicPr/>
            <p:nvPr/>
          </p:nvPicPr>
          <p:blipFill>
            <a:blip r:embed="rId3" cstate="print"/>
            <a:stretch>
              <a:fillRect/>
            </a:stretch>
          </p:blipFill>
          <p:spPr>
            <a:xfrm>
              <a:off x="9175601" y="1097281"/>
              <a:ext cx="1094207" cy="1094207"/>
            </a:xfrm>
            <a:prstGeom prst="rect">
              <a:avLst/>
            </a:prstGeom>
          </p:spPr>
        </p:pic>
        <p:pic>
          <p:nvPicPr>
            <p:cNvPr id="3" name="object 4">
              <a:extLst>
                <a:ext uri="{FF2B5EF4-FFF2-40B4-BE49-F238E27FC236}">
                  <a16:creationId xmlns:a16="http://schemas.microsoft.com/office/drawing/2014/main" id="{A43C5B78-A690-FD29-E1D9-CF937AFDC2FD}"/>
                </a:ext>
              </a:extLst>
            </p:cNvPr>
            <p:cNvPicPr/>
            <p:nvPr/>
          </p:nvPicPr>
          <p:blipFill>
            <a:blip r:embed="rId4" cstate="print"/>
            <a:stretch>
              <a:fillRect/>
            </a:stretch>
          </p:blipFill>
          <p:spPr>
            <a:xfrm>
              <a:off x="838200" y="5263070"/>
              <a:ext cx="1011177" cy="1920559"/>
            </a:xfrm>
            <a:prstGeom prst="rect">
              <a:avLst/>
            </a:prstGeom>
          </p:spPr>
        </p:pic>
        <p:pic>
          <p:nvPicPr>
            <p:cNvPr id="4" name="object 5">
              <a:extLst>
                <a:ext uri="{FF2B5EF4-FFF2-40B4-BE49-F238E27FC236}">
                  <a16:creationId xmlns:a16="http://schemas.microsoft.com/office/drawing/2014/main" id="{988263FD-6D57-7E2C-6E25-F9F04101C121}"/>
                </a:ext>
              </a:extLst>
            </p:cNvPr>
            <p:cNvPicPr/>
            <p:nvPr/>
          </p:nvPicPr>
          <p:blipFill>
            <a:blip r:embed="rId3" cstate="print"/>
            <a:stretch>
              <a:fillRect/>
            </a:stretch>
          </p:blipFill>
          <p:spPr>
            <a:xfrm>
              <a:off x="3772917" y="1097281"/>
              <a:ext cx="1094207" cy="1094207"/>
            </a:xfrm>
            <a:prstGeom prst="rect">
              <a:avLst/>
            </a:prstGeom>
          </p:spPr>
        </p:pic>
        <p:pic>
          <p:nvPicPr>
            <p:cNvPr id="5" name="object 6">
              <a:extLst>
                <a:ext uri="{FF2B5EF4-FFF2-40B4-BE49-F238E27FC236}">
                  <a16:creationId xmlns:a16="http://schemas.microsoft.com/office/drawing/2014/main" id="{4B80EA4D-0E16-09E4-6100-7886C10ECDBC}"/>
                </a:ext>
              </a:extLst>
            </p:cNvPr>
            <p:cNvPicPr/>
            <p:nvPr/>
          </p:nvPicPr>
          <p:blipFill>
            <a:blip r:embed="rId3" cstate="print"/>
            <a:stretch>
              <a:fillRect/>
            </a:stretch>
          </p:blipFill>
          <p:spPr>
            <a:xfrm>
              <a:off x="6474280" y="1097281"/>
              <a:ext cx="1094207" cy="1094207"/>
            </a:xfrm>
            <a:prstGeom prst="rect">
              <a:avLst/>
            </a:prstGeom>
          </p:spPr>
        </p:pic>
        <p:pic>
          <p:nvPicPr>
            <p:cNvPr id="6" name="object 7">
              <a:extLst>
                <a:ext uri="{FF2B5EF4-FFF2-40B4-BE49-F238E27FC236}">
                  <a16:creationId xmlns:a16="http://schemas.microsoft.com/office/drawing/2014/main" id="{3BF40DD3-A61E-7FB7-A78A-48BF2D45AE28}"/>
                </a:ext>
              </a:extLst>
            </p:cNvPr>
            <p:cNvPicPr/>
            <p:nvPr/>
          </p:nvPicPr>
          <p:blipFill>
            <a:blip r:embed="rId3" cstate="print"/>
            <a:stretch>
              <a:fillRect/>
            </a:stretch>
          </p:blipFill>
          <p:spPr>
            <a:xfrm>
              <a:off x="1239999" y="1097281"/>
              <a:ext cx="1094207" cy="1094207"/>
            </a:xfrm>
            <a:prstGeom prst="rect">
              <a:avLst/>
            </a:prstGeom>
          </p:spPr>
        </p:pic>
        <p:pic>
          <p:nvPicPr>
            <p:cNvPr id="9" name="object 8">
              <a:extLst>
                <a:ext uri="{FF2B5EF4-FFF2-40B4-BE49-F238E27FC236}">
                  <a16:creationId xmlns:a16="http://schemas.microsoft.com/office/drawing/2014/main" id="{A8C8909B-0E1D-4340-C78B-70444DFEB365}"/>
                </a:ext>
              </a:extLst>
            </p:cNvPr>
            <p:cNvPicPr/>
            <p:nvPr/>
          </p:nvPicPr>
          <p:blipFill>
            <a:blip r:embed="rId4" cstate="print"/>
            <a:stretch>
              <a:fillRect/>
            </a:stretch>
          </p:blipFill>
          <p:spPr>
            <a:xfrm>
              <a:off x="2141794" y="5263070"/>
              <a:ext cx="1011177" cy="1920559"/>
            </a:xfrm>
            <a:prstGeom prst="rect">
              <a:avLst/>
            </a:prstGeom>
          </p:spPr>
        </p:pic>
        <p:pic>
          <p:nvPicPr>
            <p:cNvPr id="10" name="object 9">
              <a:extLst>
                <a:ext uri="{FF2B5EF4-FFF2-40B4-BE49-F238E27FC236}">
                  <a16:creationId xmlns:a16="http://schemas.microsoft.com/office/drawing/2014/main" id="{0C15F954-7353-9107-9F6F-197173DC5DF6}"/>
                </a:ext>
              </a:extLst>
            </p:cNvPr>
            <p:cNvPicPr/>
            <p:nvPr/>
          </p:nvPicPr>
          <p:blipFill>
            <a:blip r:embed="rId4" cstate="print"/>
            <a:stretch>
              <a:fillRect/>
            </a:stretch>
          </p:blipFill>
          <p:spPr>
            <a:xfrm>
              <a:off x="3445377" y="5263070"/>
              <a:ext cx="1011177" cy="1920559"/>
            </a:xfrm>
            <a:prstGeom prst="rect">
              <a:avLst/>
            </a:prstGeom>
          </p:spPr>
        </p:pic>
        <p:pic>
          <p:nvPicPr>
            <p:cNvPr id="11" name="object 10">
              <a:extLst>
                <a:ext uri="{FF2B5EF4-FFF2-40B4-BE49-F238E27FC236}">
                  <a16:creationId xmlns:a16="http://schemas.microsoft.com/office/drawing/2014/main" id="{E284F254-DCE1-F957-AE7D-035ACCA2693D}"/>
                </a:ext>
              </a:extLst>
            </p:cNvPr>
            <p:cNvPicPr/>
            <p:nvPr/>
          </p:nvPicPr>
          <p:blipFill>
            <a:blip r:embed="rId4" cstate="print"/>
            <a:stretch>
              <a:fillRect/>
            </a:stretch>
          </p:blipFill>
          <p:spPr>
            <a:xfrm>
              <a:off x="4748960" y="5263070"/>
              <a:ext cx="1011177" cy="1920559"/>
            </a:xfrm>
            <a:prstGeom prst="rect">
              <a:avLst/>
            </a:prstGeom>
          </p:spPr>
        </p:pic>
        <p:pic>
          <p:nvPicPr>
            <p:cNvPr id="12" name="object 11">
              <a:extLst>
                <a:ext uri="{FF2B5EF4-FFF2-40B4-BE49-F238E27FC236}">
                  <a16:creationId xmlns:a16="http://schemas.microsoft.com/office/drawing/2014/main" id="{916F235B-72F2-0D11-4184-B4BE532F30C1}"/>
                </a:ext>
              </a:extLst>
            </p:cNvPr>
            <p:cNvPicPr/>
            <p:nvPr/>
          </p:nvPicPr>
          <p:blipFill>
            <a:blip r:embed="rId4" cstate="print"/>
            <a:stretch>
              <a:fillRect/>
            </a:stretch>
          </p:blipFill>
          <p:spPr>
            <a:xfrm>
              <a:off x="6052544" y="5263070"/>
              <a:ext cx="1011177" cy="1920559"/>
            </a:xfrm>
            <a:prstGeom prst="rect">
              <a:avLst/>
            </a:prstGeom>
          </p:spPr>
        </p:pic>
        <p:pic>
          <p:nvPicPr>
            <p:cNvPr id="13" name="object 12">
              <a:extLst>
                <a:ext uri="{FF2B5EF4-FFF2-40B4-BE49-F238E27FC236}">
                  <a16:creationId xmlns:a16="http://schemas.microsoft.com/office/drawing/2014/main" id="{FA4C07D9-F95A-74C1-F922-EC4A4F0806B6}"/>
                </a:ext>
              </a:extLst>
            </p:cNvPr>
            <p:cNvPicPr/>
            <p:nvPr/>
          </p:nvPicPr>
          <p:blipFill>
            <a:blip r:embed="rId4" cstate="print"/>
            <a:stretch>
              <a:fillRect/>
            </a:stretch>
          </p:blipFill>
          <p:spPr>
            <a:xfrm>
              <a:off x="7356138" y="5263070"/>
              <a:ext cx="1011177" cy="1920559"/>
            </a:xfrm>
            <a:prstGeom prst="rect">
              <a:avLst/>
            </a:prstGeom>
          </p:spPr>
        </p:pic>
        <p:pic>
          <p:nvPicPr>
            <p:cNvPr id="14" name="object 13">
              <a:extLst>
                <a:ext uri="{FF2B5EF4-FFF2-40B4-BE49-F238E27FC236}">
                  <a16:creationId xmlns:a16="http://schemas.microsoft.com/office/drawing/2014/main" id="{6C144F63-4F0C-DD47-9329-4A3D7C0A95C4}"/>
                </a:ext>
              </a:extLst>
            </p:cNvPr>
            <p:cNvPicPr/>
            <p:nvPr/>
          </p:nvPicPr>
          <p:blipFill>
            <a:blip r:embed="rId4" cstate="print"/>
            <a:stretch>
              <a:fillRect/>
            </a:stretch>
          </p:blipFill>
          <p:spPr>
            <a:xfrm>
              <a:off x="8659721" y="5263070"/>
              <a:ext cx="1011177" cy="1920559"/>
            </a:xfrm>
            <a:prstGeom prst="rect">
              <a:avLst/>
            </a:prstGeom>
          </p:spPr>
        </p:pic>
        <p:pic>
          <p:nvPicPr>
            <p:cNvPr id="15" name="object 14">
              <a:extLst>
                <a:ext uri="{FF2B5EF4-FFF2-40B4-BE49-F238E27FC236}">
                  <a16:creationId xmlns:a16="http://schemas.microsoft.com/office/drawing/2014/main" id="{570B2A07-5EF0-D692-D983-34F16576A58D}"/>
                </a:ext>
              </a:extLst>
            </p:cNvPr>
            <p:cNvPicPr/>
            <p:nvPr/>
          </p:nvPicPr>
          <p:blipFill>
            <a:blip r:embed="rId4" cstate="print"/>
            <a:stretch>
              <a:fillRect/>
            </a:stretch>
          </p:blipFill>
          <p:spPr>
            <a:xfrm>
              <a:off x="9963325" y="5263070"/>
              <a:ext cx="1011177" cy="1920559"/>
            </a:xfrm>
            <a:prstGeom prst="rect">
              <a:avLst/>
            </a:prstGeom>
          </p:spPr>
        </p:pic>
        <p:grpSp>
          <p:nvGrpSpPr>
            <p:cNvPr id="16" name="object 15">
              <a:extLst>
                <a:ext uri="{FF2B5EF4-FFF2-40B4-BE49-F238E27FC236}">
                  <a16:creationId xmlns:a16="http://schemas.microsoft.com/office/drawing/2014/main" id="{407F9748-BEE0-E2B9-4986-74FD8E36EFE4}"/>
                </a:ext>
              </a:extLst>
            </p:cNvPr>
            <p:cNvGrpSpPr/>
            <p:nvPr/>
          </p:nvGrpSpPr>
          <p:grpSpPr>
            <a:xfrm>
              <a:off x="1295767" y="2581707"/>
              <a:ext cx="551180" cy="2283460"/>
              <a:chOff x="2729581" y="5036569"/>
              <a:chExt cx="551180" cy="2283460"/>
            </a:xfrm>
          </p:grpSpPr>
          <p:sp>
            <p:nvSpPr>
              <p:cNvPr id="17" name="object 16">
                <a:extLst>
                  <a:ext uri="{FF2B5EF4-FFF2-40B4-BE49-F238E27FC236}">
                    <a16:creationId xmlns:a16="http://schemas.microsoft.com/office/drawing/2014/main" id="{3A487CDD-75B6-283D-4D7E-FC532C2BE8A0}"/>
                  </a:ext>
                </a:extLst>
              </p:cNvPr>
              <p:cNvSpPr/>
              <p:nvPr/>
            </p:nvSpPr>
            <p:spPr>
              <a:xfrm>
                <a:off x="2776296" y="5047040"/>
                <a:ext cx="494030" cy="2185035"/>
              </a:xfrm>
              <a:custGeom>
                <a:avLst/>
                <a:gdLst/>
                <a:ahLst/>
                <a:cxnLst/>
                <a:rect l="l" t="t" r="r" b="b"/>
                <a:pathLst>
                  <a:path w="494029" h="2185034">
                    <a:moveTo>
                      <a:pt x="493540" y="0"/>
                    </a:moveTo>
                    <a:lnTo>
                      <a:pt x="2307" y="2174444"/>
                    </a:lnTo>
                    <a:lnTo>
                      <a:pt x="0" y="2184657"/>
                    </a:lnTo>
                  </a:path>
                </a:pathLst>
              </a:custGeom>
              <a:ln w="20941">
                <a:solidFill>
                  <a:srgbClr val="222C4A"/>
                </a:solidFill>
              </a:ln>
            </p:spPr>
            <p:txBody>
              <a:bodyPr wrap="square" lIns="0" tIns="0" rIns="0" bIns="0" rtlCol="0"/>
              <a:lstStyle/>
              <a:p>
                <a:endParaRPr/>
              </a:p>
            </p:txBody>
          </p:sp>
          <p:sp>
            <p:nvSpPr>
              <p:cNvPr id="18" name="object 17">
                <a:extLst>
                  <a:ext uri="{FF2B5EF4-FFF2-40B4-BE49-F238E27FC236}">
                    <a16:creationId xmlns:a16="http://schemas.microsoft.com/office/drawing/2014/main" id="{09CC7B15-56C1-9430-708E-7CBE073CB618}"/>
                  </a:ext>
                </a:extLst>
              </p:cNvPr>
              <p:cNvSpPr/>
              <p:nvPr/>
            </p:nvSpPr>
            <p:spPr>
              <a:xfrm>
                <a:off x="2729581" y="7210419"/>
                <a:ext cx="98425" cy="109220"/>
              </a:xfrm>
              <a:custGeom>
                <a:avLst/>
                <a:gdLst/>
                <a:ahLst/>
                <a:cxnLst/>
                <a:rect l="l" t="t" r="r" b="b"/>
                <a:pathLst>
                  <a:path w="98425" h="109220">
                    <a:moveTo>
                      <a:pt x="0" y="0"/>
                    </a:moveTo>
                    <a:lnTo>
                      <a:pt x="26868" y="109117"/>
                    </a:lnTo>
                    <a:lnTo>
                      <a:pt x="98049" y="22145"/>
                    </a:lnTo>
                    <a:lnTo>
                      <a:pt x="0" y="0"/>
                    </a:lnTo>
                    <a:close/>
                  </a:path>
                </a:pathLst>
              </a:custGeom>
              <a:solidFill>
                <a:srgbClr val="222C4A"/>
              </a:solidFill>
            </p:spPr>
            <p:txBody>
              <a:bodyPr wrap="square" lIns="0" tIns="0" rIns="0" bIns="0" rtlCol="0"/>
              <a:lstStyle/>
              <a:p>
                <a:endParaRPr/>
              </a:p>
            </p:txBody>
          </p:sp>
        </p:grpSp>
        <p:grpSp>
          <p:nvGrpSpPr>
            <p:cNvPr id="19" name="object 18">
              <a:extLst>
                <a:ext uri="{FF2B5EF4-FFF2-40B4-BE49-F238E27FC236}">
                  <a16:creationId xmlns:a16="http://schemas.microsoft.com/office/drawing/2014/main" id="{982CE0AE-1548-C8A5-FBCA-EE20BDF6A3F7}"/>
                </a:ext>
              </a:extLst>
            </p:cNvPr>
            <p:cNvGrpSpPr/>
            <p:nvPr/>
          </p:nvGrpSpPr>
          <p:grpSpPr>
            <a:xfrm>
              <a:off x="2034970" y="2263905"/>
              <a:ext cx="8624570" cy="2872740"/>
              <a:chOff x="3468784" y="4718767"/>
              <a:chExt cx="8624570" cy="2872740"/>
            </a:xfrm>
          </p:grpSpPr>
          <p:sp>
            <p:nvSpPr>
              <p:cNvPr id="20" name="object 19">
                <a:extLst>
                  <a:ext uri="{FF2B5EF4-FFF2-40B4-BE49-F238E27FC236}">
                    <a16:creationId xmlns:a16="http://schemas.microsoft.com/office/drawing/2014/main" id="{4BB2EDFC-6C22-7FFF-7345-BB7BD06A1231}"/>
                  </a:ext>
                </a:extLst>
              </p:cNvPr>
              <p:cNvSpPr/>
              <p:nvPr/>
            </p:nvSpPr>
            <p:spPr>
              <a:xfrm>
                <a:off x="3597576" y="4904698"/>
                <a:ext cx="2782570" cy="2502535"/>
              </a:xfrm>
              <a:custGeom>
                <a:avLst/>
                <a:gdLst/>
                <a:ahLst/>
                <a:cxnLst/>
                <a:rect l="l" t="t" r="r" b="b"/>
                <a:pathLst>
                  <a:path w="2782570" h="2502534">
                    <a:moveTo>
                      <a:pt x="0" y="0"/>
                    </a:moveTo>
                    <a:lnTo>
                      <a:pt x="2774486" y="2495492"/>
                    </a:lnTo>
                    <a:lnTo>
                      <a:pt x="2782271" y="2502494"/>
                    </a:lnTo>
                  </a:path>
                </a:pathLst>
              </a:custGeom>
              <a:ln w="20941">
                <a:solidFill>
                  <a:srgbClr val="222C4A"/>
                </a:solidFill>
              </a:ln>
            </p:spPr>
            <p:txBody>
              <a:bodyPr wrap="square" lIns="0" tIns="0" rIns="0" bIns="0" rtlCol="0"/>
              <a:lstStyle/>
              <a:p>
                <a:endParaRPr/>
              </a:p>
            </p:txBody>
          </p:sp>
          <p:sp>
            <p:nvSpPr>
              <p:cNvPr id="21" name="object 20">
                <a:extLst>
                  <a:ext uri="{FF2B5EF4-FFF2-40B4-BE49-F238E27FC236}">
                    <a16:creationId xmlns:a16="http://schemas.microsoft.com/office/drawing/2014/main" id="{FF5BBBEA-1890-6199-DB62-8F14CFA53BE1}"/>
                  </a:ext>
                </a:extLst>
              </p:cNvPr>
              <p:cNvSpPr/>
              <p:nvPr/>
            </p:nvSpPr>
            <p:spPr>
              <a:xfrm>
                <a:off x="6338445" y="7362833"/>
                <a:ext cx="108585" cy="104775"/>
              </a:xfrm>
              <a:custGeom>
                <a:avLst/>
                <a:gdLst/>
                <a:ahLst/>
                <a:cxnLst/>
                <a:rect l="l" t="t" r="r" b="b"/>
                <a:pathLst>
                  <a:path w="108585" h="104775">
                    <a:moveTo>
                      <a:pt x="67223" y="0"/>
                    </a:moveTo>
                    <a:lnTo>
                      <a:pt x="0" y="74730"/>
                    </a:lnTo>
                    <a:lnTo>
                      <a:pt x="108352" y="104583"/>
                    </a:lnTo>
                    <a:lnTo>
                      <a:pt x="67223" y="0"/>
                    </a:lnTo>
                    <a:close/>
                  </a:path>
                </a:pathLst>
              </a:custGeom>
              <a:solidFill>
                <a:srgbClr val="222C4A"/>
              </a:solidFill>
            </p:spPr>
            <p:txBody>
              <a:bodyPr wrap="square" lIns="0" tIns="0" rIns="0" bIns="0" rtlCol="0"/>
              <a:lstStyle/>
              <a:p>
                <a:endParaRPr/>
              </a:p>
            </p:txBody>
          </p:sp>
          <p:sp>
            <p:nvSpPr>
              <p:cNvPr id="22" name="object 21">
                <a:extLst>
                  <a:ext uri="{FF2B5EF4-FFF2-40B4-BE49-F238E27FC236}">
                    <a16:creationId xmlns:a16="http://schemas.microsoft.com/office/drawing/2014/main" id="{5962EC71-5C93-76DF-2F38-DC1621878E9D}"/>
                  </a:ext>
                </a:extLst>
              </p:cNvPr>
              <p:cNvSpPr/>
              <p:nvPr/>
            </p:nvSpPr>
            <p:spPr>
              <a:xfrm>
                <a:off x="8601790" y="4904583"/>
                <a:ext cx="3162300" cy="2463165"/>
              </a:xfrm>
              <a:custGeom>
                <a:avLst/>
                <a:gdLst/>
                <a:ahLst/>
                <a:cxnLst/>
                <a:rect l="l" t="t" r="r" b="b"/>
                <a:pathLst>
                  <a:path w="3162300" h="2463165">
                    <a:moveTo>
                      <a:pt x="0" y="0"/>
                    </a:moveTo>
                    <a:lnTo>
                      <a:pt x="3153677" y="2456279"/>
                    </a:lnTo>
                    <a:lnTo>
                      <a:pt x="3161938" y="2462713"/>
                    </a:lnTo>
                  </a:path>
                </a:pathLst>
              </a:custGeom>
              <a:ln w="20941">
                <a:solidFill>
                  <a:srgbClr val="222C4A"/>
                </a:solidFill>
              </a:ln>
            </p:spPr>
            <p:txBody>
              <a:bodyPr wrap="square" lIns="0" tIns="0" rIns="0" bIns="0" rtlCol="0"/>
              <a:lstStyle/>
              <a:p>
                <a:endParaRPr/>
              </a:p>
            </p:txBody>
          </p:sp>
          <p:sp>
            <p:nvSpPr>
              <p:cNvPr id="23" name="object 22">
                <a:extLst>
                  <a:ext uri="{FF2B5EF4-FFF2-40B4-BE49-F238E27FC236}">
                    <a16:creationId xmlns:a16="http://schemas.microsoft.com/office/drawing/2014/main" id="{2815727C-608A-0549-638D-10099A59125C}"/>
                  </a:ext>
                </a:extLst>
              </p:cNvPr>
              <p:cNvSpPr/>
              <p:nvPr/>
            </p:nvSpPr>
            <p:spPr>
              <a:xfrm>
                <a:off x="11724564" y="7321211"/>
                <a:ext cx="110489" cy="101600"/>
              </a:xfrm>
              <a:custGeom>
                <a:avLst/>
                <a:gdLst/>
                <a:ahLst/>
                <a:cxnLst/>
                <a:rect l="l" t="t" r="r" b="b"/>
                <a:pathLst>
                  <a:path w="110490" h="101600">
                    <a:moveTo>
                      <a:pt x="61778" y="0"/>
                    </a:moveTo>
                    <a:lnTo>
                      <a:pt x="0" y="79306"/>
                    </a:lnTo>
                    <a:lnTo>
                      <a:pt x="110258" y="101420"/>
                    </a:lnTo>
                    <a:lnTo>
                      <a:pt x="61778" y="0"/>
                    </a:lnTo>
                    <a:close/>
                  </a:path>
                </a:pathLst>
              </a:custGeom>
              <a:solidFill>
                <a:srgbClr val="222C4A"/>
              </a:solidFill>
            </p:spPr>
            <p:txBody>
              <a:bodyPr wrap="square" lIns="0" tIns="0" rIns="0" bIns="0" rtlCol="0"/>
              <a:lstStyle/>
              <a:p>
                <a:endParaRPr/>
              </a:p>
            </p:txBody>
          </p:sp>
          <p:sp>
            <p:nvSpPr>
              <p:cNvPr id="24" name="object 23">
                <a:extLst>
                  <a:ext uri="{FF2B5EF4-FFF2-40B4-BE49-F238E27FC236}">
                    <a16:creationId xmlns:a16="http://schemas.microsoft.com/office/drawing/2014/main" id="{C855B784-A6EA-76E4-D9DD-D160CC1A8424}"/>
                  </a:ext>
                </a:extLst>
              </p:cNvPr>
              <p:cNvSpPr/>
              <p:nvPr/>
            </p:nvSpPr>
            <p:spPr>
              <a:xfrm>
                <a:off x="3479255" y="5256457"/>
                <a:ext cx="1777364" cy="2236470"/>
              </a:xfrm>
              <a:custGeom>
                <a:avLst/>
                <a:gdLst/>
                <a:ahLst/>
                <a:cxnLst/>
                <a:rect l="l" t="t" r="r" b="b"/>
                <a:pathLst>
                  <a:path w="1777364" h="2236470">
                    <a:moveTo>
                      <a:pt x="0" y="0"/>
                    </a:moveTo>
                    <a:lnTo>
                      <a:pt x="1770745" y="2227906"/>
                    </a:lnTo>
                    <a:lnTo>
                      <a:pt x="1777260" y="2236103"/>
                    </a:lnTo>
                  </a:path>
                </a:pathLst>
              </a:custGeom>
              <a:ln w="20941">
                <a:solidFill>
                  <a:srgbClr val="222C4A"/>
                </a:solidFill>
              </a:ln>
            </p:spPr>
            <p:txBody>
              <a:bodyPr wrap="square" lIns="0" tIns="0" rIns="0" bIns="0" rtlCol="0"/>
              <a:lstStyle/>
              <a:p>
                <a:endParaRPr/>
              </a:p>
            </p:txBody>
          </p:sp>
          <p:sp>
            <p:nvSpPr>
              <p:cNvPr id="25" name="object 24">
                <a:extLst>
                  <a:ext uri="{FF2B5EF4-FFF2-40B4-BE49-F238E27FC236}">
                    <a16:creationId xmlns:a16="http://schemas.microsoft.com/office/drawing/2014/main" id="{C797F35C-90CA-AA91-9C89-B32C150C3835}"/>
                  </a:ext>
                </a:extLst>
              </p:cNvPr>
              <p:cNvSpPr/>
              <p:nvPr/>
            </p:nvSpPr>
            <p:spPr>
              <a:xfrm>
                <a:off x="5210658" y="7453092"/>
                <a:ext cx="102235" cy="110489"/>
              </a:xfrm>
              <a:custGeom>
                <a:avLst/>
                <a:gdLst/>
                <a:ahLst/>
                <a:cxnLst/>
                <a:rect l="l" t="t" r="r" b="b"/>
                <a:pathLst>
                  <a:path w="102235" h="110490">
                    <a:moveTo>
                      <a:pt x="78688" y="0"/>
                    </a:moveTo>
                    <a:lnTo>
                      <a:pt x="0" y="62542"/>
                    </a:lnTo>
                    <a:lnTo>
                      <a:pt x="101892" y="109965"/>
                    </a:lnTo>
                    <a:lnTo>
                      <a:pt x="78688" y="0"/>
                    </a:lnTo>
                    <a:close/>
                  </a:path>
                </a:pathLst>
              </a:custGeom>
              <a:solidFill>
                <a:srgbClr val="222C4A"/>
              </a:solidFill>
            </p:spPr>
            <p:txBody>
              <a:bodyPr wrap="square" lIns="0" tIns="0" rIns="0" bIns="0" rtlCol="0"/>
              <a:lstStyle/>
              <a:p>
                <a:endParaRPr/>
              </a:p>
            </p:txBody>
          </p:sp>
          <p:sp>
            <p:nvSpPr>
              <p:cNvPr id="26" name="object 25">
                <a:extLst>
                  <a:ext uri="{FF2B5EF4-FFF2-40B4-BE49-F238E27FC236}">
                    <a16:creationId xmlns:a16="http://schemas.microsoft.com/office/drawing/2014/main" id="{4B257583-0E05-7F18-6DF3-095E8F2AD887}"/>
                  </a:ext>
                </a:extLst>
              </p:cNvPr>
              <p:cNvSpPr/>
              <p:nvPr/>
            </p:nvSpPr>
            <p:spPr>
              <a:xfrm>
                <a:off x="5225790" y="5132335"/>
                <a:ext cx="355600" cy="2012950"/>
              </a:xfrm>
              <a:custGeom>
                <a:avLst/>
                <a:gdLst/>
                <a:ahLst/>
                <a:cxnLst/>
                <a:rect l="l" t="t" r="r" b="b"/>
                <a:pathLst>
                  <a:path w="355600" h="2012950">
                    <a:moveTo>
                      <a:pt x="355264" y="0"/>
                    </a:moveTo>
                    <a:lnTo>
                      <a:pt x="1820" y="2002439"/>
                    </a:lnTo>
                    <a:lnTo>
                      <a:pt x="0" y="2012750"/>
                    </a:lnTo>
                  </a:path>
                </a:pathLst>
              </a:custGeom>
              <a:ln w="20941">
                <a:solidFill>
                  <a:srgbClr val="222C4A"/>
                </a:solidFill>
              </a:ln>
            </p:spPr>
            <p:txBody>
              <a:bodyPr wrap="square" lIns="0" tIns="0" rIns="0" bIns="0" rtlCol="0"/>
              <a:lstStyle/>
              <a:p>
                <a:endParaRPr/>
              </a:p>
            </p:txBody>
          </p:sp>
          <p:sp>
            <p:nvSpPr>
              <p:cNvPr id="27" name="object 26">
                <a:extLst>
                  <a:ext uri="{FF2B5EF4-FFF2-40B4-BE49-F238E27FC236}">
                    <a16:creationId xmlns:a16="http://schemas.microsoft.com/office/drawing/2014/main" id="{0E5617FF-8F24-A389-CFD9-0FF600A56ABA}"/>
                  </a:ext>
                </a:extLst>
              </p:cNvPr>
              <p:cNvSpPr/>
              <p:nvPr/>
            </p:nvSpPr>
            <p:spPr>
              <a:xfrm>
                <a:off x="5178114" y="7126034"/>
                <a:ext cx="99060" cy="107950"/>
              </a:xfrm>
              <a:custGeom>
                <a:avLst/>
                <a:gdLst/>
                <a:ahLst/>
                <a:cxnLst/>
                <a:rect l="l" t="t" r="r" b="b"/>
                <a:pathLst>
                  <a:path w="99060" h="107950">
                    <a:moveTo>
                      <a:pt x="0" y="0"/>
                    </a:moveTo>
                    <a:lnTo>
                      <a:pt x="32019" y="107724"/>
                    </a:lnTo>
                    <a:lnTo>
                      <a:pt x="98991" y="17475"/>
                    </a:lnTo>
                    <a:lnTo>
                      <a:pt x="0" y="0"/>
                    </a:lnTo>
                    <a:close/>
                  </a:path>
                </a:pathLst>
              </a:custGeom>
              <a:solidFill>
                <a:srgbClr val="222C4A"/>
              </a:solidFill>
            </p:spPr>
            <p:txBody>
              <a:bodyPr wrap="square" lIns="0" tIns="0" rIns="0" bIns="0" rtlCol="0"/>
              <a:lstStyle/>
              <a:p>
                <a:endParaRPr/>
              </a:p>
            </p:txBody>
          </p:sp>
          <p:sp>
            <p:nvSpPr>
              <p:cNvPr id="28" name="object 27">
                <a:extLst>
                  <a:ext uri="{FF2B5EF4-FFF2-40B4-BE49-F238E27FC236}">
                    <a16:creationId xmlns:a16="http://schemas.microsoft.com/office/drawing/2014/main" id="{9164E05E-445F-2AB1-8A40-9123E7CEED47}"/>
                  </a:ext>
                </a:extLst>
              </p:cNvPr>
              <p:cNvSpPr/>
              <p:nvPr/>
            </p:nvSpPr>
            <p:spPr>
              <a:xfrm>
                <a:off x="11289394" y="4930562"/>
                <a:ext cx="759460" cy="2221230"/>
              </a:xfrm>
              <a:custGeom>
                <a:avLst/>
                <a:gdLst/>
                <a:ahLst/>
                <a:cxnLst/>
                <a:rect l="l" t="t" r="r" b="b"/>
                <a:pathLst>
                  <a:path w="759459" h="2221229">
                    <a:moveTo>
                      <a:pt x="0" y="0"/>
                    </a:moveTo>
                    <a:lnTo>
                      <a:pt x="755898" y="2210753"/>
                    </a:lnTo>
                    <a:lnTo>
                      <a:pt x="759286" y="2220661"/>
                    </a:lnTo>
                  </a:path>
                </a:pathLst>
              </a:custGeom>
              <a:ln w="20941">
                <a:solidFill>
                  <a:srgbClr val="222C4A"/>
                </a:solidFill>
              </a:ln>
            </p:spPr>
            <p:txBody>
              <a:bodyPr wrap="square" lIns="0" tIns="0" rIns="0" bIns="0" rtlCol="0"/>
              <a:lstStyle/>
              <a:p>
                <a:endParaRPr/>
              </a:p>
            </p:txBody>
          </p:sp>
          <p:sp>
            <p:nvSpPr>
              <p:cNvPr id="29" name="object 28">
                <a:extLst>
                  <a:ext uri="{FF2B5EF4-FFF2-40B4-BE49-F238E27FC236}">
                    <a16:creationId xmlns:a16="http://schemas.microsoft.com/office/drawing/2014/main" id="{7D9F10B6-ADE9-B413-0228-E8C9A51E4406}"/>
                  </a:ext>
                </a:extLst>
              </p:cNvPr>
              <p:cNvSpPr/>
              <p:nvPr/>
            </p:nvSpPr>
            <p:spPr>
              <a:xfrm>
                <a:off x="11997749" y="7125060"/>
                <a:ext cx="95250" cy="111760"/>
              </a:xfrm>
              <a:custGeom>
                <a:avLst/>
                <a:gdLst/>
                <a:ahLst/>
                <a:cxnLst/>
                <a:rect l="l" t="t" r="r" b="b"/>
                <a:pathLst>
                  <a:path w="95250" h="111759">
                    <a:moveTo>
                      <a:pt x="95075" y="0"/>
                    </a:moveTo>
                    <a:lnTo>
                      <a:pt x="0" y="32522"/>
                    </a:lnTo>
                    <a:lnTo>
                      <a:pt x="79997" y="111378"/>
                    </a:lnTo>
                    <a:lnTo>
                      <a:pt x="95075" y="0"/>
                    </a:lnTo>
                    <a:close/>
                  </a:path>
                </a:pathLst>
              </a:custGeom>
              <a:solidFill>
                <a:srgbClr val="222C4A"/>
              </a:solidFill>
            </p:spPr>
            <p:txBody>
              <a:bodyPr wrap="square" lIns="0" tIns="0" rIns="0" bIns="0" rtlCol="0"/>
              <a:lstStyle/>
              <a:p>
                <a:endParaRPr/>
              </a:p>
            </p:txBody>
          </p:sp>
          <p:sp>
            <p:nvSpPr>
              <p:cNvPr id="30" name="object 29">
                <a:extLst>
                  <a:ext uri="{FF2B5EF4-FFF2-40B4-BE49-F238E27FC236}">
                    <a16:creationId xmlns:a16="http://schemas.microsoft.com/office/drawing/2014/main" id="{163B4B47-50D4-5C0C-70F4-EBE69D032EA4}"/>
                  </a:ext>
                </a:extLst>
              </p:cNvPr>
              <p:cNvSpPr/>
              <p:nvPr/>
            </p:nvSpPr>
            <p:spPr>
              <a:xfrm>
                <a:off x="4394008" y="4969341"/>
                <a:ext cx="4673600" cy="2477135"/>
              </a:xfrm>
              <a:custGeom>
                <a:avLst/>
                <a:gdLst/>
                <a:ahLst/>
                <a:cxnLst/>
                <a:rect l="l" t="t" r="r" b="b"/>
                <a:pathLst>
                  <a:path w="4673600" h="2477134">
                    <a:moveTo>
                      <a:pt x="0" y="0"/>
                    </a:moveTo>
                    <a:lnTo>
                      <a:pt x="9251" y="4903"/>
                    </a:lnTo>
                    <a:lnTo>
                      <a:pt x="4673196" y="2476959"/>
                    </a:lnTo>
                  </a:path>
                </a:pathLst>
              </a:custGeom>
              <a:ln w="20941">
                <a:solidFill>
                  <a:srgbClr val="222C4A"/>
                </a:solidFill>
              </a:ln>
            </p:spPr>
            <p:txBody>
              <a:bodyPr wrap="square" lIns="0" tIns="0" rIns="0" bIns="0" rtlCol="0"/>
              <a:lstStyle/>
              <a:p>
                <a:endParaRPr/>
              </a:p>
            </p:txBody>
          </p:sp>
          <p:sp>
            <p:nvSpPr>
              <p:cNvPr id="31" name="object 30">
                <a:extLst>
                  <a:ext uri="{FF2B5EF4-FFF2-40B4-BE49-F238E27FC236}">
                    <a16:creationId xmlns:a16="http://schemas.microsoft.com/office/drawing/2014/main" id="{DF0D2854-E1C9-B36F-1406-D641A6A301C0}"/>
                  </a:ext>
                </a:extLst>
              </p:cNvPr>
              <p:cNvSpPr/>
              <p:nvPr/>
            </p:nvSpPr>
            <p:spPr>
              <a:xfrm>
                <a:off x="4314444" y="4927169"/>
                <a:ext cx="112395" cy="92075"/>
              </a:xfrm>
              <a:custGeom>
                <a:avLst/>
                <a:gdLst/>
                <a:ahLst/>
                <a:cxnLst/>
                <a:rect l="l" t="t" r="r" b="b"/>
                <a:pathLst>
                  <a:path w="112395" h="92075">
                    <a:moveTo>
                      <a:pt x="0" y="0"/>
                    </a:moveTo>
                    <a:lnTo>
                      <a:pt x="65275" y="91484"/>
                    </a:lnTo>
                    <a:lnTo>
                      <a:pt x="112352" y="2670"/>
                    </a:lnTo>
                    <a:lnTo>
                      <a:pt x="0" y="0"/>
                    </a:lnTo>
                    <a:close/>
                  </a:path>
                </a:pathLst>
              </a:custGeom>
              <a:solidFill>
                <a:srgbClr val="222C4A"/>
              </a:solidFill>
            </p:spPr>
            <p:txBody>
              <a:bodyPr wrap="square" lIns="0" tIns="0" rIns="0" bIns="0" rtlCol="0"/>
              <a:lstStyle/>
              <a:p>
                <a:endParaRPr/>
              </a:p>
            </p:txBody>
          </p:sp>
          <p:sp>
            <p:nvSpPr>
              <p:cNvPr id="32" name="object 31">
                <a:extLst>
                  <a:ext uri="{FF2B5EF4-FFF2-40B4-BE49-F238E27FC236}">
                    <a16:creationId xmlns:a16="http://schemas.microsoft.com/office/drawing/2014/main" id="{F6E536FC-F39F-621F-B0B0-4142232ECD96}"/>
                  </a:ext>
                </a:extLst>
              </p:cNvPr>
              <p:cNvSpPr/>
              <p:nvPr/>
            </p:nvSpPr>
            <p:spPr>
              <a:xfrm>
                <a:off x="6230951" y="5009365"/>
                <a:ext cx="3922395" cy="2264410"/>
              </a:xfrm>
              <a:custGeom>
                <a:avLst/>
                <a:gdLst/>
                <a:ahLst/>
                <a:cxnLst/>
                <a:rect l="l" t="t" r="r" b="b"/>
                <a:pathLst>
                  <a:path w="3922395" h="2264409">
                    <a:moveTo>
                      <a:pt x="0" y="0"/>
                    </a:moveTo>
                    <a:lnTo>
                      <a:pt x="3912763" y="2258993"/>
                    </a:lnTo>
                    <a:lnTo>
                      <a:pt x="3921831" y="2264229"/>
                    </a:lnTo>
                  </a:path>
                </a:pathLst>
              </a:custGeom>
              <a:ln w="20941">
                <a:solidFill>
                  <a:srgbClr val="222C4A"/>
                </a:solidFill>
              </a:ln>
            </p:spPr>
            <p:txBody>
              <a:bodyPr wrap="square" lIns="0" tIns="0" rIns="0" bIns="0" rtlCol="0"/>
              <a:lstStyle/>
              <a:p>
                <a:endParaRPr/>
              </a:p>
            </p:txBody>
          </p:sp>
          <p:sp>
            <p:nvSpPr>
              <p:cNvPr id="33" name="object 32">
                <a:extLst>
                  <a:ext uri="{FF2B5EF4-FFF2-40B4-BE49-F238E27FC236}">
                    <a16:creationId xmlns:a16="http://schemas.microsoft.com/office/drawing/2014/main" id="{7C17965E-EE18-01CB-909E-3DDD2DA6A86D}"/>
                  </a:ext>
                </a:extLst>
              </p:cNvPr>
              <p:cNvSpPr/>
              <p:nvPr/>
            </p:nvSpPr>
            <p:spPr>
              <a:xfrm>
                <a:off x="10118592" y="7224827"/>
                <a:ext cx="112395" cy="93980"/>
              </a:xfrm>
              <a:custGeom>
                <a:avLst/>
                <a:gdLst/>
                <a:ahLst/>
                <a:cxnLst/>
                <a:rect l="l" t="t" r="r" b="b"/>
                <a:pathLst>
                  <a:path w="112395" h="93979">
                    <a:moveTo>
                      <a:pt x="50260" y="0"/>
                    </a:moveTo>
                    <a:lnTo>
                      <a:pt x="0" y="87054"/>
                    </a:lnTo>
                    <a:lnTo>
                      <a:pt x="112185" y="93787"/>
                    </a:lnTo>
                    <a:lnTo>
                      <a:pt x="50260" y="0"/>
                    </a:lnTo>
                    <a:close/>
                  </a:path>
                </a:pathLst>
              </a:custGeom>
              <a:solidFill>
                <a:srgbClr val="222C4A"/>
              </a:solidFill>
            </p:spPr>
            <p:txBody>
              <a:bodyPr wrap="square" lIns="0" tIns="0" rIns="0" bIns="0" rtlCol="0"/>
              <a:lstStyle/>
              <a:p>
                <a:endParaRPr/>
              </a:p>
            </p:txBody>
          </p:sp>
          <p:sp>
            <p:nvSpPr>
              <p:cNvPr id="34" name="object 33">
                <a:extLst>
                  <a:ext uri="{FF2B5EF4-FFF2-40B4-BE49-F238E27FC236}">
                    <a16:creationId xmlns:a16="http://schemas.microsoft.com/office/drawing/2014/main" id="{13A17944-DDD2-6E24-0A96-F6742E028C75}"/>
                  </a:ext>
                </a:extLst>
              </p:cNvPr>
              <p:cNvSpPr/>
              <p:nvPr/>
            </p:nvSpPr>
            <p:spPr>
              <a:xfrm>
                <a:off x="8050286" y="4904583"/>
                <a:ext cx="3099435" cy="2524760"/>
              </a:xfrm>
              <a:custGeom>
                <a:avLst/>
                <a:gdLst/>
                <a:ahLst/>
                <a:cxnLst/>
                <a:rect l="l" t="t" r="r" b="b"/>
                <a:pathLst>
                  <a:path w="3099434" h="2524759">
                    <a:moveTo>
                      <a:pt x="3098903" y="0"/>
                    </a:moveTo>
                    <a:lnTo>
                      <a:pt x="8117" y="2518140"/>
                    </a:lnTo>
                    <a:lnTo>
                      <a:pt x="0" y="2524754"/>
                    </a:lnTo>
                  </a:path>
                </a:pathLst>
              </a:custGeom>
              <a:ln w="20941">
                <a:solidFill>
                  <a:srgbClr val="222C4A"/>
                </a:solidFill>
              </a:ln>
            </p:spPr>
            <p:txBody>
              <a:bodyPr wrap="square" lIns="0" tIns="0" rIns="0" bIns="0" rtlCol="0"/>
              <a:lstStyle/>
              <a:p>
                <a:endParaRPr/>
              </a:p>
            </p:txBody>
          </p:sp>
          <p:sp>
            <p:nvSpPr>
              <p:cNvPr id="35" name="object 34">
                <a:extLst>
                  <a:ext uri="{FF2B5EF4-FFF2-40B4-BE49-F238E27FC236}">
                    <a16:creationId xmlns:a16="http://schemas.microsoft.com/office/drawing/2014/main" id="{38109B22-D6E8-A30B-6917-F3F48D414AB8}"/>
                  </a:ext>
                </a:extLst>
              </p:cNvPr>
              <p:cNvSpPr/>
              <p:nvPr/>
            </p:nvSpPr>
            <p:spPr>
              <a:xfrm>
                <a:off x="7980458" y="7383754"/>
                <a:ext cx="109855" cy="102870"/>
              </a:xfrm>
              <a:custGeom>
                <a:avLst/>
                <a:gdLst/>
                <a:ahLst/>
                <a:cxnLst/>
                <a:rect l="l" t="t" r="r" b="b"/>
                <a:pathLst>
                  <a:path w="109854" h="102870">
                    <a:moveTo>
                      <a:pt x="46187" y="0"/>
                    </a:moveTo>
                    <a:lnTo>
                      <a:pt x="0" y="102457"/>
                    </a:lnTo>
                    <a:lnTo>
                      <a:pt x="109682" y="77934"/>
                    </a:lnTo>
                    <a:lnTo>
                      <a:pt x="46187" y="0"/>
                    </a:lnTo>
                    <a:close/>
                  </a:path>
                </a:pathLst>
              </a:custGeom>
              <a:solidFill>
                <a:srgbClr val="222C4A"/>
              </a:solidFill>
            </p:spPr>
            <p:txBody>
              <a:bodyPr wrap="square" lIns="0" tIns="0" rIns="0" bIns="0" rtlCol="0"/>
              <a:lstStyle/>
              <a:p>
                <a:endParaRPr/>
              </a:p>
            </p:txBody>
          </p:sp>
          <p:sp>
            <p:nvSpPr>
              <p:cNvPr id="36" name="object 35">
                <a:extLst>
                  <a:ext uri="{FF2B5EF4-FFF2-40B4-BE49-F238E27FC236}">
                    <a16:creationId xmlns:a16="http://schemas.microsoft.com/office/drawing/2014/main" id="{5A409ED8-3203-B3CF-8350-32D13E0ADE24}"/>
                  </a:ext>
                </a:extLst>
              </p:cNvPr>
              <p:cNvSpPr/>
              <p:nvPr/>
            </p:nvSpPr>
            <p:spPr>
              <a:xfrm>
                <a:off x="8094993" y="4729238"/>
                <a:ext cx="304800" cy="2772410"/>
              </a:xfrm>
              <a:custGeom>
                <a:avLst/>
                <a:gdLst/>
                <a:ahLst/>
                <a:cxnLst/>
                <a:rect l="l" t="t" r="r" b="b"/>
                <a:pathLst>
                  <a:path w="304800" h="2772409">
                    <a:moveTo>
                      <a:pt x="304311" y="0"/>
                    </a:moveTo>
                    <a:lnTo>
                      <a:pt x="1142" y="2761765"/>
                    </a:lnTo>
                    <a:lnTo>
                      <a:pt x="0" y="2772173"/>
                    </a:lnTo>
                  </a:path>
                </a:pathLst>
              </a:custGeom>
              <a:ln w="20941">
                <a:solidFill>
                  <a:srgbClr val="222C4A"/>
                </a:solidFill>
              </a:ln>
            </p:spPr>
            <p:txBody>
              <a:bodyPr wrap="square" lIns="0" tIns="0" rIns="0" bIns="0" rtlCol="0"/>
              <a:lstStyle/>
              <a:p>
                <a:endParaRPr/>
              </a:p>
            </p:txBody>
          </p:sp>
          <p:sp>
            <p:nvSpPr>
              <p:cNvPr id="37" name="object 36">
                <a:extLst>
                  <a:ext uri="{FF2B5EF4-FFF2-40B4-BE49-F238E27FC236}">
                    <a16:creationId xmlns:a16="http://schemas.microsoft.com/office/drawing/2014/main" id="{96B4602E-7883-69E3-6CB8-58AB2DD435DB}"/>
                  </a:ext>
                </a:extLst>
              </p:cNvPr>
              <p:cNvSpPr/>
              <p:nvPr/>
            </p:nvSpPr>
            <p:spPr>
              <a:xfrm>
                <a:off x="8046184" y="7485520"/>
                <a:ext cx="100330" cy="105410"/>
              </a:xfrm>
              <a:custGeom>
                <a:avLst/>
                <a:gdLst/>
                <a:ahLst/>
                <a:cxnLst/>
                <a:rect l="l" t="t" r="r" b="b"/>
                <a:pathLst>
                  <a:path w="100329" h="105409">
                    <a:moveTo>
                      <a:pt x="0" y="0"/>
                    </a:moveTo>
                    <a:lnTo>
                      <a:pt x="38983" y="105399"/>
                    </a:lnTo>
                    <a:lnTo>
                      <a:pt x="99913" y="10963"/>
                    </a:lnTo>
                    <a:lnTo>
                      <a:pt x="0" y="0"/>
                    </a:lnTo>
                    <a:close/>
                  </a:path>
                </a:pathLst>
              </a:custGeom>
              <a:solidFill>
                <a:srgbClr val="222C4A"/>
              </a:solidFill>
            </p:spPr>
            <p:txBody>
              <a:bodyPr wrap="square" lIns="0" tIns="0" rIns="0" bIns="0" rtlCol="0"/>
              <a:lstStyle/>
              <a:p>
                <a:endParaRPr/>
              </a:p>
            </p:txBody>
          </p:sp>
          <p:sp>
            <p:nvSpPr>
              <p:cNvPr id="38" name="object 37">
                <a:extLst>
                  <a:ext uri="{FF2B5EF4-FFF2-40B4-BE49-F238E27FC236}">
                    <a16:creationId xmlns:a16="http://schemas.microsoft.com/office/drawing/2014/main" id="{29F812BA-CF38-0F98-2ADF-B0AAC2C04311}"/>
                  </a:ext>
                </a:extLst>
              </p:cNvPr>
              <p:cNvSpPr/>
              <p:nvPr/>
            </p:nvSpPr>
            <p:spPr>
              <a:xfrm>
                <a:off x="6129943" y="4932090"/>
                <a:ext cx="627380" cy="2545080"/>
              </a:xfrm>
              <a:custGeom>
                <a:avLst/>
                <a:gdLst/>
                <a:ahLst/>
                <a:cxnLst/>
                <a:rect l="l" t="t" r="r" b="b"/>
                <a:pathLst>
                  <a:path w="627379" h="2545079">
                    <a:moveTo>
                      <a:pt x="0" y="0"/>
                    </a:moveTo>
                    <a:lnTo>
                      <a:pt x="2506" y="10166"/>
                    </a:lnTo>
                    <a:lnTo>
                      <a:pt x="627376" y="2544923"/>
                    </a:lnTo>
                  </a:path>
                </a:pathLst>
              </a:custGeom>
              <a:ln w="20941">
                <a:solidFill>
                  <a:srgbClr val="222C4A"/>
                </a:solidFill>
              </a:ln>
            </p:spPr>
            <p:txBody>
              <a:bodyPr wrap="square" lIns="0" tIns="0" rIns="0" bIns="0" rtlCol="0"/>
              <a:lstStyle/>
              <a:p>
                <a:endParaRPr/>
              </a:p>
            </p:txBody>
          </p:sp>
          <p:sp>
            <p:nvSpPr>
              <p:cNvPr id="39" name="object 38">
                <a:extLst>
                  <a:ext uri="{FF2B5EF4-FFF2-40B4-BE49-F238E27FC236}">
                    <a16:creationId xmlns:a16="http://schemas.microsoft.com/office/drawing/2014/main" id="{EB55ACEB-88E3-35C5-9EC9-078E4FE29E48}"/>
                  </a:ext>
                </a:extLst>
              </p:cNvPr>
              <p:cNvSpPr/>
              <p:nvPr/>
            </p:nvSpPr>
            <p:spPr>
              <a:xfrm>
                <a:off x="6083647" y="4844658"/>
                <a:ext cx="97790" cy="109855"/>
              </a:xfrm>
              <a:custGeom>
                <a:avLst/>
                <a:gdLst/>
                <a:ahLst/>
                <a:cxnLst/>
                <a:rect l="l" t="t" r="r" b="b"/>
                <a:pathLst>
                  <a:path w="97789" h="109854">
                    <a:moveTo>
                      <a:pt x="24742" y="0"/>
                    </a:moveTo>
                    <a:lnTo>
                      <a:pt x="0" y="109630"/>
                    </a:lnTo>
                    <a:lnTo>
                      <a:pt x="97599" y="85568"/>
                    </a:lnTo>
                    <a:lnTo>
                      <a:pt x="24742" y="0"/>
                    </a:lnTo>
                    <a:close/>
                  </a:path>
                </a:pathLst>
              </a:custGeom>
              <a:solidFill>
                <a:srgbClr val="222C4A"/>
              </a:solidFill>
            </p:spPr>
            <p:txBody>
              <a:bodyPr wrap="square" lIns="0" tIns="0" rIns="0" bIns="0" rtlCol="0"/>
              <a:lstStyle/>
              <a:p>
                <a:endParaRPr/>
              </a:p>
            </p:txBody>
          </p:sp>
          <p:sp>
            <p:nvSpPr>
              <p:cNvPr id="40" name="object 39">
                <a:extLst>
                  <a:ext uri="{FF2B5EF4-FFF2-40B4-BE49-F238E27FC236}">
                    <a16:creationId xmlns:a16="http://schemas.microsoft.com/office/drawing/2014/main" id="{1D4B686D-B7E3-EBE5-21C3-9450F6BDE937}"/>
                  </a:ext>
                </a:extLst>
              </p:cNvPr>
              <p:cNvSpPr/>
              <p:nvPr/>
            </p:nvSpPr>
            <p:spPr>
              <a:xfrm>
                <a:off x="6262686" y="5024534"/>
                <a:ext cx="1585595" cy="2403475"/>
              </a:xfrm>
              <a:custGeom>
                <a:avLst/>
                <a:gdLst/>
                <a:ahLst/>
                <a:cxnLst/>
                <a:rect l="l" t="t" r="r" b="b"/>
                <a:pathLst>
                  <a:path w="1585595" h="2403475">
                    <a:moveTo>
                      <a:pt x="0" y="0"/>
                    </a:moveTo>
                    <a:lnTo>
                      <a:pt x="5766" y="8740"/>
                    </a:lnTo>
                    <a:lnTo>
                      <a:pt x="1585388" y="2403174"/>
                    </a:lnTo>
                  </a:path>
                </a:pathLst>
              </a:custGeom>
              <a:ln w="20941">
                <a:solidFill>
                  <a:srgbClr val="222C4A"/>
                </a:solidFill>
              </a:ln>
            </p:spPr>
            <p:txBody>
              <a:bodyPr wrap="square" lIns="0" tIns="0" rIns="0" bIns="0" rtlCol="0"/>
              <a:lstStyle/>
              <a:p>
                <a:endParaRPr/>
              </a:p>
            </p:txBody>
          </p:sp>
          <p:sp>
            <p:nvSpPr>
              <p:cNvPr id="41" name="object 40">
                <a:extLst>
                  <a:ext uri="{FF2B5EF4-FFF2-40B4-BE49-F238E27FC236}">
                    <a16:creationId xmlns:a16="http://schemas.microsoft.com/office/drawing/2014/main" id="{434FAC37-491C-6A05-8097-0026B6E46178}"/>
                  </a:ext>
                </a:extLst>
              </p:cNvPr>
              <p:cNvSpPr/>
              <p:nvPr/>
            </p:nvSpPr>
            <p:spPr>
              <a:xfrm>
                <a:off x="6213098" y="4949367"/>
                <a:ext cx="97790" cy="111760"/>
              </a:xfrm>
              <a:custGeom>
                <a:avLst/>
                <a:gdLst/>
                <a:ahLst/>
                <a:cxnLst/>
                <a:rect l="l" t="t" r="r" b="b"/>
                <a:pathLst>
                  <a:path w="97789" h="111760">
                    <a:moveTo>
                      <a:pt x="0" y="0"/>
                    </a:moveTo>
                    <a:lnTo>
                      <a:pt x="13392" y="111577"/>
                    </a:lnTo>
                    <a:lnTo>
                      <a:pt x="97305" y="56228"/>
                    </a:lnTo>
                    <a:lnTo>
                      <a:pt x="0" y="0"/>
                    </a:lnTo>
                    <a:close/>
                  </a:path>
                </a:pathLst>
              </a:custGeom>
              <a:solidFill>
                <a:srgbClr val="222C4A"/>
              </a:solidFill>
            </p:spPr>
            <p:txBody>
              <a:bodyPr wrap="square" lIns="0" tIns="0" rIns="0" bIns="0" rtlCol="0"/>
              <a:lstStyle/>
              <a:p>
                <a:endParaRPr/>
              </a:p>
            </p:txBody>
          </p:sp>
          <p:sp>
            <p:nvSpPr>
              <p:cNvPr id="42" name="object 41">
                <a:extLst>
                  <a:ext uri="{FF2B5EF4-FFF2-40B4-BE49-F238E27FC236}">
                    <a16:creationId xmlns:a16="http://schemas.microsoft.com/office/drawing/2014/main" id="{BF89AE6F-999E-9F8F-0E41-1485253A2280}"/>
                  </a:ext>
                </a:extLst>
              </p:cNvPr>
              <p:cNvSpPr/>
              <p:nvPr/>
            </p:nvSpPr>
            <p:spPr>
              <a:xfrm>
                <a:off x="8614705" y="4952142"/>
                <a:ext cx="627380" cy="2545080"/>
              </a:xfrm>
              <a:custGeom>
                <a:avLst/>
                <a:gdLst/>
                <a:ahLst/>
                <a:cxnLst/>
                <a:rect l="l" t="t" r="r" b="b"/>
                <a:pathLst>
                  <a:path w="627379" h="2545079">
                    <a:moveTo>
                      <a:pt x="0" y="0"/>
                    </a:moveTo>
                    <a:lnTo>
                      <a:pt x="2506" y="10166"/>
                    </a:lnTo>
                    <a:lnTo>
                      <a:pt x="627376" y="2544923"/>
                    </a:lnTo>
                  </a:path>
                </a:pathLst>
              </a:custGeom>
              <a:ln w="20941">
                <a:solidFill>
                  <a:srgbClr val="222C4A"/>
                </a:solidFill>
              </a:ln>
            </p:spPr>
            <p:txBody>
              <a:bodyPr wrap="square" lIns="0" tIns="0" rIns="0" bIns="0" rtlCol="0"/>
              <a:lstStyle/>
              <a:p>
                <a:endParaRPr/>
              </a:p>
            </p:txBody>
          </p:sp>
          <p:sp>
            <p:nvSpPr>
              <p:cNvPr id="43" name="object 42">
                <a:extLst>
                  <a:ext uri="{FF2B5EF4-FFF2-40B4-BE49-F238E27FC236}">
                    <a16:creationId xmlns:a16="http://schemas.microsoft.com/office/drawing/2014/main" id="{BA741C6A-C4DA-0BC3-5A32-D720E1567895}"/>
                  </a:ext>
                </a:extLst>
              </p:cNvPr>
              <p:cNvSpPr/>
              <p:nvPr/>
            </p:nvSpPr>
            <p:spPr>
              <a:xfrm>
                <a:off x="8568409" y="4864710"/>
                <a:ext cx="97790" cy="109855"/>
              </a:xfrm>
              <a:custGeom>
                <a:avLst/>
                <a:gdLst/>
                <a:ahLst/>
                <a:cxnLst/>
                <a:rect l="l" t="t" r="r" b="b"/>
                <a:pathLst>
                  <a:path w="97790" h="109854">
                    <a:moveTo>
                      <a:pt x="24742" y="0"/>
                    </a:moveTo>
                    <a:lnTo>
                      <a:pt x="0" y="109630"/>
                    </a:lnTo>
                    <a:lnTo>
                      <a:pt x="97599" y="85568"/>
                    </a:lnTo>
                    <a:lnTo>
                      <a:pt x="24742" y="0"/>
                    </a:lnTo>
                    <a:close/>
                  </a:path>
                </a:pathLst>
              </a:custGeom>
              <a:solidFill>
                <a:srgbClr val="222C4A"/>
              </a:solidFill>
            </p:spPr>
            <p:txBody>
              <a:bodyPr wrap="square" lIns="0" tIns="0" rIns="0" bIns="0" rtlCol="0"/>
              <a:lstStyle/>
              <a:p>
                <a:endParaRPr/>
              </a:p>
            </p:txBody>
          </p:sp>
          <p:sp>
            <p:nvSpPr>
              <p:cNvPr id="44" name="object 43">
                <a:extLst>
                  <a:ext uri="{FF2B5EF4-FFF2-40B4-BE49-F238E27FC236}">
                    <a16:creationId xmlns:a16="http://schemas.microsoft.com/office/drawing/2014/main" id="{DF00236A-3795-47D7-F8EB-8CCB572603D4}"/>
                  </a:ext>
                </a:extLst>
              </p:cNvPr>
              <p:cNvSpPr/>
              <p:nvPr/>
            </p:nvSpPr>
            <p:spPr>
              <a:xfrm>
                <a:off x="3583964" y="5008140"/>
                <a:ext cx="759460" cy="2221230"/>
              </a:xfrm>
              <a:custGeom>
                <a:avLst/>
                <a:gdLst/>
                <a:ahLst/>
                <a:cxnLst/>
                <a:rect l="l" t="t" r="r" b="b"/>
                <a:pathLst>
                  <a:path w="759460" h="2221229">
                    <a:moveTo>
                      <a:pt x="0" y="0"/>
                    </a:moveTo>
                    <a:lnTo>
                      <a:pt x="755898" y="2210753"/>
                    </a:lnTo>
                    <a:lnTo>
                      <a:pt x="759286" y="2220661"/>
                    </a:lnTo>
                  </a:path>
                </a:pathLst>
              </a:custGeom>
              <a:ln w="20941">
                <a:solidFill>
                  <a:srgbClr val="222C4A"/>
                </a:solidFill>
              </a:ln>
            </p:spPr>
            <p:txBody>
              <a:bodyPr wrap="square" lIns="0" tIns="0" rIns="0" bIns="0" rtlCol="0"/>
              <a:lstStyle/>
              <a:p>
                <a:endParaRPr/>
              </a:p>
            </p:txBody>
          </p:sp>
          <p:sp>
            <p:nvSpPr>
              <p:cNvPr id="45" name="object 44">
                <a:extLst>
                  <a:ext uri="{FF2B5EF4-FFF2-40B4-BE49-F238E27FC236}">
                    <a16:creationId xmlns:a16="http://schemas.microsoft.com/office/drawing/2014/main" id="{C89D064C-E7E5-AF52-D2DD-043FD848D60B}"/>
                  </a:ext>
                </a:extLst>
              </p:cNvPr>
              <p:cNvSpPr/>
              <p:nvPr/>
            </p:nvSpPr>
            <p:spPr>
              <a:xfrm>
                <a:off x="4292309" y="7202639"/>
                <a:ext cx="95250" cy="111760"/>
              </a:xfrm>
              <a:custGeom>
                <a:avLst/>
                <a:gdLst/>
                <a:ahLst/>
                <a:cxnLst/>
                <a:rect l="l" t="t" r="r" b="b"/>
                <a:pathLst>
                  <a:path w="95250" h="111759">
                    <a:moveTo>
                      <a:pt x="95117" y="0"/>
                    </a:moveTo>
                    <a:lnTo>
                      <a:pt x="0" y="32522"/>
                    </a:lnTo>
                    <a:lnTo>
                      <a:pt x="80081" y="111378"/>
                    </a:lnTo>
                    <a:lnTo>
                      <a:pt x="95117" y="0"/>
                    </a:lnTo>
                    <a:close/>
                  </a:path>
                </a:pathLst>
              </a:custGeom>
              <a:solidFill>
                <a:srgbClr val="222C4A"/>
              </a:solidFill>
            </p:spPr>
            <p:txBody>
              <a:bodyPr wrap="square" lIns="0" tIns="0" rIns="0" bIns="0" rtlCol="0"/>
              <a:lstStyle/>
              <a:p>
                <a:endParaRPr/>
              </a:p>
            </p:txBody>
          </p:sp>
        </p:grpSp>
      </p:grpSp>
      <p:sp>
        <p:nvSpPr>
          <p:cNvPr id="48" name="TextBox 47">
            <a:extLst>
              <a:ext uri="{FF2B5EF4-FFF2-40B4-BE49-F238E27FC236}">
                <a16:creationId xmlns:a16="http://schemas.microsoft.com/office/drawing/2014/main" id="{51F35555-7DB3-0E9F-0CC1-8DCCA40D364A}"/>
              </a:ext>
            </a:extLst>
          </p:cNvPr>
          <p:cNvSpPr txBox="1"/>
          <p:nvPr/>
        </p:nvSpPr>
        <p:spPr>
          <a:xfrm>
            <a:off x="7325250" y="1373218"/>
            <a:ext cx="4706595" cy="4154984"/>
          </a:xfrm>
          <a:prstGeom prst="rect">
            <a:avLst/>
          </a:prstGeom>
          <a:noFill/>
        </p:spPr>
        <p:txBody>
          <a:bodyPr wrap="square">
            <a:spAutoFit/>
          </a:bodyPr>
          <a:lstStyle/>
          <a:p>
            <a:pPr marL="342900" indent="-342900">
              <a:buFont typeface="Arial" panose="020B0604020202020204" pitchFamily="34" charset="0"/>
              <a:buChar char="•"/>
            </a:pPr>
            <a:r>
              <a:rPr lang="en-US" sz="3200" dirty="0">
                <a:effectLst/>
              </a:rPr>
              <a:t>Performance</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3200" dirty="0"/>
              <a:t>Many servers</a:t>
            </a:r>
            <a:endParaRPr lang="en-US" sz="3200" dirty="0">
              <a:effectLst/>
            </a:endParaRPr>
          </a:p>
          <a:p>
            <a:pPr marL="342900" indent="-342900">
              <a:buFont typeface="Arial" panose="020B0604020202020204" pitchFamily="34" charset="0"/>
              <a:buChar char="•"/>
            </a:pPr>
            <a:endParaRPr lang="en-US" sz="2400" dirty="0">
              <a:effectLst/>
            </a:endParaRPr>
          </a:p>
          <a:p>
            <a:pPr marL="342900" indent="-342900">
              <a:buFont typeface="Arial" panose="020B0604020202020204" pitchFamily="34" charset="0"/>
              <a:buChar char="•"/>
            </a:pPr>
            <a:r>
              <a:rPr lang="en-US" sz="3200" dirty="0">
                <a:effectLst/>
              </a:rPr>
              <a:t>Fault tolerance</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3200" dirty="0"/>
              <a:t>Replication</a:t>
            </a:r>
          </a:p>
          <a:p>
            <a:pPr marL="342900" indent="-342900">
              <a:buFont typeface="Arial" panose="020B0604020202020204" pitchFamily="34" charset="0"/>
              <a:buChar char="•"/>
            </a:pPr>
            <a:endParaRPr lang="en-US" sz="2400" dirty="0">
              <a:effectLst/>
            </a:endParaRPr>
          </a:p>
          <a:p>
            <a:pPr marL="342900" indent="-342900">
              <a:buFont typeface="Arial" panose="020B0604020202020204" pitchFamily="34" charset="0"/>
              <a:buChar char="•"/>
            </a:pPr>
            <a:r>
              <a:rPr lang="en-US" sz="3200" dirty="0">
                <a:effectLst/>
              </a:rPr>
              <a:t>Better Consistency</a:t>
            </a:r>
          </a:p>
        </p:txBody>
      </p:sp>
    </p:spTree>
    <p:extLst>
      <p:ext uri="{BB962C8B-B14F-4D97-AF65-F5344CB8AC3E}">
        <p14:creationId xmlns:p14="http://schemas.microsoft.com/office/powerpoint/2010/main" val="17618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8">
                                            <p:txEl>
                                              <p:pRg st="2" end="2"/>
                                            </p:txEl>
                                          </p:spTgt>
                                        </p:tgtEl>
                                        <p:attrNameLst>
                                          <p:attrName>style.visibility</p:attrName>
                                        </p:attrNameLst>
                                      </p:cBhvr>
                                      <p:to>
                                        <p:strVal val="visible"/>
                                      </p:to>
                                    </p:set>
                                    <p:animEffect transition="in" filter="dissolve">
                                      <p:cBhvr>
                                        <p:cTn id="7" dur="500"/>
                                        <p:tgtEl>
                                          <p:spTgt spid="4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8">
                                            <p:txEl>
                                              <p:pRg st="4" end="4"/>
                                            </p:txEl>
                                          </p:spTgt>
                                        </p:tgtEl>
                                        <p:attrNameLst>
                                          <p:attrName>style.visibility</p:attrName>
                                        </p:attrNameLst>
                                      </p:cBhvr>
                                      <p:to>
                                        <p:strVal val="visible"/>
                                      </p:to>
                                    </p:set>
                                    <p:animEffect transition="in" filter="dissolve">
                                      <p:cBhvr>
                                        <p:cTn id="12" dur="500"/>
                                        <p:tgtEl>
                                          <p:spTgt spid="48">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8">
                                            <p:txEl>
                                              <p:pRg st="6" end="6"/>
                                            </p:txEl>
                                          </p:spTgt>
                                        </p:tgtEl>
                                        <p:attrNameLst>
                                          <p:attrName>style.visibility</p:attrName>
                                        </p:attrNameLst>
                                      </p:cBhvr>
                                      <p:to>
                                        <p:strVal val="visible"/>
                                      </p:to>
                                    </p:set>
                                    <p:animEffect transition="in" filter="dissolve">
                                      <p:cBhvr>
                                        <p:cTn id="17" dur="500"/>
                                        <p:tgtEl>
                                          <p:spTgt spid="48">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8">
                                            <p:txEl>
                                              <p:pRg st="8" end="8"/>
                                            </p:txEl>
                                          </p:spTgt>
                                        </p:tgtEl>
                                        <p:attrNameLst>
                                          <p:attrName>style.visibility</p:attrName>
                                        </p:attrNameLst>
                                      </p:cBhvr>
                                      <p:to>
                                        <p:strVal val="visible"/>
                                      </p:to>
                                    </p:set>
                                    <p:animEffect transition="in" filter="dissolve">
                                      <p:cBhvr>
                                        <p:cTn id="22" dur="500"/>
                                        <p:tgtEl>
                                          <p:spTgt spid="4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B7C71-10E9-1A5C-38E1-596B270A1371}"/>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45CE8AA0-027A-20D9-A1BF-4C10DE518B40}"/>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What Would We Like for Consistency?</a:t>
            </a:r>
          </a:p>
        </p:txBody>
      </p:sp>
      <p:sp>
        <p:nvSpPr>
          <p:cNvPr id="8" name="Slide Number Placeholder 4">
            <a:extLst>
              <a:ext uri="{FF2B5EF4-FFF2-40B4-BE49-F238E27FC236}">
                <a16:creationId xmlns:a16="http://schemas.microsoft.com/office/drawing/2014/main" id="{4A34D10B-90F8-D6D5-6384-692219354F91}"/>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10</a:t>
            </a:fld>
            <a:endParaRPr lang="en-US"/>
          </a:p>
        </p:txBody>
      </p:sp>
      <p:sp>
        <p:nvSpPr>
          <p:cNvPr id="2" name="TextBox 1">
            <a:extLst>
              <a:ext uri="{FF2B5EF4-FFF2-40B4-BE49-F238E27FC236}">
                <a16:creationId xmlns:a16="http://schemas.microsoft.com/office/drawing/2014/main" id="{631A401F-4D91-F6DC-4C05-BF22CEF27E08}"/>
              </a:ext>
            </a:extLst>
          </p:cNvPr>
          <p:cNvSpPr txBox="1"/>
          <p:nvPr/>
        </p:nvSpPr>
        <p:spPr>
          <a:xfrm>
            <a:off x="136634" y="1124607"/>
            <a:ext cx="11708524" cy="3539430"/>
          </a:xfrm>
          <a:prstGeom prst="rect">
            <a:avLst/>
          </a:prstGeom>
          <a:noFill/>
        </p:spPr>
        <p:txBody>
          <a:bodyPr wrap="square" rtlCol="0">
            <a:spAutoFit/>
          </a:bodyPr>
          <a:lstStyle/>
          <a:p>
            <a:r>
              <a:rPr lang="en-US" sz="3200" b="1" dirty="0"/>
              <a:t>Goal: Distributed systems try to create an illusion that users are using one single powerful machine</a:t>
            </a:r>
          </a:p>
          <a:p>
            <a:endParaRPr lang="en-US" sz="3200" b="1" dirty="0"/>
          </a:p>
          <a:p>
            <a:endParaRPr lang="en-US" sz="3200" b="1" dirty="0"/>
          </a:p>
          <a:p>
            <a:endParaRPr lang="en-US" sz="3200" b="1" dirty="0"/>
          </a:p>
          <a:p>
            <a:r>
              <a:rPr lang="en-US" sz="3200" b="1" dirty="0"/>
              <a:t>Suppose C1 and C2 write concurrently, and after the writes have completed, C3 and C4 read. what can they see?</a:t>
            </a:r>
          </a:p>
        </p:txBody>
      </p:sp>
    </p:spTree>
    <p:extLst>
      <p:ext uri="{BB962C8B-B14F-4D97-AF65-F5344CB8AC3E}">
        <p14:creationId xmlns:p14="http://schemas.microsoft.com/office/powerpoint/2010/main" val="1920408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dissolve">
                                      <p:cBhvr>
                                        <p:cTn id="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5F92C-659B-0E3A-3117-37DFC1B45B4D}"/>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82EDE0E1-D5E4-ECAC-7153-C920BDD9B83A}"/>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Bad Replication Design</a:t>
            </a:r>
          </a:p>
        </p:txBody>
      </p:sp>
      <p:sp>
        <p:nvSpPr>
          <p:cNvPr id="8" name="Slide Number Placeholder 4">
            <a:extLst>
              <a:ext uri="{FF2B5EF4-FFF2-40B4-BE49-F238E27FC236}">
                <a16:creationId xmlns:a16="http://schemas.microsoft.com/office/drawing/2014/main" id="{8FB39AF7-B2B4-30F8-591A-34972CA3A2A5}"/>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11</a:t>
            </a:fld>
            <a:endParaRPr lang="en-US"/>
          </a:p>
        </p:txBody>
      </p:sp>
      <p:sp>
        <p:nvSpPr>
          <p:cNvPr id="2" name="object 5">
            <a:extLst>
              <a:ext uri="{FF2B5EF4-FFF2-40B4-BE49-F238E27FC236}">
                <a16:creationId xmlns:a16="http://schemas.microsoft.com/office/drawing/2014/main" id="{456260A6-F91B-4A6D-64FC-FD0578FAC28D}"/>
              </a:ext>
            </a:extLst>
          </p:cNvPr>
          <p:cNvSpPr txBox="1"/>
          <p:nvPr/>
        </p:nvSpPr>
        <p:spPr>
          <a:xfrm>
            <a:off x="2257602" y="3101244"/>
            <a:ext cx="1812925" cy="1073785"/>
          </a:xfrm>
          <a:prstGeom prst="rect">
            <a:avLst/>
          </a:prstGeom>
          <a:ln w="20941">
            <a:solidFill>
              <a:srgbClr val="222C4A"/>
            </a:solidFill>
          </a:ln>
        </p:spPr>
        <p:txBody>
          <a:bodyPr vert="horz" wrap="square" lIns="0" tIns="269875" rIns="0" bIns="0" rtlCol="0">
            <a:spAutoFit/>
          </a:bodyPr>
          <a:lstStyle/>
          <a:p>
            <a:pPr marL="254000">
              <a:lnSpc>
                <a:spcPct val="100000"/>
              </a:lnSpc>
              <a:spcBef>
                <a:spcPts val="2125"/>
              </a:spcBef>
            </a:pPr>
            <a:r>
              <a:rPr sz="3300" spc="-10" dirty="0">
                <a:solidFill>
                  <a:srgbClr val="222C4A"/>
                </a:solidFill>
                <a:latin typeface="Arial"/>
                <a:cs typeface="Arial"/>
              </a:rPr>
              <a:t>Client1</a:t>
            </a:r>
            <a:endParaRPr sz="3300">
              <a:latin typeface="Arial"/>
              <a:cs typeface="Arial"/>
            </a:endParaRPr>
          </a:p>
        </p:txBody>
      </p:sp>
      <p:sp>
        <p:nvSpPr>
          <p:cNvPr id="3" name="object 6">
            <a:extLst>
              <a:ext uri="{FF2B5EF4-FFF2-40B4-BE49-F238E27FC236}">
                <a16:creationId xmlns:a16="http://schemas.microsoft.com/office/drawing/2014/main" id="{4459AF3A-6782-4ADB-1F45-CA0D24FC54D2}"/>
              </a:ext>
            </a:extLst>
          </p:cNvPr>
          <p:cNvSpPr txBox="1"/>
          <p:nvPr/>
        </p:nvSpPr>
        <p:spPr>
          <a:xfrm>
            <a:off x="7236989" y="3101244"/>
            <a:ext cx="1812925" cy="1073785"/>
          </a:xfrm>
          <a:prstGeom prst="rect">
            <a:avLst/>
          </a:prstGeom>
          <a:ln w="20941">
            <a:solidFill>
              <a:srgbClr val="222C4A"/>
            </a:solidFill>
          </a:ln>
        </p:spPr>
        <p:txBody>
          <a:bodyPr vert="horz" wrap="square" lIns="0" tIns="269875" rIns="0" bIns="0" rtlCol="0">
            <a:spAutoFit/>
          </a:bodyPr>
          <a:lstStyle/>
          <a:p>
            <a:pPr marL="172720">
              <a:lnSpc>
                <a:spcPct val="100000"/>
              </a:lnSpc>
              <a:spcBef>
                <a:spcPts val="2125"/>
              </a:spcBef>
            </a:pPr>
            <a:r>
              <a:rPr sz="3300" spc="-10" dirty="0">
                <a:solidFill>
                  <a:srgbClr val="222C4A"/>
                </a:solidFill>
                <a:latin typeface="Arial"/>
                <a:cs typeface="Arial"/>
              </a:rPr>
              <a:t>Server1</a:t>
            </a:r>
            <a:endParaRPr sz="3300">
              <a:latin typeface="Arial"/>
              <a:cs typeface="Arial"/>
            </a:endParaRPr>
          </a:p>
        </p:txBody>
      </p:sp>
      <p:sp>
        <p:nvSpPr>
          <p:cNvPr id="4" name="object 7">
            <a:extLst>
              <a:ext uri="{FF2B5EF4-FFF2-40B4-BE49-F238E27FC236}">
                <a16:creationId xmlns:a16="http://schemas.microsoft.com/office/drawing/2014/main" id="{C9B6A5C4-870E-BE2E-F18F-6A3D520996A3}"/>
              </a:ext>
            </a:extLst>
          </p:cNvPr>
          <p:cNvSpPr txBox="1"/>
          <p:nvPr/>
        </p:nvSpPr>
        <p:spPr>
          <a:xfrm>
            <a:off x="7236989" y="4814920"/>
            <a:ext cx="1812925" cy="1073785"/>
          </a:xfrm>
          <a:prstGeom prst="rect">
            <a:avLst/>
          </a:prstGeom>
          <a:ln w="20941">
            <a:solidFill>
              <a:srgbClr val="222C4A"/>
            </a:solidFill>
          </a:ln>
        </p:spPr>
        <p:txBody>
          <a:bodyPr vert="horz" wrap="square" lIns="0" tIns="269875" rIns="0" bIns="0" rtlCol="0">
            <a:spAutoFit/>
          </a:bodyPr>
          <a:lstStyle/>
          <a:p>
            <a:pPr marL="172720">
              <a:lnSpc>
                <a:spcPct val="100000"/>
              </a:lnSpc>
              <a:spcBef>
                <a:spcPts val="2125"/>
              </a:spcBef>
            </a:pPr>
            <a:r>
              <a:rPr sz="3300" spc="-10" dirty="0">
                <a:solidFill>
                  <a:srgbClr val="222C4A"/>
                </a:solidFill>
                <a:latin typeface="Arial"/>
                <a:cs typeface="Arial"/>
              </a:rPr>
              <a:t>Server2</a:t>
            </a:r>
            <a:endParaRPr sz="3300">
              <a:latin typeface="Arial"/>
              <a:cs typeface="Arial"/>
            </a:endParaRPr>
          </a:p>
        </p:txBody>
      </p:sp>
      <p:grpSp>
        <p:nvGrpSpPr>
          <p:cNvPr id="5" name="object 8">
            <a:extLst>
              <a:ext uri="{FF2B5EF4-FFF2-40B4-BE49-F238E27FC236}">
                <a16:creationId xmlns:a16="http://schemas.microsoft.com/office/drawing/2014/main" id="{757F45D0-8269-1E68-4885-C87A323BC148}"/>
              </a:ext>
            </a:extLst>
          </p:cNvPr>
          <p:cNvGrpSpPr/>
          <p:nvPr/>
        </p:nvGrpSpPr>
        <p:grpSpPr>
          <a:xfrm>
            <a:off x="4080845" y="3587617"/>
            <a:ext cx="3145790" cy="100965"/>
            <a:chOff x="5441593" y="6964688"/>
            <a:chExt cx="3145790" cy="100965"/>
          </a:xfrm>
        </p:grpSpPr>
        <p:sp>
          <p:nvSpPr>
            <p:cNvPr id="6" name="object 9">
              <a:extLst>
                <a:ext uri="{FF2B5EF4-FFF2-40B4-BE49-F238E27FC236}">
                  <a16:creationId xmlns:a16="http://schemas.microsoft.com/office/drawing/2014/main" id="{4F529037-96A1-4D96-DC4A-95FFB18177C7}"/>
                </a:ext>
              </a:extLst>
            </p:cNvPr>
            <p:cNvSpPr/>
            <p:nvPr/>
          </p:nvSpPr>
          <p:spPr>
            <a:xfrm>
              <a:off x="5441593" y="7014949"/>
              <a:ext cx="3056255" cy="0"/>
            </a:xfrm>
            <a:custGeom>
              <a:avLst/>
              <a:gdLst/>
              <a:ahLst/>
              <a:cxnLst/>
              <a:rect l="l" t="t" r="r" b="b"/>
              <a:pathLst>
                <a:path w="3056254">
                  <a:moveTo>
                    <a:pt x="0" y="0"/>
                  </a:moveTo>
                  <a:lnTo>
                    <a:pt x="3045163" y="0"/>
                  </a:lnTo>
                  <a:lnTo>
                    <a:pt x="3055634" y="0"/>
                  </a:lnTo>
                </a:path>
              </a:pathLst>
            </a:custGeom>
            <a:ln w="20941">
              <a:solidFill>
                <a:srgbClr val="222C4A"/>
              </a:solidFill>
            </a:ln>
          </p:spPr>
          <p:txBody>
            <a:bodyPr wrap="square" lIns="0" tIns="0" rIns="0" bIns="0" rtlCol="0"/>
            <a:lstStyle/>
            <a:p>
              <a:endParaRPr/>
            </a:p>
          </p:txBody>
        </p:sp>
        <p:sp>
          <p:nvSpPr>
            <p:cNvPr id="9" name="object 10">
              <a:extLst>
                <a:ext uri="{FF2B5EF4-FFF2-40B4-BE49-F238E27FC236}">
                  <a16:creationId xmlns:a16="http://schemas.microsoft.com/office/drawing/2014/main" id="{C6D408E4-ABD5-210C-2B2D-907EA8A2009B}"/>
                </a:ext>
              </a:extLst>
            </p:cNvPr>
            <p:cNvSpPr/>
            <p:nvPr/>
          </p:nvSpPr>
          <p:spPr>
            <a:xfrm>
              <a:off x="8486746" y="6964688"/>
              <a:ext cx="100965" cy="100965"/>
            </a:xfrm>
            <a:custGeom>
              <a:avLst/>
              <a:gdLst/>
              <a:ahLst/>
              <a:cxnLst/>
              <a:rect l="l" t="t" r="r" b="b"/>
              <a:pathLst>
                <a:path w="100965" h="100965">
                  <a:moveTo>
                    <a:pt x="0" y="0"/>
                  </a:moveTo>
                  <a:lnTo>
                    <a:pt x="0" y="100520"/>
                  </a:lnTo>
                  <a:lnTo>
                    <a:pt x="100520" y="50260"/>
                  </a:lnTo>
                  <a:lnTo>
                    <a:pt x="0" y="0"/>
                  </a:lnTo>
                  <a:close/>
                </a:path>
              </a:pathLst>
            </a:custGeom>
            <a:solidFill>
              <a:srgbClr val="222C4A"/>
            </a:solidFill>
          </p:spPr>
          <p:txBody>
            <a:bodyPr wrap="square" lIns="0" tIns="0" rIns="0" bIns="0" rtlCol="0"/>
            <a:lstStyle/>
            <a:p>
              <a:endParaRPr/>
            </a:p>
          </p:txBody>
        </p:sp>
      </p:grpSp>
      <p:grpSp>
        <p:nvGrpSpPr>
          <p:cNvPr id="10" name="object 11">
            <a:extLst>
              <a:ext uri="{FF2B5EF4-FFF2-40B4-BE49-F238E27FC236}">
                <a16:creationId xmlns:a16="http://schemas.microsoft.com/office/drawing/2014/main" id="{74E4B85F-92EB-8EF6-BE15-D0C145092DCB}"/>
              </a:ext>
            </a:extLst>
          </p:cNvPr>
          <p:cNvGrpSpPr/>
          <p:nvPr/>
        </p:nvGrpSpPr>
        <p:grpSpPr>
          <a:xfrm>
            <a:off x="4070374" y="3942936"/>
            <a:ext cx="3156585" cy="1108075"/>
            <a:chOff x="5431122" y="7320007"/>
            <a:chExt cx="3156585" cy="1108075"/>
          </a:xfrm>
        </p:grpSpPr>
        <p:sp>
          <p:nvSpPr>
            <p:cNvPr id="11" name="object 12">
              <a:extLst>
                <a:ext uri="{FF2B5EF4-FFF2-40B4-BE49-F238E27FC236}">
                  <a16:creationId xmlns:a16="http://schemas.microsoft.com/office/drawing/2014/main" id="{8521B5D7-86C6-8C23-AF63-8A47E3E58F7B}"/>
                </a:ext>
              </a:extLst>
            </p:cNvPr>
            <p:cNvSpPr/>
            <p:nvPr/>
          </p:nvSpPr>
          <p:spPr>
            <a:xfrm>
              <a:off x="5441593" y="7330478"/>
              <a:ext cx="3060700" cy="1053465"/>
            </a:xfrm>
            <a:custGeom>
              <a:avLst/>
              <a:gdLst/>
              <a:ahLst/>
              <a:cxnLst/>
              <a:rect l="l" t="t" r="r" b="b"/>
              <a:pathLst>
                <a:path w="3060700" h="1053465">
                  <a:moveTo>
                    <a:pt x="0" y="0"/>
                  </a:moveTo>
                  <a:lnTo>
                    <a:pt x="3050608" y="1049873"/>
                  </a:lnTo>
                  <a:lnTo>
                    <a:pt x="3060535" y="1053287"/>
                  </a:lnTo>
                </a:path>
              </a:pathLst>
            </a:custGeom>
            <a:ln w="20941">
              <a:solidFill>
                <a:srgbClr val="222C4A"/>
              </a:solidFill>
            </a:ln>
          </p:spPr>
          <p:txBody>
            <a:bodyPr wrap="square" lIns="0" tIns="0" rIns="0" bIns="0" rtlCol="0"/>
            <a:lstStyle/>
            <a:p>
              <a:endParaRPr/>
            </a:p>
          </p:txBody>
        </p:sp>
        <p:sp>
          <p:nvSpPr>
            <p:cNvPr id="12" name="object 13">
              <a:extLst>
                <a:ext uri="{FF2B5EF4-FFF2-40B4-BE49-F238E27FC236}">
                  <a16:creationId xmlns:a16="http://schemas.microsoft.com/office/drawing/2014/main" id="{AF535CD6-E944-7F30-48D3-0B17D645B923}"/>
                </a:ext>
              </a:extLst>
            </p:cNvPr>
            <p:cNvSpPr/>
            <p:nvPr/>
          </p:nvSpPr>
          <p:spPr>
            <a:xfrm>
              <a:off x="8475867" y="8332845"/>
              <a:ext cx="111760" cy="95250"/>
            </a:xfrm>
            <a:custGeom>
              <a:avLst/>
              <a:gdLst/>
              <a:ahLst/>
              <a:cxnLst/>
              <a:rect l="l" t="t" r="r" b="b"/>
              <a:pathLst>
                <a:path w="111759" h="95250">
                  <a:moveTo>
                    <a:pt x="32711" y="0"/>
                  </a:moveTo>
                  <a:lnTo>
                    <a:pt x="0" y="95044"/>
                  </a:lnTo>
                  <a:lnTo>
                    <a:pt x="111399" y="80227"/>
                  </a:lnTo>
                  <a:lnTo>
                    <a:pt x="32711" y="0"/>
                  </a:lnTo>
                  <a:close/>
                </a:path>
              </a:pathLst>
            </a:custGeom>
            <a:solidFill>
              <a:srgbClr val="222C4A"/>
            </a:solidFill>
          </p:spPr>
          <p:txBody>
            <a:bodyPr wrap="square" lIns="0" tIns="0" rIns="0" bIns="0" rtlCol="0"/>
            <a:lstStyle/>
            <a:p>
              <a:endParaRPr/>
            </a:p>
          </p:txBody>
        </p:sp>
      </p:grpSp>
      <p:sp>
        <p:nvSpPr>
          <p:cNvPr id="14" name="TextBox 13">
            <a:extLst>
              <a:ext uri="{FF2B5EF4-FFF2-40B4-BE49-F238E27FC236}">
                <a16:creationId xmlns:a16="http://schemas.microsoft.com/office/drawing/2014/main" id="{B6EBA415-A48E-4185-0EBE-36B07C2F3935}"/>
              </a:ext>
            </a:extLst>
          </p:cNvPr>
          <p:cNvSpPr txBox="1"/>
          <p:nvPr/>
        </p:nvSpPr>
        <p:spPr>
          <a:xfrm>
            <a:off x="310464" y="1018970"/>
            <a:ext cx="10597016" cy="1569660"/>
          </a:xfrm>
          <a:prstGeom prst="rect">
            <a:avLst/>
          </a:prstGeom>
          <a:noFill/>
        </p:spPr>
        <p:txBody>
          <a:bodyPr wrap="square">
            <a:spAutoFit/>
          </a:bodyPr>
          <a:lstStyle/>
          <a:p>
            <a:r>
              <a:rPr lang="en-US" sz="3200" b="1" dirty="0">
                <a:effectLst/>
              </a:rPr>
              <a:t>Client sends update to each replica chunk server</a:t>
            </a:r>
          </a:p>
          <a:p>
            <a:endParaRPr lang="en-US" sz="3200" b="1" dirty="0">
              <a:effectLst/>
            </a:endParaRPr>
          </a:p>
          <a:p>
            <a:r>
              <a:rPr lang="en-US" sz="3200" b="1" dirty="0">
                <a:effectLst/>
              </a:rPr>
              <a:t>Each chunk server applies the update to its copy</a:t>
            </a:r>
          </a:p>
        </p:txBody>
      </p:sp>
    </p:spTree>
    <p:extLst>
      <p:ext uri="{BB962C8B-B14F-4D97-AF65-F5344CB8AC3E}">
        <p14:creationId xmlns:p14="http://schemas.microsoft.com/office/powerpoint/2010/main" val="4259451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CD385-5663-6D42-87F1-34CA388B1E09}"/>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371E27A2-761D-D1F4-B569-05C8DEBCFADD}"/>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What Can Go Wrong?</a:t>
            </a:r>
          </a:p>
        </p:txBody>
      </p:sp>
      <p:sp>
        <p:nvSpPr>
          <p:cNvPr id="8" name="Slide Number Placeholder 4">
            <a:extLst>
              <a:ext uri="{FF2B5EF4-FFF2-40B4-BE49-F238E27FC236}">
                <a16:creationId xmlns:a16="http://schemas.microsoft.com/office/drawing/2014/main" id="{CF37D178-688B-1417-84B8-437BC13CBB62}"/>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12</a:t>
            </a:fld>
            <a:endParaRPr lang="en-US"/>
          </a:p>
        </p:txBody>
      </p:sp>
      <p:sp>
        <p:nvSpPr>
          <p:cNvPr id="3" name="TextBox 2">
            <a:extLst>
              <a:ext uri="{FF2B5EF4-FFF2-40B4-BE49-F238E27FC236}">
                <a16:creationId xmlns:a16="http://schemas.microsoft.com/office/drawing/2014/main" id="{488DEB8A-A297-EC2C-4155-612C3591F197}"/>
              </a:ext>
            </a:extLst>
          </p:cNvPr>
          <p:cNvSpPr txBox="1"/>
          <p:nvPr/>
        </p:nvSpPr>
        <p:spPr>
          <a:xfrm>
            <a:off x="189185" y="990287"/>
            <a:ext cx="11428192" cy="1877437"/>
          </a:xfrm>
          <a:prstGeom prst="rect">
            <a:avLst/>
          </a:prstGeom>
          <a:noFill/>
        </p:spPr>
        <p:txBody>
          <a:bodyPr wrap="square">
            <a:spAutoFit/>
          </a:bodyPr>
          <a:lstStyle/>
          <a:p>
            <a:r>
              <a:rPr lang="en-US" sz="2800" dirty="0">
                <a:effectLst/>
              </a:rPr>
              <a:t>*</a:t>
            </a:r>
            <a:r>
              <a:rPr lang="en-US" sz="3200" b="1" dirty="0">
                <a:effectLst/>
              </a:rPr>
              <a:t>Two* clients write the same data at the same time</a:t>
            </a:r>
            <a:endParaRPr lang="en-US" sz="2800" b="1" dirty="0">
              <a:effectLst/>
            </a:endParaRPr>
          </a:p>
          <a:p>
            <a:pPr marL="742950" lvl="1" indent="-285750">
              <a:buFont typeface="Arial" panose="020B0604020202020204" pitchFamily="34" charset="0"/>
              <a:buChar char="•"/>
            </a:pPr>
            <a:r>
              <a:rPr lang="en-US" sz="2800" dirty="0">
                <a:effectLst/>
              </a:rPr>
              <a:t>i.e. "concurrent writes"</a:t>
            </a:r>
          </a:p>
          <a:p>
            <a:pPr marL="742950" lvl="1" indent="-285750">
              <a:buFont typeface="Arial" panose="020B0604020202020204" pitchFamily="34" charset="0"/>
              <a:buChar char="•"/>
            </a:pPr>
            <a:r>
              <a:rPr lang="en-US" sz="2800" dirty="0">
                <a:effectLst/>
              </a:rPr>
              <a:t>Chunk servers may see the updates in different orders!</a:t>
            </a:r>
          </a:p>
          <a:p>
            <a:pPr marL="742950" lvl="1" indent="-285750">
              <a:buFont typeface="Arial" panose="020B0604020202020204" pitchFamily="34" charset="0"/>
              <a:buChar char="•"/>
            </a:pPr>
            <a:r>
              <a:rPr lang="en-US" sz="2800" dirty="0">
                <a:effectLst/>
              </a:rPr>
              <a:t>Again, the risk is that, later, two clients may read different content</a:t>
            </a:r>
            <a:endParaRPr lang="en-US" sz="2400" dirty="0">
              <a:effectLst/>
            </a:endParaRPr>
          </a:p>
        </p:txBody>
      </p:sp>
      <p:sp>
        <p:nvSpPr>
          <p:cNvPr id="4" name="object 6">
            <a:extLst>
              <a:ext uri="{FF2B5EF4-FFF2-40B4-BE49-F238E27FC236}">
                <a16:creationId xmlns:a16="http://schemas.microsoft.com/office/drawing/2014/main" id="{B3234D3B-6A3A-C4E5-86E3-56006E2E9CDE}"/>
              </a:ext>
            </a:extLst>
          </p:cNvPr>
          <p:cNvSpPr txBox="1"/>
          <p:nvPr/>
        </p:nvSpPr>
        <p:spPr>
          <a:xfrm>
            <a:off x="2245261" y="3162713"/>
            <a:ext cx="1812925" cy="1073785"/>
          </a:xfrm>
          <a:prstGeom prst="rect">
            <a:avLst/>
          </a:prstGeom>
          <a:ln w="20941">
            <a:solidFill>
              <a:srgbClr val="222C4A"/>
            </a:solidFill>
          </a:ln>
        </p:spPr>
        <p:txBody>
          <a:bodyPr vert="horz" wrap="square" lIns="0" tIns="269875" rIns="0" bIns="0" rtlCol="0">
            <a:spAutoFit/>
          </a:bodyPr>
          <a:lstStyle/>
          <a:p>
            <a:pPr marL="254000">
              <a:lnSpc>
                <a:spcPct val="100000"/>
              </a:lnSpc>
              <a:spcBef>
                <a:spcPts val="2125"/>
              </a:spcBef>
            </a:pPr>
            <a:r>
              <a:rPr sz="3300" spc="-10" dirty="0">
                <a:solidFill>
                  <a:srgbClr val="222C4A"/>
                </a:solidFill>
                <a:latin typeface="Arial"/>
                <a:cs typeface="Arial"/>
              </a:rPr>
              <a:t>Client1</a:t>
            </a:r>
            <a:endParaRPr sz="3300">
              <a:latin typeface="Arial"/>
              <a:cs typeface="Arial"/>
            </a:endParaRPr>
          </a:p>
        </p:txBody>
      </p:sp>
      <p:sp>
        <p:nvSpPr>
          <p:cNvPr id="5" name="object 7">
            <a:extLst>
              <a:ext uri="{FF2B5EF4-FFF2-40B4-BE49-F238E27FC236}">
                <a16:creationId xmlns:a16="http://schemas.microsoft.com/office/drawing/2014/main" id="{9518C9BC-4475-83D6-36A7-B351C8A13471}"/>
              </a:ext>
            </a:extLst>
          </p:cNvPr>
          <p:cNvSpPr txBox="1"/>
          <p:nvPr/>
        </p:nvSpPr>
        <p:spPr>
          <a:xfrm>
            <a:off x="7224659" y="3162713"/>
            <a:ext cx="1812925" cy="1073785"/>
          </a:xfrm>
          <a:prstGeom prst="rect">
            <a:avLst/>
          </a:prstGeom>
          <a:ln w="20941">
            <a:solidFill>
              <a:srgbClr val="222C4A"/>
            </a:solidFill>
          </a:ln>
        </p:spPr>
        <p:txBody>
          <a:bodyPr vert="horz" wrap="square" lIns="0" tIns="269875" rIns="0" bIns="0" rtlCol="0">
            <a:spAutoFit/>
          </a:bodyPr>
          <a:lstStyle/>
          <a:p>
            <a:pPr marL="172720">
              <a:lnSpc>
                <a:spcPct val="100000"/>
              </a:lnSpc>
              <a:spcBef>
                <a:spcPts val="2125"/>
              </a:spcBef>
            </a:pPr>
            <a:r>
              <a:rPr sz="3300" spc="-10" dirty="0">
                <a:solidFill>
                  <a:srgbClr val="222C4A"/>
                </a:solidFill>
                <a:latin typeface="Arial"/>
                <a:cs typeface="Arial"/>
              </a:rPr>
              <a:t>Server1</a:t>
            </a:r>
            <a:endParaRPr sz="3300">
              <a:latin typeface="Arial"/>
              <a:cs typeface="Arial"/>
            </a:endParaRPr>
          </a:p>
        </p:txBody>
      </p:sp>
      <p:sp>
        <p:nvSpPr>
          <p:cNvPr id="6" name="object 8">
            <a:extLst>
              <a:ext uri="{FF2B5EF4-FFF2-40B4-BE49-F238E27FC236}">
                <a16:creationId xmlns:a16="http://schemas.microsoft.com/office/drawing/2014/main" id="{5FDF0198-67A6-5BD0-3ECB-359F2A5F1706}"/>
              </a:ext>
            </a:extLst>
          </p:cNvPr>
          <p:cNvSpPr txBox="1"/>
          <p:nvPr/>
        </p:nvSpPr>
        <p:spPr>
          <a:xfrm>
            <a:off x="7224659" y="4876388"/>
            <a:ext cx="1812925" cy="1073785"/>
          </a:xfrm>
          <a:prstGeom prst="rect">
            <a:avLst/>
          </a:prstGeom>
          <a:ln w="20941">
            <a:solidFill>
              <a:srgbClr val="222C4A"/>
            </a:solidFill>
          </a:ln>
        </p:spPr>
        <p:txBody>
          <a:bodyPr vert="horz" wrap="square" lIns="0" tIns="269875" rIns="0" bIns="0" rtlCol="0">
            <a:spAutoFit/>
          </a:bodyPr>
          <a:lstStyle/>
          <a:p>
            <a:pPr marL="172720">
              <a:lnSpc>
                <a:spcPct val="100000"/>
              </a:lnSpc>
              <a:spcBef>
                <a:spcPts val="2125"/>
              </a:spcBef>
            </a:pPr>
            <a:r>
              <a:rPr sz="3300" spc="-10" dirty="0">
                <a:solidFill>
                  <a:srgbClr val="222C4A"/>
                </a:solidFill>
                <a:latin typeface="Arial"/>
                <a:cs typeface="Arial"/>
              </a:rPr>
              <a:t>Server2</a:t>
            </a:r>
            <a:endParaRPr sz="3300">
              <a:latin typeface="Arial"/>
              <a:cs typeface="Arial"/>
            </a:endParaRPr>
          </a:p>
        </p:txBody>
      </p:sp>
      <p:sp>
        <p:nvSpPr>
          <p:cNvPr id="9" name="object 9">
            <a:extLst>
              <a:ext uri="{FF2B5EF4-FFF2-40B4-BE49-F238E27FC236}">
                <a16:creationId xmlns:a16="http://schemas.microsoft.com/office/drawing/2014/main" id="{FC6E0D0A-6F9D-37CC-DA2D-3EA4E4C4819F}"/>
              </a:ext>
            </a:extLst>
          </p:cNvPr>
          <p:cNvSpPr txBox="1"/>
          <p:nvPr/>
        </p:nvSpPr>
        <p:spPr>
          <a:xfrm>
            <a:off x="2245261" y="4671211"/>
            <a:ext cx="1812925" cy="1073785"/>
          </a:xfrm>
          <a:prstGeom prst="rect">
            <a:avLst/>
          </a:prstGeom>
          <a:ln w="20941">
            <a:solidFill>
              <a:srgbClr val="FF2600"/>
            </a:solidFill>
          </a:ln>
        </p:spPr>
        <p:txBody>
          <a:bodyPr vert="horz" wrap="square" lIns="0" tIns="269875" rIns="0" bIns="0" rtlCol="0">
            <a:spAutoFit/>
          </a:bodyPr>
          <a:lstStyle/>
          <a:p>
            <a:pPr marL="254000">
              <a:lnSpc>
                <a:spcPct val="100000"/>
              </a:lnSpc>
              <a:spcBef>
                <a:spcPts val="2125"/>
              </a:spcBef>
            </a:pPr>
            <a:r>
              <a:rPr sz="3300" spc="-10" dirty="0">
                <a:solidFill>
                  <a:srgbClr val="222C4A"/>
                </a:solidFill>
                <a:latin typeface="Arial"/>
                <a:cs typeface="Arial"/>
              </a:rPr>
              <a:t>Client2</a:t>
            </a:r>
            <a:endParaRPr sz="3300">
              <a:latin typeface="Arial"/>
              <a:cs typeface="Arial"/>
            </a:endParaRPr>
          </a:p>
        </p:txBody>
      </p:sp>
      <p:grpSp>
        <p:nvGrpSpPr>
          <p:cNvPr id="10" name="object 10">
            <a:extLst>
              <a:ext uri="{FF2B5EF4-FFF2-40B4-BE49-F238E27FC236}">
                <a16:creationId xmlns:a16="http://schemas.microsoft.com/office/drawing/2014/main" id="{947E6AB5-DE18-E370-9131-04D55413D310}"/>
              </a:ext>
            </a:extLst>
          </p:cNvPr>
          <p:cNvGrpSpPr/>
          <p:nvPr/>
        </p:nvGrpSpPr>
        <p:grpSpPr>
          <a:xfrm>
            <a:off x="4068504" y="3649085"/>
            <a:ext cx="3145790" cy="100965"/>
            <a:chOff x="5298215" y="7554115"/>
            <a:chExt cx="3145790" cy="100965"/>
          </a:xfrm>
        </p:grpSpPr>
        <p:sp>
          <p:nvSpPr>
            <p:cNvPr id="11" name="object 11">
              <a:extLst>
                <a:ext uri="{FF2B5EF4-FFF2-40B4-BE49-F238E27FC236}">
                  <a16:creationId xmlns:a16="http://schemas.microsoft.com/office/drawing/2014/main" id="{5A3F1DFD-5908-395A-F04E-768411E924A7}"/>
                </a:ext>
              </a:extLst>
            </p:cNvPr>
            <p:cNvSpPr/>
            <p:nvPr/>
          </p:nvSpPr>
          <p:spPr>
            <a:xfrm>
              <a:off x="5298215" y="7604375"/>
              <a:ext cx="3056255" cy="0"/>
            </a:xfrm>
            <a:custGeom>
              <a:avLst/>
              <a:gdLst/>
              <a:ahLst/>
              <a:cxnLst/>
              <a:rect l="l" t="t" r="r" b="b"/>
              <a:pathLst>
                <a:path w="3056254">
                  <a:moveTo>
                    <a:pt x="0" y="0"/>
                  </a:moveTo>
                  <a:lnTo>
                    <a:pt x="3045163" y="0"/>
                  </a:lnTo>
                  <a:lnTo>
                    <a:pt x="3055634" y="0"/>
                  </a:lnTo>
                </a:path>
              </a:pathLst>
            </a:custGeom>
            <a:ln w="20941">
              <a:solidFill>
                <a:srgbClr val="222C4A"/>
              </a:solidFill>
            </a:ln>
          </p:spPr>
          <p:txBody>
            <a:bodyPr wrap="square" lIns="0" tIns="0" rIns="0" bIns="0" rtlCol="0"/>
            <a:lstStyle/>
            <a:p>
              <a:endParaRPr/>
            </a:p>
          </p:txBody>
        </p:sp>
        <p:sp>
          <p:nvSpPr>
            <p:cNvPr id="12" name="object 12">
              <a:extLst>
                <a:ext uri="{FF2B5EF4-FFF2-40B4-BE49-F238E27FC236}">
                  <a16:creationId xmlns:a16="http://schemas.microsoft.com/office/drawing/2014/main" id="{CDA7E3B1-A926-D846-E258-476022F67A06}"/>
                </a:ext>
              </a:extLst>
            </p:cNvPr>
            <p:cNvSpPr/>
            <p:nvPr/>
          </p:nvSpPr>
          <p:spPr>
            <a:xfrm>
              <a:off x="8343379" y="7554115"/>
              <a:ext cx="100965" cy="100965"/>
            </a:xfrm>
            <a:custGeom>
              <a:avLst/>
              <a:gdLst/>
              <a:ahLst/>
              <a:cxnLst/>
              <a:rect l="l" t="t" r="r" b="b"/>
              <a:pathLst>
                <a:path w="100965" h="100965">
                  <a:moveTo>
                    <a:pt x="0" y="0"/>
                  </a:moveTo>
                  <a:lnTo>
                    <a:pt x="0" y="100520"/>
                  </a:lnTo>
                  <a:lnTo>
                    <a:pt x="100520" y="50260"/>
                  </a:lnTo>
                  <a:lnTo>
                    <a:pt x="0" y="0"/>
                  </a:lnTo>
                  <a:close/>
                </a:path>
              </a:pathLst>
            </a:custGeom>
            <a:solidFill>
              <a:srgbClr val="222C4A"/>
            </a:solidFill>
          </p:spPr>
          <p:txBody>
            <a:bodyPr wrap="square" lIns="0" tIns="0" rIns="0" bIns="0" rtlCol="0"/>
            <a:lstStyle/>
            <a:p>
              <a:endParaRPr/>
            </a:p>
          </p:txBody>
        </p:sp>
      </p:grpSp>
      <p:grpSp>
        <p:nvGrpSpPr>
          <p:cNvPr id="13" name="object 13">
            <a:extLst>
              <a:ext uri="{FF2B5EF4-FFF2-40B4-BE49-F238E27FC236}">
                <a16:creationId xmlns:a16="http://schemas.microsoft.com/office/drawing/2014/main" id="{CCCA86B4-DCA6-DD25-ADCD-4C223D6A7014}"/>
              </a:ext>
            </a:extLst>
          </p:cNvPr>
          <p:cNvGrpSpPr/>
          <p:nvPr/>
        </p:nvGrpSpPr>
        <p:grpSpPr>
          <a:xfrm>
            <a:off x="4058033" y="3958154"/>
            <a:ext cx="3156585" cy="1154430"/>
            <a:chOff x="5287744" y="7863184"/>
            <a:chExt cx="3156585" cy="1154430"/>
          </a:xfrm>
        </p:grpSpPr>
        <p:sp>
          <p:nvSpPr>
            <p:cNvPr id="14" name="object 14">
              <a:extLst>
                <a:ext uri="{FF2B5EF4-FFF2-40B4-BE49-F238E27FC236}">
                  <a16:creationId xmlns:a16="http://schemas.microsoft.com/office/drawing/2014/main" id="{B0011792-1358-42A7-CF12-7D5BD57637BB}"/>
                </a:ext>
              </a:extLst>
            </p:cNvPr>
            <p:cNvSpPr/>
            <p:nvPr/>
          </p:nvSpPr>
          <p:spPr>
            <a:xfrm>
              <a:off x="5298215" y="7919905"/>
              <a:ext cx="3060700" cy="1053465"/>
            </a:xfrm>
            <a:custGeom>
              <a:avLst/>
              <a:gdLst/>
              <a:ahLst/>
              <a:cxnLst/>
              <a:rect l="l" t="t" r="r" b="b"/>
              <a:pathLst>
                <a:path w="3060700" h="1053465">
                  <a:moveTo>
                    <a:pt x="0" y="0"/>
                  </a:moveTo>
                  <a:lnTo>
                    <a:pt x="3050608" y="1049873"/>
                  </a:lnTo>
                  <a:lnTo>
                    <a:pt x="3060535" y="1053287"/>
                  </a:lnTo>
                </a:path>
              </a:pathLst>
            </a:custGeom>
            <a:ln w="20941">
              <a:solidFill>
                <a:srgbClr val="222C4A"/>
              </a:solidFill>
            </a:ln>
          </p:spPr>
          <p:txBody>
            <a:bodyPr wrap="square" lIns="0" tIns="0" rIns="0" bIns="0" rtlCol="0"/>
            <a:lstStyle/>
            <a:p>
              <a:endParaRPr/>
            </a:p>
          </p:txBody>
        </p:sp>
        <p:sp>
          <p:nvSpPr>
            <p:cNvPr id="15" name="object 15">
              <a:extLst>
                <a:ext uri="{FF2B5EF4-FFF2-40B4-BE49-F238E27FC236}">
                  <a16:creationId xmlns:a16="http://schemas.microsoft.com/office/drawing/2014/main" id="{ABF840EB-70FF-79C4-C59C-F4920D4804B1}"/>
                </a:ext>
              </a:extLst>
            </p:cNvPr>
            <p:cNvSpPr/>
            <p:nvPr/>
          </p:nvSpPr>
          <p:spPr>
            <a:xfrm>
              <a:off x="8332489" y="8922262"/>
              <a:ext cx="111760" cy="95250"/>
            </a:xfrm>
            <a:custGeom>
              <a:avLst/>
              <a:gdLst/>
              <a:ahLst/>
              <a:cxnLst/>
              <a:rect l="l" t="t" r="r" b="b"/>
              <a:pathLst>
                <a:path w="111759" h="95250">
                  <a:moveTo>
                    <a:pt x="32711" y="0"/>
                  </a:moveTo>
                  <a:lnTo>
                    <a:pt x="0" y="95054"/>
                  </a:lnTo>
                  <a:lnTo>
                    <a:pt x="111410" y="80238"/>
                  </a:lnTo>
                  <a:lnTo>
                    <a:pt x="32711" y="0"/>
                  </a:lnTo>
                  <a:close/>
                </a:path>
              </a:pathLst>
            </a:custGeom>
            <a:solidFill>
              <a:srgbClr val="222C4A"/>
            </a:solidFill>
          </p:spPr>
          <p:txBody>
            <a:bodyPr wrap="square" lIns="0" tIns="0" rIns="0" bIns="0" rtlCol="0"/>
            <a:lstStyle/>
            <a:p>
              <a:endParaRPr/>
            </a:p>
          </p:txBody>
        </p:sp>
        <p:sp>
          <p:nvSpPr>
            <p:cNvPr id="16" name="object 16">
              <a:extLst>
                <a:ext uri="{FF2B5EF4-FFF2-40B4-BE49-F238E27FC236}">
                  <a16:creationId xmlns:a16="http://schemas.microsoft.com/office/drawing/2014/main" id="{5D1941E0-987E-5B1F-DAE3-DE7585769A1E}"/>
                </a:ext>
              </a:extLst>
            </p:cNvPr>
            <p:cNvSpPr/>
            <p:nvPr/>
          </p:nvSpPr>
          <p:spPr>
            <a:xfrm>
              <a:off x="5298215" y="7908245"/>
              <a:ext cx="3060065" cy="927100"/>
            </a:xfrm>
            <a:custGeom>
              <a:avLst/>
              <a:gdLst/>
              <a:ahLst/>
              <a:cxnLst/>
              <a:rect l="l" t="t" r="r" b="b"/>
              <a:pathLst>
                <a:path w="3060065" h="927100">
                  <a:moveTo>
                    <a:pt x="0" y="926874"/>
                  </a:moveTo>
                  <a:lnTo>
                    <a:pt x="3049456" y="3041"/>
                  </a:lnTo>
                  <a:lnTo>
                    <a:pt x="3059498" y="0"/>
                  </a:lnTo>
                </a:path>
              </a:pathLst>
            </a:custGeom>
            <a:ln w="20941">
              <a:solidFill>
                <a:srgbClr val="FF2600"/>
              </a:solidFill>
            </a:ln>
          </p:spPr>
          <p:txBody>
            <a:bodyPr wrap="square" lIns="0" tIns="0" rIns="0" bIns="0" rtlCol="0"/>
            <a:lstStyle/>
            <a:p>
              <a:endParaRPr/>
            </a:p>
          </p:txBody>
        </p:sp>
        <p:sp>
          <p:nvSpPr>
            <p:cNvPr id="17" name="object 17">
              <a:extLst>
                <a:ext uri="{FF2B5EF4-FFF2-40B4-BE49-F238E27FC236}">
                  <a16:creationId xmlns:a16="http://schemas.microsoft.com/office/drawing/2014/main" id="{D51CDABD-7657-5C83-55B5-622BF4A327E9}"/>
                </a:ext>
              </a:extLst>
            </p:cNvPr>
            <p:cNvSpPr/>
            <p:nvPr/>
          </p:nvSpPr>
          <p:spPr>
            <a:xfrm>
              <a:off x="8333117" y="7863184"/>
              <a:ext cx="111125" cy="96520"/>
            </a:xfrm>
            <a:custGeom>
              <a:avLst/>
              <a:gdLst/>
              <a:ahLst/>
              <a:cxnLst/>
              <a:rect l="l" t="t" r="r" b="b"/>
              <a:pathLst>
                <a:path w="111125" h="96520">
                  <a:moveTo>
                    <a:pt x="0" y="0"/>
                  </a:moveTo>
                  <a:lnTo>
                    <a:pt x="29150" y="96196"/>
                  </a:lnTo>
                  <a:lnTo>
                    <a:pt x="110781" y="18952"/>
                  </a:lnTo>
                  <a:lnTo>
                    <a:pt x="0" y="0"/>
                  </a:lnTo>
                  <a:close/>
                </a:path>
              </a:pathLst>
            </a:custGeom>
            <a:solidFill>
              <a:srgbClr val="FF2600"/>
            </a:solidFill>
          </p:spPr>
          <p:txBody>
            <a:bodyPr wrap="square" lIns="0" tIns="0" rIns="0" bIns="0" rtlCol="0"/>
            <a:lstStyle/>
            <a:p>
              <a:endParaRPr/>
            </a:p>
          </p:txBody>
        </p:sp>
      </p:grpSp>
      <p:grpSp>
        <p:nvGrpSpPr>
          <p:cNvPr id="18" name="object 18">
            <a:extLst>
              <a:ext uri="{FF2B5EF4-FFF2-40B4-BE49-F238E27FC236}">
                <a16:creationId xmlns:a16="http://schemas.microsoft.com/office/drawing/2014/main" id="{937FEEF0-0C40-1D07-FCCD-E31D0B094A9C}"/>
              </a:ext>
            </a:extLst>
          </p:cNvPr>
          <p:cNvGrpSpPr/>
          <p:nvPr/>
        </p:nvGrpSpPr>
        <p:grpSpPr>
          <a:xfrm>
            <a:off x="4058033" y="5235152"/>
            <a:ext cx="3156585" cy="186690"/>
            <a:chOff x="5287744" y="9140182"/>
            <a:chExt cx="3156585" cy="186690"/>
          </a:xfrm>
        </p:grpSpPr>
        <p:sp>
          <p:nvSpPr>
            <p:cNvPr id="19" name="object 19">
              <a:extLst>
                <a:ext uri="{FF2B5EF4-FFF2-40B4-BE49-F238E27FC236}">
                  <a16:creationId xmlns:a16="http://schemas.microsoft.com/office/drawing/2014/main" id="{8BF0F17A-2A6F-C441-016E-8249AF6EE102}"/>
                </a:ext>
              </a:extLst>
            </p:cNvPr>
            <p:cNvSpPr/>
            <p:nvPr/>
          </p:nvSpPr>
          <p:spPr>
            <a:xfrm>
              <a:off x="5298215" y="9150653"/>
              <a:ext cx="3056255" cy="126364"/>
            </a:xfrm>
            <a:custGeom>
              <a:avLst/>
              <a:gdLst/>
              <a:ahLst/>
              <a:cxnLst/>
              <a:rect l="l" t="t" r="r" b="b"/>
              <a:pathLst>
                <a:path w="3056254" h="126365">
                  <a:moveTo>
                    <a:pt x="0" y="0"/>
                  </a:moveTo>
                  <a:lnTo>
                    <a:pt x="3045247" y="125474"/>
                  </a:lnTo>
                  <a:lnTo>
                    <a:pt x="3055708" y="125905"/>
                  </a:lnTo>
                </a:path>
              </a:pathLst>
            </a:custGeom>
            <a:ln w="20941">
              <a:solidFill>
                <a:srgbClr val="FF2600"/>
              </a:solidFill>
            </a:ln>
          </p:spPr>
          <p:txBody>
            <a:bodyPr wrap="square" lIns="0" tIns="0" rIns="0" bIns="0" rtlCol="0"/>
            <a:lstStyle/>
            <a:p>
              <a:endParaRPr/>
            </a:p>
          </p:txBody>
        </p:sp>
        <p:sp>
          <p:nvSpPr>
            <p:cNvPr id="20" name="object 20">
              <a:extLst>
                <a:ext uri="{FF2B5EF4-FFF2-40B4-BE49-F238E27FC236}">
                  <a16:creationId xmlns:a16="http://schemas.microsoft.com/office/drawing/2014/main" id="{7D7AC56E-BB1E-92BE-9671-BB9858F31032}"/>
                </a:ext>
              </a:extLst>
            </p:cNvPr>
            <p:cNvSpPr/>
            <p:nvPr/>
          </p:nvSpPr>
          <p:spPr>
            <a:xfrm>
              <a:off x="8341389" y="9225907"/>
              <a:ext cx="102870" cy="100965"/>
            </a:xfrm>
            <a:custGeom>
              <a:avLst/>
              <a:gdLst/>
              <a:ahLst/>
              <a:cxnLst/>
              <a:rect l="l" t="t" r="r" b="b"/>
              <a:pathLst>
                <a:path w="102870" h="100965">
                  <a:moveTo>
                    <a:pt x="4135" y="0"/>
                  </a:moveTo>
                  <a:lnTo>
                    <a:pt x="0" y="100436"/>
                  </a:lnTo>
                  <a:lnTo>
                    <a:pt x="102509" y="54364"/>
                  </a:lnTo>
                  <a:lnTo>
                    <a:pt x="4135" y="0"/>
                  </a:lnTo>
                  <a:close/>
                </a:path>
              </a:pathLst>
            </a:custGeom>
            <a:solidFill>
              <a:srgbClr val="FF2600"/>
            </a:solidFill>
          </p:spPr>
          <p:txBody>
            <a:bodyPr wrap="square" lIns="0" tIns="0" rIns="0" bIns="0" rtlCol="0"/>
            <a:lstStyle/>
            <a:p>
              <a:endParaRPr/>
            </a:p>
          </p:txBody>
        </p:sp>
      </p:grpSp>
    </p:spTree>
    <p:extLst>
      <p:ext uri="{BB962C8B-B14F-4D97-AF65-F5344CB8AC3E}">
        <p14:creationId xmlns:p14="http://schemas.microsoft.com/office/powerpoint/2010/main" val="1255778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dissolve">
                                      <p:cBhvr>
                                        <p:cTn id="13" dur="500"/>
                                        <p:tgtEl>
                                          <p:spTgt spid="6"/>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dissolve">
                                      <p:cBhvr>
                                        <p:cTn id="16" dur="500"/>
                                        <p:tgtEl>
                                          <p:spTgt spid="9"/>
                                        </p:tgtEl>
                                      </p:cBhvr>
                                    </p:animEffect>
                                  </p:childTnLst>
                                </p:cTn>
                              </p:par>
                              <p:par>
                                <p:cTn id="17" presetID="9"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dissolve">
                                      <p:cBhvr>
                                        <p:cTn id="19" dur="500"/>
                                        <p:tgtEl>
                                          <p:spTgt spid="10"/>
                                        </p:tgtEl>
                                      </p:cBhvr>
                                    </p:animEffect>
                                  </p:childTnLst>
                                </p:cTn>
                              </p:par>
                              <p:par>
                                <p:cTn id="20" presetID="9"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dissolve">
                                      <p:cBhvr>
                                        <p:cTn id="22" dur="500"/>
                                        <p:tgtEl>
                                          <p:spTgt spid="13"/>
                                        </p:tgtEl>
                                      </p:cBhvr>
                                    </p:animEffect>
                                  </p:childTnLst>
                                </p:cTn>
                              </p:par>
                              <p:par>
                                <p:cTn id="23" presetID="9"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dissolve">
                                      <p:cBhvr>
                                        <p:cTn id="25" dur="500"/>
                                        <p:tgtEl>
                                          <p:spTgt spid="18"/>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dissolve">
                                      <p:cBhvr>
                                        <p:cTn id="2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animBg="1"/>
      <p:bldP spid="6" grpId="0" animBg="1"/>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0107" y="2017201"/>
            <a:ext cx="6096727" cy="694447"/>
          </a:xfrm>
          <a:prstGeom prst="rect">
            <a:avLst/>
          </a:prstGeom>
        </p:spPr>
        <p:txBody>
          <a:bodyPr vert="horz" wrap="square" lIns="0" tIns="8471" rIns="0" bIns="0" rtlCol="0" anchor="ctr">
            <a:spAutoFit/>
          </a:bodyPr>
          <a:lstStyle/>
          <a:p>
            <a:pPr marL="7701">
              <a:lnSpc>
                <a:spcPct val="100000"/>
              </a:lnSpc>
              <a:spcBef>
                <a:spcPts val="67"/>
              </a:spcBef>
            </a:pPr>
            <a:r>
              <a:rPr sz="4000" dirty="0">
                <a:solidFill>
                  <a:srgbClr val="941751"/>
                </a:solidFill>
                <a:latin typeface="Arial"/>
                <a:cs typeface="Arial"/>
              </a:rPr>
              <a:t>The</a:t>
            </a:r>
            <a:r>
              <a:rPr sz="4000" spc="-15" dirty="0">
                <a:solidFill>
                  <a:srgbClr val="941751"/>
                </a:solidFill>
                <a:latin typeface="Arial"/>
                <a:cs typeface="Arial"/>
              </a:rPr>
              <a:t> </a:t>
            </a:r>
            <a:r>
              <a:rPr sz="4000" dirty="0">
                <a:solidFill>
                  <a:srgbClr val="941751"/>
                </a:solidFill>
                <a:latin typeface="Arial"/>
                <a:cs typeface="Arial"/>
              </a:rPr>
              <a:t>Google</a:t>
            </a:r>
            <a:r>
              <a:rPr sz="4000" spc="-12" dirty="0">
                <a:solidFill>
                  <a:srgbClr val="941751"/>
                </a:solidFill>
                <a:latin typeface="Arial"/>
                <a:cs typeface="Arial"/>
              </a:rPr>
              <a:t> </a:t>
            </a:r>
            <a:r>
              <a:rPr sz="4000" dirty="0">
                <a:solidFill>
                  <a:srgbClr val="941751"/>
                </a:solidFill>
                <a:latin typeface="Arial"/>
                <a:cs typeface="Arial"/>
              </a:rPr>
              <a:t>File</a:t>
            </a:r>
            <a:r>
              <a:rPr sz="4000" spc="-12" dirty="0">
                <a:solidFill>
                  <a:srgbClr val="941751"/>
                </a:solidFill>
                <a:latin typeface="Arial"/>
                <a:cs typeface="Arial"/>
              </a:rPr>
              <a:t> </a:t>
            </a:r>
            <a:r>
              <a:rPr sz="4000" spc="-6" dirty="0">
                <a:solidFill>
                  <a:srgbClr val="941751"/>
                </a:solidFill>
                <a:latin typeface="Arial"/>
                <a:cs typeface="Arial"/>
              </a:rPr>
              <a:t>System</a:t>
            </a:r>
            <a:endParaRPr sz="4000" dirty="0">
              <a:latin typeface="Arial"/>
              <a:cs typeface="Arial"/>
            </a:endParaRPr>
          </a:p>
        </p:txBody>
      </p:sp>
      <p:sp>
        <p:nvSpPr>
          <p:cNvPr id="4" name="object 4"/>
          <p:cNvSpPr txBox="1"/>
          <p:nvPr/>
        </p:nvSpPr>
        <p:spPr>
          <a:xfrm>
            <a:off x="1222644" y="3429000"/>
            <a:ext cx="9303573" cy="437886"/>
          </a:xfrm>
          <a:prstGeom prst="rect">
            <a:avLst/>
          </a:prstGeom>
        </p:spPr>
        <p:txBody>
          <a:bodyPr vert="horz" wrap="square" lIns="0" tIns="6931" rIns="0" bIns="0" rtlCol="0">
            <a:spAutoFit/>
          </a:bodyPr>
          <a:lstStyle/>
          <a:p>
            <a:pPr marL="7701">
              <a:spcBef>
                <a:spcPts val="55"/>
              </a:spcBef>
            </a:pPr>
            <a:r>
              <a:rPr sz="2800" dirty="0">
                <a:solidFill>
                  <a:srgbClr val="222C4A"/>
                </a:solidFill>
                <a:latin typeface="Arial"/>
                <a:cs typeface="Arial"/>
              </a:rPr>
              <a:t>Sanjay</a:t>
            </a:r>
            <a:r>
              <a:rPr sz="2800" spc="-55" dirty="0">
                <a:solidFill>
                  <a:srgbClr val="222C4A"/>
                </a:solidFill>
                <a:latin typeface="Arial"/>
                <a:cs typeface="Arial"/>
              </a:rPr>
              <a:t> </a:t>
            </a:r>
            <a:r>
              <a:rPr sz="2800" dirty="0">
                <a:solidFill>
                  <a:srgbClr val="222C4A"/>
                </a:solidFill>
                <a:latin typeface="Arial"/>
                <a:cs typeface="Arial"/>
              </a:rPr>
              <a:t>Ghemawat,</a:t>
            </a:r>
            <a:r>
              <a:rPr sz="2800" spc="-55" dirty="0">
                <a:solidFill>
                  <a:srgbClr val="222C4A"/>
                </a:solidFill>
                <a:latin typeface="Arial"/>
                <a:cs typeface="Arial"/>
              </a:rPr>
              <a:t> </a:t>
            </a:r>
            <a:r>
              <a:rPr sz="2800" dirty="0">
                <a:solidFill>
                  <a:srgbClr val="222C4A"/>
                </a:solidFill>
                <a:latin typeface="Arial"/>
                <a:cs typeface="Arial"/>
              </a:rPr>
              <a:t>Howard</a:t>
            </a:r>
            <a:r>
              <a:rPr sz="2800" spc="-52" dirty="0">
                <a:solidFill>
                  <a:srgbClr val="222C4A"/>
                </a:solidFill>
                <a:latin typeface="Arial"/>
                <a:cs typeface="Arial"/>
              </a:rPr>
              <a:t> </a:t>
            </a:r>
            <a:r>
              <a:rPr sz="2800" dirty="0">
                <a:solidFill>
                  <a:srgbClr val="222C4A"/>
                </a:solidFill>
                <a:latin typeface="Arial"/>
                <a:cs typeface="Arial"/>
              </a:rPr>
              <a:t>Gobioff,</a:t>
            </a:r>
            <a:r>
              <a:rPr sz="2800" spc="-55" dirty="0">
                <a:solidFill>
                  <a:srgbClr val="222C4A"/>
                </a:solidFill>
                <a:latin typeface="Arial"/>
                <a:cs typeface="Arial"/>
              </a:rPr>
              <a:t> </a:t>
            </a:r>
            <a:r>
              <a:rPr sz="2800" dirty="0">
                <a:solidFill>
                  <a:srgbClr val="222C4A"/>
                </a:solidFill>
                <a:latin typeface="Arial"/>
                <a:cs typeface="Arial"/>
              </a:rPr>
              <a:t>and</a:t>
            </a:r>
            <a:r>
              <a:rPr sz="2800" spc="-55" dirty="0">
                <a:solidFill>
                  <a:srgbClr val="222C4A"/>
                </a:solidFill>
                <a:latin typeface="Arial"/>
                <a:cs typeface="Arial"/>
              </a:rPr>
              <a:t> </a:t>
            </a:r>
            <a:r>
              <a:rPr sz="2800" spc="-6" dirty="0">
                <a:solidFill>
                  <a:srgbClr val="222C4A"/>
                </a:solidFill>
                <a:latin typeface="Arial"/>
                <a:cs typeface="Arial"/>
              </a:rPr>
              <a:t>Shun-</a:t>
            </a:r>
            <a:r>
              <a:rPr sz="2800" spc="-73" dirty="0">
                <a:solidFill>
                  <a:srgbClr val="222C4A"/>
                </a:solidFill>
                <a:latin typeface="Arial"/>
                <a:cs typeface="Arial"/>
              </a:rPr>
              <a:t>Tak</a:t>
            </a:r>
            <a:r>
              <a:rPr sz="2800" spc="-52" dirty="0">
                <a:solidFill>
                  <a:srgbClr val="222C4A"/>
                </a:solidFill>
                <a:latin typeface="Arial"/>
                <a:cs typeface="Arial"/>
              </a:rPr>
              <a:t> </a:t>
            </a:r>
            <a:r>
              <a:rPr sz="2800" spc="-6" dirty="0">
                <a:solidFill>
                  <a:srgbClr val="222C4A"/>
                </a:solidFill>
                <a:latin typeface="Arial"/>
                <a:cs typeface="Arial"/>
              </a:rPr>
              <a:t>Leung</a:t>
            </a:r>
            <a:endParaRPr sz="2800" dirty="0">
              <a:latin typeface="Arial"/>
              <a:cs typeface="Arial"/>
            </a:endParaRPr>
          </a:p>
        </p:txBody>
      </p:sp>
      <p:sp>
        <p:nvSpPr>
          <p:cNvPr id="5" name="object 5"/>
          <p:cNvSpPr txBox="1"/>
          <p:nvPr/>
        </p:nvSpPr>
        <p:spPr>
          <a:xfrm>
            <a:off x="4814821" y="4627083"/>
            <a:ext cx="2702314" cy="440219"/>
          </a:xfrm>
          <a:prstGeom prst="rect">
            <a:avLst/>
          </a:prstGeom>
        </p:spPr>
        <p:txBody>
          <a:bodyPr vert="horz" wrap="square" lIns="0" tIns="9242" rIns="0" bIns="0" rtlCol="0">
            <a:spAutoFit/>
          </a:bodyPr>
          <a:lstStyle/>
          <a:p>
            <a:pPr marL="7701">
              <a:spcBef>
                <a:spcPts val="73"/>
              </a:spcBef>
            </a:pPr>
            <a:r>
              <a:rPr sz="2800" dirty="0">
                <a:solidFill>
                  <a:srgbClr val="941751"/>
                </a:solidFill>
                <a:latin typeface="Arial"/>
                <a:cs typeface="Arial"/>
              </a:rPr>
              <a:t>SOSP</a:t>
            </a:r>
            <a:r>
              <a:rPr sz="2800" spc="-45" dirty="0">
                <a:solidFill>
                  <a:srgbClr val="941751"/>
                </a:solidFill>
                <a:latin typeface="Arial"/>
                <a:cs typeface="Arial"/>
              </a:rPr>
              <a:t> </a:t>
            </a:r>
            <a:r>
              <a:rPr sz="2800" spc="-12" dirty="0">
                <a:solidFill>
                  <a:srgbClr val="941751"/>
                </a:solidFill>
                <a:latin typeface="Arial"/>
                <a:cs typeface="Arial"/>
              </a:rPr>
              <a:t>2003</a:t>
            </a:r>
            <a:endParaRPr sz="2800">
              <a:latin typeface="Arial"/>
              <a:cs typeface="Arial"/>
            </a:endParaRPr>
          </a:p>
        </p:txBody>
      </p:sp>
      <p:sp>
        <p:nvSpPr>
          <p:cNvPr id="6" name="Slide Number Placeholder 4"/>
          <p:cNvSpPr>
            <a:spLocks noGrp="1"/>
          </p:cNvSpPr>
          <p:nvPr>
            <p:ph type="sldNum" sz="quarter" idx="12"/>
          </p:nvPr>
        </p:nvSpPr>
        <p:spPr>
          <a:xfrm>
            <a:off x="8610600" y="6356350"/>
            <a:ext cx="2743200" cy="365125"/>
          </a:xfrm>
        </p:spPr>
        <p:txBody>
          <a:bodyPr/>
          <a:lstStyle/>
          <a:p>
            <a:fld id="{212DA15D-5F50-8B40-811F-34F736B90848}"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9A07A-2EDA-8EFB-00F9-D93771A1B6F5}"/>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C2B3064C-8B6B-E196-1653-06F81B857F2E}"/>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Why Are We Reading This Paper?</a:t>
            </a:r>
          </a:p>
        </p:txBody>
      </p:sp>
      <p:sp>
        <p:nvSpPr>
          <p:cNvPr id="8" name="Slide Number Placeholder 4">
            <a:extLst>
              <a:ext uri="{FF2B5EF4-FFF2-40B4-BE49-F238E27FC236}">
                <a16:creationId xmlns:a16="http://schemas.microsoft.com/office/drawing/2014/main" id="{00D8FC74-4EE3-F460-3634-E33DE8F86DB4}"/>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14</a:t>
            </a:fld>
            <a:endParaRPr lang="en-US"/>
          </a:p>
        </p:txBody>
      </p:sp>
      <p:sp>
        <p:nvSpPr>
          <p:cNvPr id="3" name="TextBox 2">
            <a:extLst>
              <a:ext uri="{FF2B5EF4-FFF2-40B4-BE49-F238E27FC236}">
                <a16:creationId xmlns:a16="http://schemas.microsoft.com/office/drawing/2014/main" id="{F3F35374-1F6C-3F9F-BFD6-74685579D930}"/>
              </a:ext>
            </a:extLst>
          </p:cNvPr>
          <p:cNvSpPr txBox="1"/>
          <p:nvPr/>
        </p:nvSpPr>
        <p:spPr>
          <a:xfrm>
            <a:off x="164414" y="1042197"/>
            <a:ext cx="10781882" cy="4647426"/>
          </a:xfrm>
          <a:prstGeom prst="rect">
            <a:avLst/>
          </a:prstGeom>
          <a:noFill/>
        </p:spPr>
        <p:txBody>
          <a:bodyPr wrap="square">
            <a:spAutoFit/>
          </a:bodyPr>
          <a:lstStyle/>
          <a:p>
            <a:r>
              <a:rPr lang="en-US" sz="3200" b="1" dirty="0"/>
              <a:t>Distributed storage is a key abstraction</a:t>
            </a:r>
          </a:p>
          <a:p>
            <a:endParaRPr lang="en-US" sz="2800" dirty="0">
              <a:effectLst/>
            </a:endParaRPr>
          </a:p>
          <a:p>
            <a:r>
              <a:rPr lang="en-US" sz="3200" b="1" dirty="0">
                <a:effectLst/>
              </a:rPr>
              <a:t>GFS paper touches on many themes of this course</a:t>
            </a:r>
          </a:p>
          <a:p>
            <a:pPr marL="742950" lvl="1" indent="-285750">
              <a:buFont typeface="Arial" panose="020B0604020202020204" pitchFamily="34" charset="0"/>
              <a:buChar char="•"/>
            </a:pPr>
            <a:r>
              <a:rPr lang="en-US" sz="2800" dirty="0">
                <a:effectLst/>
              </a:rPr>
              <a:t>parallel performance, fault tolerance, replication,</a:t>
            </a:r>
          </a:p>
          <a:p>
            <a:endParaRPr lang="en-US" sz="2800" dirty="0"/>
          </a:p>
          <a:p>
            <a:r>
              <a:rPr lang="en-US" sz="2800" b="1" dirty="0">
                <a:effectLst/>
              </a:rPr>
              <a:t> </a:t>
            </a:r>
            <a:r>
              <a:rPr lang="en-US" sz="3200" b="1" dirty="0"/>
              <a:t>C</a:t>
            </a:r>
            <a:r>
              <a:rPr lang="en-US" sz="3200" b="1" dirty="0">
                <a:effectLst/>
              </a:rPr>
              <a:t>onsistency</a:t>
            </a:r>
          </a:p>
          <a:p>
            <a:pPr marL="742950" lvl="1" indent="-285750">
              <a:buFont typeface="Arial" panose="020B0604020202020204" pitchFamily="34" charset="0"/>
              <a:buChar char="•"/>
            </a:pPr>
            <a:r>
              <a:rPr lang="en-US" sz="2800" dirty="0">
                <a:effectLst/>
              </a:rPr>
              <a:t>good systems paper -- details from apps all the way to network</a:t>
            </a:r>
          </a:p>
          <a:p>
            <a:endParaRPr lang="en-US" sz="2800" dirty="0">
              <a:effectLst/>
            </a:endParaRPr>
          </a:p>
          <a:p>
            <a:r>
              <a:rPr lang="en-US" sz="3200" b="1" dirty="0">
                <a:effectLst/>
              </a:rPr>
              <a:t>successful real-world design</a:t>
            </a:r>
          </a:p>
          <a:p>
            <a:endParaRPr lang="en-US" sz="2800" dirty="0">
              <a:effectLst/>
            </a:endParaRPr>
          </a:p>
        </p:txBody>
      </p:sp>
    </p:spTree>
    <p:extLst>
      <p:ext uri="{BB962C8B-B14F-4D97-AF65-F5344CB8AC3E}">
        <p14:creationId xmlns:p14="http://schemas.microsoft.com/office/powerpoint/2010/main" val="36778841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B2795-2ED1-CB1C-9E9D-0F4FBA6CFC29}"/>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97CB10F8-2D3F-E529-89A3-BA800038C9CA}"/>
              </a:ext>
            </a:extLst>
          </p:cNvPr>
          <p:cNvSpPr>
            <a:spLocks noGrp="1"/>
          </p:cNvSpPr>
          <p:nvPr>
            <p:ph type="title"/>
          </p:nvPr>
        </p:nvSpPr>
        <p:spPr>
          <a:xfrm>
            <a:off x="0" y="1"/>
            <a:ext cx="12161520" cy="914400"/>
          </a:xfrm>
        </p:spPr>
        <p:txBody>
          <a:bodyPr>
            <a:normAutofit/>
          </a:bodyPr>
          <a:lstStyle/>
          <a:p>
            <a:pPr algn="ctr"/>
            <a:r>
              <a:rPr lang="en-US" b="1" dirty="0">
                <a:latin typeface="Helvetica" panose="020B0604020202020204" pitchFamily="34" charset="0"/>
                <a:cs typeface="Helvetica" panose="020B0604020202020204" pitchFamily="34" charset="0"/>
              </a:rPr>
              <a:t>Goal of GFS</a:t>
            </a:r>
          </a:p>
        </p:txBody>
      </p:sp>
      <p:sp>
        <p:nvSpPr>
          <p:cNvPr id="8" name="Slide Number Placeholder 4">
            <a:extLst>
              <a:ext uri="{FF2B5EF4-FFF2-40B4-BE49-F238E27FC236}">
                <a16:creationId xmlns:a16="http://schemas.microsoft.com/office/drawing/2014/main" id="{08377030-C673-A142-E76F-2D91B9C0EE3E}"/>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15</a:t>
            </a:fld>
            <a:endParaRPr lang="en-US"/>
          </a:p>
        </p:txBody>
      </p:sp>
      <p:sp>
        <p:nvSpPr>
          <p:cNvPr id="3" name="TextBox 2">
            <a:extLst>
              <a:ext uri="{FF2B5EF4-FFF2-40B4-BE49-F238E27FC236}">
                <a16:creationId xmlns:a16="http://schemas.microsoft.com/office/drawing/2014/main" id="{3D1B77D7-22C6-06C6-5FC2-A363F2106C8A}"/>
              </a:ext>
            </a:extLst>
          </p:cNvPr>
          <p:cNvSpPr txBox="1"/>
          <p:nvPr/>
        </p:nvSpPr>
        <p:spPr>
          <a:xfrm>
            <a:off x="182261" y="963347"/>
            <a:ext cx="11717295" cy="4585871"/>
          </a:xfrm>
          <a:prstGeom prst="rect">
            <a:avLst/>
          </a:prstGeom>
          <a:noFill/>
        </p:spPr>
        <p:txBody>
          <a:bodyPr wrap="square">
            <a:spAutoFit/>
          </a:bodyPr>
          <a:lstStyle/>
          <a:p>
            <a:r>
              <a:rPr lang="en-US" sz="3200" b="1" dirty="0"/>
              <a:t>Many Google services needed a </a:t>
            </a:r>
            <a:r>
              <a:rPr lang="en-US" sz="3200" b="1" dirty="0">
                <a:solidFill>
                  <a:srgbClr val="C00000"/>
                </a:solidFill>
              </a:rPr>
              <a:t>big fast </a:t>
            </a:r>
            <a:r>
              <a:rPr lang="en-US" sz="3200" b="1" dirty="0"/>
              <a:t>unified storage system </a:t>
            </a:r>
          </a:p>
          <a:p>
            <a:pPr marL="808038" lvl="1" indent="-350838">
              <a:buFont typeface="Arial" panose="020B0604020202020204" pitchFamily="34" charset="0"/>
              <a:buChar char="•"/>
            </a:pPr>
            <a:r>
              <a:rPr lang="en-US" sz="2800" dirty="0"/>
              <a:t> </a:t>
            </a:r>
            <a:r>
              <a:rPr lang="en-US" sz="2800" dirty="0" err="1"/>
              <a:t>Mapreduce</a:t>
            </a:r>
            <a:r>
              <a:rPr lang="en-US" sz="2800" dirty="0"/>
              <a:t>, </a:t>
            </a:r>
            <a:r>
              <a:rPr lang="en-US" sz="2800" dirty="0" err="1"/>
              <a:t>Youtube</a:t>
            </a:r>
            <a:r>
              <a:rPr lang="en-US" sz="2800" dirty="0"/>
              <a:t> </a:t>
            </a:r>
          </a:p>
          <a:p>
            <a:endParaRPr lang="en-US" sz="2800" dirty="0"/>
          </a:p>
          <a:p>
            <a:r>
              <a:rPr lang="en-US" sz="3200" b="1" dirty="0"/>
              <a:t>Global (over a single data center)</a:t>
            </a:r>
          </a:p>
          <a:p>
            <a:pPr marL="808038" lvl="1" indent="-350838">
              <a:buFont typeface="Arial" panose="020B0604020202020204" pitchFamily="34" charset="0"/>
              <a:buChar char="•"/>
            </a:pPr>
            <a:r>
              <a:rPr lang="en-US" sz="2800" dirty="0"/>
              <a:t>Allows sharing of data among applications </a:t>
            </a:r>
          </a:p>
          <a:p>
            <a:endParaRPr lang="en-US" sz="2800" dirty="0"/>
          </a:p>
          <a:p>
            <a:r>
              <a:rPr lang="en-US" sz="3200" b="1" dirty="0"/>
              <a:t>Automatic</a:t>
            </a:r>
            <a:r>
              <a:rPr lang="en-US" sz="2800" dirty="0"/>
              <a:t> </a:t>
            </a:r>
          </a:p>
          <a:p>
            <a:pPr marL="800100" lvl="1" indent="-342900">
              <a:buFont typeface="Arial" panose="020B0604020202020204" pitchFamily="34" charset="0"/>
              <a:buChar char="•"/>
            </a:pPr>
            <a:r>
              <a:rPr lang="en-US" sz="2800" dirty="0"/>
              <a:t>For parallel performance </a:t>
            </a:r>
          </a:p>
          <a:p>
            <a:pPr marL="803275" lvl="1" indent="-346075">
              <a:buFont typeface="Arial" panose="020B0604020202020204" pitchFamily="34" charset="0"/>
              <a:buChar char="•"/>
            </a:pPr>
            <a:r>
              <a:rPr lang="en-US" sz="2800" dirty="0"/>
              <a:t>To increase space available</a:t>
            </a:r>
          </a:p>
          <a:p>
            <a:pPr marL="803275" lvl="1" indent="-346075">
              <a:buFont typeface="Arial" panose="020B0604020202020204" pitchFamily="34" charset="0"/>
              <a:buChar char="•"/>
            </a:pPr>
            <a:r>
              <a:rPr lang="en-US" sz="2800" dirty="0"/>
              <a:t>recovery from failures </a:t>
            </a:r>
          </a:p>
        </p:txBody>
      </p:sp>
    </p:spTree>
    <p:extLst>
      <p:ext uri="{BB962C8B-B14F-4D97-AF65-F5344CB8AC3E}">
        <p14:creationId xmlns:p14="http://schemas.microsoft.com/office/powerpoint/2010/main" val="18962352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729AB-5EBB-FD20-43DD-D6E0374E683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2ED557C7-2CDD-8C0B-07A1-1DABA8EF652A}"/>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Demo 1: HDFS</a:t>
            </a:r>
          </a:p>
        </p:txBody>
      </p:sp>
      <p:sp>
        <p:nvSpPr>
          <p:cNvPr id="8" name="Slide Number Placeholder 4">
            <a:extLst>
              <a:ext uri="{FF2B5EF4-FFF2-40B4-BE49-F238E27FC236}">
                <a16:creationId xmlns:a16="http://schemas.microsoft.com/office/drawing/2014/main" id="{25E098EE-1299-32C0-2821-1DB599BAC8E9}"/>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16</a:t>
            </a:fld>
            <a:endParaRPr lang="en-US"/>
          </a:p>
        </p:txBody>
      </p:sp>
      <p:sp>
        <p:nvSpPr>
          <p:cNvPr id="3" name="TextBox 2">
            <a:extLst>
              <a:ext uri="{FF2B5EF4-FFF2-40B4-BE49-F238E27FC236}">
                <a16:creationId xmlns:a16="http://schemas.microsoft.com/office/drawing/2014/main" id="{857EC8A2-DB9F-8BB1-7445-FE716E76BAC5}"/>
              </a:ext>
            </a:extLst>
          </p:cNvPr>
          <p:cNvSpPr txBox="1"/>
          <p:nvPr/>
        </p:nvSpPr>
        <p:spPr>
          <a:xfrm>
            <a:off x="88134" y="914401"/>
            <a:ext cx="11872217" cy="4585871"/>
          </a:xfrm>
          <a:prstGeom prst="rect">
            <a:avLst/>
          </a:prstGeom>
          <a:noFill/>
        </p:spPr>
        <p:txBody>
          <a:bodyPr wrap="square" rtlCol="0">
            <a:spAutoFit/>
          </a:bodyPr>
          <a:lstStyle/>
          <a:p>
            <a:r>
              <a:rPr lang="en-US" sz="3200" b="1" dirty="0"/>
              <a:t>HDFS is the open-source clone of GFS</a:t>
            </a:r>
          </a:p>
          <a:p>
            <a:pPr marL="914400" indent="-457200">
              <a:buFont typeface="Arial" panose="020B0604020202020204" pitchFamily="34" charset="0"/>
              <a:buChar char="•"/>
            </a:pPr>
            <a:r>
              <a:rPr lang="en-US" sz="2800" b="0" dirty="0"/>
              <a:t>One NameNode: the master, names and metadata only</a:t>
            </a:r>
          </a:p>
          <a:p>
            <a:pPr marL="914400" indent="-457200">
              <a:buFont typeface="Arial" panose="020B0604020202020204" pitchFamily="34" charset="0"/>
              <a:buChar char="•"/>
            </a:pPr>
            <a:r>
              <a:rPr lang="en-US" sz="2800" b="0" dirty="0"/>
              <a:t>Three DataNodes: the chunkservers, data only</a:t>
            </a:r>
          </a:p>
          <a:p>
            <a:pPr marL="914400" indent="-457200">
              <a:buFont typeface="Arial" panose="020B0604020202020204" pitchFamily="34" charset="0"/>
              <a:buChar char="•"/>
            </a:pPr>
            <a:endParaRPr lang="en-US" sz="2800" b="0" dirty="0"/>
          </a:p>
          <a:p>
            <a:r>
              <a:rPr lang="en-US" sz="3200" b="1" dirty="0"/>
              <a:t>What to watch</a:t>
            </a:r>
          </a:p>
          <a:p>
            <a:pPr marL="914400" indent="-457200">
              <a:buFont typeface="Arial" panose="020B0604020202020204" pitchFamily="34" charset="0"/>
              <a:buChar char="•"/>
            </a:pPr>
            <a:r>
              <a:rPr lang="en-US" sz="2800" b="0" dirty="0"/>
              <a:t>A 100 MB file becomes 7 blocks, each stored on two servers</a:t>
            </a:r>
          </a:p>
          <a:p>
            <a:pPr marL="914400" indent="-457200">
              <a:buFont typeface="Arial" panose="020B0604020202020204" pitchFamily="34" charset="0"/>
              <a:buChar char="•"/>
            </a:pPr>
            <a:r>
              <a:rPr lang="en-US" sz="2800" b="0" dirty="0"/>
              <a:t>The master knows block ids and locations, and never touches the data</a:t>
            </a:r>
          </a:p>
          <a:p>
            <a:pPr marL="914400" indent="-457200">
              <a:buFont typeface="Arial" panose="020B0604020202020204" pitchFamily="34" charset="0"/>
              <a:buChar char="•"/>
            </a:pPr>
            <a:r>
              <a:rPr lang="en-US" sz="2800" b="0" dirty="0"/>
              <a:t>On a DataNode, a block is an ordinary file on local disk</a:t>
            </a:r>
          </a:p>
          <a:p>
            <a:pPr marL="914400" indent="-457200">
              <a:buFont typeface="Arial" panose="020B0604020202020204" pitchFamily="34" charset="0"/>
              <a:buChar char="•"/>
            </a:pPr>
            <a:endParaRPr lang="en-US" sz="2800" b="0" dirty="0"/>
          </a:p>
          <a:p>
            <a:r>
              <a:rPr lang="en-US" sz="3200" b="1" dirty="0"/>
              <a:t>Then one server dies and the replicas rebuild themselves</a:t>
            </a:r>
          </a:p>
        </p:txBody>
      </p:sp>
    </p:spTree>
    <p:extLst>
      <p:ext uri="{BB962C8B-B14F-4D97-AF65-F5344CB8AC3E}">
        <p14:creationId xmlns:p14="http://schemas.microsoft.com/office/powerpoint/2010/main" val="1720670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8E95D-937D-AD36-D9B1-1EF9D542739D}"/>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5A018D7-61E0-2C68-485E-11C9AEA18B2F}"/>
              </a:ext>
            </a:extLst>
          </p:cNvPr>
          <p:cNvSpPr>
            <a:spLocks noGrp="1"/>
          </p:cNvSpPr>
          <p:nvPr>
            <p:ph type="title"/>
          </p:nvPr>
        </p:nvSpPr>
        <p:spPr>
          <a:xfrm>
            <a:off x="0" y="1"/>
            <a:ext cx="12161520" cy="914400"/>
          </a:xfrm>
        </p:spPr>
        <p:txBody>
          <a:bodyPr>
            <a:normAutofit/>
          </a:bodyPr>
          <a:lstStyle/>
          <a:p>
            <a:pPr algn="ctr"/>
            <a:r>
              <a:rPr lang="en-US" b="1" dirty="0">
                <a:latin typeface="Helvetica" panose="020B0604020202020204" pitchFamily="34" charset="0"/>
                <a:cs typeface="Helvetica" panose="020B0604020202020204" pitchFamily="34" charset="0"/>
              </a:rPr>
              <a:t>Assumptions of GFS</a:t>
            </a:r>
          </a:p>
        </p:txBody>
      </p:sp>
      <p:sp>
        <p:nvSpPr>
          <p:cNvPr id="8" name="Slide Number Placeholder 4">
            <a:extLst>
              <a:ext uri="{FF2B5EF4-FFF2-40B4-BE49-F238E27FC236}">
                <a16:creationId xmlns:a16="http://schemas.microsoft.com/office/drawing/2014/main" id="{581F7935-A371-9A39-F37D-0BCC23507907}"/>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17</a:t>
            </a:fld>
            <a:endParaRPr lang="en-US"/>
          </a:p>
        </p:txBody>
      </p:sp>
      <p:sp>
        <p:nvSpPr>
          <p:cNvPr id="3" name="TextBox 2">
            <a:extLst>
              <a:ext uri="{FF2B5EF4-FFF2-40B4-BE49-F238E27FC236}">
                <a16:creationId xmlns:a16="http://schemas.microsoft.com/office/drawing/2014/main" id="{EA2E0FBF-8D06-1DEC-25B4-848EEFE5C3A0}"/>
              </a:ext>
            </a:extLst>
          </p:cNvPr>
          <p:cNvSpPr txBox="1"/>
          <p:nvPr/>
        </p:nvSpPr>
        <p:spPr>
          <a:xfrm>
            <a:off x="222112" y="854441"/>
            <a:ext cx="11717295" cy="5693866"/>
          </a:xfrm>
          <a:prstGeom prst="rect">
            <a:avLst/>
          </a:prstGeom>
          <a:noFill/>
        </p:spPr>
        <p:txBody>
          <a:bodyPr wrap="square">
            <a:spAutoFit/>
          </a:bodyPr>
          <a:lstStyle/>
          <a:p>
            <a:r>
              <a:rPr lang="en-US" sz="3200" b="1" dirty="0"/>
              <a:t>Just </a:t>
            </a:r>
            <a:r>
              <a:rPr lang="en-US" sz="3200" b="1" dirty="0">
                <a:solidFill>
                  <a:srgbClr val="C00000"/>
                </a:solidFill>
              </a:rPr>
              <a:t>one</a:t>
            </a:r>
            <a:r>
              <a:rPr lang="en-US" sz="3200" b="1" dirty="0"/>
              <a:t> data center per deployment </a:t>
            </a:r>
          </a:p>
          <a:p>
            <a:endParaRPr lang="en-US" sz="3200" b="1" dirty="0"/>
          </a:p>
          <a:p>
            <a:r>
              <a:rPr lang="en-US" sz="3200" b="1" dirty="0"/>
              <a:t>Internal Google applications/users </a:t>
            </a:r>
          </a:p>
          <a:p>
            <a:endParaRPr lang="en-US" sz="3200" b="1" dirty="0"/>
          </a:p>
          <a:p>
            <a:r>
              <a:rPr lang="en-US" sz="3200" b="1" dirty="0"/>
              <a:t>Workload (e.g., crawling -&gt; indexing -&gt; PR -&gt; …) </a:t>
            </a:r>
          </a:p>
          <a:p>
            <a:pPr marL="800100" lvl="1" indent="-342900">
              <a:buFont typeface="Arial" panose="020B0604020202020204" pitchFamily="34" charset="0"/>
              <a:buChar char="•"/>
            </a:pPr>
            <a:r>
              <a:rPr lang="en-US" sz="2800" dirty="0"/>
              <a:t>Multiple clients </a:t>
            </a:r>
          </a:p>
          <a:p>
            <a:pPr marL="800100" lvl="1" indent="-342900">
              <a:buFont typeface="Arial" panose="020B0604020202020204" pitchFamily="34" charset="0"/>
              <a:buChar char="•"/>
            </a:pPr>
            <a:r>
              <a:rPr lang="en-US" sz="2800" dirty="0"/>
              <a:t>Large streaming reads, Small random writes </a:t>
            </a:r>
          </a:p>
          <a:p>
            <a:pPr marL="800100" lvl="1" indent="-342900">
              <a:buFont typeface="Arial" panose="020B0604020202020204" pitchFamily="34" charset="0"/>
              <a:buChar char="•"/>
            </a:pPr>
            <a:r>
              <a:rPr lang="en-US" sz="2800" dirty="0"/>
              <a:t>Concurrent appends to the same file</a:t>
            </a:r>
          </a:p>
          <a:p>
            <a:endParaRPr lang="en-US" sz="3200" b="1" dirty="0"/>
          </a:p>
          <a:p>
            <a:r>
              <a:rPr lang="en-US" sz="3200" b="1" dirty="0"/>
              <a:t>Aimed at sequential access to huge files: read or append </a:t>
            </a:r>
          </a:p>
          <a:p>
            <a:pPr marL="800100" lvl="1" indent="-342900">
              <a:buFont typeface="Arial" panose="020B0604020202020204" pitchFamily="34" charset="0"/>
              <a:buChar char="•"/>
            </a:pPr>
            <a:r>
              <a:rPr lang="en-US" sz="2800" dirty="0"/>
              <a:t> I.e. not a low-latency DB for small items</a:t>
            </a:r>
          </a:p>
          <a:p>
            <a:pPr marL="800100" lvl="1" indent="-342900">
              <a:buFont typeface="Arial" panose="020B0604020202020204" pitchFamily="34" charset="0"/>
              <a:buChar char="•"/>
            </a:pPr>
            <a:r>
              <a:rPr lang="en-US" sz="2800" dirty="0"/>
              <a:t>High Throughput &gt; Low Latency</a:t>
            </a:r>
          </a:p>
        </p:txBody>
      </p:sp>
    </p:spTree>
    <p:extLst>
      <p:ext uri="{BB962C8B-B14F-4D97-AF65-F5344CB8AC3E}">
        <p14:creationId xmlns:p14="http://schemas.microsoft.com/office/powerpoint/2010/main" val="691410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dissolv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dissolve">
                                      <p:cBhvr>
                                        <p:cTn id="12" dur="500"/>
                                        <p:tgtEl>
                                          <p:spTgt spid="3">
                                            <p:txEl>
                                              <p:pRg st="4" end="4"/>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dissolve">
                                      <p:cBhvr>
                                        <p:cTn id="15" dur="500"/>
                                        <p:tgtEl>
                                          <p:spTgt spid="3">
                                            <p:txEl>
                                              <p:pRg st="5" end="5"/>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dissolve">
                                      <p:cBhvr>
                                        <p:cTn id="18" dur="500"/>
                                        <p:tgtEl>
                                          <p:spTgt spid="3">
                                            <p:txEl>
                                              <p:pRg st="6" end="6"/>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dissolve">
                                      <p:cBhvr>
                                        <p:cTn id="21" dur="500"/>
                                        <p:tgtEl>
                                          <p:spTgt spid="3">
                                            <p:txEl>
                                              <p:pRg st="7" end="7"/>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3">
                                            <p:txEl>
                                              <p:pRg st="9" end="9"/>
                                            </p:txEl>
                                          </p:spTgt>
                                        </p:tgtEl>
                                        <p:attrNameLst>
                                          <p:attrName>style.visibility</p:attrName>
                                        </p:attrNameLst>
                                      </p:cBhvr>
                                      <p:to>
                                        <p:strVal val="visible"/>
                                      </p:to>
                                    </p:set>
                                    <p:animEffect transition="in" filter="dissolve">
                                      <p:cBhvr>
                                        <p:cTn id="26" dur="500"/>
                                        <p:tgtEl>
                                          <p:spTgt spid="3">
                                            <p:txEl>
                                              <p:pRg st="9" end="9"/>
                                            </p:txEl>
                                          </p:spTgt>
                                        </p:tgtEl>
                                      </p:cBhvr>
                                    </p:animEffect>
                                  </p:childTnLst>
                                </p:cTn>
                              </p:par>
                              <p:par>
                                <p:cTn id="27" presetID="9"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animEffect transition="in" filter="dissolve">
                                      <p:cBhvr>
                                        <p:cTn id="29" dur="500"/>
                                        <p:tgtEl>
                                          <p:spTgt spid="3">
                                            <p:txEl>
                                              <p:pRg st="10" end="10"/>
                                            </p:txEl>
                                          </p:spTgt>
                                        </p:tgtEl>
                                      </p:cBhvr>
                                    </p:animEffect>
                                  </p:childTnLst>
                                </p:cTn>
                              </p:par>
                              <p:par>
                                <p:cTn id="30" presetID="9" presetClass="entr" presetSubtype="0" fill="hold" nodeType="withEffect">
                                  <p:stCondLst>
                                    <p:cond delay="0"/>
                                  </p:stCondLst>
                                  <p:childTnLst>
                                    <p:set>
                                      <p:cBhvr>
                                        <p:cTn id="31" dur="1" fill="hold">
                                          <p:stCondLst>
                                            <p:cond delay="0"/>
                                          </p:stCondLst>
                                        </p:cTn>
                                        <p:tgtEl>
                                          <p:spTgt spid="3">
                                            <p:txEl>
                                              <p:pRg st="11" end="11"/>
                                            </p:txEl>
                                          </p:spTgt>
                                        </p:tgtEl>
                                        <p:attrNameLst>
                                          <p:attrName>style.visibility</p:attrName>
                                        </p:attrNameLst>
                                      </p:cBhvr>
                                      <p:to>
                                        <p:strVal val="visible"/>
                                      </p:to>
                                    </p:set>
                                    <p:animEffect transition="in" filter="dissolve">
                                      <p:cBhvr>
                                        <p:cTn id="3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ABDB4-C7F0-9803-988F-EE6405DA8A7E}"/>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40452E1D-A4BE-81D0-1913-157BB64D4B57}"/>
              </a:ext>
            </a:extLst>
          </p:cNvPr>
          <p:cNvSpPr>
            <a:spLocks noGrp="1"/>
          </p:cNvSpPr>
          <p:nvPr>
            <p:ph type="title"/>
          </p:nvPr>
        </p:nvSpPr>
        <p:spPr>
          <a:xfrm>
            <a:off x="0" y="1"/>
            <a:ext cx="12191999" cy="1097280"/>
          </a:xfrm>
        </p:spPr>
        <p:txBody>
          <a:bodyPr>
            <a:normAutofit/>
          </a:bodyPr>
          <a:lstStyle/>
          <a:p>
            <a:pPr algn="ctr"/>
            <a:r>
              <a:rPr lang="en-US" b="1" dirty="0">
                <a:latin typeface="Helvetica" panose="020B0604020202020204" pitchFamily="34" charset="0"/>
                <a:cs typeface="Helvetica" panose="020B0604020202020204" pitchFamily="34" charset="0"/>
              </a:rPr>
              <a:t>What Are the Contribution of the Paper? </a:t>
            </a:r>
          </a:p>
        </p:txBody>
      </p:sp>
      <p:sp>
        <p:nvSpPr>
          <p:cNvPr id="8" name="Slide Number Placeholder 4">
            <a:extLst>
              <a:ext uri="{FF2B5EF4-FFF2-40B4-BE49-F238E27FC236}">
                <a16:creationId xmlns:a16="http://schemas.microsoft.com/office/drawing/2014/main" id="{7D19D596-A7BA-21F2-D9DA-DDA6D7CC537A}"/>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18</a:t>
            </a:fld>
            <a:endParaRPr lang="en-US"/>
          </a:p>
        </p:txBody>
      </p:sp>
      <p:sp>
        <p:nvSpPr>
          <p:cNvPr id="2" name="TextBox 1">
            <a:extLst>
              <a:ext uri="{FF2B5EF4-FFF2-40B4-BE49-F238E27FC236}">
                <a16:creationId xmlns:a16="http://schemas.microsoft.com/office/drawing/2014/main" id="{BF43BD8F-755A-DCFE-84CA-5B7F656A8A0A}"/>
              </a:ext>
            </a:extLst>
          </p:cNvPr>
          <p:cNvSpPr txBox="1"/>
          <p:nvPr/>
        </p:nvSpPr>
        <p:spPr>
          <a:xfrm>
            <a:off x="222421" y="1097281"/>
            <a:ext cx="11492057" cy="4524315"/>
          </a:xfrm>
          <a:prstGeom prst="rect">
            <a:avLst/>
          </a:prstGeom>
          <a:noFill/>
        </p:spPr>
        <p:txBody>
          <a:bodyPr wrap="none" rtlCol="0">
            <a:spAutoFit/>
          </a:bodyPr>
          <a:lstStyle/>
          <a:p>
            <a:r>
              <a:rPr lang="en-US" sz="3200" b="1" dirty="0"/>
              <a:t>Not the basic ideas of distribution, sharding, fault-tolerance. </a:t>
            </a:r>
          </a:p>
          <a:p>
            <a:endParaRPr lang="en-US" sz="3200" b="1" dirty="0"/>
          </a:p>
          <a:p>
            <a:r>
              <a:rPr lang="en-US" sz="3200" b="1" dirty="0"/>
              <a:t>Huge scale. </a:t>
            </a:r>
          </a:p>
          <a:p>
            <a:endParaRPr lang="en-US" sz="3200" b="1" dirty="0"/>
          </a:p>
          <a:p>
            <a:r>
              <a:rPr lang="en-US" sz="3200" b="1" dirty="0"/>
              <a:t>Used in industry, real-world experience. </a:t>
            </a:r>
          </a:p>
          <a:p>
            <a:endParaRPr lang="en-US" sz="3200" b="1" dirty="0"/>
          </a:p>
          <a:p>
            <a:r>
              <a:rPr lang="en-US" sz="3200" b="1" dirty="0"/>
              <a:t>Successful use of weak consistency. </a:t>
            </a:r>
          </a:p>
          <a:p>
            <a:endParaRPr lang="en-US" sz="3200" b="1" dirty="0"/>
          </a:p>
          <a:p>
            <a:r>
              <a:rPr lang="en-US" sz="3200" b="1" dirty="0"/>
              <a:t>Successful use of single master.</a:t>
            </a:r>
          </a:p>
        </p:txBody>
      </p:sp>
    </p:spTree>
    <p:extLst>
      <p:ext uri="{BB962C8B-B14F-4D97-AF65-F5344CB8AC3E}">
        <p14:creationId xmlns:p14="http://schemas.microsoft.com/office/powerpoint/2010/main" val="2923506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dissolve">
                                      <p:cBhvr>
                                        <p:cTn id="7" dur="500"/>
                                        <p:tgtEl>
                                          <p:spTgt spid="2">
                                            <p:txEl>
                                              <p:pRg st="2" end="2"/>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2">
                                            <p:txEl>
                                              <p:pRg st="4" end="4"/>
                                            </p:txEl>
                                          </p:spTgt>
                                        </p:tgtEl>
                                        <p:attrNameLst>
                                          <p:attrName>style.visibility</p:attrName>
                                        </p:attrNameLst>
                                      </p:cBhvr>
                                      <p:to>
                                        <p:strVal val="visible"/>
                                      </p:to>
                                    </p:set>
                                    <p:animEffect transition="in" filter="dissolve">
                                      <p:cBhvr>
                                        <p:cTn id="10" dur="500"/>
                                        <p:tgtEl>
                                          <p:spTgt spid="2">
                                            <p:txEl>
                                              <p:pRg st="4" end="4"/>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animEffect transition="in" filter="dissolve">
                                      <p:cBhvr>
                                        <p:cTn id="13" dur="500"/>
                                        <p:tgtEl>
                                          <p:spTgt spid="2">
                                            <p:txEl>
                                              <p:pRg st="6" end="6"/>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2">
                                            <p:txEl>
                                              <p:pRg st="8" end="8"/>
                                            </p:txEl>
                                          </p:spTgt>
                                        </p:tgtEl>
                                        <p:attrNameLst>
                                          <p:attrName>style.visibility</p:attrName>
                                        </p:attrNameLst>
                                      </p:cBhvr>
                                      <p:to>
                                        <p:strVal val="visible"/>
                                      </p:to>
                                    </p:set>
                                    <p:animEffect transition="in" filter="dissolve">
                                      <p:cBhvr>
                                        <p:cTn id="16"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64302-7B1F-F93D-E973-2062D3CC2A52}"/>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852E96D9-A957-D99E-FC85-F1D752C37039}"/>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GFS’s Architecture</a:t>
            </a:r>
          </a:p>
        </p:txBody>
      </p:sp>
      <p:sp>
        <p:nvSpPr>
          <p:cNvPr id="8" name="Slide Number Placeholder 4">
            <a:extLst>
              <a:ext uri="{FF2B5EF4-FFF2-40B4-BE49-F238E27FC236}">
                <a16:creationId xmlns:a16="http://schemas.microsoft.com/office/drawing/2014/main" id="{B2167330-B09B-300E-1C3C-6FAF7BCFB5B9}"/>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19</a:t>
            </a:fld>
            <a:endParaRPr lang="en-US"/>
          </a:p>
        </p:txBody>
      </p:sp>
      <p:pic>
        <p:nvPicPr>
          <p:cNvPr id="2" name="object 2">
            <a:extLst>
              <a:ext uri="{FF2B5EF4-FFF2-40B4-BE49-F238E27FC236}">
                <a16:creationId xmlns:a16="http://schemas.microsoft.com/office/drawing/2014/main" id="{4D13600B-1D33-799A-A751-219B5BE8C101}"/>
              </a:ext>
            </a:extLst>
          </p:cNvPr>
          <p:cNvPicPr/>
          <p:nvPr/>
        </p:nvPicPr>
        <p:blipFill>
          <a:blip r:embed="rId3" cstate="print"/>
          <a:stretch>
            <a:fillRect/>
          </a:stretch>
        </p:blipFill>
        <p:spPr>
          <a:xfrm>
            <a:off x="1572767" y="1097281"/>
            <a:ext cx="9046464" cy="5449824"/>
          </a:xfrm>
          <a:prstGeom prst="rect">
            <a:avLst/>
          </a:prstGeom>
        </p:spPr>
      </p:pic>
    </p:spTree>
    <p:extLst>
      <p:ext uri="{BB962C8B-B14F-4D97-AF65-F5344CB8AC3E}">
        <p14:creationId xmlns:p14="http://schemas.microsoft.com/office/powerpoint/2010/main" val="24713419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5F232-966C-CE36-1BFC-56DE56FF7F6E}"/>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C8A9A9FC-0D69-A16B-1459-31E89A22A68D}"/>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Overall Architecture</a:t>
            </a:r>
          </a:p>
        </p:txBody>
      </p:sp>
      <p:sp>
        <p:nvSpPr>
          <p:cNvPr id="8" name="Slide Number Placeholder 4">
            <a:extLst>
              <a:ext uri="{FF2B5EF4-FFF2-40B4-BE49-F238E27FC236}">
                <a16:creationId xmlns:a16="http://schemas.microsoft.com/office/drawing/2014/main" id="{70C358D7-34F7-6C89-675B-FD64F3B3C41D}"/>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20</a:t>
            </a:fld>
            <a:endParaRPr lang="en-US"/>
          </a:p>
        </p:txBody>
      </p:sp>
      <p:sp>
        <p:nvSpPr>
          <p:cNvPr id="3" name="TextBox 2">
            <a:extLst>
              <a:ext uri="{FF2B5EF4-FFF2-40B4-BE49-F238E27FC236}">
                <a16:creationId xmlns:a16="http://schemas.microsoft.com/office/drawing/2014/main" id="{71199DEC-1348-AF17-16F5-0B037B55F5EB}"/>
              </a:ext>
            </a:extLst>
          </p:cNvPr>
          <p:cNvSpPr txBox="1"/>
          <p:nvPr/>
        </p:nvSpPr>
        <p:spPr>
          <a:xfrm>
            <a:off x="367861" y="897584"/>
            <a:ext cx="10815145" cy="2308324"/>
          </a:xfrm>
          <a:prstGeom prst="rect">
            <a:avLst/>
          </a:prstGeom>
          <a:noFill/>
        </p:spPr>
        <p:txBody>
          <a:bodyPr wrap="square">
            <a:spAutoFit/>
          </a:bodyPr>
          <a:lstStyle/>
          <a:p>
            <a:pPr marL="342900" indent="-342900">
              <a:buFont typeface="Arial" panose="020B0604020202020204" pitchFamily="34" charset="0"/>
              <a:buChar char="•"/>
            </a:pPr>
            <a:r>
              <a:rPr lang="en-US" sz="2400" dirty="0"/>
              <a:t>User-level process running on commodity Linux machines </a:t>
            </a:r>
          </a:p>
          <a:p>
            <a:pPr marL="342900" indent="-342900">
              <a:buFont typeface="Arial" panose="020B0604020202020204" pitchFamily="34" charset="0"/>
              <a:buChar char="•"/>
            </a:pPr>
            <a:r>
              <a:rPr lang="en-US" sz="2400" dirty="0"/>
              <a:t>Files broken into chunks (typically 64 MB), </a:t>
            </a:r>
          </a:p>
          <a:p>
            <a:pPr marL="342900" indent="-342900">
              <a:buFont typeface="Arial" panose="020B0604020202020204" pitchFamily="34" charset="0"/>
              <a:buChar char="•"/>
            </a:pPr>
            <a:r>
              <a:rPr lang="en-US" sz="2400" dirty="0"/>
              <a:t>3x redundancy </a:t>
            </a:r>
          </a:p>
          <a:p>
            <a:pPr marL="342900" indent="-342900">
              <a:buFont typeface="Arial" panose="020B0604020202020204" pitchFamily="34" charset="0"/>
              <a:buChar char="•"/>
            </a:pPr>
            <a:r>
              <a:rPr lang="en-US" sz="2400" dirty="0"/>
              <a:t>Data transfers happen directly between clients and Chunk Servers</a:t>
            </a:r>
          </a:p>
          <a:p>
            <a:pPr marL="342900" indent="-342900">
              <a:buFont typeface="Arial" panose="020B0604020202020204" pitchFamily="34" charset="0"/>
              <a:buChar char="•"/>
            </a:pPr>
            <a:r>
              <a:rPr lang="en-US" sz="2400" dirty="0"/>
              <a:t>Single Master and master replicas</a:t>
            </a:r>
          </a:p>
          <a:p>
            <a:pPr marL="342900" indent="-342900">
              <a:buFont typeface="Arial" panose="020B0604020202020204" pitchFamily="34" charset="0"/>
              <a:buChar char="•"/>
            </a:pPr>
            <a:r>
              <a:rPr lang="en-US" sz="2400" dirty="0"/>
              <a:t>Division of Master Server and Chunk Servers </a:t>
            </a:r>
          </a:p>
        </p:txBody>
      </p:sp>
      <p:pic>
        <p:nvPicPr>
          <p:cNvPr id="4" name="object 2">
            <a:extLst>
              <a:ext uri="{FF2B5EF4-FFF2-40B4-BE49-F238E27FC236}">
                <a16:creationId xmlns:a16="http://schemas.microsoft.com/office/drawing/2014/main" id="{26DAB897-F069-36DD-0EDC-3DF44F80B4E5}"/>
              </a:ext>
            </a:extLst>
          </p:cNvPr>
          <p:cNvPicPr/>
          <p:nvPr/>
        </p:nvPicPr>
        <p:blipFill>
          <a:blip r:embed="rId3" cstate="print"/>
          <a:stretch>
            <a:fillRect/>
          </a:stretch>
        </p:blipFill>
        <p:spPr>
          <a:xfrm>
            <a:off x="2266451" y="3155422"/>
            <a:ext cx="7192861" cy="3383490"/>
          </a:xfrm>
          <a:prstGeom prst="rect">
            <a:avLst/>
          </a:prstGeom>
        </p:spPr>
      </p:pic>
    </p:spTree>
    <p:extLst>
      <p:ext uri="{BB962C8B-B14F-4D97-AF65-F5344CB8AC3E}">
        <p14:creationId xmlns:p14="http://schemas.microsoft.com/office/powerpoint/2010/main" val="22742018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11EE2-2E4D-3369-4EB6-0B31EB2379F6}"/>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DF07D588-72DA-24BC-ECF1-E68122EEA2F7}"/>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Master Node</a:t>
            </a:r>
          </a:p>
        </p:txBody>
      </p:sp>
      <p:sp>
        <p:nvSpPr>
          <p:cNvPr id="8" name="Slide Number Placeholder 4">
            <a:extLst>
              <a:ext uri="{FF2B5EF4-FFF2-40B4-BE49-F238E27FC236}">
                <a16:creationId xmlns:a16="http://schemas.microsoft.com/office/drawing/2014/main" id="{274199B4-9ABA-5C8F-B970-5CFF832407EC}"/>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21</a:t>
            </a:fld>
            <a:endParaRPr lang="en-US"/>
          </a:p>
        </p:txBody>
      </p:sp>
      <p:sp>
        <p:nvSpPr>
          <p:cNvPr id="3" name="TextBox 2">
            <a:extLst>
              <a:ext uri="{FF2B5EF4-FFF2-40B4-BE49-F238E27FC236}">
                <a16:creationId xmlns:a16="http://schemas.microsoft.com/office/drawing/2014/main" id="{A1B0EA05-4A8C-ABD2-FCB4-4735B4BD4EF4}"/>
              </a:ext>
            </a:extLst>
          </p:cNvPr>
          <p:cNvSpPr txBox="1"/>
          <p:nvPr/>
        </p:nvSpPr>
        <p:spPr>
          <a:xfrm>
            <a:off x="84083" y="719832"/>
            <a:ext cx="11855668" cy="6001643"/>
          </a:xfrm>
          <a:prstGeom prst="rect">
            <a:avLst/>
          </a:prstGeom>
          <a:noFill/>
        </p:spPr>
        <p:txBody>
          <a:bodyPr wrap="square">
            <a:spAutoFit/>
          </a:bodyPr>
          <a:lstStyle/>
          <a:p>
            <a:r>
              <a:rPr lang="en-US" sz="2800" b="1" dirty="0"/>
              <a:t>Centralization for simplicity &amp; global knowledge for chunk placement</a:t>
            </a:r>
          </a:p>
          <a:p>
            <a:endParaRPr lang="en-US" sz="2000" dirty="0"/>
          </a:p>
          <a:p>
            <a:r>
              <a:rPr lang="en-US" sz="2800" b="1" dirty="0"/>
              <a:t>Namespace and metadata management</a:t>
            </a:r>
          </a:p>
          <a:p>
            <a:r>
              <a:rPr lang="en-US" sz="2800" dirty="0"/>
              <a:t> </a:t>
            </a:r>
          </a:p>
          <a:p>
            <a:r>
              <a:rPr lang="en-US" sz="2800" b="1" dirty="0"/>
              <a:t>Managing chunks</a:t>
            </a:r>
          </a:p>
          <a:p>
            <a:pPr marL="742950" lvl="1" indent="-285750">
              <a:buFont typeface="Arial" panose="020B0604020202020204" pitchFamily="34" charset="0"/>
              <a:buChar char="•"/>
            </a:pPr>
            <a:r>
              <a:rPr lang="en-US" sz="2400" dirty="0"/>
              <a:t>Where they are (file&lt;-chunks, replicas) </a:t>
            </a:r>
          </a:p>
          <a:p>
            <a:pPr marL="742950" lvl="1" indent="-285750">
              <a:buFont typeface="Arial" panose="020B0604020202020204" pitchFamily="34" charset="0"/>
              <a:buChar char="•"/>
            </a:pPr>
            <a:r>
              <a:rPr lang="en-US" sz="2400" dirty="0"/>
              <a:t>Where to put new </a:t>
            </a:r>
          </a:p>
          <a:p>
            <a:pPr marL="742950" lvl="1" indent="-285750">
              <a:buFont typeface="Arial" panose="020B0604020202020204" pitchFamily="34" charset="0"/>
              <a:buChar char="•"/>
            </a:pPr>
            <a:r>
              <a:rPr lang="en-US" sz="2400" dirty="0"/>
              <a:t>When to re-replicate (failure, load-balancing) </a:t>
            </a:r>
          </a:p>
          <a:p>
            <a:pPr marL="742950" lvl="1" indent="-285750">
              <a:buFont typeface="Arial" panose="020B0604020202020204" pitchFamily="34" charset="0"/>
              <a:buChar char="•"/>
            </a:pPr>
            <a:r>
              <a:rPr lang="en-US" sz="2400" dirty="0"/>
              <a:t>When and what to delete (garbage collection) </a:t>
            </a:r>
          </a:p>
          <a:p>
            <a:pPr marL="742950" lvl="1" indent="-285750">
              <a:buFont typeface="Arial" panose="020B0604020202020204" pitchFamily="34" charset="0"/>
              <a:buChar char="•"/>
            </a:pPr>
            <a:endParaRPr lang="en-US" sz="2000" dirty="0"/>
          </a:p>
          <a:p>
            <a:r>
              <a:rPr lang="en-US" sz="2800" b="1" dirty="0"/>
              <a:t>Fault tolerance </a:t>
            </a:r>
          </a:p>
          <a:p>
            <a:pPr marL="742950" lvl="1" indent="-285750">
              <a:buFont typeface="Arial" panose="020B0604020202020204" pitchFamily="34" charset="0"/>
              <a:buChar char="•"/>
            </a:pPr>
            <a:r>
              <a:rPr lang="en-US" sz="2400" dirty="0"/>
              <a:t>Shadow masters </a:t>
            </a:r>
          </a:p>
          <a:p>
            <a:pPr marL="742950" lvl="1" indent="-285750">
              <a:buFont typeface="Arial" panose="020B0604020202020204" pitchFamily="34" charset="0"/>
              <a:buChar char="•"/>
            </a:pPr>
            <a:r>
              <a:rPr lang="en-US" sz="2400" dirty="0"/>
              <a:t>Monitoring infrastructure outside of GFS </a:t>
            </a:r>
          </a:p>
          <a:p>
            <a:pPr marL="742950" lvl="1" indent="-285750">
              <a:buFont typeface="Arial" panose="020B0604020202020204" pitchFamily="34" charset="0"/>
              <a:buChar char="•"/>
            </a:pPr>
            <a:r>
              <a:rPr lang="en-US" sz="2400" dirty="0"/>
              <a:t>Periodic snapshots </a:t>
            </a:r>
          </a:p>
          <a:p>
            <a:pPr marL="742950" lvl="1" indent="-285750">
              <a:buFont typeface="Arial" panose="020B0604020202020204" pitchFamily="34" charset="0"/>
              <a:buChar char="•"/>
            </a:pPr>
            <a:r>
              <a:rPr lang="en-US" sz="2400" dirty="0"/>
              <a:t>Mirrored operations log</a:t>
            </a:r>
          </a:p>
        </p:txBody>
      </p:sp>
    </p:spTree>
    <p:extLst>
      <p:ext uri="{BB962C8B-B14F-4D97-AF65-F5344CB8AC3E}">
        <p14:creationId xmlns:p14="http://schemas.microsoft.com/office/powerpoint/2010/main" val="2368917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dissolve">
                                      <p:cBhvr>
                                        <p:cTn id="7" dur="500"/>
                                        <p:tgtEl>
                                          <p:spTgt spid="3">
                                            <p:txEl>
                                              <p:pRg st="4" end="4"/>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dissolve">
                                      <p:cBhvr>
                                        <p:cTn id="10" dur="500"/>
                                        <p:tgtEl>
                                          <p:spTgt spid="3">
                                            <p:txEl>
                                              <p:pRg st="5" end="5"/>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dissolve">
                                      <p:cBhvr>
                                        <p:cTn id="13" dur="500"/>
                                        <p:tgtEl>
                                          <p:spTgt spid="3">
                                            <p:txEl>
                                              <p:pRg st="6" end="6"/>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3">
                                            <p:txEl>
                                              <p:pRg st="7" end="7"/>
                                            </p:txEl>
                                          </p:spTgt>
                                        </p:tgtEl>
                                        <p:attrNameLst>
                                          <p:attrName>style.visibility</p:attrName>
                                        </p:attrNameLst>
                                      </p:cBhvr>
                                      <p:to>
                                        <p:strVal val="visible"/>
                                      </p:to>
                                    </p:set>
                                    <p:animEffect transition="in" filter="dissolve">
                                      <p:cBhvr>
                                        <p:cTn id="16" dur="500"/>
                                        <p:tgtEl>
                                          <p:spTgt spid="3">
                                            <p:txEl>
                                              <p:pRg st="7" end="7"/>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Effect transition="in" filter="dissolve">
                                      <p:cBhvr>
                                        <p:cTn id="19" dur="500"/>
                                        <p:tgtEl>
                                          <p:spTgt spid="3">
                                            <p:txEl>
                                              <p:pRg st="8" end="8"/>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3">
                                            <p:txEl>
                                              <p:pRg st="10" end="10"/>
                                            </p:txEl>
                                          </p:spTgt>
                                        </p:tgtEl>
                                        <p:attrNameLst>
                                          <p:attrName>style.visibility</p:attrName>
                                        </p:attrNameLst>
                                      </p:cBhvr>
                                      <p:to>
                                        <p:strVal val="visible"/>
                                      </p:to>
                                    </p:set>
                                    <p:animEffect transition="in" filter="dissolve">
                                      <p:cBhvr>
                                        <p:cTn id="24" dur="500"/>
                                        <p:tgtEl>
                                          <p:spTgt spid="3">
                                            <p:txEl>
                                              <p:pRg st="10" end="10"/>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animEffect transition="in" filter="dissolve">
                                      <p:cBhvr>
                                        <p:cTn id="27" dur="500"/>
                                        <p:tgtEl>
                                          <p:spTgt spid="3">
                                            <p:txEl>
                                              <p:pRg st="11" end="11"/>
                                            </p:txEl>
                                          </p:spTgt>
                                        </p:tgtEl>
                                      </p:cBhvr>
                                    </p:animEffect>
                                  </p:childTnLst>
                                </p:cTn>
                              </p:par>
                              <p:par>
                                <p:cTn id="28" presetID="9" presetClass="entr" presetSubtype="0" fill="hold" nodeType="withEffect">
                                  <p:stCondLst>
                                    <p:cond delay="0"/>
                                  </p:stCondLst>
                                  <p:childTnLst>
                                    <p:set>
                                      <p:cBhvr>
                                        <p:cTn id="29" dur="1" fill="hold">
                                          <p:stCondLst>
                                            <p:cond delay="0"/>
                                          </p:stCondLst>
                                        </p:cTn>
                                        <p:tgtEl>
                                          <p:spTgt spid="3">
                                            <p:txEl>
                                              <p:pRg st="12" end="12"/>
                                            </p:txEl>
                                          </p:spTgt>
                                        </p:tgtEl>
                                        <p:attrNameLst>
                                          <p:attrName>style.visibility</p:attrName>
                                        </p:attrNameLst>
                                      </p:cBhvr>
                                      <p:to>
                                        <p:strVal val="visible"/>
                                      </p:to>
                                    </p:set>
                                    <p:animEffect transition="in" filter="dissolve">
                                      <p:cBhvr>
                                        <p:cTn id="30" dur="500"/>
                                        <p:tgtEl>
                                          <p:spTgt spid="3">
                                            <p:txEl>
                                              <p:pRg st="12" end="12"/>
                                            </p:txEl>
                                          </p:spTgt>
                                        </p:tgtEl>
                                      </p:cBhvr>
                                    </p:animEffect>
                                  </p:childTnLst>
                                </p:cTn>
                              </p:par>
                              <p:par>
                                <p:cTn id="31" presetID="9" presetClass="entr" presetSubtype="0" fill="hold"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animEffect transition="in" filter="dissolve">
                                      <p:cBhvr>
                                        <p:cTn id="33" dur="500"/>
                                        <p:tgtEl>
                                          <p:spTgt spid="3">
                                            <p:txEl>
                                              <p:pRg st="13" end="13"/>
                                            </p:txEl>
                                          </p:spTgt>
                                        </p:tgtEl>
                                      </p:cBhvr>
                                    </p:animEffect>
                                  </p:childTnLst>
                                </p:cTn>
                              </p:par>
                              <p:par>
                                <p:cTn id="34" presetID="9" presetClass="entr" presetSubtype="0" fill="hold" nodeType="withEffect">
                                  <p:stCondLst>
                                    <p:cond delay="0"/>
                                  </p:stCondLst>
                                  <p:childTnLst>
                                    <p:set>
                                      <p:cBhvr>
                                        <p:cTn id="35" dur="1" fill="hold">
                                          <p:stCondLst>
                                            <p:cond delay="0"/>
                                          </p:stCondLst>
                                        </p:cTn>
                                        <p:tgtEl>
                                          <p:spTgt spid="3">
                                            <p:txEl>
                                              <p:pRg st="14" end="14"/>
                                            </p:txEl>
                                          </p:spTgt>
                                        </p:tgtEl>
                                        <p:attrNameLst>
                                          <p:attrName>style.visibility</p:attrName>
                                        </p:attrNameLst>
                                      </p:cBhvr>
                                      <p:to>
                                        <p:strVal val="visible"/>
                                      </p:to>
                                    </p:set>
                                    <p:animEffect transition="in" filter="dissolve">
                                      <p:cBhvr>
                                        <p:cTn id="36"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FD941-3F18-97E6-3355-D2E53AA81771}"/>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355645FD-D788-DEFE-6B92-5ECBD3ABA99D}"/>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Master Node</a:t>
            </a:r>
          </a:p>
        </p:txBody>
      </p:sp>
      <p:sp>
        <p:nvSpPr>
          <p:cNvPr id="8" name="Slide Number Placeholder 4">
            <a:extLst>
              <a:ext uri="{FF2B5EF4-FFF2-40B4-BE49-F238E27FC236}">
                <a16:creationId xmlns:a16="http://schemas.microsoft.com/office/drawing/2014/main" id="{2DE97269-C6AC-CE5A-01BA-B6D3C6C3CFD4}"/>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22</a:t>
            </a:fld>
            <a:endParaRPr lang="en-US"/>
          </a:p>
        </p:txBody>
      </p:sp>
      <p:sp>
        <p:nvSpPr>
          <p:cNvPr id="3" name="TextBox 2">
            <a:extLst>
              <a:ext uri="{FF2B5EF4-FFF2-40B4-BE49-F238E27FC236}">
                <a16:creationId xmlns:a16="http://schemas.microsoft.com/office/drawing/2014/main" id="{8F0C4402-4483-A13D-3B01-87ED83BFA065}"/>
              </a:ext>
            </a:extLst>
          </p:cNvPr>
          <p:cNvSpPr txBox="1"/>
          <p:nvPr/>
        </p:nvSpPr>
        <p:spPr>
          <a:xfrm>
            <a:off x="136633" y="847150"/>
            <a:ext cx="11918732" cy="5509200"/>
          </a:xfrm>
          <a:prstGeom prst="rect">
            <a:avLst/>
          </a:prstGeom>
          <a:noFill/>
        </p:spPr>
        <p:txBody>
          <a:bodyPr wrap="square">
            <a:spAutoFit/>
          </a:bodyPr>
          <a:lstStyle/>
          <a:p>
            <a:r>
              <a:rPr lang="en-US" sz="2800" b="1" dirty="0"/>
              <a:t>All Metadata is kept in Master’s memory – it’s fast! </a:t>
            </a:r>
          </a:p>
          <a:p>
            <a:pPr marL="800100" lvl="1" indent="-342900">
              <a:buFont typeface="Arial" panose="020B0604020202020204" pitchFamily="34" charset="0"/>
              <a:buChar char="•"/>
            </a:pPr>
            <a:r>
              <a:rPr lang="en-US" sz="2400" dirty="0"/>
              <a:t> A 64 MB chunk needs less than 64B metadata =&gt; for 640 TB less than 640MB </a:t>
            </a:r>
          </a:p>
          <a:p>
            <a:endParaRPr lang="en-US" sz="2400" dirty="0"/>
          </a:p>
          <a:p>
            <a:r>
              <a:rPr lang="en-US" sz="2800" b="1" dirty="0"/>
              <a:t>Master learns </a:t>
            </a:r>
            <a:r>
              <a:rPr lang="en-US" sz="2800" b="1" dirty="0" err="1"/>
              <a:t>ChunkServer</a:t>
            </a:r>
            <a:r>
              <a:rPr lang="en-US" sz="2800" b="1" dirty="0"/>
              <a:t>-to-chunk mapping from Chunk Servers when </a:t>
            </a:r>
          </a:p>
          <a:p>
            <a:pPr marL="800100" lvl="1" indent="-342900">
              <a:buFont typeface="Arial" panose="020B0604020202020204" pitchFamily="34" charset="0"/>
              <a:buChar char="•"/>
            </a:pPr>
            <a:r>
              <a:rPr lang="en-US" sz="2400" dirty="0"/>
              <a:t> Master starts </a:t>
            </a:r>
          </a:p>
          <a:p>
            <a:pPr marL="800100" lvl="1" indent="-342900">
              <a:buFont typeface="Arial" panose="020B0604020202020204" pitchFamily="34" charset="0"/>
              <a:buChar char="•"/>
            </a:pPr>
            <a:r>
              <a:rPr lang="en-US" sz="2400" dirty="0"/>
              <a:t> A Chunk Server joins the cluster </a:t>
            </a:r>
          </a:p>
          <a:p>
            <a:endParaRPr lang="en-US" sz="2400" dirty="0"/>
          </a:p>
          <a:p>
            <a:r>
              <a:rPr lang="en-US" sz="2800" b="1" dirty="0"/>
              <a:t>Master exchanges periodic heartbeat with Chunk Servers </a:t>
            </a:r>
          </a:p>
          <a:p>
            <a:pPr marL="800100" lvl="1" indent="-342900">
              <a:buFont typeface="Arial" panose="020B0604020202020204" pitchFamily="34" charset="0"/>
              <a:buChar char="•"/>
            </a:pPr>
            <a:r>
              <a:rPr lang="en-US" sz="2400" dirty="0"/>
              <a:t> state monitoring &amp; instructions </a:t>
            </a:r>
          </a:p>
          <a:p>
            <a:endParaRPr lang="en-US" sz="2400" dirty="0"/>
          </a:p>
          <a:p>
            <a:r>
              <a:rPr lang="en-US" sz="2800" b="1" dirty="0"/>
              <a:t>Operation log to keep file-to-chunk mapping persistent </a:t>
            </a:r>
          </a:p>
          <a:p>
            <a:pPr marL="800100" lvl="1" indent="-342900">
              <a:buFont typeface="Arial" panose="020B0604020202020204" pitchFamily="34" charset="0"/>
              <a:buChar char="•"/>
            </a:pPr>
            <a:r>
              <a:rPr lang="en-US" sz="2400" dirty="0"/>
              <a:t> Is used for serialization of concurrent operations</a:t>
            </a:r>
          </a:p>
          <a:p>
            <a:pPr marL="800100" lvl="1" indent="-342900">
              <a:buFont typeface="Arial" panose="020B0604020202020204" pitchFamily="34" charset="0"/>
              <a:buChar char="•"/>
            </a:pPr>
            <a:r>
              <a:rPr lang="en-US" sz="2400" dirty="0"/>
              <a:t> Replicated in master’s disk and on remote machines</a:t>
            </a:r>
          </a:p>
          <a:p>
            <a:pPr marL="800100" lvl="1" indent="-342900">
              <a:buFont typeface="Arial" panose="020B0604020202020204" pitchFamily="34" charset="0"/>
              <a:buChar char="•"/>
            </a:pPr>
            <a:r>
              <a:rPr lang="en-US" sz="2400" dirty="0"/>
              <a:t> Respond to client only when log is flushed locally and remotely</a:t>
            </a:r>
          </a:p>
        </p:txBody>
      </p:sp>
    </p:spTree>
    <p:extLst>
      <p:ext uri="{BB962C8B-B14F-4D97-AF65-F5344CB8AC3E}">
        <p14:creationId xmlns:p14="http://schemas.microsoft.com/office/powerpoint/2010/main" val="28638903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729AB-5EBB-FD20-43DD-D6E0374E683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2ED557C7-2CDD-8C0B-07A1-1DABA8EF652A}"/>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Master State: What Survives a Reboot?</a:t>
            </a:r>
          </a:p>
        </p:txBody>
      </p:sp>
      <p:sp>
        <p:nvSpPr>
          <p:cNvPr id="8" name="Slide Number Placeholder 4">
            <a:extLst>
              <a:ext uri="{FF2B5EF4-FFF2-40B4-BE49-F238E27FC236}">
                <a16:creationId xmlns:a16="http://schemas.microsoft.com/office/drawing/2014/main" id="{25E098EE-1299-32C0-2821-1DB599BAC8E9}"/>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23</a:t>
            </a:fld>
            <a:endParaRPr lang="en-US"/>
          </a:p>
        </p:txBody>
      </p:sp>
      <p:sp>
        <p:nvSpPr>
          <p:cNvPr id="3" name="TextBox 2">
            <a:extLst>
              <a:ext uri="{FF2B5EF4-FFF2-40B4-BE49-F238E27FC236}">
                <a16:creationId xmlns:a16="http://schemas.microsoft.com/office/drawing/2014/main" id="{857EC8A2-DB9F-8BB1-7445-FE716E76BAC5}"/>
              </a:ext>
            </a:extLst>
          </p:cNvPr>
          <p:cNvSpPr txBox="1"/>
          <p:nvPr/>
        </p:nvSpPr>
        <p:spPr>
          <a:xfrm>
            <a:off x="88135" y="914401"/>
            <a:ext cx="11414752" cy="4031873"/>
          </a:xfrm>
          <a:prstGeom prst="rect">
            <a:avLst/>
          </a:prstGeom>
          <a:noFill/>
        </p:spPr>
        <p:txBody>
          <a:bodyPr wrap="square" rtlCol="0">
            <a:spAutoFit/>
          </a:bodyPr>
          <a:lstStyle/>
          <a:p>
            <a:r>
              <a:rPr lang="en-US" sz="3200" b="1" dirty="0"/>
              <a:t>In memory, so that lookups are fast</a:t>
            </a:r>
          </a:p>
          <a:p>
            <a:pPr marL="457200"/>
            <a:r>
              <a:rPr lang="en-US" sz="2800" b="0" dirty="0"/>
              <a:t>file name -&gt; array of chunk handles</a:t>
            </a:r>
          </a:p>
          <a:p>
            <a:pPr marL="457200"/>
            <a:r>
              <a:rPr lang="en-US" sz="2800" b="0" dirty="0"/>
              <a:t>chunk handle -&gt; version number, replica list, primary, lease expiry</a:t>
            </a:r>
          </a:p>
          <a:p>
            <a:r>
              <a:rPr lang="en-US" sz="3200" b="1" dirty="0"/>
              <a:t>On disk: an operation log plus checkpoints</a:t>
            </a:r>
          </a:p>
          <a:p>
            <a:pPr marL="457200"/>
            <a:r>
              <a:rPr lang="en-US" sz="2800" b="0" dirty="0"/>
              <a:t>File-to-chunk mapping and chunk version numbers are written to disk</a:t>
            </a:r>
          </a:p>
          <a:p>
            <a:pPr marL="457200"/>
            <a:r>
              <a:rPr lang="en-US" sz="2800" b="0" dirty="0"/>
              <a:t>Replica list, primary and lease expiry are not: they are rebuilt</a:t>
            </a:r>
          </a:p>
          <a:p>
            <a:r>
              <a:rPr lang="en-US" sz="3200" b="1" dirty="0"/>
              <a:t>After a reboot</a:t>
            </a:r>
          </a:p>
          <a:p>
            <a:pPr marL="457200"/>
            <a:r>
              <a:rPr lang="en-US" sz="2800" b="0" dirty="0"/>
              <a:t>Replay the log from the last checkpoint, ask chunkservers what they hold</a:t>
            </a:r>
          </a:p>
          <a:p>
            <a:pPr marL="457200"/>
            <a:r>
              <a:rPr lang="en-US" sz="2800" b="0" dirty="0"/>
              <a:t>Wait one lease time before naming any new primary</a:t>
            </a:r>
          </a:p>
        </p:txBody>
      </p:sp>
    </p:spTree>
    <p:extLst>
      <p:ext uri="{BB962C8B-B14F-4D97-AF65-F5344CB8AC3E}">
        <p14:creationId xmlns:p14="http://schemas.microsoft.com/office/powerpoint/2010/main" val="17206706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8485F-76FD-D862-018B-1C962C6F0CA0}"/>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A1BDF22B-4E91-2801-1982-FB9BC3379D6A}"/>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Chunk Servers</a:t>
            </a:r>
          </a:p>
        </p:txBody>
      </p:sp>
      <p:sp>
        <p:nvSpPr>
          <p:cNvPr id="8" name="Slide Number Placeholder 4">
            <a:extLst>
              <a:ext uri="{FF2B5EF4-FFF2-40B4-BE49-F238E27FC236}">
                <a16:creationId xmlns:a16="http://schemas.microsoft.com/office/drawing/2014/main" id="{D6D0FA67-10D7-411A-7872-72C02B241EA8}"/>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24</a:t>
            </a:fld>
            <a:endParaRPr lang="en-US"/>
          </a:p>
        </p:txBody>
      </p:sp>
      <p:sp>
        <p:nvSpPr>
          <p:cNvPr id="3" name="TextBox 2">
            <a:extLst>
              <a:ext uri="{FF2B5EF4-FFF2-40B4-BE49-F238E27FC236}">
                <a16:creationId xmlns:a16="http://schemas.microsoft.com/office/drawing/2014/main" id="{74FF273F-93E0-87A9-B6C7-BD152A1C0987}"/>
              </a:ext>
            </a:extLst>
          </p:cNvPr>
          <p:cNvSpPr txBox="1"/>
          <p:nvPr/>
        </p:nvSpPr>
        <p:spPr>
          <a:xfrm>
            <a:off x="84083" y="1137433"/>
            <a:ext cx="9007365" cy="3170099"/>
          </a:xfrm>
          <a:prstGeom prst="rect">
            <a:avLst/>
          </a:prstGeom>
          <a:noFill/>
        </p:spPr>
        <p:txBody>
          <a:bodyPr wrap="square">
            <a:spAutoFit/>
          </a:bodyPr>
          <a:lstStyle/>
          <a:p>
            <a:r>
              <a:rPr lang="en-US" sz="2800" b="1" dirty="0"/>
              <a:t>64MB chunks as Linux files </a:t>
            </a:r>
          </a:p>
          <a:p>
            <a:pPr marL="742950" lvl="1" indent="-285750">
              <a:buFont typeface="Arial" panose="020B0604020202020204" pitchFamily="34" charset="0"/>
              <a:buChar char="•"/>
            </a:pPr>
            <a:r>
              <a:rPr lang="en-US" sz="2400" dirty="0"/>
              <a:t>Reduce size of the master data structures </a:t>
            </a:r>
          </a:p>
          <a:p>
            <a:pPr marL="742950" lvl="1" indent="-285750">
              <a:buFont typeface="Arial" panose="020B0604020202020204" pitchFamily="34" charset="0"/>
              <a:buChar char="•"/>
            </a:pPr>
            <a:r>
              <a:rPr lang="en-US" sz="2400" dirty="0"/>
              <a:t>Reduce client-master interaction </a:t>
            </a:r>
          </a:p>
          <a:p>
            <a:pPr marL="742950" lvl="1" indent="-285750">
              <a:buFont typeface="Arial" panose="020B0604020202020204" pitchFamily="34" charset="0"/>
              <a:buChar char="•"/>
            </a:pPr>
            <a:r>
              <a:rPr lang="en-US" sz="2400" dirty="0"/>
              <a:t>Internal fragmentation =&gt; allocate space lazily </a:t>
            </a:r>
          </a:p>
          <a:p>
            <a:endParaRPr lang="en-US" sz="2400" dirty="0"/>
          </a:p>
          <a:p>
            <a:r>
              <a:rPr lang="en-US" sz="2800" b="1" dirty="0"/>
              <a:t>Fault tolerance </a:t>
            </a:r>
          </a:p>
          <a:p>
            <a:pPr marL="742950" lvl="1" indent="-285750">
              <a:buFont typeface="Arial" panose="020B0604020202020204" pitchFamily="34" charset="0"/>
              <a:buChar char="•"/>
            </a:pPr>
            <a:r>
              <a:rPr lang="en-US" sz="2400" dirty="0"/>
              <a:t>Heart-beat to the master </a:t>
            </a:r>
          </a:p>
          <a:p>
            <a:pPr marL="742950" lvl="1" indent="-285750">
              <a:buFont typeface="Arial" panose="020B0604020202020204" pitchFamily="34" charset="0"/>
              <a:buChar char="•"/>
            </a:pPr>
            <a:r>
              <a:rPr lang="en-US" sz="2400" dirty="0"/>
              <a:t>Something wrong =&gt; master </a:t>
            </a:r>
            <a:r>
              <a:rPr lang="en-US" sz="2400" dirty="0" err="1"/>
              <a:t>inits</a:t>
            </a:r>
            <a:r>
              <a:rPr lang="en-US" sz="2400" dirty="0"/>
              <a:t> replication </a:t>
            </a:r>
          </a:p>
        </p:txBody>
      </p:sp>
    </p:spTree>
    <p:extLst>
      <p:ext uri="{BB962C8B-B14F-4D97-AF65-F5344CB8AC3E}">
        <p14:creationId xmlns:p14="http://schemas.microsoft.com/office/powerpoint/2010/main" val="17938897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729AB-5EBB-FD20-43DD-D6E0374E683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2ED557C7-2CDD-8C0B-07A1-1DABA8EF652A}"/>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Data Integrity: Checksums</a:t>
            </a:r>
          </a:p>
        </p:txBody>
      </p:sp>
      <p:sp>
        <p:nvSpPr>
          <p:cNvPr id="8" name="Slide Number Placeholder 4">
            <a:extLst>
              <a:ext uri="{FF2B5EF4-FFF2-40B4-BE49-F238E27FC236}">
                <a16:creationId xmlns:a16="http://schemas.microsoft.com/office/drawing/2014/main" id="{25E098EE-1299-32C0-2821-1DB599BAC8E9}"/>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25</a:t>
            </a:fld>
            <a:endParaRPr lang="en-US"/>
          </a:p>
        </p:txBody>
      </p:sp>
      <p:sp>
        <p:nvSpPr>
          <p:cNvPr id="3" name="TextBox 2">
            <a:extLst>
              <a:ext uri="{FF2B5EF4-FFF2-40B4-BE49-F238E27FC236}">
                <a16:creationId xmlns:a16="http://schemas.microsoft.com/office/drawing/2014/main" id="{857EC8A2-DB9F-8BB1-7445-FE716E76BAC5}"/>
              </a:ext>
            </a:extLst>
          </p:cNvPr>
          <p:cNvSpPr txBox="1"/>
          <p:nvPr/>
        </p:nvSpPr>
        <p:spPr>
          <a:xfrm>
            <a:off x="88135" y="914401"/>
            <a:ext cx="11414752" cy="4031873"/>
          </a:xfrm>
          <a:prstGeom prst="rect">
            <a:avLst/>
          </a:prstGeom>
          <a:noFill/>
        </p:spPr>
        <p:txBody>
          <a:bodyPr wrap="square" rtlCol="0">
            <a:spAutoFit/>
          </a:bodyPr>
          <a:lstStyle/>
          <a:p>
            <a:r>
              <a:rPr lang="en-US" sz="3200" b="1" dirty="0"/>
              <a:t>Each chunkserver checks its own data</a:t>
            </a:r>
          </a:p>
          <a:p>
            <a:pPr marL="457200"/>
            <a:r>
              <a:rPr lang="en-US" sz="2800" b="0" dirty="0"/>
              <a:t>A 32-bit checksum for every 64 KB block, kept in memory and logged to disk</a:t>
            </a:r>
          </a:p>
          <a:p>
            <a:pPr marL="457200"/>
            <a:r>
              <a:rPr lang="en-US" sz="2800" b="0" dirty="0"/>
              <a:t>Verified before any data is returned to a client or copied to another replica</a:t>
            </a:r>
          </a:p>
          <a:p>
            <a:pPr marL="457200"/>
            <a:r>
              <a:rPr lang="en-US" sz="2800" b="0" dirty="0"/>
              <a:t>A bad block is reported to the master, which clones a good replica and drops the bad one</a:t>
            </a:r>
          </a:p>
          <a:p>
            <a:r>
              <a:rPr lang="en-US" sz="3200" b="1" dirty="0"/>
              <a:t>Disks fail quietly, so someone has to look</a:t>
            </a:r>
          </a:p>
          <a:p>
            <a:pPr marL="457200"/>
            <a:r>
              <a:rPr lang="en-US" sz="2800" b="0" dirty="0"/>
              <a:t>The master never compares checksums; the chunkserver holding the data does</a:t>
            </a:r>
          </a:p>
          <a:p>
            <a:pPr marL="457200"/>
            <a:r>
              <a:rPr lang="en-US" sz="2800" b="0" dirty="0"/>
              <a:t>Checksums are most of what a chunkserver stores besides the data itself</a:t>
            </a:r>
          </a:p>
        </p:txBody>
      </p:sp>
    </p:spTree>
    <p:extLst>
      <p:ext uri="{BB962C8B-B14F-4D97-AF65-F5344CB8AC3E}">
        <p14:creationId xmlns:p14="http://schemas.microsoft.com/office/powerpoint/2010/main" val="17206706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96A3D-163E-7287-3C0E-9D5445AE167C}"/>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A281732-FCF6-7343-CCD8-1FEA36A57EE9}"/>
              </a:ext>
            </a:extLst>
          </p:cNvPr>
          <p:cNvSpPr>
            <a:spLocks noGrp="1"/>
          </p:cNvSpPr>
          <p:nvPr>
            <p:ph type="title"/>
          </p:nvPr>
        </p:nvSpPr>
        <p:spPr>
          <a:xfrm>
            <a:off x="1" y="2774732"/>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Basic Ops ( Read, Write)</a:t>
            </a:r>
          </a:p>
        </p:txBody>
      </p:sp>
      <p:sp>
        <p:nvSpPr>
          <p:cNvPr id="8" name="Slide Number Placeholder 4">
            <a:extLst>
              <a:ext uri="{FF2B5EF4-FFF2-40B4-BE49-F238E27FC236}">
                <a16:creationId xmlns:a16="http://schemas.microsoft.com/office/drawing/2014/main" id="{FF6D1714-FEBE-B10D-9687-7C26182098C3}"/>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26</a:t>
            </a:fld>
            <a:endParaRPr lang="en-US"/>
          </a:p>
        </p:txBody>
      </p:sp>
    </p:spTree>
    <p:extLst>
      <p:ext uri="{BB962C8B-B14F-4D97-AF65-F5344CB8AC3E}">
        <p14:creationId xmlns:p14="http://schemas.microsoft.com/office/powerpoint/2010/main" val="16574235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1B413-C534-2EFE-803A-7FF1A301E95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A6ACEC64-07F8-A81F-9ED0-4B2AF7C738EA}"/>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When Client Wants to Read A File?</a:t>
            </a:r>
          </a:p>
        </p:txBody>
      </p:sp>
      <p:sp>
        <p:nvSpPr>
          <p:cNvPr id="8" name="Slide Number Placeholder 4">
            <a:extLst>
              <a:ext uri="{FF2B5EF4-FFF2-40B4-BE49-F238E27FC236}">
                <a16:creationId xmlns:a16="http://schemas.microsoft.com/office/drawing/2014/main" id="{441743BB-16C3-E865-3DA1-972A63BFF183}"/>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27</a:t>
            </a:fld>
            <a:endParaRPr lang="en-US"/>
          </a:p>
        </p:txBody>
      </p:sp>
      <p:sp>
        <p:nvSpPr>
          <p:cNvPr id="3" name="TextBox 2">
            <a:extLst>
              <a:ext uri="{FF2B5EF4-FFF2-40B4-BE49-F238E27FC236}">
                <a16:creationId xmlns:a16="http://schemas.microsoft.com/office/drawing/2014/main" id="{DA3485F0-3220-17BD-54F0-AC0027F26F2F}"/>
              </a:ext>
            </a:extLst>
          </p:cNvPr>
          <p:cNvSpPr txBox="1"/>
          <p:nvPr/>
        </p:nvSpPr>
        <p:spPr>
          <a:xfrm>
            <a:off x="199697" y="930315"/>
            <a:ext cx="10857186" cy="5262979"/>
          </a:xfrm>
          <a:prstGeom prst="rect">
            <a:avLst/>
          </a:prstGeom>
          <a:noFill/>
        </p:spPr>
        <p:txBody>
          <a:bodyPr wrap="square">
            <a:spAutoFit/>
          </a:bodyPr>
          <a:lstStyle/>
          <a:p>
            <a:r>
              <a:rPr lang="en-US" sz="2400" dirty="0">
                <a:effectLst/>
              </a:rPr>
              <a:t>1. </a:t>
            </a:r>
            <a:r>
              <a:rPr lang="en-US" sz="2800" dirty="0">
                <a:effectLst/>
              </a:rPr>
              <a:t>C sends filename and offset to master M (if not cached)</a:t>
            </a:r>
          </a:p>
          <a:p>
            <a:pPr marL="800100" lvl="1" indent="-342900">
              <a:buFont typeface="Arial" panose="020B0604020202020204" pitchFamily="34" charset="0"/>
              <a:buChar char="•"/>
            </a:pPr>
            <a:r>
              <a:rPr lang="en-US" sz="2400" dirty="0">
                <a:effectLst/>
              </a:rPr>
              <a:t>M has a filename -&gt; array-of-chunk handle table and a chunk handle -&gt; list-of-chunk servers table</a:t>
            </a:r>
          </a:p>
          <a:p>
            <a:endParaRPr lang="en-US" sz="2400" dirty="0"/>
          </a:p>
          <a:p>
            <a:r>
              <a:rPr lang="en-US" sz="2800" dirty="0">
                <a:effectLst/>
              </a:rPr>
              <a:t>2. M finds chunk handle for that offset</a:t>
            </a:r>
          </a:p>
          <a:p>
            <a:endParaRPr lang="en-US" sz="2400" dirty="0"/>
          </a:p>
          <a:p>
            <a:r>
              <a:rPr lang="en-US" sz="2800" dirty="0">
                <a:effectLst/>
              </a:rPr>
              <a:t>3. M replies with chunk handle + list of chunk servers</a:t>
            </a:r>
          </a:p>
          <a:p>
            <a:endParaRPr lang="en-US" sz="2400" dirty="0">
              <a:effectLst/>
            </a:endParaRPr>
          </a:p>
          <a:p>
            <a:r>
              <a:rPr lang="en-US" sz="2800" dirty="0">
                <a:effectLst/>
              </a:rPr>
              <a:t>4. C caches handle + chunk server list</a:t>
            </a:r>
          </a:p>
          <a:p>
            <a:endParaRPr lang="en-US" sz="2400" dirty="0">
              <a:effectLst/>
            </a:endParaRPr>
          </a:p>
          <a:p>
            <a:r>
              <a:rPr lang="en-US" sz="2800" dirty="0">
                <a:effectLst/>
              </a:rPr>
              <a:t>5. C sends request to nearest chunk server</a:t>
            </a:r>
            <a:r>
              <a:rPr lang="en-US" sz="2800" dirty="0"/>
              <a:t> </a:t>
            </a:r>
            <a:r>
              <a:rPr lang="en-US" sz="2800" dirty="0">
                <a:effectLst/>
              </a:rPr>
              <a:t>chunk handle, offset</a:t>
            </a:r>
          </a:p>
          <a:p>
            <a:endParaRPr lang="en-US" sz="2400" dirty="0">
              <a:effectLst/>
            </a:endParaRPr>
          </a:p>
          <a:p>
            <a:r>
              <a:rPr lang="en-US" sz="2800" dirty="0">
                <a:effectLst/>
              </a:rPr>
              <a:t>6. chunk server reads from chunk file on disk, returns to client</a:t>
            </a:r>
          </a:p>
        </p:txBody>
      </p:sp>
    </p:spTree>
    <p:extLst>
      <p:ext uri="{BB962C8B-B14F-4D97-AF65-F5344CB8AC3E}">
        <p14:creationId xmlns:p14="http://schemas.microsoft.com/office/powerpoint/2010/main" val="31411910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CAC8A-556B-B2D2-CA23-1DAC9EEA9D91}"/>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DD9421F6-F0F7-1F21-A3C4-6D8EB2B999F4}"/>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When Client Wants to Read a File</a:t>
            </a:r>
          </a:p>
        </p:txBody>
      </p:sp>
      <p:sp>
        <p:nvSpPr>
          <p:cNvPr id="8" name="Slide Number Placeholder 4">
            <a:extLst>
              <a:ext uri="{FF2B5EF4-FFF2-40B4-BE49-F238E27FC236}">
                <a16:creationId xmlns:a16="http://schemas.microsoft.com/office/drawing/2014/main" id="{AFAD2135-2CA0-85FE-083B-9B9F35199462}"/>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28</a:t>
            </a:fld>
            <a:endParaRPr lang="en-US"/>
          </a:p>
        </p:txBody>
      </p:sp>
      <p:sp>
        <p:nvSpPr>
          <p:cNvPr id="4" name="TextBox 3">
            <a:extLst>
              <a:ext uri="{FF2B5EF4-FFF2-40B4-BE49-F238E27FC236}">
                <a16:creationId xmlns:a16="http://schemas.microsoft.com/office/drawing/2014/main" id="{FDAB6517-27B7-AB4C-4BE5-530302281E94}"/>
              </a:ext>
            </a:extLst>
          </p:cNvPr>
          <p:cNvSpPr txBox="1"/>
          <p:nvPr/>
        </p:nvSpPr>
        <p:spPr>
          <a:xfrm>
            <a:off x="78028" y="941411"/>
            <a:ext cx="10653033" cy="2862322"/>
          </a:xfrm>
          <a:prstGeom prst="rect">
            <a:avLst/>
          </a:prstGeom>
          <a:noFill/>
        </p:spPr>
        <p:txBody>
          <a:bodyPr wrap="square">
            <a:spAutoFit/>
          </a:bodyPr>
          <a:lstStyle/>
          <a:p>
            <a:r>
              <a:rPr lang="en-US" sz="2800" b="1" dirty="0">
                <a:effectLst/>
              </a:rPr>
              <a:t>Clients only ask master where to find a file's chunks</a:t>
            </a:r>
          </a:p>
          <a:p>
            <a:pPr marL="800100" lvl="1" indent="-342900">
              <a:buFont typeface="Arial" panose="020B0604020202020204" pitchFamily="34" charset="0"/>
              <a:buChar char="•"/>
            </a:pPr>
            <a:r>
              <a:rPr lang="en-US" sz="2400" dirty="0"/>
              <a:t>c</a:t>
            </a:r>
            <a:r>
              <a:rPr lang="en-US" sz="2400" dirty="0">
                <a:effectLst/>
              </a:rPr>
              <a:t>lients cache name -&gt; chunk handle info</a:t>
            </a:r>
          </a:p>
          <a:p>
            <a:pPr marL="800100" lvl="1" indent="-342900">
              <a:buFont typeface="Arial" panose="020B0604020202020204" pitchFamily="34" charset="0"/>
              <a:buChar char="•"/>
            </a:pPr>
            <a:r>
              <a:rPr lang="en-US" sz="2400" dirty="0">
                <a:effectLst/>
              </a:rPr>
              <a:t>coordinator does not handle data, so (hopefully) not heavily loaded</a:t>
            </a:r>
          </a:p>
          <a:p>
            <a:endParaRPr lang="en-US" sz="2400" dirty="0">
              <a:effectLst/>
            </a:endParaRPr>
          </a:p>
          <a:p>
            <a:r>
              <a:rPr lang="en-US" sz="2800" b="1" dirty="0">
                <a:effectLst/>
              </a:rPr>
              <a:t>What about writes?</a:t>
            </a:r>
          </a:p>
          <a:p>
            <a:pPr marL="800100" lvl="1" indent="-342900">
              <a:buFont typeface="Arial" panose="020B0604020202020204" pitchFamily="34" charset="0"/>
              <a:buChar char="•"/>
            </a:pPr>
            <a:r>
              <a:rPr lang="en-US" sz="2400" dirty="0">
                <a:effectLst/>
              </a:rPr>
              <a:t>Client knows which chunk servers hold replicas that must be updated.</a:t>
            </a:r>
          </a:p>
          <a:p>
            <a:pPr marL="800100" lvl="1" indent="-342900">
              <a:buFont typeface="Arial" panose="020B0604020202020204" pitchFamily="34" charset="0"/>
              <a:buChar char="•"/>
            </a:pPr>
            <a:r>
              <a:rPr lang="en-US" sz="2400" dirty="0">
                <a:effectLst/>
              </a:rPr>
              <a:t>How should we manage updating of replicas of a chunk</a:t>
            </a:r>
          </a:p>
        </p:txBody>
      </p:sp>
    </p:spTree>
    <p:extLst>
      <p:ext uri="{BB962C8B-B14F-4D97-AF65-F5344CB8AC3E}">
        <p14:creationId xmlns:p14="http://schemas.microsoft.com/office/powerpoint/2010/main" val="2544503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dissolve">
                                      <p:cBhvr>
                                        <p:cTn id="7" dur="500"/>
                                        <p:tgtEl>
                                          <p:spTgt spid="4">
                                            <p:txEl>
                                              <p:pRg st="4" end="4"/>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4">
                                            <p:txEl>
                                              <p:pRg st="5" end="5"/>
                                            </p:txEl>
                                          </p:spTgt>
                                        </p:tgtEl>
                                        <p:attrNameLst>
                                          <p:attrName>style.visibility</p:attrName>
                                        </p:attrNameLst>
                                      </p:cBhvr>
                                      <p:to>
                                        <p:strVal val="visible"/>
                                      </p:to>
                                    </p:set>
                                    <p:animEffect transition="in" filter="dissolve">
                                      <p:cBhvr>
                                        <p:cTn id="10" dur="500"/>
                                        <p:tgtEl>
                                          <p:spTgt spid="4">
                                            <p:txEl>
                                              <p:pRg st="5" end="5"/>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animEffect transition="in" filter="dissolve">
                                      <p:cBhvr>
                                        <p:cTn id="13" dur="500"/>
                                        <p:tgtEl>
                                          <p:spTgt spid="4">
                                            <p:txEl>
                                              <p:pRg st="6" end="6"/>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4">
                                            <p:txEl>
                                              <p:pRg st="4" end="4"/>
                                            </p:txEl>
                                          </p:spTgt>
                                        </p:tgtEl>
                                        <p:attrNameLst>
                                          <p:attrName>style.visibility</p:attrName>
                                        </p:attrNameLst>
                                      </p:cBhvr>
                                      <p:to>
                                        <p:strVal val="visible"/>
                                      </p:to>
                                    </p:set>
                                    <p:animEffect transition="in" filter="dissolve">
                                      <p:cBhvr>
                                        <p:cTn id="18" dur="500"/>
                                        <p:tgtEl>
                                          <p:spTgt spid="4">
                                            <p:txEl>
                                              <p:pRg st="4" end="4"/>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animEffect transition="in" filter="dissolve">
                                      <p:cBhvr>
                                        <p:cTn id="21" dur="500"/>
                                        <p:tgtEl>
                                          <p:spTgt spid="4">
                                            <p:txEl>
                                              <p:pRg st="5" end="5"/>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4">
                                            <p:txEl>
                                              <p:pRg st="6" end="6"/>
                                            </p:txEl>
                                          </p:spTgt>
                                        </p:tgtEl>
                                        <p:attrNameLst>
                                          <p:attrName>style.visibility</p:attrName>
                                        </p:attrNameLst>
                                      </p:cBhvr>
                                      <p:to>
                                        <p:strVal val="visible"/>
                                      </p:to>
                                    </p:set>
                                    <p:animEffect transition="in" filter="dissolve">
                                      <p:cBhvr>
                                        <p:cTn id="24"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1F19F-1734-93BF-67B8-ADD2174B5221}"/>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99D8DABD-8446-BA0E-64C9-9A6FA64F77F7}"/>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Solution: Primary/Secondary Replication</a:t>
            </a:r>
          </a:p>
        </p:txBody>
      </p:sp>
      <p:sp>
        <p:nvSpPr>
          <p:cNvPr id="8" name="Slide Number Placeholder 4">
            <a:extLst>
              <a:ext uri="{FF2B5EF4-FFF2-40B4-BE49-F238E27FC236}">
                <a16:creationId xmlns:a16="http://schemas.microsoft.com/office/drawing/2014/main" id="{162670CA-DD32-FEE9-419F-27DA78130D6E}"/>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29</a:t>
            </a:fld>
            <a:endParaRPr lang="en-US"/>
          </a:p>
        </p:txBody>
      </p:sp>
      <p:sp>
        <p:nvSpPr>
          <p:cNvPr id="3" name="TextBox 2">
            <a:extLst>
              <a:ext uri="{FF2B5EF4-FFF2-40B4-BE49-F238E27FC236}">
                <a16:creationId xmlns:a16="http://schemas.microsoft.com/office/drawing/2014/main" id="{A4F20FFF-411E-E7DF-0C6E-FB3B3C70923D}"/>
              </a:ext>
            </a:extLst>
          </p:cNvPr>
          <p:cNvSpPr txBox="1"/>
          <p:nvPr/>
        </p:nvSpPr>
        <p:spPr>
          <a:xfrm>
            <a:off x="118240" y="1042160"/>
            <a:ext cx="11056884" cy="3662541"/>
          </a:xfrm>
          <a:prstGeom prst="rect">
            <a:avLst/>
          </a:prstGeom>
          <a:noFill/>
        </p:spPr>
        <p:txBody>
          <a:bodyPr wrap="square">
            <a:spAutoFit/>
          </a:bodyPr>
          <a:lstStyle/>
          <a:p>
            <a:r>
              <a:rPr lang="en-US" sz="2800" b="1" dirty="0">
                <a:effectLst/>
              </a:rPr>
              <a:t>For each chunk, designate one server as "primary".</a:t>
            </a:r>
          </a:p>
          <a:p>
            <a:endParaRPr lang="en-US" sz="2400" dirty="0">
              <a:effectLst/>
            </a:endParaRPr>
          </a:p>
          <a:p>
            <a:r>
              <a:rPr lang="en-US" sz="2800" b="1" dirty="0">
                <a:effectLst/>
              </a:rPr>
              <a:t>Clients send write requests just to the primary.</a:t>
            </a:r>
          </a:p>
          <a:p>
            <a:pPr marL="800100" lvl="1" indent="-342900">
              <a:buFont typeface="Arial" panose="020B0604020202020204" pitchFamily="34" charset="0"/>
              <a:buChar char="•"/>
            </a:pPr>
            <a:r>
              <a:rPr lang="en-US" sz="2400" dirty="0">
                <a:effectLst/>
              </a:rPr>
              <a:t>The primary alone manages interactions with secondary servers.</a:t>
            </a:r>
          </a:p>
          <a:p>
            <a:pPr marL="800100" lvl="1" indent="-342900">
              <a:buFont typeface="Arial" panose="020B0604020202020204" pitchFamily="34" charset="0"/>
              <a:buChar char="•"/>
            </a:pPr>
            <a:r>
              <a:rPr lang="en-US" sz="2400" dirty="0">
                <a:effectLst/>
              </a:rPr>
              <a:t>(Some designs send reads just to primary, some also to secondaries)</a:t>
            </a:r>
          </a:p>
          <a:p>
            <a:pPr marL="800100" lvl="1" indent="-342900">
              <a:buFont typeface="Arial" panose="020B0604020202020204" pitchFamily="34" charset="0"/>
              <a:buChar char="•"/>
            </a:pPr>
            <a:endParaRPr lang="en-US" sz="2400" dirty="0">
              <a:effectLst/>
            </a:endParaRPr>
          </a:p>
          <a:p>
            <a:r>
              <a:rPr lang="en-US" sz="2800" b="1" dirty="0">
                <a:effectLst/>
              </a:rPr>
              <a:t>The primary chooses the order for all client writes.</a:t>
            </a:r>
          </a:p>
          <a:p>
            <a:pPr marL="800100" lvl="1" indent="-342900">
              <a:buFont typeface="Arial" panose="020B0604020202020204" pitchFamily="34" charset="0"/>
              <a:buChar char="•"/>
            </a:pPr>
            <a:r>
              <a:rPr lang="en-US" sz="2400" dirty="0">
                <a:effectLst/>
              </a:rPr>
              <a:t>Tells the secondaries -- with sequence numbers -- so all replicas</a:t>
            </a:r>
          </a:p>
          <a:p>
            <a:pPr marL="800100" lvl="1" indent="-342900">
              <a:buFont typeface="Arial" panose="020B0604020202020204" pitchFamily="34" charset="0"/>
              <a:buChar char="•"/>
            </a:pPr>
            <a:r>
              <a:rPr lang="en-US" sz="2400" dirty="0">
                <a:effectLst/>
              </a:rPr>
              <a:t>apply writes in the same order, even for concurrent client writes.</a:t>
            </a:r>
          </a:p>
        </p:txBody>
      </p:sp>
    </p:spTree>
    <p:extLst>
      <p:ext uri="{BB962C8B-B14F-4D97-AF65-F5344CB8AC3E}">
        <p14:creationId xmlns:p14="http://schemas.microsoft.com/office/powerpoint/2010/main" val="38983017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E727B-5074-8E30-D1DB-C1EF84C9004D}"/>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1CB4667E-E19D-76F9-754F-AC7741FFA07E}"/>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When Client Wants to Write </a:t>
            </a:r>
          </a:p>
        </p:txBody>
      </p:sp>
      <p:sp>
        <p:nvSpPr>
          <p:cNvPr id="8" name="Slide Number Placeholder 4">
            <a:extLst>
              <a:ext uri="{FF2B5EF4-FFF2-40B4-BE49-F238E27FC236}">
                <a16:creationId xmlns:a16="http://schemas.microsoft.com/office/drawing/2014/main" id="{469B72AD-0626-70A9-F346-07C3124E9725}"/>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30</a:t>
            </a:fld>
            <a:endParaRPr lang="en-US"/>
          </a:p>
        </p:txBody>
      </p:sp>
      <p:sp>
        <p:nvSpPr>
          <p:cNvPr id="3" name="TextBox 2">
            <a:extLst>
              <a:ext uri="{FF2B5EF4-FFF2-40B4-BE49-F238E27FC236}">
                <a16:creationId xmlns:a16="http://schemas.microsoft.com/office/drawing/2014/main" id="{08D3D663-5A53-DB28-CDA3-70DD34820083}"/>
              </a:ext>
            </a:extLst>
          </p:cNvPr>
          <p:cNvSpPr txBox="1"/>
          <p:nvPr/>
        </p:nvSpPr>
        <p:spPr>
          <a:xfrm>
            <a:off x="199696" y="604312"/>
            <a:ext cx="10079421" cy="6186309"/>
          </a:xfrm>
          <a:prstGeom prst="rect">
            <a:avLst/>
          </a:prstGeom>
          <a:noFill/>
        </p:spPr>
        <p:txBody>
          <a:bodyPr wrap="square">
            <a:spAutoFit/>
          </a:bodyPr>
          <a:lstStyle/>
          <a:p>
            <a:r>
              <a:rPr lang="en-US" sz="2400" dirty="0">
                <a:effectLst/>
              </a:rPr>
              <a:t>1. C asks </a:t>
            </a:r>
            <a:r>
              <a:rPr lang="en-US" sz="2400" dirty="0"/>
              <a:t>M</a:t>
            </a:r>
            <a:r>
              <a:rPr lang="en-US" sz="2400" dirty="0">
                <a:effectLst/>
              </a:rPr>
              <a:t> about file's chunk @ offset</a:t>
            </a:r>
          </a:p>
          <a:p>
            <a:pPr marL="457200" indent="-457200">
              <a:buAutoNum type="arabicPeriod"/>
            </a:pPr>
            <a:endParaRPr lang="en-US" dirty="0">
              <a:effectLst/>
            </a:endParaRPr>
          </a:p>
          <a:p>
            <a:r>
              <a:rPr lang="en-US" sz="2400" dirty="0">
                <a:effectLst/>
              </a:rPr>
              <a:t>2. M tells C the primary and secondaries</a:t>
            </a:r>
          </a:p>
          <a:p>
            <a:endParaRPr lang="en-US" dirty="0">
              <a:effectLst/>
            </a:endParaRPr>
          </a:p>
          <a:p>
            <a:r>
              <a:rPr lang="en-US" sz="2400" dirty="0">
                <a:effectLst/>
              </a:rPr>
              <a:t>3. C sends data to all (just temporary...), waits for all replies (?)</a:t>
            </a:r>
          </a:p>
          <a:p>
            <a:endParaRPr lang="en-US" dirty="0">
              <a:effectLst/>
            </a:endParaRPr>
          </a:p>
          <a:p>
            <a:r>
              <a:rPr lang="en-US" sz="2400" dirty="0">
                <a:effectLst/>
              </a:rPr>
              <a:t>4. C asks P to write</a:t>
            </a:r>
          </a:p>
          <a:p>
            <a:pPr marL="742950" lvl="1" indent="-285750">
              <a:buFont typeface="Arial" panose="020B0604020202020204" pitchFamily="34" charset="0"/>
              <a:buChar char="•"/>
            </a:pPr>
            <a:r>
              <a:rPr lang="en-US" sz="2400" dirty="0">
                <a:effectLst/>
              </a:rPr>
              <a:t>P checks that lease (?) hasn't expired</a:t>
            </a:r>
          </a:p>
          <a:p>
            <a:pPr marL="742950" lvl="1" indent="-285750">
              <a:buFont typeface="Arial" panose="020B0604020202020204" pitchFamily="34" charset="0"/>
              <a:buChar char="•"/>
            </a:pPr>
            <a:r>
              <a:rPr lang="en-US" sz="2400" dirty="0">
                <a:effectLst/>
              </a:rPr>
              <a:t>P writes its own chunk file (a Linux file)</a:t>
            </a:r>
          </a:p>
          <a:p>
            <a:pPr marL="742950" lvl="1" indent="-285750">
              <a:buFont typeface="Arial" panose="020B0604020202020204" pitchFamily="34" charset="0"/>
              <a:buChar char="•"/>
            </a:pPr>
            <a:endParaRPr lang="en-US" dirty="0">
              <a:effectLst/>
            </a:endParaRPr>
          </a:p>
          <a:p>
            <a:r>
              <a:rPr lang="en-US" sz="2400" dirty="0">
                <a:effectLst/>
              </a:rPr>
              <a:t>5. P tells each secondary to write</a:t>
            </a:r>
          </a:p>
          <a:p>
            <a:pPr marL="742950" lvl="1" indent="-285750">
              <a:buFont typeface="Arial" panose="020B0604020202020204" pitchFamily="34" charset="0"/>
              <a:buChar char="•"/>
            </a:pPr>
            <a:r>
              <a:rPr lang="en-US" sz="2400" dirty="0">
                <a:effectLst/>
              </a:rPr>
              <a:t>(copy temporary into chunk file)</a:t>
            </a:r>
          </a:p>
          <a:p>
            <a:endParaRPr lang="en-US" dirty="0"/>
          </a:p>
          <a:p>
            <a:r>
              <a:rPr lang="en-US" sz="2400" dirty="0">
                <a:effectLst/>
              </a:rPr>
              <a:t>6. P waits for all secondaries to reply, or timeout</a:t>
            </a:r>
          </a:p>
          <a:p>
            <a:pPr marL="742950" lvl="1" indent="-285750">
              <a:buFont typeface="Arial" panose="020B0604020202020204" pitchFamily="34" charset="0"/>
              <a:buChar char="•"/>
            </a:pPr>
            <a:r>
              <a:rPr lang="en-US" sz="2400" dirty="0">
                <a:effectLst/>
              </a:rPr>
              <a:t>secondary can reply "error" e.g. out of disk space</a:t>
            </a:r>
          </a:p>
          <a:p>
            <a:endParaRPr lang="en-US" dirty="0"/>
          </a:p>
          <a:p>
            <a:r>
              <a:rPr lang="en-US" sz="2400" dirty="0">
                <a:effectLst/>
              </a:rPr>
              <a:t>7. P tells C "ok" or "error"</a:t>
            </a:r>
          </a:p>
          <a:p>
            <a:pPr marL="742950" lvl="1" indent="-285750">
              <a:buFont typeface="Arial" panose="020B0604020202020204" pitchFamily="34" charset="0"/>
              <a:buChar char="•"/>
            </a:pPr>
            <a:r>
              <a:rPr lang="en-US" sz="2400" dirty="0">
                <a:effectLst/>
              </a:rPr>
              <a:t>C retries from start if error</a:t>
            </a:r>
          </a:p>
        </p:txBody>
      </p:sp>
    </p:spTree>
    <p:extLst>
      <p:ext uri="{BB962C8B-B14F-4D97-AF65-F5344CB8AC3E}">
        <p14:creationId xmlns:p14="http://schemas.microsoft.com/office/powerpoint/2010/main" val="29926054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729AB-5EBB-FD20-43DD-D6E0374E683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2ED557C7-2CDD-8C0B-07A1-1DABA8EF652A}"/>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Stale Replicas and Version Numbers</a:t>
            </a:r>
          </a:p>
        </p:txBody>
      </p:sp>
      <p:sp>
        <p:nvSpPr>
          <p:cNvPr id="8" name="Slide Number Placeholder 4">
            <a:extLst>
              <a:ext uri="{FF2B5EF4-FFF2-40B4-BE49-F238E27FC236}">
                <a16:creationId xmlns:a16="http://schemas.microsoft.com/office/drawing/2014/main" id="{25E098EE-1299-32C0-2821-1DB599BAC8E9}"/>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31</a:t>
            </a:fld>
            <a:endParaRPr lang="en-US"/>
          </a:p>
        </p:txBody>
      </p:sp>
      <p:sp>
        <p:nvSpPr>
          <p:cNvPr id="3" name="TextBox 2">
            <a:extLst>
              <a:ext uri="{FF2B5EF4-FFF2-40B4-BE49-F238E27FC236}">
                <a16:creationId xmlns:a16="http://schemas.microsoft.com/office/drawing/2014/main" id="{857EC8A2-DB9F-8BB1-7445-FE716E76BAC5}"/>
              </a:ext>
            </a:extLst>
          </p:cNvPr>
          <p:cNvSpPr txBox="1"/>
          <p:nvPr/>
        </p:nvSpPr>
        <p:spPr>
          <a:xfrm>
            <a:off x="88135" y="914401"/>
            <a:ext cx="11414752" cy="4031873"/>
          </a:xfrm>
          <a:prstGeom prst="rect">
            <a:avLst/>
          </a:prstGeom>
          <a:noFill/>
        </p:spPr>
        <p:txBody>
          <a:bodyPr wrap="square" rtlCol="0">
            <a:spAutoFit/>
          </a:bodyPr>
          <a:lstStyle/>
          <a:p>
            <a:r>
              <a:rPr lang="en-US" sz="3200" b="1" dirty="0"/>
              <a:t>Every chunk carries a version number handed out by the master</a:t>
            </a:r>
          </a:p>
          <a:p>
            <a:pPr marL="457200"/>
            <a:r>
              <a:rPr lang="en-US" sz="2800" b="0" dirty="0"/>
              <a:t>The master bumps it whenever it grants a lease to a new primary</a:t>
            </a:r>
          </a:p>
          <a:p>
            <a:pPr marL="457200"/>
            <a:r>
              <a:rPr lang="en-US" sz="2800" b="0" dirty="0"/>
              <a:t>It writes the new number to its own disk, then tells primary and secondaries</a:t>
            </a:r>
          </a:p>
          <a:p>
            <a:pPr marL="457200"/>
            <a:r>
              <a:rPr lang="en-US" sz="2800" b="0" dirty="0"/>
              <a:t>Those replicas write the number to disk as well</a:t>
            </a:r>
          </a:p>
          <a:p>
            <a:r>
              <a:rPr lang="en-US" sz="3200" b="1" dirty="0"/>
              <a:t>A replica that missed an update keeps an old number</a:t>
            </a:r>
          </a:p>
          <a:p>
            <a:pPr marL="457200"/>
            <a:r>
              <a:rPr lang="en-US" sz="2800" b="0" dirty="0"/>
              <a:t>The master never hands a stale replica to a client, and never makes it primary</a:t>
            </a:r>
          </a:p>
          <a:p>
            <a:pPr marL="457200"/>
            <a:r>
              <a:rPr lang="en-US" sz="2800" b="0" dirty="0"/>
              <a:t>Stale replicas are garbage collected</a:t>
            </a:r>
          </a:p>
          <a:p>
            <a:r>
              <a:rPr lang="en-US" sz="3200" b="1" dirty="0"/>
              <a:t>After a power failure the master waits rather than serve stale data</a:t>
            </a:r>
          </a:p>
        </p:txBody>
      </p:sp>
    </p:spTree>
    <p:extLst>
      <p:ext uri="{BB962C8B-B14F-4D97-AF65-F5344CB8AC3E}">
        <p14:creationId xmlns:p14="http://schemas.microsoft.com/office/powerpoint/2010/main" val="17206706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0C915-C4E2-2E6A-0232-44BB1A56916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7B1FC80D-9F25-6C9F-B02A-EE5EB663AAED}"/>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Control and Data Flow</a:t>
            </a:r>
          </a:p>
        </p:txBody>
      </p:sp>
      <p:sp>
        <p:nvSpPr>
          <p:cNvPr id="8" name="Slide Number Placeholder 4">
            <a:extLst>
              <a:ext uri="{FF2B5EF4-FFF2-40B4-BE49-F238E27FC236}">
                <a16:creationId xmlns:a16="http://schemas.microsoft.com/office/drawing/2014/main" id="{968F4D4A-56E2-A3BB-929B-9B779568238C}"/>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32</a:t>
            </a:fld>
            <a:endParaRPr lang="en-US"/>
          </a:p>
        </p:txBody>
      </p:sp>
      <p:sp>
        <p:nvSpPr>
          <p:cNvPr id="2" name="object 2">
            <a:extLst>
              <a:ext uri="{FF2B5EF4-FFF2-40B4-BE49-F238E27FC236}">
                <a16:creationId xmlns:a16="http://schemas.microsoft.com/office/drawing/2014/main" id="{57584077-2EA7-B8B9-4F87-5AA3582E9AB2}"/>
              </a:ext>
            </a:extLst>
          </p:cNvPr>
          <p:cNvSpPr/>
          <p:nvPr/>
        </p:nvSpPr>
        <p:spPr>
          <a:xfrm>
            <a:off x="5260751" y="914401"/>
            <a:ext cx="2212340" cy="687705"/>
          </a:xfrm>
          <a:custGeom>
            <a:avLst/>
            <a:gdLst/>
            <a:ahLst/>
            <a:cxnLst/>
            <a:rect l="l" t="t" r="r" b="b"/>
            <a:pathLst>
              <a:path w="2212340" h="687705">
                <a:moveTo>
                  <a:pt x="0" y="0"/>
                </a:moveTo>
                <a:lnTo>
                  <a:pt x="2211871" y="0"/>
                </a:lnTo>
                <a:lnTo>
                  <a:pt x="2211871" y="687168"/>
                </a:lnTo>
                <a:lnTo>
                  <a:pt x="0" y="687168"/>
                </a:lnTo>
                <a:lnTo>
                  <a:pt x="0" y="0"/>
                </a:lnTo>
                <a:close/>
              </a:path>
            </a:pathLst>
          </a:custGeom>
          <a:ln w="25400">
            <a:solidFill>
              <a:srgbClr val="6FBE40"/>
            </a:solidFill>
          </a:ln>
        </p:spPr>
        <p:txBody>
          <a:bodyPr wrap="square" lIns="0" tIns="0" rIns="0" bIns="0" rtlCol="0"/>
          <a:lstStyle/>
          <a:p>
            <a:endParaRPr/>
          </a:p>
        </p:txBody>
      </p:sp>
      <p:sp>
        <p:nvSpPr>
          <p:cNvPr id="3" name="object 3">
            <a:extLst>
              <a:ext uri="{FF2B5EF4-FFF2-40B4-BE49-F238E27FC236}">
                <a16:creationId xmlns:a16="http://schemas.microsoft.com/office/drawing/2014/main" id="{853D6164-ED59-57FA-C764-38F8362E6370}"/>
              </a:ext>
            </a:extLst>
          </p:cNvPr>
          <p:cNvSpPr txBox="1"/>
          <p:nvPr/>
        </p:nvSpPr>
        <p:spPr>
          <a:xfrm>
            <a:off x="5364980" y="988252"/>
            <a:ext cx="2003425" cy="537845"/>
          </a:xfrm>
          <a:prstGeom prst="rect">
            <a:avLst/>
          </a:prstGeom>
        </p:spPr>
        <p:txBody>
          <a:bodyPr vert="horz" wrap="square" lIns="0" tIns="26034" rIns="0" bIns="0" rtlCol="0">
            <a:spAutoFit/>
          </a:bodyPr>
          <a:lstStyle/>
          <a:p>
            <a:pPr marL="200660" marR="5080" indent="-188595">
              <a:lnSpc>
                <a:spcPts val="1989"/>
              </a:lnSpc>
              <a:spcBef>
                <a:spcPts val="204"/>
              </a:spcBef>
            </a:pPr>
            <a:r>
              <a:rPr sz="1700" spc="-40" dirty="0">
                <a:solidFill>
                  <a:srgbClr val="0A5C17"/>
                </a:solidFill>
                <a:latin typeface="Arial"/>
                <a:cs typeface="Arial"/>
              </a:rPr>
              <a:t>Which</a:t>
            </a:r>
            <a:r>
              <a:rPr sz="1700" spc="-80" dirty="0">
                <a:solidFill>
                  <a:srgbClr val="0A5C17"/>
                </a:solidFill>
                <a:latin typeface="Arial"/>
                <a:cs typeface="Arial"/>
              </a:rPr>
              <a:t> </a:t>
            </a:r>
            <a:r>
              <a:rPr sz="1700" spc="-10" dirty="0">
                <a:solidFill>
                  <a:srgbClr val="0A5C17"/>
                </a:solidFill>
                <a:latin typeface="Arial"/>
                <a:cs typeface="Arial"/>
              </a:rPr>
              <a:t>chunk</a:t>
            </a:r>
            <a:r>
              <a:rPr sz="1700" spc="-70" dirty="0">
                <a:solidFill>
                  <a:srgbClr val="0A5C17"/>
                </a:solidFill>
                <a:latin typeface="Arial"/>
                <a:cs typeface="Arial"/>
              </a:rPr>
              <a:t> </a:t>
            </a:r>
            <a:r>
              <a:rPr sz="1700" spc="-50" dirty="0">
                <a:solidFill>
                  <a:srgbClr val="0A5C17"/>
                </a:solidFill>
                <a:latin typeface="Arial"/>
                <a:cs typeface="Arial"/>
              </a:rPr>
              <a:t>servers, </a:t>
            </a:r>
            <a:r>
              <a:rPr sz="1700" dirty="0">
                <a:solidFill>
                  <a:srgbClr val="0A5C17"/>
                </a:solidFill>
                <a:latin typeface="Arial"/>
                <a:cs typeface="Arial"/>
              </a:rPr>
              <a:t>who</a:t>
            </a:r>
            <a:r>
              <a:rPr sz="1700" spc="-75" dirty="0">
                <a:solidFill>
                  <a:srgbClr val="0A5C17"/>
                </a:solidFill>
                <a:latin typeface="Arial"/>
                <a:cs typeface="Arial"/>
              </a:rPr>
              <a:t> </a:t>
            </a:r>
            <a:r>
              <a:rPr sz="1700" spc="-20" dirty="0">
                <a:solidFill>
                  <a:srgbClr val="0A5C17"/>
                </a:solidFill>
                <a:latin typeface="Arial"/>
                <a:cs typeface="Arial"/>
              </a:rPr>
              <a:t>holds</a:t>
            </a:r>
            <a:r>
              <a:rPr sz="1700" spc="-70" dirty="0">
                <a:solidFill>
                  <a:srgbClr val="0A5C17"/>
                </a:solidFill>
                <a:latin typeface="Arial"/>
                <a:cs typeface="Arial"/>
              </a:rPr>
              <a:t> </a:t>
            </a:r>
            <a:r>
              <a:rPr sz="1700" spc="-10" dirty="0">
                <a:solidFill>
                  <a:srgbClr val="0A5C17"/>
                </a:solidFill>
                <a:latin typeface="Arial"/>
                <a:cs typeface="Arial"/>
              </a:rPr>
              <a:t>lease?</a:t>
            </a:r>
            <a:endParaRPr sz="1700">
              <a:latin typeface="Arial"/>
              <a:cs typeface="Arial"/>
            </a:endParaRPr>
          </a:p>
        </p:txBody>
      </p:sp>
      <p:sp>
        <p:nvSpPr>
          <p:cNvPr id="4" name="object 4">
            <a:extLst>
              <a:ext uri="{FF2B5EF4-FFF2-40B4-BE49-F238E27FC236}">
                <a16:creationId xmlns:a16="http://schemas.microsoft.com/office/drawing/2014/main" id="{16C063A6-A577-808A-0805-027560C85CEA}"/>
              </a:ext>
            </a:extLst>
          </p:cNvPr>
          <p:cNvSpPr txBox="1"/>
          <p:nvPr/>
        </p:nvSpPr>
        <p:spPr>
          <a:xfrm>
            <a:off x="4853437" y="2503882"/>
            <a:ext cx="2212340" cy="328295"/>
          </a:xfrm>
          <a:prstGeom prst="rect">
            <a:avLst/>
          </a:prstGeom>
          <a:ln w="25400">
            <a:solidFill>
              <a:srgbClr val="6FBE40"/>
            </a:solidFill>
          </a:ln>
        </p:spPr>
        <p:txBody>
          <a:bodyPr vert="horz" wrap="square" lIns="0" tIns="24130" rIns="0" bIns="0" rtlCol="0">
            <a:spAutoFit/>
          </a:bodyPr>
          <a:lstStyle/>
          <a:p>
            <a:pPr marL="141605">
              <a:lnSpc>
                <a:spcPct val="100000"/>
              </a:lnSpc>
              <a:spcBef>
                <a:spcPts val="190"/>
              </a:spcBef>
            </a:pPr>
            <a:r>
              <a:rPr sz="1700" spc="-10" dirty="0">
                <a:solidFill>
                  <a:srgbClr val="0A5C17"/>
                </a:solidFill>
                <a:latin typeface="Arial"/>
                <a:cs typeface="Arial"/>
              </a:rPr>
              <a:t>push</a:t>
            </a:r>
            <a:r>
              <a:rPr sz="1700" spc="-75" dirty="0">
                <a:solidFill>
                  <a:srgbClr val="0A5C17"/>
                </a:solidFill>
                <a:latin typeface="Arial"/>
                <a:cs typeface="Arial"/>
              </a:rPr>
              <a:t> </a:t>
            </a:r>
            <a:r>
              <a:rPr sz="1700" spc="-10" dirty="0">
                <a:solidFill>
                  <a:srgbClr val="0A5C17"/>
                </a:solidFill>
                <a:latin typeface="Arial"/>
                <a:cs typeface="Arial"/>
              </a:rPr>
              <a:t>data</a:t>
            </a:r>
            <a:r>
              <a:rPr sz="1700" spc="-65" dirty="0">
                <a:solidFill>
                  <a:srgbClr val="0A5C17"/>
                </a:solidFill>
                <a:latin typeface="Arial"/>
                <a:cs typeface="Arial"/>
              </a:rPr>
              <a:t> </a:t>
            </a:r>
            <a:r>
              <a:rPr sz="1700" dirty="0">
                <a:solidFill>
                  <a:srgbClr val="0A5C17"/>
                </a:solidFill>
                <a:latin typeface="Arial"/>
                <a:cs typeface="Arial"/>
              </a:rPr>
              <a:t>to</a:t>
            </a:r>
            <a:r>
              <a:rPr sz="1700" spc="-70" dirty="0">
                <a:solidFill>
                  <a:srgbClr val="0A5C17"/>
                </a:solidFill>
                <a:latin typeface="Arial"/>
                <a:cs typeface="Arial"/>
              </a:rPr>
              <a:t> </a:t>
            </a:r>
            <a:r>
              <a:rPr sz="1700" spc="-10" dirty="0">
                <a:solidFill>
                  <a:srgbClr val="0A5C17"/>
                </a:solidFill>
                <a:latin typeface="Arial"/>
                <a:cs typeface="Arial"/>
              </a:rPr>
              <a:t>replicas</a:t>
            </a:r>
            <a:endParaRPr sz="1700">
              <a:latin typeface="Arial"/>
              <a:cs typeface="Arial"/>
            </a:endParaRPr>
          </a:p>
        </p:txBody>
      </p:sp>
      <p:pic>
        <p:nvPicPr>
          <p:cNvPr id="5" name="object 5">
            <a:extLst>
              <a:ext uri="{FF2B5EF4-FFF2-40B4-BE49-F238E27FC236}">
                <a16:creationId xmlns:a16="http://schemas.microsoft.com/office/drawing/2014/main" id="{5C6E8EEF-72A3-4DBB-A6AF-D223A2033854}"/>
              </a:ext>
            </a:extLst>
          </p:cNvPr>
          <p:cNvPicPr/>
          <p:nvPr/>
        </p:nvPicPr>
        <p:blipFill>
          <a:blip r:embed="rId3" cstate="print"/>
          <a:stretch>
            <a:fillRect/>
          </a:stretch>
        </p:blipFill>
        <p:spPr>
          <a:xfrm>
            <a:off x="2633998" y="1387539"/>
            <a:ext cx="6160008" cy="5071872"/>
          </a:xfrm>
          <a:prstGeom prst="rect">
            <a:avLst/>
          </a:prstGeom>
        </p:spPr>
      </p:pic>
      <p:sp>
        <p:nvSpPr>
          <p:cNvPr id="6" name="object 6">
            <a:extLst>
              <a:ext uri="{FF2B5EF4-FFF2-40B4-BE49-F238E27FC236}">
                <a16:creationId xmlns:a16="http://schemas.microsoft.com/office/drawing/2014/main" id="{40007C00-F66F-C8D5-6CE7-3E9E87DF73E7}"/>
              </a:ext>
            </a:extLst>
          </p:cNvPr>
          <p:cNvSpPr txBox="1"/>
          <p:nvPr/>
        </p:nvSpPr>
        <p:spPr>
          <a:xfrm>
            <a:off x="1561354" y="2688439"/>
            <a:ext cx="1404620" cy="328295"/>
          </a:xfrm>
          <a:prstGeom prst="rect">
            <a:avLst/>
          </a:prstGeom>
          <a:ln w="25400">
            <a:solidFill>
              <a:srgbClr val="6FBE40"/>
            </a:solidFill>
          </a:ln>
        </p:spPr>
        <p:txBody>
          <a:bodyPr vert="horz" wrap="square" lIns="0" tIns="22225" rIns="0" bIns="0" rtlCol="0">
            <a:spAutoFit/>
          </a:bodyPr>
          <a:lstStyle/>
          <a:p>
            <a:pPr marL="106045">
              <a:lnSpc>
                <a:spcPct val="100000"/>
              </a:lnSpc>
              <a:spcBef>
                <a:spcPts val="175"/>
              </a:spcBef>
            </a:pPr>
            <a:r>
              <a:rPr sz="1700" spc="-10" dirty="0">
                <a:solidFill>
                  <a:srgbClr val="0A5C17"/>
                </a:solidFill>
                <a:latin typeface="Arial"/>
                <a:cs typeface="Arial"/>
              </a:rPr>
              <a:t>write</a:t>
            </a:r>
            <a:r>
              <a:rPr sz="1700" spc="-100" dirty="0">
                <a:solidFill>
                  <a:srgbClr val="0A5C17"/>
                </a:solidFill>
                <a:latin typeface="Arial"/>
                <a:cs typeface="Arial"/>
              </a:rPr>
              <a:t> </a:t>
            </a:r>
            <a:r>
              <a:rPr sz="1700" spc="-10" dirty="0">
                <a:solidFill>
                  <a:srgbClr val="0A5C17"/>
                </a:solidFill>
                <a:latin typeface="Arial"/>
                <a:cs typeface="Arial"/>
              </a:rPr>
              <a:t>request</a:t>
            </a:r>
            <a:endParaRPr sz="1700">
              <a:latin typeface="Arial"/>
              <a:cs typeface="Arial"/>
            </a:endParaRPr>
          </a:p>
        </p:txBody>
      </p:sp>
      <p:sp>
        <p:nvSpPr>
          <p:cNvPr id="9" name="object 7">
            <a:extLst>
              <a:ext uri="{FF2B5EF4-FFF2-40B4-BE49-F238E27FC236}">
                <a16:creationId xmlns:a16="http://schemas.microsoft.com/office/drawing/2014/main" id="{1377E1C1-79E0-AB70-2F40-58DF3F8ED7EE}"/>
              </a:ext>
            </a:extLst>
          </p:cNvPr>
          <p:cNvSpPr txBox="1"/>
          <p:nvPr/>
        </p:nvSpPr>
        <p:spPr>
          <a:xfrm>
            <a:off x="6163124" y="3734131"/>
            <a:ext cx="1404620" cy="328295"/>
          </a:xfrm>
          <a:prstGeom prst="rect">
            <a:avLst/>
          </a:prstGeom>
          <a:ln w="25400">
            <a:solidFill>
              <a:srgbClr val="6FBE40"/>
            </a:solidFill>
          </a:ln>
        </p:spPr>
        <p:txBody>
          <a:bodyPr vert="horz" wrap="square" lIns="0" tIns="22225" rIns="0" bIns="0" rtlCol="0">
            <a:spAutoFit/>
          </a:bodyPr>
          <a:lstStyle/>
          <a:p>
            <a:pPr marL="106045">
              <a:lnSpc>
                <a:spcPct val="100000"/>
              </a:lnSpc>
              <a:spcBef>
                <a:spcPts val="175"/>
              </a:spcBef>
            </a:pPr>
            <a:r>
              <a:rPr sz="1700" spc="-10" dirty="0">
                <a:solidFill>
                  <a:srgbClr val="0A5C17"/>
                </a:solidFill>
                <a:latin typeface="Arial"/>
                <a:cs typeface="Arial"/>
              </a:rPr>
              <a:t>write</a:t>
            </a:r>
            <a:r>
              <a:rPr sz="1700" spc="-100" dirty="0">
                <a:solidFill>
                  <a:srgbClr val="0A5C17"/>
                </a:solidFill>
                <a:latin typeface="Arial"/>
                <a:cs typeface="Arial"/>
              </a:rPr>
              <a:t> </a:t>
            </a:r>
            <a:r>
              <a:rPr sz="1700" spc="-10" dirty="0">
                <a:solidFill>
                  <a:srgbClr val="0A5C17"/>
                </a:solidFill>
                <a:latin typeface="Arial"/>
                <a:cs typeface="Arial"/>
              </a:rPr>
              <a:t>request</a:t>
            </a:r>
            <a:endParaRPr sz="1700">
              <a:latin typeface="Arial"/>
              <a:cs typeface="Arial"/>
            </a:endParaRPr>
          </a:p>
        </p:txBody>
      </p:sp>
      <p:sp>
        <p:nvSpPr>
          <p:cNvPr id="10" name="object 8">
            <a:extLst>
              <a:ext uri="{FF2B5EF4-FFF2-40B4-BE49-F238E27FC236}">
                <a16:creationId xmlns:a16="http://schemas.microsoft.com/office/drawing/2014/main" id="{0B5FD371-4BF5-28FE-31E7-837E2DF478F1}"/>
              </a:ext>
            </a:extLst>
          </p:cNvPr>
          <p:cNvSpPr txBox="1"/>
          <p:nvPr/>
        </p:nvSpPr>
        <p:spPr>
          <a:xfrm>
            <a:off x="6163124" y="5180750"/>
            <a:ext cx="1404620" cy="328295"/>
          </a:xfrm>
          <a:prstGeom prst="rect">
            <a:avLst/>
          </a:prstGeom>
          <a:ln w="25400">
            <a:solidFill>
              <a:srgbClr val="6FBE40"/>
            </a:solidFill>
          </a:ln>
        </p:spPr>
        <p:txBody>
          <a:bodyPr vert="horz" wrap="square" lIns="0" tIns="23495" rIns="0" bIns="0" rtlCol="0">
            <a:spAutoFit/>
          </a:bodyPr>
          <a:lstStyle/>
          <a:p>
            <a:pPr marL="106045">
              <a:lnSpc>
                <a:spcPct val="100000"/>
              </a:lnSpc>
              <a:spcBef>
                <a:spcPts val="185"/>
              </a:spcBef>
            </a:pPr>
            <a:r>
              <a:rPr sz="1700" spc="-10" dirty="0">
                <a:solidFill>
                  <a:srgbClr val="0A5C17"/>
                </a:solidFill>
                <a:latin typeface="Arial"/>
                <a:cs typeface="Arial"/>
              </a:rPr>
              <a:t>write</a:t>
            </a:r>
            <a:r>
              <a:rPr sz="1700" spc="-100" dirty="0">
                <a:solidFill>
                  <a:srgbClr val="0A5C17"/>
                </a:solidFill>
                <a:latin typeface="Arial"/>
                <a:cs typeface="Arial"/>
              </a:rPr>
              <a:t> </a:t>
            </a:r>
            <a:r>
              <a:rPr sz="1700" spc="-10" dirty="0">
                <a:solidFill>
                  <a:srgbClr val="0A5C17"/>
                </a:solidFill>
                <a:latin typeface="Arial"/>
                <a:cs typeface="Arial"/>
              </a:rPr>
              <a:t>request</a:t>
            </a:r>
            <a:endParaRPr sz="1700">
              <a:latin typeface="Arial"/>
              <a:cs typeface="Arial"/>
            </a:endParaRPr>
          </a:p>
        </p:txBody>
      </p:sp>
      <p:sp>
        <p:nvSpPr>
          <p:cNvPr id="11" name="object 9">
            <a:extLst>
              <a:ext uri="{FF2B5EF4-FFF2-40B4-BE49-F238E27FC236}">
                <a16:creationId xmlns:a16="http://schemas.microsoft.com/office/drawing/2014/main" id="{4D63D0C6-BECB-E05F-E63D-CD17B47444FA}"/>
              </a:ext>
            </a:extLst>
          </p:cNvPr>
          <p:cNvSpPr txBox="1"/>
          <p:nvPr/>
        </p:nvSpPr>
        <p:spPr>
          <a:xfrm>
            <a:off x="3417003" y="2266951"/>
            <a:ext cx="786130" cy="599440"/>
          </a:xfrm>
          <a:prstGeom prst="rect">
            <a:avLst/>
          </a:prstGeom>
          <a:ln w="25400">
            <a:solidFill>
              <a:srgbClr val="6FBE40"/>
            </a:solidFill>
          </a:ln>
        </p:spPr>
        <p:txBody>
          <a:bodyPr vert="horz" wrap="square" lIns="0" tIns="20320" rIns="0" bIns="0" rtlCol="0">
            <a:spAutoFit/>
          </a:bodyPr>
          <a:lstStyle/>
          <a:p>
            <a:pPr marL="186055" marR="106680" indent="-71755">
              <a:lnSpc>
                <a:spcPct val="103499"/>
              </a:lnSpc>
              <a:spcBef>
                <a:spcPts val="160"/>
              </a:spcBef>
            </a:pPr>
            <a:r>
              <a:rPr sz="1700" spc="-45" dirty="0">
                <a:solidFill>
                  <a:srgbClr val="0A5C17"/>
                </a:solidFill>
                <a:latin typeface="Arial"/>
                <a:cs typeface="Arial"/>
              </a:rPr>
              <a:t>ACK</a:t>
            </a:r>
            <a:r>
              <a:rPr sz="1700" spc="-70" dirty="0">
                <a:solidFill>
                  <a:srgbClr val="0A5C17"/>
                </a:solidFill>
                <a:latin typeface="Arial"/>
                <a:cs typeface="Arial"/>
              </a:rPr>
              <a:t> </a:t>
            </a:r>
            <a:r>
              <a:rPr sz="1700" spc="40" dirty="0">
                <a:solidFill>
                  <a:srgbClr val="0A5C17"/>
                </a:solidFill>
                <a:latin typeface="Arial"/>
                <a:cs typeface="Arial"/>
              </a:rPr>
              <a:t>/ </a:t>
            </a:r>
            <a:r>
              <a:rPr sz="1700" spc="-25" dirty="0">
                <a:solidFill>
                  <a:srgbClr val="0A5C17"/>
                </a:solidFill>
                <a:latin typeface="Arial"/>
                <a:cs typeface="Arial"/>
              </a:rPr>
              <a:t>ERR</a:t>
            </a:r>
            <a:endParaRPr sz="1700">
              <a:latin typeface="Arial"/>
              <a:cs typeface="Arial"/>
            </a:endParaRPr>
          </a:p>
        </p:txBody>
      </p:sp>
    </p:spTree>
    <p:extLst>
      <p:ext uri="{BB962C8B-B14F-4D97-AF65-F5344CB8AC3E}">
        <p14:creationId xmlns:p14="http://schemas.microsoft.com/office/powerpoint/2010/main" val="13847370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729AB-5EBB-FD20-43DD-D6E0374E683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2ED557C7-2CDD-8C0B-07A1-1DABA8EF652A}"/>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Demo 2: What a Read and a Write Actually Do</a:t>
            </a:r>
          </a:p>
        </p:txBody>
      </p:sp>
      <p:sp>
        <p:nvSpPr>
          <p:cNvPr id="8" name="Slide Number Placeholder 4">
            <a:extLst>
              <a:ext uri="{FF2B5EF4-FFF2-40B4-BE49-F238E27FC236}">
                <a16:creationId xmlns:a16="http://schemas.microsoft.com/office/drawing/2014/main" id="{25E098EE-1299-32C0-2821-1DB599BAC8E9}"/>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33</a:t>
            </a:fld>
            <a:endParaRPr lang="en-US"/>
          </a:p>
        </p:txBody>
      </p:sp>
      <p:sp>
        <p:nvSpPr>
          <p:cNvPr id="3" name="TextBox 2">
            <a:extLst>
              <a:ext uri="{FF2B5EF4-FFF2-40B4-BE49-F238E27FC236}">
                <a16:creationId xmlns:a16="http://schemas.microsoft.com/office/drawing/2014/main" id="{857EC8A2-DB9F-8BB1-7445-FE716E76BAC5}"/>
              </a:ext>
            </a:extLst>
          </p:cNvPr>
          <p:cNvSpPr txBox="1"/>
          <p:nvPr/>
        </p:nvSpPr>
        <p:spPr>
          <a:xfrm>
            <a:off x="88135" y="914401"/>
            <a:ext cx="11265665" cy="5016758"/>
          </a:xfrm>
          <a:prstGeom prst="rect">
            <a:avLst/>
          </a:prstGeom>
          <a:noFill/>
        </p:spPr>
        <p:txBody>
          <a:bodyPr wrap="square" rtlCol="0">
            <a:spAutoFit/>
          </a:bodyPr>
          <a:lstStyle/>
          <a:p>
            <a:r>
              <a:rPr lang="en-US" sz="3200" b="1" dirty="0"/>
              <a:t>Read: ask the master once, then go straight to the data</a:t>
            </a:r>
          </a:p>
          <a:p>
            <a:pPr marL="457200"/>
            <a:r>
              <a:rPr lang="en-US" sz="2800" b="0" dirty="0"/>
              <a:t>One getBlockLocations call covers the whole file</a:t>
            </a:r>
          </a:p>
          <a:p>
            <a:pPr marL="457200"/>
            <a:r>
              <a:rPr lang="en-US" sz="2800" b="0" dirty="0"/>
              <a:t>Then one connection per block, to a server holding that block</a:t>
            </a:r>
          </a:p>
          <a:p>
            <a:r>
              <a:rPr lang="en-US" sz="3200" b="1" dirty="0"/>
              <a:t>Write: one addBlock per block, then a chain</a:t>
            </a:r>
          </a:p>
          <a:p>
            <a:pPr marL="457200"/>
            <a:r>
              <a:rPr lang="en-US" sz="2800" b="0" dirty="0"/>
              <a:t>The master picks the replicas and returns them as a pipeline</a:t>
            </a:r>
          </a:p>
          <a:p>
            <a:pPr marL="457200"/>
            <a:r>
              <a:rPr lang="en-US" sz="2800" b="0" dirty="0"/>
              <a:t>The client sends the bytes once, to the first server, which forwards them on</a:t>
            </a:r>
          </a:p>
          <a:p>
            <a:r>
              <a:rPr lang="en-US" sz="3200" b="1" dirty="0"/>
              <a:t>What the master recorded for 40 MB: a few log entries, no data</a:t>
            </a:r>
          </a:p>
        </p:txBody>
      </p:sp>
    </p:spTree>
    <p:extLst>
      <p:ext uri="{BB962C8B-B14F-4D97-AF65-F5344CB8AC3E}">
        <p14:creationId xmlns:p14="http://schemas.microsoft.com/office/powerpoint/2010/main" val="17206706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4C437-4A27-A111-5C03-DF1C4511D6E1}"/>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8CEB2BE5-EB07-C5D2-AFA8-DFDBABC585A1}"/>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GFS Consistency Guarantees</a:t>
            </a:r>
          </a:p>
        </p:txBody>
      </p:sp>
      <p:sp>
        <p:nvSpPr>
          <p:cNvPr id="8" name="Slide Number Placeholder 4">
            <a:extLst>
              <a:ext uri="{FF2B5EF4-FFF2-40B4-BE49-F238E27FC236}">
                <a16:creationId xmlns:a16="http://schemas.microsoft.com/office/drawing/2014/main" id="{45F9F35D-811B-23DD-CC90-D88AD47C9D06}"/>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34</a:t>
            </a:fld>
            <a:endParaRPr lang="en-US"/>
          </a:p>
        </p:txBody>
      </p:sp>
      <p:sp>
        <p:nvSpPr>
          <p:cNvPr id="3" name="TextBox 2">
            <a:extLst>
              <a:ext uri="{FF2B5EF4-FFF2-40B4-BE49-F238E27FC236}">
                <a16:creationId xmlns:a16="http://schemas.microsoft.com/office/drawing/2014/main" id="{A9AB61DF-8E89-55FD-EB17-9EA6A33AE417}"/>
              </a:ext>
            </a:extLst>
          </p:cNvPr>
          <p:cNvSpPr txBox="1"/>
          <p:nvPr/>
        </p:nvSpPr>
        <p:spPr>
          <a:xfrm>
            <a:off x="193112" y="812165"/>
            <a:ext cx="10436771" cy="5909310"/>
          </a:xfrm>
          <a:prstGeom prst="rect">
            <a:avLst/>
          </a:prstGeom>
          <a:noFill/>
        </p:spPr>
        <p:txBody>
          <a:bodyPr wrap="square">
            <a:spAutoFit/>
          </a:bodyPr>
          <a:lstStyle/>
          <a:p>
            <a:r>
              <a:rPr lang="en-US" sz="2400" b="1" dirty="0">
                <a:effectLst/>
              </a:rPr>
              <a:t>somewhat complex!</a:t>
            </a:r>
          </a:p>
          <a:p>
            <a:endParaRPr lang="en-US" dirty="0">
              <a:effectLst/>
            </a:endParaRPr>
          </a:p>
          <a:p>
            <a:r>
              <a:rPr lang="en-US" sz="2400" b="1" dirty="0">
                <a:effectLst/>
              </a:rPr>
              <a:t>if primary tells client that a write succeeded,</a:t>
            </a:r>
          </a:p>
          <a:p>
            <a:pPr marL="742950" lvl="1" indent="-285750">
              <a:buFont typeface="Arial" panose="020B0604020202020204" pitchFamily="34" charset="0"/>
              <a:buChar char="•"/>
            </a:pPr>
            <a:r>
              <a:rPr lang="en-US" sz="2400" dirty="0">
                <a:effectLst/>
              </a:rPr>
              <a:t>and no other client is writing the same part of the file,</a:t>
            </a:r>
          </a:p>
          <a:p>
            <a:pPr marL="742950" lvl="1" indent="-285750">
              <a:buFont typeface="Arial" panose="020B0604020202020204" pitchFamily="34" charset="0"/>
              <a:buChar char="•"/>
            </a:pPr>
            <a:r>
              <a:rPr lang="en-US" sz="2400" dirty="0">
                <a:effectLst/>
              </a:rPr>
              <a:t>all readers will see the write.</a:t>
            </a:r>
          </a:p>
          <a:p>
            <a:pPr marL="742950" lvl="1" indent="-285750">
              <a:buFont typeface="Arial" panose="020B0604020202020204" pitchFamily="34" charset="0"/>
              <a:buChar char="•"/>
            </a:pPr>
            <a:r>
              <a:rPr lang="en-US" sz="2400" dirty="0">
                <a:effectLst/>
              </a:rPr>
              <a:t>"defined”</a:t>
            </a:r>
          </a:p>
          <a:p>
            <a:endParaRPr lang="en-US" sz="2000" dirty="0"/>
          </a:p>
          <a:p>
            <a:r>
              <a:rPr lang="en-US" sz="2400" b="1" dirty="0">
                <a:effectLst/>
              </a:rPr>
              <a:t>if successful concurrent writes to the same part of a file,</a:t>
            </a:r>
          </a:p>
          <a:p>
            <a:pPr marL="742950" lvl="1" indent="-285750">
              <a:buFont typeface="Arial" panose="020B0604020202020204" pitchFamily="34" charset="0"/>
              <a:buChar char="•"/>
            </a:pPr>
            <a:r>
              <a:rPr lang="en-US" sz="2400" dirty="0">
                <a:effectLst/>
              </a:rPr>
              <a:t>and they all succeed, all readers will see the same content,</a:t>
            </a:r>
          </a:p>
          <a:p>
            <a:pPr marL="742950" lvl="1" indent="-285750">
              <a:buFont typeface="Arial" panose="020B0604020202020204" pitchFamily="34" charset="0"/>
              <a:buChar char="•"/>
            </a:pPr>
            <a:r>
              <a:rPr lang="en-US" sz="2400" dirty="0">
                <a:effectLst/>
              </a:rPr>
              <a:t>but maybe it will be a mix of the writes.</a:t>
            </a:r>
          </a:p>
          <a:p>
            <a:pPr marL="742950" lvl="1" indent="-285750">
              <a:buFont typeface="Arial" panose="020B0604020202020204" pitchFamily="34" charset="0"/>
              <a:buChar char="•"/>
            </a:pPr>
            <a:r>
              <a:rPr lang="en-US" sz="2400" dirty="0">
                <a:effectLst/>
              </a:rPr>
              <a:t>"consistent"</a:t>
            </a:r>
          </a:p>
          <a:p>
            <a:pPr marL="742950" lvl="1" indent="-285750">
              <a:buFont typeface="Arial" panose="020B0604020202020204" pitchFamily="34" charset="0"/>
              <a:buChar char="•"/>
            </a:pPr>
            <a:r>
              <a:rPr lang="en-US" sz="2400" dirty="0">
                <a:effectLst/>
              </a:rPr>
              <a:t>E.g. C1 writes "ab", C2 writes "</a:t>
            </a:r>
            <a:r>
              <a:rPr lang="en-US" sz="2400" dirty="0" err="1">
                <a:effectLst/>
              </a:rPr>
              <a:t>xy</a:t>
            </a:r>
            <a:r>
              <a:rPr lang="en-US" sz="2400" dirty="0">
                <a:effectLst/>
              </a:rPr>
              <a:t>", everyone might see "</a:t>
            </a:r>
            <a:r>
              <a:rPr lang="en-US" sz="2400" dirty="0" err="1">
                <a:effectLst/>
              </a:rPr>
              <a:t>xb</a:t>
            </a:r>
            <a:r>
              <a:rPr lang="en-US" sz="2400" dirty="0">
                <a:effectLst/>
              </a:rPr>
              <a:t>".</a:t>
            </a:r>
          </a:p>
          <a:p>
            <a:endParaRPr lang="en-US" dirty="0"/>
          </a:p>
          <a:p>
            <a:r>
              <a:rPr lang="en-US" sz="2400" b="1" dirty="0">
                <a:effectLst/>
              </a:rPr>
              <a:t>If primary doesn't tell the client that the write succeeded,</a:t>
            </a:r>
          </a:p>
          <a:p>
            <a:pPr marL="742950" lvl="1" indent="-285750">
              <a:buFont typeface="Arial" panose="020B0604020202020204" pitchFamily="34" charset="0"/>
              <a:buChar char="•"/>
            </a:pPr>
            <a:r>
              <a:rPr lang="en-US" sz="2400" dirty="0">
                <a:effectLst/>
              </a:rPr>
              <a:t>different readers may see different content, or none.</a:t>
            </a:r>
          </a:p>
          <a:p>
            <a:pPr marL="742950" lvl="1" indent="-285750">
              <a:buFont typeface="Arial" panose="020B0604020202020204" pitchFamily="34" charset="0"/>
              <a:buChar char="•"/>
            </a:pPr>
            <a:r>
              <a:rPr lang="en-US" sz="2400" dirty="0">
                <a:effectLst/>
              </a:rPr>
              <a:t>"inconsistent"</a:t>
            </a:r>
          </a:p>
        </p:txBody>
      </p:sp>
    </p:spTree>
    <p:extLst>
      <p:ext uri="{BB962C8B-B14F-4D97-AF65-F5344CB8AC3E}">
        <p14:creationId xmlns:p14="http://schemas.microsoft.com/office/powerpoint/2010/main" val="4155302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dissolve">
                                      <p:cBhvr>
                                        <p:cTn id="7" dur="500"/>
                                        <p:tgtEl>
                                          <p:spTgt spid="3">
                                            <p:txEl>
                                              <p:pRg st="7" end="7"/>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8" end="8"/>
                                            </p:txEl>
                                          </p:spTgt>
                                        </p:tgtEl>
                                        <p:attrNameLst>
                                          <p:attrName>style.visibility</p:attrName>
                                        </p:attrNameLst>
                                      </p:cBhvr>
                                      <p:to>
                                        <p:strVal val="visible"/>
                                      </p:to>
                                    </p:set>
                                    <p:animEffect transition="in" filter="dissolve">
                                      <p:cBhvr>
                                        <p:cTn id="10" dur="500"/>
                                        <p:tgtEl>
                                          <p:spTgt spid="3">
                                            <p:txEl>
                                              <p:pRg st="8" end="8"/>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animEffect transition="in" filter="dissolve">
                                      <p:cBhvr>
                                        <p:cTn id="13" dur="500"/>
                                        <p:tgtEl>
                                          <p:spTgt spid="3">
                                            <p:txEl>
                                              <p:pRg st="9" end="9"/>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3">
                                            <p:txEl>
                                              <p:pRg st="10" end="10"/>
                                            </p:txEl>
                                          </p:spTgt>
                                        </p:tgtEl>
                                        <p:attrNameLst>
                                          <p:attrName>style.visibility</p:attrName>
                                        </p:attrNameLst>
                                      </p:cBhvr>
                                      <p:to>
                                        <p:strVal val="visible"/>
                                      </p:to>
                                    </p:set>
                                    <p:animEffect transition="in" filter="dissolve">
                                      <p:cBhvr>
                                        <p:cTn id="16" dur="500"/>
                                        <p:tgtEl>
                                          <p:spTgt spid="3">
                                            <p:txEl>
                                              <p:pRg st="10" end="10"/>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animEffect transition="in" filter="dissolve">
                                      <p:cBhvr>
                                        <p:cTn id="19" dur="500"/>
                                        <p:tgtEl>
                                          <p:spTgt spid="3">
                                            <p:txEl>
                                              <p:pRg st="11" end="1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3">
                                            <p:txEl>
                                              <p:pRg st="13" end="13"/>
                                            </p:txEl>
                                          </p:spTgt>
                                        </p:tgtEl>
                                        <p:attrNameLst>
                                          <p:attrName>style.visibility</p:attrName>
                                        </p:attrNameLst>
                                      </p:cBhvr>
                                      <p:to>
                                        <p:strVal val="visible"/>
                                      </p:to>
                                    </p:set>
                                    <p:animEffect transition="in" filter="dissolve">
                                      <p:cBhvr>
                                        <p:cTn id="24" dur="500"/>
                                        <p:tgtEl>
                                          <p:spTgt spid="3">
                                            <p:txEl>
                                              <p:pRg st="13" end="13"/>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3">
                                            <p:txEl>
                                              <p:pRg st="14" end="14"/>
                                            </p:txEl>
                                          </p:spTgt>
                                        </p:tgtEl>
                                        <p:attrNameLst>
                                          <p:attrName>style.visibility</p:attrName>
                                        </p:attrNameLst>
                                      </p:cBhvr>
                                      <p:to>
                                        <p:strVal val="visible"/>
                                      </p:to>
                                    </p:set>
                                    <p:animEffect transition="in" filter="dissolve">
                                      <p:cBhvr>
                                        <p:cTn id="27" dur="500"/>
                                        <p:tgtEl>
                                          <p:spTgt spid="3">
                                            <p:txEl>
                                              <p:pRg st="14" end="14"/>
                                            </p:txEl>
                                          </p:spTgt>
                                        </p:tgtEl>
                                      </p:cBhvr>
                                    </p:animEffect>
                                  </p:childTnLst>
                                </p:cTn>
                              </p:par>
                              <p:par>
                                <p:cTn id="28" presetID="9" presetClass="entr" presetSubtype="0" fill="hold" nodeType="withEffect">
                                  <p:stCondLst>
                                    <p:cond delay="0"/>
                                  </p:stCondLst>
                                  <p:childTnLst>
                                    <p:set>
                                      <p:cBhvr>
                                        <p:cTn id="29" dur="1" fill="hold">
                                          <p:stCondLst>
                                            <p:cond delay="0"/>
                                          </p:stCondLst>
                                        </p:cTn>
                                        <p:tgtEl>
                                          <p:spTgt spid="3">
                                            <p:txEl>
                                              <p:pRg st="15" end="15"/>
                                            </p:txEl>
                                          </p:spTgt>
                                        </p:tgtEl>
                                        <p:attrNameLst>
                                          <p:attrName>style.visibility</p:attrName>
                                        </p:attrNameLst>
                                      </p:cBhvr>
                                      <p:to>
                                        <p:strVal val="visible"/>
                                      </p:to>
                                    </p:set>
                                    <p:animEffect transition="in" filter="dissolve">
                                      <p:cBhvr>
                                        <p:cTn id="30" dur="500"/>
                                        <p:tgtEl>
                                          <p:spTgt spid="3">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33E88-5A83-8A29-F7FE-CF65B9BA04B0}"/>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FF20B710-AF7B-67EA-4692-F771CC24F9C4}"/>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How Can Inconsistent Content Arise?</a:t>
            </a:r>
          </a:p>
        </p:txBody>
      </p:sp>
      <p:sp>
        <p:nvSpPr>
          <p:cNvPr id="8" name="Slide Number Placeholder 4">
            <a:extLst>
              <a:ext uri="{FF2B5EF4-FFF2-40B4-BE49-F238E27FC236}">
                <a16:creationId xmlns:a16="http://schemas.microsoft.com/office/drawing/2014/main" id="{E54D52BC-A6F1-D24A-8F6F-B741B6B85351}"/>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35</a:t>
            </a:fld>
            <a:endParaRPr lang="en-US"/>
          </a:p>
        </p:txBody>
      </p:sp>
      <p:sp>
        <p:nvSpPr>
          <p:cNvPr id="16" name="object 15">
            <a:extLst>
              <a:ext uri="{FF2B5EF4-FFF2-40B4-BE49-F238E27FC236}">
                <a16:creationId xmlns:a16="http://schemas.microsoft.com/office/drawing/2014/main" id="{4A935279-B37C-035E-7537-5B2FD9BAF455}"/>
              </a:ext>
            </a:extLst>
          </p:cNvPr>
          <p:cNvSpPr txBox="1"/>
          <p:nvPr/>
        </p:nvSpPr>
        <p:spPr>
          <a:xfrm>
            <a:off x="7144561" y="2934684"/>
            <a:ext cx="1812925" cy="1073785"/>
          </a:xfrm>
          <a:prstGeom prst="rect">
            <a:avLst/>
          </a:prstGeom>
          <a:ln w="20941">
            <a:solidFill>
              <a:srgbClr val="222C4A"/>
            </a:solidFill>
          </a:ln>
        </p:spPr>
        <p:txBody>
          <a:bodyPr vert="horz" wrap="square" lIns="0" tIns="269875" rIns="0" bIns="0" rtlCol="0">
            <a:spAutoFit/>
          </a:bodyPr>
          <a:lstStyle/>
          <a:p>
            <a:pPr marL="254000">
              <a:lnSpc>
                <a:spcPct val="100000"/>
              </a:lnSpc>
              <a:spcBef>
                <a:spcPts val="2125"/>
              </a:spcBef>
            </a:pPr>
            <a:r>
              <a:rPr sz="3300" spc="-10" dirty="0">
                <a:solidFill>
                  <a:srgbClr val="222C4A"/>
                </a:solidFill>
                <a:latin typeface="Arial"/>
                <a:cs typeface="Arial"/>
              </a:rPr>
              <a:t>Client1</a:t>
            </a:r>
            <a:endParaRPr sz="3300">
              <a:latin typeface="Arial"/>
              <a:cs typeface="Arial"/>
            </a:endParaRPr>
          </a:p>
        </p:txBody>
      </p:sp>
      <p:sp>
        <p:nvSpPr>
          <p:cNvPr id="17" name="object 16">
            <a:extLst>
              <a:ext uri="{FF2B5EF4-FFF2-40B4-BE49-F238E27FC236}">
                <a16:creationId xmlns:a16="http://schemas.microsoft.com/office/drawing/2014/main" id="{576D4241-467A-E3E9-923D-FB62EDF393D0}"/>
              </a:ext>
            </a:extLst>
          </p:cNvPr>
          <p:cNvSpPr/>
          <p:nvPr/>
        </p:nvSpPr>
        <p:spPr>
          <a:xfrm>
            <a:off x="10196406" y="2934684"/>
            <a:ext cx="1812925" cy="1073785"/>
          </a:xfrm>
          <a:custGeom>
            <a:avLst/>
            <a:gdLst/>
            <a:ahLst/>
            <a:cxnLst/>
            <a:rect l="l" t="t" r="r" b="b"/>
            <a:pathLst>
              <a:path w="1812925" h="1073785">
                <a:moveTo>
                  <a:pt x="0" y="0"/>
                </a:moveTo>
                <a:lnTo>
                  <a:pt x="1812803" y="0"/>
                </a:lnTo>
                <a:lnTo>
                  <a:pt x="1812803" y="1073265"/>
                </a:lnTo>
                <a:lnTo>
                  <a:pt x="0" y="1073265"/>
                </a:lnTo>
                <a:lnTo>
                  <a:pt x="0" y="0"/>
                </a:lnTo>
                <a:close/>
              </a:path>
            </a:pathLst>
          </a:custGeom>
          <a:ln w="20941">
            <a:solidFill>
              <a:srgbClr val="222C4A"/>
            </a:solidFill>
          </a:ln>
        </p:spPr>
        <p:txBody>
          <a:bodyPr wrap="square" lIns="0" tIns="0" rIns="0" bIns="0" rtlCol="0"/>
          <a:lstStyle/>
          <a:p>
            <a:endParaRPr/>
          </a:p>
        </p:txBody>
      </p:sp>
      <p:sp>
        <p:nvSpPr>
          <p:cNvPr id="18" name="object 17">
            <a:extLst>
              <a:ext uri="{FF2B5EF4-FFF2-40B4-BE49-F238E27FC236}">
                <a16:creationId xmlns:a16="http://schemas.microsoft.com/office/drawing/2014/main" id="{72300482-C573-0490-0B7E-83E74B654E48}"/>
              </a:ext>
            </a:extLst>
          </p:cNvPr>
          <p:cNvSpPr txBox="1"/>
          <p:nvPr/>
        </p:nvSpPr>
        <p:spPr>
          <a:xfrm>
            <a:off x="10356894" y="3192133"/>
            <a:ext cx="1492250" cy="528320"/>
          </a:xfrm>
          <a:prstGeom prst="rect">
            <a:avLst/>
          </a:prstGeom>
        </p:spPr>
        <p:txBody>
          <a:bodyPr vert="horz" wrap="square" lIns="0" tIns="12065" rIns="0" bIns="0" rtlCol="0">
            <a:spAutoFit/>
          </a:bodyPr>
          <a:lstStyle/>
          <a:p>
            <a:pPr marL="12700">
              <a:lnSpc>
                <a:spcPct val="100000"/>
              </a:lnSpc>
              <a:spcBef>
                <a:spcPts val="95"/>
              </a:spcBef>
            </a:pPr>
            <a:r>
              <a:rPr sz="3300" spc="-10" dirty="0">
                <a:solidFill>
                  <a:srgbClr val="222C4A"/>
                </a:solidFill>
                <a:latin typeface="Arial"/>
                <a:cs typeface="Arial"/>
              </a:rPr>
              <a:t>Server1</a:t>
            </a:r>
            <a:endParaRPr sz="3300">
              <a:latin typeface="Arial"/>
              <a:cs typeface="Arial"/>
            </a:endParaRPr>
          </a:p>
        </p:txBody>
      </p:sp>
      <p:sp>
        <p:nvSpPr>
          <p:cNvPr id="19" name="object 18">
            <a:extLst>
              <a:ext uri="{FF2B5EF4-FFF2-40B4-BE49-F238E27FC236}">
                <a16:creationId xmlns:a16="http://schemas.microsoft.com/office/drawing/2014/main" id="{E2B6A1A4-F9AC-F9AC-4CEA-AA1564438B98}"/>
              </a:ext>
            </a:extLst>
          </p:cNvPr>
          <p:cNvSpPr/>
          <p:nvPr/>
        </p:nvSpPr>
        <p:spPr>
          <a:xfrm>
            <a:off x="10196406" y="4648349"/>
            <a:ext cx="1812925" cy="1073785"/>
          </a:xfrm>
          <a:custGeom>
            <a:avLst/>
            <a:gdLst/>
            <a:ahLst/>
            <a:cxnLst/>
            <a:rect l="l" t="t" r="r" b="b"/>
            <a:pathLst>
              <a:path w="1812925" h="1073784">
                <a:moveTo>
                  <a:pt x="0" y="0"/>
                </a:moveTo>
                <a:lnTo>
                  <a:pt x="1812803" y="0"/>
                </a:lnTo>
                <a:lnTo>
                  <a:pt x="1812803" y="1073265"/>
                </a:lnTo>
                <a:lnTo>
                  <a:pt x="0" y="1073265"/>
                </a:lnTo>
                <a:lnTo>
                  <a:pt x="0" y="0"/>
                </a:lnTo>
                <a:close/>
              </a:path>
            </a:pathLst>
          </a:custGeom>
          <a:ln w="20941">
            <a:solidFill>
              <a:srgbClr val="222C4A"/>
            </a:solidFill>
          </a:ln>
        </p:spPr>
        <p:txBody>
          <a:bodyPr wrap="square" lIns="0" tIns="0" rIns="0" bIns="0" rtlCol="0"/>
          <a:lstStyle/>
          <a:p>
            <a:endParaRPr/>
          </a:p>
        </p:txBody>
      </p:sp>
      <p:sp>
        <p:nvSpPr>
          <p:cNvPr id="20" name="object 19">
            <a:extLst>
              <a:ext uri="{FF2B5EF4-FFF2-40B4-BE49-F238E27FC236}">
                <a16:creationId xmlns:a16="http://schemas.microsoft.com/office/drawing/2014/main" id="{B9599D1F-9A10-5FFF-6DBF-DF68F062AFC0}"/>
              </a:ext>
            </a:extLst>
          </p:cNvPr>
          <p:cNvSpPr txBox="1"/>
          <p:nvPr/>
        </p:nvSpPr>
        <p:spPr>
          <a:xfrm>
            <a:off x="10356894" y="4905808"/>
            <a:ext cx="1492250" cy="528320"/>
          </a:xfrm>
          <a:prstGeom prst="rect">
            <a:avLst/>
          </a:prstGeom>
        </p:spPr>
        <p:txBody>
          <a:bodyPr vert="horz" wrap="square" lIns="0" tIns="12065" rIns="0" bIns="0" rtlCol="0">
            <a:spAutoFit/>
          </a:bodyPr>
          <a:lstStyle/>
          <a:p>
            <a:pPr marL="12700">
              <a:lnSpc>
                <a:spcPct val="100000"/>
              </a:lnSpc>
              <a:spcBef>
                <a:spcPts val="95"/>
              </a:spcBef>
            </a:pPr>
            <a:r>
              <a:rPr sz="3300" spc="-10" dirty="0">
                <a:solidFill>
                  <a:srgbClr val="222C4A"/>
                </a:solidFill>
                <a:latin typeface="Arial"/>
                <a:cs typeface="Arial"/>
              </a:rPr>
              <a:t>Server2</a:t>
            </a:r>
            <a:endParaRPr sz="3300">
              <a:latin typeface="Arial"/>
              <a:cs typeface="Arial"/>
            </a:endParaRPr>
          </a:p>
        </p:txBody>
      </p:sp>
      <p:grpSp>
        <p:nvGrpSpPr>
          <p:cNvPr id="21" name="object 20">
            <a:extLst>
              <a:ext uri="{FF2B5EF4-FFF2-40B4-BE49-F238E27FC236}">
                <a16:creationId xmlns:a16="http://schemas.microsoft.com/office/drawing/2014/main" id="{DEFC0F76-C4E1-DE1C-3C7E-65927EEA8BB2}"/>
              </a:ext>
            </a:extLst>
          </p:cNvPr>
          <p:cNvGrpSpPr/>
          <p:nvPr/>
        </p:nvGrpSpPr>
        <p:grpSpPr>
          <a:xfrm>
            <a:off x="7144561" y="3421046"/>
            <a:ext cx="3035300" cy="2300605"/>
            <a:chOff x="15056294" y="5822105"/>
            <a:chExt cx="3035300" cy="2300605"/>
          </a:xfrm>
        </p:grpSpPr>
        <p:sp>
          <p:nvSpPr>
            <p:cNvPr id="22" name="object 21">
              <a:extLst>
                <a:ext uri="{FF2B5EF4-FFF2-40B4-BE49-F238E27FC236}">
                  <a16:creationId xmlns:a16="http://schemas.microsoft.com/office/drawing/2014/main" id="{585D007D-68B5-80BD-87EA-388F983E43C9}"/>
                </a:ext>
              </a:extLst>
            </p:cNvPr>
            <p:cNvSpPr/>
            <p:nvPr/>
          </p:nvSpPr>
          <p:spPr>
            <a:xfrm>
              <a:off x="16883045" y="5872365"/>
              <a:ext cx="1118870" cy="0"/>
            </a:xfrm>
            <a:custGeom>
              <a:avLst/>
              <a:gdLst/>
              <a:ahLst/>
              <a:cxnLst/>
              <a:rect l="l" t="t" r="r" b="b"/>
              <a:pathLst>
                <a:path w="1118869">
                  <a:moveTo>
                    <a:pt x="0" y="0"/>
                  </a:moveTo>
                  <a:lnTo>
                    <a:pt x="1108050" y="0"/>
                  </a:lnTo>
                  <a:lnTo>
                    <a:pt x="1118520" y="0"/>
                  </a:lnTo>
                </a:path>
              </a:pathLst>
            </a:custGeom>
            <a:ln w="20941">
              <a:solidFill>
                <a:srgbClr val="222C4A"/>
              </a:solidFill>
            </a:ln>
          </p:spPr>
          <p:txBody>
            <a:bodyPr wrap="square" lIns="0" tIns="0" rIns="0" bIns="0" rtlCol="0"/>
            <a:lstStyle/>
            <a:p>
              <a:endParaRPr/>
            </a:p>
          </p:txBody>
        </p:sp>
        <p:sp>
          <p:nvSpPr>
            <p:cNvPr id="23" name="object 22">
              <a:extLst>
                <a:ext uri="{FF2B5EF4-FFF2-40B4-BE49-F238E27FC236}">
                  <a16:creationId xmlns:a16="http://schemas.microsoft.com/office/drawing/2014/main" id="{D83E5A71-FE7C-C17F-01A4-89DCF0A8FD10}"/>
                </a:ext>
              </a:extLst>
            </p:cNvPr>
            <p:cNvSpPr/>
            <p:nvPr/>
          </p:nvSpPr>
          <p:spPr>
            <a:xfrm>
              <a:off x="17991074" y="5822105"/>
              <a:ext cx="100965" cy="100965"/>
            </a:xfrm>
            <a:custGeom>
              <a:avLst/>
              <a:gdLst/>
              <a:ahLst/>
              <a:cxnLst/>
              <a:rect l="l" t="t" r="r" b="b"/>
              <a:pathLst>
                <a:path w="100965" h="100964">
                  <a:moveTo>
                    <a:pt x="0" y="0"/>
                  </a:moveTo>
                  <a:lnTo>
                    <a:pt x="0" y="100530"/>
                  </a:lnTo>
                  <a:lnTo>
                    <a:pt x="100520" y="50260"/>
                  </a:lnTo>
                  <a:lnTo>
                    <a:pt x="0" y="0"/>
                  </a:lnTo>
                  <a:close/>
                </a:path>
              </a:pathLst>
            </a:custGeom>
            <a:solidFill>
              <a:srgbClr val="222C4A"/>
            </a:solidFill>
          </p:spPr>
          <p:txBody>
            <a:bodyPr wrap="square" lIns="0" tIns="0" rIns="0" bIns="0" rtlCol="0"/>
            <a:lstStyle/>
            <a:p>
              <a:endParaRPr/>
            </a:p>
          </p:txBody>
        </p:sp>
        <p:sp>
          <p:nvSpPr>
            <p:cNvPr id="24" name="object 23">
              <a:extLst>
                <a:ext uri="{FF2B5EF4-FFF2-40B4-BE49-F238E27FC236}">
                  <a16:creationId xmlns:a16="http://schemas.microsoft.com/office/drawing/2014/main" id="{DBDCFC12-6496-82B5-7219-40686F24D34E}"/>
                </a:ext>
              </a:extLst>
            </p:cNvPr>
            <p:cNvSpPr/>
            <p:nvPr/>
          </p:nvSpPr>
          <p:spPr>
            <a:xfrm>
              <a:off x="15056294" y="7049408"/>
              <a:ext cx="1812925" cy="1073785"/>
            </a:xfrm>
            <a:custGeom>
              <a:avLst/>
              <a:gdLst/>
              <a:ahLst/>
              <a:cxnLst/>
              <a:rect l="l" t="t" r="r" b="b"/>
              <a:pathLst>
                <a:path w="1812925" h="1073784">
                  <a:moveTo>
                    <a:pt x="1812803" y="0"/>
                  </a:moveTo>
                  <a:lnTo>
                    <a:pt x="0" y="0"/>
                  </a:lnTo>
                  <a:lnTo>
                    <a:pt x="0" y="1073265"/>
                  </a:lnTo>
                  <a:lnTo>
                    <a:pt x="1812803" y="1073265"/>
                  </a:lnTo>
                  <a:lnTo>
                    <a:pt x="1812803" y="0"/>
                  </a:lnTo>
                  <a:close/>
                </a:path>
              </a:pathLst>
            </a:custGeom>
            <a:solidFill>
              <a:srgbClr val="FFFFFF"/>
            </a:solidFill>
          </p:spPr>
          <p:txBody>
            <a:bodyPr wrap="square" lIns="0" tIns="0" rIns="0" bIns="0" rtlCol="0"/>
            <a:lstStyle/>
            <a:p>
              <a:endParaRPr/>
            </a:p>
          </p:txBody>
        </p:sp>
      </p:grpSp>
      <p:sp>
        <p:nvSpPr>
          <p:cNvPr id="25" name="object 24">
            <a:extLst>
              <a:ext uri="{FF2B5EF4-FFF2-40B4-BE49-F238E27FC236}">
                <a16:creationId xmlns:a16="http://schemas.microsoft.com/office/drawing/2014/main" id="{7C0057B6-DAD4-344B-F0AD-C0CD6B26E5FA}"/>
              </a:ext>
            </a:extLst>
          </p:cNvPr>
          <p:cNvSpPr txBox="1"/>
          <p:nvPr/>
        </p:nvSpPr>
        <p:spPr>
          <a:xfrm>
            <a:off x="7144561" y="4648349"/>
            <a:ext cx="1812925" cy="1073785"/>
          </a:xfrm>
          <a:prstGeom prst="rect">
            <a:avLst/>
          </a:prstGeom>
          <a:ln w="20941">
            <a:solidFill>
              <a:srgbClr val="222C4A"/>
            </a:solidFill>
          </a:ln>
        </p:spPr>
        <p:txBody>
          <a:bodyPr vert="horz" wrap="square" lIns="0" tIns="269875" rIns="0" bIns="0" rtlCol="0">
            <a:spAutoFit/>
          </a:bodyPr>
          <a:lstStyle/>
          <a:p>
            <a:pPr marL="254000">
              <a:lnSpc>
                <a:spcPct val="100000"/>
              </a:lnSpc>
              <a:spcBef>
                <a:spcPts val="2125"/>
              </a:spcBef>
            </a:pPr>
            <a:r>
              <a:rPr sz="3300" spc="-10" dirty="0">
                <a:solidFill>
                  <a:srgbClr val="222C4A"/>
                </a:solidFill>
                <a:latin typeface="Arial"/>
                <a:cs typeface="Arial"/>
              </a:rPr>
              <a:t>Client2</a:t>
            </a:r>
            <a:endParaRPr sz="3300">
              <a:latin typeface="Arial"/>
              <a:cs typeface="Arial"/>
            </a:endParaRPr>
          </a:p>
        </p:txBody>
      </p:sp>
      <p:grpSp>
        <p:nvGrpSpPr>
          <p:cNvPr id="26" name="object 25">
            <a:extLst>
              <a:ext uri="{FF2B5EF4-FFF2-40B4-BE49-F238E27FC236}">
                <a16:creationId xmlns:a16="http://schemas.microsoft.com/office/drawing/2014/main" id="{CDFDE02B-6867-7C4F-706C-4488C591E5B6}"/>
              </a:ext>
            </a:extLst>
          </p:cNvPr>
          <p:cNvGrpSpPr/>
          <p:nvPr/>
        </p:nvGrpSpPr>
        <p:grpSpPr>
          <a:xfrm>
            <a:off x="8971313" y="3929910"/>
            <a:ext cx="2665730" cy="1305560"/>
            <a:chOff x="16883046" y="6330969"/>
            <a:chExt cx="2665730" cy="1305560"/>
          </a:xfrm>
        </p:grpSpPr>
        <p:sp>
          <p:nvSpPr>
            <p:cNvPr id="27" name="object 26">
              <a:extLst>
                <a:ext uri="{FF2B5EF4-FFF2-40B4-BE49-F238E27FC236}">
                  <a16:creationId xmlns:a16="http://schemas.microsoft.com/office/drawing/2014/main" id="{24EFFEEE-F452-C880-7A7C-D7E0590DD5C9}"/>
                </a:ext>
              </a:extLst>
            </p:cNvPr>
            <p:cNvSpPr/>
            <p:nvPr/>
          </p:nvSpPr>
          <p:spPr>
            <a:xfrm>
              <a:off x="16883046" y="7586041"/>
              <a:ext cx="1118870" cy="0"/>
            </a:xfrm>
            <a:custGeom>
              <a:avLst/>
              <a:gdLst/>
              <a:ahLst/>
              <a:cxnLst/>
              <a:rect l="l" t="t" r="r" b="b"/>
              <a:pathLst>
                <a:path w="1118869">
                  <a:moveTo>
                    <a:pt x="0" y="0"/>
                  </a:moveTo>
                  <a:lnTo>
                    <a:pt x="1108050" y="0"/>
                  </a:lnTo>
                  <a:lnTo>
                    <a:pt x="1118520" y="0"/>
                  </a:lnTo>
                </a:path>
              </a:pathLst>
            </a:custGeom>
            <a:ln w="20941">
              <a:solidFill>
                <a:srgbClr val="222C4A"/>
              </a:solidFill>
            </a:ln>
          </p:spPr>
          <p:txBody>
            <a:bodyPr wrap="square" lIns="0" tIns="0" rIns="0" bIns="0" rtlCol="0"/>
            <a:lstStyle/>
            <a:p>
              <a:endParaRPr/>
            </a:p>
          </p:txBody>
        </p:sp>
        <p:sp>
          <p:nvSpPr>
            <p:cNvPr id="28" name="object 27">
              <a:extLst>
                <a:ext uri="{FF2B5EF4-FFF2-40B4-BE49-F238E27FC236}">
                  <a16:creationId xmlns:a16="http://schemas.microsoft.com/office/drawing/2014/main" id="{532E9290-199C-D8DA-AB92-CB5AE8BC3311}"/>
                </a:ext>
              </a:extLst>
            </p:cNvPr>
            <p:cNvSpPr/>
            <p:nvPr/>
          </p:nvSpPr>
          <p:spPr>
            <a:xfrm>
              <a:off x="17991075" y="7535780"/>
              <a:ext cx="100965" cy="100965"/>
            </a:xfrm>
            <a:custGeom>
              <a:avLst/>
              <a:gdLst/>
              <a:ahLst/>
              <a:cxnLst/>
              <a:rect l="l" t="t" r="r" b="b"/>
              <a:pathLst>
                <a:path w="100965" h="100965">
                  <a:moveTo>
                    <a:pt x="0" y="0"/>
                  </a:moveTo>
                  <a:lnTo>
                    <a:pt x="0" y="100520"/>
                  </a:lnTo>
                  <a:lnTo>
                    <a:pt x="100520" y="50260"/>
                  </a:lnTo>
                  <a:lnTo>
                    <a:pt x="0" y="0"/>
                  </a:lnTo>
                  <a:close/>
                </a:path>
              </a:pathLst>
            </a:custGeom>
            <a:solidFill>
              <a:srgbClr val="222C4A"/>
            </a:solidFill>
          </p:spPr>
          <p:txBody>
            <a:bodyPr wrap="square" lIns="0" tIns="0" rIns="0" bIns="0" rtlCol="0"/>
            <a:lstStyle/>
            <a:p>
              <a:endParaRPr/>
            </a:p>
          </p:txBody>
        </p:sp>
        <p:sp>
          <p:nvSpPr>
            <p:cNvPr id="29" name="object 28">
              <a:extLst>
                <a:ext uri="{FF2B5EF4-FFF2-40B4-BE49-F238E27FC236}">
                  <a16:creationId xmlns:a16="http://schemas.microsoft.com/office/drawing/2014/main" id="{7F29DFD9-8408-ABE3-4162-047D4F068906}"/>
                </a:ext>
              </a:extLst>
            </p:cNvPr>
            <p:cNvSpPr/>
            <p:nvPr/>
          </p:nvSpPr>
          <p:spPr>
            <a:xfrm>
              <a:off x="18491060" y="6341440"/>
              <a:ext cx="1047115" cy="749935"/>
            </a:xfrm>
            <a:custGeom>
              <a:avLst/>
              <a:gdLst/>
              <a:ahLst/>
              <a:cxnLst/>
              <a:rect l="l" t="t" r="r" b="b"/>
              <a:pathLst>
                <a:path w="1047115" h="749934">
                  <a:moveTo>
                    <a:pt x="670555" y="0"/>
                  </a:moveTo>
                  <a:lnTo>
                    <a:pt x="376533" y="0"/>
                  </a:lnTo>
                  <a:lnTo>
                    <a:pt x="376533" y="423997"/>
                  </a:lnTo>
                  <a:lnTo>
                    <a:pt x="0" y="423997"/>
                  </a:lnTo>
                  <a:lnTo>
                    <a:pt x="523544" y="749767"/>
                  </a:lnTo>
                  <a:lnTo>
                    <a:pt x="1047088" y="423997"/>
                  </a:lnTo>
                  <a:lnTo>
                    <a:pt x="670555" y="423997"/>
                  </a:lnTo>
                  <a:lnTo>
                    <a:pt x="670555" y="0"/>
                  </a:lnTo>
                  <a:close/>
                </a:path>
              </a:pathLst>
            </a:custGeom>
            <a:solidFill>
              <a:srgbClr val="FFFFFF"/>
            </a:solidFill>
          </p:spPr>
          <p:txBody>
            <a:bodyPr wrap="square" lIns="0" tIns="0" rIns="0" bIns="0" rtlCol="0"/>
            <a:lstStyle/>
            <a:p>
              <a:endParaRPr/>
            </a:p>
          </p:txBody>
        </p:sp>
        <p:sp>
          <p:nvSpPr>
            <p:cNvPr id="30" name="object 29">
              <a:extLst>
                <a:ext uri="{FF2B5EF4-FFF2-40B4-BE49-F238E27FC236}">
                  <a16:creationId xmlns:a16="http://schemas.microsoft.com/office/drawing/2014/main" id="{0D916D01-D2E4-525C-E078-4C812D64AA39}"/>
                </a:ext>
              </a:extLst>
            </p:cNvPr>
            <p:cNvSpPr/>
            <p:nvPr/>
          </p:nvSpPr>
          <p:spPr>
            <a:xfrm>
              <a:off x="18491060" y="6341440"/>
              <a:ext cx="1047115" cy="749935"/>
            </a:xfrm>
            <a:custGeom>
              <a:avLst/>
              <a:gdLst/>
              <a:ahLst/>
              <a:cxnLst/>
              <a:rect l="l" t="t" r="r" b="b"/>
              <a:pathLst>
                <a:path w="1047115" h="749934">
                  <a:moveTo>
                    <a:pt x="376545" y="423996"/>
                  </a:moveTo>
                  <a:lnTo>
                    <a:pt x="0" y="423996"/>
                  </a:lnTo>
                  <a:lnTo>
                    <a:pt x="523544" y="749763"/>
                  </a:lnTo>
                  <a:lnTo>
                    <a:pt x="1047088" y="423996"/>
                  </a:lnTo>
                  <a:lnTo>
                    <a:pt x="670542" y="423996"/>
                  </a:lnTo>
                  <a:lnTo>
                    <a:pt x="670542" y="0"/>
                  </a:lnTo>
                  <a:lnTo>
                    <a:pt x="376545" y="0"/>
                  </a:lnTo>
                  <a:lnTo>
                    <a:pt x="376545" y="423996"/>
                  </a:lnTo>
                  <a:close/>
                </a:path>
              </a:pathLst>
            </a:custGeom>
            <a:ln w="20941">
              <a:solidFill>
                <a:srgbClr val="222C4A"/>
              </a:solidFill>
            </a:ln>
          </p:spPr>
          <p:txBody>
            <a:bodyPr wrap="square" lIns="0" tIns="0" rIns="0" bIns="0" rtlCol="0"/>
            <a:lstStyle/>
            <a:p>
              <a:endParaRPr/>
            </a:p>
          </p:txBody>
        </p:sp>
      </p:grpSp>
      <p:sp>
        <p:nvSpPr>
          <p:cNvPr id="32" name="TextBox 31">
            <a:extLst>
              <a:ext uri="{FF2B5EF4-FFF2-40B4-BE49-F238E27FC236}">
                <a16:creationId xmlns:a16="http://schemas.microsoft.com/office/drawing/2014/main" id="{B4E2EA9A-FE90-FEA9-B22D-6AF33B00F083}"/>
              </a:ext>
            </a:extLst>
          </p:cNvPr>
          <p:cNvSpPr txBox="1"/>
          <p:nvPr/>
        </p:nvSpPr>
        <p:spPr>
          <a:xfrm>
            <a:off x="342855" y="1050052"/>
            <a:ext cx="6801706" cy="5262979"/>
          </a:xfrm>
          <a:prstGeom prst="rect">
            <a:avLst/>
          </a:prstGeom>
          <a:noFill/>
        </p:spPr>
        <p:txBody>
          <a:bodyPr wrap="square">
            <a:spAutoFit/>
          </a:bodyPr>
          <a:lstStyle/>
          <a:p>
            <a:r>
              <a:rPr lang="en-US" sz="2400" dirty="0">
                <a:effectLst/>
              </a:rPr>
              <a:t>Primary P updated its own state.</a:t>
            </a:r>
          </a:p>
          <a:p>
            <a:endParaRPr lang="en-US" sz="2400" dirty="0"/>
          </a:p>
          <a:p>
            <a:r>
              <a:rPr lang="en-US" sz="2400" dirty="0">
                <a:effectLst/>
              </a:rPr>
              <a:t>But secondary S1 did not update (failed? slow? </a:t>
            </a:r>
            <a:r>
              <a:rPr lang="en-US" sz="2400" dirty="0"/>
              <a:t>n</a:t>
            </a:r>
            <a:r>
              <a:rPr lang="en-US" sz="2400" dirty="0">
                <a:effectLst/>
              </a:rPr>
              <a:t>etwork problem?).</a:t>
            </a:r>
          </a:p>
          <a:p>
            <a:endParaRPr lang="en-US" sz="2400" dirty="0"/>
          </a:p>
          <a:p>
            <a:r>
              <a:rPr lang="en-US" sz="2400" dirty="0">
                <a:effectLst/>
              </a:rPr>
              <a:t>Client C1 reads from P; Client C2 reads from S1.</a:t>
            </a:r>
          </a:p>
          <a:p>
            <a:pPr marL="742950" lvl="1" indent="-285750">
              <a:buFont typeface="Arial" panose="020B0604020202020204" pitchFamily="34" charset="0"/>
              <a:buChar char="•"/>
            </a:pPr>
            <a:r>
              <a:rPr lang="en-US" sz="2400" dirty="0">
                <a:effectLst/>
              </a:rPr>
              <a:t>they will see different results!</a:t>
            </a:r>
          </a:p>
          <a:p>
            <a:endParaRPr lang="en-US" sz="2400" dirty="0"/>
          </a:p>
          <a:p>
            <a:r>
              <a:rPr lang="en-US" sz="2400" dirty="0">
                <a:effectLst/>
              </a:rPr>
              <a:t>Such a departure from ideal behavior is an "anomaly".</a:t>
            </a:r>
          </a:p>
          <a:p>
            <a:endParaRPr lang="en-US" sz="2400" dirty="0">
              <a:effectLst/>
            </a:endParaRPr>
          </a:p>
          <a:p>
            <a:r>
              <a:rPr lang="en-US" sz="2400" dirty="0">
                <a:effectLst/>
              </a:rPr>
              <a:t>But note that in this case the primary would have returned</a:t>
            </a:r>
          </a:p>
          <a:p>
            <a:pPr marL="742950" lvl="1" indent="-285750">
              <a:buFont typeface="Arial" panose="020B0604020202020204" pitchFamily="34" charset="0"/>
              <a:buChar char="•"/>
            </a:pPr>
            <a:r>
              <a:rPr lang="en-US" sz="2400" dirty="0">
                <a:effectLst/>
              </a:rPr>
              <a:t>an error to the writing client.</a:t>
            </a:r>
          </a:p>
        </p:txBody>
      </p:sp>
    </p:spTree>
    <p:extLst>
      <p:ext uri="{BB962C8B-B14F-4D97-AF65-F5344CB8AC3E}">
        <p14:creationId xmlns:p14="http://schemas.microsoft.com/office/powerpoint/2010/main" val="1144485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dissolve">
                                      <p:cBhvr>
                                        <p:cTn id="10" dur="500"/>
                                        <p:tgtEl>
                                          <p:spTgt spid="17"/>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dissolve">
                                      <p:cBhvr>
                                        <p:cTn id="13" dur="500"/>
                                        <p:tgtEl>
                                          <p:spTgt spid="18"/>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dissolve">
                                      <p:cBhvr>
                                        <p:cTn id="16" dur="500"/>
                                        <p:tgtEl>
                                          <p:spTgt spid="19"/>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dissolve">
                                      <p:cBhvr>
                                        <p:cTn id="19" dur="500"/>
                                        <p:tgtEl>
                                          <p:spTgt spid="20"/>
                                        </p:tgtEl>
                                      </p:cBhvr>
                                    </p:animEffect>
                                  </p:childTnLst>
                                </p:cTn>
                              </p:par>
                              <p:par>
                                <p:cTn id="20" presetID="9" presetClass="entr" presetSubtype="0" fill="hold"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dissolve">
                                      <p:cBhvr>
                                        <p:cTn id="22" dur="500"/>
                                        <p:tgtEl>
                                          <p:spTgt spid="21"/>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dissolve">
                                      <p:cBhvr>
                                        <p:cTn id="25" dur="500"/>
                                        <p:tgtEl>
                                          <p:spTgt spid="25"/>
                                        </p:tgtEl>
                                      </p:cBhvr>
                                    </p:animEffect>
                                  </p:childTnLst>
                                </p:cTn>
                              </p:par>
                              <p:par>
                                <p:cTn id="26" presetID="9" presetClass="entr" presetSubtype="0" fill="hold"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dissolve">
                                      <p:cBhvr>
                                        <p:cTn id="28" dur="500"/>
                                        <p:tgtEl>
                                          <p:spTgt spid="26"/>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dissolve">
                                      <p:cBhvr>
                                        <p:cTn id="31"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p:bldP spid="19" grpId="0" animBg="1"/>
      <p:bldP spid="20" grpId="0"/>
      <p:bldP spid="25" grpId="0" animBg="1"/>
      <p:bldP spid="3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6B0CE-EE10-C2A9-A460-22DBD9770491}"/>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EA06BED2-C238-0FB9-8200-91F74A3FE19A}"/>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How Can Consistent but Undefined Arise?</a:t>
            </a:r>
          </a:p>
        </p:txBody>
      </p:sp>
      <p:sp>
        <p:nvSpPr>
          <p:cNvPr id="8" name="Slide Number Placeholder 4">
            <a:extLst>
              <a:ext uri="{FF2B5EF4-FFF2-40B4-BE49-F238E27FC236}">
                <a16:creationId xmlns:a16="http://schemas.microsoft.com/office/drawing/2014/main" id="{11348897-32C0-E84D-2852-ED797663CFA5}"/>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36</a:t>
            </a:fld>
            <a:endParaRPr lang="en-US"/>
          </a:p>
        </p:txBody>
      </p:sp>
      <p:sp>
        <p:nvSpPr>
          <p:cNvPr id="3" name="TextBox 2">
            <a:extLst>
              <a:ext uri="{FF2B5EF4-FFF2-40B4-BE49-F238E27FC236}">
                <a16:creationId xmlns:a16="http://schemas.microsoft.com/office/drawing/2014/main" id="{A09181C9-F8E5-923E-6204-8E185D42224D}"/>
              </a:ext>
            </a:extLst>
          </p:cNvPr>
          <p:cNvSpPr txBox="1"/>
          <p:nvPr/>
        </p:nvSpPr>
        <p:spPr>
          <a:xfrm>
            <a:off x="139535" y="1294412"/>
            <a:ext cx="8814459" cy="1261884"/>
          </a:xfrm>
          <a:prstGeom prst="rect">
            <a:avLst/>
          </a:prstGeom>
          <a:noFill/>
        </p:spPr>
        <p:txBody>
          <a:bodyPr wrap="square">
            <a:spAutoFit/>
          </a:bodyPr>
          <a:lstStyle/>
          <a:p>
            <a:r>
              <a:rPr lang="en-US" sz="2800" b="1" dirty="0">
                <a:solidFill>
                  <a:srgbClr val="1A2039"/>
                </a:solidFill>
                <a:effectLst/>
              </a:rPr>
              <a:t>Clients break big writes into multiple small writes,</a:t>
            </a:r>
          </a:p>
          <a:p>
            <a:pPr marL="800100" lvl="1" indent="-342900">
              <a:buFont typeface="Arial" panose="020B0604020202020204" pitchFamily="34" charset="0"/>
              <a:buChar char="•"/>
            </a:pPr>
            <a:r>
              <a:rPr lang="en-US" sz="2400" dirty="0">
                <a:solidFill>
                  <a:srgbClr val="1A2039"/>
                </a:solidFill>
                <a:effectLst/>
              </a:rPr>
              <a:t>e.g. at chunk boundaries, and GFS may interleave</a:t>
            </a:r>
          </a:p>
          <a:p>
            <a:pPr marL="800100" lvl="1" indent="-342900">
              <a:buFont typeface="Arial" panose="020B0604020202020204" pitchFamily="34" charset="0"/>
              <a:buChar char="•"/>
            </a:pPr>
            <a:r>
              <a:rPr lang="en-US" sz="2400" dirty="0">
                <a:solidFill>
                  <a:srgbClr val="1A2039"/>
                </a:solidFill>
                <a:effectLst/>
              </a:rPr>
              <a:t>them if concurrent client writes.</a:t>
            </a:r>
          </a:p>
        </p:txBody>
      </p:sp>
    </p:spTree>
    <p:extLst>
      <p:ext uri="{BB962C8B-B14F-4D97-AF65-F5344CB8AC3E}">
        <p14:creationId xmlns:p14="http://schemas.microsoft.com/office/powerpoint/2010/main" val="27095090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729AB-5EBB-FD20-43DD-D6E0374E683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2ED557C7-2CDD-8C0B-07A1-1DABA8EF652A}"/>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Three Appends, Three Replicas</a:t>
            </a:r>
          </a:p>
        </p:txBody>
      </p:sp>
      <p:sp>
        <p:nvSpPr>
          <p:cNvPr id="8" name="Slide Number Placeholder 4">
            <a:extLst>
              <a:ext uri="{FF2B5EF4-FFF2-40B4-BE49-F238E27FC236}">
                <a16:creationId xmlns:a16="http://schemas.microsoft.com/office/drawing/2014/main" id="{25E098EE-1299-32C0-2821-1DB599BAC8E9}"/>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37</a:t>
            </a:fld>
            <a:endParaRPr lang="en-US"/>
          </a:p>
        </p:txBody>
      </p:sp>
      <p:sp>
        <p:nvSpPr>
          <p:cNvPr id="3" name="TextBox 2">
            <a:extLst>
              <a:ext uri="{FF2B5EF4-FFF2-40B4-BE49-F238E27FC236}">
                <a16:creationId xmlns:a16="http://schemas.microsoft.com/office/drawing/2014/main" id="{857EC8A2-DB9F-8BB1-7445-FE716E76BAC5}"/>
              </a:ext>
            </a:extLst>
          </p:cNvPr>
          <p:cNvSpPr txBox="1"/>
          <p:nvPr/>
        </p:nvSpPr>
        <p:spPr>
          <a:xfrm>
            <a:off x="88135" y="914401"/>
            <a:ext cx="11414752" cy="4031873"/>
          </a:xfrm>
          <a:prstGeom prst="rect">
            <a:avLst/>
          </a:prstGeom>
          <a:noFill/>
        </p:spPr>
        <p:txBody>
          <a:bodyPr wrap="square" rtlCol="0">
            <a:spAutoFit/>
          </a:bodyPr>
          <a:lstStyle/>
          <a:p>
            <a:r>
              <a:rPr lang="en-US" sz="3200" b="1" dirty="0"/>
              <a:t>Append A: all three replicas write it, the client gets success</a:t>
            </a:r>
          </a:p>
          <a:p>
            <a:r>
              <a:rPr lang="en-US" sz="3200" b="1" dirty="0"/>
              <a:t>Append B: one replica misses it, so the client gets an error</a:t>
            </a:r>
          </a:p>
          <a:p>
            <a:r>
              <a:rPr lang="en-US" sz="3200" b="1" dirty="0"/>
              <a:t>Append C: the primary picks the next offset for everyone</a:t>
            </a:r>
          </a:p>
          <a:p>
            <a:r>
              <a:rPr lang="en-US" sz="3200" b="1" dirty="0"/>
              <a:t>The client retries B, and this time all three write it</a:t>
            </a:r>
          </a:p>
          <a:p>
            <a:pPr marL="457200"/>
            <a:r>
              <a:rPr lang="en-US" sz="2800" b="0" dirty="0"/>
              <a:t>One replica now holds A, B, C, B; another holds A, padding, C, B</a:t>
            </a:r>
          </a:p>
          <a:p>
            <a:pPr marL="457200"/>
            <a:r>
              <a:rPr lang="en-US" sz="2800" b="0" dirty="0"/>
              <a:t>Different readers see different orders, and B appears twice</a:t>
            </a:r>
          </a:p>
          <a:p>
            <a:pPr marL="457200"/>
            <a:r>
              <a:rPr lang="en-US" sz="2800" b="0" dirty="0"/>
              <a:t>If the client dies before retrying, a record can live on some replicas only</a:t>
            </a:r>
          </a:p>
        </p:txBody>
      </p:sp>
    </p:spTree>
    <p:extLst>
      <p:ext uri="{BB962C8B-B14F-4D97-AF65-F5344CB8AC3E}">
        <p14:creationId xmlns:p14="http://schemas.microsoft.com/office/powerpoint/2010/main" val="17206706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729AB-5EBB-FD20-43DD-D6E0374E683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2ED557C7-2CDD-8C0B-07A1-1DABA8EF652A}"/>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Why Are These Anomalies OK?</a:t>
            </a:r>
          </a:p>
        </p:txBody>
      </p:sp>
      <p:sp>
        <p:nvSpPr>
          <p:cNvPr id="8" name="Slide Number Placeholder 4">
            <a:extLst>
              <a:ext uri="{FF2B5EF4-FFF2-40B4-BE49-F238E27FC236}">
                <a16:creationId xmlns:a16="http://schemas.microsoft.com/office/drawing/2014/main" id="{25E098EE-1299-32C0-2821-1DB599BAC8E9}"/>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38</a:t>
            </a:fld>
            <a:endParaRPr lang="en-US"/>
          </a:p>
        </p:txBody>
      </p:sp>
      <p:sp>
        <p:nvSpPr>
          <p:cNvPr id="3" name="TextBox 2">
            <a:extLst>
              <a:ext uri="{FF2B5EF4-FFF2-40B4-BE49-F238E27FC236}">
                <a16:creationId xmlns:a16="http://schemas.microsoft.com/office/drawing/2014/main" id="{857EC8A2-DB9F-8BB1-7445-FE716E76BAC5}"/>
              </a:ext>
            </a:extLst>
          </p:cNvPr>
          <p:cNvSpPr txBox="1"/>
          <p:nvPr/>
        </p:nvSpPr>
        <p:spPr>
          <a:xfrm>
            <a:off x="88135" y="914401"/>
            <a:ext cx="11414752" cy="4031873"/>
          </a:xfrm>
          <a:prstGeom prst="rect">
            <a:avLst/>
          </a:prstGeom>
          <a:noFill/>
        </p:spPr>
        <p:txBody>
          <a:bodyPr wrap="square" rtlCol="0">
            <a:spAutoFit/>
          </a:bodyPr>
          <a:lstStyle/>
          <a:p>
            <a:r>
              <a:rPr lang="en-US" sz="3200" b="1" dirty="0"/>
              <a:t>GFS only had to serve Google’s own applications</a:t>
            </a:r>
          </a:p>
          <a:p>
            <a:pPr marL="457200"/>
            <a:r>
              <a:rPr lang="en-US" sz="2800" b="0" dirty="0"/>
              <a:t>Mostly one writer per file, or concurrent record appends</a:t>
            </a:r>
          </a:p>
          <a:p>
            <a:pPr marL="457200"/>
            <a:r>
              <a:rPr lang="en-US" sz="2800" b="0" dirty="0"/>
              <a:t>Applications write checksums and record IDs into their own records</a:t>
            </a:r>
          </a:p>
          <a:p>
            <a:pPr marL="457200"/>
            <a:r>
              <a:rPr lang="en-US" sz="2800" b="0" dirty="0"/>
              <a:t>Readers use them to skip padding, junk and duplicates</a:t>
            </a:r>
          </a:p>
          <a:p>
            <a:pPr marL="457200"/>
            <a:r>
              <a:rPr lang="en-US" sz="2800" b="0" dirty="0"/>
              <a:t>MapReduce re-runs tasks anyway, so it already tolerates repeated output</a:t>
            </a:r>
          </a:p>
          <a:p>
            <a:r>
              <a:rPr lang="en-US" sz="3200" b="1" dirty="0"/>
              <a:t>Google engineers later said they should have made it more consistent</a:t>
            </a:r>
          </a:p>
          <a:p>
            <a:pPr marL="457200"/>
            <a:r>
              <a:rPr lang="en-US" sz="2800" b="0" dirty="0"/>
              <a:t>Applications that needed order had to arrange it themselves</a:t>
            </a:r>
          </a:p>
        </p:txBody>
      </p:sp>
    </p:spTree>
    <p:extLst>
      <p:ext uri="{BB962C8B-B14F-4D97-AF65-F5344CB8AC3E}">
        <p14:creationId xmlns:p14="http://schemas.microsoft.com/office/powerpoint/2010/main" val="17206706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C2566-7C17-1C22-6795-1C24C5CECCF2}"/>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BF498509-D76F-9495-7BB2-1384750D0056}"/>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A Client Crashes While Writing?</a:t>
            </a:r>
          </a:p>
        </p:txBody>
      </p:sp>
      <p:sp>
        <p:nvSpPr>
          <p:cNvPr id="8" name="Slide Number Placeholder 4">
            <a:extLst>
              <a:ext uri="{FF2B5EF4-FFF2-40B4-BE49-F238E27FC236}">
                <a16:creationId xmlns:a16="http://schemas.microsoft.com/office/drawing/2014/main" id="{86770406-6D65-6114-7149-D7597E285F8F}"/>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39</a:t>
            </a:fld>
            <a:endParaRPr lang="en-US"/>
          </a:p>
        </p:txBody>
      </p:sp>
      <p:sp>
        <p:nvSpPr>
          <p:cNvPr id="3" name="TextBox 2">
            <a:extLst>
              <a:ext uri="{FF2B5EF4-FFF2-40B4-BE49-F238E27FC236}">
                <a16:creationId xmlns:a16="http://schemas.microsoft.com/office/drawing/2014/main" id="{07BCE55F-4C0E-768B-BD5C-59832FBF5EB7}"/>
              </a:ext>
            </a:extLst>
          </p:cNvPr>
          <p:cNvSpPr txBox="1"/>
          <p:nvPr/>
        </p:nvSpPr>
        <p:spPr>
          <a:xfrm>
            <a:off x="293914" y="1032555"/>
            <a:ext cx="7258791" cy="461665"/>
          </a:xfrm>
          <a:prstGeom prst="rect">
            <a:avLst/>
          </a:prstGeom>
          <a:noFill/>
        </p:spPr>
        <p:txBody>
          <a:bodyPr wrap="square">
            <a:spAutoFit/>
          </a:bodyPr>
          <a:lstStyle/>
          <a:p>
            <a:r>
              <a:rPr lang="en-US" sz="2400" dirty="0">
                <a:solidFill>
                  <a:srgbClr val="1A2039"/>
                </a:solidFill>
                <a:effectLst/>
              </a:rPr>
              <a:t>Either it got as far as asking primary to write, or not.</a:t>
            </a:r>
          </a:p>
        </p:txBody>
      </p:sp>
    </p:spTree>
    <p:extLst>
      <p:ext uri="{BB962C8B-B14F-4D97-AF65-F5344CB8AC3E}">
        <p14:creationId xmlns:p14="http://schemas.microsoft.com/office/powerpoint/2010/main" val="692200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168E5-8938-15CE-6AA9-239BEB132DB9}"/>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724573AA-EF13-A390-6AAC-4464AB455FAD}"/>
              </a:ext>
            </a:extLst>
          </p:cNvPr>
          <p:cNvSpPr>
            <a:spLocks noGrp="1"/>
          </p:cNvSpPr>
          <p:nvPr>
            <p:ph type="title"/>
          </p:nvPr>
        </p:nvSpPr>
        <p:spPr>
          <a:xfrm>
            <a:off x="0" y="1"/>
            <a:ext cx="12191999" cy="914400"/>
          </a:xfrm>
        </p:spPr>
        <p:txBody>
          <a:bodyPr>
            <a:noAutofit/>
          </a:bodyPr>
          <a:lstStyle/>
          <a:p>
            <a:pPr algn="ctr"/>
            <a:r>
              <a:rPr lang="en-US" sz="3200" b="1" dirty="0">
                <a:latin typeface="Helvetica" panose="020B0604020202020204" pitchFamily="34" charset="0"/>
                <a:cs typeface="Helvetica" panose="020B0604020202020204" pitchFamily="34" charset="0"/>
              </a:rPr>
              <a:t>A Secondary Crashes Just As The Primary Asks It to Write?</a:t>
            </a:r>
          </a:p>
        </p:txBody>
      </p:sp>
      <p:sp>
        <p:nvSpPr>
          <p:cNvPr id="8" name="Slide Number Placeholder 4">
            <a:extLst>
              <a:ext uri="{FF2B5EF4-FFF2-40B4-BE49-F238E27FC236}">
                <a16:creationId xmlns:a16="http://schemas.microsoft.com/office/drawing/2014/main" id="{851A535A-75AA-831E-267A-20B118667BA7}"/>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40</a:t>
            </a:fld>
            <a:endParaRPr lang="en-US"/>
          </a:p>
        </p:txBody>
      </p:sp>
      <p:sp>
        <p:nvSpPr>
          <p:cNvPr id="3" name="TextBox 2">
            <a:extLst>
              <a:ext uri="{FF2B5EF4-FFF2-40B4-BE49-F238E27FC236}">
                <a16:creationId xmlns:a16="http://schemas.microsoft.com/office/drawing/2014/main" id="{0F49AED1-43B1-B2F1-1C9E-F7D7F744F705}"/>
              </a:ext>
            </a:extLst>
          </p:cNvPr>
          <p:cNvSpPr txBox="1"/>
          <p:nvPr/>
        </p:nvSpPr>
        <p:spPr>
          <a:xfrm>
            <a:off x="424543" y="1054924"/>
            <a:ext cx="10108870" cy="4893647"/>
          </a:xfrm>
          <a:prstGeom prst="rect">
            <a:avLst/>
          </a:prstGeom>
          <a:noFill/>
        </p:spPr>
        <p:txBody>
          <a:bodyPr wrap="square">
            <a:spAutoFit/>
          </a:bodyPr>
          <a:lstStyle/>
          <a:p>
            <a:r>
              <a:rPr lang="en-US" sz="2400" dirty="0">
                <a:effectLst/>
                <a:latin typeface="Arial" pitchFamily="2" charset="0"/>
              </a:rPr>
              <a:t>1. </a:t>
            </a:r>
            <a:r>
              <a:rPr lang="en-US" sz="2400" b="1" dirty="0">
                <a:effectLst/>
                <a:latin typeface="Arial" pitchFamily="2" charset="0"/>
              </a:rPr>
              <a:t>Primary may retry a few times, if secondary revives quickly</a:t>
            </a:r>
          </a:p>
          <a:p>
            <a:pPr marL="742950" lvl="1" indent="-285750">
              <a:buFont typeface="Arial" panose="020B0604020202020204" pitchFamily="34" charset="0"/>
              <a:buChar char="•"/>
            </a:pPr>
            <a:r>
              <a:rPr lang="en-US" sz="2400" dirty="0">
                <a:effectLst/>
                <a:latin typeface="Arial" pitchFamily="2" charset="0"/>
              </a:rPr>
              <a:t>with disk intact, it may execute the primary's request</a:t>
            </a:r>
          </a:p>
          <a:p>
            <a:pPr marL="742950" lvl="1" indent="-285750">
              <a:buFont typeface="Arial" panose="020B0604020202020204" pitchFamily="34" charset="0"/>
              <a:buChar char="•"/>
            </a:pPr>
            <a:r>
              <a:rPr lang="en-US" sz="2400" dirty="0">
                <a:effectLst/>
                <a:latin typeface="Arial" pitchFamily="2" charset="0"/>
              </a:rPr>
              <a:t>and all is well.</a:t>
            </a:r>
          </a:p>
          <a:p>
            <a:pPr marL="742950" lvl="1" indent="-285750">
              <a:buFont typeface="Arial" panose="020B0604020202020204" pitchFamily="34" charset="0"/>
              <a:buChar char="•"/>
            </a:pPr>
            <a:endParaRPr lang="en-US" sz="2400" dirty="0">
              <a:effectLst/>
              <a:latin typeface="Arial" pitchFamily="2" charset="0"/>
            </a:endParaRPr>
          </a:p>
          <a:p>
            <a:r>
              <a:rPr lang="en-US" sz="2400" dirty="0">
                <a:effectLst/>
                <a:latin typeface="Arial" pitchFamily="2" charset="0"/>
              </a:rPr>
              <a:t>2. </a:t>
            </a:r>
            <a:r>
              <a:rPr lang="en-US" sz="2400" b="1" dirty="0">
                <a:effectLst/>
                <a:latin typeface="Arial" pitchFamily="2" charset="0"/>
              </a:rPr>
              <a:t>Primary gives up, and returns an error to the client</a:t>
            </a:r>
            <a:r>
              <a:rPr lang="en-US" sz="2400" dirty="0">
                <a:effectLst/>
                <a:latin typeface="Arial" pitchFamily="2" charset="0"/>
              </a:rPr>
              <a:t>.</a:t>
            </a:r>
          </a:p>
          <a:p>
            <a:pPr marL="742950" lvl="1" indent="-285750">
              <a:buFont typeface="Arial" panose="020B0604020202020204" pitchFamily="34" charset="0"/>
              <a:buChar char="•"/>
            </a:pPr>
            <a:r>
              <a:rPr lang="en-US" sz="2400" dirty="0">
                <a:effectLst/>
                <a:latin typeface="Arial" pitchFamily="2" charset="0"/>
              </a:rPr>
              <a:t>Client can retry -- but why would the write work the second</a:t>
            </a:r>
          </a:p>
          <a:p>
            <a:pPr marL="742950" lvl="1" indent="-285750">
              <a:buFont typeface="Arial" panose="020B0604020202020204" pitchFamily="34" charset="0"/>
              <a:buChar char="•"/>
            </a:pPr>
            <a:r>
              <a:rPr lang="en-US" sz="2400" dirty="0">
                <a:effectLst/>
                <a:latin typeface="Arial" pitchFamily="2" charset="0"/>
              </a:rPr>
              <a:t>time around?</a:t>
            </a:r>
          </a:p>
          <a:p>
            <a:pPr marL="742950" lvl="1" indent="-285750">
              <a:buFont typeface="Arial" panose="020B0604020202020204" pitchFamily="34" charset="0"/>
              <a:buChar char="•"/>
            </a:pPr>
            <a:endParaRPr lang="en-US" sz="2400" dirty="0">
              <a:effectLst/>
              <a:latin typeface="Arial" pitchFamily="2" charset="0"/>
            </a:endParaRPr>
          </a:p>
          <a:p>
            <a:r>
              <a:rPr lang="en-US" sz="2400" dirty="0">
                <a:effectLst/>
                <a:latin typeface="Arial" pitchFamily="2" charset="0"/>
              </a:rPr>
              <a:t>3. </a:t>
            </a:r>
            <a:r>
              <a:rPr lang="en-US" sz="2400" b="1" dirty="0">
                <a:effectLst/>
                <a:latin typeface="Arial" pitchFamily="2" charset="0"/>
              </a:rPr>
              <a:t>Coordinator notices that a </a:t>
            </a:r>
            <a:r>
              <a:rPr lang="en-US" sz="2400" b="1" dirty="0" err="1">
                <a:effectLst/>
                <a:latin typeface="Arial" pitchFamily="2" charset="0"/>
              </a:rPr>
              <a:t>chunkserver</a:t>
            </a:r>
            <a:r>
              <a:rPr lang="en-US" sz="2400" b="1" dirty="0">
                <a:effectLst/>
                <a:latin typeface="Arial" pitchFamily="2" charset="0"/>
              </a:rPr>
              <a:t> is down.</a:t>
            </a:r>
          </a:p>
          <a:p>
            <a:pPr marL="742950" lvl="1" indent="-285750">
              <a:buFont typeface="Arial" panose="020B0604020202020204" pitchFamily="34" charset="0"/>
              <a:buChar char="•"/>
            </a:pPr>
            <a:r>
              <a:rPr lang="en-US" sz="2400" dirty="0">
                <a:effectLst/>
                <a:latin typeface="Arial" pitchFamily="2" charset="0"/>
              </a:rPr>
              <a:t>Periodically pings all chunk servers.</a:t>
            </a:r>
          </a:p>
          <a:p>
            <a:pPr marL="742950" lvl="1" indent="-285750">
              <a:buFont typeface="Arial" panose="020B0604020202020204" pitchFamily="34" charset="0"/>
              <a:buChar char="•"/>
            </a:pPr>
            <a:r>
              <a:rPr lang="en-US" sz="2400" dirty="0">
                <a:effectLst/>
                <a:latin typeface="Arial" pitchFamily="2" charset="0"/>
              </a:rPr>
              <a:t>Removes the failed </a:t>
            </a:r>
            <a:r>
              <a:rPr lang="en-US" sz="2400" dirty="0" err="1">
                <a:effectLst/>
                <a:latin typeface="Arial" pitchFamily="2" charset="0"/>
              </a:rPr>
              <a:t>chunkserver</a:t>
            </a:r>
            <a:r>
              <a:rPr lang="en-US" sz="2400" dirty="0">
                <a:effectLst/>
                <a:latin typeface="Arial" pitchFamily="2" charset="0"/>
              </a:rPr>
              <a:t> from all </a:t>
            </a:r>
            <a:r>
              <a:rPr lang="en-US" sz="2400" dirty="0" err="1">
                <a:effectLst/>
                <a:latin typeface="Arial" pitchFamily="2" charset="0"/>
              </a:rPr>
              <a:t>chunkhandle</a:t>
            </a:r>
            <a:r>
              <a:rPr lang="en-US" sz="2400" dirty="0">
                <a:effectLst/>
                <a:latin typeface="Arial" pitchFamily="2" charset="0"/>
              </a:rPr>
              <a:t> lists.</a:t>
            </a:r>
          </a:p>
          <a:p>
            <a:pPr marL="742950" lvl="1" indent="-285750">
              <a:buFont typeface="Arial" panose="020B0604020202020204" pitchFamily="34" charset="0"/>
              <a:buChar char="•"/>
            </a:pPr>
            <a:r>
              <a:rPr lang="en-US" sz="2400" dirty="0">
                <a:effectLst/>
                <a:latin typeface="Arial" pitchFamily="2" charset="0"/>
              </a:rPr>
              <a:t>Perhaps re-replicates, to maintain 3 replicas.</a:t>
            </a:r>
          </a:p>
          <a:p>
            <a:pPr marL="742950" lvl="1" indent="-285750">
              <a:buFont typeface="Arial" panose="020B0604020202020204" pitchFamily="34" charset="0"/>
              <a:buChar char="•"/>
            </a:pPr>
            <a:r>
              <a:rPr lang="en-US" sz="2400" dirty="0">
                <a:effectLst/>
                <a:latin typeface="Arial" pitchFamily="2" charset="0"/>
              </a:rPr>
              <a:t>Tells primary the new secondary list.</a:t>
            </a:r>
          </a:p>
        </p:txBody>
      </p:sp>
    </p:spTree>
    <p:extLst>
      <p:ext uri="{BB962C8B-B14F-4D97-AF65-F5344CB8AC3E}">
        <p14:creationId xmlns:p14="http://schemas.microsoft.com/office/powerpoint/2010/main" val="3799763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dissolve">
                                      <p:cBhvr>
                                        <p:cTn id="7" dur="500"/>
                                        <p:tgtEl>
                                          <p:spTgt spid="3">
                                            <p:txEl>
                                              <p:pRg st="4" end="4"/>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dissolve">
                                      <p:cBhvr>
                                        <p:cTn id="10" dur="500"/>
                                        <p:tgtEl>
                                          <p:spTgt spid="3">
                                            <p:txEl>
                                              <p:pRg st="5" end="5"/>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dissolve">
                                      <p:cBhvr>
                                        <p:cTn id="13" dur="500"/>
                                        <p:tgtEl>
                                          <p:spTgt spid="3">
                                            <p:txEl>
                                              <p:pRg st="6" end="6"/>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3">
                                            <p:txEl>
                                              <p:pRg st="8" end="8"/>
                                            </p:txEl>
                                          </p:spTgt>
                                        </p:tgtEl>
                                        <p:attrNameLst>
                                          <p:attrName>style.visibility</p:attrName>
                                        </p:attrNameLst>
                                      </p:cBhvr>
                                      <p:to>
                                        <p:strVal val="visible"/>
                                      </p:to>
                                    </p:set>
                                    <p:animEffect transition="in" filter="dissolve">
                                      <p:cBhvr>
                                        <p:cTn id="18" dur="500"/>
                                        <p:tgtEl>
                                          <p:spTgt spid="3">
                                            <p:txEl>
                                              <p:pRg st="8" end="8"/>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animEffect transition="in" filter="dissolve">
                                      <p:cBhvr>
                                        <p:cTn id="21" dur="500"/>
                                        <p:tgtEl>
                                          <p:spTgt spid="3">
                                            <p:txEl>
                                              <p:pRg st="9" end="9"/>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3">
                                            <p:txEl>
                                              <p:pRg st="10" end="10"/>
                                            </p:txEl>
                                          </p:spTgt>
                                        </p:tgtEl>
                                        <p:attrNameLst>
                                          <p:attrName>style.visibility</p:attrName>
                                        </p:attrNameLst>
                                      </p:cBhvr>
                                      <p:to>
                                        <p:strVal val="visible"/>
                                      </p:to>
                                    </p:set>
                                    <p:animEffect transition="in" filter="dissolve">
                                      <p:cBhvr>
                                        <p:cTn id="24" dur="500"/>
                                        <p:tgtEl>
                                          <p:spTgt spid="3">
                                            <p:txEl>
                                              <p:pRg st="10" end="10"/>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animEffect transition="in" filter="dissolve">
                                      <p:cBhvr>
                                        <p:cTn id="27" dur="500"/>
                                        <p:tgtEl>
                                          <p:spTgt spid="3">
                                            <p:txEl>
                                              <p:pRg st="11" end="11"/>
                                            </p:txEl>
                                          </p:spTgt>
                                        </p:tgtEl>
                                      </p:cBhvr>
                                    </p:animEffect>
                                  </p:childTnLst>
                                </p:cTn>
                              </p:par>
                              <p:par>
                                <p:cTn id="28" presetID="9" presetClass="entr" presetSubtype="0" fill="hold" nodeType="withEffect">
                                  <p:stCondLst>
                                    <p:cond delay="0"/>
                                  </p:stCondLst>
                                  <p:childTnLst>
                                    <p:set>
                                      <p:cBhvr>
                                        <p:cTn id="29" dur="1" fill="hold">
                                          <p:stCondLst>
                                            <p:cond delay="0"/>
                                          </p:stCondLst>
                                        </p:cTn>
                                        <p:tgtEl>
                                          <p:spTgt spid="3">
                                            <p:txEl>
                                              <p:pRg st="12" end="12"/>
                                            </p:txEl>
                                          </p:spTgt>
                                        </p:tgtEl>
                                        <p:attrNameLst>
                                          <p:attrName>style.visibility</p:attrName>
                                        </p:attrNameLst>
                                      </p:cBhvr>
                                      <p:to>
                                        <p:strVal val="visible"/>
                                      </p:to>
                                    </p:set>
                                    <p:animEffect transition="in" filter="dissolve">
                                      <p:cBhvr>
                                        <p:cTn id="30"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A6ECA-9759-8C31-29D3-C9C1F7732361}"/>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07281EBD-CD70-F2E5-D83C-EBDB242FF73A}"/>
              </a:ext>
            </a:extLst>
          </p:cNvPr>
          <p:cNvSpPr>
            <a:spLocks noGrp="1"/>
          </p:cNvSpPr>
          <p:nvPr>
            <p:ph type="title"/>
          </p:nvPr>
        </p:nvSpPr>
        <p:spPr>
          <a:xfrm>
            <a:off x="0" y="1"/>
            <a:ext cx="12191999" cy="914400"/>
          </a:xfrm>
        </p:spPr>
        <p:txBody>
          <a:bodyPr>
            <a:noAutofit/>
          </a:bodyPr>
          <a:lstStyle/>
          <a:p>
            <a:pPr algn="ctr"/>
            <a:r>
              <a:rPr lang="en-US" sz="3200" b="1" dirty="0">
                <a:latin typeface="Helvetica" panose="020B0604020202020204" pitchFamily="34" charset="0"/>
                <a:cs typeface="Helvetica" panose="020B0604020202020204" pitchFamily="34" charset="0"/>
              </a:rPr>
              <a:t>A Secondary Crashes Just As The Primary Asks It to Write?</a:t>
            </a:r>
          </a:p>
        </p:txBody>
      </p:sp>
      <p:sp>
        <p:nvSpPr>
          <p:cNvPr id="8" name="Slide Number Placeholder 4">
            <a:extLst>
              <a:ext uri="{FF2B5EF4-FFF2-40B4-BE49-F238E27FC236}">
                <a16:creationId xmlns:a16="http://schemas.microsoft.com/office/drawing/2014/main" id="{359A4F27-7F3A-40C1-651E-3CC18EBCC3E4}"/>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41</a:t>
            </a:fld>
            <a:endParaRPr lang="en-US"/>
          </a:p>
        </p:txBody>
      </p:sp>
      <p:sp>
        <p:nvSpPr>
          <p:cNvPr id="4" name="TextBox 3">
            <a:extLst>
              <a:ext uri="{FF2B5EF4-FFF2-40B4-BE49-F238E27FC236}">
                <a16:creationId xmlns:a16="http://schemas.microsoft.com/office/drawing/2014/main" id="{5E467C7A-3A49-BE4A-7845-2B354366E1C1}"/>
              </a:ext>
            </a:extLst>
          </p:cNvPr>
          <p:cNvSpPr txBox="1"/>
          <p:nvPr/>
        </p:nvSpPr>
        <p:spPr>
          <a:xfrm>
            <a:off x="0" y="1009404"/>
            <a:ext cx="10964883" cy="4585871"/>
          </a:xfrm>
          <a:prstGeom prst="rect">
            <a:avLst/>
          </a:prstGeom>
          <a:noFill/>
        </p:spPr>
        <p:txBody>
          <a:bodyPr wrap="square">
            <a:spAutoFit/>
          </a:bodyPr>
          <a:lstStyle/>
          <a:p>
            <a:r>
              <a:rPr lang="en-US" sz="2800" dirty="0">
                <a:effectLst/>
              </a:rPr>
              <a:t> Re-replication after a </a:t>
            </a:r>
            <a:r>
              <a:rPr lang="en-US" sz="2800" dirty="0" err="1">
                <a:effectLst/>
              </a:rPr>
              <a:t>chunkserver</a:t>
            </a:r>
            <a:r>
              <a:rPr lang="en-US" sz="2800" dirty="0">
                <a:effectLst/>
              </a:rPr>
              <a:t> failure may take a </a:t>
            </a:r>
            <a:r>
              <a:rPr lang="en-US" sz="2800" b="1" dirty="0">
                <a:effectLst/>
              </a:rPr>
              <a:t>long time</a:t>
            </a:r>
            <a:endParaRPr lang="en-US" sz="2800" dirty="0"/>
          </a:p>
          <a:p>
            <a:pPr marL="742950" lvl="1" indent="-285750">
              <a:buFont typeface="Arial" panose="020B0604020202020204" pitchFamily="34" charset="0"/>
              <a:buChar char="•"/>
            </a:pPr>
            <a:r>
              <a:rPr lang="en-US" sz="2400" dirty="0"/>
              <a:t>Since a </a:t>
            </a:r>
            <a:r>
              <a:rPr lang="en-US" sz="2400" dirty="0" err="1"/>
              <a:t>chunkserver</a:t>
            </a:r>
            <a:r>
              <a:rPr lang="en-US" sz="2400" dirty="0"/>
              <a:t> failure requires re-replication of all its chunks. 80 GB disk, 10 MB/s network -&gt; an hour or two for full copy.</a:t>
            </a:r>
          </a:p>
          <a:p>
            <a:pPr marL="742950" lvl="1" indent="-285750">
              <a:buFont typeface="Arial" panose="020B0604020202020204" pitchFamily="34" charset="0"/>
              <a:buChar char="•"/>
            </a:pPr>
            <a:r>
              <a:rPr lang="en-US" sz="2400" dirty="0"/>
              <a:t>So the primary probably re-tries for a while,</a:t>
            </a:r>
          </a:p>
          <a:p>
            <a:pPr marL="742950" lvl="1" indent="-285750">
              <a:buFont typeface="Arial" panose="020B0604020202020204" pitchFamily="34" charset="0"/>
              <a:buChar char="•"/>
            </a:pPr>
            <a:r>
              <a:rPr lang="en-US" sz="2400" dirty="0"/>
              <a:t>and the master lets the system operate with a missing</a:t>
            </a:r>
          </a:p>
          <a:p>
            <a:pPr marL="742950" lvl="1" indent="-285750">
              <a:buFont typeface="Arial" panose="020B0604020202020204" pitchFamily="34" charset="0"/>
              <a:buChar char="•"/>
            </a:pPr>
            <a:r>
              <a:rPr lang="en-US" sz="2400" dirty="0"/>
              <a:t>chunk replica, before declaring the </a:t>
            </a:r>
            <a:r>
              <a:rPr lang="en-US" sz="2400" dirty="0" err="1"/>
              <a:t>chunkserver</a:t>
            </a:r>
            <a:r>
              <a:rPr lang="en-US" sz="2400" dirty="0"/>
              <a:t> permanently dead.</a:t>
            </a:r>
          </a:p>
          <a:p>
            <a:pPr marL="742950" lvl="1" indent="-285750">
              <a:buFont typeface="Arial" panose="020B0604020202020204" pitchFamily="34" charset="0"/>
              <a:buChar char="•"/>
            </a:pPr>
            <a:r>
              <a:rPr lang="en-US" sz="2400" dirty="0"/>
              <a:t>How long to wait before re-replicating?</a:t>
            </a:r>
          </a:p>
          <a:p>
            <a:pPr marL="742950" lvl="1" indent="-285750">
              <a:buFont typeface="Arial" panose="020B0604020202020204" pitchFamily="34" charset="0"/>
              <a:buChar char="•"/>
            </a:pPr>
            <a:r>
              <a:rPr lang="en-US" sz="2400" dirty="0"/>
              <a:t>Too short: wasted copying work if </a:t>
            </a:r>
            <a:r>
              <a:rPr lang="en-US" sz="2400" dirty="0" err="1"/>
              <a:t>chunkserver</a:t>
            </a:r>
            <a:r>
              <a:rPr lang="en-US" sz="2400" dirty="0"/>
              <a:t> comes back to life. Too long: more failures might destroy all copies of data.</a:t>
            </a:r>
          </a:p>
          <a:p>
            <a:endParaRPr lang="en-US" sz="2400" dirty="0"/>
          </a:p>
          <a:p>
            <a:endParaRPr lang="en-US" sz="2400" dirty="0"/>
          </a:p>
          <a:p>
            <a:endParaRPr lang="en-US" sz="2400" dirty="0"/>
          </a:p>
        </p:txBody>
      </p:sp>
    </p:spTree>
    <p:extLst>
      <p:ext uri="{BB962C8B-B14F-4D97-AF65-F5344CB8AC3E}">
        <p14:creationId xmlns:p14="http://schemas.microsoft.com/office/powerpoint/2010/main" val="8414580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E15A8-CE1E-6260-D98B-B7DACB8CA989}"/>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4993B7FF-91FD-DB52-4DC6-8E08BDE899BA}"/>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What If a Primary Crashes?</a:t>
            </a:r>
          </a:p>
        </p:txBody>
      </p:sp>
      <p:sp>
        <p:nvSpPr>
          <p:cNvPr id="8" name="Slide Number Placeholder 4">
            <a:extLst>
              <a:ext uri="{FF2B5EF4-FFF2-40B4-BE49-F238E27FC236}">
                <a16:creationId xmlns:a16="http://schemas.microsoft.com/office/drawing/2014/main" id="{216196A9-3EE7-41E4-625D-4EF5F67D5D16}"/>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42</a:t>
            </a:fld>
            <a:endParaRPr lang="en-US"/>
          </a:p>
        </p:txBody>
      </p:sp>
      <p:sp>
        <p:nvSpPr>
          <p:cNvPr id="3" name="TextBox 2">
            <a:extLst>
              <a:ext uri="{FF2B5EF4-FFF2-40B4-BE49-F238E27FC236}">
                <a16:creationId xmlns:a16="http://schemas.microsoft.com/office/drawing/2014/main" id="{CFC333E4-500A-7568-78A2-ACFBA95BC657}"/>
              </a:ext>
            </a:extLst>
          </p:cNvPr>
          <p:cNvSpPr txBox="1"/>
          <p:nvPr/>
        </p:nvSpPr>
        <p:spPr>
          <a:xfrm>
            <a:off x="412667" y="1052852"/>
            <a:ext cx="11094523" cy="4832092"/>
          </a:xfrm>
          <a:prstGeom prst="rect">
            <a:avLst/>
          </a:prstGeom>
          <a:noFill/>
        </p:spPr>
        <p:txBody>
          <a:bodyPr wrap="square">
            <a:spAutoFit/>
          </a:bodyPr>
          <a:lstStyle/>
          <a:p>
            <a:r>
              <a:rPr lang="en-US" sz="2800" b="1" dirty="0">
                <a:effectLst/>
              </a:rPr>
              <a:t>The master must be able to designate a new primary if the present primary fails.</a:t>
            </a:r>
          </a:p>
          <a:p>
            <a:endParaRPr lang="en-US" sz="2800" b="1" dirty="0"/>
          </a:p>
          <a:p>
            <a:r>
              <a:rPr lang="en-US" sz="2800" b="1" dirty="0">
                <a:effectLst/>
              </a:rPr>
              <a:t>But the master cannot distinguish "primary has failed” from "primary is still alive but the network has a problem."</a:t>
            </a:r>
          </a:p>
          <a:p>
            <a:endParaRPr lang="en-US" sz="2800" b="1" dirty="0"/>
          </a:p>
          <a:p>
            <a:r>
              <a:rPr lang="en-US" sz="2800" b="1" dirty="0">
                <a:effectLst/>
              </a:rPr>
              <a:t>What if the master designates a new primary while old one is active?</a:t>
            </a:r>
          </a:p>
          <a:p>
            <a:pPr marL="914400" lvl="1" indent="-457200">
              <a:buFont typeface="Arial" panose="020B0604020202020204" pitchFamily="34" charset="0"/>
              <a:buChar char="•"/>
            </a:pPr>
            <a:r>
              <a:rPr lang="en-US" sz="2800" dirty="0">
                <a:effectLst/>
              </a:rPr>
              <a:t>two active primaries!</a:t>
            </a:r>
          </a:p>
          <a:p>
            <a:pPr marL="914400" lvl="1" indent="-457200">
              <a:buFont typeface="Arial" panose="020B0604020202020204" pitchFamily="34" charset="0"/>
              <a:buChar char="•"/>
            </a:pPr>
            <a:r>
              <a:rPr lang="en-US" sz="2800" dirty="0">
                <a:effectLst/>
              </a:rPr>
              <a:t>C1 writes to P1, C2 reads from P2, doesn't seen C1's write!</a:t>
            </a:r>
          </a:p>
          <a:p>
            <a:pPr marL="914400" lvl="1" indent="-457200">
              <a:buFont typeface="Arial" panose="020B0604020202020204" pitchFamily="34" charset="0"/>
              <a:buChar char="•"/>
            </a:pPr>
            <a:r>
              <a:rPr lang="en-US" sz="2800" dirty="0">
                <a:effectLst/>
              </a:rPr>
              <a:t>called "split brain" -- a disaster</a:t>
            </a:r>
          </a:p>
        </p:txBody>
      </p:sp>
    </p:spTree>
    <p:extLst>
      <p:ext uri="{BB962C8B-B14F-4D97-AF65-F5344CB8AC3E}">
        <p14:creationId xmlns:p14="http://schemas.microsoft.com/office/powerpoint/2010/main" val="3428267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dissolv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dissolve">
                                      <p:cBhvr>
                                        <p:cTn id="12" dur="500"/>
                                        <p:tgtEl>
                                          <p:spTgt spid="3">
                                            <p:txEl>
                                              <p:pRg st="4" end="4"/>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dissolve">
                                      <p:cBhvr>
                                        <p:cTn id="15" dur="500"/>
                                        <p:tgtEl>
                                          <p:spTgt spid="3">
                                            <p:txEl>
                                              <p:pRg st="5" end="5"/>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dissolve">
                                      <p:cBhvr>
                                        <p:cTn id="18" dur="500"/>
                                        <p:tgtEl>
                                          <p:spTgt spid="3">
                                            <p:txEl>
                                              <p:pRg st="6" end="6"/>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dissolve">
                                      <p:cBhvr>
                                        <p:cTn id="2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5B954-4795-4A51-4D0C-1F3E54BA5F30}"/>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2BF45D5F-00DF-610C-5AB8-33DFBAF71AFD}"/>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What If a Primary Crashes?</a:t>
            </a:r>
          </a:p>
        </p:txBody>
      </p:sp>
      <p:sp>
        <p:nvSpPr>
          <p:cNvPr id="8" name="Slide Number Placeholder 4">
            <a:extLst>
              <a:ext uri="{FF2B5EF4-FFF2-40B4-BE49-F238E27FC236}">
                <a16:creationId xmlns:a16="http://schemas.microsoft.com/office/drawing/2014/main" id="{2A87F9BA-1276-2169-128B-43BAC08FD2A9}"/>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43</a:t>
            </a:fld>
            <a:endParaRPr lang="en-US"/>
          </a:p>
        </p:txBody>
      </p:sp>
      <p:sp>
        <p:nvSpPr>
          <p:cNvPr id="3" name="TextBox 2">
            <a:extLst>
              <a:ext uri="{FF2B5EF4-FFF2-40B4-BE49-F238E27FC236}">
                <a16:creationId xmlns:a16="http://schemas.microsoft.com/office/drawing/2014/main" id="{6D67B72B-1485-A6FB-1F12-DBCB9736E82C}"/>
              </a:ext>
            </a:extLst>
          </p:cNvPr>
          <p:cNvSpPr txBox="1"/>
          <p:nvPr/>
        </p:nvSpPr>
        <p:spPr>
          <a:xfrm>
            <a:off x="412667" y="1052852"/>
            <a:ext cx="9693233" cy="3539430"/>
          </a:xfrm>
          <a:prstGeom prst="rect">
            <a:avLst/>
          </a:prstGeom>
          <a:noFill/>
        </p:spPr>
        <p:txBody>
          <a:bodyPr wrap="square">
            <a:spAutoFit/>
          </a:bodyPr>
          <a:lstStyle/>
          <a:p>
            <a:r>
              <a:rPr lang="en-US" sz="2800" b="1" dirty="0">
                <a:effectLst/>
              </a:rPr>
              <a:t>Solution: Lease</a:t>
            </a:r>
          </a:p>
          <a:p>
            <a:pPr marL="742950" lvl="1" indent="-285750">
              <a:buFont typeface="Arial" panose="020B0604020202020204" pitchFamily="34" charset="0"/>
              <a:buChar char="•"/>
            </a:pPr>
            <a:r>
              <a:rPr lang="en-US" sz="2400" dirty="0">
                <a:effectLst/>
              </a:rPr>
              <a:t>Permission to act as primary for a given time (60 seconds).</a:t>
            </a:r>
          </a:p>
          <a:p>
            <a:pPr marL="742950" lvl="1" indent="-285750">
              <a:buFont typeface="Arial" panose="020B0604020202020204" pitchFamily="34" charset="0"/>
              <a:buChar char="•"/>
            </a:pPr>
            <a:r>
              <a:rPr lang="en-US" sz="2400" dirty="0">
                <a:effectLst/>
              </a:rPr>
              <a:t>Primary promises to stop acting as primary before lease expires.</a:t>
            </a:r>
          </a:p>
          <a:p>
            <a:pPr marL="742950" lvl="1" indent="-285750">
              <a:buFont typeface="Arial" panose="020B0604020202020204" pitchFamily="34" charset="0"/>
              <a:buChar char="•"/>
            </a:pPr>
            <a:r>
              <a:rPr lang="en-US" sz="2400" dirty="0">
                <a:effectLst/>
              </a:rPr>
              <a:t>Master promises not to change primaries until after expiration.</a:t>
            </a:r>
          </a:p>
          <a:p>
            <a:pPr marL="742950" lvl="1" indent="-285750">
              <a:buFont typeface="Arial" panose="020B0604020202020204" pitchFamily="34" charset="0"/>
              <a:buChar char="•"/>
            </a:pPr>
            <a:r>
              <a:rPr lang="en-US" sz="2400" dirty="0">
                <a:effectLst/>
              </a:rPr>
              <a:t>Separate lease per actively written chunk.</a:t>
            </a:r>
          </a:p>
          <a:p>
            <a:pPr marL="285750" indent="-285750">
              <a:buFont typeface="Arial" panose="020B0604020202020204" pitchFamily="34" charset="0"/>
              <a:buChar char="•"/>
            </a:pPr>
            <a:endParaRPr lang="en-US" sz="2400" dirty="0">
              <a:effectLst/>
            </a:endParaRPr>
          </a:p>
          <a:p>
            <a:r>
              <a:rPr lang="en-US" sz="2800" b="1" dirty="0">
                <a:effectLst/>
              </a:rPr>
              <a:t>Leases help prevent split brain:</a:t>
            </a:r>
          </a:p>
          <a:p>
            <a:pPr marL="742950" lvl="1" indent="-285750">
              <a:buFont typeface="Arial" panose="020B0604020202020204" pitchFamily="34" charset="0"/>
              <a:buChar char="•"/>
            </a:pPr>
            <a:r>
              <a:rPr lang="en-US" sz="2400" dirty="0">
                <a:effectLst/>
              </a:rPr>
              <a:t>Master won't designate new primary until the current one is</a:t>
            </a:r>
          </a:p>
          <a:p>
            <a:pPr marL="742950" lvl="1" indent="-285750">
              <a:buFont typeface="Arial" panose="020B0604020202020204" pitchFamily="34" charset="0"/>
              <a:buChar char="•"/>
            </a:pPr>
            <a:r>
              <a:rPr lang="en-US" sz="2400" dirty="0">
                <a:effectLst/>
              </a:rPr>
              <a:t>guaranteed to have stopped acting as primary.</a:t>
            </a:r>
          </a:p>
        </p:txBody>
      </p:sp>
    </p:spTree>
    <p:extLst>
      <p:ext uri="{BB962C8B-B14F-4D97-AF65-F5344CB8AC3E}">
        <p14:creationId xmlns:p14="http://schemas.microsoft.com/office/powerpoint/2010/main" val="32040753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086BE-5A45-8F87-9EED-D946B491856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34433898-B8E2-65BE-42A1-3D6AC40C2C84}"/>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What If a Primary Crashes?</a:t>
            </a:r>
          </a:p>
        </p:txBody>
      </p:sp>
      <p:sp>
        <p:nvSpPr>
          <p:cNvPr id="8" name="Slide Number Placeholder 4">
            <a:extLst>
              <a:ext uri="{FF2B5EF4-FFF2-40B4-BE49-F238E27FC236}">
                <a16:creationId xmlns:a16="http://schemas.microsoft.com/office/drawing/2014/main" id="{427856FC-8E59-37DB-033B-8060BDFA3361}"/>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44</a:t>
            </a:fld>
            <a:endParaRPr lang="en-US"/>
          </a:p>
        </p:txBody>
      </p:sp>
      <p:sp>
        <p:nvSpPr>
          <p:cNvPr id="2" name="TextBox 1">
            <a:extLst>
              <a:ext uri="{FF2B5EF4-FFF2-40B4-BE49-F238E27FC236}">
                <a16:creationId xmlns:a16="http://schemas.microsoft.com/office/drawing/2014/main" id="{67CDF4C4-D1AC-F86E-5C84-2F4BB2515EC1}"/>
              </a:ext>
            </a:extLst>
          </p:cNvPr>
          <p:cNvSpPr txBox="1"/>
          <p:nvPr/>
        </p:nvSpPr>
        <p:spPr>
          <a:xfrm>
            <a:off x="279159" y="1142385"/>
            <a:ext cx="8938922" cy="2492990"/>
          </a:xfrm>
          <a:prstGeom prst="rect">
            <a:avLst/>
          </a:prstGeom>
          <a:noFill/>
        </p:spPr>
        <p:txBody>
          <a:bodyPr wrap="none" rtlCol="0">
            <a:spAutoFit/>
          </a:bodyPr>
          <a:lstStyle/>
          <a:p>
            <a:r>
              <a:rPr lang="en-US" sz="2800" b="1" dirty="0">
                <a:effectLst/>
              </a:rPr>
              <a:t>Remove that chunk server from all chunk handle lists.</a:t>
            </a:r>
          </a:p>
          <a:p>
            <a:endParaRPr lang="en-US" sz="2800" b="1" dirty="0">
              <a:effectLst/>
            </a:endParaRPr>
          </a:p>
          <a:p>
            <a:r>
              <a:rPr lang="en-US" sz="2800" b="1" dirty="0">
                <a:effectLst/>
              </a:rPr>
              <a:t>For each chunk for which it was primary,</a:t>
            </a:r>
          </a:p>
          <a:p>
            <a:pPr marL="742950" lvl="1" indent="-285750">
              <a:buFont typeface="Arial" panose="020B0604020202020204" pitchFamily="34" charset="0"/>
              <a:buChar char="•"/>
            </a:pPr>
            <a:r>
              <a:rPr lang="en-US" sz="2400" dirty="0">
                <a:effectLst/>
              </a:rPr>
              <a:t>wait for lease to expire,</a:t>
            </a:r>
          </a:p>
          <a:p>
            <a:pPr marL="742950" lvl="1" indent="-285750">
              <a:buFont typeface="Arial" panose="020B0604020202020204" pitchFamily="34" charset="0"/>
              <a:buChar char="•"/>
            </a:pPr>
            <a:r>
              <a:rPr lang="en-US" sz="2400" dirty="0">
                <a:effectLst/>
              </a:rPr>
              <a:t>grant lease to another chunk server holding that chunk.</a:t>
            </a:r>
          </a:p>
          <a:p>
            <a:endParaRPr lang="en-US" sz="2400" dirty="0"/>
          </a:p>
        </p:txBody>
      </p:sp>
    </p:spTree>
    <p:extLst>
      <p:ext uri="{BB962C8B-B14F-4D97-AF65-F5344CB8AC3E}">
        <p14:creationId xmlns:p14="http://schemas.microsoft.com/office/powerpoint/2010/main" val="33254390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729AB-5EBB-FD20-43DD-D6E0374E683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2ED557C7-2CDD-8C0B-07A1-1DABA8EF652A}"/>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What If the Master Crashes?</a:t>
            </a:r>
          </a:p>
        </p:txBody>
      </p:sp>
      <p:sp>
        <p:nvSpPr>
          <p:cNvPr id="8" name="Slide Number Placeholder 4">
            <a:extLst>
              <a:ext uri="{FF2B5EF4-FFF2-40B4-BE49-F238E27FC236}">
                <a16:creationId xmlns:a16="http://schemas.microsoft.com/office/drawing/2014/main" id="{25E098EE-1299-32C0-2821-1DB599BAC8E9}"/>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45</a:t>
            </a:fld>
            <a:endParaRPr lang="en-US"/>
          </a:p>
        </p:txBody>
      </p:sp>
      <p:sp>
        <p:nvSpPr>
          <p:cNvPr id="3" name="TextBox 2">
            <a:extLst>
              <a:ext uri="{FF2B5EF4-FFF2-40B4-BE49-F238E27FC236}">
                <a16:creationId xmlns:a16="http://schemas.microsoft.com/office/drawing/2014/main" id="{857EC8A2-DB9F-8BB1-7445-FE716E76BAC5}"/>
              </a:ext>
            </a:extLst>
          </p:cNvPr>
          <p:cNvSpPr txBox="1"/>
          <p:nvPr/>
        </p:nvSpPr>
        <p:spPr>
          <a:xfrm>
            <a:off x="88135" y="914401"/>
            <a:ext cx="11414752" cy="4031873"/>
          </a:xfrm>
          <a:prstGeom prst="rect">
            <a:avLst/>
          </a:prstGeom>
          <a:noFill/>
        </p:spPr>
        <p:txBody>
          <a:bodyPr wrap="square" rtlCol="0">
            <a:spAutoFit/>
          </a:bodyPr>
          <a:lstStyle/>
          <a:p>
            <a:r>
              <a:rPr lang="en-US" sz="3200" b="1" dirty="0"/>
              <a:t>Every metadata change is logged before the master replies</a:t>
            </a:r>
          </a:p>
          <a:p>
            <a:pPr marL="457200"/>
            <a:r>
              <a:rPr lang="en-US" sz="2800" b="0" dirty="0"/>
              <a:t>The log and the checkpoints are replicated to other machines</a:t>
            </a:r>
          </a:p>
          <a:p>
            <a:pPr marL="457200"/>
            <a:r>
              <a:rPr lang="en-US" sz="2800" b="0" dirty="0"/>
              <a:t>A change counts as committed only once the replicas have it on disk</a:t>
            </a:r>
          </a:p>
          <a:p>
            <a:r>
              <a:rPr lang="en-US" sz="3200" b="1" dirty="0"/>
              <a:t>Shadow masters keep serving reads while the master is down</a:t>
            </a:r>
          </a:p>
          <a:p>
            <a:pPr marL="457200"/>
            <a:r>
              <a:rPr lang="en-US" sz="2800" b="0" dirty="0"/>
              <a:t>They lag slightly behind and cannot accept mutations</a:t>
            </a:r>
          </a:p>
          <a:p>
            <a:r>
              <a:rPr lang="en-US" sz="3200" b="1" dirty="0"/>
              <a:t>In the 2003 design, replacing a dead master needed a human</a:t>
            </a:r>
          </a:p>
          <a:p>
            <a:pPr marL="457200"/>
            <a:r>
              <a:rPr lang="en-US" sz="2800" b="0" dirty="0"/>
              <a:t>That took tens of minutes, and it is the weakest part of the paper</a:t>
            </a:r>
          </a:p>
        </p:txBody>
      </p:sp>
    </p:spTree>
    <p:extLst>
      <p:ext uri="{BB962C8B-B14F-4D97-AF65-F5344CB8AC3E}">
        <p14:creationId xmlns:p14="http://schemas.microsoft.com/office/powerpoint/2010/main" val="17206706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729AB-5EBB-FD20-43DD-D6E0374E683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2ED557C7-2CDD-8C0B-07A1-1DABA8EF652A}"/>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What Would Strong Consistency Take?</a:t>
            </a:r>
          </a:p>
        </p:txBody>
      </p:sp>
      <p:sp>
        <p:nvSpPr>
          <p:cNvPr id="8" name="Slide Number Placeholder 4">
            <a:extLst>
              <a:ext uri="{FF2B5EF4-FFF2-40B4-BE49-F238E27FC236}">
                <a16:creationId xmlns:a16="http://schemas.microsoft.com/office/drawing/2014/main" id="{25E098EE-1299-32C0-2821-1DB599BAC8E9}"/>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46</a:t>
            </a:fld>
            <a:endParaRPr lang="en-US"/>
          </a:p>
        </p:txBody>
      </p:sp>
      <p:sp>
        <p:nvSpPr>
          <p:cNvPr id="3" name="TextBox 2">
            <a:extLst>
              <a:ext uri="{FF2B5EF4-FFF2-40B4-BE49-F238E27FC236}">
                <a16:creationId xmlns:a16="http://schemas.microsoft.com/office/drawing/2014/main" id="{857EC8A2-DB9F-8BB1-7445-FE716E76BAC5}"/>
              </a:ext>
            </a:extLst>
          </p:cNvPr>
          <p:cNvSpPr txBox="1"/>
          <p:nvPr/>
        </p:nvSpPr>
        <p:spPr>
          <a:xfrm>
            <a:off x="88135" y="914401"/>
            <a:ext cx="11414752" cy="4031873"/>
          </a:xfrm>
          <a:prstGeom prst="rect">
            <a:avLst/>
          </a:prstGeom>
          <a:noFill/>
        </p:spPr>
        <p:txBody>
          <a:bodyPr wrap="square" rtlCol="0">
            <a:spAutoFit/>
          </a:bodyPr>
          <a:lstStyle/>
          <a:p>
            <a:r>
              <a:rPr lang="en-US" sz="3200" b="1" dirty="0"/>
              <a:t>The primary would have to detect duplicate requests</a:t>
            </a:r>
          </a:p>
          <a:p>
            <a:r>
              <a:rPr lang="en-US" sz="3200" b="1" dirty="0"/>
              <a:t>A write must reach every replica, or none of them</a:t>
            </a:r>
          </a:p>
          <a:p>
            <a:pPr marL="457200"/>
            <a:r>
              <a:rPr lang="en-US" sz="2800" b="0" dirty="0"/>
              <a:t>Keep it invisible until all replicas promise they can apply it</a:t>
            </a:r>
          </a:p>
          <a:p>
            <a:pPr marL="457200"/>
            <a:r>
              <a:rPr lang="en-US" sz="2800" b="0" dirty="0"/>
              <a:t>Remove a secondary that cannot, instead of failing every client</a:t>
            </a:r>
          </a:p>
          <a:p>
            <a:r>
              <a:rPr lang="en-US" sz="3200" b="1" dirty="0"/>
              <a:t>A new primary must resynchronize with the secondaries before serving</a:t>
            </a:r>
          </a:p>
          <a:p>
            <a:r>
              <a:rPr lang="en-US" sz="3200" b="1" dirty="0"/>
              <a:t>Reads go to the primary, or secondaries need leases of their own</a:t>
            </a:r>
          </a:p>
          <a:p>
            <a:pPr marL="457200"/>
            <a:r>
              <a:rPr lang="en-US" sz="2800" b="0" dirty="0"/>
              <a:t>All of this costs round trips: that is the price of the ideal model from the start of class</a:t>
            </a:r>
          </a:p>
        </p:txBody>
      </p:sp>
    </p:spTree>
    <p:extLst>
      <p:ext uri="{BB962C8B-B14F-4D97-AF65-F5344CB8AC3E}">
        <p14:creationId xmlns:p14="http://schemas.microsoft.com/office/powerpoint/2010/main" val="17206706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729AB-5EBB-FD20-43DD-D6E0374E683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2ED557C7-2CDD-8C0B-07A1-1DABA8EF652A}"/>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Takeaways</a:t>
            </a:r>
          </a:p>
        </p:txBody>
      </p:sp>
      <p:sp>
        <p:nvSpPr>
          <p:cNvPr id="8" name="Slide Number Placeholder 4">
            <a:extLst>
              <a:ext uri="{FF2B5EF4-FFF2-40B4-BE49-F238E27FC236}">
                <a16:creationId xmlns:a16="http://schemas.microsoft.com/office/drawing/2014/main" id="{25E098EE-1299-32C0-2821-1DB599BAC8E9}"/>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47</a:t>
            </a:fld>
            <a:endParaRPr lang="en-US"/>
          </a:p>
        </p:txBody>
      </p:sp>
      <p:sp>
        <p:nvSpPr>
          <p:cNvPr id="3" name="TextBox 2">
            <a:extLst>
              <a:ext uri="{FF2B5EF4-FFF2-40B4-BE49-F238E27FC236}">
                <a16:creationId xmlns:a16="http://schemas.microsoft.com/office/drawing/2014/main" id="{857EC8A2-DB9F-8BB1-7445-FE716E76BAC5}"/>
              </a:ext>
            </a:extLst>
          </p:cNvPr>
          <p:cNvSpPr txBox="1"/>
          <p:nvPr/>
        </p:nvSpPr>
        <p:spPr>
          <a:xfrm>
            <a:off x="88135" y="914401"/>
            <a:ext cx="11414752" cy="4031873"/>
          </a:xfrm>
          <a:prstGeom prst="rect">
            <a:avLst/>
          </a:prstGeom>
          <a:noFill/>
        </p:spPr>
        <p:txBody>
          <a:bodyPr wrap="square" rtlCol="0">
            <a:spAutoFit/>
          </a:bodyPr>
          <a:lstStyle/>
          <a:p>
            <a:r>
              <a:rPr lang="en-US" sz="3200" b="1" dirty="0"/>
              <a:t>Good ideas</a:t>
            </a:r>
          </a:p>
          <a:p>
            <a:pPr marL="457200"/>
            <a:r>
              <a:rPr lang="en-US" sz="2800" b="0" dirty="0"/>
              <a:t>One global file system as shared infrastructure for many applications</a:t>
            </a:r>
          </a:p>
          <a:p>
            <a:pPr marL="457200"/>
            <a:r>
              <a:rPr lang="en-US" sz="2800" b="0" dirty="0"/>
              <a:t>Naming in the master, data in the chunkservers</a:t>
            </a:r>
          </a:p>
          <a:p>
            <a:pPr marL="457200"/>
            <a:r>
              <a:rPr lang="en-US" sz="2800" b="0" dirty="0"/>
              <a:t>Sharding for throughput, huge chunks to keep metadata small</a:t>
            </a:r>
          </a:p>
          <a:p>
            <a:pPr marL="457200"/>
            <a:r>
              <a:rPr lang="en-US" sz="2800" b="0" dirty="0"/>
              <a:t>A primary orders concurrent writes; leases stop split brain</a:t>
            </a:r>
          </a:p>
          <a:p>
            <a:r>
              <a:rPr lang="en-US" sz="3200" b="1" dirty="0"/>
              <a:t>Not so great</a:t>
            </a:r>
          </a:p>
          <a:p>
            <a:pPr marL="457200"/>
            <a:r>
              <a:rPr lang="en-US" sz="2800" b="0" dirty="0"/>
              <a:t>One master ran out of RAM and CPU as the number of files grew</a:t>
            </a:r>
          </a:p>
          <a:p>
            <a:pPr marL="457200"/>
            <a:r>
              <a:rPr lang="en-US" sz="2800" b="0" dirty="0"/>
              <a:t>Small files are inefficient; master failover was manual</a:t>
            </a:r>
          </a:p>
          <a:p>
            <a:pPr marL="457200"/>
            <a:r>
              <a:rPr lang="en-US" sz="2800" b="0" dirty="0"/>
              <a:t>Weak consistency pushed work into every application</a:t>
            </a:r>
          </a:p>
          <a:p>
            <a:r>
              <a:rPr lang="en-US" sz="3200" b="1" dirty="0"/>
              <a:t>What came next: BigTable, then Colossus, which shards the master</a:t>
            </a:r>
          </a:p>
        </p:txBody>
      </p:sp>
    </p:spTree>
    <p:extLst>
      <p:ext uri="{BB962C8B-B14F-4D97-AF65-F5344CB8AC3E}">
        <p14:creationId xmlns:p14="http://schemas.microsoft.com/office/powerpoint/2010/main" val="17206706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C0FAD-581C-0570-3517-51B381D079F7}"/>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FA3C383E-C893-444E-A2B5-15F7AD506DA2}"/>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Wanna Play With GFS Yourself?</a:t>
            </a:r>
          </a:p>
        </p:txBody>
      </p:sp>
      <p:sp>
        <p:nvSpPr>
          <p:cNvPr id="8" name="Slide Number Placeholder 4">
            <a:extLst>
              <a:ext uri="{FF2B5EF4-FFF2-40B4-BE49-F238E27FC236}">
                <a16:creationId xmlns:a16="http://schemas.microsoft.com/office/drawing/2014/main" id="{A6CA42B9-3603-6CD6-91C4-CF35F10716C4}"/>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48</a:t>
            </a:fld>
            <a:endParaRPr lang="en-US"/>
          </a:p>
        </p:txBody>
      </p:sp>
      <p:sp>
        <p:nvSpPr>
          <p:cNvPr id="3" name="TextBox 2">
            <a:extLst>
              <a:ext uri="{FF2B5EF4-FFF2-40B4-BE49-F238E27FC236}">
                <a16:creationId xmlns:a16="http://schemas.microsoft.com/office/drawing/2014/main" id="{2FAC3C5C-39AC-49D9-17B4-7DCB863C6201}"/>
              </a:ext>
            </a:extLst>
          </p:cNvPr>
          <p:cNvSpPr txBox="1"/>
          <p:nvPr/>
        </p:nvSpPr>
        <p:spPr>
          <a:xfrm>
            <a:off x="388916" y="1210685"/>
            <a:ext cx="7948551" cy="523220"/>
          </a:xfrm>
          <a:prstGeom prst="rect">
            <a:avLst/>
          </a:prstGeom>
          <a:noFill/>
        </p:spPr>
        <p:txBody>
          <a:bodyPr wrap="square">
            <a:spAutoFit/>
          </a:bodyPr>
          <a:lstStyle/>
          <a:p>
            <a:r>
              <a:rPr lang="en-US" sz="2800" dirty="0">
                <a:solidFill>
                  <a:srgbClr val="1A2039"/>
                </a:solidFill>
                <a:effectLst/>
              </a:rPr>
              <a:t>Try HDFS (an open-source clone inspired by GFS)!</a:t>
            </a:r>
          </a:p>
        </p:txBody>
      </p:sp>
      <p:pic>
        <p:nvPicPr>
          <p:cNvPr id="4" name="object 7">
            <a:extLst>
              <a:ext uri="{FF2B5EF4-FFF2-40B4-BE49-F238E27FC236}">
                <a16:creationId xmlns:a16="http://schemas.microsoft.com/office/drawing/2014/main" id="{20D91495-4BF1-98AC-C3C5-1A3BA6F761ED}"/>
              </a:ext>
            </a:extLst>
          </p:cNvPr>
          <p:cNvPicPr/>
          <p:nvPr/>
        </p:nvPicPr>
        <p:blipFill>
          <a:blip r:embed="rId3" cstate="print"/>
          <a:stretch>
            <a:fillRect/>
          </a:stretch>
        </p:blipFill>
        <p:spPr>
          <a:xfrm>
            <a:off x="3072717" y="1873155"/>
            <a:ext cx="5743737" cy="4240394"/>
          </a:xfrm>
          <a:prstGeom prst="rect">
            <a:avLst/>
          </a:prstGeom>
        </p:spPr>
      </p:pic>
    </p:spTree>
    <p:extLst>
      <p:ext uri="{BB962C8B-B14F-4D97-AF65-F5344CB8AC3E}">
        <p14:creationId xmlns:p14="http://schemas.microsoft.com/office/powerpoint/2010/main" val="40532158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16B14-7BE8-A5B8-5CF3-E81A63DC0A9E}"/>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CD5AF816-23B8-6FD3-95E3-A00196962BF8}"/>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Quiz Attendance</a:t>
            </a:r>
          </a:p>
        </p:txBody>
      </p:sp>
      <p:sp>
        <p:nvSpPr>
          <p:cNvPr id="8" name="Slide Number Placeholder 4">
            <a:extLst>
              <a:ext uri="{FF2B5EF4-FFF2-40B4-BE49-F238E27FC236}">
                <a16:creationId xmlns:a16="http://schemas.microsoft.com/office/drawing/2014/main" id="{82EE4825-740D-135A-3D4A-2BCCA28C4BED}"/>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49</a:t>
            </a:fld>
            <a:endParaRPr lang="en-US"/>
          </a:p>
        </p:txBody>
      </p:sp>
      <p:pic>
        <p:nvPicPr>
          <p:cNvPr id="3" name="Picture 2" descr="A qr code with a few black squares&#10;&#10;Description automatically generated">
            <a:extLst>
              <a:ext uri="{FF2B5EF4-FFF2-40B4-BE49-F238E27FC236}">
                <a16:creationId xmlns:a16="http://schemas.microsoft.com/office/drawing/2014/main" id="{9E001843-A7A3-36AF-F9BA-D7DEF773F566}"/>
              </a:ext>
            </a:extLst>
          </p:cNvPr>
          <p:cNvPicPr>
            <a:picLocks noChangeAspect="1"/>
          </p:cNvPicPr>
          <p:nvPr/>
        </p:nvPicPr>
        <p:blipFill>
          <a:blip r:embed="rId3"/>
          <a:stretch>
            <a:fillRect/>
          </a:stretch>
        </p:blipFill>
        <p:spPr>
          <a:xfrm>
            <a:off x="5833872" y="1078992"/>
            <a:ext cx="5120640" cy="5120640"/>
          </a:xfrm>
          <a:prstGeom prst="rect">
            <a:avLst/>
          </a:prstGeom>
        </p:spPr>
      </p:pic>
      <p:sp>
        <p:nvSpPr>
          <p:cNvPr id="10" name="Quiz link"/>
          <p:cNvSpPr txBox="1"/>
          <p:nvPr/>
        </p:nvSpPr>
        <p:spPr>
          <a:xfrm>
            <a:off x="274320" y="1905000"/>
            <a:ext cx="5344602" cy="830997"/>
          </a:xfrm>
          <a:prstGeom prst="rect">
            <a:avLst/>
          </a:prstGeom>
          <a:noFill/>
        </p:spPr>
        <p:txBody>
          <a:bodyPr wrap="square">
            <a:spAutoFit/>
          </a:bodyPr>
          <a:lstStyle/>
          <a:p>
            <a:r>
              <a:rPr lang="en-US" sz="2400" dirty="0">
                <a:solidFill>
                  <a:srgbClr val="1A2039"/>
                </a:solidFill>
                <a:effectLst/>
              </a:rPr>
              <a:t>https://forms.gle/jwbSKDuKGsZVEs3U9</a:t>
            </a:r>
          </a:p>
        </p:txBody>
      </p:sp>
    </p:spTree>
    <p:extLst>
      <p:ext uri="{BB962C8B-B14F-4D97-AF65-F5344CB8AC3E}">
        <p14:creationId xmlns:p14="http://schemas.microsoft.com/office/powerpoint/2010/main" val="11553536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16B14-7BE8-A5B8-5CF3-E81A63DC0A9E}"/>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CD5AF816-23B8-6FD3-95E3-A00196962BF8}"/>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Quiz</a:t>
            </a:r>
          </a:p>
        </p:txBody>
      </p:sp>
      <p:sp>
        <p:nvSpPr>
          <p:cNvPr id="8" name="Slide Number Placeholder 4">
            <a:extLst>
              <a:ext uri="{FF2B5EF4-FFF2-40B4-BE49-F238E27FC236}">
                <a16:creationId xmlns:a16="http://schemas.microsoft.com/office/drawing/2014/main" id="{82EE4825-740D-135A-3D4A-2BCCA28C4BED}"/>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50</a:t>
            </a:fld>
            <a:endParaRPr lang="en-US"/>
          </a:p>
        </p:txBody>
      </p:sp>
      <p:pic>
        <p:nvPicPr>
          <p:cNvPr id="3" name="Picture 2" descr="A qr code with a few black squares&#10;&#10;Description automatically generated">
            <a:extLst>
              <a:ext uri="{FF2B5EF4-FFF2-40B4-BE49-F238E27FC236}">
                <a16:creationId xmlns:a16="http://schemas.microsoft.com/office/drawing/2014/main" id="{9E001843-A7A3-36AF-F9BA-D7DEF773F566}"/>
              </a:ext>
            </a:extLst>
          </p:cNvPr>
          <p:cNvPicPr>
            <a:picLocks noChangeAspect="1"/>
          </p:cNvPicPr>
          <p:nvPr/>
        </p:nvPicPr>
        <p:blipFill>
          <a:blip r:embed="rId3"/>
          <a:stretch>
            <a:fillRect/>
          </a:stretch>
        </p:blipFill>
        <p:spPr>
          <a:xfrm>
            <a:off x="5833872" y="1078992"/>
            <a:ext cx="5120640" cy="5120640"/>
          </a:xfrm>
          <a:prstGeom prst="rect">
            <a:avLst/>
          </a:prstGeom>
        </p:spPr>
      </p:pic>
      <p:sp>
        <p:nvSpPr>
          <p:cNvPr id="9" name="Quiz rules"/>
          <p:cNvSpPr txBox="1"/>
          <p:nvPr/>
        </p:nvSpPr>
        <p:spPr>
          <a:xfrm>
            <a:off x="274320" y="1078992"/>
            <a:ext cx="4937760" cy="1384995"/>
          </a:xfrm>
          <a:prstGeom prst="rect">
            <a:avLst/>
          </a:prstGeom>
          <a:noFill/>
        </p:spPr>
        <p:txBody>
          <a:bodyPr wrap="square">
            <a:spAutoFit/>
          </a:bodyPr>
          <a:lstStyle/>
          <a:p>
            <a:r>
              <a:rPr lang="en-US" sz="2800" dirty="0">
                <a:solidFill>
                  <a:srgbClr val="1A2039"/>
                </a:solidFill>
                <a:effectLst/>
              </a:rPr>
              <a:t>10 multiple-choice questions</a:t>
            </a:r>
          </a:p>
          <a:p>
            <a:r>
              <a:rPr lang="en-US" sz="2800" dirty="0">
                <a:solidFill>
                  <a:srgbClr val="1A2039"/>
                </a:solidFill>
                <a:effectLst/>
              </a:rPr>
              <a:t>10 minutes</a:t>
            </a:r>
          </a:p>
          <a:p>
            <a:r>
              <a:rPr lang="en-US" sz="2800" dirty="0">
                <a:solidFill>
                  <a:srgbClr val="1A2039"/>
                </a:solidFill>
                <a:effectLst/>
              </a:rPr>
              <a:t>Open book and open internet</a:t>
            </a:r>
          </a:p>
        </p:txBody>
      </p:sp>
      <p:sp>
        <p:nvSpPr>
          <p:cNvPr id="10" name="Quiz link"/>
          <p:cNvSpPr txBox="1"/>
          <p:nvPr/>
        </p:nvSpPr>
        <p:spPr>
          <a:xfrm>
            <a:off x="274320" y="3429000"/>
            <a:ext cx="5394960" cy="457200"/>
          </a:xfrm>
          <a:prstGeom prst="rect">
            <a:avLst/>
          </a:prstGeom>
          <a:noFill/>
        </p:spPr>
        <p:txBody>
          <a:bodyPr wrap="square">
            <a:spAutoFit/>
          </a:bodyPr>
          <a:lstStyle/>
          <a:p>
            <a:r>
              <a:rPr lang="en-US" sz="2400" dirty="0">
                <a:solidFill>
                  <a:srgbClr val="1A2039"/>
                </a:solidFill>
                <a:effectLst/>
              </a:rPr>
              <a:t>https://forms.gle/KX6h17o1A2hE7HMa8</a:t>
            </a:r>
          </a:p>
        </p:txBody>
      </p:sp>
    </p:spTree>
    <p:extLst>
      <p:ext uri="{BB962C8B-B14F-4D97-AF65-F5344CB8AC3E}">
        <p14:creationId xmlns:p14="http://schemas.microsoft.com/office/powerpoint/2010/main" val="11553536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1712</TotalTime>
  <Words>13104</Words>
  <Application>Microsoft Macintosh PowerPoint</Application>
  <PresentationFormat>Widescreen</PresentationFormat>
  <Paragraphs>1169</Paragraphs>
  <Slides>50</Slides>
  <Notes>50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Aptos</vt:lpstr>
      <vt:lpstr>Aptos Display</vt:lpstr>
      <vt:lpstr>Arial</vt:lpstr>
      <vt:lpstr>Helvetica</vt:lpstr>
      <vt:lpstr>Helvetica Neue</vt:lpstr>
      <vt:lpstr>Office Theme</vt:lpstr>
      <vt:lpstr>Lecture 4: Google File System         Fall 2026 </vt:lpstr>
      <vt:lpstr>Demo 1: Design Proposal</vt:lpstr>
      <vt:lpstr>Presentation Grading</vt:lpstr>
      <vt:lpstr>AWS Credits: One Code per Account</vt:lpstr>
      <vt:lpstr>Why Storage?</vt:lpstr>
      <vt:lpstr>One Machine Is Not Enough</vt:lpstr>
      <vt:lpstr>Then Everything Fails</vt:lpstr>
      <vt:lpstr>Two Questions for This Lecture</vt:lpstr>
      <vt:lpstr>Why Is Distributed Storage Hard?</vt:lpstr>
      <vt:lpstr>What Would We Like for Consistency?</vt:lpstr>
      <vt:lpstr>Bad Replication Design</vt:lpstr>
      <vt:lpstr>What Can Go Wrong?</vt:lpstr>
      <vt:lpstr>The Google File System</vt:lpstr>
      <vt:lpstr>Why Are We Reading This Paper?</vt:lpstr>
      <vt:lpstr>Goal of GFS</vt:lpstr>
      <vt:lpstr>Demo 1: HDFS</vt:lpstr>
      <vt:lpstr>Assumptions of GFS</vt:lpstr>
      <vt:lpstr>What Are the Contribution of the Paper? </vt:lpstr>
      <vt:lpstr>GFS’s Architecture</vt:lpstr>
      <vt:lpstr>Overall Architecture</vt:lpstr>
      <vt:lpstr>Master Node</vt:lpstr>
      <vt:lpstr>Master Node</vt:lpstr>
      <vt:lpstr>Master State: What Survives a Reboot?</vt:lpstr>
      <vt:lpstr>Chunk Servers</vt:lpstr>
      <vt:lpstr>Data Integrity: Checksums</vt:lpstr>
      <vt:lpstr>Basic Ops ( Read, Write)</vt:lpstr>
      <vt:lpstr>When Client Wants to Read A File?</vt:lpstr>
      <vt:lpstr>When Client Wants to Read a File</vt:lpstr>
      <vt:lpstr>Solution: Primary/Secondary Replication</vt:lpstr>
      <vt:lpstr>When Client Wants to Write </vt:lpstr>
      <vt:lpstr>Stale Replicas and Version Numbers</vt:lpstr>
      <vt:lpstr>Control and Data Flow</vt:lpstr>
      <vt:lpstr>Demo 2: What a Read and a Write Actually Do</vt:lpstr>
      <vt:lpstr>GFS Consistency Guarantees</vt:lpstr>
      <vt:lpstr>How Can Inconsistent Content Arise?</vt:lpstr>
      <vt:lpstr>How Can Consistent but Undefined Arise?</vt:lpstr>
      <vt:lpstr>Three Appends, Three Replicas</vt:lpstr>
      <vt:lpstr>Why Are These Anomalies OK?</vt:lpstr>
      <vt:lpstr>A Client Crashes While Writing?</vt:lpstr>
      <vt:lpstr>A Secondary Crashes Just As The Primary Asks It to Write?</vt:lpstr>
      <vt:lpstr>A Secondary Crashes Just As The Primary Asks It to Write?</vt:lpstr>
      <vt:lpstr>What If a Primary Crashes?</vt:lpstr>
      <vt:lpstr>What If a Primary Crashes?</vt:lpstr>
      <vt:lpstr>What If a Primary Crashes?</vt:lpstr>
      <vt:lpstr>What If the Master Crashes?</vt:lpstr>
      <vt:lpstr>What Would Strong Consistency Take?</vt:lpstr>
      <vt:lpstr>Takeaways</vt:lpstr>
      <vt:lpstr>Wanna Play With GFS Yourself?</vt:lpstr>
      <vt:lpstr>Quiz Attendance</vt:lpstr>
      <vt:lpstr>Quiz</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 Yigong</dc:creator>
  <cp:lastModifiedBy>Hu, Yigong</cp:lastModifiedBy>
  <cp:revision>31</cp:revision>
  <dcterms:created xsi:type="dcterms:W3CDTF">2026-02-04T02:27:39Z</dcterms:created>
  <dcterms:modified xsi:type="dcterms:W3CDTF">2026-09-16T19:05:16Z</dcterms:modified>
</cp:coreProperties>
</file>