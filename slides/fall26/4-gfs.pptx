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422" r:id="rId2"/>
    <p:sldId id="426" r:id="rId3"/>
    <p:sldId id="481" r:id="rId4"/>
    <p:sldId id="467" r:id="rId5"/>
    <p:sldId id="477" r:id="rId6"/>
    <p:sldId id="478" r:id="rId7"/>
    <p:sldId id="479" r:id="rId8"/>
    <p:sldId id="428" r:id="rId9"/>
    <p:sldId id="443" r:id="rId10"/>
    <p:sldId id="444" r:id="rId11"/>
    <p:sldId id="445" r:id="rId12"/>
    <p:sldId id="262" r:id="rId13"/>
    <p:sldId id="430" r:id="rId14"/>
    <p:sldId id="435" r:id="rId15"/>
    <p:sldId id="480" r:id="rId16"/>
    <p:sldId id="431" r:id="rId17"/>
    <p:sldId id="433" r:id="rId18"/>
    <p:sldId id="434" r:id="rId19"/>
    <p:sldId id="436" r:id="rId20"/>
    <p:sldId id="437" r:id="rId21"/>
    <p:sldId id="438" r:id="rId22"/>
    <p:sldId id="468" r:id="rId23"/>
    <p:sldId id="439" r:id="rId24"/>
    <p:sldId id="469" r:id="rId25"/>
    <p:sldId id="440" r:id="rId26"/>
    <p:sldId id="441" r:id="rId27"/>
    <p:sldId id="442" r:id="rId28"/>
    <p:sldId id="446" r:id="rId29"/>
    <p:sldId id="447" r:id="rId30"/>
    <p:sldId id="470" r:id="rId31"/>
    <p:sldId id="448" r:id="rId32"/>
    <p:sldId id="449" r:id="rId33"/>
    <p:sldId id="450" r:id="rId34"/>
    <p:sldId id="451" r:id="rId35"/>
    <p:sldId id="471" r:id="rId36"/>
    <p:sldId id="472" r:id="rId37"/>
    <p:sldId id="452" r:id="rId38"/>
    <p:sldId id="453" r:id="rId39"/>
    <p:sldId id="454" r:id="rId40"/>
    <p:sldId id="465" r:id="rId41"/>
    <p:sldId id="455" r:id="rId42"/>
    <p:sldId id="457" r:id="rId43"/>
    <p:sldId id="473" r:id="rId44"/>
    <p:sldId id="474" r:id="rId45"/>
    <p:sldId id="475" r:id="rId46"/>
    <p:sldId id="476" r:id="rId47"/>
    <p:sldId id="459" r:id="rId48"/>
    <p:sldId id="466" r:id="rId49"/>
    <p:sldId id="464"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739"/>
    <p:restoredTop sz="65066"/>
  </p:normalViewPr>
  <p:slideViewPr>
    <p:cSldViewPr snapToGrid="0">
      <p:cViewPr varScale="1">
        <p:scale>
          <a:sx n="79" d="100"/>
          <a:sy n="79" d="100"/>
        </p:scale>
        <p:origin x="116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endParaRPr lang="en-US" dirty="0"/>
          </a:p>
          <a:p>
            <a:endParaRPr lang="en-US"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endParaRPr lang="en-US" dirty="0"/>
          </a:p>
          <a:p>
            <a:endParaRPr lang="en-US" dirty="0"/>
          </a:p>
          <a:p>
            <a:r>
              <a:rPr dirty="0"/>
              <a:t>There are therefore two questions for this lecture. What interface should a large distributed storage system expose? And what must happen inside the system so that the interface remains useful when data spans many machines and those machines fail?</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The first reason we need distributed storage is capacity and throughput.</a:t>
            </a:r>
            <a:endParaRPr lang="en-US" dirty="0"/>
          </a:p>
          <a:p>
            <a:endParaRPr lang="en-US"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endParaRPr lang="en-US" dirty="0"/>
          </a:p>
          <a:p>
            <a:endParaRPr lang="en-US"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endParaRPr lang="en-US" dirty="0"/>
          </a:p>
          <a:p>
            <a:endParaRPr lang="en-US" dirty="0"/>
          </a:p>
          <a:p>
            <a:r>
              <a:rPr dirty="0"/>
              <a:t>This decision solves the capacity and performance problem, but it creates the next problem. Once the system depends on hundreds or thousands of machines, some component will almost always be unavailable.</a:t>
            </a:r>
            <a:endParaRPr lang="en-US" dirty="0"/>
          </a:p>
          <a:p>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second forcing function: at large scale, failure is the normal operating condition.</a:t>
            </a:r>
            <a:endParaRPr lang="en-US" dirty="0"/>
          </a:p>
          <a:p>
            <a:endParaRPr lang="en-US"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endParaRPr lang="en-US" dirty="0"/>
          </a:p>
          <a:p>
            <a:endParaRPr lang="en-US"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endParaRPr lang="en-US" dirty="0"/>
          </a:p>
          <a:p>
            <a:endParaRPr lang="en-US"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endParaRPr lang="en-US" dirty="0"/>
          </a:p>
          <a:p>
            <a:endParaRPr lang="en-US" dirty="0"/>
          </a:p>
          <a:p>
            <a:r>
              <a:rPr dirty="0"/>
              <a:t>Replication gives us fault tolerance, but it also creates a new question: how do we keep those copies from disagreeing?</a:t>
            </a:r>
            <a:endParaRPr lang="en-US" dirty="0"/>
          </a:p>
          <a:p>
            <a:endParaRPr lang="en-US" dirty="0"/>
          </a:p>
          <a:p>
            <a:r>
              <a:rPr dirty="0"/>
              <a:t>SOURCE</a:t>
            </a:r>
            <a:endParaRPr lang="en-US" dirty="0"/>
          </a:p>
          <a:p>
            <a:r>
              <a:rPr dirty="0"/>
              <a:t>MIT 6.824, Spring 2020, Lecture 3 transcript/video, 02:28–04:05 and 18:07–18:55.</a:t>
            </a:r>
            <a:endParaRPr lang="en-US" dirty="0"/>
          </a:p>
          <a:p>
            <a:r>
              <a:rPr dirty="0"/>
              <a:t>Local transcript: fall2026/lectures/references/mit-6824-2020-lecture3-gfs-transcript.txt</a:t>
            </a:r>
            <a:endParaRPr lang="en-US" dirty="0"/>
          </a:p>
          <a:p>
            <a:r>
              <a:rPr dirty="0"/>
              <a:t>EC528 Fall 2023 GFS lecture and Jeff Dean talks for the failure counts.</a:t>
            </a:r>
            <a:endParaRPr lang="en-US" dirty="0"/>
          </a:p>
          <a:p>
            <a:r>
              <a:rPr dirty="0"/>
              <a:t>https://</a:t>
            </a:r>
            <a:r>
              <a:rPr dirty="0" err="1"/>
              <a:t>www.youtube.com</a:t>
            </a:r>
            <a:r>
              <a:rPr dirty="0"/>
              <a:t>/</a:t>
            </a:r>
            <a:r>
              <a:rPr dirty="0" err="1"/>
              <a:t>watch?v</a:t>
            </a:r>
            <a:r>
              <a:rPr dirty="0"/>
              <a:t>=EpIgvowZr00</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This diagram summarizes the design pressure we have just built up.</a:t>
            </a:r>
          </a:p>
          <a:p>
            <a:endParaRPr lang="en-US" dirty="0"/>
          </a:p>
          <a:p>
            <a:r>
              <a:rPr lang="en-US" dirty="0"/>
              <a:t>We begin with performance. To obtain high aggregate throughput and enough capacity, we shard data across many servers. With many servers, failures become routine, so the system must tolerate them automatically. Replication is the basic tool: keep multiple copies and use a surviving copy when another one fails.</a:t>
            </a:r>
          </a:p>
          <a:p>
            <a:endParaRPr lang="en-US" dirty="0"/>
          </a:p>
          <a:p>
            <a:r>
              <a:rPr lang="en-US" dirty="0"/>
              <a:t>But replication changes the correctness problem. Two copies are useful only if they represent the same data. Concurrent writes, lost messages, or a server failure in the middle of an update can leave replicas in different states. Different readers may then observe different answers.</a:t>
            </a:r>
          </a:p>
          <a:p>
            <a:endParaRPr lang="en-US" dirty="0"/>
          </a:p>
          <a:p>
            <a:r>
              <a:rPr lang="en-US" dirty="0"/>
              <a:t>We can coordinate the replicas more carefully and provide behavior closer to a single correct server, but that requires additional messages, waiting, and recovery logic. GFS deliberately chooses a point in this tradeoff space. It prioritizes high throughput and a relatively simple design for Google's batch workloads, while exposing weaker behavior in some failure cases.</a:t>
            </a:r>
          </a:p>
          <a:p>
            <a:endParaRPr lang="en-US" dirty="0"/>
          </a:p>
          <a:p>
            <a:r>
              <a:rPr lang="en-US" dirty="0"/>
              <a:t>Before examining the GFS protocol, the next slide defines the single-server behavior we would ideally like to preserve.</a:t>
            </a:r>
          </a:p>
          <a:p>
            <a:endParaRPr lang="en-US" dirty="0"/>
          </a:p>
          <a:p>
            <a:r>
              <a:rPr lang="en-US" dirty="0"/>
              <a:t>SOURCE</a:t>
            </a:r>
          </a:p>
          <a:p>
            <a:r>
              <a:rPr lang="en-US" dirty="0"/>
              <a:t>MIT 6.824, Spring 2020, Lecture 3 transcript/video, 02:28–05:42.</a:t>
            </a:r>
          </a:p>
          <a:p>
            <a:r>
              <a:rPr lang="en-US" dirty="0"/>
              <a:t>Local transcript: fall2026/lectures/references/mit-6824-2020-lecture3-gfs-transcript.txt</a:t>
            </a:r>
          </a:p>
          <a:p>
            <a:r>
              <a:rPr lang="en-US" dirty="0"/>
              <a:t>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12</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t>We read GFS because distributed storage is one of the most useful abstractions in distributed systems. Applications can build on a file interface while the storage layer handles placement, replication, failures, and recovery.</a:t>
            </a:r>
            <a:endParaRPr lang="en-US" dirty="0"/>
          </a:p>
          <a:p>
            <a:endParaRPr lang="en-US" dirty="0"/>
          </a:p>
          <a:p>
            <a:r>
              <a:t>The paper also connects several themes from this course. Sharding gives parallel performance. Replication gives fault tolerance, but it creates consistency problems. The designers then choose where to spend coordination cost and where to accept weaker behavior.</a:t>
            </a:r>
            <a:endParaRPr lang="en-US" dirty="0"/>
          </a:p>
          <a:p>
            <a:endParaRPr lang="en-US" dirty="0"/>
          </a:p>
          <a:p>
            <a:r>
              <a:t>This is also a strong systems paper because it connects application workloads to machine-level details. The system succeeded in production, so we can judge the tradeoffs using real experience rather than only a conceptual design.</a:t>
            </a:r>
            <a:endParaRPr lang="en-US" dirty="0"/>
          </a:p>
          <a:p>
            <a:endParaRPr lang="en-US" dirty="0"/>
          </a:p>
          <a:p>
            <a:r>
              <a:t>SOURCE</a:t>
            </a:r>
            <a:endParaRPr lang="en-US" dirty="0"/>
          </a:p>
          <a:p>
            <a:r>
              <a:t>MIT 6.824, Spring 2020, Lecture 3 video, 0:00-5:09.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whether 6 MB/s per client is a good number. It is low per client, but the cluster is close to saturating its network, and the design was aimed at aggregate throughput.</a:t>
            </a:r>
            <a:endParaRPr lang="en-US"/>
          </a:p>
          <a:p>
            <a:r>
              <a:t>The master metadata number is the one that justifies the single-master design: a few tens of megabytes for tens of terabytes of data.</a:t>
            </a:r>
            <a:endParaRPr lang="en-US"/>
          </a:p>
          <a:p>
            <a:r>
              <a:t>The recovery numbers are the counterweight to the earlier slide about re-replication taking an hour or two: priority goes to the chunks that are one failure away from being lost.</a:t>
            </a:r>
            <a:endParaRPr lang="en-US"/>
          </a:p>
          <a:p>
            <a:r>
              <a:t>These numbers are 20 years old; the useful exercise is the ratio between disk, network and aggregate throughput, not the absolute values.</a:t>
            </a:r>
            <a:endParaRPr lang="en-US"/>
          </a:p>
          <a:p>
            <a:r>
              <a:t>SOURCE</a:t>
            </a:r>
            <a:endParaRPr lang="en-US"/>
          </a:p>
          <a:p>
            <a:r>
              <a:t>MIT 6.5840, GFS lecture notes.</a:t>
            </a:r>
            <a:endParaRPr lang="en-US"/>
          </a:p>
          <a:p>
            <a:r>
              <a:t>https://pdos.csail.mit.edu/6.824/notes/l-gfs.txt</a:t>
            </a:r>
            <a:endParaRPr lang="en-US"/>
          </a:p>
          <a:p>
            <a:r>
              <a:t>Ghemawat, Gobioff, and Leung, The Google File System, Section 6, Tables 2 and 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second slide of the lecture: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a:t>
            </a:r>
            <a:r>
              <a:rPr lang="en-US" sz="3200" b="1"/>
              <a:t>storage right </a:t>
            </a:r>
            <a:r>
              <a:rPr lang="en-US" sz="3200" b="1" dirty="0"/>
              <a:t>and the systems above it get simpler</a:t>
            </a:r>
          </a:p>
          <a:p>
            <a:pPr marL="914400" indent="-457200">
              <a:buFont typeface="Arial" panose="020B0604020202020204" pitchFamily="34" charset="0"/>
              <a:buChar char="•"/>
            </a:pPr>
            <a:r>
              <a:rPr lang="en-US" sz="2800" b="0" dirty="0"/>
              <a:t>Your own project has to keep its state somewhere too</a:t>
            </a:r>
          </a:p>
        </p:txBody>
      </p:sp>
      <p:sp>
        <p:nvSpPr>
          <p:cNvPr id="12" name="Aligned lecture question 1">
            <a:extLst>
              <a:ext uri="{FF2B5EF4-FFF2-40B4-BE49-F238E27FC236}">
                <a16:creationId xmlns:a16="http://schemas.microsoft.com/office/drawing/2014/main" id="{65C260B1-CF5C-4765-A4FA-8A06EC3F7E5E}"/>
              </a:ext>
            </a:extLst>
          </p:cNvPr>
          <p:cNvSpPr>
            <a:spLocks noGrp="1"/>
          </p:cNvSpPr>
          <p:nvPr/>
        </p:nvSpPr>
        <p:spPr>
          <a:xfrm>
            <a:off x="552450" y="5029200"/>
            <a:ext cx="11096625" cy="419100"/>
          </a:xfrm>
          <a:prstGeom prst="rect">
            <a:avLst/>
          </a:prstGeom>
          <a:noFill/>
          <a:ln w="0">
            <a:noFill/>
          </a:ln>
        </p:spPr>
        <p:txBody>
          <a:bodyPr>
            <a:normAutofit fontScale="76786"/>
          </a:bodyPr>
          <a:lstStyle/>
          <a:p>
            <a:pPr>
              <a:defRPr sz="2800" b="0">
                <a:solidFill>
                  <a:srgbClr val="A02B93"/>
                </a:solidFill>
                <a:latin typeface="Aptos"/>
                <a:ea typeface="Aptos"/>
                <a:cs typeface="Aptos"/>
              </a:defRPr>
            </a:pPr>
            <a:r>
              <a:rPr sz="2800" b="0">
                <a:solidFill>
                  <a:srgbClr val="A02B93"/>
                </a:solidFill>
                <a:latin typeface="Aptos"/>
                <a:ea typeface="Aptos"/>
                <a:cs typeface="Aptos"/>
              </a:rPr>
              <a:t>•     What interface should a large distributed storage system expose?</a:t>
            </a:r>
          </a:p>
        </p:txBody>
      </p:sp>
      <p:sp>
        <p:nvSpPr>
          <p:cNvPr id="13" name="Aligned lecture question 2">
            <a:extLst>
              <a:ext uri="{FF2B5EF4-FFF2-40B4-BE49-F238E27FC236}">
                <a16:creationId xmlns:a16="http://schemas.microsoft.com/office/drawing/2014/main" id="{6603DCFD-0381-4AA0-9012-46F6D9960692}"/>
              </a:ext>
            </a:extLst>
          </p:cNvPr>
          <p:cNvSpPr>
            <a:spLocks noGrp="1"/>
          </p:cNvSpPr>
          <p:nvPr/>
        </p:nvSpPr>
        <p:spPr>
          <a:xfrm>
            <a:off x="552450" y="5467350"/>
            <a:ext cx="11096625" cy="419100"/>
          </a:xfrm>
          <a:prstGeom prst="rect">
            <a:avLst/>
          </a:prstGeom>
          <a:noFill/>
          <a:ln w="0">
            <a:noFill/>
          </a:ln>
        </p:spPr>
        <p:txBody>
          <a:bodyPr>
            <a:normAutofit fontScale="76786"/>
          </a:bodyPr>
          <a:lstStyle/>
          <a:p>
            <a:pPr>
              <a:defRPr sz="2800" b="0">
                <a:solidFill>
                  <a:srgbClr val="A02B93"/>
                </a:solidFill>
                <a:latin typeface="Aptos"/>
                <a:ea typeface="Aptos"/>
                <a:cs typeface="Aptos"/>
              </a:defRPr>
            </a:pPr>
            <a:r>
              <a:rPr sz="2800" b="0">
                <a:solidFill>
                  <a:srgbClr val="A02B93"/>
                </a:solidFill>
                <a:latin typeface="Aptos"/>
                <a:ea typeface="Aptos"/>
                <a:cs typeface="Aptos"/>
              </a:rPr>
              <a:t>•     How can that interface remain useful as data spans machines that fail?</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5078313"/>
          </a:xfrm>
          <a:prstGeom prst="rect">
            <a:avLst/>
          </a:prstGeom>
          <a:noFill/>
        </p:spPr>
        <p:txBody>
          <a:bodyPr wrap="square" rtlCol="0">
            <a:spAutoFit/>
          </a:bodyPr>
          <a:lstStyle/>
          <a:p>
            <a:r>
              <a:rPr lang="en-US" sz="3200" b="1" dirty="0"/>
              <a:t>At this scale, commodity machines are the only affordable option</a:t>
            </a:r>
          </a:p>
          <a:p>
            <a:pPr marL="457200"/>
            <a:r>
              <a:rPr lang="en-US" sz="2800" b="0" dirty="0"/>
              <a:t>Far better performance per dollar than reliable, expensive hardware</a:t>
            </a:r>
          </a:p>
          <a:p>
            <a:pPr marL="457200"/>
            <a:r>
              <a:rPr lang="en-US" sz="2800" b="0" dirty="0"/>
              <a:t>Expensive hardware fails less often, but it still fails</a:t>
            </a:r>
          </a:p>
          <a:p>
            <a:pPr marL="457200"/>
            <a:endParaRPr lang="en-US" sz="2800" b="0" dirty="0"/>
          </a:p>
          <a:p>
            <a:r>
              <a:rPr lang="en-US" sz="3200" b="1" dirty="0"/>
              <a:t>One Google cluster, first year of service</a:t>
            </a:r>
          </a:p>
          <a:p>
            <a:pPr marL="457200"/>
            <a:r>
              <a:rPr lang="en-US" sz="2800" b="0" dirty="0"/>
              <a:t>Around 20 rack failures, each taking 40-80 machines away for hours</a:t>
            </a:r>
          </a:p>
          <a:p>
            <a:pPr marL="457200"/>
            <a:r>
              <a:rPr lang="en-US" sz="2800" b="0" dirty="0"/>
              <a:t>About a thousand machine failures and thousands of disk failures</a:t>
            </a:r>
          </a:p>
          <a:p>
            <a:pPr marL="457200"/>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Is Distributed Storage Hard?</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3200" dirty="0">
                <a:effectLst/>
              </a:rPr>
              <a:t>Performance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Many servers</a:t>
            </a:r>
            <a:endParaRPr lang="en-US" sz="3200" dirty="0">
              <a:effectLst/>
            </a:endParaRP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Fault tolerance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Replication</a:t>
            </a: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Better Consistency</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endParaRPr lang="en-US" sz="2800" dirty="0">
              <a:effectLst/>
            </a:endParaRP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Tree>
    <p:extLst>
      <p:ext uri="{BB962C8B-B14F-4D97-AF65-F5344CB8AC3E}">
        <p14:creationId xmlns:p14="http://schemas.microsoft.com/office/powerpoint/2010/main" val="1657423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the Paper Measured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Reads scale even though one client is slow</a:t>
            </a:r>
          </a:p>
          <a:p>
            <a:pPr marL="457200"/>
            <a:r>
              <a:rPr lang="en-US" sz="2800" b="0" dirty="0"/>
              <a:t>94 MB/s in total for 16 clients and 16 chunkservers: about 6 MB/s each</a:t>
            </a:r>
          </a:p>
          <a:p>
            <a:pPr marL="457200"/>
            <a:r>
              <a:rPr lang="en-US" sz="2800" b="0" dirty="0"/>
              <a:t>One disk did about 30 MB/s, so the aggregate is near the network limit</a:t>
            </a:r>
          </a:p>
          <a:p>
            <a:r>
              <a:rPr lang="en-US" sz="3200" b="1" dirty="0"/>
              <a:t>The master stays small</a:t>
            </a:r>
          </a:p>
          <a:p>
            <a:pPr marL="457200"/>
            <a:r>
              <a:rPr lang="en-US" sz="2800" b="0" dirty="0"/>
              <a:t>48-60 MB of metadata for clusters holding 55-155 TB of data</a:t>
            </a:r>
          </a:p>
          <a:p>
            <a:r>
              <a:rPr lang="en-US" sz="3200" b="1" dirty="0"/>
              <a:t>Recovery is fast because it is parallel</a:t>
            </a:r>
          </a:p>
          <a:p>
            <a:pPr marL="457200"/>
            <a:r>
              <a:rPr lang="en-US" sz="2800" b="0" dirty="0"/>
              <a:t>600 GB of chunks re-replicated in 23 minutes after one chunkserver died</a:t>
            </a:r>
          </a:p>
          <a:p>
            <a:pPr marL="457200"/>
            <a:r>
              <a:rPr lang="en-US" sz="2800" b="0" dirty="0"/>
              <a:t>Chunks left with a single replica were back to two within 2 minutes</a:t>
            </a:r>
          </a:p>
        </p:txBody>
      </p:sp>
    </p:spTree>
    <p:extLst>
      <p:ext uri="{BB962C8B-B14F-4D97-AF65-F5344CB8AC3E}">
        <p14:creationId xmlns:p14="http://schemas.microsoft.com/office/powerpoint/2010/main" val="17206706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1702</TotalTime>
  <Words>12775</Words>
  <Application>Microsoft Macintosh PowerPoint</Application>
  <PresentationFormat>Widescreen</PresentationFormat>
  <Paragraphs>1161</Paragraphs>
  <Slides>49</Slides>
  <Notes>49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What Would We Like for Consistency?</vt:lpstr>
      <vt:lpstr>Bad Replication Design</vt:lpstr>
      <vt:lpstr>What Can Go Wrong?</vt:lpstr>
      <vt:lpstr>The Google File System</vt:lpstr>
      <vt:lpstr>Why Are We Reading This Paper?</vt:lpstr>
      <vt:lpstr>Goal of GFS</vt:lpstr>
      <vt:lpstr>Demo</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Stale Replicas and Version Numbers</vt:lpstr>
      <vt:lpstr>Control and Data Flow</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the Paper Measured</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28</cp:revision>
  <dcterms:created xsi:type="dcterms:W3CDTF">2026-02-04T02:27:39Z</dcterms:created>
  <dcterms:modified xsi:type="dcterms:W3CDTF">2026-09-16T17:37:13Z</dcterms:modified>
</cp:coreProperties>
</file>