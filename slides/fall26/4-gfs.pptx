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Override PartName="/ppt/notesSlides/notesSlide5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422" r:id="rId2"/>
    <p:sldId id="426" r:id="rId3"/>
    <p:sldId id="481" r:id="rId4"/>
    <p:sldId id="467" r:id="rId5"/>
    <p:sldId id="477" r:id="rId6"/>
    <p:sldId id="478" r:id="rId7"/>
    <p:sldId id="479" r:id="rId8"/>
    <p:sldId id="428" r:id="rId10"/>
    <p:sldId id="483" r:id="rId9"/>
    <p:sldId id="443" r:id="rId11"/>
    <p:sldId id="444" r:id="rId12"/>
    <p:sldId id="445" r:id="rId13"/>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58"/>
    <p:sldId id="470" r:id="rId32"/>
    <p:sldId id="448" r:id="rId33"/>
    <p:sldId id="482" r:id="rId34"/>
    <p:sldId id="449" r:id="rId35"/>
    <p:sldId id="450" r:id="rId36"/>
    <p:sldId id="451" r:id="rId37"/>
    <p:sldId id="471" r:id="rId38"/>
    <p:sldId id="472" r:id="rId39"/>
    <p:sldId id="452" r:id="rId40"/>
    <p:sldId id="453" r:id="rId41"/>
    <p:sldId id="454" r:id="rId42"/>
    <p:sldId id="465" r:id="rId43"/>
    <p:sldId id="455" r:id="rId44"/>
    <p:sldId id="457" r:id="rId45"/>
    <p:sldId id="473" r:id="rId46"/>
    <p:sldId id="475" r:id="rId47"/>
    <p:sldId id="476" r:id="rId48"/>
    <p:sldId id="459" r:id="rId49"/>
    <p:sldId id="466" r:id="rId50"/>
    <p:sldId id="46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03"/>
    <p:restoredTop sz="65066"/>
  </p:normalViewPr>
  <p:slideViewPr>
    <p:cSldViewPr snapToGrid="0">
      <p:cViewPr varScale="1">
        <p:scale>
          <a:sx n="79" d="100"/>
          <a:sy n="79" d="100"/>
        </p:scale>
        <p:origin x="15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p>
          <a:p>
            <a:endParaRPr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p>
          <a:p>
            <a:endParaRPr dirty="0"/>
          </a:p>
          <a:p>
            <a:r>
              <a:rPr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a:t>
            </a:r>
          </a:p>
          <a:p>
            <a:endParaRPr lang="en-US" dirty="0"/>
          </a:p>
          <a:p>
            <a:r>
              <a:rPr lang="en-US" dirty="0"/>
              <a:t>First, when data is spread and replicated across machines that fail, how can the system keep the data correct? The next slide states the behavior we would ideally like, and the following slides show why naive replication cannot provide it.</a:t>
            </a:r>
          </a:p>
          <a:p>
            <a:endParaRPr lang="en-US" dirty="0"/>
          </a:p>
          <a:p>
            <a:r>
              <a:rPr lang="en-US" dirty="0"/>
              <a:t>Second, what performance cost must we pay to obtain that correctness? Coordinating replicas can preserve the illusion of one correct server, but the extra messages and waiting increase latency and can reduce throughput.</a:t>
            </a:r>
          </a:p>
          <a:p>
            <a:endParaRPr lang="en-US" dirty="0"/>
          </a:p>
          <a:p>
            <a:r>
              <a:rPr lang="en-US" dirty="0"/>
              <a:t>GFS answers both questions by choosing consistency guarantees and protocols that fit Google's workloads.</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The starting point is performance. To get huge aggregate throughput, we split the data across many servers and read from many of them in parallel. But once the system has hundreds or thousands of servers, failures are no longer exceptional. Some machine is always down, so fault tolerance has to be automatic.</a:t>
            </a:r>
          </a:p>
          <a:p>
            <a:endParaRPr lang="en-US" dirty="0"/>
          </a:p>
          <a:p>
            <a:r>
              <a:rPr lang="en-US" dirty="0"/>
              <a:t>The standard way to get fault tolerance is replication. Keep two or three copies of each piece of data, and if one server fails, use another copy.</a:t>
            </a:r>
          </a:p>
          <a:p>
            <a:endParaRPr lang="en-US" dirty="0"/>
          </a:p>
          <a:p>
            <a:r>
              <a:rPr lang="en-US" dirty="0"/>
              <a:t>But now we have a new problem. If we are not careful, those replicas get out of sync. What looked like interchangeable copies becomes two almost identical copies, and the value a client reads depends on which server it contacts.</a:t>
            </a:r>
          </a:p>
          <a:p>
            <a:endParaRPr lang="en-US" dirty="0"/>
          </a:p>
          <a:p>
            <a:r>
              <a:rPr lang="en-US" dirty="0"/>
              <a:t>We can eliminate those inconsistencies with more careful coordination, but coordination means more work, more messages, and more waiting. That reduces performance. So the design comes back to a tension: we started with performance, but stronger consistency costs performance. GFS chooses a point in that tradeoff instead of paying the full cost of strict consistency.</a:t>
            </a:r>
          </a:p>
          <a:p>
            <a:endParaRPr lang="en-US" dirty="0"/>
          </a:p>
          <a:p>
            <a:r>
              <a:rPr lang="en-US" dirty="0"/>
              <a:t>SOURCE
MIT 6.824, Spring 2020, Lecture 3 transcript/video, 02:28–05:42.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notesSlide" Target="../notesSlides/notesSlide51.x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dirty="0" b="1"/>
              <a:t>How can data remain correct when it is spread across machines that fail?</a:t>
            </a:r>
          </a:p>
          <a:p>
            <a:endParaRPr lang="en-US" sz="3200" dirty="0"/>
          </a:p>
          <a:p>
            <a:r>
              <a:rPr lang="en-US" sz="3200" dirty="0" b="1"/>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48" name="TextBox 47">
            <a:extLst>
              <a:ext uri="{FF2B5EF4-FFF2-40B4-BE49-F238E27FC236}">
                <a16:creationId xmlns:a16="http://schemas.microsoft.com/office/drawing/2014/main" id="{51F35555-7DB3-0E9F-0CC1-8DCCA40D364A}"/>
              </a:ext>
            </a:extLst>
          </p:cNvPr>
          <p:cNvSpPr txBox="1"/>
          <p:nvPr/>
        </p:nvSpPr>
        <p:spPr>
          <a:xfrm>
            <a:off x="7325250" y="1373218"/>
            <a:ext cx="4706595" cy="4154984"/>
          </a:xfrm>
          <a:prstGeom prst="rect">
            <a:avLst/>
          </a:prstGeom>
          <a:noFill/>
        </p:spPr>
        <p:txBody>
          <a:bodyPr wrap="square">
            <a:spAutoFit/>
          </a:bodyPr>
          <a:lstStyle/>
          <a:p>
            <a:pPr marL="342900" indent="-342900">
              <a:buFont typeface="Arial" panose="020B0604020202020204" pitchFamily="34" charset="0"/>
              <a:buChar char="•"/>
            </a:pPr>
            <a:r>
              <a:rPr lang="en-US" sz="2400" dirty="0"/>
              <a:t>Fault tolerance requires replication</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Replication risks inconsistency</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Consistency requires coordination</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Coordination lowers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dirty="0" b="1">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1721</TotalTime>
  <Words>12936</Words>
  <Application>Microsoft Macintosh PowerPoint</Application>
  <PresentationFormat>Widescreen</PresentationFormat>
  <Paragraphs>1153</Paragraphs>
  <Slides>51</Slides>
  <Notes>51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Aptos</vt:lpstr>
      <vt:lpstr>Aptos Display</vt:lpstr>
      <vt:lpstr>Arial</vt:lpstr>
      <vt:lpstr>Helvetica</vt:lpstr>
      <vt:lpstr>Helvetica Neue</vt:lpstr>
      <vt:lpstr>Office Theme</vt:lpstr>
      <vt:lpstr>Lecture 4: Google File System        Fall 2026</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Two Questions for This Lecture</vt:lpstr>
      <vt:lpstr>What Would We Like for Consistency?</vt:lpstr>
      <vt:lpstr>Bad Replication Design</vt:lpstr>
      <vt:lpstr>What Can Go Wrong?</vt:lpstr>
      <vt:lpstr>The Google File System</vt:lpstr>
      <vt:lpstr>Why Are We Reading This Paper?</vt:lpstr>
      <vt:lpstr>Goal of GFS</vt:lpstr>
      <vt:lpstr>Demo 1: HDFS</vt:lpstr>
      <vt:lpstr>Assumptions of GFS</vt:lpstr>
      <vt:lpstr>What Are the Contribution of the Paper?</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40</cp:revision>
  <dcterms:created xsi:type="dcterms:W3CDTF">2026-02-04T02:27:39Z</dcterms:created>
  <dcterms:modified xsi:type="dcterms:W3CDTF">2026-09-16T19:19:31Z</dcterms:modified>
</cp:coreProperties>
</file>