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426" r:id="rId3"/>
    <p:sldId id="481" r:id="rId4"/>
    <p:sldId id="467" r:id="rId5"/>
    <p:sldId id="477" r:id="rId6"/>
    <p:sldId id="478" r:id="rId7"/>
    <p:sldId id="479" r:id="rId8"/>
    <p:sldId id="428" r:id="rId9"/>
    <p:sldId id="483" r:id="rId10"/>
    <p:sldId id="443" r:id="rId11"/>
    <p:sldId id="486" r:id="rId60"/>
    <p:sldId id="444" r:id="rId12"/>
    <p:sldId id="445" r:id="rId13"/>
    <p:sldId id="487" r:id="rId61"/>
    <p:sldId id="485" r:id="rId59"/>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32"/>
    <p:sldId id="470" r:id="rId33"/>
    <p:sldId id="448" r:id="rId34"/>
    <p:sldId id="482" r:id="rId35"/>
    <p:sldId id="449" r:id="rId36"/>
    <p:sldId id="450" r:id="rId37"/>
    <p:sldId id="451" r:id="rId38"/>
    <p:sldId id="471" r:id="rId39"/>
    <p:sldId id="472" r:id="rId40"/>
    <p:sldId id="452" r:id="rId41"/>
    <p:sldId id="453" r:id="rId42"/>
    <p:sldId id="454" r:id="rId43"/>
    <p:sldId id="465" r:id="rId44"/>
    <p:sldId id="455" r:id="rId45"/>
    <p:sldId id="457" r:id="rId46"/>
    <p:sldId id="473" r:id="rId47"/>
    <p:sldId id="475" r:id="rId48"/>
    <p:sldId id="476" r:id="rId49"/>
    <p:sldId id="459" r:id="rId50"/>
    <p:sldId id="466" r:id="rId51"/>
    <p:sldId id="46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295"/>
    <p:restoredTop sz="65066"/>
  </p:normalViewPr>
  <p:slideViewPr>
    <p:cSldViewPr snapToGrid="0">
      <p:cViewPr varScale="1">
        <p:scale>
          <a:sx n="79" d="100"/>
          <a:sy n="79"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Replication leaves us with two questions that will organize the rest of this lecture.</a:t>
            </a:r>
          </a:p>
          <a:p>
            <a:endParaRPr lang="en-US" dirty="0"/>
          </a:p>
          <a:p>
            <a:r>
              <a:rPr lang="en-US" dirty="0"/>
              <a:t>The first is a correctness question. Once data is split and replicated across machines that can fail independently, what does it mean for the storage system to return the correct result? Different copies may receive requests at different times, and a client may reach a different copy after a failure. We need a clear model for deciding whether the behavior observed by the clients is still correct.</a:t>
            </a:r>
          </a:p>
          <a:p>
            <a:endParaRPr lang="en-US" dirty="0"/>
          </a:p>
          <a:p>
            <a:r>
              <a:rPr lang="en-US" dirty="0"/>
              <a:t>The second is a performance question. How much coordination do we need to obtain that behavior? If replicas must communicate and agree before every reply, each operation requires more messages and more waiting. A slow or unreachable replica may also delay the others.</a:t>
            </a:r>
          </a:p>
          <a:p>
            <a:endParaRPr lang="en-US" dirty="0"/>
          </a:p>
          <a:p>
            <a:r>
              <a:rPr lang="en-US" dirty="0"/>
              <a:t>These two questions create the central tradeoff. More coordination usually gives applications simpler behavior, but it costs latency, throughput, and sometimes availability during failures. GFS chooses guarantees that fit Google's workloads instead of paying the full cost of the strongest possible consistency.</a:t>
            </a:r>
          </a:p>
          <a:p>
            <a:endParaRPr lang="en-US" dirty="0"/>
          </a:p>
          <a:p>
            <a:r>
              <a:rPr lang="en-US" dirty="0"/>
              <a:t>To understand that choice, we first need a baseline: what behavior would one correct machine with one copy of the data provide?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From the application's point of view, the ideal distributed storage system behaves like one correct machine with one copy of the data. The implementation may contain hundreds of machines and several replicas, but those internal details should not change the behavior that clients observe.</a:t>
            </a:r>
          </a:p>
          <a:p>
            <a:endParaRPr lang="en-US" dirty="0"/>
          </a:p>
          <a:p>
            <a:r>
              <a:rPr lang="en-US" dirty="0"/>
              <a:t>Imagine that this one machine is single-threaded. Many clients may send requests concurrently, but the machine performs only one operation at a time. It chooses one request, runs it to completion, and then starts the next request. Every operation therefore has a position in one single order.</a:t>
            </a:r>
          </a:p>
          <a:p>
            <a:endParaRPr lang="en-US" dirty="0"/>
          </a:p>
          <a:p>
            <a:r>
              <a:rPr lang="en-US" dirty="0"/>
              <a:t>If the operation is a write, it updates the machine's state. If the operation is a read, it returns a value that reflects all the writes that came before it in that order. Concurrent requests still have to be ordered, but we may not know that order in advance. The machine is allowed to choose either concurrent request first. Once it chooses, all later results must remain consistent with that choice.</a:t>
            </a:r>
          </a:p>
          <a:p>
            <a:endParaRPr lang="en-US" dirty="0"/>
          </a:p>
          <a:p>
            <a:r>
              <a:rPr lang="en-US" dirty="0"/>
              <a:t>That gives us the test shown at the bottom of the slide: could one correct machine, executing one request at a time, have produced everything the clients observed? We do not require one predetermined result for concurrent requests. We require that all the results fit one possible sequential order.</a:t>
            </a:r>
          </a:p>
          <a:p>
            <a:endParaRPr lang="en-US" dirty="0"/>
          </a:p>
          <a:p>
            <a:r>
              <a:rPr lang="en-US" dirty="0"/>
              <a:t>Now suppose two clients write the same key at the same time.</a:t>
            </a:r>
          </a:p>
          <a:p>
            <a:endParaRPr lang="en-US" dirty="0"/>
          </a:p>
          <a:p>
            <a:r>
              <a:rPr lang="en-US" dirty="0"/>
              <a:t>SOURCE
MIT 6.824, Spring 2020, Lecture 3 transcript/video, 05:42–08:11.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The simplest way to add fault tolerance is to keep two complete copies of the data. If either server fails, the other server still has a copy and can continue serving clients.</a:t>
            </a:r>
          </a:p>
          <a:p>
            <a:endParaRPr lang="en-US" dirty="0"/>
          </a:p>
          <a:p>
            <a:r>
              <a:rPr lang="en-US" dirty="0"/>
              <a:t>That goal gives us two requirements. Every write must eventually reach both servers, so their copies remain up to date. But a read must be able to use either server by itself. If every read had to consult both servers, then losing one server would still make the system unavailable, and replication would not have solved the failure problem.</a:t>
            </a:r>
          </a:p>
          <a:p>
            <a:endParaRPr lang="en-US" dirty="0"/>
          </a:p>
          <a:p>
            <a:r>
              <a:rPr lang="en-US" dirty="0"/>
              <a:t>The obvious protocol is for the client to send each update to both replicas. Each server applies the update to its own copy when the request arrives. If the two servers begin with the same data and receive the same updates, this initially sounds sufficient to keep them identical.</a:t>
            </a:r>
          </a:p>
          <a:p>
            <a:endParaRPr lang="en-US" dirty="0"/>
          </a:p>
          <a:p>
            <a:r>
              <a:rPr lang="en-US" dirty="0"/>
              <a:t>The protocol is missing one rule: it never says that the two servers must apply concurrent updates in the same order. Each server simply follows the order in which messages happen to arrive over the network. With one writer, that may be enough. With two clients writing concurrently, the arrival orders can differ, and the two copies can diverge even though neither server has failed.</a:t>
            </a:r>
          </a:p>
          <a:p>
            <a:endParaRPr lang="en-US" dirty="0"/>
          </a:p>
          <a:p>
            <a:r>
              <a:rPr lang="en-US" dirty="0"/>
              <a:t>SOURCE
MIT 6.824, Spring 2020, Lecture 3 transcript/video, 10:47–12:29.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Now client 1 writes x equals 1, and client 2 writes x equals 2. Each client sends its write to both servers because both replicas are supposed to contain the complete data.</a:t>
            </a:r>
          </a:p>
          <a:p>
            <a:endParaRPr lang="en-US" dirty="0"/>
          </a:p>
          <a:p>
            <a:r>
              <a:rPr lang="en-US" dirty="0"/>
              <a:t>The network does not promise to deliver those messages in the same order. Suppose server 1 receives client 1's write first and client 2's write second. It sets x to 1 and then overwrites it with 2, so server 1 ends with x equal to 2.</a:t>
            </a:r>
          </a:p>
          <a:p>
            <a:endParaRPr lang="en-US" dirty="0"/>
          </a:p>
          <a:p>
            <a:r>
              <a:rPr lang="en-US" dirty="0"/>
              <a:t>Server 2 may receive the same two requests in the opposite order. It sets x to 2 and then overwrites it with 1, so server 2 ends with x equal to 1.</a:t>
            </a:r>
          </a:p>
          <a:p>
            <a:endParaRPr lang="en-US" dirty="0"/>
          </a:p>
          <a:p>
            <a:r>
              <a:rPr lang="en-US" dirty="0"/>
              <a:t>Notice that neither server behaved incorrectly by itself. Each one processed one request at a time, and each one chose a legal order for two concurrent writes. The failure is that they chose different orders. The replicated system no longer behaves like one logical machine.</a:t>
            </a:r>
          </a:p>
          <a:p>
            <a:endParaRPr lang="en-US" dirty="0"/>
          </a:p>
          <a:p>
            <a:r>
              <a:rPr lang="en-US" dirty="0"/>
              <a:t>A client reading from server 1 now receives 2, while a client reading from server 2 receives 1. Those results cannot both be explained by one final write order. The replicas were meant to be interchangeable, but the answer now depends on which replica the client happens to contact.</a:t>
            </a:r>
          </a:p>
          <a:p>
            <a:endParaRPr lang="en-US" dirty="0"/>
          </a:p>
          <a:p>
            <a:r>
              <a:rPr lang="en-US" dirty="0"/>
              <a:t>A natural response is to stop reading from arbitrary replicas and always read from one designated server. That makes the disagreement harder to see, but it does not make the copies agree.</a:t>
            </a:r>
          </a:p>
          <a:p>
            <a:endParaRPr lang="en-US" dirty="0"/>
          </a:p>
          <a:p>
            <a:r>
              <a:rPr lang="en-US" dirty="0"/>
              <a:t>SOURCE
MIT 6.824, Spring 2020, Lecture 3 transcript/video, 12:29–13:18.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This slide is the bridge from the broken design to the paper.</a:t>
            </a:r>
          </a:p>
          <a:p>
            <a:r>
              <a:rPr lang="en-US" dirty="0"/>
              <a:t>The previous two slides showed two different failures, and they share one root: the replicas were allowed to diverge, and nothing ever pulled them back together. In What Can Go Wrong? they diverged because no component chose an order for the two writes. In Can We Just Always Read from Server 1? the divergence already existed, and reading from one designated server only hid it until that server died. Every real repair has to stop the replicas from diverging, not merely choose which one to read.</a:t>
            </a:r>
          </a:p>
          <a:p>
            <a:r>
              <a:rPr lang="en-US" dirty="0"/>
              <a:t>Supplying it costs something. The servers have to exchange more messages, the protocol becomes more complicated, and a write cannot be reported as finished until the replicas have agreed. That waiting is the performance price, and it is the answer to the second question on the Two Questions slide.</a:t>
            </a:r>
          </a:p>
          <a:p>
            <a:r>
              <a:rPr lang="en-US" dirty="0"/>
              <a:t>Because the price is real, there is no single answer. There is a range of designs offering different strengths of guarantee, and a matching range of anomalies that people are willing to live with.</a:t>
            </a:r>
          </a:p>
          <a:p>
            <a:r>
              <a:rPr lang="en-US" dirty="0"/>
              <a:t>GFS sits at a deliberate point on that range: much better than the naive scheme from the Bad Replication Design slide, and knowingly not perfect. Where exactly it sits, and why Google was willing to accept that, is the rest of the lecture.</a:t>
            </a:r>
          </a:p>
          <a:p>
            <a:r>
              <a:rPr lang="en-US" dirty="0"/>
              <a:t>Do not give the mechanism here. Leases, a primary, and how the primary orders mutations come later; at this point the class only needs to know that a fix exists and that it is paid for.</a:t>
            </a:r>
          </a:p>
          <a:p>
            <a:r>
              <a:rPr lang="en-US" dirty="0"/>
              <a:t>SOURCE</a:t>
            </a:r>
          </a:p>
          <a:p>
            <a:r>
              <a:rPr lang="en-US" dirty="0"/>
              <a:t>MIT 6.824, Spring 2020, Lecture 3 video, 14:07-15:00.</a:t>
            </a:r>
          </a:p>
          <a:p>
            <a:r>
              <a:rPr lang="en-US" dirty="0"/>
              <a:t>https://www.youtube.com/watch?v=EpIgvowZr00</a:t>
            </a:r>
          </a:p>
          <a:p>
            <a:r>
              <a:rPr lang="en-US" dirty="0"/>
              <a:t>Local transcript: fall2026/lectures/references/mit-6824-2020-lecture3-gfs-transcript.txt</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Client 1 writes x equals 1, and client 2 writes x equals 2 at the same time. After both writes have completed, client 3 and client 4 each read x. What are the two readers allowed to see?</a:t>
            </a:r>
          </a:p>
          <a:p>
            <a:endParaRPr lang="en-US" dirty="0"/>
          </a:p>
          <a:p>
            <a:r>
              <a:rPr lang="en-US" dirty="0"/>
              <a:t>There is not enough information to say which write the machine processed first. Because the two writes overlap, either order is legal. If the machine executes the write of 2 and then the write of 1, the final value is 1, so both readers may return 1. If it executes the write of 1 and then the write of 2, the final value is 2, so both readers may return 2.</a:t>
            </a:r>
          </a:p>
          <a:p>
            <a:endParaRPr lang="en-US" dirty="0"/>
          </a:p>
          <a:p>
            <a:r>
              <a:rPr lang="en-US" dirty="0"/>
              <a:t>Those are the first two outcomes on the slide. Strong consistency does not promise which concurrent write wins. It promises that every result can be explained by one order chosen by the machine.</a:t>
            </a:r>
          </a:p>
          <a:p>
            <a:endParaRPr lang="en-US" dirty="0"/>
          </a:p>
          <a:p>
            <a:r>
              <a:rPr lang="en-US" dirty="0"/>
              <a:t>The third outcome is not allowed. If client 3 reads 1 while client 4 reads 2 after both writes have finished, the two observations cannot fit the same final order. One of the writes must be last, and without another intervening write, both later readers should see the value produced by that same last write.</a:t>
            </a:r>
          </a:p>
          <a:p>
            <a:endParaRPr lang="en-US" dirty="0"/>
          </a:p>
          <a:p>
            <a:r>
              <a:rPr lang="en-US" dirty="0"/>
              <a:t>So consistency is not a claim that one particular value must come back. It is a claim that everything the clients observed can be explained by one coherent order.</a:t>
            </a:r>
          </a:p>
          <a:p>
            <a:endParaRPr lang="en-US" dirty="0"/>
          </a:p>
          <a:p>
            <a:r>
              <a:rPr lang="en-US" dirty="0"/>
              <a:t>With one machine, choosing one order comes naturally. But one machine cannot survive a machine or disk failure. Once we keep multiple copies, those copies must somehow preserve the same order. That is where replication becomes difficult.</a:t>
            </a:r>
          </a:p>
          <a:p>
            <a:endParaRPr lang="en-US" dirty="0"/>
          </a:p>
          <a:p>
            <a:r>
              <a:rPr lang="en-US" dirty="0"/>
              <a:t>SOURCE
MIT 6.824, Spring 2020, Lecture 3 transcript/video, 08:11–10:47.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Suppose every client reads from server 1 while it is available and uses server 2 only as a backup. Server 1 contains 2 and server 2 contains 1, but while server 1 is running, every reader sees 2. The system appears consistent because the disagreement is hidden.</a:t>
            </a:r>
          </a:p>
          <a:p>
            <a:endParaRPr lang="en-US" dirty="0"/>
          </a:p>
          <a:p>
            <a:r>
              <a:rPr lang="en-US" dirty="0"/>
              <a:t>Now server 1 fails. The clients fall back to server 2, and the visible value becomes 1. No client wrote x between those reads. The value changed from 2 back to 1 only because the system switched replicas.</a:t>
            </a:r>
          </a:p>
          <a:p>
            <a:endParaRPr lang="en-US" dirty="0"/>
          </a:p>
          <a:p>
            <a:r>
              <a:rPr lang="en-US" dirty="0"/>
              <a:t>This cannot be explained by the one-machine model. A correct machine that performs one request at a time changes a stored value only when some operation changes it. Here the clients observe a change that corresponds to no write at all.</a:t>
            </a:r>
          </a:p>
          <a:p>
            <a:endParaRPr lang="en-US" dirty="0"/>
          </a:p>
          <a:p>
            <a:r>
              <a:rPr lang="en-US" dirty="0"/>
              <a:t>Always reading from one designated server therefore hides divergence instead of repairing it. The stale copy remains in the system, and the disagreement becomes visible at exactly the moment when the preferred server fails.</a:t>
            </a:r>
          </a:p>
          <a:p>
            <a:endParaRPr lang="en-US" dirty="0"/>
          </a:p>
          <a:p>
            <a:r>
              <a:rPr lang="en-US" dirty="0"/>
              <a:t>Preventing this behavior requires the replicas to agree on one order before the system treats a write as complete. That agreement requires communication between the servers, a protocol for deciding the order, and additional waiting before the client receives a reply. Consistency can be improved, but the coordination has a cost.</a:t>
            </a:r>
          </a:p>
          <a:p>
            <a:endParaRPr lang="en-US" dirty="0"/>
          </a:p>
          <a:p>
            <a:r>
              <a:rPr lang="en-US" dirty="0"/>
              <a:t>SOURCE
MIT 6.824, Spring 2020, Lecture 3 transcript/video, 13:18–14:54.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7"/>
                                            </p:txEl>
                                          </p:spTgt>
                                        </p:tgtEl>
                                        <p:attrNameLst>
                                          <p:attrName>style.visibility</p:attrName>
                                        </p:attrNameLst>
                                      </p:cBhvr>
                                      <p:to>
                                        <p:strVal val="visible"/>
                                      </p:to>
                                    </p:set>
                                    <p:animEffect transition="in" filter="dissolve">
                                      <p:cBhvr>
                                        <p:cTn id="7" dur="500"/>
                                        <p:tgtEl>
                                          <p:spTgt spid="2">
                                            <p:txEl>
                                              <p:pRg st="6"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dissolv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grpSp>
      <p:grpSp>
        <p:nvGrpSpPr>
          <p:cNvPr id="21" name="object 21">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
        <p:nvSpPr>
          <p:cNvPr id="22" name="C1 value">
            <a:extLst>
              <a:ext uri="{FF2B5EF4-FFF2-40B4-BE49-F238E27FC236}">
                <a16:creationId xmlns:a16="http://schemas.microsoft.com/office/drawing/2014/main" id="{B3234D3B-6A3A-C4E5-86E3-56006E2E9CDE}"/>
              </a:ext>
            </a:extLst>
          </p:cNvPr>
          <p:cNvSpPr txBox="1"/>
          <p:nvPr/>
        </p:nvSpPr>
        <p:spPr>
          <a:xfrm>
            <a:off x="2245261" y="426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1</a:t>
            </a:r>
            <a:endParaRPr sz="2000" b="1">
              <a:latin typeface="Arial"/>
              <a:cs typeface="Arial"/>
            </a:endParaRPr>
          </a:p>
        </p:txBody>
      </p:sp>
      <p:sp>
        <p:nvSpPr>
          <p:cNvPr id="23" name="C2 value">
            <a:extLst>
              <a:ext uri="{FF2B5EF4-FFF2-40B4-BE49-F238E27FC236}">
                <a16:creationId xmlns:a16="http://schemas.microsoft.com/office/drawing/2014/main" id="{B3234D3B-6A3A-C4E5-86E3-56006E2E9CDE}"/>
              </a:ext>
            </a:extLst>
          </p:cNvPr>
          <p:cNvSpPr txBox="1"/>
          <p:nvPr/>
        </p:nvSpPr>
        <p:spPr>
          <a:xfrm>
            <a:off x="2245261" y="5770000"/>
            <a:ext cx="1812925" cy="35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writes x = 2</a:t>
            </a:r>
            <a:endParaRPr sz="2000" b="1">
              <a:latin typeface="Arial"/>
              <a:cs typeface="Arial"/>
            </a:endParaRPr>
          </a:p>
        </p:txBody>
      </p:sp>
      <p:sp>
        <p:nvSpPr>
          <p:cNvPr id="24" name="S1 result">
            <a:extLst>
              <a:ext uri="{FF2B5EF4-FFF2-40B4-BE49-F238E27FC236}">
                <a16:creationId xmlns:a16="http://schemas.microsoft.com/office/drawing/2014/main" id="{B3234D3B-6A3A-C4E5-86E3-56006E2E9CDE}"/>
              </a:ext>
            </a:extLst>
          </p:cNvPr>
          <p:cNvSpPr txBox="1"/>
          <p:nvPr/>
        </p:nvSpPr>
        <p:spPr>
          <a:xfrm>
            <a:off x="9200000" y="350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2</a:t>
            </a:r>
            <a:endParaRPr sz="2000" b="1">
              <a:latin typeface="Arial"/>
              <a:cs typeface="Arial"/>
            </a:endParaRPr>
          </a:p>
        </p:txBody>
      </p:sp>
      <p:sp>
        <p:nvSpPr>
          <p:cNvPr id="25" name="S2 result">
            <a:extLst>
              <a:ext uri="{FF2B5EF4-FFF2-40B4-BE49-F238E27FC236}">
                <a16:creationId xmlns:a16="http://schemas.microsoft.com/office/drawing/2014/main" id="{B3234D3B-6A3A-C4E5-86E3-56006E2E9CDE}"/>
              </a:ext>
            </a:extLst>
          </p:cNvPr>
          <p:cNvSpPr txBox="1"/>
          <p:nvPr/>
        </p:nvSpPr>
        <p:spPr>
          <a:xfrm>
            <a:off x="9200000" y="5220000"/>
            <a:ext cx="2300000" cy="400000"/>
          </a:xfrm>
          <a:prstGeom prst="rect">
            <a:avLst/>
          </a:prstGeom>
          <a:ln>
            <a:noFill/>
          </a:ln>
        </p:spPr>
        <p:txBody>
          <a:bodyPr vert="horz" wrap="square" lIns="0" tIns="0" rIns="0" bIns="0" rtlCol="0">
            <a:spAutoFit/>
          </a:bodyPr>
          <a:lstStyle/>
          <a:p>
            <a:pPr marL="254000">
              <a:lnSpc>
                <a:spcPct val="100000"/>
              </a:lnSpc>
              <a:spcBef>
                <a:spcPts val="2125"/>
              </a:spcBef>
            </a:pPr>
            <a:r>
              <a:rPr sz="2000" b="1" spc="-10" dirty="0">
                <a:solidFill>
                  <a:srgbClr val="222C4A"/>
                </a:solidFill>
                <a:latin typeface="Arial"/>
                <a:cs typeface="Arial"/>
              </a:rPr>
              <a:t>ends with x = 1</a:t>
            </a:r>
            <a:endParaRPr sz="2000" b="1">
              <a:latin typeface="Arial"/>
              <a:cs typeface="Arial"/>
            </a:endParaRPr>
          </a:p>
        </p:txBody>
      </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par>
                                <p:cTn id="8" presetID="9"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dissolv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dissolve">
                                      <p:cBhvr>
                                        <p:cTn id="15" dur="500"/>
                                        <p:tgtEl>
                                          <p:spTgt spid="21"/>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dissolve">
                                      <p:cBhvr>
                                        <p:cTn id="23" dur="500"/>
                                        <p:tgtEl>
                                          <p:spTgt spid="24"/>
                                        </p:tgtEl>
                                      </p:cBhvr>
                                    </p:animEffect>
                                  </p:childTnLst>
                                </p:cTn>
                              </p:par>
                              <p:par>
                                <p:cTn id="24" presetID="9"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dissolve">
                                      <p:cBhvr>
                                        <p:cTn id="2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b="1" dirty="0">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015730" cy="3200000"/>
          </a:xfrm>
          <a:prstGeom prst="rect">
            <a:avLst/>
          </a:prstGeom>
          <a:noFill/>
        </p:spPr>
        <p:txBody>
          <a:bodyPr wrap="square" rtlCol="0">
            <a:spAutoFit/>
          </a:bodyPr>
          <a:lstStyle/>
          <a:p>
            <a:r>
              <a:rPr lang="en-US" sz="3200" b="1" dirty="0"/>
              <a:t>Both failures have one root: the replicas diverged</a:t>
            </a:r>
          </a:p>
          <a:p>
            <a:pPr marL="914400" indent="-457200">
              <a:buFont typeface="Arial" panose="020B0604020202020204" pitchFamily="34" charset="0"/>
              <a:buChar char="•"/>
            </a:pPr>
            <a:r>
              <a:rPr lang="en-US" sz="2800" b="0" dirty="0"/>
              <a:t>A fix must prevent divergence, not pick who to read</a:t>
            </a:r>
          </a:p>
          <a:p>
            <a:pPr marL="457200"/>
            <a:endParaRPr lang="en-US" sz="1400" b="0" dirty="0"/>
          </a:p>
          <a:p>
            <a:r>
              <a:rPr lang="en-US" sz="3200" b="1" dirty="0"/>
              <a:t>Agreement is not free</a:t>
            </a:r>
          </a:p>
          <a:p>
            <a:pPr marL="914400" indent="-457200">
              <a:buFont typeface="Arial" panose="020B0604020202020204" pitchFamily="34" charset="0"/>
              <a:buChar char="•"/>
            </a:pPr>
            <a:r>
              <a:rPr lang="en-US" sz="2800" b="0" dirty="0"/>
              <a:t>More messages, more complexity, longer waits</a:t>
            </a:r>
          </a:p>
          <a:p>
            <a:pPr marL="457200"/>
            <a:endParaRPr lang="en-US" sz="1400" b="0" dirty="0"/>
          </a:p>
          <a:p>
            <a:r>
              <a:rPr lang="en-US" sz="3200" b="1" dirty="0"/>
              <a:t>So there is a range of designs, not one answer</a:t>
            </a:r>
          </a:p>
          <a:p>
            <a:pPr marL="914400" indent="-457200">
              <a:buFont typeface="Arial" panose="020B0604020202020204" pitchFamily="34" charset="0"/>
              <a:buChar char="•"/>
            </a:pPr>
            <a:r>
              <a:rPr lang="en-US" sz="2800" b="0" dirty="0"/>
              <a:t>Stronger consistency costs performance</a:t>
            </a:r>
          </a:p>
          <a:p>
            <a:pPr marL="914400" indent="-457200">
              <a:buFont typeface="Arial" panose="020B0604020202020204" pitchFamily="34" charset="0"/>
              <a:buChar char="•"/>
            </a:pPr>
            <a:r>
              <a:rPr lang="en-US" sz="2800" b="0" dirty="0"/>
              <a:t>Weaker consistency costs the application</a:t>
            </a:r>
          </a:p>
          <a:p>
            <a:pPr marL="457200"/>
            <a:endParaRPr lang="en-US" sz="1400" b="0" dirty="0"/>
          </a:p>
          <a:p>
            <a:r>
              <a:rPr lang="en-US" sz="3200" b="1" dirty="0"/>
              <a:t>GFS picks a point on it, deliberately not perfect</a:t>
            </a:r>
          </a:p>
        </p:txBody>
      </p:sp>
    </p:spTree>
    <p:extLst>
      <p:ext uri="{BB962C8B-B14F-4D97-AF65-F5344CB8AC3E}">
        <p14:creationId xmlns:p14="http://schemas.microsoft.com/office/powerpoint/2010/main" val="17206706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Can We Just Always Read from Server 1?</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A natural patch: everyone reads Server 1, and falls back to Server 2 only when S1 is down</a:t>
            </a:r>
          </a:p>
          <a:p>
            <a:pPr marL="342900" indent="-342900">
              <a:buFont typeface="Arial"/>
              <a:buChar char="•"/>
            </a:pPr>
            <a:endParaRPr sz="1200" dirty="0"/>
          </a:p>
          <a:p>
            <a:pPr marL="342900" indent="-342900">
              <a:buFont typeface="Arial"/>
              <a:buChar char="•"/>
            </a:pPr>
            <a:r>
              <a:rPr sz="2400" dirty="0"/>
              <a:t>While S1 is up every reader sees 2, so the disagreement is hidden, not repaired</a:t>
            </a:r>
          </a:p>
          <a:p>
            <a:pPr marL="342900" indent="-342900">
              <a:buFont typeface="Arial"/>
              <a:buChar char="•"/>
            </a:pPr>
            <a:endParaRPr sz="1200" dirty="0"/>
          </a:p>
          <a:p>
            <a:pPr marL="342900" indent="-342900">
              <a:buFont typeface="Arial"/>
              <a:buChar char="•"/>
            </a:pPr>
            <a:r>
              <a:rPr sz="2400" dirty="0"/>
              <a:t>S1 dies, the readers fall back to S2, and the value goes back to 1</a:t>
            </a:r>
          </a:p>
          <a:p>
            <a:pPr marL="342900" indent="-342900">
              <a:buFont typeface="Arial"/>
              <a:buChar char="•"/>
            </a:pPr>
            <a:endParaRPr sz="1200" dirty="0"/>
          </a:p>
          <a:p>
            <a:pPr marL="342900" indent="-342900">
              <a:buFont typeface="Arial"/>
              <a:buChar char="•"/>
            </a:pPr>
            <a:r>
              <a:rPr sz="2400" dirty="0"/>
              <a:t>Nobody wrote. One machine could never do that.</a:t>
            </a:r>
          </a:p>
        </p:txBody>
      </p:sp>
      <p:sp>
        <p:nvSpPr>
          <p:cNvPr id="49" name="Rul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Rule: always read S1, fall back to S2</a:t>
            </a:r>
          </a:p>
        </p:txBody>
      </p:sp>
      <p:sp>
        <p:nvSpPr>
          <p:cNvPr id="50" name="Server 1 up">
            <a:extLst>
              <a:ext uri="{FF2B5EF4-FFF2-40B4-BE49-F238E27FC236}">
                <a16:creationId xmlns:a16="http://schemas.microsoft.com/office/drawing/2014/main" id="{C047F16D-4224-436C-BA2F-7F4F14E7970E}"/>
              </a:ext>
            </a:extLst>
          </p:cNvPr>
          <p:cNvSpPr>
            <a:spLocks noGrp="1"/>
          </p:cNvSpPr>
          <p:nvPr/>
        </p:nvSpPr>
        <p:spPr>
          <a:xfrm>
            <a:off x="450000" y="150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2</a:t>
            </a:r>
          </a:p>
        </p:txBody>
      </p:sp>
      <p:sp>
        <p:nvSpPr>
          <p:cNvPr id="51" name="Server 2">
            <a:extLst>
              <a:ext uri="{FF2B5EF4-FFF2-40B4-BE49-F238E27FC236}">
                <a16:creationId xmlns:a16="http://schemas.microsoft.com/office/drawing/2014/main" id="{C047F16D-4224-436C-BA2F-7F4F14E7970E}"/>
              </a:ext>
            </a:extLst>
          </p:cNvPr>
          <p:cNvSpPr>
            <a:spLocks noGrp="1"/>
          </p:cNvSpPr>
          <p:nvPr/>
        </p:nvSpPr>
        <p:spPr>
          <a:xfrm>
            <a:off x="450000" y="2250000"/>
            <a:ext cx="16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Server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1</a:t>
            </a:r>
          </a:p>
        </p:txBody>
      </p:sp>
      <p:sp>
        <p:nvSpPr>
          <p:cNvPr id="52" name="Reader C3">
            <a:extLst>
              <a:ext uri="{FF2B5EF4-FFF2-40B4-BE49-F238E27FC236}">
                <a16:creationId xmlns:a16="http://schemas.microsoft.com/office/drawing/2014/main" id="{C047F16D-4224-436C-BA2F-7F4F14E7970E}"/>
              </a:ext>
            </a:extLst>
          </p:cNvPr>
          <p:cNvSpPr>
            <a:spLocks noGrp="1"/>
          </p:cNvSpPr>
          <p:nvPr/>
        </p:nvSpPr>
        <p:spPr>
          <a:xfrm>
            <a:off x="4400000" y="150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sp>
        <p:nvSpPr>
          <p:cNvPr id="53" name="Reader C4">
            <a:extLst>
              <a:ext uri="{FF2B5EF4-FFF2-40B4-BE49-F238E27FC236}">
                <a16:creationId xmlns:a16="http://schemas.microsoft.com/office/drawing/2014/main" id="{C047F16D-4224-436C-BA2F-7F4F14E7970E}"/>
              </a:ext>
            </a:extLst>
          </p:cNvPr>
          <p:cNvSpPr>
            <a:spLocks noGrp="1"/>
          </p:cNvSpPr>
          <p:nvPr/>
        </p:nvSpPr>
        <p:spPr>
          <a:xfrm>
            <a:off x="4400000" y="2250000"/>
            <a:ext cx="15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2</a:t>
            </a:r>
          </a:p>
        </p:txBody>
      </p:sp>
      <p:cxnSp>
        <p:nvCxnSpPr>
          <p:cNvPr id="76" name="Read arrow 1"/>
          <p:cNvCxnSpPr/>
          <p:nvPr/>
        </p:nvCxnSpPr>
        <p:spPr>
          <a:xfrm>
            <a:off x="2050000" y="1795275"/>
            <a:ext cx="2350000" cy="0"/>
          </a:xfrm>
          <a:prstGeom prst="straightConnector1">
            <a:avLst/>
          </a:prstGeom>
          <a:ln w="19050">
            <a:solidFill>
              <a:srgbClr val="5B6573"/>
            </a:solidFill>
            <a:prstDash val="solid"/>
            <a:tailEnd type="triangle" w="sm" len="sm"/>
          </a:ln>
        </p:spPr>
      </p:cxnSp>
      <p:cxnSp>
        <p:nvCxnSpPr>
          <p:cNvPr id="77" name="Read arrow 2"/>
          <p:cNvCxnSpPr/>
          <p:nvPr/>
        </p:nvCxnSpPr>
        <p:spPr>
          <a:xfrm>
            <a:off x="2050000" y="1795275"/>
            <a:ext cx="2350000" cy="750000"/>
          </a:xfrm>
          <a:prstGeom prst="straightConnector1">
            <a:avLst/>
          </a:prstGeom>
          <a:ln w="19050">
            <a:solidFill>
              <a:srgbClr val="5B6573"/>
            </a:solidFill>
            <a:prstDash val="solid"/>
            <a:tailEnd type="triangle" w="sm" len="sm"/>
          </a:ln>
        </p:spPr>
      </p:cxnSp>
      <p:sp>
        <p:nvSpPr>
          <p:cNvPr id="68" name="Looks fine label">
            <a:extLst>
              <a:ext uri="{FF2B5EF4-FFF2-40B4-BE49-F238E27FC236}">
                <a16:creationId xmlns:a16="http://schemas.microsoft.com/office/drawing/2014/main" id="{8E2343DF-2BB9-401F-B950-594DD72F33BC}"/>
              </a:ext>
            </a:extLst>
          </p:cNvPr>
          <p:cNvSpPr>
            <a:spLocks noGrp="1"/>
          </p:cNvSpPr>
          <p:nvPr/>
        </p:nvSpPr>
        <p:spPr>
          <a:xfrm>
            <a:off x="4400000" y="2900000"/>
            <a:ext cx="15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looks fine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Failure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Then Server 1 fails</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S1 is gone</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reads go to S2</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 reads 1</a:t>
            </a:r>
          </a:p>
          <a:p>
            <a:pPr algn="ctr">
              <a:defRPr sz="1350" b="1">
                <a:solidFill>
                  <a:srgbClr val="0E2841"/>
                </a:solidFill>
                <a:latin typeface="Aptos"/>
                <a:ea typeface="Aptos"/>
                <a:cs typeface="Aptos"/>
              </a:defRPr>
            </a:pPr>
            <a:r>
              <a:rPr sz="1350" b="1">
                <a:solidFill>
                  <a:srgbClr val="0E2841"/>
                </a:solidFill>
                <a:latin typeface="Aptos"/>
                <a:ea typeface="Aptos"/>
                <a:cs typeface="Aptos"/>
              </a:rPr>
              <a:t>C4 reads 1</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x:  2 → 1</a:t>
            </a:r>
          </a:p>
          <a:p>
            <a:pPr algn="ctr">
              <a:defRPr sz="1350" b="1">
                <a:solidFill>
                  <a:srgbClr val="A02B93"/>
                </a:solidFill>
                <a:latin typeface="Aptos"/>
                <a:ea typeface="Aptos"/>
                <a:cs typeface="Aptos"/>
              </a:defRPr>
            </a:pPr>
            <a:r>
              <a:rPr sz="1350" b="1">
                <a:solidFill>
                  <a:srgbClr val="A02B93"/>
                </a:solidFill>
                <a:latin typeface="Aptos"/>
                <a:ea typeface="Aptos"/>
                <a:cs typeface="Aptos"/>
              </a:rPr>
              <a:t>nobody wrote</a:t>
            </a:r>
          </a:p>
        </p:txBody>
      </p:sp>
      <p:sp>
        <p:nvSpPr>
          <p:cNvPr id="63" name="Failure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Nobody wrote, yet the value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13492</Words>
  <Application>Microsoft Macintosh PowerPoint</Application>
  <PresentationFormat>Widescreen</PresentationFormat>
  <Paragraphs>1194</Paragraphs>
  <Slides>54</Slides>
  <Notes>54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54</vt:i4>
      </vt:variant>
    </vt:vector>
  </HeadingPairs>
  <TitlesOfParts>
    <vt:vector size="60"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Can We Just Always Read from Server 1?</vt:lpstr>
      <vt:lpstr>The Fix Has a Price</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2026-09-16T20:17:45Z</dcterms:modified>
</cp:coreProperties>
</file>