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49.xml" ContentType="application/vnd.openxmlformats-officedocument.presentationml.slide+xml"/>
  <Override PartName="/ppt/notesSlides/notesSlide49.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422" r:id="rId2"/>
    <p:sldId id="426" r:id="rId3"/>
    <p:sldId id="481" r:id="rId56"/>
    <p:sldId id="467" r:id="rId4"/>
    <p:sldId id="477" r:id="rId5"/>
    <p:sldId id="478" r:id="rId6"/>
    <p:sldId id="479" r:id="rId7"/>
    <p:sldId id="428" r:id="rId8"/>
    <p:sldId id="443" r:id="rId9"/>
    <p:sldId id="444" r:id="rId10"/>
    <p:sldId id="445" r:id="rId11"/>
    <p:sldId id="262" r:id="rId12"/>
    <p:sldId id="430" r:id="rId13"/>
    <p:sldId id="435" r:id="rId14"/>
    <p:sldId id="480" r:id="rId15"/>
    <p:sldId id="431" r:id="rId16"/>
    <p:sldId id="433" r:id="rId17"/>
    <p:sldId id="434" r:id="rId18"/>
    <p:sldId id="436" r:id="rId19"/>
    <p:sldId id="437" r:id="rId20"/>
    <p:sldId id="438" r:id="rId21"/>
    <p:sldId id="468" r:id="rId22"/>
    <p:sldId id="439" r:id="rId23"/>
    <p:sldId id="469" r:id="rId24"/>
    <p:sldId id="440" r:id="rId25"/>
    <p:sldId id="441" r:id="rId26"/>
    <p:sldId id="442" r:id="rId27"/>
    <p:sldId id="446" r:id="rId28"/>
    <p:sldId id="447" r:id="rId29"/>
    <p:sldId id="470" r:id="rId30"/>
    <p:sldId id="448" r:id="rId31"/>
    <p:sldId id="449" r:id="rId32"/>
    <p:sldId id="450" r:id="rId33"/>
    <p:sldId id="451" r:id="rId34"/>
    <p:sldId id="471" r:id="rId35"/>
    <p:sldId id="472" r:id="rId36"/>
    <p:sldId id="452" r:id="rId37"/>
    <p:sldId id="453" r:id="rId38"/>
    <p:sldId id="454" r:id="rId39"/>
    <p:sldId id="465" r:id="rId40"/>
    <p:sldId id="455" r:id="rId41"/>
    <p:sldId id="457" r:id="rId42"/>
    <p:sldId id="473" r:id="rId43"/>
    <p:sldId id="474" r:id="rId44"/>
    <p:sldId id="475" r:id="rId45"/>
    <p:sldId id="476" r:id="rId46"/>
    <p:sldId id="459" r:id="rId47"/>
    <p:sldId id="466" r:id="rId48"/>
    <p:sldId id="464"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110"/>
    <p:restoredTop sz="65066"/>
  </p:normalViewPr>
  <p:slideViewPr>
    <p:cSldViewPr snapToGrid="0">
      <p:cViewPr varScale="1">
        <p:scale>
          <a:sx n="70" d="100"/>
          <a:sy n="70" d="100"/>
        </p:scale>
        <p:origin x="160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1 is Wednesday, September 23. Push the design proposal and slides to the demo-1 branch by 12:00 noon. Next Monday is a lab day, so there is no lecture.</a:t>
            </a:r>
            <a:endParaRPr/>
          </a:p>
          <a:p xmlns:a="http://schemas.openxmlformats.org/drawingml/2006/main">
            <a:r>
              <a:t/>
            </a:r>
            <a:endParaRPr/>
          </a:p>
          <a:p xmlns:a="http://schemas.openxmlformats.org/drawingml/2006/main">
            <a:r>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endParaRPr/>
          </a:p>
          <a:p xmlns:a="http://schemas.openxmlformats.org/drawingml/2006/main">
            <a:r>
              <a:t/>
            </a:r>
            <a:endParaRPr/>
          </a:p>
          <a:p xmlns:a="http://schemas.openxmlformats.org/drawingml/2006/main">
            <a:r>
              <a:t>The slides are 25 percent and follow the shared slides rubric. The remaining 25 percent is challenge, which measures the technical difficulty and ambition of the proposal.</a:t>
            </a:r>
            <a:endParaRPr/>
          </a:p>
          <a:p xmlns:a="http://schemas.openxmlformats.org/drawingml/2006/main">
            <a:r>
              <a:t/>
            </a:r>
            <a:endParaRPr/>
          </a:p>
          <a:p xmlns:a="http://schemas.openxmlformats.org/drawingml/2006/main">
            <a:r>
              <a:t>Emphasize the milestone requirement. Later progress grades use the milestones in this proposal. A statement such as “improve performance” is too vague. A milestone should state a measurable result and how the team will demonstrate it.</a:t>
            </a:r>
            <a:endParaRPr/>
          </a:p>
          <a:p xmlns:a="http://schemas.openxmlformats.org/drawingml/2006/main">
            <a:r>
              <a:t/>
            </a:r>
            <a:endParaRPr/>
          </a:p>
          <a:p xmlns:a="http://schemas.openxmlformats.org/drawingml/2006/main">
            <a:r>
              <a:t>SOURCE</a:t>
            </a:r>
            <a:endParaRPr/>
          </a:p>
          <a:p xmlns:a="http://schemas.openxmlformats.org/drawingml/2006/main">
            <a:r>
              <a:t>EC528 Fall 2026 grading policy, Demo 1 rubric.</a:t>
            </a:r>
            <a:endParaRPr/>
          </a:p>
          <a:p xmlns:a="http://schemas.openxmlformats.org/drawingml/2006/main">
            <a:r>
              <a:t>EC528 Fall 2026 design-proposal template.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Last time we focused on computation, but every map task had to read its input from somewhere, and every reducer had to write its output somewhere. At Google, that shared storage layer was GFS.</a:t>
            </a:r>
            <a:endParaRPr lang="en-US" dirty="0"/>
          </a:p>
          <a:p>
            <a:endParaRPr lang="en-US" dirty="0"/>
          </a:p>
          <a:p>
            <a:r>
              <a:rPr dirty="0"/>
              <a:t>Storage became a key abstraction because a simple interface—name some data, read it, and write it—was general enough to support many different systems. MapReduce used GFS for input and output files. </a:t>
            </a:r>
            <a:r>
              <a:rPr dirty="0" err="1"/>
              <a:t>BigTable</a:t>
            </a:r>
            <a:r>
              <a:rPr dirty="0"/>
              <a:t> later stored its table data in GFS as well. If the storage layer handles scale and failures, every system above it becomes easier to build.</a:t>
            </a:r>
            <a:endParaRPr lang="en-US" dirty="0"/>
          </a:p>
          <a:p>
            <a:endParaRPr lang="en-US" dirty="0"/>
          </a:p>
          <a:p>
            <a:r>
              <a:rPr dirty="0"/>
              <a:t>There are therefore two questions for this lecture. What interface should a large distributed storage system expose? And what must happen inside the system so that the interface remains useful when data spans many machines and those machines fail?</a:t>
            </a:r>
            <a:endParaRPr lang="en-US" dirty="0"/>
          </a:p>
          <a:p>
            <a:endParaRPr lang="en-US" dirty="0"/>
          </a:p>
          <a:p>
            <a:r>
              <a:rPr dirty="0"/>
              <a:t>Connect this to the projects: every project eventually has to decide where durable state lives. A local disk, S3, or a database gives a different interface and shifts different responsibilities to the application.</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The first reason we need distributed storage is capacity and throughput.</a:t>
            </a:r>
            <a:endParaRPr lang="en-US" dirty="0"/>
          </a:p>
          <a:p>
            <a:endParaRPr lang="en-US"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endParaRPr lang="en-US" dirty="0"/>
          </a:p>
          <a:p>
            <a:endParaRPr lang="en-US"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endParaRPr lang="en-US" dirty="0"/>
          </a:p>
          <a:p>
            <a:endParaRPr lang="en-US" dirty="0"/>
          </a:p>
          <a:p>
            <a:r>
              <a:rPr dirty="0"/>
              <a:t>This decision solves the capacity and performance problem, but it creates the next problem. Once the system depends on hundreds or thousands of machines, some component will almost always be unavailable.</a:t>
            </a:r>
            <a:endParaRPr lang="en-US" dirty="0"/>
          </a:p>
          <a:p>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second forcing function: at large scale, failure is the normal operating condition.</a:t>
            </a:r>
            <a:endParaRPr lang="en-US" dirty="0"/>
          </a:p>
          <a:p>
            <a:endParaRPr lang="en-US"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endParaRPr lang="en-US" dirty="0"/>
          </a:p>
          <a:p>
            <a:endParaRPr lang="en-US"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endParaRPr lang="en-US" dirty="0"/>
          </a:p>
          <a:p>
            <a:endParaRPr lang="en-US"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endParaRPr lang="en-US" dirty="0"/>
          </a:p>
          <a:p>
            <a:endParaRPr lang="en-US" dirty="0"/>
          </a:p>
          <a:p>
            <a:r>
              <a:rPr dirty="0"/>
              <a:t>Replication gives us fault tolerance, but it also creates a new question: how do we keep those copies from disagreeing?</a:t>
            </a:r>
            <a:endParaRPr lang="en-US" dirty="0"/>
          </a:p>
          <a:p>
            <a:endParaRPr lang="en-US" dirty="0"/>
          </a:p>
          <a:p>
            <a:r>
              <a:rPr dirty="0"/>
              <a:t>SOURCE</a:t>
            </a:r>
            <a:endParaRPr lang="en-US" dirty="0"/>
          </a:p>
          <a:p>
            <a:r>
              <a:rPr dirty="0"/>
              <a:t>MIT 6.824, Spring 2020, Lecture 3 transcript/video, 02:28–04:05 and 18:07–18:55.</a:t>
            </a:r>
            <a:endParaRPr lang="en-US" dirty="0"/>
          </a:p>
          <a:p>
            <a:r>
              <a:rPr dirty="0"/>
              <a:t>Local transcript: fall2026/lectures/references/mit-6824-2020-lecture3-gfs-transcript.txt</a:t>
            </a:r>
            <a:endParaRPr lang="en-US" dirty="0"/>
          </a:p>
          <a:p>
            <a:r>
              <a:rPr dirty="0"/>
              <a:t>EC528 Fall 2023 GFS lecture and Jeff Dean talks for the failure counts.</a:t>
            </a:r>
            <a:endParaRPr lang="en-US" dirty="0"/>
          </a:p>
          <a:p>
            <a:r>
              <a:rPr dirty="0"/>
              <a:t>https://</a:t>
            </a:r>
            <a:r>
              <a:rPr dirty="0" err="1"/>
              <a:t>www.youtube.com</a:t>
            </a:r>
            <a:r>
              <a:rPr dirty="0"/>
              <a:t>/</a:t>
            </a:r>
            <a:r>
              <a:rPr dirty="0" err="1"/>
              <a:t>watch?v</a:t>
            </a:r>
            <a:r>
              <a:rPr dirty="0"/>
              <a:t>=EpIgvowZr00</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This diagram summarizes the design pressure we have just built up.</a:t>
            </a:r>
          </a:p>
          <a:p>
            <a:endParaRPr lang="en-US" dirty="0"/>
          </a:p>
          <a:p>
            <a:r>
              <a:rPr lang="en-US" dirty="0"/>
              <a:t>We begin with performance. To obtain high aggregate throughput and enough capacity, we shard data across many servers. With many servers, failures become routine, so the system must tolerate them automatically. Replication is the basic tool: keep multiple copies and use a surviving copy when another one fails.</a:t>
            </a:r>
          </a:p>
          <a:p>
            <a:endParaRPr lang="en-US" dirty="0"/>
          </a:p>
          <a:p>
            <a:r>
              <a:rPr lang="en-US" dirty="0"/>
              <a:t>But replication changes the correctness problem. Two copies are useful only if they represent the same data. Concurrent writes, lost messages, or a server failure in the middle of an update can leave replicas in different states. Different readers may then observe different answers.</a:t>
            </a:r>
          </a:p>
          <a:p>
            <a:endParaRPr lang="en-US" dirty="0"/>
          </a:p>
          <a:p>
            <a:r>
              <a:rPr lang="en-US" dirty="0"/>
              <a:t>We can coordinate the replicas more carefully and provide behavior closer to a single correct server, but that requires additional messages, waiting, and recovery logic. GFS deliberately chooses a point in this tradeoff space. It prioritizes high throughput and a relatively simple design for Google's batch workloads, while exposing weaker behavior in some failure cases.</a:t>
            </a:r>
          </a:p>
          <a:p>
            <a:endParaRPr lang="en-US" dirty="0"/>
          </a:p>
          <a:p>
            <a:r>
              <a:rPr lang="en-US" dirty="0"/>
              <a:t>Before examining the GFS protocol, the next slide defines the single-server behavior we would ideally like to preserve.</a:t>
            </a:r>
          </a:p>
          <a:p>
            <a:endParaRPr lang="en-US" dirty="0"/>
          </a:p>
          <a:p>
            <a:r>
              <a:rPr lang="en-US" dirty="0"/>
              <a:t>SOURCE</a:t>
            </a:r>
          </a:p>
          <a:p>
            <a:r>
              <a:rPr lang="en-US" dirty="0"/>
              <a:t>MIT 6.824, Spring 2020, Lecture 3 transcript/video, 02:28–05:42.</a:t>
            </a:r>
          </a:p>
          <a:p>
            <a:r>
              <a:rPr lang="en-US" dirty="0"/>
              <a:t>Local transcript: fall2026/lectures/references/mit-6824-2020-lecture3-gfs-transcript.txt</a:t>
            </a:r>
          </a:p>
          <a:p>
            <a:r>
              <a:rPr lang="en-US" dirty="0"/>
              <a:t>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7</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t>Before looking at the write protocol, establish the behavior we would ideally like.</a:t>
            </a:r>
            <a:endParaRPr lang="en-US" dirty="0"/>
          </a:p>
          <a:p>
            <a:endParaRPr lang="en-US" dirty="0"/>
          </a:p>
          <a:p>
            <a:r>
              <a:t>Imagine one correct server that processes operations one at a time. If two clients write concurrently, the server may choose either order. Once both operations finish, however, every later reader should observe the same final order and the same value.</a:t>
            </a:r>
            <a:endParaRPr lang="en-US" dirty="0"/>
          </a:p>
          <a:p>
            <a:endParaRPr lang="en-US" dirty="0"/>
          </a:p>
          <a:p>
            <a:r>
              <a:t>A replicated system tries to preserve that single-server illusion while storing several copies. The difficulty is that messages can arrive in different orders and some replicas can fail midway through an update.</a:t>
            </a:r>
            <a:endParaRPr lang="en-US" dirty="0"/>
          </a:p>
          <a:p>
            <a:endParaRPr lang="en-US" dirty="0"/>
          </a:p>
          <a:p>
            <a:r>
              <a:t>SOURCE</a:t>
            </a:r>
            <a:endParaRPr lang="en-US" dirty="0"/>
          </a:p>
          <a:p>
            <a:r>
              <a:t>MIT 6.824, Spring 2020, Lecture 3 video, 5:09-10:11.</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2.7.</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t>This slide shows a tempting but incorrect replication design.</a:t>
            </a:r>
            <a:endParaRPr lang="en-US" dirty="0"/>
          </a:p>
          <a:p>
            <a:endParaRPr lang="en-US" dirty="0"/>
          </a:p>
          <a:p>
            <a:r>
              <a:t>The client sends the update independently to every replica, and each server applies requests in the order it receives them. This looks fault tolerant because every server stores a copy.</a:t>
            </a:r>
            <a:endParaRPr lang="en-US" dirty="0"/>
          </a:p>
          <a:p>
            <a:endParaRPr lang="en-US" dirty="0"/>
          </a:p>
          <a:p>
            <a:r>
              <a:t>The protocol has no single component that chooses one order for concurrent writes. Network timing can therefore make the replicas execute the same requests in different orders. The copies stop being interchangeable, which defeats the purpose of replication.</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t>We read GFS because distributed storage is one of the most useful abstractions in distributed systems. Applications can build on a file interface while the storage layer handles placement, replication, failures, and recovery.</a:t>
            </a:r>
            <a:endParaRPr lang="en-US" dirty="0"/>
          </a:p>
          <a:p>
            <a:endParaRPr lang="en-US" dirty="0"/>
          </a:p>
          <a:p>
            <a:r>
              <a:t>The paper also connects several themes from this course. Sharding gives parallel performance. Replication gives fault tolerance, but it creates consistency problems. The designers then choose where to spend coordination cost and where to accept weaker behavior.</a:t>
            </a:r>
            <a:endParaRPr lang="en-US" dirty="0"/>
          </a:p>
          <a:p>
            <a:endParaRPr lang="en-US" dirty="0"/>
          </a:p>
          <a:p>
            <a:r>
              <a:t>This is also a strong systems paper because it connects application workloads to machine-level details. The system succeeded in production, so we can judge the tradeoffs using real experience rather than only a conceptual design.</a:t>
            </a:r>
            <a:endParaRPr lang="en-US" dirty="0"/>
          </a:p>
          <a:p>
            <a:endParaRPr lang="en-US" dirty="0"/>
          </a:p>
          <a:p>
            <a:r>
              <a:t>SOURCE</a:t>
            </a:r>
            <a:endParaRPr lang="en-US" dirty="0"/>
          </a:p>
          <a:p>
            <a:r>
              <a:t>MIT 6.824, Spring 2020, Lecture 3 video, 0:00-5:09.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13</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whether 6 MB/s per client is a good number. It is low per client, but the cluster is close to saturating its network, and the design was aimed at aggregate throughput.</a:t>
            </a:r>
            <a:endParaRPr lang="en-US"/>
          </a:p>
          <a:p>
            <a:r>
              <a:t>The master metadata number is the one that justifies the single-master design: a few tens of megabytes for tens of terabytes of data.</a:t>
            </a:r>
            <a:endParaRPr lang="en-US"/>
          </a:p>
          <a:p>
            <a:r>
              <a:t>The recovery numbers are the counterweight to the earlier slide about re-replication taking an hour or two: priority goes to the chunks that are one failure away from being lost.</a:t>
            </a:r>
            <a:endParaRPr lang="en-US"/>
          </a:p>
          <a:p>
            <a:r>
              <a:t>These numbers are 20 years old; the useful exercise is the ratio between disk, network and aggregate throughput, not the absolute values.</a:t>
            </a:r>
            <a:endParaRPr lang="en-US"/>
          </a:p>
          <a:p>
            <a:r>
              <a:t>SOURCE</a:t>
            </a:r>
            <a:endParaRPr lang="en-US"/>
          </a:p>
          <a:p>
            <a:r>
              <a:t>MIT 6.5840, GFS lecture notes.</a:t>
            </a:r>
            <a:endParaRPr lang="en-US"/>
          </a:p>
          <a:p>
            <a:r>
              <a:t>https://pdos.csail.mit.edu/6.824/notes/l-gfs.txt</a:t>
            </a:r>
            <a:endParaRPr lang="en-US"/>
          </a:p>
          <a:p>
            <a:r>
              <a:t>Ghemawat, Gobioff, and Leung, The Google File System, Section 6, Tables 2 and 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second slide of the lecture: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 is graded separately from the team project score.</a:t>
            </a:r>
            <a:endParaRPr/>
          </a:p>
          <a:p xmlns:a="http://schemas.openxmlformats.org/drawingml/2006/main">
            <a:r>
              <a:t/>
            </a:r>
            <a:endParaRPr/>
          </a:p>
          <a:p xmlns:a="http://schemas.openxmlformats.org/drawingml/2006/main">
            <a:r>
              <a:t>Each milestone demo has a 10-minute presentation and 5 minutes for questions. We will stop presentations that run over time. At most two team members may present in one demo, and every team member must present at least once across Demo 1, Demo 2, and Demo 3.</a:t>
            </a:r>
            <a:endParaRPr/>
          </a:p>
          <a:p xmlns:a="http://schemas.openxmlformats.org/drawingml/2006/main">
            <a:r>
              <a:t/>
            </a:r>
            <a:endParaRPr/>
          </a:p>
          <a:p xmlns:a="http://schemas.openxmlformats.org/drawingml/2006/main">
            <a:r>
              <a:t>The presentation score is individual. We grade the part you personally deliver, including clarity, engagement, staying within time, and how you answer questions about the design.</a:t>
            </a:r>
            <a:endParaRPr/>
          </a:p>
          <a:p xmlns:a="http://schemas.openxmlformats.org/drawingml/2006/main">
            <a:r>
              <a:t/>
            </a:r>
            <a:endParaRPr/>
          </a:p>
          <a:p xmlns:a="http://schemas.openxmlformats.org/drawingml/2006/main">
            <a:r>
              <a:t>If you present in more than one milestone demo, we use your highest presentation score. A second presentation can improve the score, but it will not lower it.</a:t>
            </a:r>
            <a:endParaRPr/>
          </a:p>
          <a:p xmlns:a="http://schemas.openxmlformats.org/drawingml/2006/main">
            <a:r>
              <a:t/>
            </a:r>
            <a:endParaRPr/>
          </a:p>
          <a:p xmlns:a="http://schemas.openxmlformats.org/drawingml/2006/main">
            <a:r>
              <a:t>This presentation component is 10 percent of the course grade. The final presentation is graded separately inside the final project score.</a:t>
            </a:r>
            <a:endParaRPr/>
          </a:p>
          <a:p xmlns:a="http://schemas.openxmlformats.org/drawingml/2006/main">
            <a:r>
              <a:t/>
            </a:r>
            <a:endParaRPr/>
          </a:p>
          <a:p xmlns:a="http://schemas.openxmlformats.org/drawingml/2006/main">
            <a:r>
              <a:t>SOURCE</a:t>
            </a:r>
            <a:endParaRPr/>
          </a:p>
          <a:p xmlns:a="http://schemas.openxmlformats.org/drawingml/2006/main">
            <a:r>
              <a:t>EC528 Fall 2026 grading policy, Presentation section.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7" name="Title 1">
            <a:extLst xmlns:a="http://schemas.openxmlformats.org/drawingml/2006/main">
              <a:ext uri="{FF2B5EF4-FFF2-40B4-BE49-F238E27FC236}">
                <a16:creationId xmlns:a16="http://schemas.microsoft.com/office/drawing/2014/main" id="{2ED557C7-2CDD-8C0B-07A1-1DABA8EF652A}"/>
              </a:ext>
            </a:extLst>
          </p:cNvPr>
          <p:cNvSpPr>
            <a:spLocks xmlns:a="http://schemas.openxmlformats.org/drawingml/2006/main" noGrp="1"/>
          </p:cNvSpPr>
          <p:nvPr>
            <p:ph type="title" idx="0"/>
          </p:nvPr>
        </p:nvSpPr>
        <p:spPr>
          <a:xfrm xmlns:a="http://schemas.openxmlformats.org/drawingml/2006/main">
            <a:off x="0" y="1"/>
            <a:ext cx="12191999" cy="914400"/>
          </a:xfrm>
        </p:spPr>
        <p:txBody>
          <a:bodyPr xmlns:a="http://schemas.openxmlformats.org/drawingml/2006/main">
            <a:normAutofit fontScale="100000"/>
          </a:bodyPr>
          <a:lstStyle xmlns:a="http://schemas.openxmlformats.org/drawingml/2006/main"/>
          <a:p xmlns:a="http://schemas.openxmlformats.org/drawingml/2006/main">
            <a:pPr algn="ctr">
              <a:buNone/>
            </a:pPr>
            <a:r>
              <a:rPr b="1">
                <a:latin typeface="Helvetica"/>
                <a:ea typeface="Helvetica"/>
                <a:cs typeface="Helvetica"/>
              </a:rPr>
              <a:t>Demo 1: Design Proposal</a:t>
            </a:r>
          </a:p>
        </p:txBody>
      </p:sp>
      <p:sp>
        <p:nvSpPr>
          <p:cNvPr id="8" name="Slide Number Placeholder 4">
            <a:extLst xmlns:a="http://schemas.openxmlformats.org/drawingml/2006/main">
              <a:ext uri="{FF2B5EF4-FFF2-40B4-BE49-F238E27FC236}">
                <a16:creationId xmlns:a16="http://schemas.microsoft.com/office/drawing/2014/main" id="{25E098EE-1299-32C0-2821-1DB599BAC8E9}"/>
              </a:ext>
            </a:extLst>
          </p:cNvPr>
          <p:cNvSpPr>
            <a:spLocks xmlns:a="http://schemas.openxmlformats.org/drawingml/2006/main" noGrp="1"/>
          </p:cNvSpPr>
          <p:nvPr>
            <p:ph type="sldNum" idx="12"/>
          </p:nvPr>
        </p:nvSpPr>
        <p:spPr>
          <a:xfrm xmlns:a="http://schemas.openxmlformats.org/drawingml/2006/main">
            <a:off x="8610600" y="6356350"/>
            <a:ext cx="2743200" cy="365125"/>
          </a:xfrm>
        </p:spPr>
        <p:txBody>
          <a:bodyPr xmlns:a="http://schemas.openxmlformats.org/drawingml/2006/main"/>
          <a:lstStyle xmlns:a="http://schemas.openxmlformats.org/drawingml/2006/main"/>
          <a:p xmlns:a="http://schemas.openxmlformats.org/drawingml/2006/main">
            <a:fld id="{212DA15D-5F50-8B40-811F-34F736B90848}" type="slidenum">
              <a:t>2</a:t>
            </a:fld>
            <a:endParaRPr/>
          </a:p>
        </p:txBody>
      </p:sp>
      <p:sp>
        <p:nvSpPr>
          <p:cNvPr id="9" name="Demo 1 deadline">
            <a:extLst xmlns:a="http://schemas.openxmlformats.org/drawingml/2006/main">
              <a:ext uri="{FF2B5EF4-FFF2-40B4-BE49-F238E27FC236}">
                <a16:creationId xmlns:a16="http://schemas.microsoft.com/office/drawing/2014/main" id="{28A03A3E-853D-4FA2-AE8E-9CDFB2A1C51A}"/>
              </a:ext>
            </a:extLst>
          </p:cNvPr>
          <p:cNvSpPr>
            <a:spLocks xmlns:a="http://schemas.openxmlformats.org/drawingml/2006/main" noGrp="1"/>
          </p:cNvSpPr>
          <p:nvPr/>
        </p:nvSpPr>
        <p:spPr>
          <a:xfrm xmlns:a="http://schemas.openxmlformats.org/drawingml/2006/main">
            <a:off x="361950" y="933450"/>
            <a:ext cx="11468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xmlns:a="http://schemas.openxmlformats.org/drawingml/2006/main">
              <a:ext uri="{FF2B5EF4-FFF2-40B4-BE49-F238E27FC236}">
                <a16:creationId xmlns:a16="http://schemas.microsoft.com/office/drawing/2014/main" id="{F0C367EF-21EA-42FF-BA10-C1A905D549A5}"/>
              </a:ext>
            </a:extLst>
          </p:cNvPr>
          <p:cNvSpPr>
            <a:spLocks xmlns:a="http://schemas.openxmlformats.org/drawingml/2006/main" noGrp="1"/>
          </p:cNvSpPr>
          <p:nvPr/>
        </p:nvSpPr>
        <p:spPr>
          <a:xfrm xmlns:a="http://schemas.openxmlformats.org/drawingml/2006/main">
            <a:off x="361950" y="1352550"/>
            <a:ext cx="11468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
          <p:cNvGraphicFramePr/>
          <p:nvPr/>
        </p:nvGraphicFramePr>
        <p:xfrm>
          <a:off xmlns:a="http://schemas.openxmlformats.org/drawingml/2006/main" x="381000" y="1885950"/>
          <a:ext xmlns:a="http://schemas.openxmlformats.org/drawingml/2006/main" cx="11430000" cy="3333750"/>
        </p:xfrm>
        <a:graphic xmlns:a="http://schemas.openxmlformats.org/drawingml/2006/main">
          <a:graphicData uri="http://schemas.openxmlformats.org/drawingml/2006/table">
            <a:tbl>
              <a:tblPr/>
              <a:tblGrid>
                <a:gridCol w="2071688"/>
                <a:gridCol w="1071563"/>
                <a:gridCol w="8286750"/>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tr>
            </a:tbl>
          </a:graphicData>
        </a:graphic>
      </p:graphicFrame>
      <p:sp>
        <p:nvSpPr>
          <p:cNvPr id="12" name="Milestone grading note">
            <a:extLst xmlns:a="http://schemas.openxmlformats.org/drawingml/2006/main">
              <a:ext uri="{FF2B5EF4-FFF2-40B4-BE49-F238E27FC236}">
                <a16:creationId xmlns:a16="http://schemas.microsoft.com/office/drawing/2014/main" id="{19113F98-AD09-45E2-9DEF-AC28BD3E4130}"/>
              </a:ext>
            </a:extLst>
          </p:cNvPr>
          <p:cNvSpPr>
            <a:spLocks xmlns:a="http://schemas.openxmlformats.org/drawingml/2006/main" noGrp="1"/>
          </p:cNvSpPr>
          <p:nvPr/>
        </p:nvSpPr>
        <p:spPr>
          <a:xfrm xmlns:a="http://schemas.openxmlformats.org/drawingml/2006/main">
            <a:off x="438150" y="5429250"/>
            <a:ext cx="113157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724096"/>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interface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5078313"/>
          </a:xfrm>
          <a:prstGeom prst="rect">
            <a:avLst/>
          </a:prstGeom>
          <a:noFill/>
        </p:spPr>
        <p:txBody>
          <a:bodyPr wrap="square" rtlCol="0">
            <a:spAutoFit/>
          </a:bodyPr>
          <a:lstStyle/>
          <a:p>
            <a:r>
              <a:rPr lang="en-US" sz="3200" b="1" dirty="0"/>
              <a:t>At this scale, commodity machines are the only affordable option</a:t>
            </a:r>
          </a:p>
          <a:p>
            <a:pPr marL="457200"/>
            <a:r>
              <a:rPr lang="en-US" sz="2800" b="0" dirty="0"/>
              <a:t>Far better performance per dollar than reliable, expensive hardware</a:t>
            </a:r>
          </a:p>
          <a:p>
            <a:pPr marL="457200"/>
            <a:r>
              <a:rPr lang="en-US" sz="2800" b="0" dirty="0"/>
              <a:t>Expensive hardware fails less often, but it still fails</a:t>
            </a:r>
          </a:p>
          <a:p>
            <a:pPr marL="457200"/>
            <a:endParaRPr lang="en-US" sz="2800" b="0" dirty="0"/>
          </a:p>
          <a:p>
            <a:r>
              <a:rPr lang="en-US" sz="3200" b="1" dirty="0"/>
              <a:t>One Google cluster, first year of service</a:t>
            </a:r>
          </a:p>
          <a:p>
            <a:pPr marL="457200"/>
            <a:r>
              <a:rPr lang="en-US" sz="2800" b="0" dirty="0"/>
              <a:t>Around 20 rack failures, each taking 40-80 machines away for hours</a:t>
            </a:r>
          </a:p>
          <a:p>
            <a:pPr marL="457200"/>
            <a:r>
              <a:rPr lang="en-US" sz="2800" b="0" dirty="0"/>
              <a:t>About a thousand machine failures and thousands of disk failures</a:t>
            </a:r>
          </a:p>
          <a:p>
            <a:pPr marL="457200"/>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06AC-979F-0806-0955-EC68D0D83E2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Is Distributed Storage Hard?</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grpSp>
        <p:nvGrpSpPr>
          <p:cNvPr id="46" name="Group 45">
            <a:extLst>
              <a:ext uri="{FF2B5EF4-FFF2-40B4-BE49-F238E27FC236}">
                <a16:creationId xmlns:a16="http://schemas.microsoft.com/office/drawing/2014/main" id="{1B5B40A3-42ED-D7FD-CD41-D3E850056927}"/>
              </a:ext>
            </a:extLst>
          </p:cNvPr>
          <p:cNvGrpSpPr/>
          <p:nvPr/>
        </p:nvGrpSpPr>
        <p:grpSpPr>
          <a:xfrm>
            <a:off x="331574" y="1589379"/>
            <a:ext cx="6761205" cy="3896732"/>
            <a:chOff x="838200" y="1097281"/>
            <a:chExt cx="10136302" cy="6086348"/>
          </a:xfrm>
        </p:grpSpPr>
        <p:pic>
          <p:nvPicPr>
            <p:cNvPr id="2" name="object 3">
              <a:extLst>
                <a:ext uri="{FF2B5EF4-FFF2-40B4-BE49-F238E27FC236}">
                  <a16:creationId xmlns:a16="http://schemas.microsoft.com/office/drawing/2014/main" id="{142A3B20-70B3-1E06-BF84-CC4A6EFF3338}"/>
                </a:ext>
              </a:extLst>
            </p:cNvPr>
            <p:cNvPicPr/>
            <p:nvPr/>
          </p:nvPicPr>
          <p:blipFill>
            <a:blip r:embed="rId3" cstate="print"/>
            <a:stretch>
              <a:fillRect/>
            </a:stretch>
          </p:blipFill>
          <p:spPr>
            <a:xfrm>
              <a:off x="9175601" y="1097281"/>
              <a:ext cx="1094207" cy="1094207"/>
            </a:xfrm>
            <a:prstGeom prst="rect">
              <a:avLst/>
            </a:prstGeom>
          </p:spPr>
        </p:pic>
        <p:pic>
          <p:nvPicPr>
            <p:cNvPr id="3" name="object 4">
              <a:extLst>
                <a:ext uri="{FF2B5EF4-FFF2-40B4-BE49-F238E27FC236}">
                  <a16:creationId xmlns:a16="http://schemas.microsoft.com/office/drawing/2014/main" id="{A43C5B78-A690-FD29-E1D9-CF937AFDC2FD}"/>
                </a:ext>
              </a:extLst>
            </p:cNvPr>
            <p:cNvPicPr/>
            <p:nvPr/>
          </p:nvPicPr>
          <p:blipFill>
            <a:blip r:embed="rId4" cstate="print"/>
            <a:stretch>
              <a:fillRect/>
            </a:stretch>
          </p:blipFill>
          <p:spPr>
            <a:xfrm>
              <a:off x="838200" y="5263070"/>
              <a:ext cx="1011177" cy="1920559"/>
            </a:xfrm>
            <a:prstGeom prst="rect">
              <a:avLst/>
            </a:prstGeom>
          </p:spPr>
        </p:pic>
        <p:pic>
          <p:nvPicPr>
            <p:cNvPr id="4" name="object 5">
              <a:extLst>
                <a:ext uri="{FF2B5EF4-FFF2-40B4-BE49-F238E27FC236}">
                  <a16:creationId xmlns:a16="http://schemas.microsoft.com/office/drawing/2014/main" id="{988263FD-6D57-7E2C-6E25-F9F04101C121}"/>
                </a:ext>
              </a:extLst>
            </p:cNvPr>
            <p:cNvPicPr/>
            <p:nvPr/>
          </p:nvPicPr>
          <p:blipFill>
            <a:blip r:embed="rId3" cstate="print"/>
            <a:stretch>
              <a:fillRect/>
            </a:stretch>
          </p:blipFill>
          <p:spPr>
            <a:xfrm>
              <a:off x="3772917" y="1097281"/>
              <a:ext cx="1094207" cy="1094207"/>
            </a:xfrm>
            <a:prstGeom prst="rect">
              <a:avLst/>
            </a:prstGeom>
          </p:spPr>
        </p:pic>
        <p:pic>
          <p:nvPicPr>
            <p:cNvPr id="5" name="object 6">
              <a:extLst>
                <a:ext uri="{FF2B5EF4-FFF2-40B4-BE49-F238E27FC236}">
                  <a16:creationId xmlns:a16="http://schemas.microsoft.com/office/drawing/2014/main" id="{4B80EA4D-0E16-09E4-6100-7886C10ECDBC}"/>
                </a:ext>
              </a:extLst>
            </p:cNvPr>
            <p:cNvPicPr/>
            <p:nvPr/>
          </p:nvPicPr>
          <p:blipFill>
            <a:blip r:embed="rId3" cstate="print"/>
            <a:stretch>
              <a:fillRect/>
            </a:stretch>
          </p:blipFill>
          <p:spPr>
            <a:xfrm>
              <a:off x="6474280" y="1097281"/>
              <a:ext cx="1094207" cy="1094207"/>
            </a:xfrm>
            <a:prstGeom prst="rect">
              <a:avLst/>
            </a:prstGeom>
          </p:spPr>
        </p:pic>
        <p:pic>
          <p:nvPicPr>
            <p:cNvPr id="6" name="object 7">
              <a:extLst>
                <a:ext uri="{FF2B5EF4-FFF2-40B4-BE49-F238E27FC236}">
                  <a16:creationId xmlns:a16="http://schemas.microsoft.com/office/drawing/2014/main" id="{3BF40DD3-A61E-7FB7-A78A-48BF2D45AE28}"/>
                </a:ext>
              </a:extLst>
            </p:cNvPr>
            <p:cNvPicPr/>
            <p:nvPr/>
          </p:nvPicPr>
          <p:blipFill>
            <a:blip r:embed="rId3" cstate="print"/>
            <a:stretch>
              <a:fillRect/>
            </a:stretch>
          </p:blipFill>
          <p:spPr>
            <a:xfrm>
              <a:off x="1239999" y="1097281"/>
              <a:ext cx="1094207" cy="1094207"/>
            </a:xfrm>
            <a:prstGeom prst="rect">
              <a:avLst/>
            </a:prstGeom>
          </p:spPr>
        </p:pic>
        <p:pic>
          <p:nvPicPr>
            <p:cNvPr id="9" name="object 8">
              <a:extLst>
                <a:ext uri="{FF2B5EF4-FFF2-40B4-BE49-F238E27FC236}">
                  <a16:creationId xmlns:a16="http://schemas.microsoft.com/office/drawing/2014/main" id="{A8C8909B-0E1D-4340-C78B-70444DFEB365}"/>
                </a:ext>
              </a:extLst>
            </p:cNvPr>
            <p:cNvPicPr/>
            <p:nvPr/>
          </p:nvPicPr>
          <p:blipFill>
            <a:blip r:embed="rId4" cstate="print"/>
            <a:stretch>
              <a:fillRect/>
            </a:stretch>
          </p:blipFill>
          <p:spPr>
            <a:xfrm>
              <a:off x="2141794" y="5263070"/>
              <a:ext cx="1011177" cy="1920559"/>
            </a:xfrm>
            <a:prstGeom prst="rect">
              <a:avLst/>
            </a:prstGeom>
          </p:spPr>
        </p:pic>
        <p:pic>
          <p:nvPicPr>
            <p:cNvPr id="10" name="object 9">
              <a:extLst>
                <a:ext uri="{FF2B5EF4-FFF2-40B4-BE49-F238E27FC236}">
                  <a16:creationId xmlns:a16="http://schemas.microsoft.com/office/drawing/2014/main" id="{0C15F954-7353-9107-9F6F-197173DC5DF6}"/>
                </a:ext>
              </a:extLst>
            </p:cNvPr>
            <p:cNvPicPr/>
            <p:nvPr/>
          </p:nvPicPr>
          <p:blipFill>
            <a:blip r:embed="rId4" cstate="print"/>
            <a:stretch>
              <a:fillRect/>
            </a:stretch>
          </p:blipFill>
          <p:spPr>
            <a:xfrm>
              <a:off x="3445377" y="5263070"/>
              <a:ext cx="1011177" cy="1920559"/>
            </a:xfrm>
            <a:prstGeom prst="rect">
              <a:avLst/>
            </a:prstGeom>
          </p:spPr>
        </p:pic>
        <p:pic>
          <p:nvPicPr>
            <p:cNvPr id="11" name="object 10">
              <a:extLst>
                <a:ext uri="{FF2B5EF4-FFF2-40B4-BE49-F238E27FC236}">
                  <a16:creationId xmlns:a16="http://schemas.microsoft.com/office/drawing/2014/main" id="{E284F254-DCE1-F957-AE7D-035ACCA2693D}"/>
                </a:ext>
              </a:extLst>
            </p:cNvPr>
            <p:cNvPicPr/>
            <p:nvPr/>
          </p:nvPicPr>
          <p:blipFill>
            <a:blip r:embed="rId4" cstate="print"/>
            <a:stretch>
              <a:fillRect/>
            </a:stretch>
          </p:blipFill>
          <p:spPr>
            <a:xfrm>
              <a:off x="4748960" y="5263070"/>
              <a:ext cx="1011177" cy="1920559"/>
            </a:xfrm>
            <a:prstGeom prst="rect">
              <a:avLst/>
            </a:prstGeom>
          </p:spPr>
        </p:pic>
        <p:pic>
          <p:nvPicPr>
            <p:cNvPr id="12" name="object 11">
              <a:extLst>
                <a:ext uri="{FF2B5EF4-FFF2-40B4-BE49-F238E27FC236}">
                  <a16:creationId xmlns:a16="http://schemas.microsoft.com/office/drawing/2014/main" id="{916F235B-72F2-0D11-4184-B4BE532F30C1}"/>
                </a:ext>
              </a:extLst>
            </p:cNvPr>
            <p:cNvPicPr/>
            <p:nvPr/>
          </p:nvPicPr>
          <p:blipFill>
            <a:blip r:embed="rId4" cstate="print"/>
            <a:stretch>
              <a:fillRect/>
            </a:stretch>
          </p:blipFill>
          <p:spPr>
            <a:xfrm>
              <a:off x="6052544" y="5263070"/>
              <a:ext cx="1011177" cy="1920559"/>
            </a:xfrm>
            <a:prstGeom prst="rect">
              <a:avLst/>
            </a:prstGeom>
          </p:spPr>
        </p:pic>
        <p:pic>
          <p:nvPicPr>
            <p:cNvPr id="13" name="object 12">
              <a:extLst>
                <a:ext uri="{FF2B5EF4-FFF2-40B4-BE49-F238E27FC236}">
                  <a16:creationId xmlns:a16="http://schemas.microsoft.com/office/drawing/2014/main" id="{FA4C07D9-F95A-74C1-F922-EC4A4F0806B6}"/>
                </a:ext>
              </a:extLst>
            </p:cNvPr>
            <p:cNvPicPr/>
            <p:nvPr/>
          </p:nvPicPr>
          <p:blipFill>
            <a:blip r:embed="rId4" cstate="print"/>
            <a:stretch>
              <a:fillRect/>
            </a:stretch>
          </p:blipFill>
          <p:spPr>
            <a:xfrm>
              <a:off x="7356138" y="5263070"/>
              <a:ext cx="1011177" cy="1920559"/>
            </a:xfrm>
            <a:prstGeom prst="rect">
              <a:avLst/>
            </a:prstGeom>
          </p:spPr>
        </p:pic>
        <p:pic>
          <p:nvPicPr>
            <p:cNvPr id="14" name="object 13">
              <a:extLst>
                <a:ext uri="{FF2B5EF4-FFF2-40B4-BE49-F238E27FC236}">
                  <a16:creationId xmlns:a16="http://schemas.microsoft.com/office/drawing/2014/main" id="{6C144F63-4F0C-DD47-9329-4A3D7C0A95C4}"/>
                </a:ext>
              </a:extLst>
            </p:cNvPr>
            <p:cNvPicPr/>
            <p:nvPr/>
          </p:nvPicPr>
          <p:blipFill>
            <a:blip r:embed="rId4" cstate="print"/>
            <a:stretch>
              <a:fillRect/>
            </a:stretch>
          </p:blipFill>
          <p:spPr>
            <a:xfrm>
              <a:off x="8659721" y="5263070"/>
              <a:ext cx="1011177" cy="1920559"/>
            </a:xfrm>
            <a:prstGeom prst="rect">
              <a:avLst/>
            </a:prstGeom>
          </p:spPr>
        </p:pic>
        <p:pic>
          <p:nvPicPr>
            <p:cNvPr id="15" name="object 14">
              <a:extLst>
                <a:ext uri="{FF2B5EF4-FFF2-40B4-BE49-F238E27FC236}">
                  <a16:creationId xmlns:a16="http://schemas.microsoft.com/office/drawing/2014/main" id="{570B2A07-5EF0-D692-D983-34F16576A58D}"/>
                </a:ext>
              </a:extLst>
            </p:cNvPr>
            <p:cNvPicPr/>
            <p:nvPr/>
          </p:nvPicPr>
          <p:blipFill>
            <a:blip r:embed="rId4" cstate="print"/>
            <a:stretch>
              <a:fillRect/>
            </a:stretch>
          </p:blipFill>
          <p:spPr>
            <a:xfrm>
              <a:off x="9963325" y="5263070"/>
              <a:ext cx="1011177" cy="1920559"/>
            </a:xfrm>
            <a:prstGeom prst="rect">
              <a:avLst/>
            </a:prstGeom>
          </p:spPr>
        </p:pic>
        <p:grpSp>
          <p:nvGrpSpPr>
            <p:cNvPr id="16" name="object 15">
              <a:extLst>
                <a:ext uri="{FF2B5EF4-FFF2-40B4-BE49-F238E27FC236}">
                  <a16:creationId xmlns:a16="http://schemas.microsoft.com/office/drawing/2014/main" id="{407F9748-BEE0-E2B9-4986-74FD8E36EFE4}"/>
                </a:ext>
              </a:extLst>
            </p:cNvPr>
            <p:cNvGrpSpPr/>
            <p:nvPr/>
          </p:nvGrpSpPr>
          <p:grpSpPr>
            <a:xfrm>
              <a:off x="1295767" y="2581707"/>
              <a:ext cx="551180" cy="2283460"/>
              <a:chOff x="2729581" y="5036569"/>
              <a:chExt cx="551180" cy="2283460"/>
            </a:xfrm>
          </p:grpSpPr>
          <p:sp>
            <p:nvSpPr>
              <p:cNvPr id="17" name="object 16">
                <a:extLst>
                  <a:ext uri="{FF2B5EF4-FFF2-40B4-BE49-F238E27FC236}">
                    <a16:creationId xmlns:a16="http://schemas.microsoft.com/office/drawing/2014/main" id="{3A487CDD-75B6-283D-4D7E-FC532C2BE8A0}"/>
                  </a:ext>
                </a:extLst>
              </p:cNvPr>
              <p:cNvSpPr/>
              <p:nvPr/>
            </p:nvSpPr>
            <p:spPr>
              <a:xfrm>
                <a:off x="2776296" y="5047040"/>
                <a:ext cx="494030" cy="2185035"/>
              </a:xfrm>
              <a:custGeom>
                <a:avLst/>
                <a:gdLst/>
                <a:ahLst/>
                <a:cxnLst/>
                <a:rect l="l" t="t" r="r" b="b"/>
                <a:pathLst>
                  <a:path w="494029" h="2185034">
                    <a:moveTo>
                      <a:pt x="493540" y="0"/>
                    </a:moveTo>
                    <a:lnTo>
                      <a:pt x="2307" y="2174444"/>
                    </a:lnTo>
                    <a:lnTo>
                      <a:pt x="0" y="2184657"/>
                    </a:lnTo>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09CC7B15-56C1-9430-708E-7CBE073CB618}"/>
                  </a:ext>
                </a:extLst>
              </p:cNvPr>
              <p:cNvSpPr/>
              <p:nvPr/>
            </p:nvSpPr>
            <p:spPr>
              <a:xfrm>
                <a:off x="2729581" y="7210419"/>
                <a:ext cx="98425" cy="109220"/>
              </a:xfrm>
              <a:custGeom>
                <a:avLst/>
                <a:gdLst/>
                <a:ahLst/>
                <a:cxnLst/>
                <a:rect l="l" t="t" r="r" b="b"/>
                <a:pathLst>
                  <a:path w="98425" h="109220">
                    <a:moveTo>
                      <a:pt x="0" y="0"/>
                    </a:moveTo>
                    <a:lnTo>
                      <a:pt x="26868" y="109117"/>
                    </a:lnTo>
                    <a:lnTo>
                      <a:pt x="98049" y="22145"/>
                    </a:lnTo>
                    <a:lnTo>
                      <a:pt x="0" y="0"/>
                    </a:lnTo>
                    <a:close/>
                  </a:path>
                </a:pathLst>
              </a:custGeom>
              <a:solidFill>
                <a:srgbClr val="222C4A"/>
              </a:solidFill>
            </p:spPr>
            <p:txBody>
              <a:bodyPr wrap="square" lIns="0" tIns="0" rIns="0" bIns="0" rtlCol="0"/>
              <a:lstStyle/>
              <a:p>
                <a:endParaRPr/>
              </a:p>
            </p:txBody>
          </p:sp>
        </p:grpSp>
        <p:grpSp>
          <p:nvGrpSpPr>
            <p:cNvPr id="19" name="object 18">
              <a:extLst>
                <a:ext uri="{FF2B5EF4-FFF2-40B4-BE49-F238E27FC236}">
                  <a16:creationId xmlns:a16="http://schemas.microsoft.com/office/drawing/2014/main" id="{982CE0AE-1548-C8A5-FBCA-EE20BDF6A3F7}"/>
                </a:ext>
              </a:extLst>
            </p:cNvPr>
            <p:cNvGrpSpPr/>
            <p:nvPr/>
          </p:nvGrpSpPr>
          <p:grpSpPr>
            <a:xfrm>
              <a:off x="2034970" y="2263905"/>
              <a:ext cx="8624570" cy="2872740"/>
              <a:chOff x="3468784" y="4718767"/>
              <a:chExt cx="8624570" cy="2872740"/>
            </a:xfrm>
          </p:grpSpPr>
          <p:sp>
            <p:nvSpPr>
              <p:cNvPr id="20" name="object 19">
                <a:extLst>
                  <a:ext uri="{FF2B5EF4-FFF2-40B4-BE49-F238E27FC236}">
                    <a16:creationId xmlns:a16="http://schemas.microsoft.com/office/drawing/2014/main" id="{4BB2EDFC-6C22-7FFF-7345-BB7BD06A1231}"/>
                  </a:ext>
                </a:extLst>
              </p:cNvPr>
              <p:cNvSpPr/>
              <p:nvPr/>
            </p:nvSpPr>
            <p:spPr>
              <a:xfrm>
                <a:off x="3597576" y="4904698"/>
                <a:ext cx="2782570" cy="2502535"/>
              </a:xfrm>
              <a:custGeom>
                <a:avLst/>
                <a:gdLst/>
                <a:ahLst/>
                <a:cxnLst/>
                <a:rect l="l" t="t" r="r" b="b"/>
                <a:pathLst>
                  <a:path w="2782570" h="2502534">
                    <a:moveTo>
                      <a:pt x="0" y="0"/>
                    </a:moveTo>
                    <a:lnTo>
                      <a:pt x="2774486" y="2495492"/>
                    </a:lnTo>
                    <a:lnTo>
                      <a:pt x="2782271" y="2502494"/>
                    </a:lnTo>
                  </a:path>
                </a:pathLst>
              </a:custGeom>
              <a:ln w="20941">
                <a:solidFill>
                  <a:srgbClr val="222C4A"/>
                </a:solidFill>
              </a:ln>
            </p:spPr>
            <p:txBody>
              <a:bodyPr wrap="square" lIns="0" tIns="0" rIns="0" bIns="0" rtlCol="0"/>
              <a:lstStyle/>
              <a:p>
                <a:endParaRPr/>
              </a:p>
            </p:txBody>
          </p:sp>
          <p:sp>
            <p:nvSpPr>
              <p:cNvPr id="21" name="object 20">
                <a:extLst>
                  <a:ext uri="{FF2B5EF4-FFF2-40B4-BE49-F238E27FC236}">
                    <a16:creationId xmlns:a16="http://schemas.microsoft.com/office/drawing/2014/main" id="{FF5BBBEA-1890-6199-DB62-8F14CFA53BE1}"/>
                  </a:ext>
                </a:extLst>
              </p:cNvPr>
              <p:cNvSpPr/>
              <p:nvPr/>
            </p:nvSpPr>
            <p:spPr>
              <a:xfrm>
                <a:off x="6338445" y="7362833"/>
                <a:ext cx="108585" cy="104775"/>
              </a:xfrm>
              <a:custGeom>
                <a:avLst/>
                <a:gdLst/>
                <a:ahLst/>
                <a:cxnLst/>
                <a:rect l="l" t="t" r="r" b="b"/>
                <a:pathLst>
                  <a:path w="108585" h="104775">
                    <a:moveTo>
                      <a:pt x="67223" y="0"/>
                    </a:moveTo>
                    <a:lnTo>
                      <a:pt x="0" y="74730"/>
                    </a:lnTo>
                    <a:lnTo>
                      <a:pt x="108352" y="104583"/>
                    </a:lnTo>
                    <a:lnTo>
                      <a:pt x="67223" y="0"/>
                    </a:lnTo>
                    <a:close/>
                  </a:path>
                </a:pathLst>
              </a:custGeom>
              <a:solidFill>
                <a:srgbClr val="222C4A"/>
              </a:solidFill>
            </p:spPr>
            <p:txBody>
              <a:bodyPr wrap="square" lIns="0" tIns="0" rIns="0" bIns="0" rtlCol="0"/>
              <a:lstStyle/>
              <a:p>
                <a:endParaRPr/>
              </a:p>
            </p:txBody>
          </p:sp>
          <p:sp>
            <p:nvSpPr>
              <p:cNvPr id="22" name="object 21">
                <a:extLst>
                  <a:ext uri="{FF2B5EF4-FFF2-40B4-BE49-F238E27FC236}">
                    <a16:creationId xmlns:a16="http://schemas.microsoft.com/office/drawing/2014/main" id="{5962EC71-5C93-76DF-2F38-DC1621878E9D}"/>
                  </a:ext>
                </a:extLst>
              </p:cNvPr>
              <p:cNvSpPr/>
              <p:nvPr/>
            </p:nvSpPr>
            <p:spPr>
              <a:xfrm>
                <a:off x="8601790" y="4904583"/>
                <a:ext cx="3162300" cy="2463165"/>
              </a:xfrm>
              <a:custGeom>
                <a:avLst/>
                <a:gdLst/>
                <a:ahLst/>
                <a:cxnLst/>
                <a:rect l="l" t="t" r="r" b="b"/>
                <a:pathLst>
                  <a:path w="3162300" h="2463165">
                    <a:moveTo>
                      <a:pt x="0" y="0"/>
                    </a:moveTo>
                    <a:lnTo>
                      <a:pt x="3153677" y="2456279"/>
                    </a:lnTo>
                    <a:lnTo>
                      <a:pt x="3161938" y="2462713"/>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2815727C-608A-0549-638D-10099A59125C}"/>
                  </a:ext>
                </a:extLst>
              </p:cNvPr>
              <p:cNvSpPr/>
              <p:nvPr/>
            </p:nvSpPr>
            <p:spPr>
              <a:xfrm>
                <a:off x="11724564" y="7321211"/>
                <a:ext cx="110489" cy="101600"/>
              </a:xfrm>
              <a:custGeom>
                <a:avLst/>
                <a:gdLst/>
                <a:ahLst/>
                <a:cxnLst/>
                <a:rect l="l" t="t" r="r" b="b"/>
                <a:pathLst>
                  <a:path w="110490" h="101600">
                    <a:moveTo>
                      <a:pt x="61778" y="0"/>
                    </a:moveTo>
                    <a:lnTo>
                      <a:pt x="0" y="79306"/>
                    </a:lnTo>
                    <a:lnTo>
                      <a:pt x="110258" y="101420"/>
                    </a:lnTo>
                    <a:lnTo>
                      <a:pt x="61778"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C855B784-A6EA-76E4-D9DD-D160CC1A8424}"/>
                  </a:ext>
                </a:extLst>
              </p:cNvPr>
              <p:cNvSpPr/>
              <p:nvPr/>
            </p:nvSpPr>
            <p:spPr>
              <a:xfrm>
                <a:off x="3479255" y="5256457"/>
                <a:ext cx="1777364" cy="2236470"/>
              </a:xfrm>
              <a:custGeom>
                <a:avLst/>
                <a:gdLst/>
                <a:ahLst/>
                <a:cxnLst/>
                <a:rect l="l" t="t" r="r" b="b"/>
                <a:pathLst>
                  <a:path w="1777364" h="2236470">
                    <a:moveTo>
                      <a:pt x="0" y="0"/>
                    </a:moveTo>
                    <a:lnTo>
                      <a:pt x="1770745" y="2227906"/>
                    </a:lnTo>
                    <a:lnTo>
                      <a:pt x="1777260" y="2236103"/>
                    </a:lnTo>
                  </a:path>
                </a:pathLst>
              </a:custGeom>
              <a:ln w="20941">
                <a:solidFill>
                  <a:srgbClr val="222C4A"/>
                </a:solidFill>
              </a:ln>
            </p:spPr>
            <p:txBody>
              <a:bodyPr wrap="square" lIns="0" tIns="0" rIns="0" bIns="0" rtlCol="0"/>
              <a:lstStyle/>
              <a:p>
                <a:endParaRPr/>
              </a:p>
            </p:txBody>
          </p:sp>
          <p:sp>
            <p:nvSpPr>
              <p:cNvPr id="25" name="object 24">
                <a:extLst>
                  <a:ext uri="{FF2B5EF4-FFF2-40B4-BE49-F238E27FC236}">
                    <a16:creationId xmlns:a16="http://schemas.microsoft.com/office/drawing/2014/main" id="{C797F35C-90CA-AA91-9C89-B32C150C3835}"/>
                  </a:ext>
                </a:extLst>
              </p:cNvPr>
              <p:cNvSpPr/>
              <p:nvPr/>
            </p:nvSpPr>
            <p:spPr>
              <a:xfrm>
                <a:off x="5210658" y="7453092"/>
                <a:ext cx="102235" cy="110489"/>
              </a:xfrm>
              <a:custGeom>
                <a:avLst/>
                <a:gdLst/>
                <a:ahLst/>
                <a:cxnLst/>
                <a:rect l="l" t="t" r="r" b="b"/>
                <a:pathLst>
                  <a:path w="102235" h="110490">
                    <a:moveTo>
                      <a:pt x="78688" y="0"/>
                    </a:moveTo>
                    <a:lnTo>
                      <a:pt x="0" y="62542"/>
                    </a:lnTo>
                    <a:lnTo>
                      <a:pt x="101892" y="109965"/>
                    </a:lnTo>
                    <a:lnTo>
                      <a:pt x="78688" y="0"/>
                    </a:lnTo>
                    <a:close/>
                  </a:path>
                </a:pathLst>
              </a:custGeom>
              <a:solidFill>
                <a:srgbClr val="222C4A"/>
              </a:solidFill>
            </p:spPr>
            <p:txBody>
              <a:bodyPr wrap="square" lIns="0" tIns="0" rIns="0" bIns="0" rtlCol="0"/>
              <a:lstStyle/>
              <a:p>
                <a:endParaRPr/>
              </a:p>
            </p:txBody>
          </p:sp>
          <p:sp>
            <p:nvSpPr>
              <p:cNvPr id="26" name="object 25">
                <a:extLst>
                  <a:ext uri="{FF2B5EF4-FFF2-40B4-BE49-F238E27FC236}">
                    <a16:creationId xmlns:a16="http://schemas.microsoft.com/office/drawing/2014/main" id="{4B257583-0E05-7F18-6DF3-095E8F2AD887}"/>
                  </a:ext>
                </a:extLst>
              </p:cNvPr>
              <p:cNvSpPr/>
              <p:nvPr/>
            </p:nvSpPr>
            <p:spPr>
              <a:xfrm>
                <a:off x="5225790" y="5132335"/>
                <a:ext cx="355600" cy="2012950"/>
              </a:xfrm>
              <a:custGeom>
                <a:avLst/>
                <a:gdLst/>
                <a:ahLst/>
                <a:cxnLst/>
                <a:rect l="l" t="t" r="r" b="b"/>
                <a:pathLst>
                  <a:path w="355600" h="2012950">
                    <a:moveTo>
                      <a:pt x="355264" y="0"/>
                    </a:moveTo>
                    <a:lnTo>
                      <a:pt x="1820" y="2002439"/>
                    </a:lnTo>
                    <a:lnTo>
                      <a:pt x="0" y="2012750"/>
                    </a:lnTo>
                  </a:path>
                </a:pathLst>
              </a:custGeom>
              <a:ln w="20941">
                <a:solidFill>
                  <a:srgbClr val="222C4A"/>
                </a:solidFill>
              </a:ln>
            </p:spPr>
            <p:txBody>
              <a:bodyPr wrap="square" lIns="0" tIns="0" rIns="0" bIns="0" rtlCol="0"/>
              <a:lstStyle/>
              <a:p>
                <a:endParaRPr/>
              </a:p>
            </p:txBody>
          </p:sp>
          <p:sp>
            <p:nvSpPr>
              <p:cNvPr id="27" name="object 26">
                <a:extLst>
                  <a:ext uri="{FF2B5EF4-FFF2-40B4-BE49-F238E27FC236}">
                    <a16:creationId xmlns:a16="http://schemas.microsoft.com/office/drawing/2014/main" id="{0E5617FF-8F24-A389-CFD9-0FF600A56ABA}"/>
                  </a:ext>
                </a:extLst>
              </p:cNvPr>
              <p:cNvSpPr/>
              <p:nvPr/>
            </p:nvSpPr>
            <p:spPr>
              <a:xfrm>
                <a:off x="5178114" y="7126034"/>
                <a:ext cx="99060" cy="107950"/>
              </a:xfrm>
              <a:custGeom>
                <a:avLst/>
                <a:gdLst/>
                <a:ahLst/>
                <a:cxnLst/>
                <a:rect l="l" t="t" r="r" b="b"/>
                <a:pathLst>
                  <a:path w="99060" h="107950">
                    <a:moveTo>
                      <a:pt x="0" y="0"/>
                    </a:moveTo>
                    <a:lnTo>
                      <a:pt x="32019" y="107724"/>
                    </a:lnTo>
                    <a:lnTo>
                      <a:pt x="98991" y="17475"/>
                    </a:lnTo>
                    <a:lnTo>
                      <a:pt x="0" y="0"/>
                    </a:lnTo>
                    <a:close/>
                  </a:path>
                </a:pathLst>
              </a:custGeom>
              <a:solidFill>
                <a:srgbClr val="222C4A"/>
              </a:solidFill>
            </p:spPr>
            <p:txBody>
              <a:bodyPr wrap="square" lIns="0" tIns="0" rIns="0" bIns="0" rtlCol="0"/>
              <a:lstStyle/>
              <a:p>
                <a:endParaRPr/>
              </a:p>
            </p:txBody>
          </p:sp>
          <p:sp>
            <p:nvSpPr>
              <p:cNvPr id="28" name="object 27">
                <a:extLst>
                  <a:ext uri="{FF2B5EF4-FFF2-40B4-BE49-F238E27FC236}">
                    <a16:creationId xmlns:a16="http://schemas.microsoft.com/office/drawing/2014/main" id="{9164E05E-445F-2AB1-8A40-9123E7CEED47}"/>
                  </a:ext>
                </a:extLst>
              </p:cNvPr>
              <p:cNvSpPr/>
              <p:nvPr/>
            </p:nvSpPr>
            <p:spPr>
              <a:xfrm>
                <a:off x="11289394" y="4930562"/>
                <a:ext cx="759460" cy="2221230"/>
              </a:xfrm>
              <a:custGeom>
                <a:avLst/>
                <a:gdLst/>
                <a:ahLst/>
                <a:cxnLst/>
                <a:rect l="l" t="t" r="r" b="b"/>
                <a:pathLst>
                  <a:path w="759459"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29" name="object 28">
                <a:extLst>
                  <a:ext uri="{FF2B5EF4-FFF2-40B4-BE49-F238E27FC236}">
                    <a16:creationId xmlns:a16="http://schemas.microsoft.com/office/drawing/2014/main" id="{7D9F10B6-ADE9-B413-0228-E8C9A51E4406}"/>
                  </a:ext>
                </a:extLst>
              </p:cNvPr>
              <p:cNvSpPr/>
              <p:nvPr/>
            </p:nvSpPr>
            <p:spPr>
              <a:xfrm>
                <a:off x="11997749" y="7125060"/>
                <a:ext cx="95250" cy="111760"/>
              </a:xfrm>
              <a:custGeom>
                <a:avLst/>
                <a:gdLst/>
                <a:ahLst/>
                <a:cxnLst/>
                <a:rect l="l" t="t" r="r" b="b"/>
                <a:pathLst>
                  <a:path w="95250" h="111759">
                    <a:moveTo>
                      <a:pt x="95075" y="0"/>
                    </a:moveTo>
                    <a:lnTo>
                      <a:pt x="0" y="32522"/>
                    </a:lnTo>
                    <a:lnTo>
                      <a:pt x="79997" y="111378"/>
                    </a:lnTo>
                    <a:lnTo>
                      <a:pt x="95075" y="0"/>
                    </a:lnTo>
                    <a:close/>
                  </a:path>
                </a:pathLst>
              </a:custGeom>
              <a:solidFill>
                <a:srgbClr val="222C4A"/>
              </a:solidFill>
            </p:spPr>
            <p:txBody>
              <a:bodyPr wrap="square" lIns="0" tIns="0" rIns="0" bIns="0" rtlCol="0"/>
              <a:lstStyle/>
              <a:p>
                <a:endParaRPr/>
              </a:p>
            </p:txBody>
          </p:sp>
          <p:sp>
            <p:nvSpPr>
              <p:cNvPr id="30" name="object 29">
                <a:extLst>
                  <a:ext uri="{FF2B5EF4-FFF2-40B4-BE49-F238E27FC236}">
                    <a16:creationId xmlns:a16="http://schemas.microsoft.com/office/drawing/2014/main" id="{163B4B47-50D4-5C0C-70F4-EBE69D032EA4}"/>
                  </a:ext>
                </a:extLst>
              </p:cNvPr>
              <p:cNvSpPr/>
              <p:nvPr/>
            </p:nvSpPr>
            <p:spPr>
              <a:xfrm>
                <a:off x="4394008" y="4969341"/>
                <a:ext cx="4673600" cy="2477135"/>
              </a:xfrm>
              <a:custGeom>
                <a:avLst/>
                <a:gdLst/>
                <a:ahLst/>
                <a:cxnLst/>
                <a:rect l="l" t="t" r="r" b="b"/>
                <a:pathLst>
                  <a:path w="4673600" h="2477134">
                    <a:moveTo>
                      <a:pt x="0" y="0"/>
                    </a:moveTo>
                    <a:lnTo>
                      <a:pt x="9251" y="4903"/>
                    </a:lnTo>
                    <a:lnTo>
                      <a:pt x="4673196" y="2476959"/>
                    </a:lnTo>
                  </a:path>
                </a:pathLst>
              </a:custGeom>
              <a:ln w="20941">
                <a:solidFill>
                  <a:srgbClr val="222C4A"/>
                </a:solidFill>
              </a:ln>
            </p:spPr>
            <p:txBody>
              <a:bodyPr wrap="square" lIns="0" tIns="0" rIns="0" bIns="0" rtlCol="0"/>
              <a:lstStyle/>
              <a:p>
                <a:endParaRPr/>
              </a:p>
            </p:txBody>
          </p:sp>
          <p:sp>
            <p:nvSpPr>
              <p:cNvPr id="31" name="object 30">
                <a:extLst>
                  <a:ext uri="{FF2B5EF4-FFF2-40B4-BE49-F238E27FC236}">
                    <a16:creationId xmlns:a16="http://schemas.microsoft.com/office/drawing/2014/main" id="{DF0D2854-E1C9-B36F-1406-D641A6A301C0}"/>
                  </a:ext>
                </a:extLst>
              </p:cNvPr>
              <p:cNvSpPr/>
              <p:nvPr/>
            </p:nvSpPr>
            <p:spPr>
              <a:xfrm>
                <a:off x="4314444" y="4927169"/>
                <a:ext cx="112395" cy="92075"/>
              </a:xfrm>
              <a:custGeom>
                <a:avLst/>
                <a:gdLst/>
                <a:ahLst/>
                <a:cxnLst/>
                <a:rect l="l" t="t" r="r" b="b"/>
                <a:pathLst>
                  <a:path w="112395" h="92075">
                    <a:moveTo>
                      <a:pt x="0" y="0"/>
                    </a:moveTo>
                    <a:lnTo>
                      <a:pt x="65275" y="91484"/>
                    </a:lnTo>
                    <a:lnTo>
                      <a:pt x="112352" y="2670"/>
                    </a:lnTo>
                    <a:lnTo>
                      <a:pt x="0" y="0"/>
                    </a:lnTo>
                    <a:close/>
                  </a:path>
                </a:pathLst>
              </a:custGeom>
              <a:solidFill>
                <a:srgbClr val="222C4A"/>
              </a:solidFill>
            </p:spPr>
            <p:txBody>
              <a:bodyPr wrap="square" lIns="0" tIns="0" rIns="0" bIns="0" rtlCol="0"/>
              <a:lstStyle/>
              <a:p>
                <a:endParaRPr/>
              </a:p>
            </p:txBody>
          </p:sp>
          <p:sp>
            <p:nvSpPr>
              <p:cNvPr id="32" name="object 31">
                <a:extLst>
                  <a:ext uri="{FF2B5EF4-FFF2-40B4-BE49-F238E27FC236}">
                    <a16:creationId xmlns:a16="http://schemas.microsoft.com/office/drawing/2014/main" id="{F6E536FC-F39F-621F-B0B0-4142232ECD96}"/>
                  </a:ext>
                </a:extLst>
              </p:cNvPr>
              <p:cNvSpPr/>
              <p:nvPr/>
            </p:nvSpPr>
            <p:spPr>
              <a:xfrm>
                <a:off x="6230951" y="5009365"/>
                <a:ext cx="3922395" cy="2264410"/>
              </a:xfrm>
              <a:custGeom>
                <a:avLst/>
                <a:gdLst/>
                <a:ahLst/>
                <a:cxnLst/>
                <a:rect l="l" t="t" r="r" b="b"/>
                <a:pathLst>
                  <a:path w="3922395" h="2264409">
                    <a:moveTo>
                      <a:pt x="0" y="0"/>
                    </a:moveTo>
                    <a:lnTo>
                      <a:pt x="3912763" y="2258993"/>
                    </a:lnTo>
                    <a:lnTo>
                      <a:pt x="3921831" y="2264229"/>
                    </a:lnTo>
                  </a:path>
                </a:pathLst>
              </a:custGeom>
              <a:ln w="20941">
                <a:solidFill>
                  <a:srgbClr val="222C4A"/>
                </a:solidFill>
              </a:ln>
            </p:spPr>
            <p:txBody>
              <a:bodyPr wrap="square" lIns="0" tIns="0" rIns="0" bIns="0" rtlCol="0"/>
              <a:lstStyle/>
              <a:p>
                <a:endParaRPr/>
              </a:p>
            </p:txBody>
          </p:sp>
          <p:sp>
            <p:nvSpPr>
              <p:cNvPr id="33" name="object 32">
                <a:extLst>
                  <a:ext uri="{FF2B5EF4-FFF2-40B4-BE49-F238E27FC236}">
                    <a16:creationId xmlns:a16="http://schemas.microsoft.com/office/drawing/2014/main" id="{7C17965E-EE18-01CB-909E-3DDD2DA6A86D}"/>
                  </a:ext>
                </a:extLst>
              </p:cNvPr>
              <p:cNvSpPr/>
              <p:nvPr/>
            </p:nvSpPr>
            <p:spPr>
              <a:xfrm>
                <a:off x="10118592" y="7224827"/>
                <a:ext cx="112395" cy="93980"/>
              </a:xfrm>
              <a:custGeom>
                <a:avLst/>
                <a:gdLst/>
                <a:ahLst/>
                <a:cxnLst/>
                <a:rect l="l" t="t" r="r" b="b"/>
                <a:pathLst>
                  <a:path w="112395" h="93979">
                    <a:moveTo>
                      <a:pt x="50260" y="0"/>
                    </a:moveTo>
                    <a:lnTo>
                      <a:pt x="0" y="87054"/>
                    </a:lnTo>
                    <a:lnTo>
                      <a:pt x="112185" y="93787"/>
                    </a:lnTo>
                    <a:lnTo>
                      <a:pt x="50260" y="0"/>
                    </a:lnTo>
                    <a:close/>
                  </a:path>
                </a:pathLst>
              </a:custGeom>
              <a:solidFill>
                <a:srgbClr val="222C4A"/>
              </a:solidFill>
            </p:spPr>
            <p:txBody>
              <a:bodyPr wrap="square" lIns="0" tIns="0" rIns="0" bIns="0" rtlCol="0"/>
              <a:lstStyle/>
              <a:p>
                <a:endParaRPr/>
              </a:p>
            </p:txBody>
          </p:sp>
          <p:sp>
            <p:nvSpPr>
              <p:cNvPr id="34" name="object 33">
                <a:extLst>
                  <a:ext uri="{FF2B5EF4-FFF2-40B4-BE49-F238E27FC236}">
                    <a16:creationId xmlns:a16="http://schemas.microsoft.com/office/drawing/2014/main" id="{13A17944-DDD2-6E24-0A96-F6742E028C75}"/>
                  </a:ext>
                </a:extLst>
              </p:cNvPr>
              <p:cNvSpPr/>
              <p:nvPr/>
            </p:nvSpPr>
            <p:spPr>
              <a:xfrm>
                <a:off x="8050286" y="4904583"/>
                <a:ext cx="3099435" cy="2524760"/>
              </a:xfrm>
              <a:custGeom>
                <a:avLst/>
                <a:gdLst/>
                <a:ahLst/>
                <a:cxnLst/>
                <a:rect l="l" t="t" r="r" b="b"/>
                <a:pathLst>
                  <a:path w="3099434" h="2524759">
                    <a:moveTo>
                      <a:pt x="3098903" y="0"/>
                    </a:moveTo>
                    <a:lnTo>
                      <a:pt x="8117" y="2518140"/>
                    </a:lnTo>
                    <a:lnTo>
                      <a:pt x="0" y="2524754"/>
                    </a:lnTo>
                  </a:path>
                </a:pathLst>
              </a:custGeom>
              <a:ln w="20941">
                <a:solidFill>
                  <a:srgbClr val="222C4A"/>
                </a:solidFill>
              </a:ln>
            </p:spPr>
            <p:txBody>
              <a:bodyPr wrap="square" lIns="0" tIns="0" rIns="0" bIns="0" rtlCol="0"/>
              <a:lstStyle/>
              <a:p>
                <a:endParaRPr/>
              </a:p>
            </p:txBody>
          </p:sp>
          <p:sp>
            <p:nvSpPr>
              <p:cNvPr id="35" name="object 34">
                <a:extLst>
                  <a:ext uri="{FF2B5EF4-FFF2-40B4-BE49-F238E27FC236}">
                    <a16:creationId xmlns:a16="http://schemas.microsoft.com/office/drawing/2014/main" id="{38109B22-D6E8-A30B-6917-F3F48D414AB8}"/>
                  </a:ext>
                </a:extLst>
              </p:cNvPr>
              <p:cNvSpPr/>
              <p:nvPr/>
            </p:nvSpPr>
            <p:spPr>
              <a:xfrm>
                <a:off x="7980458" y="7383754"/>
                <a:ext cx="109855" cy="102870"/>
              </a:xfrm>
              <a:custGeom>
                <a:avLst/>
                <a:gdLst/>
                <a:ahLst/>
                <a:cxnLst/>
                <a:rect l="l" t="t" r="r" b="b"/>
                <a:pathLst>
                  <a:path w="109854" h="102870">
                    <a:moveTo>
                      <a:pt x="46187" y="0"/>
                    </a:moveTo>
                    <a:lnTo>
                      <a:pt x="0" y="102457"/>
                    </a:lnTo>
                    <a:lnTo>
                      <a:pt x="109682" y="77934"/>
                    </a:lnTo>
                    <a:lnTo>
                      <a:pt x="46187" y="0"/>
                    </a:lnTo>
                    <a:close/>
                  </a:path>
                </a:pathLst>
              </a:custGeom>
              <a:solidFill>
                <a:srgbClr val="222C4A"/>
              </a:solidFill>
            </p:spPr>
            <p:txBody>
              <a:bodyPr wrap="square" lIns="0" tIns="0" rIns="0" bIns="0" rtlCol="0"/>
              <a:lstStyle/>
              <a:p>
                <a:endParaRPr/>
              </a:p>
            </p:txBody>
          </p:sp>
          <p:sp>
            <p:nvSpPr>
              <p:cNvPr id="36" name="object 35">
                <a:extLst>
                  <a:ext uri="{FF2B5EF4-FFF2-40B4-BE49-F238E27FC236}">
                    <a16:creationId xmlns:a16="http://schemas.microsoft.com/office/drawing/2014/main" id="{5A409ED8-3203-B3CF-8350-32D13E0ADE24}"/>
                  </a:ext>
                </a:extLst>
              </p:cNvPr>
              <p:cNvSpPr/>
              <p:nvPr/>
            </p:nvSpPr>
            <p:spPr>
              <a:xfrm>
                <a:off x="8094993" y="4729238"/>
                <a:ext cx="304800" cy="2772410"/>
              </a:xfrm>
              <a:custGeom>
                <a:avLst/>
                <a:gdLst/>
                <a:ahLst/>
                <a:cxnLst/>
                <a:rect l="l" t="t" r="r" b="b"/>
                <a:pathLst>
                  <a:path w="304800" h="2772409">
                    <a:moveTo>
                      <a:pt x="304311" y="0"/>
                    </a:moveTo>
                    <a:lnTo>
                      <a:pt x="1142" y="2761765"/>
                    </a:lnTo>
                    <a:lnTo>
                      <a:pt x="0" y="2772173"/>
                    </a:lnTo>
                  </a:path>
                </a:pathLst>
              </a:custGeom>
              <a:ln w="20941">
                <a:solidFill>
                  <a:srgbClr val="222C4A"/>
                </a:solidFill>
              </a:ln>
            </p:spPr>
            <p:txBody>
              <a:bodyPr wrap="square" lIns="0" tIns="0" rIns="0" bIns="0" rtlCol="0"/>
              <a:lstStyle/>
              <a:p>
                <a:endParaRPr/>
              </a:p>
            </p:txBody>
          </p:sp>
          <p:sp>
            <p:nvSpPr>
              <p:cNvPr id="37" name="object 36">
                <a:extLst>
                  <a:ext uri="{FF2B5EF4-FFF2-40B4-BE49-F238E27FC236}">
                    <a16:creationId xmlns:a16="http://schemas.microsoft.com/office/drawing/2014/main" id="{96B4602E-7883-69E3-6CB8-58AB2DD435DB}"/>
                  </a:ext>
                </a:extLst>
              </p:cNvPr>
              <p:cNvSpPr/>
              <p:nvPr/>
            </p:nvSpPr>
            <p:spPr>
              <a:xfrm>
                <a:off x="8046184" y="7485520"/>
                <a:ext cx="100330" cy="105410"/>
              </a:xfrm>
              <a:custGeom>
                <a:avLst/>
                <a:gdLst/>
                <a:ahLst/>
                <a:cxnLst/>
                <a:rect l="l" t="t" r="r" b="b"/>
                <a:pathLst>
                  <a:path w="100329" h="105409">
                    <a:moveTo>
                      <a:pt x="0" y="0"/>
                    </a:moveTo>
                    <a:lnTo>
                      <a:pt x="38983" y="105399"/>
                    </a:lnTo>
                    <a:lnTo>
                      <a:pt x="99913" y="10963"/>
                    </a:lnTo>
                    <a:lnTo>
                      <a:pt x="0" y="0"/>
                    </a:lnTo>
                    <a:close/>
                  </a:path>
                </a:pathLst>
              </a:custGeom>
              <a:solidFill>
                <a:srgbClr val="222C4A"/>
              </a:solidFill>
            </p:spPr>
            <p:txBody>
              <a:bodyPr wrap="square" lIns="0" tIns="0" rIns="0" bIns="0" rtlCol="0"/>
              <a:lstStyle/>
              <a:p>
                <a:endParaRPr/>
              </a:p>
            </p:txBody>
          </p:sp>
          <p:sp>
            <p:nvSpPr>
              <p:cNvPr id="38" name="object 37">
                <a:extLst>
                  <a:ext uri="{FF2B5EF4-FFF2-40B4-BE49-F238E27FC236}">
                    <a16:creationId xmlns:a16="http://schemas.microsoft.com/office/drawing/2014/main" id="{29F812BA-CF38-0F98-2ADF-B0AAC2C04311}"/>
                  </a:ext>
                </a:extLst>
              </p:cNvPr>
              <p:cNvSpPr/>
              <p:nvPr/>
            </p:nvSpPr>
            <p:spPr>
              <a:xfrm>
                <a:off x="6129943" y="4932090"/>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39" name="object 38">
                <a:extLst>
                  <a:ext uri="{FF2B5EF4-FFF2-40B4-BE49-F238E27FC236}">
                    <a16:creationId xmlns:a16="http://schemas.microsoft.com/office/drawing/2014/main" id="{EB55ACEB-88E3-35C5-9EC9-078E4FE29E48}"/>
                  </a:ext>
                </a:extLst>
              </p:cNvPr>
              <p:cNvSpPr/>
              <p:nvPr/>
            </p:nvSpPr>
            <p:spPr>
              <a:xfrm>
                <a:off x="6083647" y="4844658"/>
                <a:ext cx="97790" cy="109855"/>
              </a:xfrm>
              <a:custGeom>
                <a:avLst/>
                <a:gdLst/>
                <a:ahLst/>
                <a:cxnLst/>
                <a:rect l="l" t="t" r="r" b="b"/>
                <a:pathLst>
                  <a:path w="97789"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0" name="object 39">
                <a:extLst>
                  <a:ext uri="{FF2B5EF4-FFF2-40B4-BE49-F238E27FC236}">
                    <a16:creationId xmlns:a16="http://schemas.microsoft.com/office/drawing/2014/main" id="{1D4B686D-B7E3-EBE5-21C3-9450F6BDE937}"/>
                  </a:ext>
                </a:extLst>
              </p:cNvPr>
              <p:cNvSpPr/>
              <p:nvPr/>
            </p:nvSpPr>
            <p:spPr>
              <a:xfrm>
                <a:off x="6262686" y="5024534"/>
                <a:ext cx="1585595" cy="2403475"/>
              </a:xfrm>
              <a:custGeom>
                <a:avLst/>
                <a:gdLst/>
                <a:ahLst/>
                <a:cxnLst/>
                <a:rect l="l" t="t" r="r" b="b"/>
                <a:pathLst>
                  <a:path w="1585595" h="2403475">
                    <a:moveTo>
                      <a:pt x="0" y="0"/>
                    </a:moveTo>
                    <a:lnTo>
                      <a:pt x="5766" y="8740"/>
                    </a:lnTo>
                    <a:lnTo>
                      <a:pt x="1585388" y="2403174"/>
                    </a:lnTo>
                  </a:path>
                </a:pathLst>
              </a:custGeom>
              <a:ln w="20941">
                <a:solidFill>
                  <a:srgbClr val="222C4A"/>
                </a:solidFill>
              </a:ln>
            </p:spPr>
            <p:txBody>
              <a:bodyPr wrap="square" lIns="0" tIns="0" rIns="0" bIns="0" rtlCol="0"/>
              <a:lstStyle/>
              <a:p>
                <a:endParaRPr/>
              </a:p>
            </p:txBody>
          </p:sp>
          <p:sp>
            <p:nvSpPr>
              <p:cNvPr id="41" name="object 40">
                <a:extLst>
                  <a:ext uri="{FF2B5EF4-FFF2-40B4-BE49-F238E27FC236}">
                    <a16:creationId xmlns:a16="http://schemas.microsoft.com/office/drawing/2014/main" id="{434FAC37-491C-6A05-8097-0026B6E46178}"/>
                  </a:ext>
                </a:extLst>
              </p:cNvPr>
              <p:cNvSpPr/>
              <p:nvPr/>
            </p:nvSpPr>
            <p:spPr>
              <a:xfrm>
                <a:off x="6213098" y="4949367"/>
                <a:ext cx="97790" cy="111760"/>
              </a:xfrm>
              <a:custGeom>
                <a:avLst/>
                <a:gdLst/>
                <a:ahLst/>
                <a:cxnLst/>
                <a:rect l="l" t="t" r="r" b="b"/>
                <a:pathLst>
                  <a:path w="97789" h="111760">
                    <a:moveTo>
                      <a:pt x="0" y="0"/>
                    </a:moveTo>
                    <a:lnTo>
                      <a:pt x="13392" y="111577"/>
                    </a:lnTo>
                    <a:lnTo>
                      <a:pt x="97305" y="56228"/>
                    </a:lnTo>
                    <a:lnTo>
                      <a:pt x="0" y="0"/>
                    </a:lnTo>
                    <a:close/>
                  </a:path>
                </a:pathLst>
              </a:custGeom>
              <a:solidFill>
                <a:srgbClr val="222C4A"/>
              </a:solidFill>
            </p:spPr>
            <p:txBody>
              <a:bodyPr wrap="square" lIns="0" tIns="0" rIns="0" bIns="0" rtlCol="0"/>
              <a:lstStyle/>
              <a:p>
                <a:endParaRPr/>
              </a:p>
            </p:txBody>
          </p:sp>
          <p:sp>
            <p:nvSpPr>
              <p:cNvPr id="42" name="object 41">
                <a:extLst>
                  <a:ext uri="{FF2B5EF4-FFF2-40B4-BE49-F238E27FC236}">
                    <a16:creationId xmlns:a16="http://schemas.microsoft.com/office/drawing/2014/main" id="{BF89AE6F-999E-9F8F-0E41-1485253A2280}"/>
                  </a:ext>
                </a:extLst>
              </p:cNvPr>
              <p:cNvSpPr/>
              <p:nvPr/>
            </p:nvSpPr>
            <p:spPr>
              <a:xfrm>
                <a:off x="8614705" y="4952142"/>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43" name="object 42">
                <a:extLst>
                  <a:ext uri="{FF2B5EF4-FFF2-40B4-BE49-F238E27FC236}">
                    <a16:creationId xmlns:a16="http://schemas.microsoft.com/office/drawing/2014/main" id="{BA741C6A-C4DA-0BC3-5A32-D720E1567895}"/>
                  </a:ext>
                </a:extLst>
              </p:cNvPr>
              <p:cNvSpPr/>
              <p:nvPr/>
            </p:nvSpPr>
            <p:spPr>
              <a:xfrm>
                <a:off x="8568409" y="4864710"/>
                <a:ext cx="97790" cy="109855"/>
              </a:xfrm>
              <a:custGeom>
                <a:avLst/>
                <a:gdLst/>
                <a:ahLst/>
                <a:cxnLst/>
                <a:rect l="l" t="t" r="r" b="b"/>
                <a:pathLst>
                  <a:path w="97790"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4" name="object 43">
                <a:extLst>
                  <a:ext uri="{FF2B5EF4-FFF2-40B4-BE49-F238E27FC236}">
                    <a16:creationId xmlns:a16="http://schemas.microsoft.com/office/drawing/2014/main" id="{DF00236A-3795-47D7-F8EB-8CCB572603D4}"/>
                  </a:ext>
                </a:extLst>
              </p:cNvPr>
              <p:cNvSpPr/>
              <p:nvPr/>
            </p:nvSpPr>
            <p:spPr>
              <a:xfrm>
                <a:off x="3583964" y="5008140"/>
                <a:ext cx="759460" cy="2221230"/>
              </a:xfrm>
              <a:custGeom>
                <a:avLst/>
                <a:gdLst/>
                <a:ahLst/>
                <a:cxnLst/>
                <a:rect l="l" t="t" r="r" b="b"/>
                <a:pathLst>
                  <a:path w="759460"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45" name="object 44">
                <a:extLst>
                  <a:ext uri="{FF2B5EF4-FFF2-40B4-BE49-F238E27FC236}">
                    <a16:creationId xmlns:a16="http://schemas.microsoft.com/office/drawing/2014/main" id="{C89D064C-E7E5-AF52-D2DD-043FD848D60B}"/>
                  </a:ext>
                </a:extLst>
              </p:cNvPr>
              <p:cNvSpPr/>
              <p:nvPr/>
            </p:nvSpPr>
            <p:spPr>
              <a:xfrm>
                <a:off x="4292309" y="7202639"/>
                <a:ext cx="95250" cy="111760"/>
              </a:xfrm>
              <a:custGeom>
                <a:avLst/>
                <a:gdLst/>
                <a:ahLst/>
                <a:cxnLst/>
                <a:rect l="l" t="t" r="r" b="b"/>
                <a:pathLst>
                  <a:path w="95250" h="111759">
                    <a:moveTo>
                      <a:pt x="95117" y="0"/>
                    </a:moveTo>
                    <a:lnTo>
                      <a:pt x="0" y="32522"/>
                    </a:lnTo>
                    <a:lnTo>
                      <a:pt x="80081" y="111378"/>
                    </a:lnTo>
                    <a:lnTo>
                      <a:pt x="95117" y="0"/>
                    </a:lnTo>
                    <a:close/>
                  </a:path>
                </a:pathLst>
              </a:custGeom>
              <a:solidFill>
                <a:srgbClr val="222C4A"/>
              </a:solidFill>
            </p:spPr>
            <p:txBody>
              <a:bodyPr wrap="square" lIns="0" tIns="0" rIns="0" bIns="0" rtlCol="0"/>
              <a:lstStyle/>
              <a:p>
                <a:endParaRPr/>
              </a:p>
            </p:txBody>
          </p:sp>
        </p:grpSp>
      </p:grpSp>
      <p:sp>
        <p:nvSpPr>
          <p:cNvPr id="48" name="TextBox 47">
            <a:extLst>
              <a:ext uri="{FF2B5EF4-FFF2-40B4-BE49-F238E27FC236}">
                <a16:creationId xmlns:a16="http://schemas.microsoft.com/office/drawing/2014/main" id="{51F35555-7DB3-0E9F-0CC1-8DCCA40D364A}"/>
              </a:ext>
            </a:extLst>
          </p:cNvPr>
          <p:cNvSpPr txBox="1"/>
          <p:nvPr/>
        </p:nvSpPr>
        <p:spPr>
          <a:xfrm>
            <a:off x="7325250" y="1373218"/>
            <a:ext cx="4706595" cy="4154984"/>
          </a:xfrm>
          <a:prstGeom prst="rect">
            <a:avLst/>
          </a:prstGeom>
          <a:noFill/>
        </p:spPr>
        <p:txBody>
          <a:bodyPr wrap="square">
            <a:spAutoFit/>
          </a:bodyPr>
          <a:lstStyle/>
          <a:p>
            <a:pPr marL="342900" indent="-342900">
              <a:buFont typeface="Arial" panose="020B0604020202020204" pitchFamily="34" charset="0"/>
              <a:buChar char="•"/>
            </a:pPr>
            <a:r>
              <a:rPr lang="en-US" sz="3200" dirty="0">
                <a:effectLst/>
              </a:rPr>
              <a:t>Performance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3200" dirty="0"/>
              <a:t>Many servers</a:t>
            </a:r>
            <a:endParaRPr lang="en-US" sz="3200" dirty="0">
              <a:effectLst/>
            </a:endParaRPr>
          </a:p>
          <a:p>
            <a:pPr marL="342900" indent="-342900">
              <a:buFont typeface="Arial" panose="020B0604020202020204" pitchFamily="34" charset="0"/>
              <a:buChar char="•"/>
            </a:pPr>
            <a:endParaRPr lang="en-US" sz="2400" dirty="0">
              <a:effectLst/>
            </a:endParaRPr>
          </a:p>
          <a:p>
            <a:pPr marL="342900" indent="-342900">
              <a:buFont typeface="Arial" panose="020B0604020202020204" pitchFamily="34" charset="0"/>
              <a:buChar char="•"/>
            </a:pPr>
            <a:r>
              <a:rPr lang="en-US" sz="3200" dirty="0">
                <a:effectLst/>
              </a:rPr>
              <a:t>Fault tolerance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3200" dirty="0"/>
              <a:t>Replication</a:t>
            </a:r>
          </a:p>
          <a:p>
            <a:pPr marL="342900" indent="-342900">
              <a:buFont typeface="Arial" panose="020B0604020202020204" pitchFamily="34" charset="0"/>
              <a:buChar char="•"/>
            </a:pPr>
            <a:endParaRPr lang="en-US" sz="2400" dirty="0">
              <a:effectLst/>
            </a:endParaRPr>
          </a:p>
          <a:p>
            <a:pPr marL="342900" indent="-342900">
              <a:buFont typeface="Arial" panose="020B0604020202020204" pitchFamily="34" charset="0"/>
              <a:buChar char="•"/>
            </a:pPr>
            <a:r>
              <a:rPr lang="en-US" sz="3200" dirty="0">
                <a:effectLst/>
              </a:rPr>
              <a:t>Better Consistency</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2" end="2"/>
                                            </p:txEl>
                                          </p:spTgt>
                                        </p:tgtEl>
                                        <p:attrNameLst>
                                          <p:attrName>style.visibility</p:attrName>
                                        </p:attrNameLst>
                                      </p:cBhvr>
                                      <p:to>
                                        <p:strVal val="visible"/>
                                      </p:to>
                                    </p:set>
                                    <p:animEffect transition="in" filter="dissolve">
                                      <p:cBhvr>
                                        <p:cTn id="7" dur="500"/>
                                        <p:tgtEl>
                                          <p:spTgt spid="48">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8">
                                            <p:txEl>
                                              <p:pRg st="4" end="4"/>
                                            </p:txEl>
                                          </p:spTgt>
                                        </p:tgtEl>
                                        <p:attrNameLst>
                                          <p:attrName>style.visibility</p:attrName>
                                        </p:attrNameLst>
                                      </p:cBhvr>
                                      <p:to>
                                        <p:strVal val="visible"/>
                                      </p:to>
                                    </p:set>
                                    <p:animEffect transition="in" filter="dissolve">
                                      <p:cBhvr>
                                        <p:cTn id="12" dur="500"/>
                                        <p:tgtEl>
                                          <p:spTgt spid="48">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8">
                                            <p:txEl>
                                              <p:pRg st="6" end="6"/>
                                            </p:txEl>
                                          </p:spTgt>
                                        </p:tgtEl>
                                        <p:attrNameLst>
                                          <p:attrName>style.visibility</p:attrName>
                                        </p:attrNameLst>
                                      </p:cBhvr>
                                      <p:to>
                                        <p:strVal val="visible"/>
                                      </p:to>
                                    </p:set>
                                    <p:animEffect transition="in" filter="dissolve">
                                      <p:cBhvr>
                                        <p:cTn id="17" dur="500"/>
                                        <p:tgtEl>
                                          <p:spTgt spid="48">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48">
                                            <p:txEl>
                                              <p:pRg st="8" end="8"/>
                                            </p:txEl>
                                          </p:spTgt>
                                        </p:tgtEl>
                                        <p:attrNameLst>
                                          <p:attrName>style.visibility</p:attrName>
                                        </p:attrNameLst>
                                      </p:cBhvr>
                                      <p:to>
                                        <p:strVal val="visible"/>
                                      </p:to>
                                    </p:set>
                                    <p:animEffect transition="in" filter="dissolve">
                                      <p:cBhvr>
                                        <p:cTn id="22" dur="500"/>
                                        <p:tgtEl>
                                          <p:spTgt spid="4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endParaRPr lang="en-US" sz="3200" b="1" dirty="0"/>
          </a:p>
          <a:p>
            <a:endParaRPr lang="en-US" sz="3200" b="1" dirty="0"/>
          </a:p>
          <a:p>
            <a:r>
              <a:rPr lang="en-US" sz="3200" b="1" dirty="0"/>
              <a:t>Suppose C1 and C2 write concurrently, and after the writes have completed, C3 and C4 read. what can they see?</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endParaRPr lang="en-US" sz="2800" dirty="0">
              <a:effectLst/>
            </a:endParaRP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Tree>
    <p:extLst>
      <p:ext uri="{BB962C8B-B14F-4D97-AF65-F5344CB8AC3E}">
        <p14:creationId xmlns:p14="http://schemas.microsoft.com/office/powerpoint/2010/main" val="16574235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the Paper Measured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Reads scale even though one client is slow</a:t>
            </a:r>
          </a:p>
          <a:p>
            <a:pPr marL="457200"/>
            <a:r>
              <a:rPr lang="en-US" sz="2800" b="0" dirty="0"/>
              <a:t>94 MB/s in total for 16 clients and 16 chunkservers: about 6 MB/s each</a:t>
            </a:r>
          </a:p>
          <a:p>
            <a:pPr marL="457200"/>
            <a:r>
              <a:rPr lang="en-US" sz="2800" b="0" dirty="0"/>
              <a:t>One disk did about 30 MB/s, so the aggregate is near the network limit</a:t>
            </a:r>
          </a:p>
          <a:p>
            <a:r>
              <a:rPr lang="en-US" sz="3200" b="1" dirty="0"/>
              <a:t>The master stays small</a:t>
            </a:r>
          </a:p>
          <a:p>
            <a:pPr marL="457200"/>
            <a:r>
              <a:rPr lang="en-US" sz="2800" b="0" dirty="0"/>
              <a:t>48-60 MB of metadata for clusters holding 55-155 TB of data</a:t>
            </a:r>
          </a:p>
          <a:p>
            <a:r>
              <a:rPr lang="en-US" sz="3200" b="1" dirty="0"/>
              <a:t>Recovery is fast because it is parallel</a:t>
            </a:r>
          </a:p>
          <a:p>
            <a:pPr marL="457200"/>
            <a:r>
              <a:rPr lang="en-US" sz="2800" b="0" dirty="0"/>
              <a:t>600 GB of chunks re-replicated in 23 minutes after one chunkserver died</a:t>
            </a:r>
          </a:p>
          <a:p>
            <a:pPr marL="457200"/>
            <a:r>
              <a:rPr lang="en-US" sz="2800" b="0" dirty="0"/>
              <a:t>Chunks left with a single replica were back to two within 2 minutes</a:t>
            </a:r>
          </a:p>
        </p:txBody>
      </p:sp>
    </p:spTree>
    <p:extLst>
      <p:ext uri="{BB962C8B-B14F-4D97-AF65-F5344CB8AC3E}">
        <p14:creationId xmlns:p14="http://schemas.microsoft.com/office/powerpoint/2010/main" val="17206706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49.xml><?xml version="1.0" encoding="utf-8"?>
<p:sld xmlns:p="http://schemas.openxmlformats.org/presentationml/2006/main">
  <p:cSld>
    <p:spTree>
      <p:nvGrpSpPr>
        <p:cNvPr id="1" name=""/>
        <p:cNvGrpSpPr/>
        <p:nvPr/>
      </p:nvGrpSpPr>
      <p:grpSpPr>
        <a:xfrm xmlns:a="http://schemas.openxmlformats.org/drawingml/2006/main"/>
      </p:grpSpPr>
      <p:sp>
        <p:nvSpPr>
          <p:cNvPr id="7" name="Title 1">
            <a:extLst xmlns:a="http://schemas.openxmlformats.org/drawingml/2006/main">
              <a:ext uri="{FF2B5EF4-FFF2-40B4-BE49-F238E27FC236}">
                <a16:creationId xmlns:a16="http://schemas.microsoft.com/office/drawing/2014/main" id="{2ED557C7-2CDD-8C0B-07A1-1DABA8EF652A}"/>
              </a:ext>
            </a:extLst>
          </p:cNvPr>
          <p:cNvSpPr>
            <a:spLocks xmlns:a="http://schemas.openxmlformats.org/drawingml/2006/main" noGrp="1"/>
          </p:cNvSpPr>
          <p:nvPr>
            <p:ph type="title" idx="0"/>
          </p:nvPr>
        </p:nvSpPr>
        <p:spPr>
          <a:xfrm xmlns:a="http://schemas.openxmlformats.org/drawingml/2006/main">
            <a:off x="0" y="1"/>
            <a:ext cx="12191999" cy="914400"/>
          </a:xfrm>
        </p:spPr>
        <p:txBody>
          <a:bodyPr xmlns:a="http://schemas.openxmlformats.org/drawingml/2006/main">
            <a:normAutofit fontScale="100000"/>
          </a:bodyPr>
          <a:lstStyle xmlns:a="http://schemas.openxmlformats.org/drawingml/2006/main"/>
          <a:p xmlns:a="http://schemas.openxmlformats.org/drawingml/2006/main">
            <a:pPr algn="ctr">
              <a:buNone/>
            </a:pPr>
            <a:r>
              <a:rPr b="1">
                <a:latin typeface="Helvetica"/>
                <a:ea typeface="Helvetica"/>
                <a:cs typeface="Helvetica"/>
              </a:rPr>
              <a:t>Presentation Grading</a:t>
            </a:r>
          </a:p>
        </p:txBody>
      </p:sp>
      <p:sp>
        <p:nvSpPr>
          <p:cNvPr id="8" name="Slide Number Placeholder 4">
            <a:extLst xmlns:a="http://schemas.openxmlformats.org/drawingml/2006/main">
              <a:ext uri="{FF2B5EF4-FFF2-40B4-BE49-F238E27FC236}">
                <a16:creationId xmlns:a16="http://schemas.microsoft.com/office/drawing/2014/main" id="{25E098EE-1299-32C0-2821-1DB599BAC8E9}"/>
              </a:ext>
            </a:extLst>
          </p:cNvPr>
          <p:cNvSpPr>
            <a:spLocks xmlns:a="http://schemas.openxmlformats.org/drawingml/2006/main" noGrp="1"/>
          </p:cNvSpPr>
          <p:nvPr>
            <p:ph type="sldNum" idx="12"/>
          </p:nvPr>
        </p:nvSpPr>
        <p:spPr>
          <a:xfrm xmlns:a="http://schemas.openxmlformats.org/drawingml/2006/main">
            <a:off x="8610600" y="6356350"/>
            <a:ext cx="2743200" cy="365125"/>
          </a:xfrm>
        </p:spPr>
        <p:txBody>
          <a:bodyPr xmlns:a="http://schemas.openxmlformats.org/drawingml/2006/main"/>
          <a:lstStyle xmlns:a="http://schemas.openxmlformats.org/drawingml/2006/main"/>
          <a:p xmlns:a="http://schemas.openxmlformats.org/drawingml/2006/main">
            <a:fld id="{212DA15D-5F50-8B40-811F-34F736B90848}" type="slidenum">
              <a:t>2</a:t>
            </a:fld>
            <a:endParaRPr/>
          </a:p>
        </p:txBody>
      </p:sp>
      <p:graphicFrame>
        <p:nvGraphicFramePr>
          <p:cNvPr id="12" name=""/>
          <p:cNvGraphicFramePr/>
          <p:nvPr/>
        </p:nvGraphicFramePr>
        <p:xfrm>
          <a:off xmlns:a="http://schemas.openxmlformats.org/drawingml/2006/main" x="552450" y="1200150"/>
          <a:ext xmlns:a="http://schemas.openxmlformats.org/drawingml/2006/main" cx="11087100" cy="4333875"/>
        </p:xfrm>
        <a:graphic xmlns:a="http://schemas.openxmlformats.org/drawingml/2006/main">
          <a:graphicData uri="http://schemas.openxmlformats.org/drawingml/2006/table">
            <a:tbl>
              <a:tblPr/>
              <a:tblGrid>
                <a:gridCol w="2692581"/>
                <a:gridCol w="8394519"/>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tr>
            </a:tbl>
          </a:graphicData>
        </a:graphic>
      </p:graphicFrame>
    </p:spTree>
    <p:extLst>
      <p:ext uri="{BB962C8B-B14F-4D97-AF65-F5344CB8AC3E}">
        <p14:creationId xmlns:p14="http://schemas.microsoft.com/office/powerpoint/2010/main" val="172067069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1623</TotalTime>
  <Words>12413</Words>
  <Application>Microsoft Macintosh PowerPoint</Application>
  <PresentationFormat>Widescreen</PresentationFormat>
  <Paragraphs>1122</Paragraphs>
  <Slides>49</Slides>
  <Notes>49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Aptos</vt:lpstr>
      <vt:lpstr>Aptos Display</vt:lpstr>
      <vt:lpstr>Arial</vt:lpstr>
      <vt:lpstr>Helvetica</vt:lpstr>
      <vt:lpstr>Helvetica Neue</vt:lpstr>
      <vt:lpstr>Office Theme</vt:lpstr>
      <vt:lpstr>Lecture 4: Google File System         Fall 2026 </vt:lpstr>
      <vt:lpstr>Administrivia</vt:lpstr>
      <vt:lpstr>Presentation Grading</vt:lpstr>
      <vt:lpstr>AWS Credits: One Code per Account</vt:lpstr>
      <vt:lpstr>Why Storage?</vt:lpstr>
      <vt:lpstr>One Machine Is Not Enough</vt:lpstr>
      <vt:lpstr>Then Everything Fails</vt:lpstr>
      <vt:lpstr>Why Is Distributed Storage Hard?</vt:lpstr>
      <vt:lpstr>What Would We Like for Consistency?</vt:lpstr>
      <vt:lpstr>Bad Replication Design</vt:lpstr>
      <vt:lpstr>What Can Go Wrong?</vt:lpstr>
      <vt:lpstr>The Google File System</vt:lpstr>
      <vt:lpstr>Why Are We Reading This Paper?</vt:lpstr>
      <vt:lpstr>Goal of GFS</vt:lpstr>
      <vt:lpstr>Demo</vt:lpstr>
      <vt:lpstr>Assumptions of GFS</vt:lpstr>
      <vt:lpstr>What Are the Contribution of the Paper? </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Stale Replicas and Version Numbers</vt:lpstr>
      <vt:lpstr>Control and Data Flow</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the Paper Measured</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26</cp:revision>
  <dcterms:created xsi:type="dcterms:W3CDTF">2026-02-04T02:27:39Z</dcterms:created>
  <dcterms:modified xsi:type="dcterms:W3CDTF">2026-09-16T15:34:53Z</dcterms:modified>
</cp:coreProperties>
</file>