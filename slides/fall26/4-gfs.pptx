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3"/>
  </p:notesMasterIdLst>
  <p:sldIdLst>
    <p:sldId id="422" r:id="rId2"/>
    <p:sldId id="426" r:id="rId3"/>
    <p:sldId id="481" r:id="rId4"/>
    <p:sldId id="467" r:id="rId5"/>
    <p:sldId id="477" r:id="rId6"/>
    <p:sldId id="478" r:id="rId7"/>
    <p:sldId id="479" r:id="rId8"/>
    <p:sldId id="428" r:id="rId9"/>
    <p:sldId id="483" r:id="rId10"/>
    <p:sldId id="443" r:id="rId11"/>
    <p:sldId id="486" r:id="rId60"/>
    <p:sldId id="444" r:id="rId12"/>
    <p:sldId id="445" r:id="rId13"/>
    <p:sldId id="487" r:id="rId61"/>
    <p:sldId id="485" r:id="rId59"/>
    <p:sldId id="262" r:id="rId14"/>
    <p:sldId id="430" r:id="rId15"/>
    <p:sldId id="435" r:id="rId16"/>
    <p:sldId id="480" r:id="rId17"/>
    <p:sldId id="431" r:id="rId18"/>
    <p:sldId id="433" r:id="rId19"/>
    <p:sldId id="434" r:id="rId20"/>
    <p:sldId id="436" r:id="rId21"/>
    <p:sldId id="437" r:id="rId22"/>
    <p:sldId id="438" r:id="rId23"/>
    <p:sldId id="468" r:id="rId24"/>
    <p:sldId id="439" r:id="rId25"/>
    <p:sldId id="469" r:id="rId26"/>
    <p:sldId id="440" r:id="rId27"/>
    <p:sldId id="441" r:id="rId28"/>
    <p:sldId id="442" r:id="rId29"/>
    <p:sldId id="446" r:id="rId30"/>
    <p:sldId id="447" r:id="rId31"/>
    <p:sldId id="484" r:id="rId32"/>
    <p:sldId id="470" r:id="rId33"/>
    <p:sldId id="448" r:id="rId34"/>
    <p:sldId id="482" r:id="rId35"/>
    <p:sldId id="449" r:id="rId36"/>
    <p:sldId id="450" r:id="rId37"/>
    <p:sldId id="451" r:id="rId38"/>
    <p:sldId id="471" r:id="rId39"/>
    <p:sldId id="472" r:id="rId40"/>
    <p:sldId id="452" r:id="rId41"/>
    <p:sldId id="453" r:id="rId42"/>
    <p:sldId id="454" r:id="rId43"/>
    <p:sldId id="465" r:id="rId44"/>
    <p:sldId id="455" r:id="rId45"/>
    <p:sldId id="457" r:id="rId46"/>
    <p:sldId id="473" r:id="rId47"/>
    <p:sldId id="475" r:id="rId48"/>
    <p:sldId id="476" r:id="rId49"/>
    <p:sldId id="459" r:id="rId50"/>
    <p:sldId id="466" r:id="rId51"/>
    <p:sldId id="464"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295"/>
    <p:restoredTop sz="65066"/>
  </p:normalViewPr>
  <p:slideViewPr>
    <p:cSldViewPr snapToGrid="0">
      <p:cViewPr varScale="1">
        <p:scale>
          <a:sx n="79" d="100"/>
          <a:sy n="79"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we focused on computation, but every map task had to read its input from somewhere, and every reducer had to write its output somewhere. At Google, that shared storage layer was GFS.</a:t>
            </a:r>
          </a:p>
          <a:p>
            <a:endParaRPr lang="en-US" dirty="0"/>
          </a:p>
          <a:p>
            <a:r>
              <a:rPr lang="en-US" dirty="0"/>
              <a:t>Storage became a key abstraction because a simple interface—name some data, read it, and write it—was useful across many different systems. A large part of distributed-systems work therefore either builds storage systems or builds on top of a well-behaved distributed store. At Google, MapReduce used GFS for input and output, and BigTable later stored its files in GFS. GFS is also a useful first case study because it brings together four themes we will see repeatedly: parallel performance, fault tolerance, replication, and consistency.</a:t>
            </a:r>
          </a:p>
          <a:p>
            <a:endParaRPr lang="en-US" dirty="0"/>
          </a:p>
          <a:p>
            <a:r>
              <a:rPr lang="en-US"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Up to this point, performance has pushed us to spread the data across many servers, and failures have pushed us to replicate it. Now replication creates a new problem.</a:t>
            </a:r>
          </a:p>
          <a:p>
            <a:endParaRPr lang="en-US" dirty="0"/>
          </a:p>
          <a:p>
            <a:r>
              <a:rPr lang="en-US" dirty="0"/>
              <a:t>If we are not careful, the replicas get out of sync. What were supposed to be interchangeable copies become two almost identical copies, and the value a client reads depends on which server it contacts.</a:t>
            </a:r>
          </a:p>
          <a:p>
            <a:endParaRPr lang="en-US" dirty="0"/>
          </a:p>
          <a:p>
            <a:r>
              <a:rPr lang="en-US" dirty="0"/>
              <a:t>We can eliminate those inconsistencies with more careful coordination, but coordination requires extra work and extra communication among the servers and clients. That adds waiting and reduces performance.</a:t>
            </a:r>
          </a:p>
          <a:p>
            <a:endParaRPr lang="en-US" dirty="0"/>
          </a:p>
          <a:p>
            <a:r>
              <a:rPr lang="en-US" dirty="0"/>
              <a:t>So the argument comes full circle. We started by distributing the data to gain performance, but stronger consistency makes us give some of that performance back. GFS chooses a point in this tradeoff rather than paying the full cost of strict consistency.</a:t>
            </a:r>
          </a:p>
          <a:p>
            <a:endParaRPr lang="en-US" dirty="0"/>
          </a:p>
          <a:p>
            <a:r>
              <a:rPr lang="en-US" dirty="0"/>
              <a:t>SOURCE
MIT 6.824, Spring 2020, Lecture 3 transcript/video, 04:05–05:42.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Replication leaves us with two questions that will organize the rest of this lecture.</a:t>
            </a:r>
          </a:p>
          <a:p>
            <a:endParaRPr lang="en-US" dirty="0"/>
          </a:p>
          <a:p>
            <a:r>
              <a:rPr lang="en-US" dirty="0"/>
              <a:t>The first is a correctness question. Once data is split and replicated across machines that can fail independently, what does it mean for the storage system to return the correct result? Different copies may receive requests at different times, and a client may reach a different copy after a failure. We need a clear model for deciding whether the behavior observed by the clients is still correct.</a:t>
            </a:r>
          </a:p>
          <a:p>
            <a:endParaRPr lang="en-US" dirty="0"/>
          </a:p>
          <a:p>
            <a:r>
              <a:rPr lang="en-US" dirty="0"/>
              <a:t>The second is a performance question. How much coordination do we need to obtain that behavior? If replicas must communicate and agree before every reply, each operation requires more messages and more waiting. A slow or unreachable replica may also delay the others.</a:t>
            </a:r>
          </a:p>
          <a:p>
            <a:endParaRPr lang="en-US" dirty="0"/>
          </a:p>
          <a:p>
            <a:r>
              <a:rPr lang="en-US" dirty="0"/>
              <a:t>These two questions create the central tradeoff. More coordination usually gives applications simpler behavior, but it costs latency, throughput, and sometimes availability during failures. GFS chooses guarantees that fit Google's workloads instead of paying the full cost of the strongest possible consistency.</a:t>
            </a:r>
          </a:p>
          <a:p>
            <a:endParaRPr lang="en-US" dirty="0"/>
          </a:p>
          <a:p>
            <a:r>
              <a:rPr lang="en-US" dirty="0"/>
              <a:t>To understand that choice, we first need a baseline: what behavior would one correct machine with one copy of the data provide?</a:t>
            </a:r>
          </a:p>
          <a:p>
            <a:endParaRPr lang="en-US" dirty="0"/>
          </a:p>
          <a:p>
            <a:r>
              <a:rPr lang="en-US" dirty="0"/>
              <a:t>SOURCE
MIT 6.824, Spring 2020, Lecture 3 transcript/video, 05:42–06:34.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rPr lang="en-US" dirty="0"/>
              <a:t>From the application's point of view, the ideal distributed storage system behaves like one correct machine with one copy of the data. The implementation may contain hundreds of machines and several replicas, but those internal details should not change the behavior that clients observe.</a:t>
            </a:r>
          </a:p>
          <a:p>
            <a:endParaRPr lang="en-US" dirty="0"/>
          </a:p>
          <a:p>
            <a:r>
              <a:rPr lang="en-US" dirty="0"/>
              <a:t>Imagine that this one machine is single-threaded. Many clients may send requests concurrently, but the machine performs only one operation at a time. It chooses one request, runs it to completion, and then starts the next request. Every operation therefore has a position in one single order.</a:t>
            </a:r>
          </a:p>
          <a:p>
            <a:endParaRPr lang="en-US" dirty="0"/>
          </a:p>
          <a:p>
            <a:r>
              <a:rPr lang="en-US" dirty="0"/>
              <a:t>If the operation is a write, it updates the machine's state. If the operation is a read, it returns a value that reflects all the writes that came before it in that order. Concurrent requests still have to be ordered, but we may not know that order in advance. The machine is allowed to choose either concurrent request first. Once it chooses, all later results must remain consistent with that choice.</a:t>
            </a:r>
          </a:p>
          <a:p>
            <a:endParaRPr lang="en-US" dirty="0"/>
          </a:p>
          <a:p>
            <a:r>
              <a:rPr lang="en-US" dirty="0"/>
              <a:t>That gives us the test shown at the bottom of the slide: could one correct machine, executing one request at a time, have produced everything the clients observed? We do not require one predetermined result for concurrent requests. We require that all the results fit one possible sequential order.</a:t>
            </a:r>
          </a:p>
          <a:p>
            <a:endParaRPr lang="en-US" dirty="0"/>
          </a:p>
          <a:p>
            <a:r>
              <a:rPr lang="en-US" dirty="0"/>
              <a:t>Now suppose two clients write the same key at the same time.</a:t>
            </a:r>
          </a:p>
          <a:p>
            <a:endParaRPr lang="en-US" dirty="0"/>
          </a:p>
          <a:p>
            <a:r>
              <a:rPr lang="en-US" dirty="0"/>
              <a:t>SOURCE
MIT 6.824, Spring 2020, Lecture 3 transcript/video, 05:42–08:11.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rPr lang="en-US" dirty="0"/>
              <a:t>Now consider the simplest replication design we might try.</a:t>
            </a:r>
          </a:p>
          <a:p>
            <a:endParaRPr lang="en-US" dirty="0"/>
          </a:p>
          <a:p>
            <a:r>
              <a:rPr lang="en-US" dirty="0"/>
              <a:t>We keep two servers, and each server stores a complete copy of the data. The goal is fault tolerance: if either server fails, the other still has the data. Therefore every write has to be applied to both copies. At the same time, a read should be able to use either server by itself. If every read had to consult both servers, losing one server would make the system unavailable and replication would not have achieved its purpose.</a:t>
            </a:r>
          </a:p>
          <a:p>
            <a:endParaRPr lang="en-US" dirty="0"/>
          </a:p>
          <a:p>
            <a:r>
              <a:rPr lang="en-US" dirty="0"/>
              <a:t>The tempting protocol is exactly what this slide shows. The client sends the update independently to both servers, and each server applies the update when it arrives. If the two copies start in the same state and receive the same operations, it seems that they should remain identical.</a:t>
            </a:r>
          </a:p>
          <a:p>
            <a:endParaRPr lang="en-US" dirty="0"/>
          </a:p>
          <a:p>
            <a:r>
              <a:rPr lang="en-US" dirty="0"/>
              <a:t>The hidden assumption is that the servers will apply concurrent operations in the same order. Nothing in this protocol enforces that assumption. The network can deliver messages to server 1 in one order and to server 2 in the opposite order. Each server may individually behave like a perfectly reasonable single server, yet the two final copies can still disagree because they chose different legal orders.</a:t>
            </a:r>
          </a:p>
          <a:p>
            <a:endParaRPr lang="en-US" dirty="0"/>
          </a:p>
          <a:p>
            <a:r>
              <a:rPr lang="en-US" dirty="0"/>
              <a:t>There is no common authority here that decides the order, and the replicas do not communicate before applying the writes. Once they diverge, a read can return a different value depending on which server it contacts. A failover can even make the visible value change without any new write. The next slide traces that failure using two clients that write the same data concurrently.</a:t>
            </a:r>
          </a:p>
          <a:p>
            <a:endParaRPr lang="en-US" dirty="0"/>
          </a:p>
          <a:p>
            <a:r>
              <a:rPr lang="en-US" dirty="0"/>
              <a:t>Fixing the design requires some mechanism that establishes one order: for example, a primary that orders the mutations, plus communication that makes the other replicas follow that order. That is the coordination cost introduced on the previous slide. GFS uses a primary for each chunk, but its exact guarantees still depend on what happens when a mutation reaches only some replicas.</a:t>
            </a:r>
          </a:p>
          <a:p>
            <a:endParaRPr lang="en-US" dirty="0"/>
          </a:p>
          <a:p>
            <a:r>
              <a:rPr lang="en-US" dirty="0"/>
              <a:t>SOURCE
MIT 6.824, Spring 2020, Lecture 3 transcript/video, 10:47–12:29.
Local transcript: fall2026/lectures/references/mit-6824-2020-lecture3-gfs-transcript.txt
https://www.youtube.com/watch?v=EpIgvowZr00
Ghemawat, Gobioff, and Leung, The Google File System, Sections 3.1 and 3.2.
https://pdos.csail.mit.edu/6.824/papers/gfs.pdf</a:t>
            </a:r>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t>Now add a second client that writes the same region concurrently.</a:t>
            </a:r>
            <a:endParaRPr lang="en-US" dirty="0"/>
          </a:p>
          <a:p>
            <a:endParaRPr lang="en-US" dirty="0"/>
          </a:p>
          <a:p>
            <a:r>
              <a:t>Server 1 may receive client 1's request first and client 2's request second. Server 2 may receive the opposite order. If the writes overlap, the final bytes on the two servers can differ.</a:t>
            </a:r>
            <a:endParaRPr lang="en-US" dirty="0"/>
          </a:p>
          <a:p>
            <a:endParaRPr lang="en-US" dirty="0"/>
          </a:p>
          <a:p>
            <a:r>
              <a:t>A later reader can then get a different answer depending on which replica it contacts. Even worse, if clients normally read from server 1 and that server fails, the visible value can suddenly change without any new write.</a:t>
            </a:r>
            <a:endParaRPr lang="en-US" dirty="0"/>
          </a:p>
          <a:p>
            <a:endParaRPr lang="en-US" dirty="0"/>
          </a:p>
          <a:p>
            <a:r>
              <a:t>The missing ingredient is one authority that chooses the mutation order for this chunk.</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t>TRANSITION: the problem statement is now on the table - shard for speed, replicate for failures, then fight the inconsistency that replication creates. This is the paper that picks one point in that trade-off. Keep this slide to about 30 seconds.</a:t>
            </a:r>
            <a:endParaRPr lang="en-US"/>
          </a:p>
          <a:p>
            <a:r>
              <a:t>Same people as last lecture: Sanjay Ghemawat is also an author of the MapReduce paper (Dean and Ghemawat, OSDI 2004). MapReduce runs on top of GFS, and the two papers are one year apart from the same group. Lecture 3 was the computation layer; this is the storage layer underneath it.</a:t>
            </a:r>
            <a:endParaRPr lang="en-US"/>
          </a:p>
          <a:p>
            <a:r>
              <a:t>The year matters: 2003, commodity Linux machines, one disk about 30 MB/s, a network card about 10 MB/s, and in a cluster of thousands something fails every day. Every trade-off in this paper follows from that hardware.</a:t>
            </a:r>
            <a:endParaRPr lang="en-US"/>
          </a:p>
          <a:p>
            <a:r>
              <a:t>Next slide: why we are reading this paper.</a:t>
            </a:r>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13</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We read GFS because distributed storage is one of the most useful abstractions in distributed systems.</a:t>
            </a:r>
          </a:p>
          <a:p>
            <a:endParaRPr lang="en-US" dirty="0"/>
          </a:p>
          <a:p>
            <a:r>
              <a:rPr lang="en-US" dirty="0"/>
              <a:t>This is where the interface question belongs: what should a large distributed storage system expose to applications? GFS presents a familiar file interface, but it adapts the operations and guarantees to Google's large, sequential, data-intensive workloads. A useful interface hides placement, replication, failures, and recovery without promising behavior the implementation cannot provide efficiently.</a:t>
            </a:r>
          </a:p>
          <a:p>
            <a:endParaRPr lang="en-US" dirty="0"/>
          </a:p>
          <a:p>
            <a:r>
              <a:rPr lang="en-US" dirty="0"/>
              <a:t>The paper also connects several themes from this course. Sharding gives parallel performance. Replication gives fault tolerance, but it creates consistency problems. The designers then choose where to spend coordination cost and where to accept weaker behavior.</a:t>
            </a:r>
          </a:p>
          <a:p>
            <a:endParaRPr lang="en-US" dirty="0"/>
          </a:p>
          <a:p>
            <a:r>
              <a:rPr lang="en-US" dirty="0"/>
              <a:t>This is also a strong systems paper because it connects application workloads to machine-level details. The system succeeded in production, so we can judge the tradeoffs using real experience rather than only a conceptual design.</a:t>
            </a:r>
          </a:p>
          <a:p>
            <a:endParaRPr lang="en-US" dirty="0"/>
          </a:p>
          <a:p>
            <a:r>
              <a:rPr lang="en-US" dirty="0"/>
              <a:t>SOURCE
MIT 6.824, Spring 2020, Lecture 3 video, 0:00-5:09.
https://www.youtube.com/watch?v=EpIgvowZr00
MIT 6.5840, GFS lecture notes.
https://pdos.csail.mit.edu/6.824/notes/l-gfs.txt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Google needed one large shared storage system for crawled pages, search indexes, logs, MapReduce inputs, and later many other services.</a:t>
            </a:r>
          </a:p>
          <a:p>
            <a:endParaRPr lang="en-US" dirty="0"/>
          </a:p>
          <a:p>
            <a:r>
              <a:rPr lang="en-US" dirty="0"/>
              <a:t>The first goal was scale. GFS automatically splits a file across many chunkservers, so a file can exceed the capacity of one disk and many clients can read different chunks in parallel. The second goal was automatic recovery. Losing one commodity machine should not require an operator to reconstruct every affected file by hand.</a:t>
            </a:r>
          </a:p>
          <a:p>
            <a:endParaRPr lang="en-US" dirty="0"/>
          </a:p>
          <a:p>
            <a:r>
              <a:rPr lang="en-US" dirty="0"/>
              <a:t>The shared namespace also matters. One application can produce a data set and another application can consume it without building a separate storage system or copying everything into a new silo.</a:t>
            </a:r>
          </a:p>
          <a:p>
            <a:endParaRPr lang="en-US" dirty="0"/>
          </a:p>
          <a:p>
            <a:r>
              <a:rPr lang="en-US" dirty="0"/>
              <a:t>SOURCE</a:t>
            </a:r>
          </a:p>
          <a:p>
            <a:r>
              <a:rPr lang="en-US" dirty="0"/>
              <a:t>MIT 6.824, Spring 2020, Lecture 3 video, 15:13-20:22.</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1, 2.1, and 2.3.</a:t>
            </a:r>
          </a:p>
          <a:p>
            <a:r>
              <a:rPr lang="en-US" dirty="0"/>
              <a:t>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LIVE DEMO, about 7 minutes.</a:t>
            </a:r>
            <a:endParaRPr lang="en-US"/>
          </a:p>
          <a:p>
            <a:r>
              <a:t>In a terminal: cd ~/work/BU/teaching/ec528/fall2026/lectures/demo/hdfs-gfs &amp;&amp; bash demo-hdfs.sh</a:t>
            </a:r>
            <a:endParaRPr lang="en-US"/>
          </a:p>
          <a:p>
            <a:r>
              <a:t>Seven steps; press Enter between them. Rehearsed 09/15: 51 seconds unattended with a clean teardown. Talking points for each step are in README.md in that folder, and fallback-hdfs-demo.txt has the expected output if the live run breaks.</a:t>
            </a:r>
            <a:endParaRPr lang="en-US"/>
          </a:p>
          <a:p>
            <a:r>
              <a:t>Say the vocabulary out loud as it appears: NameNode is the master, DataNode is a chunkserver, block is a chunk. Block size is 16 MB and replication is 2 here, against 64 MB and 3 in the paper, so that a 100 MB file splits into something readable on screen.</a:t>
            </a:r>
            <a:endParaRPr lang="en-US"/>
          </a:p>
          <a:p>
            <a:r>
              <a:t>Step 6 has a wait of roughly 30 seconds: after one DataNode is killed the replica count sits at 9 while the master waits out missed heartbeats, then jumps to 14. That pause is the point, not a hang - it is the same detection trade-off as the lease timeout later in the lecture. Talk through the goal slide while it runs.</a:t>
            </a:r>
            <a:endParaRPr lang="en-US"/>
          </a:p>
          <a:p>
            <a:r>
              <a:t>Key line to land: this is the shape of the paper - one master for names and locations, many chunkservers for the data, fixed-size chunks, replicas, and automatic re-replication after a failure. The rest of the lecture is how the paper makes that correct as well as fast.</a:t>
            </a:r>
            <a:endParaRPr lang="en-US"/>
          </a:p>
          <a:p>
            <a:r>
              <a:t>SOURCE</a:t>
            </a:r>
            <a:endParaRPr lang="en-US"/>
          </a:p>
          <a:p>
            <a:r>
              <a:t>Local demo: fall2026/lectures/demo/hdfs-gfs/README.md (Hadoop 3.5.0).</a:t>
            </a:r>
            <a:endParaRPr lang="en-US"/>
          </a:p>
          <a:p>
            <a:r>
              <a:t>Ghemawat, Gobioff, and Leung, The Google File System, Sections 2.1-2.5.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t>CUES</a:t>
            </a:r>
            <a:endParaRPr lang="en-US" dirty="0"/>
          </a:p>
          <a:p>
            <a:r>
              <a:t>One data center</a:t>
            </a:r>
            <a:endParaRPr lang="en-US" dirty="0"/>
          </a:p>
          <a:p>
            <a:r>
              <a:t>Internal Google applications</a:t>
            </a:r>
            <a:endParaRPr lang="en-US" dirty="0"/>
          </a:p>
          <a:p>
            <a:r>
              <a:t>Huge files and streaming access</a:t>
            </a:r>
            <a:endParaRPr lang="en-US" dirty="0"/>
          </a:p>
          <a:p>
            <a:r>
              <a:t>Append-heavy mutations</a:t>
            </a:r>
            <a:endParaRPr lang="en-US" dirty="0"/>
          </a:p>
          <a:p>
            <a:r>
              <a:t>Throughput over latency</a:t>
            </a:r>
            <a:endParaRPr lang="en-US" dirty="0"/>
          </a:p>
          <a:p>
            <a:endParaRPr lang="en-US" dirty="0"/>
          </a:p>
          <a:p>
            <a:r>
              <a:t>GFS targets one data center, rather than replicas distributed around the world. Its clients are internal Google applications written by engineers who know the file system's behavior.</a:t>
            </a:r>
            <a:endParaRPr lang="en-US" dirty="0"/>
          </a:p>
          <a:p>
            <a:endParaRPr lang="en-US" dirty="0"/>
          </a:p>
          <a:p>
            <a:r>
              <a:t>The paper's precise workload assumption is large streaming reads plus some small random reads. Writes are mainly large sequential appends. Small writes at arbitrary offsets remain possible, but GFS does not optimize for them.</a:t>
            </a:r>
            <a:endParaRPr lang="en-US" dirty="0"/>
          </a:p>
          <a:p>
            <a:endParaRPr lang="en-US" dirty="0"/>
          </a:p>
          <a:p>
            <a:r>
              <a:t>This makes GFS a poor match for a low-latency transactional database with many tiny records. It is designed for bulk data processing where sustained bandwidth matters more than the latency of one operation.</a:t>
            </a:r>
            <a:endParaRPr lang="en-US" dirty="0"/>
          </a:p>
          <a:p>
            <a:endParaRPr lang="en-US" dirty="0"/>
          </a:p>
          <a:p>
            <a:r>
              <a:t>SOURCE</a:t>
            </a:r>
            <a:endParaRPr lang="en-US" dirty="0"/>
          </a:p>
          <a:p>
            <a:r>
              <a:t>MIT 6.824, Spring 2020, Lecture 3 video, 15:13-20:22.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and 2.1.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t>The paper's contribution is the complete design and the evidence that its tradeoffs worked at unprecedented production scale.</a:t>
            </a:r>
            <a:endParaRPr lang="en-US" dirty="0"/>
          </a:p>
          <a:p>
            <a:endParaRPr lang="en-US" dirty="0"/>
          </a:p>
          <a:p>
            <a:r>
              <a:t>Sharding, replication, and fault tolerance already existed. GFS combines them for clusters with hundreds of chunkservers and for applications that process multi-gigabyte files. The paper reports operational experience, not only a prototype.</a:t>
            </a:r>
            <a:endParaRPr lang="en-US" dirty="0"/>
          </a:p>
          <a:p>
            <a:endParaRPr lang="en-US" dirty="0"/>
          </a:p>
          <a:p>
            <a:r>
              <a:t>Two choices were especially provocative. GFS uses one master for metadata and accepts a relaxed consistency model. Both choices simplify the design. They work because the master stays out of the data path and because Google controls the applications that consume the data.</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2.4, 2.7,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a:t>
            </a:r>
          </a:p>
          <a:p>
            <a:r>
              <a:rPr lang="en-US" dirty="0"/>
              <a:t>Global placement decisions</a:t>
            </a:r>
          </a:p>
          <a:p>
            <a:r>
              <a:rPr lang="en-US" dirty="0"/>
              <a:t>Namespace and chunk metadata</a:t>
            </a:r>
          </a:p>
          <a:p>
            <a:r>
              <a:rPr lang="en-US" dirty="0"/>
              <a:t>Replication, migration, and garbage collection</a:t>
            </a:r>
          </a:p>
          <a:p>
            <a:r>
              <a:rPr lang="en-US" dirty="0"/>
              <a:t>Operation log and checkpoints</a:t>
            </a:r>
          </a:p>
          <a:p>
            <a:r>
              <a:rPr lang="en-US" dirty="0"/>
              <a:t>Shadow masters and external monitoring</a:t>
            </a:r>
          </a:p>
          <a:p>
            <a:endParaRPr lang="en-US" dirty="0"/>
          </a:p>
          <a:p>
            <a:r>
              <a:rPr lang="en-US" dirty="0"/>
              <a:t>The single master gives GFS one place with global knowledge. It manages the namespace and the mapping from files to chunks. For every chunk, it tracks the current version and learns which chunkservers hold replicas.</a:t>
            </a:r>
          </a:p>
          <a:p>
            <a:endParaRPr lang="en-US" dirty="0"/>
          </a:p>
          <a:p>
            <a:r>
              <a:rPr lang="en-US" dirty="0"/>
              <a:t>That global view lets the master choose locations for new chunks, spread replicas across machines and racks, move chunks for load balance, create replacement replicas after failures, and garbage-collect abandoned chunks.</a:t>
            </a:r>
          </a:p>
          <a:p>
            <a:endParaRPr lang="en-US" dirty="0"/>
          </a:p>
          <a:p>
            <a:r>
              <a:rPr lang="en-US" dirty="0"/>
              <a:t>The master is a critical component, so GFS keeps its persistent metadata in a replicated operation log and periodically creates checkpoints. Shadow masters can provide limited read access, while monitoring infrastructure can restart or replace the primary master. The original design did not provide instant automatic master failover.</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0219-D7E1-5877-06D6-11CB3D5BA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A574D-2C7A-5667-9FC9-D21C525E5F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EF847E-5B0A-DFD1-3E16-140AC925DA0C}"/>
              </a:ext>
            </a:extLst>
          </p:cNvPr>
          <p:cNvSpPr>
            <a:spLocks noGrp="1"/>
          </p:cNvSpPr>
          <p:nvPr>
            <p:ph type="body" idx="1"/>
          </p:nvPr>
        </p:nvSpPr>
        <p:spPr/>
        <p:txBody>
          <a:bodyPr/>
          <a:lstStyle/>
          <a:p>
            <a:r>
              <a:rPr lang="en-US" dirty="0"/>
              <a:t>CUES</a:t>
            </a:r>
          </a:p>
          <a:p>
            <a:r>
              <a:rPr lang="en-US" dirty="0"/>
              <a:t>Metadata stays in memory</a:t>
            </a:r>
          </a:p>
          <a:p>
            <a:r>
              <a:rPr lang="en-US" dirty="0"/>
              <a:t>Persistent namespace and file-to-chunk mapping</a:t>
            </a:r>
          </a:p>
          <a:p>
            <a:r>
              <a:rPr lang="en-US" dirty="0"/>
              <a:t>Chunk locations reconstructed from chunkservers</a:t>
            </a:r>
          </a:p>
          <a:p>
            <a:r>
              <a:rPr lang="en-US" dirty="0"/>
              <a:t>Operation log orders mutations</a:t>
            </a:r>
          </a:p>
          <a:p>
            <a:r>
              <a:rPr lang="en-US" dirty="0"/>
              <a:t>Checkpoints shorten recovery</a:t>
            </a:r>
          </a:p>
          <a:p>
            <a:endParaRPr lang="en-US" dirty="0"/>
          </a:p>
          <a:p>
            <a:r>
              <a:rPr lang="en-US" dirty="0"/>
              <a:t>The master keeps metadata in memory, which makes lookups fast. A large chunk size keeps the metadata small. At less than 64 bytes per 64-megabyte chunk, even millions of chunks require hundreds of megabytes rather than hundreds of gigabytes of metadata.</a:t>
            </a:r>
          </a:p>
          <a:p>
            <a:endParaRPr lang="en-US" dirty="0"/>
          </a:p>
          <a:p>
            <a:r>
              <a:rPr lang="en-US" dirty="0"/>
              <a:t>Not every field needs the same durability. The namespace and file-to-chunk mapping must survive a master crash, as must the chunk version information used to reject stale replicas. The master does not persist the current chunkserver locations. After restart, it asks chunkservers what they store.</a:t>
            </a:r>
          </a:p>
          <a:p>
            <a:endParaRPr lang="en-US" dirty="0"/>
          </a:p>
          <a:p>
            <a:r>
              <a:rPr lang="en-US" dirty="0"/>
              <a:t>Every critical metadata mutation enters an operation log. The master replicates the log and acknowledges the operation only after the record reaches local and remote storage. A checkpoint captures a compact snapshot so recovery can load the latest checkpoint and replay only the newer part of the log.</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2.6.1-2.6.3.</a:t>
            </a:r>
          </a:p>
          <a:p>
            <a:r>
              <a:rPr lang="en-US" dirty="0"/>
              <a:t>https://pdos.csail.mit.edu/6.824/papers/gfs.pdf</a:t>
            </a:r>
          </a:p>
        </p:txBody>
      </p:sp>
      <p:sp>
        <p:nvSpPr>
          <p:cNvPr id="4" name="Slide Number Placeholder 3">
            <a:extLst>
              <a:ext uri="{FF2B5EF4-FFF2-40B4-BE49-F238E27FC236}">
                <a16:creationId xmlns:a16="http://schemas.microsoft.com/office/drawing/2014/main" id="{E74323AB-CD3B-BE01-23E0-E5328A35AB1C}"/>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1490700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write operation that matters for GFS, and the one the paper optimises. MIT makes the same choice in lecture: it starts to describe an ordinary offset write, then deliberately backs up and says it will only talk about record append.</a:t>
            </a:r>
            <a:endParaRPr lang="en-US" dirty="0"/>
          </a:p>
          <a:p>
            <a:r>
              <a:rPr dirty="0"/>
              <a:t>Contrast it with the previous slide, where the client knew the offset. Here it does not, and that is the point: with many clients appending to one file, letting each pick its own offset would force them to coordinate, which is exactly what GFS wants to avoid. Think of a log that hundreds of web servers append to at once.</a:t>
            </a:r>
            <a:endParaRPr lang="en-US" dirty="0"/>
          </a:p>
          <a:p>
            <a:r>
              <a:rPr dirty="0"/>
              <a:t>The at-least-once promise is where the anomalies later in the lecture come from. A failed append is retried, so a record can land twice, and abandoned attempts leave padding behind. Point forward to "Why Are These Anomalies OK?".</a:t>
            </a:r>
            <a:endParaRPr lang="en-US" dirty="0"/>
          </a:p>
          <a:p>
            <a:r>
              <a:rPr dirty="0"/>
              <a:t>This is also the honest answer to the first of the two questions: the interface is a file name plus a buffer, offered by a client library, not a POSIX file system.</a:t>
            </a:r>
            <a:endParaRPr lang="en-US" dirty="0"/>
          </a:p>
          <a:p>
            <a:r>
              <a:rPr dirty="0"/>
              <a:t>SOURCE</a:t>
            </a:r>
            <a:endParaRPr lang="en-US" dirty="0"/>
          </a:p>
          <a:p>
            <a:r>
              <a:rPr dirty="0"/>
              <a:t>MIT 6.824, Spring 2020, Lecture 3 video, 40:04-43:00.</a:t>
            </a:r>
            <a:endParaRPr lang="en-US" dirty="0"/>
          </a:p>
          <a:p>
            <a:r>
              <a:rPr dirty="0"/>
              <a:t>https://www.youtube.com/watch?v=EpIgvowZr00</a:t>
            </a:r>
            <a:endParaRPr lang="en-US" dirty="0"/>
          </a:p>
          <a:p>
            <a:r>
              <a:rPr dirty="0"/>
              <a:t>Ghemawat, Gobioff, and Leung, The Google File System, Sections 2.3 and 3.3.</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51</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This slide is the bridge from the broken design to the paper.</a:t>
            </a:r>
          </a:p>
          <a:p>
            <a:r>
              <a:rPr lang="en-US" dirty="0"/>
              <a:t>The design on the previous slides failed for one reason: no component decided the order in which the replicas applied the writes. Every possible repair has to supply that missing decision.</a:t>
            </a:r>
          </a:p>
          <a:p>
            <a:r>
              <a:rPr lang="en-US" dirty="0"/>
              <a:t>Supplying it costs something. The servers have to exchange more messages, the protocol becomes more complicated, and a write cannot be reported as finished until the replicas have agreed. That waiting is the performance price, and it is the answer to the second question on the Two Questions slide.</a:t>
            </a:r>
          </a:p>
          <a:p>
            <a:r>
              <a:rPr lang="en-US" dirty="0"/>
              <a:t>Because the price is real, there is no single answer. There is a range of designs offering different strengths of guarantee, and a matching range of anomalies that people are willing to live with.</a:t>
            </a:r>
          </a:p>
          <a:p>
            <a:r>
              <a:rPr lang="en-US" dirty="0"/>
              <a:t>GFS sits at a deliberate point on that range: much better than the design we just took apart, and knowingly not perfect. Where exactly it sits, and why Google was willing to accept that, is the rest of the lecture.</a:t>
            </a:r>
          </a:p>
          <a:p>
            <a:r>
              <a:rPr lang="en-US" dirty="0"/>
              <a:t>Do not give the mechanism here. Leases, a primary, and how the primary orders mutations come later; at this point the class only needs to know that a fix exists and that it is paid for.</a:t>
            </a:r>
          </a:p>
          <a:p>
            <a:r>
              <a:rPr lang="en-US" dirty="0"/>
              <a:t>SOURCE</a:t>
            </a:r>
          </a:p>
          <a:p>
            <a:r>
              <a:rPr lang="en-US" dirty="0"/>
              <a:t>MIT 6.824, Spring 2020, Lecture 3 video, 14:07-15:00.</a:t>
            </a:r>
          </a:p>
          <a:p>
            <a:r>
              <a:rPr lang="en-US" dirty="0"/>
              <a:t>https://www.youtube.com/watch?v=EpIgvowZr00</a:t>
            </a:r>
          </a:p>
          <a:p>
            <a:r>
              <a:rPr lang="en-US" dirty="0"/>
              <a:t>Local transcript: fall2026/lectures/references/mit-6824-2020-lecture3-gfs-transcript.txt</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Client 1 writes x equals 1, and client 2 writes x equals 2 at the same time. After both writes have completed, client 3 and client 4 each read x. What are the two readers allowed to see?</a:t>
            </a:r>
          </a:p>
          <a:p>
            <a:endParaRPr lang="en-US" dirty="0"/>
          </a:p>
          <a:p>
            <a:r>
              <a:rPr lang="en-US" dirty="0"/>
              <a:t>There is not enough information to say which write the machine processed first. Because the two writes overlap, either order is legal. If the machine executes the write of 2 and then the write of 1, the final value is 1, so both readers may return 1. If it executes the write of 1 and then the write of 2, the final value is 2, so both readers may return 2.</a:t>
            </a:r>
          </a:p>
          <a:p>
            <a:endParaRPr lang="en-US" dirty="0"/>
          </a:p>
          <a:p>
            <a:r>
              <a:rPr lang="en-US" dirty="0"/>
              <a:t>Those are the first two outcomes on the slide. Strong consistency does not promise which concurrent write wins. It promises that every result can be explained by one order chosen by the machine.</a:t>
            </a:r>
          </a:p>
          <a:p>
            <a:endParaRPr lang="en-US" dirty="0"/>
          </a:p>
          <a:p>
            <a:r>
              <a:rPr lang="en-US" dirty="0"/>
              <a:t>The third outcome is not allowed. If client 3 reads 1 while client 4 reads 2 after both writes have finished, the two observations cannot fit the same final order. One of the writes must be last, and without another intervening write, both later readers should see the value produced by that same last write.</a:t>
            </a:r>
          </a:p>
          <a:p>
            <a:endParaRPr lang="en-US" dirty="0"/>
          </a:p>
          <a:p>
            <a:r>
              <a:rPr lang="en-US" dirty="0"/>
              <a:t>So consistency is not a claim that one particular value must come back. It is a claim that everything the clients observed can be explained by one coherent order.</a:t>
            </a:r>
          </a:p>
          <a:p>
            <a:endParaRPr lang="en-US" dirty="0"/>
          </a:p>
          <a:p>
            <a:r>
              <a:rPr lang="en-US" dirty="0"/>
              <a:t>With one machine, choosing one order comes naturally. But one machine cannot survive a machine or disk failure. Once we keep multiple copies, those copies must somehow preserve the same order. That is where replication becomes difficult.</a:t>
            </a:r>
          </a:p>
          <a:p>
            <a:endParaRPr lang="en-US" dirty="0"/>
          </a:p>
          <a:p>
            <a:r>
              <a:rPr lang="en-US" dirty="0"/>
              <a:t>SOURCE
MIT 6.824, Spring 2020, Lecture 3 transcript/video, 08:11–10:47.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Students propose this fix themselves, so it is worth putting up and knocking down.</a:t>
            </a:r>
          </a:p>
          <a:p>
            <a:r>
              <a:rPr lang="en-US" dirty="0"/>
              <a:t>The replicas have already diverged on the previous slide: S1 holds 2 and S2 holds 1. The patch is the obvious one - send every read to S1, and use S2 only when S1 cannot be reached. While S1 is up it appears to work. Every reader sees 2 and nobody ever observes a disagreement.</a:t>
            </a:r>
          </a:p>
          <a:p>
            <a:r>
              <a:rPr lang="en-US" dirty="0"/>
              <a:t>Click. S1 fails. The readers fall back to S2 and now see 1. No client wrote anything between the two reads, and the value still moved backwards.</a:t>
            </a:r>
          </a:p>
          <a:p>
            <a:r>
              <a:rPr lang="en-US" dirty="0"/>
              <a:t>Apply the test from the What Should the Readers See? slide: could one correct machine have produced this? No. A machine that handles one request at a time changes a value only when somebody writes it.</a:t>
            </a:r>
          </a:p>
          <a:p>
            <a:r>
              <a:rPr lang="en-US" dirty="0"/>
              <a:t>The lesson is that reading from a designated server hides the divergence instead of removing it. The divergence is still there, and a failure is exactly when it surfaces, which is the worst possible moment for it to do so.</a:t>
            </a:r>
          </a:p>
          <a:p>
            <a:r>
              <a:rPr lang="en-US" dirty="0"/>
              <a:t>This is also why the next slide can claim that a real fix costs something: the cheap fix has just been shown to be no fix at all.</a:t>
            </a:r>
          </a:p>
          <a:p>
            <a:r>
              <a:rPr lang="en-US" dirty="0"/>
              <a:t>SOURCE</a:t>
            </a:r>
          </a:p>
          <a:p>
            <a:r>
              <a:rPr lang="en-US" dirty="0"/>
              <a:t>MIT 6.824, Spring 2020, Lecture 3 video, 13:18-14:07.</a:t>
            </a:r>
          </a:p>
          <a:p>
            <a:r>
              <a:rPr lang="en-US" dirty="0"/>
              <a:t>https://www.youtube.com/watch?v=EpIgvowZr00</a:t>
            </a:r>
          </a:p>
          <a:p>
            <a:r>
              <a:rPr lang="en-US" dirty="0"/>
              <a:t>Local transcript: fall2026/lectures/references/mit-6824-2020-lecture3-gfs-transcript.txt</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Fault tolerance requires replication</a:t>
            </a:r>
          </a:p>
          <a:p>
            <a:pPr marL="342900" indent="-342900">
              <a:buFont typeface="Arial"/>
              <a:buChar char="•"/>
            </a:pPr>
            <a:endParaRPr sz="1200" dirty="0"/>
          </a:p>
          <a:p>
            <a:pPr marL="342900" indent="-342900">
              <a:buFont typeface="Arial"/>
              <a:buChar char="•"/>
            </a:pPr>
            <a:r>
              <a:rPr sz="2400" dirty="0"/>
              <a:t>Replication risks inconsistency</a:t>
            </a:r>
          </a:p>
          <a:p>
            <a:pPr marL="342900" indent="-342900">
              <a:buFont typeface="Arial"/>
              <a:buChar char="•"/>
            </a:pPr>
            <a:endParaRPr sz="1200" dirty="0"/>
          </a:p>
          <a:p>
            <a:pPr marL="342900" indent="-342900">
              <a:buFont typeface="Arial"/>
              <a:buChar char="•"/>
            </a:pPr>
            <a:r>
              <a:rPr sz="2400" dirty="0"/>
              <a:t>Consistency requires coordination</a:t>
            </a:r>
          </a:p>
          <a:p>
            <a:pPr marL="342900" indent="-342900">
              <a:buFont typeface="Arial"/>
              <a:buChar char="•"/>
            </a:pPr>
            <a:endParaRPr sz="1200" dirty="0"/>
          </a:p>
          <a:p>
            <a:pPr marL="342900" indent="-342900">
              <a:buFont typeface="Arial"/>
              <a:buChar char="•"/>
            </a:pPr>
            <a:r>
              <a:rPr sz="2400" dirty="0"/>
              <a:t>Coordination lowers performance</a:t>
            </a:r>
          </a:p>
        </p:txBody>
      </p:sp>
      <p:sp>
        <p:nvSpPr>
          <p:cNvPr id="49" name="Partial writ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A partial write can make replicas disagree</a:t>
            </a:r>
          </a:p>
        </p:txBody>
      </p:sp>
      <p:sp>
        <p:nvSpPr>
          <p:cNvPr id="50" name="Write request">
            <a:extLst>
              <a:ext uri="{FF2B5EF4-FFF2-40B4-BE49-F238E27FC236}">
                <a16:creationId xmlns:a16="http://schemas.microsoft.com/office/drawing/2014/main" id="{75D3A3DE-8E0D-482B-BCFD-2AD2458A4DA5}"/>
              </a:ext>
            </a:extLst>
          </p:cNvPr>
          <p:cNvSpPr>
            <a:spLocks noGrp="1"/>
          </p:cNvSpPr>
          <p:nvPr/>
        </p:nvSpPr>
        <p:spPr>
          <a:xfrm>
            <a:off x="2838450" y="1438275"/>
            <a:ext cx="12192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WRITE</a:t>
            </a:r>
          </a:p>
          <a:p>
            <a:pPr algn="ctr">
              <a:defRPr sz="1425" b="1">
                <a:solidFill>
                  <a:srgbClr val="FFFFFF"/>
                </a:solidFill>
                <a:latin typeface="Aptos"/>
                <a:ea typeface="Aptos"/>
                <a:cs typeface="Aptos"/>
              </a:defRPr>
            </a:pPr>
            <a:r>
              <a:rPr sz="1425" b="1">
                <a:solidFill>
                  <a:srgbClr val="FFFFFF"/>
                </a:solidFill>
                <a:latin typeface="Aptos"/>
                <a:ea typeface="Aptos"/>
                <a:cs typeface="Aptos"/>
              </a:rPr>
              <a:t>x = B</a:t>
            </a:r>
          </a:p>
        </p:txBody>
      </p:sp>
      <p:sp>
        <p:nvSpPr>
          <p:cNvPr id="51" name="Top replica 1">
            <a:extLst>
              <a:ext uri="{FF2B5EF4-FFF2-40B4-BE49-F238E27FC236}">
                <a16:creationId xmlns:a16="http://schemas.microsoft.com/office/drawing/2014/main" id="{C047F16D-4224-436C-BA2F-7F4F14E7970E}"/>
              </a:ext>
            </a:extLst>
          </p:cNvPr>
          <p:cNvSpPr>
            <a:spLocks noGrp="1"/>
          </p:cNvSpPr>
          <p:nvPr/>
        </p:nvSpPr>
        <p:spPr>
          <a:xfrm>
            <a:off x="581025"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2" name="Top replica 2">
            <a:extLst>
              <a:ext uri="{FF2B5EF4-FFF2-40B4-BE49-F238E27FC236}">
                <a16:creationId xmlns:a16="http://schemas.microsoft.com/office/drawing/2014/main" id="{B89A6385-D3E5-42F1-8972-B1EBFAE8F87F}"/>
              </a:ext>
            </a:extLst>
          </p:cNvPr>
          <p:cNvSpPr>
            <a:spLocks noGrp="1"/>
          </p:cNvSpPr>
          <p:nvPr/>
        </p:nvSpPr>
        <p:spPr>
          <a:xfrm>
            <a:off x="2781300"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3" name="Stale replica">
            <a:extLst>
              <a:ext uri="{FF2B5EF4-FFF2-40B4-BE49-F238E27FC236}">
                <a16:creationId xmlns:a16="http://schemas.microsoft.com/office/drawing/2014/main" id="{14E7EFFC-DB2B-4ECF-A2D6-8B87D9C1B16D}"/>
              </a:ext>
            </a:extLst>
          </p:cNvPr>
          <p:cNvSpPr>
            <a:spLocks noGrp="1"/>
          </p:cNvSpPr>
          <p:nvPr/>
        </p:nvSpPr>
        <p:spPr>
          <a:xfrm>
            <a:off x="4981575" y="2266950"/>
            <a:ext cx="1333500" cy="685800"/>
          </a:xfrm>
          <a:prstGeom prst="roundRect">
            <a:avLst>
              <a:gd name="adj" fmla="val 13889"/>
            </a:avLst>
          </a:prstGeom>
          <a:solidFill>
            <a:srgbClr val="F7E8F5"/>
          </a:solidFill>
          <a:ln w="28575">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Replica 3</a:t>
            </a:r>
          </a:p>
          <a:p>
            <a:pPr algn="ctr">
              <a:defRPr sz="1350" b="1">
                <a:solidFill>
                  <a:srgbClr val="A02B93"/>
                </a:solidFill>
                <a:latin typeface="Aptos"/>
                <a:ea typeface="Aptos"/>
                <a:cs typeface="Aptos"/>
              </a:defRPr>
            </a:pPr>
            <a:r>
              <a:rPr sz="1350" b="1">
                <a:solidFill>
                  <a:srgbClr val="A02B93"/>
                </a:solidFill>
                <a:latin typeface="Aptos"/>
                <a:ea typeface="Aptos"/>
                <a:cs typeface="Aptos"/>
              </a:rPr>
              <a:t>x = A</a:t>
            </a:r>
          </a:p>
        </p:txBody>
      </p:sp>
      <p:cxnSp>
        <p:nvCxnSpPr>
          <p:cNvPr id="76" name="Straight Arrow Connector 75"/>
          <p:cNvCxnSpPr>
            <a:stCxn id="50" idx="2"/>
            <a:endCxn id="51" idx="0"/>
          </p:cNvCxnSpPr>
          <p:nvPr/>
        </p:nvCxnSpPr>
        <p:spPr>
          <a:xfrm flipH="1">
            <a:off x="1247775" y="2028825"/>
            <a:ext cx="2200275" cy="238125"/>
          </a:xfrm>
          <a:prstGeom prst="straightConnector1">
            <a:avLst/>
          </a:prstGeom>
          <a:ln w="19050">
            <a:solidFill>
              <a:srgbClr val="5B6573"/>
            </a:solidFill>
            <a:prstDash val="solid"/>
            <a:tailEnd type="triangle" w="sm" len="sm"/>
          </a:ln>
        </p:spPr>
      </p:cxnSp>
      <p:cxnSp>
        <p:nvCxnSpPr>
          <p:cNvPr id="77" name="Straight Arrow Connector 76"/>
          <p:cNvCxnSpPr>
            <a:stCxn id="50" idx="2"/>
            <a:endCxn id="52" idx="0"/>
          </p:cNvCxnSpPr>
          <p:nvPr/>
        </p:nvCxnSpPr>
        <p:spPr>
          <a:xfrm>
            <a:off x="3448050" y="2028825"/>
            <a:ext cx="0" cy="238125"/>
          </a:xfrm>
          <a:prstGeom prst="straightConnector1">
            <a:avLst/>
          </a:prstGeom>
          <a:ln w="19050">
            <a:solidFill>
              <a:srgbClr val="5B6573"/>
            </a:solidFill>
            <a:prstDash val="solid"/>
            <a:tailEnd type="triangle" w="sm" len="sm"/>
          </a:ln>
        </p:spPr>
      </p:cxnSp>
      <p:cxnSp>
        <p:nvCxnSpPr>
          <p:cNvPr id="78" name="Straight Arrow Connector 77"/>
          <p:cNvCxnSpPr>
            <a:stCxn id="50" idx="2"/>
            <a:endCxn id="53" idx="0"/>
          </p:cNvCxnSpPr>
          <p:nvPr/>
        </p:nvCxnSpPr>
        <p:spPr>
          <a:xfrm>
            <a:off x="3448050" y="2028825"/>
            <a:ext cx="2200275" cy="238125"/>
          </a:xfrm>
          <a:prstGeom prst="straightConnector1">
            <a:avLst/>
          </a:prstGeom>
          <a:ln w="19050">
            <a:solidFill>
              <a:srgbClr val="A02B93"/>
            </a:solidFill>
            <a:prstDash val="dash"/>
            <a:tailEnd type="triangle" w="sm" len="sm"/>
          </a:ln>
        </p:spPr>
      </p:cxnSp>
      <p:sp>
        <p:nvSpPr>
          <p:cNvPr id="57" name="Stale copy label">
            <a:extLst>
              <a:ext uri="{FF2B5EF4-FFF2-40B4-BE49-F238E27FC236}">
                <a16:creationId xmlns:a16="http://schemas.microsoft.com/office/drawing/2014/main" id="{8E2343DF-2BB9-401F-B950-594DD72F33BC}"/>
              </a:ext>
            </a:extLst>
          </p:cNvPr>
          <p:cNvSpPr>
            <a:spLocks noGrp="1"/>
          </p:cNvSpPr>
          <p:nvPr/>
        </p:nvSpPr>
        <p:spPr>
          <a:xfrm>
            <a:off x="5000625" y="2971800"/>
            <a:ext cx="1295400" cy="257175"/>
          </a:xfrm>
          <a:prstGeom prst="rect">
            <a:avLst/>
          </a:prstGeom>
          <a:noFill/>
          <a:ln w="0">
            <a:noFill/>
          </a:ln>
        </p:spPr>
        <p:txBody>
          <a:bodyPr>
            <a:normAutofit fontScale="76316"/>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stale copy</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Coordination heading">
            <a:extLst>
              <a:ext uri="{FF2B5EF4-FFF2-40B4-BE49-F238E27FC236}">
                <a16:creationId xmlns:a16="http://schemas.microsoft.com/office/drawing/2014/main" id="{A3E49605-0D7A-41CB-AFA0-72806CB22D49}"/>
              </a:ext>
            </a:extLst>
          </p:cNvPr>
          <p:cNvSpPr>
            <a:spLocks noGrp="1"/>
          </p:cNvSpPr>
          <p:nvPr/>
        </p:nvSpPr>
        <p:spPr>
          <a:xfrm>
            <a:off x="409575" y="351472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Stronger consistency makes replicas coordinate</a:t>
            </a:r>
          </a:p>
        </p:txBody>
      </p:sp>
      <p:sp>
        <p:nvSpPr>
          <p:cNvPr id="60" name="Consistent replica 1">
            <a:extLst>
              <a:ext uri="{FF2B5EF4-FFF2-40B4-BE49-F238E27FC236}">
                <a16:creationId xmlns:a16="http://schemas.microsoft.com/office/drawing/2014/main" id="{038D7E5E-8B95-4F93-B217-322D71EE6C6C}"/>
              </a:ext>
            </a:extLst>
          </p:cNvPr>
          <p:cNvSpPr>
            <a:spLocks noGrp="1"/>
          </p:cNvSpPr>
          <p:nvPr/>
        </p:nvSpPr>
        <p:spPr>
          <a:xfrm>
            <a:off x="5238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1" name="Consistent replica 2">
            <a:extLst>
              <a:ext uri="{FF2B5EF4-FFF2-40B4-BE49-F238E27FC236}">
                <a16:creationId xmlns:a16="http://schemas.microsoft.com/office/drawing/2014/main" id="{E7B20FF7-ACB2-41C6-84C8-20B1208AB980}"/>
              </a:ext>
            </a:extLst>
          </p:cNvPr>
          <p:cNvSpPr>
            <a:spLocks noGrp="1"/>
          </p:cNvSpPr>
          <p:nvPr/>
        </p:nvSpPr>
        <p:spPr>
          <a:xfrm>
            <a:off x="23526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2" name="Consistent replica 3">
            <a:extLst>
              <a:ext uri="{FF2B5EF4-FFF2-40B4-BE49-F238E27FC236}">
                <a16:creationId xmlns:a16="http://schemas.microsoft.com/office/drawing/2014/main" id="{87044477-B397-489B-940A-AABA6864C522}"/>
              </a:ext>
            </a:extLst>
          </p:cNvPr>
          <p:cNvSpPr>
            <a:spLocks noGrp="1"/>
          </p:cNvSpPr>
          <p:nvPr/>
        </p:nvSpPr>
        <p:spPr>
          <a:xfrm>
            <a:off x="41814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3</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3" name="Wait before reply">
            <a:extLst>
              <a:ext uri="{FF2B5EF4-FFF2-40B4-BE49-F238E27FC236}">
                <a16:creationId xmlns:a16="http://schemas.microsoft.com/office/drawing/2014/main" id="{B0C8692A-27AE-4FA6-8FCE-A48108951AB8}"/>
              </a:ext>
            </a:extLst>
          </p:cNvPr>
          <p:cNvSpPr>
            <a:spLocks noGrp="1"/>
          </p:cNvSpPr>
          <p:nvPr/>
        </p:nvSpPr>
        <p:spPr>
          <a:xfrm>
            <a:off x="5915025" y="4076700"/>
            <a:ext cx="838200" cy="762000"/>
          </a:xfrm>
          <a:prstGeom prst="roundRect">
            <a:avLst>
              <a:gd name="adj" fmla="val 12500"/>
            </a:avLst>
          </a:prstGeom>
          <a:solidFill>
            <a:srgbClr val="FFFFFF"/>
          </a:solidFill>
          <a:ln w="28575">
            <a:solidFill>
              <a:srgbClr val="A02B93"/>
            </a:solidFill>
            <a:prstDash val="solid"/>
          </a:ln>
        </p:spPr>
        <p:txBody>
          <a:bodyPr lIns="47625" tIns="47625" rIns="47625" bIns="47625" anchor="ctr">
            <a:normAutofit/>
          </a:bodyPr>
          <a:lstStyle/>
          <a:p>
            <a:pPr algn="ctr">
              <a:defRPr sz="1200" b="1">
                <a:solidFill>
                  <a:srgbClr val="A02B93"/>
                </a:solidFill>
                <a:latin typeface="Aptos"/>
                <a:ea typeface="Aptos"/>
                <a:cs typeface="Aptos"/>
              </a:defRPr>
            </a:pPr>
            <a:r>
              <a:rPr sz="1200" b="1">
                <a:solidFill>
                  <a:srgbClr val="A02B93"/>
                </a:solidFill>
                <a:latin typeface="Aptos"/>
                <a:ea typeface="Aptos"/>
                <a:cs typeface="Aptos"/>
              </a:rPr>
              <a:t>WAIT</a:t>
            </a:r>
          </a:p>
          <a:p>
            <a:pPr algn="ctr">
              <a:defRPr sz="1200" b="1">
                <a:solidFill>
                  <a:srgbClr val="A02B93"/>
                </a:solidFill>
                <a:latin typeface="Aptos"/>
                <a:ea typeface="Aptos"/>
                <a:cs typeface="Aptos"/>
              </a:defRPr>
            </a:pPr>
            <a:r>
              <a:rPr sz="1200" b="1">
                <a:solidFill>
                  <a:srgbClr val="A02B93"/>
                </a:solidFill>
                <a:latin typeface="Aptos"/>
                <a:ea typeface="Aptos"/>
                <a:cs typeface="Aptos"/>
              </a:rPr>
              <a:t>before reply</a:t>
            </a:r>
          </a:p>
        </p:txBody>
      </p:sp>
      <p:cxnSp>
        <p:nvCxnSpPr>
          <p:cNvPr id="86" name="Straight Arrow Connector 85"/>
          <p:cNvCxnSpPr>
            <a:stCxn id="60" idx="3"/>
            <a:endCxn id="61" idx="1"/>
          </p:cNvCxnSpPr>
          <p:nvPr/>
        </p:nvCxnSpPr>
        <p:spPr>
          <a:xfrm>
            <a:off x="1781175" y="4457700"/>
            <a:ext cx="571500" cy="0"/>
          </a:xfrm>
          <a:prstGeom prst="straightConnector1">
            <a:avLst/>
          </a:prstGeom>
          <a:ln w="19050">
            <a:solidFill>
              <a:srgbClr val="5B6573"/>
            </a:solidFill>
            <a:prstDash val="solid"/>
            <a:headEnd type="triangle" w="sm" len="sm"/>
            <a:tailEnd type="triangle" w="sm" len="sm"/>
          </a:ln>
        </p:spPr>
      </p:cxnSp>
      <p:cxnSp>
        <p:nvCxnSpPr>
          <p:cNvPr id="87" name="Straight Arrow Connector 86"/>
          <p:cNvCxnSpPr>
            <a:stCxn id="61" idx="3"/>
            <a:endCxn id="62" idx="1"/>
          </p:cNvCxnSpPr>
          <p:nvPr/>
        </p:nvCxnSpPr>
        <p:spPr>
          <a:xfrm>
            <a:off x="3609975" y="4457700"/>
            <a:ext cx="571500" cy="0"/>
          </a:xfrm>
          <a:prstGeom prst="straightConnector1">
            <a:avLst/>
          </a:prstGeom>
          <a:ln w="19050">
            <a:solidFill>
              <a:srgbClr val="5B6573"/>
            </a:solidFill>
            <a:prstDash val="solid"/>
            <a:headEnd type="triangle" w="sm" len="sm"/>
            <a:tailEnd type="triangle" w="sm" len="sm"/>
          </a:ln>
        </p:spPr>
      </p:cxnSp>
      <p:cxnSp>
        <p:nvCxnSpPr>
          <p:cNvPr id="88" name="Straight Arrow Connector 87"/>
          <p:cNvCxnSpPr>
            <a:stCxn id="62" idx="3"/>
            <a:endCxn id="63" idx="1"/>
          </p:cNvCxnSpPr>
          <p:nvPr/>
        </p:nvCxnSpPr>
        <p:spPr>
          <a:xfrm>
            <a:off x="5438775" y="4457700"/>
            <a:ext cx="476250" cy="0"/>
          </a:xfrm>
          <a:prstGeom prst="straightConnector1">
            <a:avLst/>
          </a:prstGeom>
          <a:ln w="19050">
            <a:solidFill>
              <a:srgbClr val="A02B93"/>
            </a:solidFill>
            <a:prstDash val="solid"/>
            <a:tailEnd type="triangle" w="sm" len="sm"/>
          </a:ln>
        </p:spPr>
      </p:cxnSp>
      <p:sp>
        <p:nvSpPr>
          <p:cNvPr id="67" name="Coordination cost">
            <a:extLst>
              <a:ext uri="{FF2B5EF4-FFF2-40B4-BE49-F238E27FC236}">
                <a16:creationId xmlns:a16="http://schemas.microsoft.com/office/drawing/2014/main" id="{F52DF72F-2902-473C-9FF3-D23AA5738F62}"/>
              </a:ext>
            </a:extLst>
          </p:cNvPr>
          <p:cNvSpPr>
            <a:spLocks noGrp="1"/>
          </p:cNvSpPr>
          <p:nvPr/>
        </p:nvSpPr>
        <p:spPr>
          <a:xfrm>
            <a:off x="533400" y="5105400"/>
            <a:ext cx="6191250"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extra messages + waiting  →  lower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par>
                                <p:cTn id="26" presetID="9" presetClass="entr" presetSubtype="0" fill="hold" nodeType="withEffect">
                                  <p:stCondLst>
                                    <p:cond delay="0"/>
                                  </p:stCondLst>
                                  <p:childTnLst>
                                    <p:set>
                                      <p:cBhvr>
                                        <p:cTn id="27" dur="1" fill="hold">
                                          <p:stCondLst>
                                            <p:cond delay="0"/>
                                          </p:stCondLst>
                                        </p:cTn>
                                        <p:tgtEl>
                                          <p:spTgt spid="86"/>
                                        </p:tgtEl>
                                        <p:attrNameLst>
                                          <p:attrName>style.visibility</p:attrName>
                                        </p:attrNameLst>
                                      </p:cBhvr>
                                      <p:to>
                                        <p:strVal val="visible"/>
                                      </p:to>
                                    </p:set>
                                    <p:animEffect transition="in" filter="dissolve">
                                      <p:cBhvr>
                                        <p:cTn id="28" dur="500"/>
                                        <p:tgtEl>
                                          <p:spTgt spid="86"/>
                                        </p:tgtEl>
                                      </p:cBhvr>
                                    </p:animEffect>
                                  </p:childTnLst>
                                </p:cTn>
                              </p:par>
                              <p:par>
                                <p:cTn id="29" presetID="9" presetClass="entr" presetSubtype="0" fill="hold" nodeType="withEffect">
                                  <p:stCondLst>
                                    <p:cond delay="0"/>
                                  </p:stCondLst>
                                  <p:childTnLst>
                                    <p:set>
                                      <p:cBhvr>
                                        <p:cTn id="30" dur="1" fill="hold">
                                          <p:stCondLst>
                                            <p:cond delay="0"/>
                                          </p:stCondLst>
                                        </p:cTn>
                                        <p:tgtEl>
                                          <p:spTgt spid="87"/>
                                        </p:tgtEl>
                                        <p:attrNameLst>
                                          <p:attrName>style.visibility</p:attrName>
                                        </p:attrNameLst>
                                      </p:cBhvr>
                                      <p:to>
                                        <p:strVal val="visible"/>
                                      </p:to>
                                    </p:set>
                                    <p:animEffect transition="in" filter="dissolve">
                                      <p:cBhvr>
                                        <p:cTn id="31" dur="500"/>
                                        <p:tgtEl>
                                          <p:spTgt spid="87"/>
                                        </p:tgtEl>
                                      </p:cBhvr>
                                    </p:animEffect>
                                  </p:childTnLst>
                                </p:cTn>
                              </p:par>
                              <p:par>
                                <p:cTn id="32" presetID="9" presetClass="entr" presetSubtype="0" fill="hold" nodeType="withEffect">
                                  <p:stCondLst>
                                    <p:cond delay="0"/>
                                  </p:stCondLst>
                                  <p:childTnLst>
                                    <p:set>
                                      <p:cBhvr>
                                        <p:cTn id="33" dur="1" fill="hold">
                                          <p:stCondLst>
                                            <p:cond delay="0"/>
                                          </p:stCondLst>
                                        </p:cTn>
                                        <p:tgtEl>
                                          <p:spTgt spid="88"/>
                                        </p:tgtEl>
                                        <p:attrNameLst>
                                          <p:attrName>style.visibility</p:attrName>
                                        </p:attrNameLst>
                                      </p:cBhvr>
                                      <p:to>
                                        <p:strVal val="visible"/>
                                      </p:to>
                                    </p:set>
                                    <p:animEffect transition="in" filter="dissolve">
                                      <p:cBhvr>
                                        <p:cTn id="34" dur="500"/>
                                        <p:tgtEl>
                                          <p:spTgt spid="88"/>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67"/>
                                        </p:tgtEl>
                                        <p:attrNameLst>
                                          <p:attrName>style.visibility</p:attrName>
                                        </p:attrNameLst>
                                      </p:cBhvr>
                                      <p:to>
                                        <p:strVal val="visible"/>
                                      </p:to>
                                    </p:set>
                                    <p:animEffect transition="in" filter="dissolve">
                                      <p:cBhvr>
                                        <p:cTn id="37"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animBg="1"/>
      <p:bldP spid="6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How can data remain correct when it is spread across machines that fail?</a:t>
            </a:r>
          </a:p>
          <a:p>
            <a:endParaRPr lang="en-US" sz="3200" dirty="0"/>
          </a:p>
          <a:p>
            <a:r>
              <a:rPr lang="en-US" sz="3200" b="1" dirty="0"/>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r>
              <a:rPr lang="en-US" sz="3200" b="1" dirty="0"/>
              <a:t>That one machine does one thing at a time</a:t>
            </a:r>
          </a:p>
          <a:p>
            <a:pPr marL="914400" indent="-457200">
              <a:buFont typeface="Arial" panose="020B0604020202020204" pitchFamily="34" charset="0"/>
              <a:buChar char="•"/>
            </a:pPr>
            <a:r>
              <a:rPr lang="en-US" sz="2800" b="0" dirty="0"/>
              <a:t>Concurrent requests are put in some order, and the machine picks the order</a:t>
            </a:r>
          </a:p>
          <a:p>
            <a:pPr marL="914400" indent="-457200">
              <a:buFont typeface="Arial" panose="020B0604020202020204" pitchFamily="34" charset="0"/>
              <a:buChar char="•"/>
            </a:pPr>
            <a:r>
              <a:rPr lang="en-US" sz="2800" b="0" dirty="0"/>
              <a:t>Each request finishes before the next one starts</a:t>
            </a:r>
          </a:p>
          <a:p>
            <a:endParaRPr lang="en-US" sz="3200" b="1" dirty="0"/>
          </a:p>
          <a:p>
            <a:r>
              <a:rPr lang="en-US" sz="3200" b="1" dirty="0"/>
              <a:t>So the test is: could one machine have produced what the clients saw?</a:t>
            </a:r>
          </a:p>
          <a:p>
            <a:pPr marL="914400" indent="-457200">
              <a:buFont typeface="Arial" panose="020B0604020202020204" pitchFamily="34" charset="0"/>
              <a:buChar char="•"/>
            </a:pPr>
            <a:r>
              <a:rPr lang="en-US" sz="2800" b="0" dirty="0"/>
              <a:t>Not a particular answer, but an answer that fits one single order</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6" end="7"/>
                                            </p:txEl>
                                          </p:spTgt>
                                        </p:tgtEl>
                                        <p:attrNameLst>
                                          <p:attrName>style.visibility</p:attrName>
                                        </p:attrNameLst>
                                      </p:cBhvr>
                                      <p:to>
                                        <p:strVal val="visible"/>
                                      </p:to>
                                    </p:set>
                                    <p:animEffect transition="in" filter="dissolve">
                                      <p:cBhvr>
                                        <p:cTn id="7" dur="500"/>
                                        <p:tgtEl>
                                          <p:spTgt spid="2">
                                            <p:txEl>
                                              <p:pRg st="6"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dissolve">
                                      <p:cBhvr>
                                        <p:cTn id="10" dur="500"/>
                                        <p:tgtEl>
                                          <p:spTgt spid="5"/>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dissolve">
                                      <p:cBhvr>
                                        <p:cTn id="13" dur="500"/>
                                        <p:tgtEl>
                                          <p:spTgt spid="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dissolve">
                                      <p:cBhvr>
                                        <p:cTn id="16" dur="500"/>
                                        <p:tgtEl>
                                          <p:spTgt spid="9"/>
                                        </p:tgtEl>
                                      </p:cBhvr>
                                    </p:animEffect>
                                  </p:childTnLst>
                                </p:cTn>
                              </p:par>
                              <p:par>
                                <p:cTn id="17" presetID="9"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dissolve">
                                      <p:cBhvr>
                                        <p:cTn id="19" dur="500"/>
                                        <p:tgtEl>
                                          <p:spTgt spid="10"/>
                                        </p:tgtEl>
                                      </p:cBhvr>
                                    </p:animEffect>
                                  </p:childTnLst>
                                </p:cTn>
                              </p:par>
                              <p:par>
                                <p:cTn id="20" presetID="9"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dissolve">
                                      <p:cBhvr>
                                        <p:cTn id="22" dur="500"/>
                                        <p:tgtEl>
                                          <p:spTgt spid="13"/>
                                        </p:tgtEl>
                                      </p:cBhvr>
                                    </p:animEffect>
                                  </p:childTnLst>
                                </p:cTn>
                              </p:par>
                              <p:par>
                                <p:cTn id="23" presetID="9"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dissolve">
                                      <p:cBhvr>
                                        <p:cTn id="25" dur="500"/>
                                        <p:tgtEl>
                                          <p:spTgt spid="18"/>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dissolve">
                                      <p:cBhvr>
                                        <p:cTn id="2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Distributed storage is a key abstraction</a:t>
            </a:r>
          </a:p>
          <a:p>
            <a:r>
              <a:rPr lang="en-US" sz="2800" b="1" dirty="0">
                <a:solidFill>
                  <a:srgbClr val="A02B93"/>
                </a:solidFill>
              </a:rPr>
              <a:t>What interface should GFS expose to applications?</a:t>
            </a:r>
          </a:p>
          <a:p>
            <a:r>
              <a:rPr lang="en-US" sz="3200" b="1" dirty="0">
                <a:effectLst/>
              </a:rPr>
              <a:t>GFS paper touches on many themes of this course</a:t>
            </a:r>
          </a:p>
          <a:p>
            <a:pPr marL="742950" lvl="1" indent="-285750">
              <a:buFont typeface="Arial" panose="020B0604020202020204" pitchFamily="34" charset="0"/>
              <a:buChar char="•"/>
            </a:pPr>
            <a:r>
              <a:rPr lang="en-US" sz="2800" dirty="0">
                <a:effectLst/>
              </a:rPr>
              <a:t>parallel performance, fault tolerance, replication,</a:t>
            </a:r>
          </a:p>
          <a:p>
            <a:endParaRPr lang="en-US" sz="2800" dirty="0"/>
          </a:p>
          <a:p>
            <a:r>
              <a:rPr lang="en-US" sz="2800" b="1" dirty="0">
                <a:effectLst/>
              </a:rPr>
              <a:t> </a:t>
            </a:r>
            <a:r>
              <a:rPr lang="en-US" sz="3200" b="1" dirty="0"/>
              <a:t>C</a:t>
            </a:r>
            <a:r>
              <a:rPr lang="en-US" sz="3200" b="1" dirty="0">
                <a:effectLst/>
              </a:rPr>
              <a:t>onsistency</a:t>
            </a:r>
          </a:p>
          <a:p>
            <a:pPr marL="742950" lvl="1" indent="-285750">
              <a:buFont typeface="Arial" panose="020B0604020202020204" pitchFamily="34" charset="0"/>
              <a:buChar char="•"/>
            </a:pPr>
            <a:r>
              <a:rPr lang="en-US" sz="2800" dirty="0">
                <a:effectLst/>
              </a:rPr>
              <a:t>good systems paper -- details from apps all the way to network</a:t>
            </a:r>
          </a:p>
          <a:p>
            <a:endParaRPr lang="en-US" sz="2800" dirty="0">
              <a:effectLst/>
            </a:endParaRPr>
          </a:p>
          <a:p>
            <a:r>
              <a:rPr lang="en-US" sz="3200" b="1" dirty="0">
                <a:effectLst/>
              </a:rPr>
              <a:t>successful real-world design</a:t>
            </a:r>
          </a:p>
          <a:p>
            <a:endParaRPr lang="en-US" sz="2800" dirty="0">
              <a:effectLst/>
            </a:endParaRPr>
          </a:p>
        </p:txBody>
      </p:sp>
    </p:spTree>
    <p:extLst>
      <p:ext uri="{BB962C8B-B14F-4D97-AF65-F5344CB8AC3E}">
        <p14:creationId xmlns:p14="http://schemas.microsoft.com/office/powerpoint/2010/main" val="3677884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 </a:t>
            </a:r>
          </a:p>
          <a:p>
            <a:endParaRPr lang="en-US" sz="3200" b="1" dirty="0"/>
          </a:p>
          <a:p>
            <a:r>
              <a:rPr lang="en-US" sz="3200" b="1" dirty="0"/>
              <a:t>Huge scale. </a:t>
            </a:r>
          </a:p>
          <a:p>
            <a:endParaRPr lang="en-US" sz="3200" b="1" dirty="0"/>
          </a:p>
          <a:p>
            <a:r>
              <a:rPr lang="en-US" sz="3200" b="1" dirty="0"/>
              <a:t>Used in industry, real-world experience. </a:t>
            </a:r>
          </a:p>
          <a:p>
            <a:endParaRPr lang="en-US" sz="3200" b="1" dirty="0"/>
          </a:p>
          <a:p>
            <a:r>
              <a:rPr lang="en-US" sz="3200" b="1" dirty="0"/>
              <a:t>Successful use of weak consistency. </a:t>
            </a:r>
          </a:p>
          <a:p>
            <a:endParaRPr lang="en-US" sz="32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Centralization for simplicity &amp; global knowledge for chunk placement</a:t>
            </a:r>
          </a:p>
          <a:p>
            <a:endParaRPr lang="en-US" sz="2000" dirty="0"/>
          </a:p>
          <a:p>
            <a:r>
              <a:rPr lang="en-US" sz="2800" b="1" dirty="0"/>
              <a:t>Namespace and metadata management</a:t>
            </a:r>
          </a:p>
          <a:p>
            <a:r>
              <a:rPr lang="en-US" sz="2800" dirty="0"/>
              <a:t> </a:t>
            </a:r>
          </a:p>
          <a:p>
            <a:r>
              <a:rPr lang="en-US" sz="2800" b="1" dirty="0"/>
              <a:t>Managing chunks</a:t>
            </a:r>
          </a:p>
          <a:p>
            <a:pPr marL="742950" lvl="1" indent="-285750">
              <a:buFont typeface="Arial" panose="020B0604020202020204" pitchFamily="34" charset="0"/>
              <a:buChar char="•"/>
            </a:pPr>
            <a:r>
              <a:rPr lang="en-US" sz="2400" dirty="0"/>
              <a:t>Where they are (file&lt;-chunks, replicas) </a:t>
            </a:r>
          </a:p>
          <a:p>
            <a:pPr marL="742950" lvl="1" indent="-285750">
              <a:buFont typeface="Arial" panose="020B0604020202020204" pitchFamily="34" charset="0"/>
              <a:buChar char="•"/>
            </a:pPr>
            <a:r>
              <a:rPr lang="en-US" sz="2400" dirty="0"/>
              <a:t>Where to put new </a:t>
            </a:r>
          </a:p>
          <a:p>
            <a:pPr marL="742950" lvl="1" indent="-285750">
              <a:buFont typeface="Arial" panose="020B0604020202020204" pitchFamily="34" charset="0"/>
              <a:buChar char="•"/>
            </a:pPr>
            <a:r>
              <a:rPr lang="en-US" sz="2400" dirty="0"/>
              <a:t>When to re-replicate (failure, load-balancing) </a:t>
            </a:r>
          </a:p>
          <a:p>
            <a:pPr marL="742950" lvl="1" indent="-285750">
              <a:buFont typeface="Arial" panose="020B0604020202020204" pitchFamily="34" charset="0"/>
              <a:buChar char="•"/>
            </a:pPr>
            <a:r>
              <a:rPr lang="en-US" sz="2400" dirty="0"/>
              <a:t>When and what to delete (garbage collection) </a:t>
            </a:r>
          </a:p>
          <a:p>
            <a:pPr marL="742950" lvl="1" indent="-285750">
              <a:buFont typeface="Arial" panose="020B0604020202020204" pitchFamily="34" charset="0"/>
              <a:buChar char="•"/>
            </a:pPr>
            <a:endParaRPr lang="en-US" sz="2000" dirty="0"/>
          </a:p>
          <a:p>
            <a:r>
              <a:rPr lang="en-US" sz="2800" b="1" dirty="0"/>
              <a:t>Fault tolerance </a:t>
            </a:r>
          </a:p>
          <a:p>
            <a:pPr marL="742950" lvl="1" indent="-285750">
              <a:buFont typeface="Arial" panose="020B0604020202020204" pitchFamily="34" charset="0"/>
              <a:buChar char="•"/>
            </a:pPr>
            <a:r>
              <a:rPr lang="en-US" sz="2400" dirty="0"/>
              <a:t>Shadow masters </a:t>
            </a:r>
          </a:p>
          <a:p>
            <a:pPr marL="742950" lvl="1" indent="-285750">
              <a:buFont typeface="Arial" panose="020B0604020202020204" pitchFamily="34" charset="0"/>
              <a:buChar char="•"/>
            </a:pPr>
            <a:r>
              <a:rPr lang="en-US" sz="2400" dirty="0"/>
              <a:t>Monitoring infrastructure outside of GFS </a:t>
            </a:r>
          </a:p>
          <a:p>
            <a:pPr marL="742950" lvl="1" indent="-285750">
              <a:buFont typeface="Arial" panose="020B0604020202020204" pitchFamily="34" charset="0"/>
              <a:buChar char="•"/>
            </a:pPr>
            <a:r>
              <a:rPr lang="en-US" sz="2400" dirty="0"/>
              <a:t>Periodic snapshots </a:t>
            </a:r>
          </a:p>
          <a:p>
            <a:pPr marL="742950" lvl="1" indent="-285750">
              <a:buFont typeface="Arial" panose="020B0604020202020204" pitchFamily="34" charset="0"/>
              <a:buChar char="•"/>
            </a:pPr>
            <a:r>
              <a:rPr lang="en-US" sz="2400" dirty="0"/>
              <a:t>Mirrored operations log</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animEffect transition="in" filter="dissolve">
                                      <p:cBhvr>
                                        <p:cTn id="33" dur="500"/>
                                        <p:tgtEl>
                                          <p:spTgt spid="3">
                                            <p:txEl>
                                              <p:pRg st="13" end="13"/>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animEffect transition="in" filter="dissolve">
                                      <p:cBhvr>
                                        <p:cTn id="3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FD941-3F18-97E6-3355-D2E53AA8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55645FD-D788-DEFE-6B92-5ECBD3ABA99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DE97269-C6AC-CE5A-01BA-B6D3C6C3CFD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8F0C4402-4483-A13D-3B01-87ED83BFA065}"/>
              </a:ext>
            </a:extLst>
          </p:cNvPr>
          <p:cNvSpPr txBox="1"/>
          <p:nvPr/>
        </p:nvSpPr>
        <p:spPr>
          <a:xfrm>
            <a:off x="136633" y="847150"/>
            <a:ext cx="11918732" cy="5509200"/>
          </a:xfrm>
          <a:prstGeom prst="rect">
            <a:avLst/>
          </a:prstGeom>
          <a:noFill/>
        </p:spPr>
        <p:txBody>
          <a:bodyPr wrap="square">
            <a:spAutoFit/>
          </a:bodyPr>
          <a:lstStyle/>
          <a:p>
            <a:r>
              <a:rPr lang="en-US" sz="2800" b="1" dirty="0"/>
              <a:t>All Metadata is kept in Master’s memory – it’s fast! </a:t>
            </a:r>
          </a:p>
          <a:p>
            <a:pPr marL="800100" lvl="1" indent="-342900">
              <a:buFont typeface="Arial" panose="020B0604020202020204" pitchFamily="34" charset="0"/>
              <a:buChar char="•"/>
            </a:pPr>
            <a:r>
              <a:rPr lang="en-US" sz="2400" dirty="0"/>
              <a:t> A 64 MB chunk needs less than 64B metadata =&gt; for 640 TB less than 640MB </a:t>
            </a:r>
          </a:p>
          <a:p>
            <a:endParaRPr lang="en-US" sz="2400" dirty="0"/>
          </a:p>
          <a:p>
            <a:r>
              <a:rPr lang="en-US" sz="2800" b="1" dirty="0"/>
              <a:t>Master learns </a:t>
            </a:r>
            <a:r>
              <a:rPr lang="en-US" sz="2800" b="1" dirty="0" err="1"/>
              <a:t>ChunkServer</a:t>
            </a:r>
            <a:r>
              <a:rPr lang="en-US" sz="2800" b="1" dirty="0"/>
              <a:t>-to-chunk mapping from Chunk Servers when </a:t>
            </a:r>
          </a:p>
          <a:p>
            <a:pPr marL="800100" lvl="1" indent="-342900">
              <a:buFont typeface="Arial" panose="020B0604020202020204" pitchFamily="34" charset="0"/>
              <a:buChar char="•"/>
            </a:pPr>
            <a:r>
              <a:rPr lang="en-US" sz="2400" dirty="0"/>
              <a:t> Master starts </a:t>
            </a:r>
          </a:p>
          <a:p>
            <a:pPr marL="800100" lvl="1" indent="-342900">
              <a:buFont typeface="Arial" panose="020B0604020202020204" pitchFamily="34" charset="0"/>
              <a:buChar char="•"/>
            </a:pPr>
            <a:r>
              <a:rPr lang="en-US" sz="2400" dirty="0"/>
              <a:t> A Chunk Server joins the cluster </a:t>
            </a:r>
          </a:p>
          <a:p>
            <a:endParaRPr lang="en-US" sz="2400" dirty="0"/>
          </a:p>
          <a:p>
            <a:r>
              <a:rPr lang="en-US" sz="2800" b="1" dirty="0"/>
              <a:t>Master exchanges periodic heartbeat with Chunk Servers </a:t>
            </a:r>
          </a:p>
          <a:p>
            <a:pPr marL="800100" lvl="1" indent="-342900">
              <a:buFont typeface="Arial" panose="020B0604020202020204" pitchFamily="34" charset="0"/>
              <a:buChar char="•"/>
            </a:pPr>
            <a:r>
              <a:rPr lang="en-US" sz="2400" dirty="0"/>
              <a:t> state monitoring &amp; instructions </a:t>
            </a:r>
          </a:p>
          <a:p>
            <a:endParaRPr lang="en-US" sz="2400" dirty="0"/>
          </a:p>
          <a:p>
            <a:r>
              <a:rPr lang="en-US" sz="2800" b="1" dirty="0"/>
              <a:t>Operation log to keep file-to-chunk mapping persistent </a:t>
            </a:r>
          </a:p>
          <a:p>
            <a:pPr marL="800100" lvl="1" indent="-342900">
              <a:buFont typeface="Arial" panose="020B0604020202020204" pitchFamily="34" charset="0"/>
              <a:buChar char="•"/>
            </a:pPr>
            <a:r>
              <a:rPr lang="en-US" sz="2400" dirty="0"/>
              <a:t> Is used for serialization of concurrent operations</a:t>
            </a:r>
          </a:p>
          <a:p>
            <a:pPr marL="800100" lvl="1" indent="-342900">
              <a:buFont typeface="Arial" panose="020B0604020202020204" pitchFamily="34" charset="0"/>
              <a:buChar char="•"/>
            </a:pPr>
            <a:r>
              <a:rPr lang="en-US" sz="2400" dirty="0"/>
              <a:t> Replicated in master’s disk and on remote machines</a:t>
            </a:r>
          </a:p>
          <a:p>
            <a:pPr marL="800100" lvl="1" indent="-342900">
              <a:buFont typeface="Arial" panose="020B0604020202020204" pitchFamily="34" charset="0"/>
              <a:buChar char="•"/>
            </a:pPr>
            <a:r>
              <a:rPr lang="en-US" sz="2400" dirty="0"/>
              <a:t> Respond to client only when log is flushed locally and remotely</a:t>
            </a:r>
          </a:p>
        </p:txBody>
      </p:sp>
    </p:spTree>
    <p:extLst>
      <p:ext uri="{BB962C8B-B14F-4D97-AF65-F5344CB8AC3E}">
        <p14:creationId xmlns:p14="http://schemas.microsoft.com/office/powerpoint/2010/main" val="28638903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Tree>
    <p:extLst>
      <p:ext uri="{BB962C8B-B14F-4D97-AF65-F5344CB8AC3E}">
        <p14:creationId xmlns:p14="http://schemas.microsoft.com/office/powerpoint/2010/main" val="16574235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 Fix Has a Price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The replicas disagreed because nobody chose an order</a:t>
            </a:r>
          </a:p>
          <a:p>
            <a:pPr marL="914400" indent="-457200">
              <a:buFont typeface="Arial" panose="020B0604020202020204" pitchFamily="34" charset="0"/>
              <a:buChar char="•"/>
            </a:pPr>
            <a:r>
              <a:rPr lang="en-US" sz="2800" b="0" dirty="0"/>
              <a:t>Each server applied the writes in the order the network happened to deliver them</a:t>
            </a:r>
          </a:p>
          <a:p>
            <a:pPr marL="914400" indent="-457200">
              <a:buFont typeface="Arial" panose="020B0604020202020204" pitchFamily="34" charset="0"/>
              <a:buChar char="•"/>
            </a:pPr>
            <a:r>
              <a:rPr lang="en-US" sz="2800" b="0" dirty="0"/>
              <a:t>Any fix has to make all replicas agree on one order</a:t>
            </a:r>
          </a:p>
          <a:p>
            <a:pPr marL="457200"/>
            <a:endParaRPr lang="en-US" sz="2800" b="0" dirty="0"/>
          </a:p>
          <a:p>
            <a:r>
              <a:rPr lang="en-US" sz="3200" b="1" dirty="0"/>
              <a:t>Agreement is not free</a:t>
            </a:r>
          </a:p>
          <a:p>
            <a:pPr marL="914400" indent="-457200">
              <a:buFont typeface="Arial" panose="020B0604020202020204" pitchFamily="34" charset="0"/>
              <a:buChar char="•"/>
            </a:pPr>
            <a:r>
              <a:rPr lang="en-US" sz="2800" b="0" dirty="0"/>
              <a:t>More messages between the servers, and a more complicated protocol</a:t>
            </a:r>
          </a:p>
          <a:p>
            <a:pPr marL="914400" indent="-457200">
              <a:buFont typeface="Arial" panose="020B0604020202020204" pitchFamily="34" charset="0"/>
              <a:buChar char="•"/>
            </a:pPr>
            <a:r>
              <a:rPr lang="en-US" sz="2800" b="0" dirty="0"/>
              <a:t>A write is not done until the replicas agree, so clients wait longer</a:t>
            </a:r>
          </a:p>
          <a:p>
            <a:pPr marL="457200"/>
            <a:endParaRPr lang="en-US" sz="2800" b="0" dirty="0"/>
          </a:p>
          <a:p>
            <a:r>
              <a:rPr lang="en-US" sz="3200" b="1" dirty="0"/>
              <a:t>So there is no single answer, but a range of designs</a:t>
            </a:r>
          </a:p>
          <a:p>
            <a:pPr marL="914400" indent="-457200">
              <a:buFont typeface="Arial" panose="020B0604020202020204" pitchFamily="34" charset="0"/>
              <a:buChar char="•"/>
            </a:pPr>
            <a:r>
              <a:rPr lang="en-US" sz="2800" b="0" dirty="0"/>
              <a:t>Stronger consistency: more coordination, lower performance</a:t>
            </a:r>
          </a:p>
          <a:p>
            <a:pPr marL="914400" indent="-457200">
              <a:buFont typeface="Arial" panose="020B0604020202020204" pitchFamily="34" charset="0"/>
              <a:buChar char="•"/>
            </a:pPr>
            <a:r>
              <a:rPr lang="en-US" sz="2800" b="0" dirty="0"/>
              <a:t>Weaker consistency: less coordination, and anomalies the application must handle</a:t>
            </a:r>
          </a:p>
          <a:p>
            <a:pPr marL="457200"/>
            <a:endParaRPr lang="en-US" sz="2800" b="0" dirty="0"/>
          </a:p>
          <a:p>
            <a:r>
              <a:rPr lang="en-US" sz="3200" b="1" dirty="0"/>
              <a:t>GFS picks a point on this range: better than this design, deliberately not perfect</a:t>
            </a:r>
          </a:p>
        </p:txBody>
      </p:sp>
    </p:spTree>
    <p:extLst>
      <p:ext uri="{BB962C8B-B14F-4D97-AF65-F5344CB8AC3E}">
        <p14:creationId xmlns:p14="http://schemas.microsoft.com/office/powerpoint/2010/main" val="17206706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What Should the Readers See?</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Suppose C1 and C2 write concurrently, and after the writes have completed, C3 and C4 read. what can they see?</a:t>
            </a:r>
          </a:p>
          <a:p>
            <a:pPr marL="342900" indent="-342900">
              <a:buFont typeface="Arial"/>
              <a:buChar char="•"/>
            </a:pPr>
            <a:endParaRPr sz="1200" dirty="0"/>
          </a:p>
          <a:p>
            <a:pPr marL="342900" indent="-342900">
              <a:buFont typeface="Arial"/>
              <a:buChar char="•"/>
            </a:pPr>
            <a:r>
              <a:rPr sz="2400" dirty="0"/>
              <a:t>One correct machine would pick an order and stick to it</a:t>
            </a:r>
          </a:p>
          <a:p>
            <a:pPr marL="342900" indent="-342900">
              <a:buFont typeface="Arial"/>
              <a:buChar char="•"/>
            </a:pPr>
            <a:endParaRPr sz="1200" dirty="0"/>
          </a:p>
          <a:p>
            <a:pPr marL="342900" indent="-342900">
              <a:buFont typeface="Arial"/>
              <a:buChar char="•"/>
            </a:pPr>
            <a:r>
              <a:rPr sz="2400" dirty="0"/>
              <a:t>Either order is acceptable</a:t>
            </a:r>
          </a:p>
          <a:p>
            <a:pPr marL="342900" indent="-342900">
              <a:buFont typeface="Arial"/>
              <a:buChar char="•"/>
            </a:pPr>
            <a:endParaRPr sz="1200" dirty="0"/>
          </a:p>
          <a:p>
            <a:pPr marL="342900" indent="-342900">
              <a:buFont typeface="Arial"/>
              <a:buChar char="•"/>
            </a:pPr>
            <a:r>
              <a:rPr sz="2400" dirty="0"/>
              <a:t>The two readers disagreeing is not</a:t>
            </a:r>
          </a:p>
        </p:txBody>
      </p:sp>
      <p:sp>
        <p:nvSpPr>
          <p:cNvPr id="49" name="Scenario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C1 and C2 write at the same time, then C3 and C4 read</a:t>
            </a:r>
          </a:p>
        </p:txBody>
      </p:sp>
      <p:sp>
        <p:nvSpPr>
          <p:cNvPr id="50" name="Client 1 write">
            <a:extLst>
              <a:ext uri="{FF2B5EF4-FFF2-40B4-BE49-F238E27FC236}">
                <a16:creationId xmlns:a16="http://schemas.microsoft.com/office/drawing/2014/main" id="{75D3A3DE-8E0D-482B-BCFD-2AD2458A4DA5}"/>
              </a:ext>
            </a:extLst>
          </p:cNvPr>
          <p:cNvSpPr>
            <a:spLocks noGrp="1"/>
          </p:cNvSpPr>
          <p:nvPr/>
        </p:nvSpPr>
        <p:spPr>
          <a:xfrm>
            <a:off x="450000" y="150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C1</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1</a:t>
            </a:r>
          </a:p>
        </p:txBody>
      </p:sp>
      <p:sp>
        <p:nvSpPr>
          <p:cNvPr id="51" name="Client 2 write">
            <a:extLst>
              <a:ext uri="{FF2B5EF4-FFF2-40B4-BE49-F238E27FC236}">
                <a16:creationId xmlns:a16="http://schemas.microsoft.com/office/drawing/2014/main" id="{75D3A3DE-8E0D-482B-BCFD-2AD2458A4DA5}"/>
              </a:ext>
            </a:extLst>
          </p:cNvPr>
          <p:cNvSpPr>
            <a:spLocks noGrp="1"/>
          </p:cNvSpPr>
          <p:nvPr/>
        </p:nvSpPr>
        <p:spPr>
          <a:xfrm>
            <a:off x="450000" y="225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C2</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2</a:t>
            </a:r>
          </a:p>
        </p:txBody>
      </p:sp>
      <p:sp>
        <p:nvSpPr>
          <p:cNvPr id="52" name="One machine">
            <a:extLst>
              <a:ext uri="{FF2B5EF4-FFF2-40B4-BE49-F238E27FC236}">
                <a16:creationId xmlns:a16="http://schemas.microsoft.com/office/drawing/2014/main" id="{C047F16D-4224-436C-BA2F-7F4F14E7970E}"/>
              </a:ext>
            </a:extLst>
          </p:cNvPr>
          <p:cNvSpPr>
            <a:spLocks noGrp="1"/>
          </p:cNvSpPr>
          <p:nvPr/>
        </p:nvSpPr>
        <p:spPr>
          <a:xfrm>
            <a:off x="2400000" y="1650275"/>
            <a:ext cx="2200000" cy="104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One correct machine</a:t>
            </a:r>
          </a:p>
          <a:p>
            <a:pPr algn="ctr">
              <a:defRPr sz="1350" b="1">
                <a:solidFill>
                  <a:srgbClr val="0E2841"/>
                </a:solidFill>
                <a:latin typeface="Aptos"/>
                <a:ea typeface="Aptos"/>
                <a:cs typeface="Aptos"/>
              </a:defRPr>
            </a:pPr>
            <a:r>
              <a:rPr sz="1350" b="1">
                <a:solidFill>
                  <a:srgbClr val="0E2841"/>
                </a:solidFill>
                <a:latin typeface="Aptos"/>
                <a:ea typeface="Aptos"/>
                <a:cs typeface="Aptos"/>
              </a:rPr>
              <a:t>one request at a time</a:t>
            </a:r>
          </a:p>
        </p:txBody>
      </p:sp>
      <p:sp>
        <p:nvSpPr>
          <p:cNvPr id="53" name="Client 3 read">
            <a:extLst>
              <a:ext uri="{FF2B5EF4-FFF2-40B4-BE49-F238E27FC236}">
                <a16:creationId xmlns:a16="http://schemas.microsoft.com/office/drawing/2014/main" id="{C047F16D-4224-436C-BA2F-7F4F14E7970E}"/>
              </a:ext>
            </a:extLst>
          </p:cNvPr>
          <p:cNvSpPr>
            <a:spLocks noGrp="1"/>
          </p:cNvSpPr>
          <p:nvPr/>
        </p:nvSpPr>
        <p:spPr>
          <a:xfrm>
            <a:off x="5100000" y="150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sp>
        <p:nvSpPr>
          <p:cNvPr id="57" name="Client 4 read">
            <a:extLst>
              <a:ext uri="{FF2B5EF4-FFF2-40B4-BE49-F238E27FC236}">
                <a16:creationId xmlns:a16="http://schemas.microsoft.com/office/drawing/2014/main" id="{C047F16D-4224-436C-BA2F-7F4F14E7970E}"/>
              </a:ext>
            </a:extLst>
          </p:cNvPr>
          <p:cNvSpPr>
            <a:spLocks noGrp="1"/>
          </p:cNvSpPr>
          <p:nvPr/>
        </p:nvSpPr>
        <p:spPr>
          <a:xfrm>
            <a:off x="5100000" y="225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cxnSp>
        <p:nvCxnSpPr>
          <p:cNvPr id="76" name="Write arrow 1"/>
          <p:cNvCxnSpPr/>
          <p:nvPr/>
        </p:nvCxnSpPr>
        <p:spPr>
          <a:xfrm>
            <a:off x="1850000" y="1795275"/>
            <a:ext cx="550000" cy="375000"/>
          </a:xfrm>
          <a:prstGeom prst="straightConnector1">
            <a:avLst/>
          </a:prstGeom>
          <a:ln w="19050">
            <a:solidFill>
              <a:srgbClr val="A02B93"/>
            </a:solidFill>
            <a:prstDash val="solid"/>
            <a:tailEnd type="triangle" w="sm" len="sm"/>
          </a:ln>
        </p:spPr>
      </p:cxnSp>
      <p:cxnSp>
        <p:nvCxnSpPr>
          <p:cNvPr id="77" name="Write arrow 2"/>
          <p:cNvCxnSpPr/>
          <p:nvPr/>
        </p:nvCxnSpPr>
        <p:spPr>
          <a:xfrm flipV="1">
            <a:off x="1850000" y="2170275"/>
            <a:ext cx="550000" cy="375000"/>
          </a:xfrm>
          <a:prstGeom prst="straightConnector1">
            <a:avLst/>
          </a:prstGeom>
          <a:ln w="19050">
            <a:solidFill>
              <a:srgbClr val="A02B93"/>
            </a:solidFill>
            <a:prstDash val="solid"/>
            <a:tailEnd type="triangle" w="sm" len="sm"/>
          </a:ln>
        </p:spPr>
      </p:cxnSp>
      <p:cxnSp>
        <p:nvCxnSpPr>
          <p:cNvPr id="78" name="Read arrow 1"/>
          <p:cNvCxnSpPr/>
          <p:nvPr/>
        </p:nvCxnSpPr>
        <p:spPr>
          <a:xfrm flipV="1">
            <a:off x="4600000" y="1795275"/>
            <a:ext cx="500000" cy="375000"/>
          </a:xfrm>
          <a:prstGeom prst="straightConnector1">
            <a:avLst/>
          </a:prstGeom>
          <a:ln w="19050">
            <a:solidFill>
              <a:srgbClr val="5B6573"/>
            </a:solidFill>
            <a:prstDash val="solid"/>
            <a:tailEnd type="triangle" w="sm" len="sm"/>
          </a:ln>
        </p:spPr>
      </p:cxnSp>
      <p:cxnSp>
        <p:nvCxnSpPr>
          <p:cNvPr id="79" name="Read arrow 2"/>
          <p:cNvCxnSpPr/>
          <p:nvPr/>
        </p:nvCxnSpPr>
        <p:spPr>
          <a:xfrm>
            <a:off x="4600000" y="2170275"/>
            <a:ext cx="500000" cy="375000"/>
          </a:xfrm>
          <a:prstGeom prst="straightConnector1">
            <a:avLst/>
          </a:prstGeom>
          <a:ln w="19050">
            <a:solidFill>
              <a:srgbClr val="5B6573"/>
            </a:solidFill>
            <a:prstDash val="solid"/>
            <a:tailEnd type="triangle" w="sm" len="sm"/>
          </a:ln>
        </p:spPr>
      </p:cxnSp>
      <p:sp>
        <p:nvSpPr>
          <p:cNvPr id="68" name="Same value label">
            <a:extLst>
              <a:ext uri="{FF2B5EF4-FFF2-40B4-BE49-F238E27FC236}">
                <a16:creationId xmlns:a16="http://schemas.microsoft.com/office/drawing/2014/main" id="{8E2343DF-2BB9-401F-B950-594DD72F33BC}"/>
              </a:ext>
            </a:extLst>
          </p:cNvPr>
          <p:cNvSpPr>
            <a:spLocks noGrp="1"/>
          </p:cNvSpPr>
          <p:nvPr/>
        </p:nvSpPr>
        <p:spPr>
          <a:xfrm>
            <a:off x="5100000" y="2900000"/>
            <a:ext cx="14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same value?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Answer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What are they allowed to see?</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1</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2</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one reads 1,</a:t>
            </a:r>
          </a:p>
          <a:p>
            <a:pPr algn="ctr">
              <a:defRPr sz="1350" b="1">
                <a:solidFill>
                  <a:srgbClr val="A02B93"/>
                </a:solidFill>
                <a:latin typeface="Aptos"/>
                <a:ea typeface="Aptos"/>
                <a:cs typeface="Aptos"/>
              </a:defRPr>
            </a:pPr>
            <a:r>
              <a:rPr sz="1350" b="1">
                <a:solidFill>
                  <a:srgbClr val="A02B93"/>
                </a:solidFill>
                <a:latin typeface="Aptos"/>
                <a:ea typeface="Aptos"/>
                <a:cs typeface="Aptos"/>
              </a:rPr>
              <a:t>the other reads 2</a:t>
            </a:r>
          </a:p>
          <a:p>
            <a:pPr algn="ctr">
              <a:defRPr sz="1350" b="1">
                <a:solidFill>
                  <a:srgbClr val="A02B93"/>
                </a:solidFill>
                <a:latin typeface="Aptos"/>
                <a:ea typeface="Aptos"/>
                <a:cs typeface="Aptos"/>
              </a:defRPr>
            </a:pPr>
            <a:r>
              <a:rPr sz="1350" b="1">
                <a:solidFill>
                  <a:srgbClr val="A02B93"/>
                </a:solidFill>
                <a:latin typeface="Aptos"/>
                <a:ea typeface="Aptos"/>
                <a:cs typeface="Aptos"/>
              </a:rPr>
              <a:t>not allowed</a:t>
            </a:r>
          </a:p>
        </p:txBody>
      </p:sp>
      <p:sp>
        <p:nvSpPr>
          <p:cNvPr id="63" name="Answer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Either order is fine; disagreeing is not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Can We Just Always Read from Server 1?</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A natural patch: everyone reads Server 1, and falls back to Server 2 only when S1 is down</a:t>
            </a:r>
          </a:p>
          <a:p>
            <a:pPr marL="342900" indent="-342900">
              <a:buFont typeface="Arial"/>
              <a:buChar char="•"/>
            </a:pPr>
            <a:endParaRPr sz="1200" dirty="0"/>
          </a:p>
          <a:p>
            <a:pPr marL="342900" indent="-342900">
              <a:buFont typeface="Arial"/>
              <a:buChar char="•"/>
            </a:pPr>
            <a:r>
              <a:rPr sz="2400" dirty="0"/>
              <a:t>While S1 is up every reader sees 2, so the disagreement is hidden, not repaired</a:t>
            </a:r>
          </a:p>
          <a:p>
            <a:pPr marL="342900" indent="-342900">
              <a:buFont typeface="Arial"/>
              <a:buChar char="•"/>
            </a:pPr>
            <a:endParaRPr sz="1200" dirty="0"/>
          </a:p>
          <a:p>
            <a:pPr marL="342900" indent="-342900">
              <a:buFont typeface="Arial"/>
              <a:buChar char="•"/>
            </a:pPr>
            <a:r>
              <a:rPr sz="2400" dirty="0"/>
              <a:t>S1 dies, the readers fall back to S2, and the value goes back to 1</a:t>
            </a:r>
          </a:p>
          <a:p>
            <a:pPr marL="342900" indent="-342900">
              <a:buFont typeface="Arial"/>
              <a:buChar char="•"/>
            </a:pPr>
            <a:endParaRPr sz="1200" dirty="0"/>
          </a:p>
          <a:p>
            <a:pPr marL="342900" indent="-342900">
              <a:buFont typeface="Arial"/>
              <a:buChar char="•"/>
            </a:pPr>
            <a:r>
              <a:rPr sz="2400" dirty="0"/>
              <a:t>Nobody wrote. One machine could never do that.</a:t>
            </a:r>
          </a:p>
        </p:txBody>
      </p:sp>
      <p:sp>
        <p:nvSpPr>
          <p:cNvPr id="49" name="Rul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Rule: always read S1, fall back to S2</a:t>
            </a:r>
          </a:p>
        </p:txBody>
      </p:sp>
      <p:sp>
        <p:nvSpPr>
          <p:cNvPr id="50" name="Server 1 up">
            <a:extLst>
              <a:ext uri="{FF2B5EF4-FFF2-40B4-BE49-F238E27FC236}">
                <a16:creationId xmlns:a16="http://schemas.microsoft.com/office/drawing/2014/main" id="{C047F16D-4224-436C-BA2F-7F4F14E7970E}"/>
              </a:ext>
            </a:extLst>
          </p:cNvPr>
          <p:cNvSpPr>
            <a:spLocks noGrp="1"/>
          </p:cNvSpPr>
          <p:nvPr/>
        </p:nvSpPr>
        <p:spPr>
          <a:xfrm>
            <a:off x="450000" y="150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2</a:t>
            </a:r>
          </a:p>
        </p:txBody>
      </p:sp>
      <p:sp>
        <p:nvSpPr>
          <p:cNvPr id="51" name="Server 2">
            <a:extLst>
              <a:ext uri="{FF2B5EF4-FFF2-40B4-BE49-F238E27FC236}">
                <a16:creationId xmlns:a16="http://schemas.microsoft.com/office/drawing/2014/main" id="{C047F16D-4224-436C-BA2F-7F4F14E7970E}"/>
              </a:ext>
            </a:extLst>
          </p:cNvPr>
          <p:cNvSpPr>
            <a:spLocks noGrp="1"/>
          </p:cNvSpPr>
          <p:nvPr/>
        </p:nvSpPr>
        <p:spPr>
          <a:xfrm>
            <a:off x="450000" y="225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1</a:t>
            </a:r>
          </a:p>
        </p:txBody>
      </p:sp>
      <p:sp>
        <p:nvSpPr>
          <p:cNvPr id="52" name="Reader C3">
            <a:extLst>
              <a:ext uri="{FF2B5EF4-FFF2-40B4-BE49-F238E27FC236}">
                <a16:creationId xmlns:a16="http://schemas.microsoft.com/office/drawing/2014/main" id="{C047F16D-4224-436C-BA2F-7F4F14E7970E}"/>
              </a:ext>
            </a:extLst>
          </p:cNvPr>
          <p:cNvSpPr>
            <a:spLocks noGrp="1"/>
          </p:cNvSpPr>
          <p:nvPr/>
        </p:nvSpPr>
        <p:spPr>
          <a:xfrm>
            <a:off x="4400000" y="150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sp>
        <p:nvSpPr>
          <p:cNvPr id="53" name="Reader C4">
            <a:extLst>
              <a:ext uri="{FF2B5EF4-FFF2-40B4-BE49-F238E27FC236}">
                <a16:creationId xmlns:a16="http://schemas.microsoft.com/office/drawing/2014/main" id="{C047F16D-4224-436C-BA2F-7F4F14E7970E}"/>
              </a:ext>
            </a:extLst>
          </p:cNvPr>
          <p:cNvSpPr>
            <a:spLocks noGrp="1"/>
          </p:cNvSpPr>
          <p:nvPr/>
        </p:nvSpPr>
        <p:spPr>
          <a:xfrm>
            <a:off x="4400000" y="225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cxnSp>
        <p:nvCxnSpPr>
          <p:cNvPr id="76" name="Read arrow 1"/>
          <p:cNvCxnSpPr/>
          <p:nvPr/>
        </p:nvCxnSpPr>
        <p:spPr>
          <a:xfrm>
            <a:off x="2050000" y="1795275"/>
            <a:ext cx="2350000" cy="0"/>
          </a:xfrm>
          <a:prstGeom prst="straightConnector1">
            <a:avLst/>
          </a:prstGeom>
          <a:ln w="19050">
            <a:solidFill>
              <a:srgbClr val="5B6573"/>
            </a:solidFill>
            <a:prstDash val="solid"/>
            <a:tailEnd type="triangle" w="sm" len="sm"/>
          </a:ln>
        </p:spPr>
      </p:cxnSp>
      <p:cxnSp>
        <p:nvCxnSpPr>
          <p:cNvPr id="77" name="Read arrow 2"/>
          <p:cNvCxnSpPr/>
          <p:nvPr/>
        </p:nvCxnSpPr>
        <p:spPr>
          <a:xfrm>
            <a:off x="2050000" y="1795275"/>
            <a:ext cx="2350000" cy="750000"/>
          </a:xfrm>
          <a:prstGeom prst="straightConnector1">
            <a:avLst/>
          </a:prstGeom>
          <a:ln w="19050">
            <a:solidFill>
              <a:srgbClr val="5B6573"/>
            </a:solidFill>
            <a:prstDash val="solid"/>
            <a:tailEnd type="triangle" w="sm" len="sm"/>
          </a:ln>
        </p:spPr>
      </p:cxnSp>
      <p:sp>
        <p:nvSpPr>
          <p:cNvPr id="68" name="Looks fine label">
            <a:extLst>
              <a:ext uri="{FF2B5EF4-FFF2-40B4-BE49-F238E27FC236}">
                <a16:creationId xmlns:a16="http://schemas.microsoft.com/office/drawing/2014/main" id="{8E2343DF-2BB9-401F-B950-594DD72F33BC}"/>
              </a:ext>
            </a:extLst>
          </p:cNvPr>
          <p:cNvSpPr>
            <a:spLocks noGrp="1"/>
          </p:cNvSpPr>
          <p:nvPr/>
        </p:nvSpPr>
        <p:spPr>
          <a:xfrm>
            <a:off x="4400000" y="2900000"/>
            <a:ext cx="15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looks fine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Failure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Then Server 1 fails</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S1 is gone</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go to S2</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 reads 1</a:t>
            </a:r>
          </a:p>
          <a:p>
            <a:pPr algn="ctr">
              <a:defRPr sz="1350" b="1">
                <a:solidFill>
                  <a:srgbClr val="0E2841"/>
                </a:solidFill>
                <a:latin typeface="Aptos"/>
                <a:ea typeface="Aptos"/>
                <a:cs typeface="Aptos"/>
              </a:defRPr>
            </a:pPr>
            <a:r>
              <a:rPr sz="1350" b="1">
                <a:solidFill>
                  <a:srgbClr val="0E2841"/>
                </a:solidFill>
                <a:latin typeface="Aptos"/>
                <a:ea typeface="Aptos"/>
                <a:cs typeface="Aptos"/>
              </a:rPr>
              <a:t>C4 reads 1</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x:  2 → 1</a:t>
            </a:r>
          </a:p>
          <a:p>
            <a:pPr algn="ctr">
              <a:defRPr sz="1350" b="1">
                <a:solidFill>
                  <a:srgbClr val="A02B93"/>
                </a:solidFill>
                <a:latin typeface="Aptos"/>
                <a:ea typeface="Aptos"/>
                <a:cs typeface="Aptos"/>
              </a:defRPr>
            </a:pPr>
            <a:r>
              <a:rPr sz="1350" b="1">
                <a:solidFill>
                  <a:srgbClr val="A02B93"/>
                </a:solidFill>
                <a:latin typeface="Aptos"/>
                <a:ea typeface="Aptos"/>
                <a:cs typeface="Aptos"/>
              </a:rPr>
              <a:t>nobody wrote</a:t>
            </a:r>
          </a:p>
        </p:txBody>
      </p:sp>
      <p:sp>
        <p:nvSpPr>
          <p:cNvPr id="63" name="Failure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Nobody wrote, yet the value 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1722</TotalTime>
  <Words>13492</Words>
  <Application>Microsoft Macintosh PowerPoint</Application>
  <PresentationFormat>Widescreen</PresentationFormat>
  <Paragraphs>1194</Paragraphs>
  <Slides>54</Slides>
  <Notes>54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54</vt:i4>
      </vt:variant>
    </vt:vector>
  </HeadingPairs>
  <TitlesOfParts>
    <vt:vector size="60" baseType="lpstr">
      <vt:lpstr>Aptos</vt:lpstr>
      <vt:lpstr>Aptos Display</vt:lpstr>
      <vt:lpstr>Arial</vt:lpstr>
      <vt:lpstr>Helvetica</vt:lpstr>
      <vt:lpstr>Helvetica Neue</vt:lpstr>
      <vt:lpstr>Office Theme</vt:lpstr>
      <vt:lpstr>Lecture 4: Google File System         Fall 2026 </vt:lpstr>
      <vt:lpstr>Demo 1: Design Proposal</vt:lpstr>
      <vt:lpstr>Presentation Grading</vt:lpstr>
      <vt:lpstr>AWS Credits: One Code per Account</vt:lpstr>
      <vt:lpstr>Why Storage?</vt:lpstr>
      <vt:lpstr>One Machine Is Not Enough</vt:lpstr>
      <vt:lpstr>Then Everything Fails</vt:lpstr>
      <vt:lpstr>Fault Tolerance Comes with a Cost</vt:lpstr>
      <vt:lpstr>Two Questions for This Lecture</vt:lpstr>
      <vt:lpstr>What Would We Like for Consistency?</vt:lpstr>
      <vt:lpstr>What Should the Readers See?</vt:lpstr>
      <vt:lpstr>Bad Replication Design</vt:lpstr>
      <vt:lpstr>What Can Go Wrong?</vt:lpstr>
      <vt:lpstr>Can We Just Always Read from Server 1?</vt:lpstr>
      <vt:lpstr>The Fix Has a Price</vt:lpstr>
      <vt:lpstr>The Google File System</vt:lpstr>
      <vt:lpstr>Why Are We Reading This Paper?</vt:lpstr>
      <vt:lpstr>Goal of GFS</vt:lpstr>
      <vt:lpstr>Demo 1: HDFS</vt:lpstr>
      <vt:lpstr>Assumptions of GFS</vt:lpstr>
      <vt:lpstr>What Are the Contribution of the Paper? </vt:lpstr>
      <vt:lpstr>GFS’s Architecture</vt:lpstr>
      <vt:lpstr>Overall Architecture</vt:lpstr>
      <vt:lpstr>Master Node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 </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41</cp:revision>
  <dcterms:created xsi:type="dcterms:W3CDTF">2026-02-04T02:27:39Z</dcterms:created>
  <dcterms:modified xsi:type="dcterms:W3CDTF">2026-09-16T20:17:45Z</dcterms:modified>
</cp:coreProperties>
</file>