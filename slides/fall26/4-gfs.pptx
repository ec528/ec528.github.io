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22" r:id="rId2"/>
    <p:sldId id="426" r:id="rId3"/>
    <p:sldId id="481" r:id="rId4"/>
    <p:sldId id="467" r:id="rId5"/>
    <p:sldId id="477" r:id="rId6"/>
    <p:sldId id="478" r:id="rId7"/>
    <p:sldId id="479" r:id="rId8"/>
    <p:sldId id="428" r:id="rId9"/>
    <p:sldId id="483" r:id="rId10"/>
    <p:sldId id="443" r:id="rId11"/>
    <p:sldId id="486" r:id="rId12"/>
    <p:sldId id="444" r:id="rId13"/>
    <p:sldId id="445" r:id="rId14"/>
    <p:sldId id="487" r:id="rId15"/>
    <p:sldId id="485" r:id="rId16"/>
    <p:sldId id="262" r:id="rId17"/>
    <p:sldId id="430" r:id="rId18"/>
    <p:sldId id="435" r:id="rId19"/>
    <p:sldId id="431" r:id="rId21"/>
    <p:sldId id="433" r:id="rId22"/>
    <p:sldId id="434" r:id="rId23"/>
    <p:sldId id="436" r:id="rId24"/>
    <p:sldId id="437" r:id="rId25"/>
    <p:sldId id="468" r:id="rId26"/>
    <p:sldId id="439" r:id="rId27"/>
    <p:sldId id="480" r:id="rId20"/>
    <p:sldId id="469" r:id="rId28"/>
    <p:sldId id="440" r:id="rId29"/>
    <p:sldId id="441" r:id="rId30"/>
    <p:sldId id="442" r:id="rId31"/>
    <p:sldId id="446" r:id="rId32"/>
    <p:sldId id="447" r:id="rId33"/>
    <p:sldId id="484" r:id="rId34"/>
    <p:sldId id="470" r:id="rId35"/>
    <p:sldId id="448" r:id="rId36"/>
    <p:sldId id="482" r:id="rId37"/>
    <p:sldId id="449" r:id="rId38"/>
    <p:sldId id="450" r:id="rId39"/>
    <p:sldId id="451" r:id="rId40"/>
    <p:sldId id="471" r:id="rId41"/>
    <p:sldId id="472" r:id="rId42"/>
    <p:sldId id="452" r:id="rId43"/>
    <p:sldId id="453" r:id="rId44"/>
    <p:sldId id="454" r:id="rId45"/>
    <p:sldId id="465" r:id="rId46"/>
    <p:sldId id="455" r:id="rId47"/>
    <p:sldId id="457" r:id="rId48"/>
    <p:sldId id="473" r:id="rId49"/>
    <p:sldId id="475" r:id="rId50"/>
    <p:sldId id="476" r:id="rId51"/>
    <p:sldId id="459" r:id="rId52"/>
    <p:sldId id="466" r:id="rId53"/>
    <p:sldId id="464"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989"/>
    <p:restoredTop sz="65066"/>
  </p:normalViewPr>
  <p:slideViewPr>
    <p:cSldViewPr snapToGrid="0">
      <p:cViewPr varScale="1">
        <p:scale>
          <a:sx n="79" d="100"/>
          <a:sy n="79" d="100"/>
        </p:scale>
        <p:origin x="13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Replication leaves us with two questions that will organize the rest of this lecture.</a:t>
            </a:r>
          </a:p>
          <a:p>
            <a:endParaRPr lang="en-US" dirty="0"/>
          </a:p>
          <a:p>
            <a:r>
              <a:rPr lang="en-US" dirty="0"/>
              <a:t>The first is a correctness question. Once data is split and replicated across machines that can fail independently, what does it mean for the storage system to return the correct result? Different copies may receive requests at different times, and a client may reach a different copy after a failure. We need a clear model for deciding whether the behavior observed by the clients is still correct.</a:t>
            </a:r>
          </a:p>
          <a:p>
            <a:endParaRPr lang="en-US" dirty="0"/>
          </a:p>
          <a:p>
            <a:r>
              <a:rPr lang="en-US" dirty="0"/>
              <a:t>The second is a performance question. How much coordination do we need to obtain that behavior? If replicas must communicate and agree before every reply, each operation requires more messages and more waiting. A slow or unreachable replica may also delay the others.</a:t>
            </a:r>
          </a:p>
          <a:p>
            <a:endParaRPr lang="en-US" dirty="0"/>
          </a:p>
          <a:p>
            <a:r>
              <a:rPr lang="en-US" dirty="0"/>
              <a:t>These two questions create the central tradeoff. More coordination usually gives applications simpler behavior, but it costs latency, throughput, and sometimes availability during failures. GFS chooses guarantees that fit Google's workloads instead of paying the full cost of the strongest possible consistency.</a:t>
            </a:r>
          </a:p>
          <a:p>
            <a:endParaRPr lang="en-US" dirty="0"/>
          </a:p>
          <a:p>
            <a:r>
              <a:rPr lang="en-US" dirty="0"/>
              <a:t>To understand that choice, we first need a baseline: what behavior would one correct machine with one copy of the data provide?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From the application's point of view, the ideal distributed storage system behaves like one correct machine with one copy of the data. The implementation may contain hundreds of machines and several replicas, but those internal details should not change the behavior that clients observe.</a:t>
            </a:r>
          </a:p>
          <a:p>
            <a:endParaRPr lang="en-US" dirty="0"/>
          </a:p>
          <a:p>
            <a:r>
              <a:rPr lang="en-US" dirty="0"/>
              <a:t>Imagine that this one machine is single-threaded. Many clients may send requests concurrently, but the machine performs only one operation at a time. It chooses one request, runs it to completion, and then starts the next request. Every operation therefore has a position in one single order.</a:t>
            </a:r>
          </a:p>
          <a:p>
            <a:endParaRPr lang="en-US" dirty="0"/>
          </a:p>
          <a:p>
            <a:r>
              <a:rPr lang="en-US" dirty="0"/>
              <a:t>If the operation is a write, it updates the machine's state. If the operation is a read, it returns a value that reflects all the writes that came before it in that order. Concurrent requests still have to be ordered, but we may not know that order in advance. The machine is allowed to choose either concurrent request first. Once it chooses, all later results must remain consistent with that choice.</a:t>
            </a:r>
          </a:p>
          <a:p>
            <a:endParaRPr lang="en-US" dirty="0"/>
          </a:p>
          <a:p>
            <a:r>
              <a:rPr lang="en-US" dirty="0"/>
              <a:t>That gives us the test shown at the bottom of the slide: could one correct machine, executing one request at a time, have produced everything the clients observed? We do not require one predetermined result for concurrent requests. We require that all the results fit one possible sequential order.</a:t>
            </a:r>
          </a:p>
          <a:p>
            <a:endParaRPr lang="en-US" dirty="0"/>
          </a:p>
          <a:p>
            <a:r>
              <a:rPr lang="en-US" dirty="0"/>
              <a:t>Now suppose two clients write the same key at the same time.</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Client 1 writes x equals 1, and client 2 writes x equals 2 at the same time. After both writes have completed, client 3 and client 4 each read x. What are the two readers allowed to see?</a:t>
            </a:r>
          </a:p>
          <a:p>
            <a:endParaRPr lang="en-US" dirty="0"/>
          </a:p>
          <a:p>
            <a:r>
              <a:rPr lang="en-US" dirty="0"/>
              <a:t>There is not enough information to say which write the machine processed first. Because the two writes overlap,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Those are the first two outcomes on the slide. Strong consistency does not promise which concurrent write wins. It promises that every result can be explained by one order chosen by the machine.</a:t>
            </a:r>
          </a:p>
          <a:p>
            <a:endParaRPr lang="en-US" dirty="0"/>
          </a:p>
          <a:p>
            <a:r>
              <a:rPr lang="en-US" dirty="0"/>
              <a:t>The third outcome is not allowed. If client 3 reads 1 while client 4 reads 2 after both writes have finished, the two observations cannot fit the same final order. One of the writes must be last, and without another intervening write, both later readers should see the value produced by that same last write.</a:t>
            </a:r>
          </a:p>
          <a:p>
            <a:endParaRPr lang="en-US" dirty="0"/>
          </a:p>
          <a:p>
            <a:r>
              <a:rPr lang="en-US" dirty="0"/>
              <a:t>So consistency is not a claim that one particular value must come back. It is a claim that everything the clients observed can be explained by one coherent order.</a:t>
            </a:r>
          </a:p>
          <a:p>
            <a:endParaRPr lang="en-US" dirty="0"/>
          </a:p>
          <a:p>
            <a:r>
              <a:rPr lang="en-US" dirty="0"/>
              <a:t>With one machine, choosing one order comes naturally. But one machine cannot survive a machine or disk failure. Once we keep multiple copies, those copies must somehow preserve the same order. That is where replication becomes difficult.</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The simplest way to add fault tolerance is to keep two complete copies of the data. If either server fails, the other server still has a copy and can continue serving clients.</a:t>
            </a:r>
          </a:p>
          <a:p>
            <a:endParaRPr lang="en-US" dirty="0"/>
          </a:p>
          <a:p>
            <a:r>
              <a:rPr lang="en-US" dirty="0"/>
              <a:t>That goal gives us two requirements. Every write must eventually reach both servers, so their copies remain up to date. But a read must be able to use either server by itself. If every read had to consult both servers, then losing one server would still make the system unavailable, and replication would not have solved the failure problem.</a:t>
            </a:r>
          </a:p>
          <a:p>
            <a:endParaRPr lang="en-US" dirty="0"/>
          </a:p>
          <a:p>
            <a:r>
              <a:rPr lang="en-US" dirty="0"/>
              <a:t>The obvious protocol is for the client to send each update to both replicas. Each server applies the update to its own copy when the request arrives. If the two servers begin with the same data and receive the same updates, this initially sounds sufficient to keep them identical.</a:t>
            </a:r>
          </a:p>
          <a:p>
            <a:endParaRPr lang="en-US" dirty="0"/>
          </a:p>
          <a:p>
            <a:r>
              <a:rPr lang="en-US" dirty="0"/>
              <a:t>The protocol is missing one rule: it never says that the two servers must apply concurrent updates in the same order. Each server simply follows the order in which messages happen to arrive over the network. With one writer, that may be enough. With two clients writing concurrently, the arrival orders can differ, and the two copies can diverge even though neither server has failed.</a:t>
            </a:r>
          </a:p>
          <a:p>
            <a:endParaRPr lang="en-US" dirty="0"/>
          </a:p>
          <a:p>
            <a:r>
              <a:rPr lang="en-US" dirty="0"/>
              <a:t>SOURCE
MIT 6.824, Spring 2020, Lecture 3 transcript/video, 10:47–12:29.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Now client 1 writes x equals 1, and client 2 writes x equals 2. Each client sends its write to both servers because both replicas are supposed to contain the complete data.</a:t>
            </a:r>
          </a:p>
          <a:p>
            <a:endParaRPr lang="en-US" dirty="0"/>
          </a:p>
          <a:p>
            <a:r>
              <a:rPr lang="en-US" dirty="0"/>
              <a:t>The network does not promise to deliver those messages in the same order. Suppose server 1 receives client 1's write first and client 2's write second. It sets x to 1 and then overwrites it with 2, so server 1 ends with x equal to 2.</a:t>
            </a:r>
          </a:p>
          <a:p>
            <a:endParaRPr lang="en-US" dirty="0"/>
          </a:p>
          <a:p>
            <a:r>
              <a:rPr lang="en-US" dirty="0"/>
              <a:t>Server 2 may receive the same two requests in the opposite order. It sets x to 2 and then overwrites it with 1, so server 2 ends with x equal to 1.</a:t>
            </a:r>
          </a:p>
          <a:p>
            <a:endParaRPr lang="en-US" dirty="0"/>
          </a:p>
          <a:p>
            <a:r>
              <a:rPr lang="en-US" dirty="0"/>
              <a:t>Notice that neither server behaved incorrectly by itself. Each one processed one request at a time, and each one chose a legal order for two concurrent writes. The failure is that they chose different orders. The replicated system no longer behaves like one logical machine.</a:t>
            </a:r>
          </a:p>
          <a:p>
            <a:endParaRPr lang="en-US" dirty="0"/>
          </a:p>
          <a:p>
            <a:r>
              <a:rPr lang="en-US" dirty="0"/>
              <a:t>A client reading from server 1 now receives 2, while a client reading from server 2 receives 1. Those results cannot both be explained by one final write order. The replicas were meant to be interchangeable, but the answer now depends on which replica the client happens to contact.</a:t>
            </a:r>
          </a:p>
          <a:p>
            <a:endParaRPr lang="en-US" dirty="0"/>
          </a:p>
          <a:p>
            <a:r>
              <a:rPr lang="en-US" dirty="0"/>
              <a:t>A natural response is to stop reading from arbitrary replicas and always read from one designated server. That makes the disagreement harder to see, but it does not make the copies agree.</a:t>
            </a:r>
          </a:p>
          <a:p>
            <a:endParaRPr lang="en-US" dirty="0"/>
          </a:p>
          <a:p>
            <a:r>
              <a:rPr lang="en-US" dirty="0"/>
              <a:t>SOURCE
MIT 6.824, Spring 2020, Lecture 3 transcript/video, 12:29–13:18.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13</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Suppose every client reads from server 1 while it is available and uses server 2 only as a backup. Server 1 contains 2 and server 2 contains 1, but while server 1 is running, every reader sees 2. The system appears consistent because the disagreement is hidden.</a:t>
            </a:r>
          </a:p>
          <a:p>
            <a:endParaRPr lang="en-US" dirty="0"/>
          </a:p>
          <a:p>
            <a:r>
              <a:rPr lang="en-US" dirty="0"/>
              <a:t>Now server 1 fails. The clients fall back to server 2, and the visible value becomes 1. No client wrote x between those reads. The value changed from 2 back to 1 only because the system switched replicas.</a:t>
            </a:r>
          </a:p>
          <a:p>
            <a:endParaRPr lang="en-US" dirty="0"/>
          </a:p>
          <a:p>
            <a:r>
              <a:rPr lang="en-US" dirty="0"/>
              <a:t>This cannot be explained by the one-machine model. A correct machine that performs one request at a time changes a stored value only when some operation changes it. Here the clients observe a change that corresponds to no write at all.</a:t>
            </a:r>
          </a:p>
          <a:p>
            <a:endParaRPr lang="en-US" dirty="0"/>
          </a:p>
          <a:p>
            <a:r>
              <a:rPr lang="en-US" dirty="0"/>
              <a:t>Always reading from one designated server therefore hides divergence instead of repairing it. The stale copy remains in the system, and the disagreement becomes visible at exactly the moment when the preferred server fails.</a:t>
            </a:r>
          </a:p>
          <a:p>
            <a:endParaRPr lang="en-US" dirty="0"/>
          </a:p>
          <a:p>
            <a:r>
              <a:rPr lang="en-US" dirty="0"/>
              <a:t>Preventing this behavior requires the replicas to agree on one order before the system treats a write as complete. That agreement requires communication between the servers, a protocol for deciding the order, and additional waiting before the client receives a reply. Consistency can be improved, but the coordination has a cost.</a:t>
            </a:r>
          </a:p>
          <a:p>
            <a:endParaRPr lang="en-US" dirty="0"/>
          </a:p>
          <a:p>
            <a:r>
              <a:rPr lang="en-US" dirty="0"/>
              <a:t>SOURCE
MIT 6.824, Spring 2020, Lecture 3 transcript/video, 13:18–14:54.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The two failures we just saw have the same root cause: the replicas were allowed to diverge. In the first case, the two servers applied concurrent writes in different orders. In the second case, always reading from server 1 merely hid that disagreement until server 1 failed. A real fix cannot simply choose which copy to read. It has to prevent the copies from diverging.</a:t>
            </a:r>
          </a:p>
          <a:p>
            <a:endParaRPr lang="en-US" dirty="0"/>
          </a:p>
          <a:p>
            <a:r>
              <a:rPr lang="en-US" dirty="0"/>
              <a:t>That is possible, but it is not free. The servers need to exchange more messages and run a more complicated protocol so that they agree on one order. A write may also have to wait for that agreement before the system can report success to the client. The extra communication and waiting reduce performance.</a:t>
            </a:r>
          </a:p>
          <a:p>
            <a:endParaRPr lang="en-US" dirty="0"/>
          </a:p>
          <a:p>
            <a:r>
              <a:rPr lang="en-US" dirty="0"/>
              <a:t>Once we recognize that cost, there is no single obvious design. A system can coordinate more and provide behavior closer to one correct machine, or coordinate less and expose more anomalies that applications must handle.</a:t>
            </a:r>
          </a:p>
          <a:p>
            <a:endParaRPr lang="en-US" dirty="0"/>
          </a:p>
          <a:p>
            <a:r>
              <a:rPr lang="en-US" dirty="0"/>
              <a:t>GFS deliberately chooses a point in that range. Its behavior is much better than the naive replication scheme, but it does not pay the full cost of perfect consistency. The rest of the lecture explains what guarantees GFS provides and why those guarantees were a reasonable match for Google's workloads.</a:t>
            </a:r>
          </a:p>
          <a:p>
            <a:endParaRPr lang="en-US" dirty="0"/>
          </a:p>
          <a:p>
            <a:r>
              <a:rPr lang="en-US" dirty="0"/>
              <a:t>SOURCE
MIT 6.824, Spring 2020, Lecture 3 transcript/video, 14:07–15:00.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lang="en-US" dirty="0"/>
              <a:t>That choice is the subject of The Google File System, published at SOSP in 2003 by Sanjay Ghemawat, Howard Gobioff, and Shun-Tak Leung.</a:t>
            </a:r>
          </a:p>
          <a:p>
            <a:endParaRPr lang="en-US" dirty="0"/>
          </a:p>
          <a:p>
            <a:r>
              <a:rPr lang="en-US" dirty="0"/>
              <a:t>The date matters. Distributed-systems research had already developed many ideas for parallelism and fault tolerance, but few companies had deployed them at the scale that large web services were beginning to require. GFS records the point when those ideas became day-to-day production infrastructure.</a:t>
            </a:r>
          </a:p>
          <a:p>
            <a:endParaRPr lang="en-US" dirty="0"/>
          </a:p>
          <a:p>
            <a:r>
              <a:rPr lang="en-US" dirty="0"/>
              <a:t>The mechanisms are important, but the paper is best read as a complete design built around one environment. We will keep asking how Google's workload, hardware, and application requirements made each choice reasonable.</a:t>
            </a:r>
          </a:p>
          <a:p>
            <a:endParaRPr lang="en-US" dirty="0"/>
          </a:p>
          <a:p>
            <a:r>
              <a:rPr lang="en-US" dirty="0"/>
              <a:t>SOURCE
MIT 6.824, Spring 2020, Lecture 3 transcript/video, 14:54–15:43.
Local transcript: fall2026/lectures/references/mit-6824-2020-lecture3-gfs-transcript.txt
https://www.youtube.com/watch?v=EpIgvowZr00
Ghemawat, Gobioff, and Leung, The Google File System, 2003.
https://pdos.csail.mit.edu/6.824/papers/gfs.pdf</a:t>
            </a:r>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16</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So far, we have examined the pieces separately: sharding for throughput, replication for failures, and coordination for consistency. GFS is useful because it shows how those pieces interact inside one complete system.</a:t>
            </a:r>
          </a:p>
          <a:p>
            <a:endParaRPr lang="en-US" dirty="0"/>
          </a:p>
          <a:p>
            <a:r>
              <a:rPr lang="en-US" dirty="0"/>
              <a:t>The paper connects decisions across several levels. It begins with the applications and their workload. Those requirements determine the file-system interface, the division of work between the master and chunkservers, the replication protocol, and the way data moves through the network. We can follow a requirement at the top of the stack down to a concrete mechanism and its cost.</a:t>
            </a:r>
          </a:p>
          <a:p>
            <a:endParaRPr lang="en-US" dirty="0"/>
          </a:p>
          <a:p>
            <a:r>
              <a:rPr lang="en-US" dirty="0"/>
              <a:t>GFS also gives us production evidence. Google deployed it at large scale and used it for years, so the paper can discuss the failures and operational problems that appeared in practice. That lets us judge the design by the applications it actually supported, while keeping the original workload assumptions in view.</a:t>
            </a:r>
          </a:p>
          <a:p>
            <a:endParaRPr lang="en-US" dirty="0"/>
          </a:p>
          <a:p>
            <a:r>
              <a:rPr lang="en-US" dirty="0"/>
              <a:t>This is why the paper works well as a case study: it presents an end-to-end design and enough real experience to evaluate the tradeoffs.</a:t>
            </a:r>
          </a:p>
          <a:p>
            <a:endParaRPr lang="en-US" dirty="0"/>
          </a:p>
          <a:p>
            <a:r>
              <a:rPr lang="en-US" dirty="0"/>
              <a:t>SOURCE
MIT 6.824, Spring 2020, Lecture 3 transcript/video, 00:50–01:38 and 14:54–15:43.
Local transcript: fall2026/lectures/references/mit-6824-2020-lecture3-gfs-transcript.txt
https://www.youtube.com/watch?v=EpIgvowZr00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The scale and failure problems from the first part of the lecture now become three concrete requirements for GFS.</a:t>
            </a:r>
          </a:p>
          <a:p>
            <a:endParaRPr lang="en-US" dirty="0"/>
          </a:p>
          <a:p>
            <a:r>
              <a:rPr lang="en-US" dirty="0"/>
              <a:t>First, Google needed one storage system that was big and fast enough for many services, including web crawling, search-index construction, server-log analysis, MapReduce jobs, and later video. Instead of building a separate storage system for each application, GFS provides one shared file system. It divides files into chunks and distributes them across servers, so capacity and parallel throughput grow with the cluster.</a:t>
            </a:r>
          </a:p>
          <a:p>
            <a:endParaRPr lang="en-US" dirty="0"/>
          </a:p>
          <a:p>
            <a:r>
              <a:rPr lang="en-US" dirty="0"/>
              <a:t>Second, the file system had to be global within one data center. Different applications can name and read the same files. A crawler can produce a data set, and an indexing job can consume it directly without copying the data into a separate storage silo.</a:t>
            </a:r>
          </a:p>
          <a:p>
            <a:endParaRPr lang="en-US" dirty="0"/>
          </a:p>
          <a:p>
            <a:r>
              <a:rPr lang="en-US" dirty="0"/>
              <a:t>Third, management had to be automatic. GFS places chunks, detects lost replicas, and creates new replicas when machines or disks fail. The applications should continue using files without an operator repairing each failure by hand.</a:t>
            </a:r>
          </a:p>
          <a:p>
            <a:endParaRPr lang="en-US" dirty="0"/>
          </a:p>
          <a:p>
            <a:r>
              <a:rPr lang="en-US" dirty="0"/>
              <a:t>The HDFS demo shows these requirements in a small cluster: one shared namespace, a large file divided into blocks across several servers, and automatic reconstruction after a server fails.</a:t>
            </a:r>
          </a:p>
          <a:p>
            <a:endParaRPr lang="en-US" dirty="0"/>
          </a:p>
          <a:p>
            <a:r>
              <a:rPr lang="en-US" dirty="0"/>
              <a:t>SOURCE
MIT 6.824, Spring 2020, Lecture 3 transcript/video, 15:43–18:55.
Local transcript: fall2026/lectures/references/mit-6824-2020-lecture3-gfs-transcript.txt
https://www.youtube.com/watch?v=EpIgvowZr00
Ghemawat, Gobioff, and Leung, The Google File System, Sections 1, 2.1, and 2.3.
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TERMINAL</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rPr lang="en-US" dirty="0"/>
              <a:t>The demo showed the mechanisms at a small scale. Those mechanisms make sense because GFS serves a deliberately specialized environment rather than every possible storage workload.</a:t>
            </a:r>
          </a:p>
          <a:p>
            <a:endParaRPr lang="en-US" dirty="0"/>
          </a:p>
          <a:p>
            <a:r>
              <a:rPr lang="en-US" dirty="0"/>
              <a:t>One GFS deployment lives inside a single data center. It does not try to keep replicas synchronized across distant sites with wide-area delays and network partitions. It is also an internal service for Google applications. Because Google controls both the storage system and most of its clients, application developers can understand the guarantees and adapt their data formats when necessary.</a:t>
            </a:r>
          </a:p>
          <a:p>
            <a:endParaRPr lang="en-US" dirty="0"/>
          </a:p>
          <a:p>
            <a:r>
              <a:rPr lang="en-US" dirty="0"/>
              <a:t>The expected workload is dominated by very large files. Reads are usually long sequential streams, with some small random reads. Writes are mainly large sequential appends, including cases where many clients append to the same file. Small writes at arbitrary offsets are possible, but they are not the design center.</a:t>
            </a:r>
          </a:p>
          <a:p>
            <a:endParaRPr lang="en-US" dirty="0"/>
          </a:p>
          <a:p>
            <a:r>
              <a:rPr lang="en-US" dirty="0"/>
              <a:t>This workload values aggregate throughput more than the response time of one tiny operation. A database holding bank-account records needs fast random updates and strong transactional behavior. GFS was designed for crawls, indexes, logs, and batch-processing pipelines.</a:t>
            </a:r>
          </a:p>
          <a:p>
            <a:endParaRPr lang="en-US" dirty="0"/>
          </a:p>
          <a:p>
            <a:r>
              <a:rPr lang="en-US" dirty="0"/>
              <a:t>These assumptions provide design freedom. GFS can optimize the operations Google performs constantly and accept weaker behavior in cases its applications can detect, retry, or avoid.</a:t>
            </a:r>
          </a:p>
          <a:p>
            <a:endParaRPr lang="en-US" dirty="0"/>
          </a:p>
          <a:p>
            <a:r>
              <a:rPr lang="en-US" dirty="0"/>
              <a:t>SOURCE
MIT 6.824, Spring 2020, Lecture 3 transcript/video, 18:07–20:39.
Local transcript: fall2026/lectures/references/mit-6824-2020-lecture3-gfs-transcript.txt
https://www.youtube.com/watch?v=EpIgvowZr00
Ghemawat, Gobioff, and Leung, The Google File System, Sections 1 and 2.1.
https://pdos.csail.mit.edu/6.824/papers/gfs.pdf</a:t>
            </a:r>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rPr lang="en-US" dirty="0"/>
              <a:t>Given those assumptions, what did the paper contribute? Distribution, sharding, replication, and fault tolerance were already established ideas in 2003. The research contribution was the way GFS combined them into a complete system and the evidence that the resulting design worked at production scale.</a:t>
            </a:r>
          </a:p>
          <a:p>
            <a:endParaRPr lang="en-US" dirty="0"/>
          </a:p>
          <a:p>
            <a:r>
              <a:rPr lang="en-US" dirty="0"/>
              <a:t>The first contribution is that operational evidence. Google needed the system to survive real failures, support real applications, and remain economical on commodity hardware. The paper reports experience from a deployed system rather than results from a small prototype.</a:t>
            </a:r>
          </a:p>
          <a:p>
            <a:endParaRPr lang="en-US" dirty="0"/>
          </a:p>
          <a:p>
            <a:r>
              <a:rPr lang="en-US" dirty="0"/>
              <a:t>The second contribution is the successful use of relaxed consistency. GFS accepts some anomalous results when avoiding them would require more coordination. That choice fits data such as a search index, where one missing result may go unnoticed. It does not fit data such as ad billing, where every recorded impression affects money. Applications can also protect themselves by attaching checksums and marking record boundaries, allowing readers to detect corruption or incomplete records.</a:t>
            </a:r>
          </a:p>
          <a:p>
            <a:endParaRPr lang="en-US" dirty="0"/>
          </a:p>
          <a:p>
            <a:r>
              <a:rPr lang="en-US" dirty="0"/>
              <a:t>The third contribution is the successful use of one master for metadata. Centralizing metadata makes namespace and placement decisions simpler. The clients still transfer file data directly to chunkservers, so the master does not carry the system's data bandwidth. The choice was surprising in an academic system, and the production experience showed that it worked for the original workload.</a:t>
            </a:r>
          </a:p>
          <a:p>
            <a:endParaRPr lang="en-US" dirty="0"/>
          </a:p>
          <a:p>
            <a:r>
              <a:rPr lang="en-US" dirty="0"/>
              <a:t>With the goals, assumptions, and contributions established, we can now examine that master-and-chunkserver architecture in detail.</a:t>
            </a:r>
          </a:p>
          <a:p>
            <a:endParaRPr lang="en-US" dirty="0"/>
          </a:p>
          <a:p>
            <a:r>
              <a:rPr lang="en-US" dirty="0"/>
              <a:t>SOURCE
MIT 6.824, Spring 2020, Lecture 3 transcript/video, 20:39–23:59.
Local transcript: fall2026/lectures/references/mit-6824-2020-lecture3-gfs-transcript.txt
https://www.youtube.com/watch?v=EpIgvowZr00
Ghemawat, Gobioff, and Leung, The Google File System, Sections 1, 2.3, 2.4, 2.7, and 6.
https://pdos.csail.mit.edu/6.824/papers/gfs.pdf</a:t>
            </a:r>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r>
              <a:rPr lang="en-US" dirty="0"/>
              <a:t>The architecture makes the single-master choice more concrete. There is one master, many chunkservers, and a GFS client library linked into each application.</a:t>
            </a:r>
          </a:p>
          <a:p>
            <a:endParaRPr lang="en-US" dirty="0"/>
          </a:p>
          <a:p>
            <a:r>
              <a:rPr lang="en-US" dirty="0"/>
              <a:t>The master controls the file system. It knows the namespace, how each file is divided into chunks, where the replicas are, and which replica currently coordinates mutations. The chunkservers hold the actual file data on their local disks.</a:t>
            </a:r>
          </a:p>
          <a:p>
            <a:endParaRPr lang="en-US" dirty="0"/>
          </a:p>
          <a:p>
            <a:r>
              <a:rPr lang="en-US" dirty="0"/>
              <a:t>The key is that control and data take different paths. A client asks the master where to find a chunk, but the file data moves directly between the client and a chunkserver. The master can make decisions using a global view without carrying every byte read or written. That is how GFS gains the simplicity of one master without placing the master in the main data path.</a:t>
            </a:r>
          </a:p>
          <a:p>
            <a:endParaRPr lang="en-US" dirty="0"/>
          </a:p>
          <a:p>
            <a:r>
              <a:rPr lang="en-US" dirty="0"/>
              <a:t>SOURCE
MIT 6.824, Spring 2020, Lecture 3 transcript/video, 23:05–24:48.
Local transcript: fall2026/lectures/references/mit-6824-2020-lecture3-gfs-transcript.txt
https://www.youtube.com/watch?v=EpIgvowZr00
Ghemawat, Gobioff, and Leung, The Google File System, Sections 2.3 and 2.4.
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rPr lang="en-US" dirty="0"/>
              <a:t>Now we can unpack the same architecture more precisely. Every component is a user-level process running on a commodity Linux machine. A machine may run a client, a chunkserver, or both, although separating them can reduce interference from application failures.</a:t>
            </a:r>
          </a:p>
          <a:p>
            <a:endParaRPr lang="en-US" dirty="0"/>
          </a:p>
          <a:p>
            <a:r>
              <a:rPr lang="en-US" dirty="0"/>
              <a:t>GFS divides a file into fixed-size chunks, normally 64 megabytes. When it creates a chunk, the master assigns an immutable 64-bit chunk handle. A chunkserver stores that chunk as an ordinary Linux file and accesses it using the handle and a byte range.</a:t>
            </a:r>
          </a:p>
          <a:p>
            <a:endParaRPr lang="en-US" dirty="0"/>
          </a:p>
          <a:p>
            <a:r>
              <a:rPr lang="en-US" dirty="0"/>
              <a:t>Each chunk normally has three replicas on different chunkservers. Replication keeps the chunk available after a machine or disk failure and gives the client a choice of replicas when reading.</a:t>
            </a:r>
          </a:p>
          <a:p>
            <a:endParaRPr lang="en-US" dirty="0"/>
          </a:p>
          <a:p>
            <a:r>
              <a:rPr lang="en-US" dirty="0"/>
              <a:t>The client library talks to both sides of the system. For metadata, it sends the file name and chunk index to the master. The master replies with the chunk handle and the replica locations. The client caches that answer, chooses a suitable replica, and transfers data directly with that chunkserver. Later operations on the same chunk can reuse the cached location information.</a:t>
            </a:r>
          </a:p>
          <a:p>
            <a:endParaRPr lang="en-US" dirty="0"/>
          </a:p>
          <a:p>
            <a:r>
              <a:rPr lang="en-US" dirty="0"/>
              <a:t>The arrows in the figure therefore represent two different paths. Small control messages go through the master. Large data transfers bypass it. Many clients can communicate with many chunkservers in parallel, while the master remains responsible for the global organization of the file system.</a:t>
            </a:r>
          </a:p>
          <a:p>
            <a:endParaRPr lang="en-US" dirty="0"/>
          </a:p>
          <a:p>
            <a:r>
              <a:rPr lang="en-US" dirty="0"/>
              <a:t>SOURCE
MIT 6.824, Spring 2020, Lecture 3 transcript/video, 23:05–24:48 and 31:21–33:59.
Local transcript: fall2026/lectures/references/mit-6824-2020-lecture3-gfs-transcript.txt
https://www.youtube.com/watch?v=EpIgvowZr00
Ghemawat, Gobioff, and Leung, The Google File System, Sections 2.3 and 2.4.
https://pdos.csail.mit.edu/6.824/papers/gfs.pdf</a:t>
            </a:r>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The master maintains one global view of the cluster. Its namespace maps file names to ordered arrays of chunk handles. For each chunk, it tracks metadata such as the version number and learns which chunkservers currently hold replicas. During a mutation, it also records the primary and the lease expiration time.</a:t>
            </a:r>
          </a:p>
          <a:p>
            <a:endParaRPr lang="en-US" dirty="0"/>
          </a:p>
          <a:p>
            <a:r>
              <a:rPr lang="en-US" dirty="0"/>
              <a:t>That global view allows the master to make cluster-wide decisions. It chooses where to place new chunks, creates replacement replicas after failures, moves chunks to balance load and disk usage, and removes chunks that no longer belong to any file. A chunkserver sees only its own local files, so it cannot make these decisions by itself.</a:t>
            </a:r>
          </a:p>
          <a:p>
            <a:endParaRPr lang="en-US" dirty="0"/>
          </a:p>
          <a:p>
            <a:r>
              <a:rPr lang="en-US" dirty="0"/>
              <a:t>All of this metadata stays in the master's memory, which makes lookups and background scans fast. The amount is small because GFS has large chunks. At less than 64 bytes per 64-megabyte chunk, 640 terabytes of full chunks requires less than about 640 megabytes of per-chunk metadata.</a:t>
            </a:r>
          </a:p>
          <a:p>
            <a:endParaRPr lang="en-US" dirty="0"/>
          </a:p>
          <a:p>
            <a:r>
              <a:rPr lang="en-US" dirty="0"/>
              <a:t>The master and chunkservers exchange periodic heartbeat messages. A chunkserver reports its state and the chunks it holds. The master uses the reply to send instructions, such as creating or deleting a replica. These heartbeats keep the master's view current as machines join, fail, and restart.</a:t>
            </a:r>
          </a:p>
          <a:p>
            <a:endParaRPr lang="en-US" dirty="0"/>
          </a:p>
          <a:p>
            <a:r>
              <a:rPr lang="en-US" dirty="0"/>
              <a:t>Keeping metadata in memory makes the master fast, but it raises an immediate question: what happens to that state when the master reboots?</a:t>
            </a:r>
          </a:p>
          <a:p>
            <a:endParaRPr lang="en-US" dirty="0"/>
          </a:p>
          <a:p>
            <a:r>
              <a:rPr lang="en-US" dirty="0"/>
              <a:t>SOURCE
MIT 6.824, Spring 2020, Lecture 3 transcript/video, 24:48–27:17.
Local transcript: fall2026/lectures/references/mit-6824-2020-lecture3-gfs-transcript.txt
https://www.youtube.com/watch?v=EpIgvowZr00
Ghemawat, Gobioff, and Leung, The Google File System, Sections 2.3, 2.6.1, 2.6.2, 4.3, and 4.4.
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To answer that question, separate the metadata that must survive from the metadata that can be reconstructed.</a:t>
            </a:r>
          </a:p>
          <a:p>
            <a:endParaRPr lang="en-US" dirty="0"/>
          </a:p>
          <a:p>
            <a:r>
              <a:rPr lang="en-US" dirty="0"/>
              <a:t>The file name to chunk-handle mapping must survive. No chunkserver knows the complete order of chunks that forms a file. Chunk version numbers must also survive because the master later uses them to distinguish current replicas from stale replicas that missed mutations.</a:t>
            </a:r>
          </a:p>
          <a:p>
            <a:endParaRPr lang="en-US" dirty="0"/>
          </a:p>
          <a:p>
            <a:r>
              <a:rPr lang="en-US" dirty="0"/>
              <a:t>The replica locations do not need to be written to disk. After a restart, the master asks every chunkserver which chunks it actually holds. This is more reliable than trying to keep an on-disk location table synchronized while chunkservers fail, restart, change names, or lose disks. The chunkserver has the final word about what remains on its own storage.</a:t>
            </a:r>
          </a:p>
          <a:p>
            <a:endParaRPr lang="en-US" dirty="0"/>
          </a:p>
          <a:p>
            <a:r>
              <a:rPr lang="en-US" dirty="0"/>
              <a:t>The identity of a primary and its lease expiration also do not need to survive. If the master forgets the current primary, it waits for one lease period. After that time, any old primary has lost the right to act, and the master can safely assign a new one.</a:t>
            </a:r>
          </a:p>
          <a:p>
            <a:endParaRPr lang="en-US" dirty="0"/>
          </a:p>
          <a:p>
            <a:r>
              <a:rPr lang="en-US" dirty="0"/>
              <a:t>The persistent part of the master's state is recorded in an operation log. Before a metadata change becomes visible to a client, the master flushes the corresponding log record to its local disk and to remote replicas of the log. The log also establishes one order for concurrent namespace operations.</a:t>
            </a:r>
          </a:p>
          <a:p>
            <a:endParaRPr lang="en-US" dirty="0"/>
          </a:p>
          <a:p>
            <a:r>
              <a:rPr lang="en-US" dirty="0"/>
              <a:t>Appending to a log is efficient because several records can be batched into one sequential disk write. A log grows forever, however, so the master periodically creates a checkpoint of its complete state. After a reboot, it loads the latest complete checkpoint, replays only the newer log records, and asks the chunkservers for their current replica lists.</a:t>
            </a:r>
          </a:p>
          <a:p>
            <a:endParaRPr lang="en-US" dirty="0"/>
          </a:p>
          <a:p>
            <a:r>
              <a:rPr lang="en-US" dirty="0"/>
              <a:t>This design keeps normal lookups in memory while preserving the information that cannot be reconstructed after a crash.</a:t>
            </a:r>
          </a:p>
          <a:p>
            <a:endParaRPr lang="en-US" dirty="0"/>
          </a:p>
          <a:p>
            <a:r>
              <a:rPr lang="en-US" dirty="0"/>
              <a:t>SOURCE
MIT 6.824, Spring 2020, Lecture 3 transcript/video, 27:17–31:21.
Local transcript: fall2026/lectures/references/mit-6824-2020-lecture3-gfs-transcript.txt
https://www.youtube.com/watch?v=EpIgvowZr00
Ghemawat, Gobioff, and Leung, The Google File System, Sections 2.6.1, 2.6.2, and 2.6.3.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The chunkservers are the data side of the architecture. Each one stores chunk replicas as ordinary Linux files, identified by their chunk handles. GFS relies on the local Linux file system and its buffer cache rather than building another disk format or data cache inside the chunkserver.</a:t>
            </a:r>
          </a:p>
          <a:p>
            <a:endParaRPr lang="en-US" dirty="0"/>
          </a:p>
          <a:p>
            <a:r>
              <a:rPr lang="en-US" dirty="0"/>
              <a:t>The 64-megabyte chunk size is much larger than a conventional file-system block. A large chunk reduces the number of chunk records the master must keep. It also reduces client-master traffic because one location lookup can support many operations on the same chunk. For sequential workloads, a client can keep one connection to a chunkserver and transfer a long region of data efficiently.</a:t>
            </a:r>
          </a:p>
          <a:p>
            <a:endParaRPr lang="en-US" dirty="0"/>
          </a:p>
          <a:p>
            <a:r>
              <a:rPr lang="en-US" dirty="0"/>
              <a:t>The main space concern is internal fragmentation. GFS avoids reserving all 64 megabytes when a chunk is created. The Linux file grows only as data is written, so a partially filled last chunk consumes only the space it needs.</a:t>
            </a:r>
          </a:p>
          <a:p>
            <a:endParaRPr lang="en-US" dirty="0"/>
          </a:p>
          <a:p>
            <a:r>
              <a:rPr lang="en-US" dirty="0"/>
              <a:t>A large chunk can still create a hot spot when a small file occupies one chunk and hundreds of clients read it at once. The paper reports this happening when many machines simultaneously fetched the same executable. Google handled that case with more replicas and staggered start times. The normal workload of large, multi-chunk files made the tradeoff acceptable.</a:t>
            </a:r>
          </a:p>
          <a:p>
            <a:endParaRPr lang="en-US" dirty="0"/>
          </a:p>
          <a:p>
            <a:r>
              <a:rPr lang="en-US" dirty="0"/>
              <a:t>Chunkservers send heartbeats to the master. If a machine disappears or a replica becomes unavailable, the master selects a healthy copy and instructs chunkservers to create another replica. The master coordinates recovery, while the chunk data moves between chunkservers.</a:t>
            </a:r>
          </a:p>
          <a:p>
            <a:endParaRPr lang="en-US" dirty="0"/>
          </a:p>
          <a:p>
            <a:r>
              <a:rPr lang="en-US" dirty="0"/>
              <a:t>The HDFS demo now makes these roles concrete at a smaller scale: the NameNode holds metadata, the DataNodes hold the block files, and losing one DataNode causes the system to rebuild the missing replicas automatically.</a:t>
            </a:r>
          </a:p>
          <a:p>
            <a:endParaRPr lang="en-US" dirty="0"/>
          </a:p>
          <a:p>
            <a:r>
              <a:rPr lang="en-US" dirty="0"/>
              <a:t>SOURCE
MIT 6.824, Spring 2020, Lecture 3 transcript/video, 23:59–24:48.
Local transcript: fall2026/lectures/references/mit-6824-2020-lecture3-gfs-transcript.txt
https://www.youtube.com/watch?v=EpIgvowZr00
Ghemawat, Gobioff, and Leung, The Google File System, Sections 2.3, 2.5, 2.6.2, and 4.3.
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rPr lang="en-US" dirty="0"/>
              <a:t>The demo gave us the static picture: one service holds the metadata, many servers hold the data, and the system repairs lost replicas. Now we can follow what happens when an application actually accesses a file.</a:t>
            </a:r>
          </a:p>
          <a:p>
            <a:endParaRPr lang="en-US" dirty="0"/>
          </a:p>
          <a:p>
            <a:r>
              <a:rPr lang="en-US" dirty="0"/>
              <a:t>We will begin with a read because it uses the architecture in its simplest form. The client needs the master to translate a file name and a position into a chunk handle and replica locations. Once it has that metadata, it reads the bytes directly from a chunkserver.</a:t>
            </a:r>
          </a:p>
          <a:p>
            <a:endParaRPr lang="en-US" dirty="0"/>
          </a:p>
          <a:p>
            <a:r>
              <a:rPr lang="en-US" dirty="0"/>
              <a:t>A write uses the same separation between metadata and data, but it introduces an additional problem. Every replica must apply mutations in one common order. Otherwise we recreate the divergent replicas from the beginning of the lecture.</a:t>
            </a:r>
          </a:p>
          <a:p>
            <a:endParaRPr lang="en-US" dirty="0"/>
          </a:p>
          <a:p>
            <a:r>
              <a:rPr lang="en-US" dirty="0"/>
              <a:t>So the read path will show why one master can remain lightly loaded. The write path will show how GFS adds a primary, secondaries, leases, and version numbers to coordinate replicated data.</a:t>
            </a:r>
          </a:p>
          <a:p>
            <a:endParaRPr lang="en-US" dirty="0"/>
          </a:p>
          <a:p>
            <a:r>
              <a:rPr lang="en-US" dirty="0"/>
              <a:t>SOURCE
MIT 6.824, Spring 2020, Lecture 3 transcript/video, 31:21–32:12 and 39:17–40:51.
Local transcript: fall2026/lectures/references/mit-6824-2020-lecture3-gfs-transcript.txt
https://www.youtube.com/watch?v=EpIgvowZr00
Ghemawat, Gobioff, and Leung, The Google File System, Sections 2.4 and 3.1.
https://pdos.csail.mit.edu/6.824/papers/gfs.pdf</a:t>
            </a:r>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rPr lang="en-US" dirty="0"/>
              <a:t>Suppose the application wants to read a range of bytes from a named file. The GFS client library first uses the fixed 64-megabyte chunk size to determine which chunk contains the starting offset.</a:t>
            </a:r>
          </a:p>
          <a:p>
            <a:endParaRPr lang="en-US" dirty="0"/>
          </a:p>
          <a:p>
            <a:r>
              <a:rPr lang="en-US" dirty="0"/>
              <a:t>If the client has not cached the answer, it sends the file name and chunk index to the master. The master uses its file-to-chunk table to find the chunk handle, then uses the chunk metadata to find the chunkservers holding replicas. It returns the handle and the replica locations to the client.</a:t>
            </a:r>
          </a:p>
          <a:p>
            <a:endParaRPr lang="en-US" dirty="0"/>
          </a:p>
          <a:p>
            <a:r>
              <a:rPr lang="en-US" dirty="0"/>
              <a:t>The client caches that mapping. This matters because an application may read a large file in many smaller operations. As long as those reads remain in the same chunk and the cached information is valid, the client does not need to ask the master again.</a:t>
            </a:r>
          </a:p>
          <a:p>
            <a:endParaRPr lang="en-US" dirty="0"/>
          </a:p>
          <a:p>
            <a:r>
              <a:rPr lang="en-US" dirty="0"/>
              <a:t>The client chooses one replica, normally a chunkserver that appears close in the network, and sends that server the chunk handle and the byte range within the chunk. The chunkserver opens the corresponding Linux file, reads the requested bytes, and returns them directly to the client.</a:t>
            </a:r>
          </a:p>
          <a:p>
            <a:endParaRPr lang="en-US" dirty="0"/>
          </a:p>
          <a:p>
            <a:r>
              <a:rPr lang="en-US" dirty="0"/>
              <a:t>If a request crosses a chunk boundary, the client library divides it into separate chunk requests and combines the returned bytes for the application. The application continues to think in terms of a file name and file offsets. The library and master translate that view into chunk operations.</a:t>
            </a:r>
          </a:p>
          <a:p>
            <a:endParaRPr lang="en-US" dirty="0"/>
          </a:p>
          <a:p>
            <a:r>
              <a:rPr lang="en-US" dirty="0"/>
              <a:t>SOURCE
MIT 6.824, Spring 2020, Lecture 3 transcript/video, 31:21–39:17.
Local transcript: fall2026/lectures/references/mit-6824-2020-lecture3-gfs-transcript.txt
https://www.youtube.com/watch?v=EpIgvowZr00
Ghemawat, Gobioff, and Leung, The Google File System, Section 2.4.
https://pdos.csail.mit.edu/6.824/papers/gfs.pdf</a:t>
            </a:r>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rPr lang="en-US" dirty="0"/>
              <a:t>The read path explains how GFS can use one master without sending all traffic through one machine. The master answers the naming question: which chunk represents this part of the file, and which servers hold it? The chunkserver answers the data question by returning the bytes.</a:t>
            </a:r>
          </a:p>
          <a:p>
            <a:endParaRPr lang="en-US" dirty="0"/>
          </a:p>
          <a:p>
            <a:r>
              <a:rPr lang="en-US" dirty="0"/>
              <a:t>The client caches the master's answer, so a long sequential scan needs far fewer master requests than data requests. The master handles small metadata messages, while many clients read different chunks from many chunkservers in parallel.</a:t>
            </a:r>
          </a:p>
          <a:p>
            <a:endParaRPr lang="en-US" dirty="0"/>
          </a:p>
          <a:p>
            <a:r>
              <a:rPr lang="en-US" dirty="0"/>
              <a:t>Reading needs only one suitable replica. Writing is harder because the replicas are no longer interchangeable if they apply concurrent mutations in different orders. The client already knows which chunkservers hold the replicas, but it cannot let each server choose its own order.</a:t>
            </a:r>
          </a:p>
          <a:p>
            <a:endParaRPr lang="en-US" dirty="0"/>
          </a:p>
          <a:p>
            <a:r>
              <a:rPr lang="en-US" dirty="0"/>
              <a:t>This brings us back to the failure from the first part of the lecture. Two servers received the same writes in opposite orders and ended with different values. GFS prevents that by giving one replica the authority to order mutations for the chunk.</a:t>
            </a:r>
          </a:p>
          <a:p>
            <a:endParaRPr lang="en-US" dirty="0"/>
          </a:p>
          <a:p>
            <a:r>
              <a:rPr lang="en-US" dirty="0"/>
              <a:t>SOURCE
MIT 6.824, Spring 2020, Lecture 3 transcript/video, 33:11–40:51.
Local transcript: fall2026/lectures/references/mit-6824-2020-lecture3-gfs-transcript.txt
https://www.youtube.com/watch?v=EpIgvowZr00
Ghemawat, Gobioff, and Leung, The Google File System, Sections 2.4 and 3.1.
https://pdos.csail.mit.edu/6.824/papers/gfs.pdf</a:t>
            </a:r>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For every chunk being modified, the master designates one up-to-date replica as the primary. The other up-to-date replicas are secondaries. The primary receives the write command and chooses one serial order for all concurrent mutations to that chunk.</a:t>
            </a:r>
          </a:p>
          <a:p>
            <a:endParaRPr lang="en-US" dirty="0"/>
          </a:p>
          <a:p>
            <a:r>
              <a:rPr lang="en-US" dirty="0"/>
              <a:t>The primary then tells the secondaries to apply the mutations in that same order. The network may deliver requests to different servers at different times, but the replicas no longer use arrival order to decide what happens. They follow the order selected by the primary.</a:t>
            </a:r>
          </a:p>
          <a:p>
            <a:endParaRPr lang="en-US" dirty="0"/>
          </a:p>
          <a:p>
            <a:r>
              <a:rPr lang="en-US" dirty="0"/>
              <a:t>This is the rule missing from the broken replication design earlier in the lecture. There, two servers independently chose different legal orders. Here, one primary chooses the order once, and every secondary follows it.</a:t>
            </a:r>
          </a:p>
          <a:p>
            <a:endParaRPr lang="en-US" dirty="0"/>
          </a:p>
          <a:p>
            <a:r>
              <a:rPr lang="en-US" dirty="0"/>
              <a:t>The authority to act as primary comes from a lease granted by the master. The lease has an expiration time, so an old primary eventually loses the right to process mutations even if a network failure prevents the master from contacting it. We will return to the version and lease details after tracing one write.</a:t>
            </a:r>
          </a:p>
          <a:p>
            <a:endParaRPr lang="en-US" dirty="0"/>
          </a:p>
          <a:p>
            <a:r>
              <a:rPr lang="en-US" dirty="0"/>
              <a:t>One wording detail on the slide matters: the client sends the write command to the primary. The file bytes take a separate path to all replicas, which we will see in the next steps.</a:t>
            </a:r>
          </a:p>
          <a:p>
            <a:endParaRPr lang="en-US" dirty="0"/>
          </a:p>
          <a:p>
            <a:r>
              <a:rPr lang="en-US" dirty="0"/>
              <a:t>SOURCE
MIT 6.824, Spring 2020, Lecture 3 transcript/video, 49:51–53:26 and 61:49–64:14.
Local transcript: fall2026/lectures/references/mit-6824-2020-lecture3-gfs-transcript.txt
https://www.youtube.com/watch?v=EpIgvowZr00
Ghemawat, Gobioff, and Leung, The Google File System, Sections 3.1 and 4.5.
https://pdos.csail.mit.edu/6.824/papers/gfs.pdf</a:t>
            </a:r>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rPr lang="en-US" dirty="0"/>
              <a:t>A mutation separates moving the data from deciding when and where to apply it.</a:t>
            </a:r>
          </a:p>
          <a:p>
            <a:endParaRPr lang="en-US" dirty="0"/>
          </a:p>
          <a:p>
            <a:r>
              <a:rPr lang="en-US" dirty="0"/>
              <a:t>First, the client asks the master for the current primary and secondaries of the target chunk. The master returns only replicas with the current chunk version.</a:t>
            </a:r>
          </a:p>
          <a:p>
            <a:endParaRPr lang="en-US" dirty="0"/>
          </a:p>
          <a:p>
            <a:r>
              <a:rPr lang="en-US" dirty="0"/>
              <a:t>Next, the client pushes the data to every replica. The replicas store those bytes temporarily; receiving the bytes does not yet change the visible chunk. In the optimized implementation, the data travels through a pipeline rather than being sent independently from the client to every server.</a:t>
            </a:r>
          </a:p>
          <a:p>
            <a:endParaRPr lang="en-US" dirty="0"/>
          </a:p>
          <a:p>
            <a:r>
              <a:rPr lang="en-US" dirty="0"/>
              <a:t>Once every replica has buffered the data, the client sends the write command to the primary. The primary checks that its lease is still valid, assigns the mutation its place in the serial order, and tells the secondaries to apply the buffered bytes in that same order. Each replica writes the mutation to its local chunk file and acknowledges the primary.</a:t>
            </a:r>
          </a:p>
          <a:p>
            <a:endParaRPr lang="en-US" dirty="0"/>
          </a:p>
          <a:p>
            <a:r>
              <a:rPr lang="en-US" dirty="0"/>
              <a:t>If every secondary acknowledges, the primary reports success to the client. If a server returns an error or does not reply, the primary reports failure. The client then retries the operation from the beginning, including asking the master again in case the replica group has changed.</a:t>
            </a:r>
          </a:p>
          <a:p>
            <a:endParaRPr lang="en-US" dirty="0"/>
          </a:p>
          <a:p>
            <a:r>
              <a:rPr lang="en-US" dirty="0"/>
              <a:t>A retry improves the chance that the operation eventually succeeds, but it also means that part of an earlier attempt may remain on some replicas. That behavior becomes especially important for record append.</a:t>
            </a:r>
          </a:p>
          <a:p>
            <a:endParaRPr lang="en-US" dirty="0"/>
          </a:p>
          <a:p>
            <a:r>
              <a:rPr lang="en-US" dirty="0"/>
              <a:t>SOURCE
MIT 6.824, Spring 2020, Lecture 3 transcript/video, 51:39–57:36.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An ordinary write includes a file name, a byte offset, and a buffer. If several clients write the same region concurrently, they must coordinate their offsets or accept that the writes may overlap.</a:t>
            </a:r>
          </a:p>
          <a:p>
            <a:endParaRPr lang="en-US" dirty="0"/>
          </a:p>
          <a:p>
            <a:r>
              <a:rPr lang="en-US" dirty="0"/>
              <a:t>Record append changes the interface. The client supplies the file name and the record, but it does not choose an offset. The primary chooses a location at the current end of the chunk and tells every secondary to use that same offset. This allows hundreds of producers to append to one log or queue without coordinating with one another.</a:t>
            </a:r>
          </a:p>
          <a:p>
            <a:endParaRPr lang="en-US" dirty="0"/>
          </a:p>
          <a:p>
            <a:r>
              <a:rPr lang="en-US" dirty="0"/>
              <a:t>If the client receives success, every replica has written the record at the same offset. The guarantee is at least once rather than exactly once. If the client receives an error, some replicas may already contain the record while others do not. The client retries the complete append, and the successful retry may place another copy later in the file.</a:t>
            </a:r>
          </a:p>
          <a:p>
            <a:endParaRPr lang="en-US" dirty="0"/>
          </a:p>
          <a:p>
            <a:r>
              <a:rPr lang="en-US" dirty="0"/>
              <a:t>A reader may therefore encounter padding from abandoned attempts or duplicate records from retries. GFS asks applications to make records self-identifying and self-validating so readers can discard padding, incomplete fragments, and duplicates when necessary.</a:t>
            </a:r>
          </a:p>
          <a:p>
            <a:endParaRPr lang="en-US" dirty="0"/>
          </a:p>
          <a:p>
            <a:r>
              <a:rPr lang="en-US" dirty="0"/>
              <a:t>This interface is closely matched to Google's workload. The system gives many concurrent producers an efficient atomic append, while applications accept and handle the limited anomalies created by failures and retries.</a:t>
            </a:r>
          </a:p>
          <a:p>
            <a:endParaRPr lang="en-US" dirty="0"/>
          </a:p>
          <a:p>
            <a:r>
              <a:rPr lang="en-US" dirty="0"/>
              <a:t>SOURCE
MIT 6.824, Spring 2020, Lecture 3 transcript/video, 40:04–40:51 and 52:29–57:36.
Local transcript: fall2026/lectures/references/mit-6824-2020-lecture3-gfs-transcript.txt
https://www.youtube.com/watch?v=EpIgvowZr00
Ghemawat, Gobioff, and Leung, The Google File System, Sections 2.2, 2.7, and 3.3.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write and record-append paths have assumed that the master can return a current primary and set of secondaries. But a chunkserver may have been offline while other replicas received mutations, so simply possessing a chunk with the correct handle does not mean that its contents are up to date.</a:t>
            </a:r>
          </a:p>
          <a:p>
            <a:endParaRPr lang="en-US" dirty="0"/>
          </a:p>
          <a:p>
            <a:r>
              <a:rPr lang="en-US" dirty="0"/>
              <a:t>The master assigns a version number to every chunk. Whenever it establishes a new lease and replica group, it advances that version. The master records the new number persistently, and the selected primary and secondaries record it on their own disks before the group begins serving new mutations.</a:t>
            </a:r>
          </a:p>
          <a:p>
            <a:endParaRPr lang="en-US" dirty="0"/>
          </a:p>
          <a:p>
            <a:r>
              <a:rPr lang="en-US" dirty="0"/>
              <a:t>A replica that was unavailable during this step keeps the older version. When it later reports to the master, the number reveals that it is stale. The master excludes that replica from reads, never designates it as a primary, and eventually garbage-collects it.</a:t>
            </a:r>
          </a:p>
          <a:p>
            <a:endParaRPr lang="en-US" dirty="0"/>
          </a:p>
          <a:p>
            <a:r>
              <a:rPr lang="en-US" dirty="0"/>
              <a:t>The power-failure example explains why the master's copy of the version number must survive. Suppose the master restarts before the chunkservers holding the newest replicas. If it merely accepted the highest version among the first servers to respond, it could mistake an old copy for the current one. Instead, it waits for a replica carrying the version it already knows is current, or it tells the client to retry later.</a:t>
            </a:r>
          </a:p>
          <a:p>
            <a:endParaRPr lang="en-US" dirty="0"/>
          </a:p>
          <a:p>
            <a:r>
              <a:rPr lang="en-US" dirty="0"/>
              <a:t>The system therefore prefers temporary unavailability to silently serving stale data.</a:t>
            </a:r>
          </a:p>
          <a:p>
            <a:endParaRPr lang="en-US" dirty="0"/>
          </a:p>
          <a:p>
            <a:r>
              <a:rPr lang="en-US" dirty="0"/>
              <a:t>SOURCE
MIT 6.824, Spring 2020, Lecture 3 transcript/video, 41:39–50:50.
Local transcript: fall2026/lectures/references/mit-6824-2020-lecture3-gfs-transcript.txt
https://www.youtube.com/watch?v=EpIgvowZr00
Ghemawat, Gobioff, and Leung, The Google File System, Section 4.5.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rPr lang="en-US" dirty="0"/>
              <a:t>This diagram puts the complete mutation path together and separates control messages from the data path.</a:t>
            </a:r>
          </a:p>
          <a:p>
            <a:endParaRPr lang="en-US" dirty="0"/>
          </a:p>
          <a:p>
            <a:r>
              <a:rPr lang="en-US" dirty="0"/>
              <a:t>First, the client asks the master which chunkservers hold current replicas and which one has the primary lease. The master returns the primary and secondaries. These are small control messages; no file data passes through the master.</a:t>
            </a:r>
          </a:p>
          <a:p>
            <a:endParaRPr lang="en-US" dirty="0"/>
          </a:p>
          <a:p>
            <a:r>
              <a:rPr lang="en-US" dirty="0"/>
              <a:t>The client then pushes the data through the replicas. GFS orders the pipeline by network proximity. The client sends the bytes to one chunkserver, that server forwards them to the next, and the chain continues until every replica has buffered the data. Each machine uses its outgoing bandwidth once, and the path can avoid repeatedly crossing a bottleneck link.</a:t>
            </a:r>
          </a:p>
          <a:p>
            <a:endParaRPr lang="en-US" dirty="0"/>
          </a:p>
          <a:p>
            <a:r>
              <a:rPr lang="en-US" dirty="0"/>
              <a:t>After the replicas acknowledge that they have the bytes, the client sends the write command to the primary. The primary places the mutation in its serial order and forwards the command to the secondaries. Every replica applies the buffered data in that order, and the acknowledgments return through the primary to the client.</a:t>
            </a:r>
          </a:p>
          <a:p>
            <a:endParaRPr lang="en-US" dirty="0"/>
          </a:p>
          <a:p>
            <a:r>
              <a:rPr lang="en-US" dirty="0"/>
              <a:t>The separation serves two different goals. The data pipeline uses the network efficiently. The primary controls the mutation order needed to keep replicas aligned.</a:t>
            </a:r>
          </a:p>
          <a:p>
            <a:endParaRPr lang="en-US" dirty="0"/>
          </a:p>
          <a:p>
            <a:r>
              <a:rPr lang="en-US" dirty="0"/>
              <a:t>The next demo makes the same architectural separation visible in HDFS: a metadata lookup goes to the NameNode, while the file bytes move directly through a DataNode pipeline. HDFS does not implement GFS leases or record append, so those GFS-specific guarantees remain part of the paper rather than the demo.</a:t>
            </a:r>
          </a:p>
          <a:p>
            <a:endParaRPr lang="en-US" dirty="0"/>
          </a:p>
          <a:p>
            <a:r>
              <a:rPr lang="en-US" dirty="0"/>
              <a:t>SOURCE
MIT 6.824, Spring 2020, Lecture 3 transcript/video, 51:39–58:24.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52</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53</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7"/>
                                            </p:txEl>
                                          </p:spTgt>
                                        </p:tgtEl>
                                        <p:attrNameLst>
                                          <p:attrName>style.visibility</p:attrName>
                                        </p:attrNameLst>
                                      </p:cBhvr>
                                      <p:to>
                                        <p:strVal val="visible"/>
                                      </p:to>
                                    </p:set>
                                    <p:animEffect transition="in" filter="dissolve">
                                      <p:cBhvr>
                                        <p:cTn id="7" dur="500"/>
                                        <p:tgtEl>
                                          <p:spTgt spid="2">
                                            <p:txEl>
                                              <p:pRg st="6"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11</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dissolv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grpSp>
      <p:grpSp>
        <p:nvGrpSpPr>
          <p:cNvPr id="21" name="object 21">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
        <p:nvSpPr>
          <p:cNvPr id="22" name="C1 value">
            <a:extLst>
              <a:ext uri="{FF2B5EF4-FFF2-40B4-BE49-F238E27FC236}">
                <a16:creationId xmlns:a16="http://schemas.microsoft.com/office/drawing/2014/main" id="{B3234D3B-6A3A-C4E5-86E3-56006E2E9CDE}"/>
              </a:ext>
            </a:extLst>
          </p:cNvPr>
          <p:cNvSpPr txBox="1"/>
          <p:nvPr/>
        </p:nvSpPr>
        <p:spPr>
          <a:xfrm>
            <a:off x="2245261" y="426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1</a:t>
            </a:r>
            <a:endParaRPr sz="2000" b="1">
              <a:latin typeface="Arial"/>
              <a:cs typeface="Arial"/>
            </a:endParaRPr>
          </a:p>
        </p:txBody>
      </p:sp>
      <p:sp>
        <p:nvSpPr>
          <p:cNvPr id="23" name="C2 value">
            <a:extLst>
              <a:ext uri="{FF2B5EF4-FFF2-40B4-BE49-F238E27FC236}">
                <a16:creationId xmlns:a16="http://schemas.microsoft.com/office/drawing/2014/main" id="{B3234D3B-6A3A-C4E5-86E3-56006E2E9CDE}"/>
              </a:ext>
            </a:extLst>
          </p:cNvPr>
          <p:cNvSpPr txBox="1"/>
          <p:nvPr/>
        </p:nvSpPr>
        <p:spPr>
          <a:xfrm>
            <a:off x="2245261" y="577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2</a:t>
            </a:r>
            <a:endParaRPr sz="2000" b="1">
              <a:latin typeface="Arial"/>
              <a:cs typeface="Arial"/>
            </a:endParaRPr>
          </a:p>
        </p:txBody>
      </p:sp>
      <p:sp>
        <p:nvSpPr>
          <p:cNvPr id="24" name="S1 result">
            <a:extLst>
              <a:ext uri="{FF2B5EF4-FFF2-40B4-BE49-F238E27FC236}">
                <a16:creationId xmlns:a16="http://schemas.microsoft.com/office/drawing/2014/main" id="{B3234D3B-6A3A-C4E5-86E3-56006E2E9CDE}"/>
              </a:ext>
            </a:extLst>
          </p:cNvPr>
          <p:cNvSpPr txBox="1"/>
          <p:nvPr/>
        </p:nvSpPr>
        <p:spPr>
          <a:xfrm>
            <a:off x="9200000" y="350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2</a:t>
            </a:r>
            <a:endParaRPr sz="2000" b="1">
              <a:latin typeface="Arial"/>
              <a:cs typeface="Arial"/>
            </a:endParaRPr>
          </a:p>
        </p:txBody>
      </p:sp>
      <p:sp>
        <p:nvSpPr>
          <p:cNvPr id="25" name="S2 result">
            <a:extLst>
              <a:ext uri="{FF2B5EF4-FFF2-40B4-BE49-F238E27FC236}">
                <a16:creationId xmlns:a16="http://schemas.microsoft.com/office/drawing/2014/main" id="{B3234D3B-6A3A-C4E5-86E3-56006E2E9CDE}"/>
              </a:ext>
            </a:extLst>
          </p:cNvPr>
          <p:cNvSpPr txBox="1"/>
          <p:nvPr/>
        </p:nvSpPr>
        <p:spPr>
          <a:xfrm>
            <a:off x="9200000" y="522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1</a:t>
            </a:r>
            <a:endParaRPr sz="2000" b="1">
              <a:latin typeface="Arial"/>
              <a:cs typeface="Arial"/>
            </a:endParaRPr>
          </a:p>
        </p:txBody>
      </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par>
                                <p:cTn id="8" presetID="9"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dissolv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dissolve">
                                      <p:cBhvr>
                                        <p:cTn id="15" dur="500"/>
                                        <p:tgtEl>
                                          <p:spTgt spid="21"/>
                                        </p:tgtEl>
                                      </p:cBhvr>
                                    </p:animEffect>
                                  </p:childTnLst>
                                </p:cTn>
                              </p:par>
                              <p:par>
                                <p:cTn id="16" presetID="9"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dissolve">
                                      <p:cBhvr>
                                        <p:cTn id="23" dur="500"/>
                                        <p:tgtEl>
                                          <p:spTgt spid="24"/>
                                        </p:tgtEl>
                                      </p:cBhvr>
                                    </p:animEffect>
                                  </p:childTnLst>
                                </p:cTn>
                              </p:par>
                              <p:par>
                                <p:cTn id="24" presetID="9"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dissolve">
                                      <p:cBhvr>
                                        <p:cTn id="2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Can We Just Always Read from Server 1?</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14</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A natural patch: everyone reads Server 1, and falls back to Server 2 only when S1 is down</a:t>
            </a:r>
          </a:p>
          <a:p>
            <a:pPr marL="342900" indent="-342900">
              <a:buFont typeface="Arial"/>
              <a:buChar char="•"/>
            </a:pPr>
            <a:endParaRPr sz="1200" dirty="0"/>
          </a:p>
          <a:p>
            <a:pPr marL="342900" indent="-342900">
              <a:buFont typeface="Arial"/>
              <a:buChar char="•"/>
            </a:pPr>
            <a:r>
              <a:rPr sz="2400" dirty="0"/>
              <a:t>While S1 is up every reader sees 2, so the disagreement is hidden, not repaired</a:t>
            </a:r>
          </a:p>
          <a:p>
            <a:pPr marL="342900" indent="-342900">
              <a:buFont typeface="Arial"/>
              <a:buChar char="•"/>
            </a:pPr>
            <a:endParaRPr sz="1200" dirty="0"/>
          </a:p>
          <a:p>
            <a:pPr marL="342900" indent="-342900">
              <a:buFont typeface="Arial"/>
              <a:buChar char="•"/>
            </a:pPr>
            <a:r>
              <a:rPr sz="2400" dirty="0"/>
              <a:t>S1 dies, the readers fall back to S2, and the value goes back to 1</a:t>
            </a:r>
          </a:p>
          <a:p>
            <a:pPr marL="342900" indent="-342900">
              <a:buFont typeface="Arial"/>
              <a:buChar char="•"/>
            </a:pPr>
            <a:endParaRPr sz="1200" dirty="0"/>
          </a:p>
          <a:p>
            <a:pPr marL="342900" indent="-342900">
              <a:buFont typeface="Arial"/>
              <a:buChar char="•"/>
            </a:pPr>
            <a:r>
              <a:rPr sz="2400" dirty="0"/>
              <a:t>Nobody wrote. One machine could never do that.</a:t>
            </a:r>
          </a:p>
        </p:txBody>
      </p:sp>
      <p:sp>
        <p:nvSpPr>
          <p:cNvPr id="49" name="Rul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Rule: always read S1, fall back to S2</a:t>
            </a:r>
          </a:p>
        </p:txBody>
      </p:sp>
      <p:sp>
        <p:nvSpPr>
          <p:cNvPr id="50" name="Server 1 up">
            <a:extLst>
              <a:ext uri="{FF2B5EF4-FFF2-40B4-BE49-F238E27FC236}">
                <a16:creationId xmlns:a16="http://schemas.microsoft.com/office/drawing/2014/main" id="{C047F16D-4224-436C-BA2F-7F4F14E7970E}"/>
              </a:ext>
            </a:extLst>
          </p:cNvPr>
          <p:cNvSpPr>
            <a:spLocks noGrp="1"/>
          </p:cNvSpPr>
          <p:nvPr/>
        </p:nvSpPr>
        <p:spPr>
          <a:xfrm>
            <a:off x="450000" y="150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2</a:t>
            </a:r>
          </a:p>
        </p:txBody>
      </p:sp>
      <p:sp>
        <p:nvSpPr>
          <p:cNvPr id="51" name="Server 2">
            <a:extLst>
              <a:ext uri="{FF2B5EF4-FFF2-40B4-BE49-F238E27FC236}">
                <a16:creationId xmlns:a16="http://schemas.microsoft.com/office/drawing/2014/main" id="{C047F16D-4224-436C-BA2F-7F4F14E7970E}"/>
              </a:ext>
            </a:extLst>
          </p:cNvPr>
          <p:cNvSpPr>
            <a:spLocks noGrp="1"/>
          </p:cNvSpPr>
          <p:nvPr/>
        </p:nvSpPr>
        <p:spPr>
          <a:xfrm>
            <a:off x="450000" y="225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1</a:t>
            </a:r>
          </a:p>
        </p:txBody>
      </p:sp>
      <p:sp>
        <p:nvSpPr>
          <p:cNvPr id="52" name="Reader C3">
            <a:extLst>
              <a:ext uri="{FF2B5EF4-FFF2-40B4-BE49-F238E27FC236}">
                <a16:creationId xmlns:a16="http://schemas.microsoft.com/office/drawing/2014/main" id="{C047F16D-4224-436C-BA2F-7F4F14E7970E}"/>
              </a:ext>
            </a:extLst>
          </p:cNvPr>
          <p:cNvSpPr>
            <a:spLocks noGrp="1"/>
          </p:cNvSpPr>
          <p:nvPr/>
        </p:nvSpPr>
        <p:spPr>
          <a:xfrm>
            <a:off x="4400000" y="150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sp>
        <p:nvSpPr>
          <p:cNvPr id="53" name="Reader C4">
            <a:extLst>
              <a:ext uri="{FF2B5EF4-FFF2-40B4-BE49-F238E27FC236}">
                <a16:creationId xmlns:a16="http://schemas.microsoft.com/office/drawing/2014/main" id="{C047F16D-4224-436C-BA2F-7F4F14E7970E}"/>
              </a:ext>
            </a:extLst>
          </p:cNvPr>
          <p:cNvSpPr>
            <a:spLocks noGrp="1"/>
          </p:cNvSpPr>
          <p:nvPr/>
        </p:nvSpPr>
        <p:spPr>
          <a:xfrm>
            <a:off x="4400000" y="225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cxnSp>
        <p:nvCxnSpPr>
          <p:cNvPr id="76" name="Read arrow 1"/>
          <p:cNvCxnSpPr/>
          <p:nvPr/>
        </p:nvCxnSpPr>
        <p:spPr>
          <a:xfrm>
            <a:off x="2050000" y="1795275"/>
            <a:ext cx="2350000" cy="0"/>
          </a:xfrm>
          <a:prstGeom prst="straightConnector1">
            <a:avLst/>
          </a:prstGeom>
          <a:ln w="19050">
            <a:solidFill>
              <a:srgbClr val="5B6573"/>
            </a:solidFill>
            <a:prstDash val="solid"/>
            <a:tailEnd type="triangle" w="sm" len="sm"/>
          </a:ln>
        </p:spPr>
      </p:cxnSp>
      <p:cxnSp>
        <p:nvCxnSpPr>
          <p:cNvPr id="77" name="Read arrow 2"/>
          <p:cNvCxnSpPr/>
          <p:nvPr/>
        </p:nvCxnSpPr>
        <p:spPr>
          <a:xfrm>
            <a:off x="2050000" y="1795275"/>
            <a:ext cx="2350000" cy="750000"/>
          </a:xfrm>
          <a:prstGeom prst="straightConnector1">
            <a:avLst/>
          </a:prstGeom>
          <a:ln w="19050">
            <a:solidFill>
              <a:srgbClr val="5B6573"/>
            </a:solidFill>
            <a:prstDash val="solid"/>
            <a:tailEnd type="triangle" w="sm" len="sm"/>
          </a:ln>
        </p:spPr>
      </p:cxnSp>
      <p:sp>
        <p:nvSpPr>
          <p:cNvPr id="68" name="Looks fine label">
            <a:extLst>
              <a:ext uri="{FF2B5EF4-FFF2-40B4-BE49-F238E27FC236}">
                <a16:creationId xmlns:a16="http://schemas.microsoft.com/office/drawing/2014/main" id="{8E2343DF-2BB9-401F-B950-594DD72F33BC}"/>
              </a:ext>
            </a:extLst>
          </p:cNvPr>
          <p:cNvSpPr>
            <a:spLocks noGrp="1"/>
          </p:cNvSpPr>
          <p:nvPr/>
        </p:nvSpPr>
        <p:spPr>
          <a:xfrm>
            <a:off x="4400000" y="2900000"/>
            <a:ext cx="15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looks fine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Failure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Then Server 1 fails</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S1 is gone</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go to S2</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 reads 1</a:t>
            </a:r>
          </a:p>
          <a:p>
            <a:pPr algn="ctr">
              <a:defRPr sz="1350" b="1">
                <a:solidFill>
                  <a:srgbClr val="0E2841"/>
                </a:solidFill>
                <a:latin typeface="Aptos"/>
                <a:ea typeface="Aptos"/>
                <a:cs typeface="Aptos"/>
              </a:defRPr>
            </a:pPr>
            <a:r>
              <a:rPr sz="1350" b="1">
                <a:solidFill>
                  <a:srgbClr val="0E2841"/>
                </a:solidFill>
                <a:latin typeface="Aptos"/>
                <a:ea typeface="Aptos"/>
                <a:cs typeface="Aptos"/>
              </a:rPr>
              <a:t>C4 reads 1</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x:  2 → 1</a:t>
            </a:r>
          </a:p>
          <a:p>
            <a:pPr algn="ctr">
              <a:defRPr sz="1350" b="1">
                <a:solidFill>
                  <a:srgbClr val="A02B93"/>
                </a:solidFill>
                <a:latin typeface="Aptos"/>
                <a:ea typeface="Aptos"/>
                <a:cs typeface="Aptos"/>
              </a:defRPr>
            </a:pPr>
            <a:r>
              <a:rPr sz="1350" b="1">
                <a:solidFill>
                  <a:srgbClr val="A02B93"/>
                </a:solidFill>
                <a:latin typeface="Aptos"/>
                <a:ea typeface="Aptos"/>
                <a:cs typeface="Aptos"/>
              </a:rPr>
              <a:t>nobody wrote</a:t>
            </a:r>
          </a:p>
        </p:txBody>
      </p:sp>
      <p:sp>
        <p:nvSpPr>
          <p:cNvPr id="63" name="Failure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Nobody wrote, yet the value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015730" cy="3200000"/>
          </a:xfrm>
          <a:prstGeom prst="rect">
            <a:avLst/>
          </a:prstGeom>
          <a:noFill/>
        </p:spPr>
        <p:txBody>
          <a:bodyPr wrap="square" rtlCol="0">
            <a:spAutoFit/>
          </a:bodyPr>
          <a:lstStyle/>
          <a:p>
            <a:r>
              <a:rPr lang="en-US" sz="3200" b="1" dirty="0"/>
              <a:t>Both failures have one root: the replicas diverged</a:t>
            </a:r>
          </a:p>
          <a:p>
            <a:pPr marL="914400" indent="-457200">
              <a:buFont typeface="Arial" panose="020B0604020202020204" pitchFamily="34" charset="0"/>
              <a:buChar char="•"/>
            </a:pPr>
            <a:r>
              <a:rPr lang="en-US" sz="2800" b="0" dirty="0"/>
              <a:t>A fix must prevent divergence, not pick who to read</a:t>
            </a:r>
          </a:p>
          <a:p>
            <a:pPr marL="457200"/>
            <a:endParaRPr lang="en-US" sz="1400" b="0" dirty="0"/>
          </a:p>
          <a:p>
            <a:r>
              <a:rPr lang="en-US" sz="3200" b="1" dirty="0"/>
              <a:t>Agreement is not free</a:t>
            </a:r>
          </a:p>
          <a:p>
            <a:pPr marL="914400" indent="-457200">
              <a:buFont typeface="Arial" panose="020B0604020202020204" pitchFamily="34" charset="0"/>
              <a:buChar char="•"/>
            </a:pPr>
            <a:r>
              <a:rPr lang="en-US" sz="2800" b="0" dirty="0"/>
              <a:t>More messages, more complexity, longer waits</a:t>
            </a:r>
          </a:p>
          <a:p>
            <a:pPr marL="457200"/>
            <a:endParaRPr lang="en-US" sz="1400" b="0" dirty="0"/>
          </a:p>
          <a:p>
            <a:r>
              <a:rPr lang="en-US" sz="3200" b="1" dirty="0"/>
              <a:t>So there is a range of designs, not one answer</a:t>
            </a:r>
          </a:p>
          <a:p>
            <a:pPr marL="914400" indent="-457200">
              <a:buFont typeface="Arial" panose="020B0604020202020204" pitchFamily="34" charset="0"/>
              <a:buChar char="•"/>
            </a:pPr>
            <a:r>
              <a:rPr lang="en-US" sz="2800" b="0" dirty="0"/>
              <a:t>Stronger consistency costs performance</a:t>
            </a:r>
          </a:p>
          <a:p>
            <a:pPr marL="914400" indent="-457200">
              <a:buFont typeface="Arial" panose="020B0604020202020204" pitchFamily="34" charset="0"/>
              <a:buChar char="•"/>
            </a:pPr>
            <a:r>
              <a:rPr lang="en-US" sz="2800" b="0" dirty="0"/>
              <a:t>Weaker consistency costs the application</a:t>
            </a:r>
          </a:p>
          <a:p>
            <a:pPr marL="457200"/>
            <a:endParaRPr lang="en-US" sz="1400" b="0" dirty="0"/>
          </a:p>
          <a:p>
            <a:r>
              <a:rPr lang="en-US" sz="3200" b="1" dirty="0"/>
              <a:t>GFS picks a point on it, deliberately not perfect</a:t>
            </a:r>
          </a:p>
        </p:txBody>
      </p:sp>
    </p:spTree>
    <p:extLst>
      <p:ext uri="{BB962C8B-B14F-4D97-AF65-F5344CB8AC3E}">
        <p14:creationId xmlns:p14="http://schemas.microsoft.com/office/powerpoint/2010/main" val="1720670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GFS touches many themes of this course</a:t>
            </a:r>
          </a:p>
          <a:p>
            <a:pPr marL="742950" lvl="1" indent="-285750">
              <a:buFont typeface="Arial" panose="020B0604020202020204" pitchFamily="34" charset="0"/>
              <a:buChar char="•"/>
            </a:pPr>
            <a:r>
              <a:rPr lang="en-US" sz="2800" dirty="0"/>
              <a:t>parallel performance, fault tolerance, replication, consistency</a:t>
            </a:r>
          </a:p>
          <a:p>
            <a:endParaRPr lang="en-US" sz="1600" b="1" dirty="0"/>
          </a:p>
          <a:p>
            <a:r>
              <a:rPr lang="en-US" sz="3200" b="1" dirty="0"/>
              <a:t>A good systems paper: applications down to the network</a:t>
            </a:r>
          </a:p>
          <a:p>
            <a:endParaRPr lang="en-US" sz="1600" b="1" dirty="0"/>
          </a:p>
          <a:p>
            <a:r>
              <a:rPr lang="en-US" sz="3200" b="1" dirty="0"/>
              <a:t>A successful real-world design, judged on production experience</a:t>
            </a:r>
          </a:p>
        </p:txBody>
      </p:sp>
    </p:spTree>
    <p:extLst>
      <p:ext uri="{BB962C8B-B14F-4D97-AF65-F5344CB8AC3E}">
        <p14:creationId xmlns:p14="http://schemas.microsoft.com/office/powerpoint/2010/main" val="3677884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a:t>
            </a:r>
          </a:p>
          <a:p>
            <a:endParaRPr lang="en-US" sz="1600" b="1" dirty="0"/>
          </a:p>
          <a:p>
            <a:r>
              <a:rPr lang="en-US" sz="3200" b="1" dirty="0"/>
              <a:t>Huge scale.</a:t>
            </a:r>
          </a:p>
          <a:p>
            <a:endParaRPr lang="en-US" sz="1600" b="1" dirty="0"/>
          </a:p>
          <a:p>
            <a:r>
              <a:rPr lang="en-US" sz="3200" b="1" dirty="0"/>
              <a:t>Used in industry, real-world experience.</a:t>
            </a:r>
          </a:p>
          <a:p>
            <a:endParaRPr lang="en-US" sz="1600" b="1" dirty="0"/>
          </a:p>
          <a:p>
            <a:r>
              <a:rPr lang="en-US" sz="3200" b="1" dirty="0"/>
              <a:t>Successful use of weak consistency.</a:t>
            </a:r>
          </a:p>
          <a:p>
            <a:pPr marL="742950" lvl="1" indent="-285750">
              <a:buFont typeface="Arial" panose="020B0604020202020204" pitchFamily="34" charset="0"/>
              <a:buChar char="•"/>
            </a:pPr>
            <a:r>
              <a:rPr lang="en-US" sz="2800" dirty="0"/>
              <a:t>A missing search result goes unnoticed; ad billing does not</a:t>
            </a:r>
          </a:p>
          <a:p>
            <a:pPr marL="742950" lvl="1" indent="-285750">
              <a:buFont typeface="Arial" panose="020B0604020202020204" pitchFamily="34" charset="0"/>
              <a:buChar char="•"/>
            </a:pPr>
            <a:r>
              <a:rPr lang="en-US" sz="2800" dirty="0"/>
              <a:t>Applications compensate: checksums and explicit record boundaries</a:t>
            </a:r>
          </a:p>
          <a:p>
            <a:endParaRPr lang="en-US" sz="16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One master: one place with a global view of the cluster</a:t>
            </a:r>
          </a:p>
          <a:p>
            <a:endParaRPr lang="en-US" sz="2000" dirty="0"/>
          </a:p>
          <a:p>
            <a:r>
              <a:rPr lang="en-US" sz="2800" b="1" dirty="0"/>
              <a:t>What it manages: the namespace, and every chunk</a:t>
            </a:r>
          </a:p>
          <a:p>
            <a:pPr marL="742950" lvl="1" indent="-285750">
              <a:buFont typeface="Arial" panose="020B0604020202020204" pitchFamily="34" charset="0"/>
              <a:buChar char="•"/>
            </a:pPr>
            <a:r>
              <a:rPr lang="en-US" sz="2400" dirty="0"/>
              <a:t>Where they are: file -&gt; chunks, chunk -&gt; replicas</a:t>
            </a:r>
          </a:p>
          <a:p>
            <a:pPr marL="742950" lvl="1" indent="-285750">
              <a:buFont typeface="Arial" panose="020B0604020202020204" pitchFamily="34" charset="0"/>
              <a:buChar char="•"/>
            </a:pPr>
            <a:r>
              <a:rPr lang="en-US" sz="2400" dirty="0"/>
              <a:t>Where to put new ones</a:t>
            </a:r>
          </a:p>
          <a:p>
            <a:pPr marL="742950" lvl="1" indent="-285750">
              <a:buFont typeface="Arial" panose="020B0604020202020204" pitchFamily="34" charset="0"/>
              <a:buChar char="•"/>
            </a:pPr>
            <a:r>
              <a:rPr lang="en-US" sz="2400" dirty="0"/>
              <a:t>When to re-replicate: failure, load balancing</a:t>
            </a:r>
          </a:p>
          <a:p>
            <a:pPr marL="742950" lvl="1" indent="-285750">
              <a:buFont typeface="Arial" panose="020B0604020202020204" pitchFamily="34" charset="0"/>
              <a:buChar char="•"/>
            </a:pPr>
            <a:r>
              <a:rPr lang="en-US" sz="2400" dirty="0"/>
              <a:t>When and what to delete: garbage collection</a:t>
            </a:r>
          </a:p>
          <a:p>
            <a:endParaRPr lang="en-US" sz="2000" dirty="0"/>
          </a:p>
          <a:p>
            <a:r>
              <a:rPr lang="en-US" sz="2800" b="1" dirty="0"/>
              <a:t>All metadata is kept in the master's memory, so lookups are fast</a:t>
            </a:r>
          </a:p>
          <a:p>
            <a:pPr marL="742950" lvl="1" indent="-285750">
              <a:buFont typeface="Arial" panose="020B0604020202020204" pitchFamily="34" charset="0"/>
              <a:buChar char="•"/>
            </a:pPr>
            <a:r>
              <a:rPr lang="en-US" sz="2400" dirty="0"/>
              <a:t>Under 64 B per 64 MB chunk, so 640 TB of data needs under 640 MB</a:t>
            </a:r>
          </a:p>
          <a:p>
            <a:endParaRPr lang="en-US" sz="2000" dirty="0"/>
          </a:p>
          <a:p>
            <a:r>
              <a:rPr lang="en-US" sz="2800" b="1" dirty="0"/>
              <a:t>Periodic heartbeats: chunkserver state out, master instructions back</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6" end="6"/>
                                            </p:txEl>
                                          </p:spTgt>
                                        </p:tgtEl>
                                        <p:attrNameLst>
                                          <p:attrName>style.visibility</p:attrName>
                                        </p:attrNameLst>
                                      </p:cBhvr>
                                      <p:to>
                                        <p:strVal val="visible"/>
                                      </p:to>
                                    </p:set>
                                    <p:animEffect transition="in" filter="dissolve">
                                      <p:cBhvr>
                                        <p:cTn id="16" dur="500"/>
                                        <p:tgtEl>
                                          <p:spTgt spid="3">
                                            <p:txEl>
                                              <p:pRg st="6" end="6"/>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animEffect transition="in" filter="dissolve">
                                      <p:cBhvr>
                                        <p:cTn id="21" dur="500"/>
                                        <p:tgtEl>
                                          <p:spTgt spid="3">
                                            <p:txEl>
                                              <p:pRg st="8" end="8"/>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9" end="9"/>
                                            </p:txEl>
                                          </p:spTgt>
                                        </p:tgtEl>
                                        <p:attrNameLst>
                                          <p:attrName>style.visibility</p:attrName>
                                        </p:attrNameLst>
                                      </p:cBhvr>
                                      <p:to>
                                        <p:strVal val="visible"/>
                                      </p:to>
                                    </p:set>
                                    <p:animEffect transition="in" filter="dissolve">
                                      <p:cBhvr>
                                        <p:cTn id="24" dur="500"/>
                                        <p:tgtEl>
                                          <p:spTgt spid="3">
                                            <p:txEl>
                                              <p:pRg st="9" end="9"/>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Written: the file-to-chunk mapping, and the chunk version numbers</a:t>
            </a:r>
          </a:p>
          <a:p>
            <a:pPr marL="457200"/>
            <a:r>
              <a:rPr lang="en-US" sz="2800" b="0" dirty="0"/>
              <a:t>Not written: replica list, primary, lease expiry -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8" end="8"/>
                                            </p:txEl>
                                          </p:spTgt>
                                        </p:tgtEl>
                                        <p:attrNameLst>
                                          <p:attrName>style.visibility</p:attrName>
                                        </p:attrNameLst>
                                      </p:cBhvr>
                                      <p:to>
                                        <p:strVal val="visible"/>
                                      </p:to>
                                    </p:set>
                                    <p:animEffect transition="in" filter="dissolve">
                                      <p:cBhvr>
                                        <p:cTn id="24"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Tree>
    <p:extLst>
      <p:ext uri="{BB962C8B-B14F-4D97-AF65-F5344CB8AC3E}">
        <p14:creationId xmlns:p14="http://schemas.microsoft.com/office/powerpoint/2010/main" val="1657423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52</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53</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15232</Words>
  <Application>Microsoft Macintosh PowerPoint</Application>
  <PresentationFormat>Widescreen</PresentationFormat>
  <Paragraphs>1239</Paragraphs>
  <Slides>53</Slides>
  <Notes>53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Can We Just Always Read from Server 1?</vt:lpstr>
      <vt:lpstr>The Fix Has a Price</vt:lpstr>
      <vt:lpstr>The Google File System</vt:lpstr>
      <vt:lpstr>Why Are We Reading This Paper?</vt:lpstr>
      <vt:lpstr>Goal of GFS</vt:lpstr>
      <vt:lpstr>Assumptions of GFS</vt:lpstr>
      <vt:lpstr>What Are the Contribution of the Paper? </vt:lpstr>
      <vt:lpstr>GFS’s Architecture</vt:lpstr>
      <vt:lpstr>Overall Architecture</vt:lpstr>
      <vt:lpstr>Master Node</vt:lpstr>
      <vt:lpstr>Master State: What Survives a Reboot?</vt:lpstr>
      <vt:lpstr>Chunk Servers</vt:lpstr>
      <vt:lpstr>Demo 1: HDFS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2026-09-16T21:27:35Z</dcterms:modified>
</cp:coreProperties>
</file>