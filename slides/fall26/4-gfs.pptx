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422" r:id="rId2"/>
    <p:sldId id="426" r:id="rId3"/>
    <p:sldId id="481" r:id="rId4"/>
    <p:sldId id="467" r:id="rId5"/>
    <p:sldId id="477" r:id="rId6"/>
    <p:sldId id="478" r:id="rId7"/>
    <p:sldId id="479" r:id="rId8"/>
    <p:sldId id="428" r:id="rId9"/>
    <p:sldId id="483" r:id="rId10"/>
    <p:sldId id="443" r:id="rId11"/>
    <p:sldId id="486" r:id="rId60"/>
    <p:sldId id="444" r:id="rId12"/>
    <p:sldId id="445" r:id="rId13"/>
    <p:sldId id="485" r:id="rId59"/>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32"/>
    <p:sldId id="470" r:id="rId33"/>
    <p:sldId id="448" r:id="rId34"/>
    <p:sldId id="482" r:id="rId35"/>
    <p:sldId id="449" r:id="rId36"/>
    <p:sldId id="450" r:id="rId37"/>
    <p:sldId id="451" r:id="rId38"/>
    <p:sldId id="471" r:id="rId39"/>
    <p:sldId id="472" r:id="rId40"/>
    <p:sldId id="452" r:id="rId41"/>
    <p:sldId id="453" r:id="rId42"/>
    <p:sldId id="454" r:id="rId43"/>
    <p:sldId id="465" r:id="rId44"/>
    <p:sldId id="455" r:id="rId45"/>
    <p:sldId id="457" r:id="rId46"/>
    <p:sldId id="473" r:id="rId47"/>
    <p:sldId id="475" r:id="rId48"/>
    <p:sldId id="476" r:id="rId49"/>
    <p:sldId id="459" r:id="rId50"/>
    <p:sldId id="466" r:id="rId51"/>
    <p:sldId id="464"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295"/>
    <p:restoredTop sz="65066"/>
  </p:normalViewPr>
  <p:slideViewPr>
    <p:cSldViewPr snapToGrid="0">
      <p:cViewPr varScale="1">
        <p:scale>
          <a:sx n="79" d="100"/>
          <a:sy n="79" d="100"/>
        </p:scale>
        <p:origin x="2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we focused on computation, but every map task had to read its input from somewhere, and every reducer had to write its output somewhere. At Google, that shared storage layer was GFS.</a:t>
            </a:r>
          </a:p>
          <a:p>
            <a:endParaRPr lang="en-US" dirty="0"/>
          </a:p>
          <a:p>
            <a:r>
              <a:rPr lang="en-US" dirty="0"/>
              <a:t>Storage became a key abstraction because a simple interface—name some data, read it, and write it—was useful across many different systems. A large part of distributed-systems work therefore either builds storage systems or builds on top of a well-behaved distributed store. At Google, MapReduce used GFS for input and output, and BigTable later stored its files in GFS. GFS is also a useful first case study because it brings together four themes we will see repeatedly: parallel performance, fault tolerance, replication, and consistency.</a:t>
            </a:r>
          </a:p>
          <a:p>
            <a:endParaRPr lang="en-US" dirty="0"/>
          </a:p>
          <a:p>
            <a:r>
              <a:rPr lang="en-US"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chain on the previous slide leaves us with two questions that will organize the rest of this lecture.</a:t>
            </a:r>
          </a:p>
          <a:p>
            <a:endParaRPr lang="en-US" dirty="0"/>
          </a:p>
          <a:p>
            <a:r>
              <a:rPr lang="en-US" dirty="0"/>
              <a:t>The first is a correctness question. Once data is split and replicated across machines, and those machines can fail independently, what does it mean for the storage system to return the correct result? Before we look at GFS, we need a simple reference model for the behavior we would ideally like. The next slide uses the most intuitive model: even though the implementation contains many machines and many copies, applications should be able to reason as if they were talking to one correct server.</a:t>
            </a:r>
          </a:p>
          <a:p>
            <a:endParaRPr lang="en-US" dirty="0"/>
          </a:p>
          <a:p>
            <a:r>
              <a:rPr lang="en-US" dirty="0"/>
              <a:t>The second is a performance question. How much coordination do we need to preserve that illusion? If replicas must agree on every operation before replying, the system adds messages, waits for other machines, and may have to stop when one of them is slow or unreachable. Those costs sit directly on the path of every read or write.</a:t>
            </a:r>
          </a:p>
          <a:p>
            <a:endParaRPr lang="en-US" dirty="0"/>
          </a:p>
          <a:p>
            <a:r>
              <a:rPr lang="en-US" dirty="0"/>
              <a:t>These questions are connected. Better coordination usually gives applications simpler behavior, but it costs performance and availability during failures. GFS does not pay the full cost of the strongest possible behavior. It chooses guarantees that match Google's workloads. First, however, let us make the ideal behavior concrete.</a:t>
            </a:r>
          </a:p>
          <a:p>
            <a:endParaRPr lang="en-US" dirty="0"/>
          </a:p>
          <a:p>
            <a:r>
              <a:rPr lang="en-US" dirty="0"/>
              <a:t>SOURCE
MIT 6.824, Spring 2020, Lecture 3 transcript/video, 05:42–06:34.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rPr lang="en-US" dirty="0"/>
              <a:t>Before looking at the GFS write protocol, establish the behavior we would ideally like from storage.</a:t>
            </a:r>
          </a:p>
          <a:p>
            <a:endParaRPr lang="en-US" dirty="0"/>
          </a:p>
          <a:p>
            <a:r>
              <a:rPr lang="en-US" dirty="0"/>
              <a:t>Imagine one correct, single-threaded server holding a table of keys and values. Many clients may send requests at the same time, but the server processes those requests one at a time. It chooses one request, runs it to completion, and then processes the next. Each operation therefore sees the effects of all operations that came before it in that single order.</a:t>
            </a:r>
          </a:p>
          <a:p>
            <a:endParaRPr lang="en-US" dirty="0"/>
          </a:p>
          <a:p>
            <a:r>
              <a:rPr lang="en-US" dirty="0"/>
              <a:t>Now suppose client 1 writes x equals 1 and client 2 writes x equals 2 concurrently. Because the requests overlap, we cannot insist that client 1 must go first or that client 2 must go first. Either order is legal. If the server processes x equals 1 and then x equals 2, the final value is 2. If it processes them in the opposite order, the final value is 1.</a:t>
            </a:r>
          </a:p>
          <a:p>
            <a:endParaRPr lang="en-US" dirty="0"/>
          </a:p>
          <a:p>
            <a:r>
              <a:rPr lang="en-US" dirty="0"/>
              <a:t>The important requirement comes after both writes have completed. Suppose client 3 and client 4 now read x. Both readers must observe a result consistent with the same order chosen by the server. If the final write was x equals 2, both later reads should return 2. If the final write was x equals 1, both should return 1.</a:t>
            </a:r>
          </a:p>
          <a:p>
            <a:endParaRPr lang="en-US" dirty="0"/>
          </a:p>
          <a:p>
            <a:r>
              <a:rPr lang="en-US" dirty="0"/>
              <a:t>Notice what strong consistency does and does not require. It does not tell us in advance which concurrent write wins. From the outside, there may be no way to determine which request reached the server first. Strong consistency requires that there be one legal ordering of the operations and that every client observe results consistent with that ordering.</a:t>
            </a:r>
          </a:p>
          <a:p>
            <a:endParaRPr lang="en-US" dirty="0"/>
          </a:p>
          <a:p>
            <a:r>
              <a:rPr lang="en-US" dirty="0"/>
              <a:t>So a result such as client 3 reading 2 and client 4 later reading 1, with no intervening write, is not merely surprising. It cannot be explained by any execution of this one-server model. The value would appear to move backward by itself.</a:t>
            </a:r>
          </a:p>
          <a:p>
            <a:endParaRPr lang="en-US" dirty="0"/>
          </a:p>
          <a:p>
            <a:r>
              <a:rPr lang="en-US" dirty="0"/>
              <a:t>This is the illusion distributed storage tries to preserve: hundreds of machines and several copies inside, but one coherent logical server from the application's point of view. Replication makes that illusion difficult because different replicas may independently choose different orders.</a:t>
            </a:r>
          </a:p>
          <a:p>
            <a:endParaRPr lang="en-US" dirty="0"/>
          </a:p>
          <a:p>
            <a:r>
              <a:rPr lang="en-US" dirty="0"/>
              <a:t>SOURCE
MIT 6.824, Spring 2020, Lecture 3 transcript/video, 05:42–10:47.
Local transcript: fall2026/lectures/references/mit-6824-2020-lecture3-gfs-transcript.txt
https://www.youtube.com/watch?v=EpIgvowZr00
MIT 6.5840, GFS lecture notes.
https://pdos.csail.mit.edu/6.824/notes/l-gfs.txt</a:t>
            </a:r>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rPr lang="en-US" dirty="0"/>
              <a:t>Now consider the simplest replication design we might try.</a:t>
            </a:r>
          </a:p>
          <a:p>
            <a:endParaRPr lang="en-US" dirty="0"/>
          </a:p>
          <a:p>
            <a:r>
              <a:rPr lang="en-US" dirty="0"/>
              <a:t>We keep two servers, and each server stores a complete copy of the data. The goal is fault tolerance: if either server fails, the other still has the data. Therefore every write has to be applied to both copies. At the same time, a read should be able to use either server by itself. If every read had to consult both servers, losing one server would make the system unavailable and replication would not have achieved its purpose.</a:t>
            </a:r>
          </a:p>
          <a:p>
            <a:endParaRPr lang="en-US" dirty="0"/>
          </a:p>
          <a:p>
            <a:r>
              <a:rPr lang="en-US" dirty="0"/>
              <a:t>The tempting protocol is exactly what this slide shows. The client sends the update independently to both servers, and each server applies the update when it arrives. If the two copies start in the same state and receive the same operations, it seems that they should remain identical.</a:t>
            </a:r>
          </a:p>
          <a:p>
            <a:endParaRPr lang="en-US" dirty="0"/>
          </a:p>
          <a:p>
            <a:r>
              <a:rPr lang="en-US" dirty="0"/>
              <a:t>The hidden assumption is that the servers will apply concurrent operations in the same order. Nothing in this protocol enforces that assumption. The network can deliver messages to server 1 in one order and to server 2 in the opposite order. Each server may individually behave like a perfectly reasonable single server, yet the two final copies can still disagree because they chose different legal orders.</a:t>
            </a:r>
          </a:p>
          <a:p>
            <a:endParaRPr lang="en-US" dirty="0"/>
          </a:p>
          <a:p>
            <a:r>
              <a:rPr lang="en-US" dirty="0"/>
              <a:t>There is no common authority here that decides the order, and the replicas do not communicate before applying the writes. Once they diverge, a read can return a different value depending on which server it contacts. A failover can even make the visible value change without any new write. The next slide traces that failure using two clients that write the same data concurrently.</a:t>
            </a:r>
          </a:p>
          <a:p>
            <a:endParaRPr lang="en-US" dirty="0"/>
          </a:p>
          <a:p>
            <a:r>
              <a:rPr lang="en-US" dirty="0"/>
              <a:t>Fixing the design requires some mechanism that establishes one order: for example, a primary that orders the mutations, plus communication that makes the other replicas follow that order. That is the coordination cost introduced on the previous slide. GFS uses a primary for each chunk, but its exact guarantees still depend on what happens when a mutation reaches only some replicas.</a:t>
            </a:r>
          </a:p>
          <a:p>
            <a:endParaRPr lang="en-US" dirty="0"/>
          </a:p>
          <a:p>
            <a:r>
              <a:rPr lang="en-US" dirty="0"/>
              <a:t>SOURCE
MIT 6.824, Spring 2020, Lecture 3 transcript/video, 10:47–12:29.
Local transcript: fall2026/lectures/references/mit-6824-2020-lecture3-gfs-transcript.txt
https://www.youtube.com/watch?v=EpIgvowZr00
Ghemawat, Gobioff, and Leung, The Google File System, Sections 3.1 and 3.2.
https://pdos.csail.mit.edu/6.824/papers/gfs.pdf</a:t>
            </a:r>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51</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This slide is the bridge from the broken design to the paper.</a:t>
            </a:r>
          </a:p>
          <a:p>
            <a:r>
              <a:rPr lang="en-US" dirty="0"/>
              <a:t>The design on the previous slides failed for one reason: no component decided the order in which the replicas applied the writes. Every possible repair has to supply that missing decision.</a:t>
            </a:r>
          </a:p>
          <a:p>
            <a:r>
              <a:rPr lang="en-US" dirty="0"/>
              <a:t>Supplying it costs something. The servers have to exchange more messages, the protocol becomes more complicated, and a write cannot be reported as finished until the replicas have agreed. That waiting is the performance price, and it is the answer to the second question on the Two Questions slide.</a:t>
            </a:r>
          </a:p>
          <a:p>
            <a:r>
              <a:rPr lang="en-US" dirty="0"/>
              <a:t>Because the price is real, there is no single answer. There is a range of designs offering different strengths of guarantee, and a matching range of anomalies that people are willing to live with.</a:t>
            </a:r>
          </a:p>
          <a:p>
            <a:r>
              <a:rPr lang="en-US" dirty="0"/>
              <a:t>GFS sits at a deliberate point on that range: much better than the design we just took apart, and knowingly not perfect. Where exactly it sits, and why Google was willing to accept that, is the rest of the lecture.</a:t>
            </a:r>
          </a:p>
          <a:p>
            <a:r>
              <a:rPr lang="en-US" dirty="0"/>
              <a:t>Do not give the mechanism here. Leases, a primary, and how the primary orders mutations come later; at this point the class only needs to know that a fix exists and that it is paid for.</a:t>
            </a:r>
          </a:p>
          <a:p>
            <a:r>
              <a:rPr lang="en-US" dirty="0"/>
              <a:t>SOURCE</a:t>
            </a:r>
          </a:p>
          <a:p>
            <a:r>
              <a:rPr lang="en-US" dirty="0"/>
              <a:t>MIT 6.824, Spring 2020, Lecture 3 video, 14:07-15:00.</a:t>
            </a:r>
          </a:p>
          <a:p>
            <a:r>
              <a:rPr lang="en-US" dirty="0"/>
              <a:t>https://www.youtube.com/watch?v=EpIgvowZr00</a:t>
            </a:r>
          </a:p>
          <a:p>
            <a:r>
              <a:rPr lang="en-US" dirty="0"/>
              <a:t>Local transcript: fall2026/lectures/references/mit-6824-2020-lecture3-gfs-transcript.txt</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rPr lang="en-US" dirty="0"/>
              <a:t>Do this one as a question to the class before clicking.</a:t>
            </a:r>
          </a:p>
          <a:p>
            <a:r>
              <a:rPr lang="en-US" dirty="0"/>
              <a:t>Set up the top half: C1 and C2 write the same key at the same time, and afterwards C3 and C4 each read it. Ask what the two readers can see.</a:t>
            </a:r>
          </a:p>
          <a:p>
            <a:r>
              <a:rPr lang="en-US" dirty="0"/>
              <a:t>Then click. Both readers seeing 1 is correct, and both seeing 2 is correct: the writes were concurrent, so either one could have gone first, and we do not get to insist on which. What is ruled out is the third card, where the readers disagree, because no single machine running one request at a time could have produced that.</a:t>
            </a:r>
          </a:p>
          <a:p>
            <a:r>
              <a:rPr lang="en-US" dirty="0"/>
              <a:t>The sentence to leave them with: consistency is not a claim about which value you get back. It is a claim that everything the clients saw can be explained by one order.</a:t>
            </a:r>
          </a:p>
          <a:p>
            <a:r>
              <a:rPr lang="en-US" dirty="0"/>
              <a:t>This is the last slide on which the ideal is free. One correct machine gives all of it at no cost, but the earlier slides ruled out running on one machine, so from here on we replicate, and the next two slides are where that goes wrong.</a:t>
            </a:r>
          </a:p>
          <a:p>
            <a:r>
              <a:rPr lang="en-US" dirty="0"/>
              <a:t>SOURCE</a:t>
            </a:r>
          </a:p>
          <a:p>
            <a:r>
              <a:rPr lang="en-US" dirty="0"/>
              <a:t>MIT 6.824, Spring 2020, Lecture 3 video, 08:11-10:47.</a:t>
            </a:r>
          </a:p>
          <a:p>
            <a:r>
              <a:rPr lang="en-US" dirty="0"/>
              <a:t>https://www.youtube.com/watch?v=EpIgvowZr00</a:t>
            </a:r>
          </a:p>
          <a:p>
            <a:r>
              <a:rPr lang="en-US" dirty="0"/>
              <a:t>Local transcript: fall2026/lectures/references/mit-6824-2020-lecture3-gfs-transcript.txt</a:t>
            </a:r>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Fault tolerance requires replication</a:t>
            </a:r>
          </a:p>
          <a:p>
            <a:pPr marL="342900" indent="-342900">
              <a:buFont typeface="Arial"/>
              <a:buChar char="•"/>
            </a:pPr>
            <a:endParaRPr sz="1200" dirty="0"/>
          </a:p>
          <a:p>
            <a:pPr marL="342900" indent="-342900">
              <a:buFont typeface="Arial"/>
              <a:buChar char="•"/>
            </a:pPr>
            <a:r>
              <a:rPr sz="2400" dirty="0"/>
              <a:t>Replication risks inconsistency</a:t>
            </a:r>
          </a:p>
          <a:p>
            <a:pPr marL="342900" indent="-342900">
              <a:buFont typeface="Arial"/>
              <a:buChar char="•"/>
            </a:pPr>
            <a:endParaRPr sz="1200" dirty="0"/>
          </a:p>
          <a:p>
            <a:pPr marL="342900" indent="-342900">
              <a:buFont typeface="Arial"/>
              <a:buChar char="•"/>
            </a:pPr>
            <a:r>
              <a:rPr sz="2400" dirty="0"/>
              <a:t>Consistency requires coordination</a:t>
            </a:r>
          </a:p>
          <a:p>
            <a:pPr marL="342900" indent="-342900">
              <a:buFont typeface="Arial"/>
              <a:buChar char="•"/>
            </a:pPr>
            <a:endParaRPr sz="1200" dirty="0"/>
          </a:p>
          <a:p>
            <a:pPr marL="342900" indent="-342900">
              <a:buFont typeface="Arial"/>
              <a:buChar char="•"/>
            </a:pPr>
            <a:r>
              <a:rPr sz="2400" dirty="0"/>
              <a:t>Coordination lowers performance</a:t>
            </a:r>
          </a:p>
        </p:txBody>
      </p:sp>
      <p:sp>
        <p:nvSpPr>
          <p:cNvPr id="49" name="Partial write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A partial write can make replicas disagree</a:t>
            </a:r>
          </a:p>
        </p:txBody>
      </p:sp>
      <p:sp>
        <p:nvSpPr>
          <p:cNvPr id="50" name="Write request">
            <a:extLst>
              <a:ext uri="{FF2B5EF4-FFF2-40B4-BE49-F238E27FC236}">
                <a16:creationId xmlns:a16="http://schemas.microsoft.com/office/drawing/2014/main" id="{75D3A3DE-8E0D-482B-BCFD-2AD2458A4DA5}"/>
              </a:ext>
            </a:extLst>
          </p:cNvPr>
          <p:cNvSpPr>
            <a:spLocks noGrp="1"/>
          </p:cNvSpPr>
          <p:nvPr/>
        </p:nvSpPr>
        <p:spPr>
          <a:xfrm>
            <a:off x="2838450" y="1438275"/>
            <a:ext cx="12192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WRITE</a:t>
            </a:r>
          </a:p>
          <a:p>
            <a:pPr algn="ctr">
              <a:defRPr sz="1425" b="1">
                <a:solidFill>
                  <a:srgbClr val="FFFFFF"/>
                </a:solidFill>
                <a:latin typeface="Aptos"/>
                <a:ea typeface="Aptos"/>
                <a:cs typeface="Aptos"/>
              </a:defRPr>
            </a:pPr>
            <a:r>
              <a:rPr sz="1425" b="1">
                <a:solidFill>
                  <a:srgbClr val="FFFFFF"/>
                </a:solidFill>
                <a:latin typeface="Aptos"/>
                <a:ea typeface="Aptos"/>
                <a:cs typeface="Aptos"/>
              </a:rPr>
              <a:t>x = B</a:t>
            </a:r>
          </a:p>
        </p:txBody>
      </p:sp>
      <p:sp>
        <p:nvSpPr>
          <p:cNvPr id="51" name="Top replica 1">
            <a:extLst>
              <a:ext uri="{FF2B5EF4-FFF2-40B4-BE49-F238E27FC236}">
                <a16:creationId xmlns:a16="http://schemas.microsoft.com/office/drawing/2014/main" id="{C047F16D-4224-436C-BA2F-7F4F14E7970E}"/>
              </a:ext>
            </a:extLst>
          </p:cNvPr>
          <p:cNvSpPr>
            <a:spLocks noGrp="1"/>
          </p:cNvSpPr>
          <p:nvPr/>
        </p:nvSpPr>
        <p:spPr>
          <a:xfrm>
            <a:off x="581025"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2" name="Top replica 2">
            <a:extLst>
              <a:ext uri="{FF2B5EF4-FFF2-40B4-BE49-F238E27FC236}">
                <a16:creationId xmlns:a16="http://schemas.microsoft.com/office/drawing/2014/main" id="{B89A6385-D3E5-42F1-8972-B1EBFAE8F87F}"/>
              </a:ext>
            </a:extLst>
          </p:cNvPr>
          <p:cNvSpPr>
            <a:spLocks noGrp="1"/>
          </p:cNvSpPr>
          <p:nvPr/>
        </p:nvSpPr>
        <p:spPr>
          <a:xfrm>
            <a:off x="2781300" y="2266950"/>
            <a:ext cx="1333500" cy="6858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53" name="Stale replica">
            <a:extLst>
              <a:ext uri="{FF2B5EF4-FFF2-40B4-BE49-F238E27FC236}">
                <a16:creationId xmlns:a16="http://schemas.microsoft.com/office/drawing/2014/main" id="{14E7EFFC-DB2B-4ECF-A2D6-8B87D9C1B16D}"/>
              </a:ext>
            </a:extLst>
          </p:cNvPr>
          <p:cNvSpPr>
            <a:spLocks noGrp="1"/>
          </p:cNvSpPr>
          <p:nvPr/>
        </p:nvSpPr>
        <p:spPr>
          <a:xfrm>
            <a:off x="4981575" y="2266950"/>
            <a:ext cx="1333500" cy="685800"/>
          </a:xfrm>
          <a:prstGeom prst="roundRect">
            <a:avLst>
              <a:gd name="adj" fmla="val 13889"/>
            </a:avLst>
          </a:prstGeom>
          <a:solidFill>
            <a:srgbClr val="F7E8F5"/>
          </a:solidFill>
          <a:ln w="28575">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Replica 3</a:t>
            </a:r>
          </a:p>
          <a:p>
            <a:pPr algn="ctr">
              <a:defRPr sz="1350" b="1">
                <a:solidFill>
                  <a:srgbClr val="A02B93"/>
                </a:solidFill>
                <a:latin typeface="Aptos"/>
                <a:ea typeface="Aptos"/>
                <a:cs typeface="Aptos"/>
              </a:defRPr>
            </a:pPr>
            <a:r>
              <a:rPr sz="1350" b="1">
                <a:solidFill>
                  <a:srgbClr val="A02B93"/>
                </a:solidFill>
                <a:latin typeface="Aptos"/>
                <a:ea typeface="Aptos"/>
                <a:cs typeface="Aptos"/>
              </a:rPr>
              <a:t>x = A</a:t>
            </a:r>
          </a:p>
        </p:txBody>
      </p:sp>
      <p:cxnSp>
        <p:nvCxnSpPr>
          <p:cNvPr id="76" name="Straight Arrow Connector 75"/>
          <p:cNvCxnSpPr>
            <a:stCxn id="50" idx="2"/>
            <a:endCxn id="51" idx="0"/>
          </p:cNvCxnSpPr>
          <p:nvPr/>
        </p:nvCxnSpPr>
        <p:spPr>
          <a:xfrm flipH="1">
            <a:off x="1247775" y="2028825"/>
            <a:ext cx="2200275" cy="238125"/>
          </a:xfrm>
          <a:prstGeom prst="straightConnector1">
            <a:avLst/>
          </a:prstGeom>
          <a:ln w="19050">
            <a:solidFill>
              <a:srgbClr val="5B6573"/>
            </a:solidFill>
            <a:prstDash val="solid"/>
            <a:tailEnd type="triangle" w="sm" len="sm"/>
          </a:ln>
        </p:spPr>
      </p:cxnSp>
      <p:cxnSp>
        <p:nvCxnSpPr>
          <p:cNvPr id="77" name="Straight Arrow Connector 76"/>
          <p:cNvCxnSpPr>
            <a:stCxn id="50" idx="2"/>
            <a:endCxn id="52" idx="0"/>
          </p:cNvCxnSpPr>
          <p:nvPr/>
        </p:nvCxnSpPr>
        <p:spPr>
          <a:xfrm>
            <a:off x="3448050" y="2028825"/>
            <a:ext cx="0" cy="238125"/>
          </a:xfrm>
          <a:prstGeom prst="straightConnector1">
            <a:avLst/>
          </a:prstGeom>
          <a:ln w="19050">
            <a:solidFill>
              <a:srgbClr val="5B6573"/>
            </a:solidFill>
            <a:prstDash val="solid"/>
            <a:tailEnd type="triangle" w="sm" len="sm"/>
          </a:ln>
        </p:spPr>
      </p:cxnSp>
      <p:cxnSp>
        <p:nvCxnSpPr>
          <p:cNvPr id="78" name="Straight Arrow Connector 77"/>
          <p:cNvCxnSpPr>
            <a:stCxn id="50" idx="2"/>
            <a:endCxn id="53" idx="0"/>
          </p:cNvCxnSpPr>
          <p:nvPr/>
        </p:nvCxnSpPr>
        <p:spPr>
          <a:xfrm>
            <a:off x="3448050" y="2028825"/>
            <a:ext cx="2200275" cy="238125"/>
          </a:xfrm>
          <a:prstGeom prst="straightConnector1">
            <a:avLst/>
          </a:prstGeom>
          <a:ln w="19050">
            <a:solidFill>
              <a:srgbClr val="A02B93"/>
            </a:solidFill>
            <a:prstDash val="dash"/>
            <a:tailEnd type="triangle" w="sm" len="sm"/>
          </a:ln>
        </p:spPr>
      </p:cxnSp>
      <p:sp>
        <p:nvSpPr>
          <p:cNvPr id="57" name="Stale copy label">
            <a:extLst>
              <a:ext uri="{FF2B5EF4-FFF2-40B4-BE49-F238E27FC236}">
                <a16:creationId xmlns:a16="http://schemas.microsoft.com/office/drawing/2014/main" id="{8E2343DF-2BB9-401F-B950-594DD72F33BC}"/>
              </a:ext>
            </a:extLst>
          </p:cNvPr>
          <p:cNvSpPr>
            <a:spLocks noGrp="1"/>
          </p:cNvSpPr>
          <p:nvPr/>
        </p:nvSpPr>
        <p:spPr>
          <a:xfrm>
            <a:off x="5000625" y="2971800"/>
            <a:ext cx="1295400" cy="257175"/>
          </a:xfrm>
          <a:prstGeom prst="rect">
            <a:avLst/>
          </a:prstGeom>
          <a:noFill/>
          <a:ln w="0">
            <a:noFill/>
          </a:ln>
        </p:spPr>
        <p:txBody>
          <a:bodyPr>
            <a:normAutofit fontScale="76316"/>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stale copy</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Coordination heading">
            <a:extLst>
              <a:ext uri="{FF2B5EF4-FFF2-40B4-BE49-F238E27FC236}">
                <a16:creationId xmlns:a16="http://schemas.microsoft.com/office/drawing/2014/main" id="{A3E49605-0D7A-41CB-AFA0-72806CB22D49}"/>
              </a:ext>
            </a:extLst>
          </p:cNvPr>
          <p:cNvSpPr>
            <a:spLocks noGrp="1"/>
          </p:cNvSpPr>
          <p:nvPr/>
        </p:nvSpPr>
        <p:spPr>
          <a:xfrm>
            <a:off x="409575" y="3514725"/>
            <a:ext cx="6429375" cy="323850"/>
          </a:xfrm>
          <a:prstGeom prst="rect">
            <a:avLst/>
          </a:prstGeom>
          <a:noFill/>
          <a:ln w="0">
            <a:noFill/>
          </a:ln>
        </p:spPr>
        <p:txBody>
          <a:bodyPr>
            <a:normAutofit fontScale="88406"/>
          </a:bodyPr>
          <a:lstStyle/>
          <a:p>
            <a:pPr>
              <a:defRPr sz="1725" b="1">
                <a:solidFill>
                  <a:srgbClr val="0E2841"/>
                </a:solidFill>
                <a:latin typeface="Aptos"/>
                <a:ea typeface="Aptos"/>
                <a:cs typeface="Aptos"/>
              </a:defRPr>
            </a:pPr>
            <a:r>
              <a:rPr sz="1725" b="1">
                <a:solidFill>
                  <a:srgbClr val="0E2841"/>
                </a:solidFill>
                <a:latin typeface="Aptos"/>
                <a:ea typeface="Aptos"/>
                <a:cs typeface="Aptos"/>
              </a:rPr>
              <a:t>Stronger consistency makes replicas coordinate</a:t>
            </a:r>
          </a:p>
        </p:txBody>
      </p:sp>
      <p:sp>
        <p:nvSpPr>
          <p:cNvPr id="60" name="Consistent replica 1">
            <a:extLst>
              <a:ext uri="{FF2B5EF4-FFF2-40B4-BE49-F238E27FC236}">
                <a16:creationId xmlns:a16="http://schemas.microsoft.com/office/drawing/2014/main" id="{038D7E5E-8B95-4F93-B217-322D71EE6C6C}"/>
              </a:ext>
            </a:extLst>
          </p:cNvPr>
          <p:cNvSpPr>
            <a:spLocks noGrp="1"/>
          </p:cNvSpPr>
          <p:nvPr/>
        </p:nvSpPr>
        <p:spPr>
          <a:xfrm>
            <a:off x="5238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1</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1" name="Consistent replica 2">
            <a:extLst>
              <a:ext uri="{FF2B5EF4-FFF2-40B4-BE49-F238E27FC236}">
                <a16:creationId xmlns:a16="http://schemas.microsoft.com/office/drawing/2014/main" id="{E7B20FF7-ACB2-41C6-84C8-20B1208AB980}"/>
              </a:ext>
            </a:extLst>
          </p:cNvPr>
          <p:cNvSpPr>
            <a:spLocks noGrp="1"/>
          </p:cNvSpPr>
          <p:nvPr/>
        </p:nvSpPr>
        <p:spPr>
          <a:xfrm>
            <a:off x="23526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2</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2" name="Consistent replica 3">
            <a:extLst>
              <a:ext uri="{FF2B5EF4-FFF2-40B4-BE49-F238E27FC236}">
                <a16:creationId xmlns:a16="http://schemas.microsoft.com/office/drawing/2014/main" id="{87044477-B397-489B-940A-AABA6864C522}"/>
              </a:ext>
            </a:extLst>
          </p:cNvPr>
          <p:cNvSpPr>
            <a:spLocks noGrp="1"/>
          </p:cNvSpPr>
          <p:nvPr/>
        </p:nvSpPr>
        <p:spPr>
          <a:xfrm>
            <a:off x="4181475" y="4095750"/>
            <a:ext cx="1257300" cy="723900"/>
          </a:xfrm>
          <a:prstGeom prst="roundRect">
            <a:avLst>
              <a:gd name="adj" fmla="val 13158"/>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Replica 3</a:t>
            </a:r>
          </a:p>
          <a:p>
            <a:pPr algn="ctr">
              <a:defRPr sz="1350" b="1">
                <a:solidFill>
                  <a:srgbClr val="0E2841"/>
                </a:solidFill>
                <a:latin typeface="Aptos"/>
                <a:ea typeface="Aptos"/>
                <a:cs typeface="Aptos"/>
              </a:defRPr>
            </a:pPr>
            <a:r>
              <a:rPr sz="1350" b="1">
                <a:solidFill>
                  <a:srgbClr val="0E2841"/>
                </a:solidFill>
                <a:latin typeface="Aptos"/>
                <a:ea typeface="Aptos"/>
                <a:cs typeface="Aptos"/>
              </a:rPr>
              <a:t>x = B</a:t>
            </a:r>
          </a:p>
        </p:txBody>
      </p:sp>
      <p:sp>
        <p:nvSpPr>
          <p:cNvPr id="63" name="Wait before reply">
            <a:extLst>
              <a:ext uri="{FF2B5EF4-FFF2-40B4-BE49-F238E27FC236}">
                <a16:creationId xmlns:a16="http://schemas.microsoft.com/office/drawing/2014/main" id="{B0C8692A-27AE-4FA6-8FCE-A48108951AB8}"/>
              </a:ext>
            </a:extLst>
          </p:cNvPr>
          <p:cNvSpPr>
            <a:spLocks noGrp="1"/>
          </p:cNvSpPr>
          <p:nvPr/>
        </p:nvSpPr>
        <p:spPr>
          <a:xfrm>
            <a:off x="5915025" y="4076700"/>
            <a:ext cx="838200" cy="762000"/>
          </a:xfrm>
          <a:prstGeom prst="roundRect">
            <a:avLst>
              <a:gd name="adj" fmla="val 12500"/>
            </a:avLst>
          </a:prstGeom>
          <a:solidFill>
            <a:srgbClr val="FFFFFF"/>
          </a:solidFill>
          <a:ln w="28575">
            <a:solidFill>
              <a:srgbClr val="A02B93"/>
            </a:solidFill>
            <a:prstDash val="solid"/>
          </a:ln>
        </p:spPr>
        <p:txBody>
          <a:bodyPr lIns="47625" tIns="47625" rIns="47625" bIns="47625" anchor="ctr">
            <a:normAutofit/>
          </a:bodyPr>
          <a:lstStyle/>
          <a:p>
            <a:pPr algn="ctr">
              <a:defRPr sz="1200" b="1">
                <a:solidFill>
                  <a:srgbClr val="A02B93"/>
                </a:solidFill>
                <a:latin typeface="Aptos"/>
                <a:ea typeface="Aptos"/>
                <a:cs typeface="Aptos"/>
              </a:defRPr>
            </a:pPr>
            <a:r>
              <a:rPr sz="1200" b="1">
                <a:solidFill>
                  <a:srgbClr val="A02B93"/>
                </a:solidFill>
                <a:latin typeface="Aptos"/>
                <a:ea typeface="Aptos"/>
                <a:cs typeface="Aptos"/>
              </a:rPr>
              <a:t>WAIT</a:t>
            </a:r>
          </a:p>
          <a:p>
            <a:pPr algn="ctr">
              <a:defRPr sz="1200" b="1">
                <a:solidFill>
                  <a:srgbClr val="A02B93"/>
                </a:solidFill>
                <a:latin typeface="Aptos"/>
                <a:ea typeface="Aptos"/>
                <a:cs typeface="Aptos"/>
              </a:defRPr>
            </a:pPr>
            <a:r>
              <a:rPr sz="1200" b="1">
                <a:solidFill>
                  <a:srgbClr val="A02B93"/>
                </a:solidFill>
                <a:latin typeface="Aptos"/>
                <a:ea typeface="Aptos"/>
                <a:cs typeface="Aptos"/>
              </a:rPr>
              <a:t>before reply</a:t>
            </a:r>
          </a:p>
        </p:txBody>
      </p:sp>
      <p:cxnSp>
        <p:nvCxnSpPr>
          <p:cNvPr id="86" name="Straight Arrow Connector 85"/>
          <p:cNvCxnSpPr>
            <a:stCxn id="60" idx="3"/>
            <a:endCxn id="61" idx="1"/>
          </p:cNvCxnSpPr>
          <p:nvPr/>
        </p:nvCxnSpPr>
        <p:spPr>
          <a:xfrm>
            <a:off x="1781175" y="4457700"/>
            <a:ext cx="571500" cy="0"/>
          </a:xfrm>
          <a:prstGeom prst="straightConnector1">
            <a:avLst/>
          </a:prstGeom>
          <a:ln w="19050">
            <a:solidFill>
              <a:srgbClr val="5B6573"/>
            </a:solidFill>
            <a:prstDash val="solid"/>
            <a:headEnd type="triangle" w="sm" len="sm"/>
            <a:tailEnd type="triangle" w="sm" len="sm"/>
          </a:ln>
        </p:spPr>
      </p:cxnSp>
      <p:cxnSp>
        <p:nvCxnSpPr>
          <p:cNvPr id="87" name="Straight Arrow Connector 86"/>
          <p:cNvCxnSpPr>
            <a:stCxn id="61" idx="3"/>
            <a:endCxn id="62" idx="1"/>
          </p:cNvCxnSpPr>
          <p:nvPr/>
        </p:nvCxnSpPr>
        <p:spPr>
          <a:xfrm>
            <a:off x="3609975" y="4457700"/>
            <a:ext cx="571500" cy="0"/>
          </a:xfrm>
          <a:prstGeom prst="straightConnector1">
            <a:avLst/>
          </a:prstGeom>
          <a:ln w="19050">
            <a:solidFill>
              <a:srgbClr val="5B6573"/>
            </a:solidFill>
            <a:prstDash val="solid"/>
            <a:headEnd type="triangle" w="sm" len="sm"/>
            <a:tailEnd type="triangle" w="sm" len="sm"/>
          </a:ln>
        </p:spPr>
      </p:cxnSp>
      <p:cxnSp>
        <p:nvCxnSpPr>
          <p:cNvPr id="88" name="Straight Arrow Connector 87"/>
          <p:cNvCxnSpPr>
            <a:stCxn id="62" idx="3"/>
            <a:endCxn id="63" idx="1"/>
          </p:cNvCxnSpPr>
          <p:nvPr/>
        </p:nvCxnSpPr>
        <p:spPr>
          <a:xfrm>
            <a:off x="5438775" y="4457700"/>
            <a:ext cx="476250" cy="0"/>
          </a:xfrm>
          <a:prstGeom prst="straightConnector1">
            <a:avLst/>
          </a:prstGeom>
          <a:ln w="19050">
            <a:solidFill>
              <a:srgbClr val="A02B93"/>
            </a:solidFill>
            <a:prstDash val="solid"/>
            <a:tailEnd type="triangle" w="sm" len="sm"/>
          </a:ln>
        </p:spPr>
      </p:cxnSp>
      <p:sp>
        <p:nvSpPr>
          <p:cNvPr id="67" name="Coordination cost">
            <a:extLst>
              <a:ext uri="{FF2B5EF4-FFF2-40B4-BE49-F238E27FC236}">
                <a16:creationId xmlns:a16="http://schemas.microsoft.com/office/drawing/2014/main" id="{F52DF72F-2902-473C-9FF3-D23AA5738F62}"/>
              </a:ext>
            </a:extLst>
          </p:cNvPr>
          <p:cNvSpPr>
            <a:spLocks noGrp="1"/>
          </p:cNvSpPr>
          <p:nvPr/>
        </p:nvSpPr>
        <p:spPr>
          <a:xfrm>
            <a:off x="533400" y="5105400"/>
            <a:ext cx="6191250"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extra messages + waiting  →  lower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par>
                                <p:cTn id="26" presetID="9" presetClass="entr" presetSubtype="0" fill="hold" nodeType="with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dissolve">
                                      <p:cBhvr>
                                        <p:cTn id="28" dur="500"/>
                                        <p:tgtEl>
                                          <p:spTgt spid="86"/>
                                        </p:tgtEl>
                                      </p:cBhvr>
                                    </p:animEffect>
                                  </p:childTnLst>
                                </p:cTn>
                              </p:par>
                              <p:par>
                                <p:cTn id="29" presetID="9" presetClass="entr" presetSubtype="0" fill="hold" nodeType="with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dissolve">
                                      <p:cBhvr>
                                        <p:cTn id="31" dur="500"/>
                                        <p:tgtEl>
                                          <p:spTgt spid="87"/>
                                        </p:tgtEl>
                                      </p:cBhvr>
                                    </p:animEffect>
                                  </p:childTnLst>
                                </p:cTn>
                              </p:par>
                              <p:par>
                                <p:cTn id="32" presetID="9" presetClass="entr" presetSubtype="0" fill="hold" nodeType="withEffect">
                                  <p:stCondLst>
                                    <p:cond delay="0"/>
                                  </p:stCondLst>
                                  <p:childTnLst>
                                    <p:set>
                                      <p:cBhvr>
                                        <p:cTn id="33" dur="1" fill="hold">
                                          <p:stCondLst>
                                            <p:cond delay="0"/>
                                          </p:stCondLst>
                                        </p:cTn>
                                        <p:tgtEl>
                                          <p:spTgt spid="88"/>
                                        </p:tgtEl>
                                        <p:attrNameLst>
                                          <p:attrName>style.visibility</p:attrName>
                                        </p:attrNameLst>
                                      </p:cBhvr>
                                      <p:to>
                                        <p:strVal val="visible"/>
                                      </p:to>
                                    </p:set>
                                    <p:animEffect transition="in" filter="dissolve">
                                      <p:cBhvr>
                                        <p:cTn id="34" dur="500"/>
                                        <p:tgtEl>
                                          <p:spTgt spid="88"/>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67"/>
                                        </p:tgtEl>
                                        <p:attrNameLst>
                                          <p:attrName>style.visibility</p:attrName>
                                        </p:attrNameLst>
                                      </p:cBhvr>
                                      <p:to>
                                        <p:strVal val="visible"/>
                                      </p:to>
                                    </p:set>
                                    <p:animEffect transition="in" filter="dissolve">
                                      <p:cBhvr>
                                        <p:cTn id="37" dur="5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animBg="1"/>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How can data remain correct when it is spread across machines that fail?</a:t>
            </a:r>
          </a:p>
          <a:p>
            <a:endParaRPr lang="en-US" sz="3200" dirty="0"/>
          </a:p>
          <a:p>
            <a:r>
              <a:rPr lang="en-US" sz="3200" b="1" dirty="0"/>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r>
              <a:rPr lang="en-US" sz="3200" b="1" dirty="0"/>
              <a:t>That one machine does one thing at a time</a:t>
            </a:r>
          </a:p>
          <a:p>
            <a:pPr marL="914400" indent="-457200">
              <a:buFont typeface="Arial" panose="020B0604020202020204" pitchFamily="34" charset="0"/>
              <a:buChar char="•"/>
            </a:pPr>
            <a:r>
              <a:rPr lang="en-US" sz="2800" b="0" dirty="0"/>
              <a:t>Concurrent requests are put in some order, and the machine picks the order</a:t>
            </a:r>
          </a:p>
          <a:p>
            <a:pPr marL="914400" indent="-457200">
              <a:buFont typeface="Arial" panose="020B0604020202020204" pitchFamily="34" charset="0"/>
              <a:buChar char="•"/>
            </a:pPr>
            <a:r>
              <a:rPr lang="en-US" sz="2800" b="0" dirty="0"/>
              <a:t>Each request finishes before the next one starts</a:t>
            </a:r>
          </a:p>
          <a:p>
            <a:endParaRPr lang="en-US" sz="3200" b="1" dirty="0"/>
          </a:p>
          <a:p>
            <a:r>
              <a:rPr lang="en-US" sz="3200" b="1" dirty="0"/>
              <a:t>So the test is: could one machine have produced what the clients saw?</a:t>
            </a:r>
          </a:p>
          <a:p>
            <a:pPr marL="914400" indent="-457200">
              <a:buFont typeface="Arial" panose="020B0604020202020204" pitchFamily="34" charset="0"/>
              <a:buChar char="•"/>
            </a:pPr>
            <a:r>
              <a:rPr lang="en-US" sz="2800" b="0" dirty="0"/>
              <a:t>Not a particular answer, but an answer that fits one single order</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b="1" dirty="0">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Fix Has a Price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The replicas disagreed because nobody chose an order</a:t>
            </a:r>
          </a:p>
          <a:p>
            <a:pPr marL="914400" indent="-457200">
              <a:buFont typeface="Arial" panose="020B0604020202020204" pitchFamily="34" charset="0"/>
              <a:buChar char="•"/>
            </a:pPr>
            <a:r>
              <a:rPr lang="en-US" sz="2800" b="0" dirty="0"/>
              <a:t>Each server applied the writes in the order the network happened to deliver them</a:t>
            </a:r>
          </a:p>
          <a:p>
            <a:pPr marL="914400" indent="-457200">
              <a:buFont typeface="Arial" panose="020B0604020202020204" pitchFamily="34" charset="0"/>
              <a:buChar char="•"/>
            </a:pPr>
            <a:r>
              <a:rPr lang="en-US" sz="2800" b="0" dirty="0"/>
              <a:t>Any fix has to make all replicas agree on one order</a:t>
            </a:r>
          </a:p>
          <a:p>
            <a:pPr marL="457200"/>
            <a:endParaRPr lang="en-US" sz="2800" b="0" dirty="0"/>
          </a:p>
          <a:p>
            <a:r>
              <a:rPr lang="en-US" sz="3200" b="1" dirty="0"/>
              <a:t>Agreement is not free</a:t>
            </a:r>
          </a:p>
          <a:p>
            <a:pPr marL="914400" indent="-457200">
              <a:buFont typeface="Arial" panose="020B0604020202020204" pitchFamily="34" charset="0"/>
              <a:buChar char="•"/>
            </a:pPr>
            <a:r>
              <a:rPr lang="en-US" sz="2800" b="0" dirty="0"/>
              <a:t>More messages between the servers, and a more complicated protocol</a:t>
            </a:r>
          </a:p>
          <a:p>
            <a:pPr marL="914400" indent="-457200">
              <a:buFont typeface="Arial" panose="020B0604020202020204" pitchFamily="34" charset="0"/>
              <a:buChar char="•"/>
            </a:pPr>
            <a:r>
              <a:rPr lang="en-US" sz="2800" b="0" dirty="0"/>
              <a:t>A write is not done until the replicas agree, so clients wait longer</a:t>
            </a:r>
          </a:p>
          <a:p>
            <a:pPr marL="457200"/>
            <a:endParaRPr lang="en-US" sz="2800" b="0" dirty="0"/>
          </a:p>
          <a:p>
            <a:r>
              <a:rPr lang="en-US" sz="3200" b="1" dirty="0"/>
              <a:t>So there is no single answer, but a range of designs</a:t>
            </a:r>
          </a:p>
          <a:p>
            <a:pPr marL="914400" indent="-457200">
              <a:buFont typeface="Arial" panose="020B0604020202020204" pitchFamily="34" charset="0"/>
              <a:buChar char="•"/>
            </a:pPr>
            <a:r>
              <a:rPr lang="en-US" sz="2800" b="0" dirty="0"/>
              <a:t>Stronger consistency: more coordination, lower performance</a:t>
            </a:r>
          </a:p>
          <a:p>
            <a:pPr marL="914400" indent="-457200">
              <a:buFont typeface="Arial" panose="020B0604020202020204" pitchFamily="34" charset="0"/>
              <a:buChar char="•"/>
            </a:pPr>
            <a:r>
              <a:rPr lang="en-US" sz="2800" b="0" dirty="0"/>
              <a:t>Weaker consistency: less coordination, and anomalies the application must handle</a:t>
            </a:r>
          </a:p>
          <a:p>
            <a:pPr marL="457200"/>
            <a:endParaRPr lang="en-US" sz="2800" b="0" dirty="0"/>
          </a:p>
          <a:p>
            <a:r>
              <a:rPr lang="en-US" sz="3200" b="1" dirty="0"/>
              <a:t>GFS picks a point on this range: better than this design, deliberately not perfect</a:t>
            </a:r>
          </a:p>
        </p:txBody>
      </p:sp>
    </p:spTree>
    <p:extLst>
      <p:ext uri="{BB962C8B-B14F-4D97-AF65-F5344CB8AC3E}">
        <p14:creationId xmlns:p14="http://schemas.microsoft.com/office/powerpoint/2010/main" val="17206706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What Should the Readers See?</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idx="12"/>
          </p:nvPr>
        </p:nvSpPr>
        <p:spPr>
          <a:xfrm>
            <a:off x="8610600" y="6356350"/>
            <a:ext cx="2743200" cy="365125"/>
          </a:xfrm>
        </p:spPr>
        <p:txBody>
          <a:bodyPr/>
          <a:lstStyle/>
          <a:p>
            <a:fld id="{212DA15D-5F50-8B40-811F-34F736B90848}" type="slidenum">
              <a:rPr/>
              <a:t>8</a:t>
            </a:fld>
            <a:endParaRPr/>
          </a:p>
        </p:txBody>
      </p:sp>
      <p:sp>
        <p:nvSpPr>
          <p:cNvPr id="48" name="TextBox 47">
            <a:extLst>
              <a:ext uri="{FF2B5EF4-FFF2-40B4-BE49-F238E27FC236}">
                <a16:creationId xmlns:a16="http://schemas.microsoft.com/office/drawing/2014/main" id="{51F35555-7DB3-0E9F-0CC1-8DCCA40D364A}"/>
              </a:ext>
            </a:extLst>
          </p:cNvPr>
          <p:cNvSpPr>
            <a:spLocks noGrp="1"/>
          </p:cNvSpPr>
          <p:nvPr/>
        </p:nvSpPr>
        <p:spPr>
          <a:xfrm>
            <a:off x="7325250" y="1373218"/>
            <a:ext cx="4706595" cy="4154984"/>
          </a:xfrm>
          <a:prstGeom prst="rect">
            <a:avLst/>
          </a:prstGeom>
          <a:noFill/>
        </p:spPr>
        <p:txBody>
          <a:bodyPr wrap="square">
            <a:spAutoFit/>
          </a:bodyPr>
          <a:lstStyle/>
          <a:p>
            <a:pPr marL="342900" indent="-342900">
              <a:buFont typeface="Arial"/>
              <a:buChar char="•"/>
            </a:pPr>
            <a:r>
              <a:rPr sz="2400" dirty="0"/>
              <a:t>Suppose C1 and C2 write concurrently, and after the writes have completed, C3 and C4 read. what can they see?</a:t>
            </a:r>
          </a:p>
          <a:p>
            <a:pPr marL="342900" indent="-342900">
              <a:buFont typeface="Arial"/>
              <a:buChar char="•"/>
            </a:pPr>
            <a:endParaRPr sz="1200" dirty="0"/>
          </a:p>
          <a:p>
            <a:pPr marL="342900" indent="-342900">
              <a:buFont typeface="Arial"/>
              <a:buChar char="•"/>
            </a:pPr>
            <a:r>
              <a:rPr sz="2400" dirty="0"/>
              <a:t>One correct machine would pick an order and stick to it</a:t>
            </a:r>
          </a:p>
          <a:p>
            <a:pPr marL="342900" indent="-342900">
              <a:buFont typeface="Arial"/>
              <a:buChar char="•"/>
            </a:pPr>
            <a:endParaRPr sz="1200" dirty="0"/>
          </a:p>
          <a:p>
            <a:pPr marL="342900" indent="-342900">
              <a:buFont typeface="Arial"/>
              <a:buChar char="•"/>
            </a:pPr>
            <a:r>
              <a:rPr sz="2400" dirty="0"/>
              <a:t>Either order is acceptable</a:t>
            </a:r>
          </a:p>
          <a:p>
            <a:pPr marL="342900" indent="-342900">
              <a:buFont typeface="Arial"/>
              <a:buChar char="•"/>
            </a:pPr>
            <a:endParaRPr sz="1200" dirty="0"/>
          </a:p>
          <a:p>
            <a:pPr marL="342900" indent="-342900">
              <a:buFont typeface="Arial"/>
              <a:buChar char="•"/>
            </a:pPr>
            <a:r>
              <a:rPr sz="2400" dirty="0"/>
              <a:t>The two readers disagreeing is not</a:t>
            </a:r>
          </a:p>
        </p:txBody>
      </p:sp>
      <p:sp>
        <p:nvSpPr>
          <p:cNvPr id="49" name="Scenario heading">
            <a:extLst>
              <a:ext uri="{FF2B5EF4-FFF2-40B4-BE49-F238E27FC236}">
                <a16:creationId xmlns:a16="http://schemas.microsoft.com/office/drawing/2014/main" id="{661EE3E6-4BC3-4749-8762-CC8F835B020D}"/>
              </a:ext>
            </a:extLst>
          </p:cNvPr>
          <p:cNvSpPr>
            <a:spLocks noGrp="1"/>
          </p:cNvSpPr>
          <p:nvPr/>
        </p:nvSpPr>
        <p:spPr>
          <a:xfrm>
            <a:off x="409575" y="105727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C1 and C2 write at the same time, then C3 and C4 read</a:t>
            </a:r>
          </a:p>
        </p:txBody>
      </p:sp>
      <p:sp>
        <p:nvSpPr>
          <p:cNvPr id="50" name="Client 1 write">
            <a:extLst>
              <a:ext uri="{FF2B5EF4-FFF2-40B4-BE49-F238E27FC236}">
                <a16:creationId xmlns:a16="http://schemas.microsoft.com/office/drawing/2014/main" id="{75D3A3DE-8E0D-482B-BCFD-2AD2458A4DA5}"/>
              </a:ext>
            </a:extLst>
          </p:cNvPr>
          <p:cNvSpPr>
            <a:spLocks noGrp="1"/>
          </p:cNvSpPr>
          <p:nvPr/>
        </p:nvSpPr>
        <p:spPr>
          <a:xfrm>
            <a:off x="450000" y="150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C1</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1</a:t>
            </a:r>
          </a:p>
        </p:txBody>
      </p:sp>
      <p:sp>
        <p:nvSpPr>
          <p:cNvPr id="51" name="Client 2 write">
            <a:extLst>
              <a:ext uri="{FF2B5EF4-FFF2-40B4-BE49-F238E27FC236}">
                <a16:creationId xmlns:a16="http://schemas.microsoft.com/office/drawing/2014/main" id="{75D3A3DE-8E0D-482B-BCFD-2AD2458A4DA5}"/>
              </a:ext>
            </a:extLst>
          </p:cNvPr>
          <p:cNvSpPr>
            <a:spLocks noGrp="1"/>
          </p:cNvSpPr>
          <p:nvPr/>
        </p:nvSpPr>
        <p:spPr>
          <a:xfrm>
            <a:off x="450000" y="2250000"/>
            <a:ext cx="1400000" cy="590550"/>
          </a:xfrm>
          <a:prstGeom prst="roundRect">
            <a:avLst>
              <a:gd name="adj" fmla="val 16129"/>
            </a:avLst>
          </a:prstGeom>
          <a:solidFill>
            <a:srgbClr val="A02B93"/>
          </a:solidFill>
          <a:ln w="19050">
            <a:solidFill>
              <a:srgbClr val="A02B93"/>
            </a:solidFill>
            <a:prstDash val="solid"/>
          </a:ln>
        </p:spPr>
        <p:txBody>
          <a:bodyPr lIns="47625" tIns="47625" rIns="47625" bIns="47625" anchor="ctr">
            <a:normAutofit/>
          </a:bodyPr>
          <a:lstStyle/>
          <a:p>
            <a:pPr algn="ctr">
              <a:defRPr sz="1425" b="1">
                <a:solidFill>
                  <a:srgbClr val="FFFFFF"/>
                </a:solidFill>
                <a:latin typeface="Aptos"/>
                <a:ea typeface="Aptos"/>
                <a:cs typeface="Aptos"/>
              </a:defRPr>
            </a:pPr>
            <a:r>
              <a:rPr sz="1425" b="1">
                <a:solidFill>
                  <a:srgbClr val="FFFFFF"/>
                </a:solidFill>
                <a:latin typeface="Aptos"/>
                <a:ea typeface="Aptos"/>
                <a:cs typeface="Aptos"/>
              </a:rPr>
              <a:t>C2</a:t>
            </a:r>
          </a:p>
          <a:p>
            <a:pPr algn="ctr">
              <a:defRPr sz="1425" b="1">
                <a:solidFill>
                  <a:srgbClr val="FFFFFF"/>
                </a:solidFill>
                <a:latin typeface="Aptos"/>
                <a:ea typeface="Aptos"/>
                <a:cs typeface="Aptos"/>
              </a:defRPr>
            </a:pPr>
            <a:r>
              <a:rPr sz="1425" b="1">
                <a:solidFill>
                  <a:srgbClr val="FFFFFF"/>
                </a:solidFill>
                <a:latin typeface="Aptos"/>
                <a:ea typeface="Aptos"/>
                <a:cs typeface="Aptos"/>
              </a:rPr>
              <a:t>write x = 2</a:t>
            </a:r>
          </a:p>
        </p:txBody>
      </p:sp>
      <p:sp>
        <p:nvSpPr>
          <p:cNvPr id="52" name="One machine">
            <a:extLst>
              <a:ext uri="{FF2B5EF4-FFF2-40B4-BE49-F238E27FC236}">
                <a16:creationId xmlns:a16="http://schemas.microsoft.com/office/drawing/2014/main" id="{C047F16D-4224-436C-BA2F-7F4F14E7970E}"/>
              </a:ext>
            </a:extLst>
          </p:cNvPr>
          <p:cNvSpPr>
            <a:spLocks noGrp="1"/>
          </p:cNvSpPr>
          <p:nvPr/>
        </p:nvSpPr>
        <p:spPr>
          <a:xfrm>
            <a:off x="2400000" y="1650275"/>
            <a:ext cx="2200000" cy="104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One correct machine</a:t>
            </a:r>
          </a:p>
          <a:p>
            <a:pPr algn="ctr">
              <a:defRPr sz="1350" b="1">
                <a:solidFill>
                  <a:srgbClr val="0E2841"/>
                </a:solidFill>
                <a:latin typeface="Aptos"/>
                <a:ea typeface="Aptos"/>
                <a:cs typeface="Aptos"/>
              </a:defRPr>
            </a:pPr>
            <a:r>
              <a:rPr sz="1350" b="1">
                <a:solidFill>
                  <a:srgbClr val="0E2841"/>
                </a:solidFill>
                <a:latin typeface="Aptos"/>
                <a:ea typeface="Aptos"/>
                <a:cs typeface="Aptos"/>
              </a:rPr>
              <a:t>one request at a time</a:t>
            </a:r>
          </a:p>
        </p:txBody>
      </p:sp>
      <p:sp>
        <p:nvSpPr>
          <p:cNvPr id="53" name="Client 3 read">
            <a:extLst>
              <a:ext uri="{FF2B5EF4-FFF2-40B4-BE49-F238E27FC236}">
                <a16:creationId xmlns:a16="http://schemas.microsoft.com/office/drawing/2014/main" id="{C047F16D-4224-436C-BA2F-7F4F14E7970E}"/>
              </a:ext>
            </a:extLst>
          </p:cNvPr>
          <p:cNvSpPr>
            <a:spLocks noGrp="1"/>
          </p:cNvSpPr>
          <p:nvPr/>
        </p:nvSpPr>
        <p:spPr>
          <a:xfrm>
            <a:off x="5100000" y="150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C3</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sp>
        <p:nvSpPr>
          <p:cNvPr id="57" name="Client 4 read">
            <a:extLst>
              <a:ext uri="{FF2B5EF4-FFF2-40B4-BE49-F238E27FC236}">
                <a16:creationId xmlns:a16="http://schemas.microsoft.com/office/drawing/2014/main" id="{C047F16D-4224-436C-BA2F-7F4F14E7970E}"/>
              </a:ext>
            </a:extLst>
          </p:cNvPr>
          <p:cNvSpPr>
            <a:spLocks noGrp="1"/>
          </p:cNvSpPr>
          <p:nvPr/>
        </p:nvSpPr>
        <p:spPr>
          <a:xfrm>
            <a:off x="5100000" y="2250000"/>
            <a:ext cx="1400000" cy="59055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C4</a:t>
            </a:r>
          </a:p>
          <a:p>
            <a:pPr algn="ctr">
              <a:defRPr sz="1350" b="1">
                <a:solidFill>
                  <a:srgbClr val="0E2841"/>
                </a:solidFill>
                <a:latin typeface="Aptos"/>
                <a:ea typeface="Aptos"/>
                <a:cs typeface="Aptos"/>
              </a:defRPr>
            </a:pPr>
            <a:r>
              <a:rPr sz="1350" b="1">
                <a:solidFill>
                  <a:srgbClr val="0E2841"/>
                </a:solidFill>
                <a:latin typeface="Aptos"/>
                <a:ea typeface="Aptos"/>
                <a:cs typeface="Aptos"/>
              </a:rPr>
              <a:t>read x</a:t>
            </a:r>
          </a:p>
        </p:txBody>
      </p:sp>
      <p:cxnSp>
        <p:nvCxnSpPr>
          <p:cNvPr id="76" name="Write arrow 1"/>
          <p:cNvCxnSpPr/>
          <p:nvPr/>
        </p:nvCxnSpPr>
        <p:spPr>
          <a:xfrm>
            <a:off x="1850000" y="1795275"/>
            <a:ext cx="550000" cy="375000"/>
          </a:xfrm>
          <a:prstGeom prst="straightConnector1">
            <a:avLst/>
          </a:prstGeom>
          <a:ln w="19050">
            <a:solidFill>
              <a:srgbClr val="A02B93"/>
            </a:solidFill>
            <a:prstDash val="solid"/>
            <a:tailEnd type="triangle" w="sm" len="sm"/>
          </a:ln>
        </p:spPr>
      </p:cxnSp>
      <p:cxnSp>
        <p:nvCxnSpPr>
          <p:cNvPr id="77" name="Write arrow 2"/>
          <p:cNvCxnSpPr/>
          <p:nvPr/>
        </p:nvCxnSpPr>
        <p:spPr>
          <a:xfrm flipV="1">
            <a:off x="1850000" y="2170275"/>
            <a:ext cx="550000" cy="375000"/>
          </a:xfrm>
          <a:prstGeom prst="straightConnector1">
            <a:avLst/>
          </a:prstGeom>
          <a:ln w="19050">
            <a:solidFill>
              <a:srgbClr val="A02B93"/>
            </a:solidFill>
            <a:prstDash val="solid"/>
            <a:tailEnd type="triangle" w="sm" len="sm"/>
          </a:ln>
        </p:spPr>
      </p:cxnSp>
      <p:cxnSp>
        <p:nvCxnSpPr>
          <p:cNvPr id="78" name="Read arrow 1"/>
          <p:cNvCxnSpPr/>
          <p:nvPr/>
        </p:nvCxnSpPr>
        <p:spPr>
          <a:xfrm flipV="1">
            <a:off x="4600000" y="1795275"/>
            <a:ext cx="500000" cy="375000"/>
          </a:xfrm>
          <a:prstGeom prst="straightConnector1">
            <a:avLst/>
          </a:prstGeom>
          <a:ln w="19050">
            <a:solidFill>
              <a:srgbClr val="5B6573"/>
            </a:solidFill>
            <a:prstDash val="solid"/>
            <a:tailEnd type="triangle" w="sm" len="sm"/>
          </a:ln>
        </p:spPr>
      </p:cxnSp>
      <p:cxnSp>
        <p:nvCxnSpPr>
          <p:cNvPr id="79" name="Read arrow 2"/>
          <p:cNvCxnSpPr/>
          <p:nvPr/>
        </p:nvCxnSpPr>
        <p:spPr>
          <a:xfrm>
            <a:off x="4600000" y="2170275"/>
            <a:ext cx="500000" cy="375000"/>
          </a:xfrm>
          <a:prstGeom prst="straightConnector1">
            <a:avLst/>
          </a:prstGeom>
          <a:ln w="19050">
            <a:solidFill>
              <a:srgbClr val="5B6573"/>
            </a:solidFill>
            <a:prstDash val="solid"/>
            <a:tailEnd type="triangle" w="sm" len="sm"/>
          </a:ln>
        </p:spPr>
      </p:cxnSp>
      <p:sp>
        <p:nvSpPr>
          <p:cNvPr id="68" name="Same value label">
            <a:extLst>
              <a:ext uri="{FF2B5EF4-FFF2-40B4-BE49-F238E27FC236}">
                <a16:creationId xmlns:a16="http://schemas.microsoft.com/office/drawing/2014/main" id="{8E2343DF-2BB9-401F-B950-594DD72F33BC}"/>
              </a:ext>
            </a:extLst>
          </p:cNvPr>
          <p:cNvSpPr>
            <a:spLocks noGrp="1"/>
          </p:cNvSpPr>
          <p:nvPr/>
        </p:nvSpPr>
        <p:spPr>
          <a:xfrm>
            <a:off x="5100000" y="2900000"/>
            <a:ext cx="1400000" cy="257175"/>
          </a:xfrm>
          <a:prstGeom prst="rect">
            <a:avLst/>
          </a:prstGeom>
          <a:noFill/>
          <a:ln w="0">
            <a:noFill/>
          </a:ln>
        </p:spPr>
        <p:txBody>
          <a:bodyPr>
            <a:normAutofit/>
          </a:bodyPr>
          <a:lstStyle/>
          <a:p>
            <a:pPr algn="ctr">
              <a:defRPr sz="1425" b="1">
                <a:solidFill>
                  <a:srgbClr val="A02B93"/>
                </a:solidFill>
                <a:latin typeface="Aptos"/>
                <a:ea typeface="Aptos"/>
                <a:cs typeface="Aptos"/>
              </a:defRPr>
            </a:pPr>
            <a:r>
              <a:rPr sz="1425" b="1">
                <a:solidFill>
                  <a:srgbClr val="A02B93"/>
                </a:solidFill>
                <a:latin typeface="Aptos"/>
                <a:ea typeface="Aptos"/>
                <a:cs typeface="Aptos"/>
              </a:rPr>
              <a:t>same value?</a:t>
            </a:r>
          </a:p>
        </p:txBody>
      </p:sp>
      <p:sp>
        <p:nvSpPr>
          <p:cNvPr id="58" name="Diagram divider">
            <a:extLst>
              <a:ext uri="{FF2B5EF4-FFF2-40B4-BE49-F238E27FC236}">
                <a16:creationId xmlns:a16="http://schemas.microsoft.com/office/drawing/2014/main" id="{F5D6858F-3BE5-4C9A-98FD-301B4CE6E4D8}"/>
              </a:ext>
            </a:extLst>
          </p:cNvPr>
          <p:cNvSpPr>
            <a:spLocks noGrp="1"/>
          </p:cNvSpPr>
          <p:nvPr/>
        </p:nvSpPr>
        <p:spPr>
          <a:xfrm>
            <a:off x="409575" y="3352800"/>
            <a:ext cx="6334125" cy="0"/>
          </a:xfrm>
          <a:prstGeom prst="line">
            <a:avLst/>
          </a:prstGeom>
          <a:noFill/>
          <a:ln w="9525">
            <a:solidFill>
              <a:srgbClr val="C9D1D9"/>
            </a:solidFill>
            <a:prstDash val="solid"/>
          </a:ln>
        </p:spPr>
        <p:txBody>
          <a:bodyPr/>
          <a:lstStyle/>
          <a:p>
            <a:endParaRPr lang="en-US"/>
          </a:p>
        </p:txBody>
      </p:sp>
      <p:sp>
        <p:nvSpPr>
          <p:cNvPr id="59" name="Answer heading">
            <a:extLst>
              <a:ext uri="{FF2B5EF4-FFF2-40B4-BE49-F238E27FC236}">
                <a16:creationId xmlns:a16="http://schemas.microsoft.com/office/drawing/2014/main" id="{661EE3E6-4BC3-4749-8762-CC8F835B020D}"/>
              </a:ext>
            </a:extLst>
          </p:cNvPr>
          <p:cNvSpPr>
            <a:spLocks noGrp="1"/>
          </p:cNvSpPr>
          <p:nvPr/>
        </p:nvSpPr>
        <p:spPr>
          <a:xfrm>
            <a:off x="409575" y="3514725"/>
            <a:ext cx="6429375" cy="323850"/>
          </a:xfrm>
          <a:prstGeom prst="rect">
            <a:avLst/>
          </a:prstGeom>
          <a:noFill/>
          <a:ln w="0">
            <a:noFill/>
          </a:ln>
        </p:spPr>
        <p:txBody>
          <a:bodyPr>
            <a:normAutofit/>
          </a:bodyPr>
          <a:lstStyle/>
          <a:p>
            <a:pPr>
              <a:defRPr sz="1725" b="1">
                <a:solidFill>
                  <a:srgbClr val="0E2841"/>
                </a:solidFill>
                <a:latin typeface="Aptos"/>
                <a:ea typeface="Aptos"/>
                <a:cs typeface="Aptos"/>
              </a:defRPr>
            </a:pPr>
            <a:r>
              <a:rPr sz="1725" b="1">
                <a:solidFill>
                  <a:srgbClr val="0E2841"/>
                </a:solidFill>
                <a:latin typeface="Aptos"/>
                <a:ea typeface="Aptos"/>
                <a:cs typeface="Aptos"/>
              </a:rPr>
              <a:t>What are they allowed to see?</a:t>
            </a:r>
          </a:p>
        </p:txBody>
      </p:sp>
      <p:sp>
        <p:nvSpPr>
          <p:cNvPr id="60" name="Outcome 1">
            <a:extLst>
              <a:ext uri="{FF2B5EF4-FFF2-40B4-BE49-F238E27FC236}">
                <a16:creationId xmlns:a16="http://schemas.microsoft.com/office/drawing/2014/main" id="{C047F16D-4224-436C-BA2F-7F4F14E7970E}"/>
              </a:ext>
            </a:extLst>
          </p:cNvPr>
          <p:cNvSpPr>
            <a:spLocks noGrp="1"/>
          </p:cNvSpPr>
          <p:nvPr/>
        </p:nvSpPr>
        <p:spPr>
          <a:xfrm>
            <a:off x="409575"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1</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1" name="Outcome 2">
            <a:extLst>
              <a:ext uri="{FF2B5EF4-FFF2-40B4-BE49-F238E27FC236}">
                <a16:creationId xmlns:a16="http://schemas.microsoft.com/office/drawing/2014/main" id="{C047F16D-4224-436C-BA2F-7F4F14E7970E}"/>
              </a:ext>
            </a:extLst>
          </p:cNvPr>
          <p:cNvSpPr>
            <a:spLocks noGrp="1"/>
          </p:cNvSpPr>
          <p:nvPr/>
        </p:nvSpPr>
        <p:spPr>
          <a:xfrm>
            <a:off x="2674262" y="4095750"/>
            <a:ext cx="1900000" cy="800000"/>
          </a:xfrm>
          <a:prstGeom prst="roundRect">
            <a:avLst>
              <a:gd name="adj" fmla="val 13889"/>
            </a:avLst>
          </a:prstGeom>
          <a:solidFill>
            <a:srgbClr val="E8F0F5"/>
          </a:solidFill>
          <a:ln w="19050">
            <a:solidFill>
              <a:srgbClr val="0E2841"/>
            </a:solidFill>
            <a:prstDash val="solid"/>
          </a:ln>
        </p:spPr>
        <p:txBody>
          <a:bodyPr lIns="47625" tIns="47625" rIns="47625" bIns="47625" anchor="ctr">
            <a:normAutofit/>
          </a:bodyPr>
          <a:lstStyle/>
          <a:p>
            <a:pPr algn="ctr">
              <a:defRPr sz="1350" b="1">
                <a:solidFill>
                  <a:srgbClr val="0E2841"/>
                </a:solidFill>
                <a:latin typeface="Aptos"/>
                <a:ea typeface="Aptos"/>
                <a:cs typeface="Aptos"/>
              </a:defRPr>
            </a:pPr>
            <a:r>
              <a:rPr sz="1350" b="1">
                <a:solidFill>
                  <a:srgbClr val="0E2841"/>
                </a:solidFill>
                <a:latin typeface="Aptos"/>
                <a:ea typeface="Aptos"/>
                <a:cs typeface="Aptos"/>
              </a:rPr>
              <a:t>both read 2</a:t>
            </a:r>
          </a:p>
          <a:p>
            <a:pPr algn="ctr">
              <a:defRPr sz="1350" b="1">
                <a:solidFill>
                  <a:srgbClr val="0E2841"/>
                </a:solidFill>
                <a:latin typeface="Aptos"/>
                <a:ea typeface="Aptos"/>
                <a:cs typeface="Aptos"/>
              </a:defRPr>
            </a:pPr>
            <a:r>
              <a:rPr sz="1350" b="1">
                <a:solidFill>
                  <a:srgbClr val="0E2841"/>
                </a:solidFill>
                <a:latin typeface="Aptos"/>
                <a:ea typeface="Aptos"/>
                <a:cs typeface="Aptos"/>
              </a:rPr>
              <a:t>allowed</a:t>
            </a:r>
          </a:p>
        </p:txBody>
      </p:sp>
      <p:sp>
        <p:nvSpPr>
          <p:cNvPr id="62" name="Outcome 3">
            <a:extLst>
              <a:ext uri="{FF2B5EF4-FFF2-40B4-BE49-F238E27FC236}">
                <a16:creationId xmlns:a16="http://schemas.microsoft.com/office/drawing/2014/main" id="{C047F16D-4224-436C-BA2F-7F4F14E7970E}"/>
              </a:ext>
            </a:extLst>
          </p:cNvPr>
          <p:cNvSpPr>
            <a:spLocks noGrp="1"/>
          </p:cNvSpPr>
          <p:nvPr/>
        </p:nvSpPr>
        <p:spPr>
          <a:xfrm>
            <a:off x="4938949" y="4095750"/>
            <a:ext cx="1900000" cy="800000"/>
          </a:xfrm>
          <a:prstGeom prst="roundRect">
            <a:avLst>
              <a:gd name="adj" fmla="val 13889"/>
            </a:avLst>
          </a:prstGeom>
          <a:solidFill>
            <a:srgbClr val="F7E8F5"/>
          </a:solidFill>
          <a:ln w="19050">
            <a:solidFill>
              <a:srgbClr val="A02B93"/>
            </a:solidFill>
            <a:prstDash val="solid"/>
          </a:ln>
        </p:spPr>
        <p:txBody>
          <a:bodyPr lIns="47625" tIns="47625" rIns="47625" bIns="47625" anchor="ctr">
            <a:normAutofit/>
          </a:bodyPr>
          <a:lstStyle/>
          <a:p>
            <a:pPr algn="ctr">
              <a:defRPr sz="1350" b="1">
                <a:solidFill>
                  <a:srgbClr val="A02B93"/>
                </a:solidFill>
                <a:latin typeface="Aptos"/>
                <a:ea typeface="Aptos"/>
                <a:cs typeface="Aptos"/>
              </a:defRPr>
            </a:pPr>
            <a:r>
              <a:rPr sz="1350" b="1">
                <a:solidFill>
                  <a:srgbClr val="A02B93"/>
                </a:solidFill>
                <a:latin typeface="Aptos"/>
                <a:ea typeface="Aptos"/>
                <a:cs typeface="Aptos"/>
              </a:rPr>
              <a:t>one reads 1,</a:t>
            </a:r>
          </a:p>
          <a:p>
            <a:pPr algn="ctr">
              <a:defRPr sz="1350" b="1">
                <a:solidFill>
                  <a:srgbClr val="A02B93"/>
                </a:solidFill>
                <a:latin typeface="Aptos"/>
                <a:ea typeface="Aptos"/>
                <a:cs typeface="Aptos"/>
              </a:defRPr>
            </a:pPr>
            <a:r>
              <a:rPr sz="1350" b="1">
                <a:solidFill>
                  <a:srgbClr val="A02B93"/>
                </a:solidFill>
                <a:latin typeface="Aptos"/>
                <a:ea typeface="Aptos"/>
                <a:cs typeface="Aptos"/>
              </a:rPr>
              <a:t>the other reads 2</a:t>
            </a:r>
          </a:p>
          <a:p>
            <a:pPr algn="ctr">
              <a:defRPr sz="1350" b="1">
                <a:solidFill>
                  <a:srgbClr val="A02B93"/>
                </a:solidFill>
                <a:latin typeface="Aptos"/>
                <a:ea typeface="Aptos"/>
                <a:cs typeface="Aptos"/>
              </a:defRPr>
            </a:pPr>
            <a:r>
              <a:rPr sz="1350" b="1">
                <a:solidFill>
                  <a:srgbClr val="A02B93"/>
                </a:solidFill>
                <a:latin typeface="Aptos"/>
                <a:ea typeface="Aptos"/>
                <a:cs typeface="Aptos"/>
              </a:rPr>
              <a:t>not allowed</a:t>
            </a:r>
          </a:p>
        </p:txBody>
      </p:sp>
      <p:sp>
        <p:nvSpPr>
          <p:cNvPr id="63" name="Answer caption">
            <a:extLst>
              <a:ext uri="{FF2B5EF4-FFF2-40B4-BE49-F238E27FC236}">
                <a16:creationId xmlns:a16="http://schemas.microsoft.com/office/drawing/2014/main" id="{F52DF72F-2902-473C-9FF3-D23AA5738F62}"/>
              </a:ext>
            </a:extLst>
          </p:cNvPr>
          <p:cNvSpPr>
            <a:spLocks noGrp="1"/>
          </p:cNvSpPr>
          <p:nvPr/>
        </p:nvSpPr>
        <p:spPr>
          <a:xfrm>
            <a:off x="409575" y="5105400"/>
            <a:ext cx="6429375" cy="352425"/>
          </a:xfrm>
          <a:prstGeom prst="rect">
            <a:avLst/>
          </a:prstGeom>
          <a:noFill/>
          <a:ln w="0">
            <a:noFill/>
          </a:ln>
        </p:spPr>
        <p:txBody>
          <a:bodyPr>
            <a:normAutofit/>
          </a:bodyPr>
          <a:lstStyle/>
          <a:p>
            <a:pPr algn="ctr">
              <a:defRPr sz="1650" b="1">
                <a:solidFill>
                  <a:srgbClr val="A02B93"/>
                </a:solidFill>
                <a:latin typeface="Aptos"/>
                <a:ea typeface="Aptos"/>
                <a:cs typeface="Aptos"/>
              </a:defRPr>
            </a:pPr>
            <a:r>
              <a:rPr sz="1650" b="1">
                <a:solidFill>
                  <a:srgbClr val="A02B93"/>
                </a:solidFill>
                <a:latin typeface="Aptos"/>
                <a:ea typeface="Aptos"/>
                <a:cs typeface="Aptos"/>
              </a:rPr>
              <a:t>Either order is fine; disagreeing is not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4" end="4"/>
                                            </p:txEl>
                                          </p:spTgt>
                                        </p:tgtEl>
                                        <p:attrNameLst>
                                          <p:attrName>style.visibility</p:attrName>
                                        </p:attrNameLst>
                                      </p:cBhvr>
                                      <p:to>
                                        <p:strVal val="visible"/>
                                      </p:to>
                                    </p:set>
                                    <p:animEffect transition="in" filter="dissolve">
                                      <p:cBhvr>
                                        <p:cTn id="7" dur="500"/>
                                        <p:tgtEl>
                                          <p:spTgt spid="48">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8">
                                            <p:txEl>
                                              <p:pRg st="6" end="6"/>
                                            </p:txEl>
                                          </p:spTgt>
                                        </p:tgtEl>
                                        <p:attrNameLst>
                                          <p:attrName>style.visibility</p:attrName>
                                        </p:attrNameLst>
                                      </p:cBhvr>
                                      <p:to>
                                        <p:strVal val="visible"/>
                                      </p:to>
                                    </p:set>
                                    <p:animEffect transition="in" filter="dissolve">
                                      <p:cBhvr>
                                        <p:cTn id="10" dur="500"/>
                                        <p:tgtEl>
                                          <p:spTgt spid="48">
                                            <p:txEl>
                                              <p:pRg st="6" end="6"/>
                                            </p:txEl>
                                          </p:spTgt>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dissolve">
                                      <p:cBhvr>
                                        <p:cTn id="13" dur="500"/>
                                        <p:tgtEl>
                                          <p:spTgt spid="59"/>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dissolve">
                                      <p:cBhvr>
                                        <p:cTn id="16" dur="500"/>
                                        <p:tgtEl>
                                          <p:spTgt spid="60"/>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dissolve">
                                      <p:cBhvr>
                                        <p:cTn id="19" dur="500"/>
                                        <p:tgtEl>
                                          <p:spTgt spid="61"/>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dissolve">
                                      <p:cBhvr>
                                        <p:cTn id="22" dur="500"/>
                                        <p:tgtEl>
                                          <p:spTgt spid="62"/>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63"/>
                                        </p:tgtEl>
                                        <p:attrNameLst>
                                          <p:attrName>style.visibility</p:attrName>
                                        </p:attrNameLst>
                                      </p:cBhvr>
                                      <p:to>
                                        <p:strVal val="visible"/>
                                      </p:to>
                                    </p:set>
                                    <p:animEffect transition="in" filter="dissolve">
                                      <p:cBhvr>
                                        <p:cTn id="25"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animBg="1"/>
      <p:bldP spid="61" grpId="0" animBg="1"/>
      <p:bldP spid="62" grpId="0" animBg="1"/>
      <p:bldP spid="6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1722</TotalTime>
  <Words>13492</Words>
  <Application>Microsoft Macintosh PowerPoint</Application>
  <PresentationFormat>Widescreen</PresentationFormat>
  <Paragraphs>1194</Paragraphs>
  <Slides>53</Slides>
  <Notes>53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53</vt:i4>
      </vt:variant>
    </vt:vector>
  </HeadingPairs>
  <TitlesOfParts>
    <vt:vector size="59"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Fault Tolerance Comes with a Cost</vt:lpstr>
      <vt:lpstr>Two Questions for This Lecture</vt:lpstr>
      <vt:lpstr>What Would We Like for Consistency?</vt:lpstr>
      <vt:lpstr>What Should the Readers See?</vt:lpstr>
      <vt:lpstr>Bad Replication Design</vt:lpstr>
      <vt:lpstr>What Can Go Wrong?</vt:lpstr>
      <vt:lpstr>The Fix Has a Price</vt:lpstr>
      <vt:lpstr>The Google File System</vt:lpstr>
      <vt:lpstr>Why Are We Reading This Paper?</vt:lpstr>
      <vt:lpstr>Goal of GFS</vt:lpstr>
      <vt:lpstr>Demo 1: HDFS</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41</cp:revision>
  <dcterms:created xsi:type="dcterms:W3CDTF">2026-02-04T02:27:39Z</dcterms:created>
  <dcterms:modified xsi:type="dcterms:W3CDTF">2026-09-16T20:17:45Z</dcterms:modified>
</cp:coreProperties>
</file>