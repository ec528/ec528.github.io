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7" r:id="rId61"/>
    <p:sldId id="485" r:id="rId59"/>
    <p:sldId id="262" r:id="rId14"/>
    <p:sldId id="430" r:id="rId15"/>
    <p:sldId id="435" r:id="rId16"/>
    <p:sldId id="480" r:id="rId17"/>
    <p:sldId id="431" r:id="rId18"/>
    <p:sldId id="433" r:id="rId19"/>
    <p:sldId id="434" r:id="rId20"/>
    <p:sldId id="436" r:id="rId21"/>
    <p:sldId id="437" r:id="rId22"/>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20.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7.xml"/><Relationship Id="rId11" Type="http://schemas.openxmlformats.org/officeDocument/2006/relationships/slide" Target="slides/slide10.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49.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9.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That choice is the subject of The Google File System, published at SOSP in 2003 by Sanjay Ghemawat, Howard Gobioff, and Shun-Tak Leung.</a:t>
            </a:r>
          </a:p>
          <a:p>
            <a:endParaRPr lang="en-US" dirty="0"/>
          </a:p>
          <a:p>
            <a:r>
              <a:rPr lang="en-US" dirty="0"/>
              <a:t>The date matters. Distributed-systems research had already developed many ideas for parallelism and fault tolerance, but few companies had deployed them at the scale that large web services were beginning to require. GFS records the point when those ideas became day-to-day production infrastructure.</a:t>
            </a:r>
          </a:p>
          <a:p>
            <a:endParaRPr lang="en-US" dirty="0"/>
          </a:p>
          <a:p>
            <a:r>
              <a:rPr lang="en-US" dirty="0"/>
              <a:t>The mechanisms are important, but the paper is best read as a complete design built around one environment. We will keep asking how Google's workload, hardware, and application requirements made each choice reasonable.</a:t>
            </a:r>
          </a:p>
          <a:p>
            <a:endParaRPr lang="en-US" dirty="0"/>
          </a:p>
          <a:p>
            <a:r>
              <a:rPr lang="en-US" dirty="0"/>
              <a:t>SOURCE
MIT 6.824, Spring 2020, Lecture 3 transcript/video, 14:54–15:43.
Local transcript: fall2026/lectures/references/mit-6824-2020-lecture3-gfs-transcript.txt
https://www.youtube.com/watch?v=EpIgvowZr00
Ghemawat, Gobioff, and Leung, The Google File System, 2003.
https://pdos.csail.mit.edu/6.824/papers/gfs.pdf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So far, we have examined the pieces separately: sharding for throughput, replication for failures, and coordination for consistency. GFS is useful because it shows how those pieces interact inside one complete system.</a:t>
            </a:r>
          </a:p>
          <a:p>
            <a:endParaRPr lang="en-US" dirty="0"/>
          </a:p>
          <a:p>
            <a:r>
              <a:rPr lang="en-US" dirty="0"/>
              <a:t>The paper connects decisions across several levels. It begins with the applications and their workload. Those requirements determine the file-system interface, the division of work between the master and chunkservers, the replication protocol, and the way data moves through the network. We can follow a requirement at the top of the stack down to a concrete mechanism and its cost.</a:t>
            </a:r>
          </a:p>
          <a:p>
            <a:endParaRPr lang="en-US" dirty="0"/>
          </a:p>
          <a:p>
            <a:r>
              <a:rPr lang="en-US" dirty="0"/>
              <a:t>GFS also gives us production evidence. Google deployed it at large scale and used it for years, so the paper can discuss the failures and operational problems that appeared in practice. That lets us judge the design by the applications it actually supported, while keeping the original workload assumptions in view.</a:t>
            </a:r>
          </a:p>
          <a:p>
            <a:endParaRPr lang="en-US" dirty="0"/>
          </a:p>
          <a:p>
            <a:r>
              <a:rPr lang="en-US" dirty="0"/>
              <a:t>This is why the paper works well as a case study: it presents an end-to-end design and enough real experience to evaluate the tradeoffs.</a:t>
            </a:r>
          </a:p>
          <a:p>
            <a:endParaRPr lang="en-US" dirty="0"/>
          </a:p>
          <a:p>
            <a:r>
              <a:rPr lang="en-US" dirty="0"/>
              <a:t>SOURCE
MIT 6.824, Spring 2020, Lecture 3 transcript/video, 00:50–01:38 and 14:54–15:43.
Local transcript: fall2026/lectures/references/mit-6824-2020-lecture3-gfs-transcript.txt
https://www.youtube.com/watch?v=EpIgvowZr00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The scale and failure problems from the first part of the lecture now become three concrete requirements for GFS.</a:t>
            </a:r>
          </a:p>
          <a:p>
            <a:endParaRPr lang="en-US" dirty="0"/>
          </a:p>
          <a:p>
            <a:r>
              <a:rPr lang="en-US" dirty="0"/>
              <a:t>First, Google needed one storage system that was big and fast enough for many services, including web crawling, search-index construction, server-log analysis, MapReduce jobs, and later video. Instead of building a separate storage system for each application, GFS provides one shared file system. It divides files into chunks and distributes them across servers, so capacity and parallel throughput grow with the cluster.</a:t>
            </a:r>
          </a:p>
          <a:p>
            <a:endParaRPr lang="en-US" dirty="0"/>
          </a:p>
          <a:p>
            <a:r>
              <a:rPr lang="en-US" dirty="0"/>
              <a:t>Second, the file system had to be global within one data center. Different applications can name and read the same files. A crawler can produce a data set, and an indexing job can consume it directly without copying the data into a separate storage silo.</a:t>
            </a:r>
          </a:p>
          <a:p>
            <a:endParaRPr lang="en-US" dirty="0"/>
          </a:p>
          <a:p>
            <a:r>
              <a:rPr lang="en-US" dirty="0"/>
              <a:t>Third, management had to be automatic. GFS places chunks, detects lost replicas, and creates new replicas when machines or disks fail. The applications should continue using files without an operator repairing each failure by hand.</a:t>
            </a:r>
          </a:p>
          <a:p>
            <a:endParaRPr lang="en-US" dirty="0"/>
          </a:p>
          <a:p>
            <a:r>
              <a:rPr lang="en-US" dirty="0"/>
              <a:t>The HDFS demo shows these requirements in a small cluster: one shared namespace, a large file divided into blocks across several servers, and automatic reconstruction after a server fails.</a:t>
            </a:r>
          </a:p>
          <a:p>
            <a:endParaRPr lang="en-US" dirty="0"/>
          </a:p>
          <a:p>
            <a:r>
              <a:rPr lang="en-US" dirty="0"/>
              <a:t>SOURCE
MIT 6.824, Spring 2020, Lecture 3 transcript/video, 15:43–18:55.
Local transcript: fall2026/lectures/references/mit-6824-2020-lecture3-gfs-transcript.txt
https://www.youtube.com/watch?v=EpIgvowZr00
Ghemawat, Gobioff, and Leung, The Google File System, Sections 1, 2.1, and 2.3.
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TERMINAL</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rPr lang="en-US" dirty="0"/>
              <a:t>The demo showed the mechanisms at a small scale. Those mechanisms make sense because GFS serves a deliberately specialized environment rather than every possible storage workload.</a:t>
            </a:r>
          </a:p>
          <a:p>
            <a:endParaRPr lang="en-US" dirty="0"/>
          </a:p>
          <a:p>
            <a:r>
              <a:rPr lang="en-US" dirty="0"/>
              <a:t>One GFS deployment lives inside a single data center. It does not try to keep replicas synchronized across distant sites with wide-area delays and network partitions. It is also an internal service for Google applications. Because Google controls both the storage system and most of its clients, application developers can understand the guarantees and adapt their data formats when necessary.</a:t>
            </a:r>
          </a:p>
          <a:p>
            <a:endParaRPr lang="en-US" dirty="0"/>
          </a:p>
          <a:p>
            <a:r>
              <a:rPr lang="en-US" dirty="0"/>
              <a:t>The expected workload is dominated by very large files. Reads are usually long sequential streams, with some small random reads. Writes are mainly large sequential appends, including cases where many clients append to the same file. Small writes at arbitrary offsets are possible, but they are not the design center.</a:t>
            </a:r>
          </a:p>
          <a:p>
            <a:endParaRPr lang="en-US" dirty="0"/>
          </a:p>
          <a:p>
            <a:r>
              <a:rPr lang="en-US" dirty="0"/>
              <a:t>This workload values aggregate throughput more than the response time of one tiny operation. A database holding bank-account records needs fast random updates and strong transactional behavior. GFS was designed for crawls, indexes, logs, and batch-processing pipelines.</a:t>
            </a:r>
          </a:p>
          <a:p>
            <a:endParaRPr lang="en-US" dirty="0"/>
          </a:p>
          <a:p>
            <a:r>
              <a:rPr lang="en-US" dirty="0"/>
              <a:t>These assumptions provide design freedom. GFS can optimize the operations Google performs constantly and accept weaker behavior in cases its applications can detect, retry, or avoid.</a:t>
            </a:r>
          </a:p>
          <a:p>
            <a:endParaRPr lang="en-US" dirty="0"/>
          </a:p>
          <a:p>
            <a:r>
              <a:rPr lang="en-US" dirty="0"/>
              <a:t>SOURCE
MIT 6.824, Spring 2020, Lecture 3 transcript/video, 18:07–20:39.
Local transcript: fall2026/lectures/references/mit-6824-2020-lecture3-gfs-transcript.txt
https://www.youtube.com/watch?v=EpIgvowZr00
Ghemawat, Gobioff, and Leung, The Google File System, Sections 1 and 2.1.
https://pdos.csail.mit.edu/6.824/papers/gfs.pdf</a:t>
            </a:r>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rPr lang="en-US" dirty="0"/>
              <a:t>Given those assumptions, what did the paper contribute? Distribution, sharding, replication, and fault tolerance were already established ideas in 2003. The research contribution was the way GFS combined them into a complete system and the evidence that the resulting design worked at production scale.</a:t>
            </a:r>
          </a:p>
          <a:p>
            <a:endParaRPr lang="en-US" dirty="0"/>
          </a:p>
          <a:p>
            <a:r>
              <a:rPr lang="en-US" dirty="0"/>
              <a:t>The first contribution is that operational evidence. Google needed the system to survive real failures, support real applications, and remain economical on commodity hardware. The paper reports experience from a deployed system rather than results from a small prototype.</a:t>
            </a:r>
          </a:p>
          <a:p>
            <a:endParaRPr lang="en-US" dirty="0"/>
          </a:p>
          <a:p>
            <a:r>
              <a:rPr lang="en-US" dirty="0"/>
              <a:t>The second contribution is the successful use of relaxed consistency. GFS accepts some anomalous results when avoiding them would require more coordination. That choice fits data such as a search index, where one missing result may go unnoticed. It does not fit data such as ad billing, where every recorded impression affects money. Applications can also protect themselves by attaching checksums and marking record boundaries, allowing readers to detect corruption or incomplete records.</a:t>
            </a:r>
          </a:p>
          <a:p>
            <a:endParaRPr lang="en-US" dirty="0"/>
          </a:p>
          <a:p>
            <a:r>
              <a:rPr lang="en-US" dirty="0"/>
              <a:t>The third contribution is the successful use of one master for metadata. Centralizing metadata makes namespace and placement decisions simpler. The clients still transfer file data directly to chunkservers, so the master does not carry the system's data bandwidth. The choice was surprising in an academic system, and the production experience showed that it worked for the original workload.</a:t>
            </a:r>
          </a:p>
          <a:p>
            <a:endParaRPr lang="en-US" dirty="0"/>
          </a:p>
          <a:p>
            <a:r>
              <a:rPr lang="en-US" dirty="0"/>
              <a:t>With the goals, assumptions, and contributions established, we can now examine that master-and-chunkserver architecture in detail.</a:t>
            </a:r>
          </a:p>
          <a:p>
            <a:endParaRPr lang="en-US" dirty="0"/>
          </a:p>
          <a:p>
            <a:r>
              <a:rPr lang="en-US" dirty="0"/>
              <a:t>SOURCE
MIT 6.824, Spring 2020, Lecture 3 transcript/video, 20:39–23:59.
Local transcript: fall2026/lectures/references/mit-6824-2020-lecture3-gfs-transcript.txt
https://www.youtube.com/watch?v=EpIgvowZr00
Ghemawat, Gobioff, and Leung, The Google File System, Sections 1, 2.3, 2.4, 2.7, and 6.
https://pdos.csail.mit.edu/6.824/papers/gfs.pdf</a:t>
            </a:r>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 one global view - namespace and chunks - metadata in memory - heartbeats</a:t>
            </a:r>
          </a:p>
          <a:p>
            <a:r>
              <a:rPr lang="en-US" dirty="0"/>
              <a:t>The single master gives GFS one place with global knowledge. It manages the namespace and the mapping from files to chunks, and for every chunk it tracks the current version and learns which chunkservers hold replicas.</a:t>
            </a:r>
          </a:p>
          <a:p>
            <a:r>
              <a:rPr lang="en-US" dirty="0"/>
              <a:t>That global view is what makes the second block possible: choosing locations for new chunks, spreading replicas across machines and racks, moving chunks for load balance, creating replacement replicas after a failure, and garbage-collecting abandoned chunks. No single chunkserver could make any of those decisions well.</a:t>
            </a:r>
          </a:p>
          <a:p>
            <a:r>
              <a:rPr lang="en-US" dirty="0"/>
              <a:t>The memory point is worth pausing on. At under 64 bytes of metadata per 64 MB chunk, even a petabyte-scale file system needs only hundreds of megabytes at the master, so every lookup is a memory lookup and the master can answer a great many clients. This is also the first place the large chunk size pays off, which the Chunk Servers slide returns to.</a:t>
            </a:r>
          </a:p>
          <a:p>
            <a:r>
              <a:rPr lang="en-US" dirty="0"/>
              <a:t>Heartbeats run both ways: chunkservers report what they hold and how they are, and the master piggybacks its instructions on the reply.</a:t>
            </a:r>
          </a:p>
          <a:p>
            <a:r>
              <a:rPr lang="en-US" dirty="0"/>
              <a:t>What survives a crash is deliberately not on this slide - the next slide asks the class that question. Master failure and shadow masters are covered by What If the Master Crashes?</a:t>
            </a:r>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rPr lang="en-US" dirty="0"/>
              <a:t>ASK THE CLASS HERE: what interface should a large distributed storage system expose to applications? GFS presents a familiar file interface - open, read, write - plus a record append that has no counterpart in an ordinary file system. The operations and their guarantees are adapted to Google's large, sequential workloads. A good interface hides placement, replication, failure and recovery, without promising behaviour the implementation cannot deliver cheaply. Record Append, a few slides later, is the concrete answer.</a:t>
            </a:r>
          </a:p>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GFS touches many themes of this course</a:t>
            </a:r>
          </a:p>
          <a:p>
            <a:pPr marL="742950" lvl="1" indent="-285750">
              <a:buFont typeface="Arial" panose="020B0604020202020204" pitchFamily="34" charset="0"/>
              <a:buChar char="•"/>
            </a:pPr>
            <a:r>
              <a:rPr lang="en-US" sz="2800" dirty="0"/>
              <a:t>parallel performance, fault tolerance, replication, consistency</a:t>
            </a:r>
          </a:p>
          <a:p>
            <a:endParaRPr lang="en-US" sz="1600" b="1" dirty="0"/>
          </a:p>
          <a:p>
            <a:r>
              <a:rPr lang="en-US" sz="3200" b="1" dirty="0"/>
              <a:t>A good systems paper: applications down to the network</a:t>
            </a:r>
          </a:p>
          <a:p>
            <a:endParaRPr lang="en-US" sz="1600" b="1" dirty="0"/>
          </a:p>
          <a:p>
            <a:r>
              <a:rPr lang="en-US" sz="3200" b="1" dirty="0"/>
              <a:t>A successful real-world design, judged on production experience</a:t>
            </a: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a:t>
            </a:r>
          </a:p>
          <a:p>
            <a:endParaRPr lang="en-US" sz="1600" b="1" dirty="0"/>
          </a:p>
          <a:p>
            <a:r>
              <a:rPr lang="en-US" sz="3200" b="1" dirty="0"/>
              <a:t>Huge scale.</a:t>
            </a:r>
          </a:p>
          <a:p>
            <a:endParaRPr lang="en-US" sz="1600" b="1" dirty="0"/>
          </a:p>
          <a:p>
            <a:r>
              <a:rPr lang="en-US" sz="3200" b="1" dirty="0"/>
              <a:t>Used in industry, real-world experience.</a:t>
            </a:r>
          </a:p>
          <a:p>
            <a:endParaRPr lang="en-US" sz="1600" b="1" dirty="0"/>
          </a:p>
          <a:p>
            <a:r>
              <a:rPr lang="en-US" sz="3200" b="1" dirty="0"/>
              <a:t>Successful use of weak consistency.</a:t>
            </a:r>
          </a:p>
          <a:p>
            <a:pPr marL="742950" lvl="1" indent="-285750">
              <a:buFont typeface="Arial" panose="020B0604020202020204" pitchFamily="34" charset="0"/>
              <a:buChar char="•"/>
            </a:pPr>
            <a:r>
              <a:rPr lang="en-US" sz="2800" dirty="0"/>
              <a:t>A missing search result goes unnoticed; ad billing does not</a:t>
            </a:r>
          </a:p>
          <a:p>
            <a:pPr marL="742950" lvl="1" indent="-285750">
              <a:buFont typeface="Arial" panose="020B0604020202020204" pitchFamily="34" charset="0"/>
              <a:buChar char="•"/>
            </a:pPr>
            <a:r>
              <a:rPr lang="en-US" sz="2800" dirty="0"/>
              <a:t>Applications compensate: checksums and explicit record boundaries</a:t>
            </a:r>
          </a:p>
          <a:p>
            <a:endParaRPr lang="en-US" sz="16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One master: one place with a global view of the cluster</a:t>
            </a:r>
          </a:p>
          <a:p>
            <a:endParaRPr lang="en-US" sz="2000" dirty="0"/>
          </a:p>
          <a:p>
            <a:r>
              <a:rPr lang="en-US" sz="2800" b="1" dirty="0"/>
              <a:t>What it manages: the namespace, and every chunk</a:t>
            </a:r>
          </a:p>
          <a:p>
            <a:pPr marL="742950" lvl="1" indent="-285750">
              <a:buFont typeface="Arial" panose="020B0604020202020204" pitchFamily="34" charset="0"/>
              <a:buChar char="•"/>
            </a:pPr>
            <a:r>
              <a:rPr lang="en-US" sz="2400" dirty="0"/>
              <a:t>Where they are: file -&gt; chunks, chunk -&gt; replicas</a:t>
            </a:r>
          </a:p>
          <a:p>
            <a:pPr marL="742950" lvl="1" indent="-285750">
              <a:buFont typeface="Arial" panose="020B0604020202020204" pitchFamily="34" charset="0"/>
              <a:buChar char="•"/>
            </a:pPr>
            <a:r>
              <a:rPr lang="en-US" sz="2400" dirty="0"/>
              <a:t>Where to put new ones</a:t>
            </a:r>
          </a:p>
          <a:p>
            <a:pPr marL="742950" lvl="1" indent="-285750">
              <a:buFont typeface="Arial" panose="020B0604020202020204" pitchFamily="34" charset="0"/>
              <a:buChar char="•"/>
            </a:pPr>
            <a:r>
              <a:rPr lang="en-US" sz="2400" dirty="0"/>
              <a:t>When to re-replicate: failure, load balancing</a:t>
            </a:r>
          </a:p>
          <a:p>
            <a:pPr marL="742950" lvl="1" indent="-285750">
              <a:buFont typeface="Arial" panose="020B0604020202020204" pitchFamily="34" charset="0"/>
              <a:buChar char="•"/>
            </a:pPr>
            <a:r>
              <a:rPr lang="en-US" sz="2400" dirty="0"/>
              <a:t>When and what to delete: garbage collection</a:t>
            </a:r>
          </a:p>
          <a:p>
            <a:endParaRPr lang="en-US" sz="2000" dirty="0"/>
          </a:p>
          <a:p>
            <a:r>
              <a:rPr lang="en-US" sz="2800" b="1" dirty="0"/>
              <a:t>All metadata is kept in the master's memory, so lookups are fast</a:t>
            </a:r>
          </a:p>
          <a:p>
            <a:pPr marL="742950" lvl="1" indent="-285750">
              <a:buFont typeface="Arial" panose="020B0604020202020204" pitchFamily="34" charset="0"/>
              <a:buChar char="•"/>
            </a:pPr>
            <a:r>
              <a:rPr lang="en-US" sz="2400" dirty="0"/>
              <a:t>Under 64 B per 64 MB chunk, so 640 TB of data needs under 640 MB</a:t>
            </a:r>
          </a:p>
          <a:p>
            <a:endParaRPr lang="en-US" sz="2000" dirty="0"/>
          </a:p>
          <a:p>
            <a:r>
              <a:rPr lang="en-US" sz="2800" b="1" dirty="0"/>
              <a:t>Periodic heartbeats: chunkserver state out, master instructions back</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6" end="6"/>
                                            </p:txEl>
                                          </p:spTgt>
                                        </p:tgtEl>
                                        <p:attrNameLst>
                                          <p:attrName>style.visibility</p:attrName>
                                        </p:attrNameLst>
                                      </p:cBhvr>
                                      <p:to>
                                        <p:strVal val="visible"/>
                                      </p:to>
                                    </p:set>
                                    <p:animEffect transition="in" filter="dissolve">
                                      <p:cBhvr>
                                        <p:cTn id="16" dur="500"/>
                                        <p:tgtEl>
                                          <p:spTgt spid="3">
                                            <p:txEl>
                                              <p:pRg st="6" end="6"/>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animEffect transition="in" filter="dissolve">
                                      <p:cBhvr>
                                        <p:cTn id="21" dur="500"/>
                                        <p:tgtEl>
                                          <p:spTgt spid="3">
                                            <p:txEl>
                                              <p:pRg st="8" end="8"/>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9" end="9"/>
                                            </p:txEl>
                                          </p:spTgt>
                                        </p:tgtEl>
                                        <p:attrNameLst>
                                          <p:attrName>style.visibility</p:attrName>
                                        </p:attrNameLst>
                                      </p:cBhvr>
                                      <p:to>
                                        <p:strVal val="visible"/>
                                      </p:to>
                                    </p:set>
                                    <p:animEffect transition="in" filter="dissolve">
                                      <p:cBhvr>
                                        <p:cTn id="24" dur="500"/>
                                        <p:tgtEl>
                                          <p:spTgt spid="3">
                                            <p:txEl>
                                              <p:pRg st="9" end="9"/>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r>
              <a:rPr lang="en-US" sz="3200" b="1" dirty="0"/>
              <a:t>The log is replicated to the master's disk and to remote machines</a:t>
            </a:r>
          </a:p>
          <a:p>
            <a:r>
              <a:rPr lang="en-US" sz="3200" b="1" dirty="0"/>
              <a:t>A client is answered only after the record is flushed both locally and remotely</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53</Slides>
  <Notes>53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