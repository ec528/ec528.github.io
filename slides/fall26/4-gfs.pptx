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1.xml" ContentType="application/vnd.openxmlformats-officedocument.presentationml.slide+xml"/>
  <Override PartName="/ppt/notesSlides/notesSlide5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422" r:id="rId2"/>
    <p:sldId id="426" r:id="rId3"/>
    <p:sldId id="481" r:id="rId4"/>
    <p:sldId id="467" r:id="rId5"/>
    <p:sldId id="477" r:id="rId6"/>
    <p:sldId id="478" r:id="rId7"/>
    <p:sldId id="479" r:id="rId8"/>
    <p:sldId id="428" r:id="rId10"/>
    <p:sldId id="483" r:id="rId9"/>
    <p:sldId id="443" r:id="rId11"/>
    <p:sldId id="444" r:id="rId12"/>
    <p:sldId id="445" r:id="rId13"/>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58"/>
    <p:sldId id="470" r:id="rId32"/>
    <p:sldId id="448" r:id="rId33"/>
    <p:sldId id="482" r:id="rId34"/>
    <p:sldId id="449" r:id="rId35"/>
    <p:sldId id="450" r:id="rId36"/>
    <p:sldId id="451" r:id="rId37"/>
    <p:sldId id="471" r:id="rId38"/>
    <p:sldId id="472" r:id="rId39"/>
    <p:sldId id="452" r:id="rId40"/>
    <p:sldId id="453" r:id="rId41"/>
    <p:sldId id="454" r:id="rId42"/>
    <p:sldId id="465" r:id="rId43"/>
    <p:sldId id="455" r:id="rId44"/>
    <p:sldId id="457" r:id="rId45"/>
    <p:sldId id="473" r:id="rId46"/>
    <p:sldId id="475" r:id="rId47"/>
    <p:sldId id="476" r:id="rId48"/>
    <p:sldId id="459" r:id="rId49"/>
    <p:sldId id="466" r:id="rId50"/>
    <p:sldId id="464"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03"/>
    <p:restoredTop sz="65066"/>
  </p:normalViewPr>
  <p:slideViewPr>
    <p:cSldViewPr snapToGrid="0">
      <p:cViewPr varScale="1">
        <p:scale>
          <a:sx n="79" d="100"/>
          <a:sy n="79" d="100"/>
        </p:scale>
        <p:origin x="15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p>
          <a:p>
            <a:endParaRPr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p>
          <a:p>
            <a:endParaRPr dirty="0"/>
          </a:p>
          <a:p>
            <a:r>
              <a:rPr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ts val="0"/>
              </a:spcBef>
              <a:spcAft>
                <a:spcPts val="0"/>
              </a:spcAft>
              <a:buClrTx/>
              <a:buSzTx/>
              <a:buFontTx/>
              <a:buNone/>
            </a:pPr>
            <a:r>
              <a:t>The chain on the previous slide leaves us with two questions.</a:t>
            </a:r>
          </a:p>
          <a:p xmlns:a="http://schemas.openxmlformats.org/drawingml/2006/main">
            <a:r>
              <a:t/>
            </a:r>
            <a:endParaRPr/>
          </a:p>
          <a:p xmlns:a="http://schemas.openxmlformats.org/drawingml/2006/main">
            <a:r>
              <a:t>First, when data is spread and replicated across machines that fail, how can the system keep the data correct? The next slide states the behavior we would ideally like, and the following slides show why naive replication cannot provide it.</a:t>
            </a:r>
            <a:endParaRPr/>
          </a:p>
          <a:p xmlns:a="http://schemas.openxmlformats.org/drawingml/2006/main">
            <a:pPr marL="0" marR="0" lvl="0" indent="0" algn="l" defTabSz="914400">
              <a:lnSpc>
                <a:spcPct val="100000"/>
              </a:lnSpc>
              <a:spcBef>
                <a:spcPts val="0"/>
              </a:spcBef>
              <a:spcAft>
                <a:spcPts val="0"/>
              </a:spcAft>
              <a:buClrTx/>
              <a:buSzTx/>
              <a:buFontTx/>
              <a:buNone/>
            </a:pPr>
            <a:r>
              <a:t/>
            </a:r>
          </a:p>
          <a:p xmlns:a="http://schemas.openxmlformats.org/drawingml/2006/main">
            <a:pPr marL="0" marR="0" lvl="0" indent="0" algn="l" defTabSz="914400">
              <a:lnSpc>
                <a:spcPct val="100000"/>
              </a:lnSpc>
              <a:spcBef>
                <a:spcPts val="0"/>
              </a:spcBef>
              <a:spcAft>
                <a:spcPts val="0"/>
              </a:spcAft>
              <a:buClrTx/>
              <a:buSzTx/>
              <a:buFontTx/>
              <a:buNone/>
            </a:pPr>
            <a:r>
              <a:t>Second, what performance cost must we pay to obtain that correctness? Coordinating replicas can preserve the illusion of one correct server, but the extra messages and waiting increase latency and can reduce throughput.</a:t>
            </a:r>
          </a:p>
          <a:p xmlns:a="http://schemas.openxmlformats.org/drawingml/2006/main">
            <a:pPr marL="0" marR="0" lvl="0" indent="0" algn="l" defTabSz="914400">
              <a:lnSpc>
                <a:spcPct val="100000"/>
              </a:lnSpc>
              <a:spcBef>
                <a:spcPts val="0"/>
              </a:spcBef>
              <a:spcAft>
                <a:spcPts val="0"/>
              </a:spcAft>
              <a:buClrTx/>
              <a:buSzTx/>
              <a:buFontTx/>
              <a:buNone/>
            </a:pPr>
            <a:r>
              <a:t/>
            </a:r>
          </a:p>
          <a:p xmlns:a="http://schemas.openxmlformats.org/drawingml/2006/main">
            <a:pPr marL="0" marR="0" lvl="0" indent="0" algn="l" defTabSz="914400">
              <a:lnSpc>
                <a:spcPct val="100000"/>
              </a:lnSpc>
              <a:spcBef>
                <a:spcPts val="0"/>
              </a:spcBef>
              <a:spcAft>
                <a:spcPts val="0"/>
              </a:spcAft>
              <a:buClrTx/>
              <a:buSzTx/>
              <a:buFontTx/>
              <a:buNone/>
            </a:pPr>
            <a:r>
              <a:t>GFS answers both questions by choosing consistency guarantees and protocols that fit Google's workloads.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makes the chain explicit. We need fault tolerance because machines fail. Fault tolerance requires replication: keep multiple copies and use a surviving copy when another one fails.</a:t>
            </a:r>
          </a:p>
          <a:p xmlns:a="http://schemas.openxmlformats.org/drawingml/2006/main">
            <a:r>
              <a:t/>
            </a:r>
            <a:endParaRPr/>
          </a:p>
          <a:p xmlns:a="http://schemas.openxmlformats.org/drawingml/2006/main">
            <a:r>
              <a:t>But replication changes the correctness problem. Writes can reach the copies in different orders, or a server can fail partway through an update. The replicas may then contain different data.</a:t>
            </a:r>
          </a:p>
          <a:p xmlns:a="http://schemas.openxmlformats.org/drawingml/2006/main">
            <a:r>
              <a:t/>
            </a:r>
            <a:endParaRPr/>
          </a:p>
          <a:p xmlns:a="http://schemas.openxmlformats.org/drawingml/2006/main">
            <a:r>
              <a:t>Stronger consistency requires the replicas to coordinate on an order and wait for enough copies. That coordination adds messages and waiting, so it increases latency and can reduce throughput.</a:t>
            </a:r>
          </a:p>
          <a:p xmlns:a="http://schemas.openxmlformats.org/drawingml/2006/main">
            <a:r>
              <a:t/>
            </a:r>
            <a:endParaRPr/>
          </a:p>
          <a:p xmlns:a="http://schemas.openxmlformats.org/drawingml/2006/main">
            <a:r>
              <a:t>This is the tradeoff that motivates the rest of the lecture: how do we keep replicated data correct, and how much performance are we willing to pay for that correctness?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t>Before looking at the write protocol, establish the behavior we would ideally like.</a:t>
            </a:r>
            <a:endParaRPr lang="en-US" dirty="0"/>
          </a:p>
          <a:p>
            <a:endParaRPr lang="en-US" dirty="0"/>
          </a:p>
          <a:p>
            <a:r>
              <a:t>Imagine one correct server that processes operations one at a time. If two clients write concurrently, the server may choose either order. Once both operations finish, however, every later reader should observe the same final order and the same value.</a:t>
            </a:r>
            <a:endParaRPr lang="en-US" dirty="0"/>
          </a:p>
          <a:p>
            <a:endParaRPr lang="en-US" dirty="0"/>
          </a:p>
          <a:p>
            <a:r>
              <a:t>A replicated system tries to preserve that single-server illusion while storing several copies. The difficulty is that messages can arrive in different orders and some replicas can fail midway through an update.</a:t>
            </a:r>
            <a:endParaRPr lang="en-US" dirty="0"/>
          </a:p>
          <a:p>
            <a:endParaRPr lang="en-US" dirty="0"/>
          </a:p>
          <a:p>
            <a:r>
              <a:t>SOURCE</a:t>
            </a:r>
            <a:endParaRPr lang="en-US" dirty="0"/>
          </a:p>
          <a:p>
            <a:r>
              <a:t>MIT 6.824, Spring 2020, Lecture 3 video, 5:09-10:11.</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2.7.</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t>This slide shows a tempting but incorrect replication design.</a:t>
            </a:r>
            <a:endParaRPr lang="en-US" dirty="0"/>
          </a:p>
          <a:p>
            <a:endParaRPr lang="en-US" dirty="0"/>
          </a:p>
          <a:p>
            <a:r>
              <a:t>The client sends the update independently to every replica, and each server applies requests in the order it receives them. This looks fault tolerant because every server stores a copy.</a:t>
            </a:r>
            <a:endParaRPr lang="en-US" dirty="0"/>
          </a:p>
          <a:p>
            <a:endParaRPr lang="en-US" dirty="0"/>
          </a:p>
          <a:p>
            <a:r>
              <a:t>The protocol has no single component that chooses one order for concurrent writes. Network timing can therefore make the replicas execute the same requests in different orders. The copies stop being interchangeable, which defeats the purpose of replication.</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GFS because distributed storage is one of the most useful abstractions in distributed systems.</a:t>
            </a:r>
            <a:endParaRPr/>
          </a:p>
          <a:p xmlns:a="http://schemas.openxmlformats.org/drawingml/2006/main">
            <a:r>
              <a:t/>
            </a:r>
            <a:endParaRPr/>
          </a:p>
          <a:p xmlns:a="http://schemas.openxmlformats.org/drawingml/2006/main">
            <a:r>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endParaRPr/>
          </a:p>
          <a:p xmlns:a="http://schemas.openxmlformats.org/drawingml/2006/main">
            <a:r>
              <a:t/>
            </a:r>
            <a:endParaRPr/>
          </a:p>
          <a:p xmlns:a="http://schemas.openxmlformats.org/drawingml/2006/main">
            <a:r>
              <a:t>The paper also connects several themes from this course. Sharding gives parallel performance. Replication gives fault tolerance, but it creates consistency problems. The designers then choose where to spend coordination cost and where to accept weaker behavior.</a:t>
            </a:r>
            <a:endParaRPr/>
          </a:p>
          <a:p xmlns:a="http://schemas.openxmlformats.org/drawingml/2006/main">
            <a:r>
              <a:t/>
            </a:r>
            <a:endParaRPr/>
          </a:p>
          <a:p xmlns:a="http://schemas.openxmlformats.org/drawingml/2006/main">
            <a:r>
              <a:t>This is also a strong systems paper because it connects application workloads to machine-level details. The system succeeded in production, so we can judge the tradeoffs using real experience rather than only a conceptual design.</a:t>
            </a:r>
            <a:endParaRPr/>
          </a:p>
          <a:p xmlns:a="http://schemas.openxmlformats.org/drawingml/2006/main">
            <a:r>
              <a:t/>
            </a:r>
            <a:endParaRPr/>
          </a:p>
          <a:p xmlns:a="http://schemas.openxmlformats.org/drawingml/2006/main">
            <a:r>
              <a:t>SOURCE</a:t>
            </a:r>
            <a:endParaRPr/>
          </a:p>
          <a:p xmlns:a="http://schemas.openxmlformats.org/drawingml/2006/main">
            <a:r>
              <a:t>MIT 6.824, Spring 2020, Lecture 3 video, 0:00-5:09.</a:t>
            </a:r>
            <a:endParaRPr/>
          </a:p>
          <a:p xmlns:a="http://schemas.openxmlformats.org/drawingml/2006/main">
            <a:r>
              <a:t>https://www.youtube.com/watch?v=EpIgvowZr00</a:t>
            </a:r>
            <a:endParaRPr/>
          </a:p>
          <a:p xmlns:a="http://schemas.openxmlformats.org/drawingml/2006/main">
            <a:r>
              <a:t>MIT 6.5840, GFS lecture notes.</a:t>
            </a:r>
            <a:endParaRPr/>
          </a:p>
          <a:p xmlns:a="http://schemas.openxmlformats.org/drawingml/2006/main">
            <a:r>
              <a:t>https://pdos.csail.mit.edu/6.824/notes/l-gfs.txt</a:t>
            </a:r>
            <a:endParaRPr/>
          </a:p>
          <a:p xmlns:a="http://schemas.openxmlformats.org/drawingml/2006/main">
            <a:r>
              <a:t>Ghemawat, Gobioff, and Leung, The Google File System, Sections 1, 2, and 6.</a:t>
            </a:r>
            <a:endParaRPr/>
          </a:p>
          <a:p xmlns:a="http://schemas.openxmlformats.org/drawingml/2006/main">
            <a:r>
              <a:t>https://pdos.csail.mit.edu/6.824/papers/gfs.pdf</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notesSlide" Target="../notesSlides/notesSlide51.x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sp>
        <p:nvSpPr>
          <p:cNvPr id="9" name="Tradeoff lecture questions">
            <a:extLst>
              <a:ext uri="{FF2B5EF4-FFF2-40B4-BE49-F238E27FC236}">
                <a16:creationId xmlns:a16="http://schemas.microsoft.com/office/drawing/2014/main" id="{1C6172CA-3D22-4927-B780-D9FCE0B7AE19}"/>
              </a:ext>
            </a:extLst>
          </p:cNvPr>
          <p:cNvSpPr>
            <a:spLocks noGrp="1"/>
          </p:cNvSpPr>
          <p:nvPr/>
        </p:nvSpPr>
        <p:spPr>
          <a:xfrm>
            <a:off x="88106" y="914400"/>
            <a:ext cx="11265694" cy="5016722"/>
          </a:xfrm>
          <a:prstGeom prst="rect">
            <a:avLst/>
          </a:prstGeom>
          <a:noFill/>
          <a:ln w="0">
            <a:noFill/>
          </a:ln>
        </p:spPr>
        <p:txBody>
          <a:bodyPr>
            <a:normAutofit fontScale="100000"/>
          </a:bodyPr>
          <a:lstStyle/>
          <a:p>
            <a:pPr>
              <a:defRPr sz="3200" b="1">
                <a:solidFill>
                  <a:srgbClr val="000000"/>
                </a:solidFill>
                <a:latin typeface="Aptos"/>
                <a:ea typeface="Aptos"/>
                <a:cs typeface="Aptos"/>
              </a:defRPr>
            </a:pPr>
            <a:r>
              <a:rPr sz="3200" b="1">
                <a:solidFill>
                  <a:srgbClr val="000000"/>
                </a:solidFill>
                <a:latin typeface="Aptos"/>
                <a:ea typeface="Aptos"/>
                <a:cs typeface="Aptos"/>
              </a:rPr>
              <a:t>How can data remain correct when it is spread across machines that fail?</a:t>
            </a:r>
          </a:p>
          <a:p>
            <a:r>
              <a:t/>
            </a:r>
          </a:p>
          <a:p>
            <a:pPr>
              <a:defRPr sz="3200" b="1">
                <a:solidFill>
                  <a:srgbClr val="000000"/>
                </a:solidFill>
                <a:latin typeface="Aptos"/>
                <a:ea typeface="Aptos"/>
                <a:cs typeface="Aptos"/>
              </a:defRPr>
            </a:pPr>
            <a:r>
              <a:rPr sz="3200" b="1">
                <a:solidFill>
                  <a:srgbClr val="000000"/>
                </a:solidFill>
                <a:latin typeface="Aptos"/>
                <a:ea typeface="Aptos"/>
                <a:cs typeface="Aptos"/>
              </a:rPr>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6AC-979F-0806-0955-EC68D0D83E2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idx="0"/>
          </p:nvPr>
        </p:nvSpPr>
        <p:spPr>
          <a:xfrm>
            <a:off x="0" y="1"/>
            <a:ext cx="12191999" cy="914400"/>
          </a:xfrm>
        </p:spPr>
        <p:txBody>
          <a:bodyPr>
            <a:normAutofit fontScale="100000"/>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grpSp>
        <p:nvGrpSpPr>
          <p:cNvPr id="46" name="Group 45">
            <a:extLst>
              <a:ext uri="{FF2B5EF4-FFF2-40B4-BE49-F238E27FC236}">
                <a16:creationId xmlns:a16="http://schemas.microsoft.com/office/drawing/2014/main" id="{1B5B40A3-42ED-D7FD-CD41-D3E850056927}"/>
              </a:ext>
            </a:extLst>
          </p:cNvPr>
          <p:cNvGrpSpPr/>
          <p:nvPr/>
        </p:nvGrpSpPr>
        <p:grpSpPr>
          <a:xfrm>
            <a:off x="331574" y="1589379"/>
            <a:ext cx="6761205" cy="3896732"/>
            <a:chOff x="838200" y="1097281"/>
            <a:chExt cx="10136302" cy="6086348"/>
          </a:xfrm>
        </p:grpSpPr>
        <p:pic>
          <p:nvPicPr>
            <p:cNvPr id="2" name="object 3">
              <a:extLst>
                <a:ext uri="{FF2B5EF4-FFF2-40B4-BE49-F238E27FC236}">
                  <a16:creationId xmlns:a16="http://schemas.microsoft.com/office/drawing/2014/main" id="{142A3B20-70B3-1E06-BF84-CC4A6EFF3338}"/>
                </a:ext>
              </a:extLst>
            </p:cNvPr>
            <p:cNvPicPr/>
            <p:nvPr/>
          </p:nvPicPr>
          <p:blipFill>
            <a:blip r:embed="rId3" cstate="print"/>
            <a:stretch>
              <a:fillRect/>
            </a:stretch>
          </p:blipFill>
          <p:spPr>
            <a:xfrm>
              <a:off x="9175601" y="1097281"/>
              <a:ext cx="1094207" cy="1094207"/>
            </a:xfrm>
            <a:prstGeom prst="rect">
              <a:avLst/>
            </a:prstGeom>
          </p:spPr>
        </p:pic>
        <p:pic>
          <p:nvPicPr>
            <p:cNvPr id="3" name="object 4">
              <a:extLst>
                <a:ext uri="{FF2B5EF4-FFF2-40B4-BE49-F238E27FC236}">
                  <a16:creationId xmlns:a16="http://schemas.microsoft.com/office/drawing/2014/main" id="{A43C5B78-A690-FD29-E1D9-CF937AFDC2FD}"/>
                </a:ext>
              </a:extLst>
            </p:cNvPr>
            <p:cNvPicPr/>
            <p:nvPr/>
          </p:nvPicPr>
          <p:blipFill>
            <a:blip r:embed="rId4" cstate="print"/>
            <a:stretch>
              <a:fillRect/>
            </a:stretch>
          </p:blipFill>
          <p:spPr>
            <a:xfrm>
              <a:off x="838200" y="5263070"/>
              <a:ext cx="1011177" cy="1920559"/>
            </a:xfrm>
            <a:prstGeom prst="rect">
              <a:avLst/>
            </a:prstGeom>
          </p:spPr>
        </p:pic>
        <p:pic>
          <p:nvPicPr>
            <p:cNvPr id="4" name="object 5">
              <a:extLst>
                <a:ext uri="{FF2B5EF4-FFF2-40B4-BE49-F238E27FC236}">
                  <a16:creationId xmlns:a16="http://schemas.microsoft.com/office/drawing/2014/main" id="{988263FD-6D57-7E2C-6E25-F9F04101C121}"/>
                </a:ext>
              </a:extLst>
            </p:cNvPr>
            <p:cNvPicPr/>
            <p:nvPr/>
          </p:nvPicPr>
          <p:blipFill>
            <a:blip r:embed="rId3" cstate="print"/>
            <a:stretch>
              <a:fillRect/>
            </a:stretch>
          </p:blipFill>
          <p:spPr>
            <a:xfrm>
              <a:off x="3772917" y="1097281"/>
              <a:ext cx="1094207" cy="1094207"/>
            </a:xfrm>
            <a:prstGeom prst="rect">
              <a:avLst/>
            </a:prstGeom>
          </p:spPr>
        </p:pic>
        <p:pic>
          <p:nvPicPr>
            <p:cNvPr id="5" name="object 6">
              <a:extLst>
                <a:ext uri="{FF2B5EF4-FFF2-40B4-BE49-F238E27FC236}">
                  <a16:creationId xmlns:a16="http://schemas.microsoft.com/office/drawing/2014/main" id="{4B80EA4D-0E16-09E4-6100-7886C10ECDBC}"/>
                </a:ext>
              </a:extLst>
            </p:cNvPr>
            <p:cNvPicPr/>
            <p:nvPr/>
          </p:nvPicPr>
          <p:blipFill>
            <a:blip r:embed="rId3" cstate="print"/>
            <a:stretch>
              <a:fillRect/>
            </a:stretch>
          </p:blipFill>
          <p:spPr>
            <a:xfrm>
              <a:off x="6474280" y="1097281"/>
              <a:ext cx="1094207" cy="1094207"/>
            </a:xfrm>
            <a:prstGeom prst="rect">
              <a:avLst/>
            </a:prstGeom>
          </p:spPr>
        </p:pic>
        <p:pic>
          <p:nvPicPr>
            <p:cNvPr id="6" name="object 7">
              <a:extLst>
                <a:ext uri="{FF2B5EF4-FFF2-40B4-BE49-F238E27FC236}">
                  <a16:creationId xmlns:a16="http://schemas.microsoft.com/office/drawing/2014/main" id="{3BF40DD3-A61E-7FB7-A78A-48BF2D45AE28}"/>
                </a:ext>
              </a:extLst>
            </p:cNvPr>
            <p:cNvPicPr/>
            <p:nvPr/>
          </p:nvPicPr>
          <p:blipFill>
            <a:blip r:embed="rId3" cstate="print"/>
            <a:stretch>
              <a:fillRect/>
            </a:stretch>
          </p:blipFill>
          <p:spPr>
            <a:xfrm>
              <a:off x="1239999" y="1097281"/>
              <a:ext cx="1094207" cy="1094207"/>
            </a:xfrm>
            <a:prstGeom prst="rect">
              <a:avLst/>
            </a:prstGeom>
          </p:spPr>
        </p:pic>
        <p:pic>
          <p:nvPicPr>
            <p:cNvPr id="9" name="object 8">
              <a:extLst>
                <a:ext uri="{FF2B5EF4-FFF2-40B4-BE49-F238E27FC236}">
                  <a16:creationId xmlns:a16="http://schemas.microsoft.com/office/drawing/2014/main" id="{A8C8909B-0E1D-4340-C78B-70444DFEB365}"/>
                </a:ext>
              </a:extLst>
            </p:cNvPr>
            <p:cNvPicPr/>
            <p:nvPr/>
          </p:nvPicPr>
          <p:blipFill>
            <a:blip r:embed="rId4" cstate="print"/>
            <a:stretch>
              <a:fillRect/>
            </a:stretch>
          </p:blipFill>
          <p:spPr>
            <a:xfrm>
              <a:off x="2141794" y="5263070"/>
              <a:ext cx="1011177" cy="1920559"/>
            </a:xfrm>
            <a:prstGeom prst="rect">
              <a:avLst/>
            </a:prstGeom>
          </p:spPr>
        </p:pic>
        <p:pic>
          <p:nvPicPr>
            <p:cNvPr id="10" name="object 9">
              <a:extLst>
                <a:ext uri="{FF2B5EF4-FFF2-40B4-BE49-F238E27FC236}">
                  <a16:creationId xmlns:a16="http://schemas.microsoft.com/office/drawing/2014/main" id="{0C15F954-7353-9107-9F6F-197173DC5DF6}"/>
                </a:ext>
              </a:extLst>
            </p:cNvPr>
            <p:cNvPicPr/>
            <p:nvPr/>
          </p:nvPicPr>
          <p:blipFill>
            <a:blip r:embed="rId4" cstate="print"/>
            <a:stretch>
              <a:fillRect/>
            </a:stretch>
          </p:blipFill>
          <p:spPr>
            <a:xfrm>
              <a:off x="3445377" y="5263070"/>
              <a:ext cx="1011177" cy="1920559"/>
            </a:xfrm>
            <a:prstGeom prst="rect">
              <a:avLst/>
            </a:prstGeom>
          </p:spPr>
        </p:pic>
        <p:pic>
          <p:nvPicPr>
            <p:cNvPr id="11" name="object 10">
              <a:extLst>
                <a:ext uri="{FF2B5EF4-FFF2-40B4-BE49-F238E27FC236}">
                  <a16:creationId xmlns:a16="http://schemas.microsoft.com/office/drawing/2014/main" id="{E284F254-DCE1-F957-AE7D-035ACCA2693D}"/>
                </a:ext>
              </a:extLst>
            </p:cNvPr>
            <p:cNvPicPr/>
            <p:nvPr/>
          </p:nvPicPr>
          <p:blipFill>
            <a:blip r:embed="rId4" cstate="print"/>
            <a:stretch>
              <a:fillRect/>
            </a:stretch>
          </p:blipFill>
          <p:spPr>
            <a:xfrm>
              <a:off x="4748960" y="5263070"/>
              <a:ext cx="1011177" cy="1920559"/>
            </a:xfrm>
            <a:prstGeom prst="rect">
              <a:avLst/>
            </a:prstGeom>
          </p:spPr>
        </p:pic>
        <p:pic>
          <p:nvPicPr>
            <p:cNvPr id="12" name="object 11">
              <a:extLst>
                <a:ext uri="{FF2B5EF4-FFF2-40B4-BE49-F238E27FC236}">
                  <a16:creationId xmlns:a16="http://schemas.microsoft.com/office/drawing/2014/main" id="{916F235B-72F2-0D11-4184-B4BE532F30C1}"/>
                </a:ext>
              </a:extLst>
            </p:cNvPr>
            <p:cNvPicPr/>
            <p:nvPr/>
          </p:nvPicPr>
          <p:blipFill>
            <a:blip r:embed="rId4" cstate="print"/>
            <a:stretch>
              <a:fillRect/>
            </a:stretch>
          </p:blipFill>
          <p:spPr>
            <a:xfrm>
              <a:off x="6052544" y="5263070"/>
              <a:ext cx="1011177" cy="1920559"/>
            </a:xfrm>
            <a:prstGeom prst="rect">
              <a:avLst/>
            </a:prstGeom>
          </p:spPr>
        </p:pic>
        <p:pic>
          <p:nvPicPr>
            <p:cNvPr id="13" name="object 12">
              <a:extLst>
                <a:ext uri="{FF2B5EF4-FFF2-40B4-BE49-F238E27FC236}">
                  <a16:creationId xmlns:a16="http://schemas.microsoft.com/office/drawing/2014/main" id="{FA4C07D9-F95A-74C1-F922-EC4A4F0806B6}"/>
                </a:ext>
              </a:extLst>
            </p:cNvPr>
            <p:cNvPicPr/>
            <p:nvPr/>
          </p:nvPicPr>
          <p:blipFill>
            <a:blip r:embed="rId4" cstate="print"/>
            <a:stretch>
              <a:fillRect/>
            </a:stretch>
          </p:blipFill>
          <p:spPr>
            <a:xfrm>
              <a:off x="7356138" y="5263070"/>
              <a:ext cx="1011177" cy="1920559"/>
            </a:xfrm>
            <a:prstGeom prst="rect">
              <a:avLst/>
            </a:prstGeom>
          </p:spPr>
        </p:pic>
        <p:pic>
          <p:nvPicPr>
            <p:cNvPr id="14" name="object 13">
              <a:extLst>
                <a:ext uri="{FF2B5EF4-FFF2-40B4-BE49-F238E27FC236}">
                  <a16:creationId xmlns:a16="http://schemas.microsoft.com/office/drawing/2014/main" id="{6C144F63-4F0C-DD47-9329-4A3D7C0A95C4}"/>
                </a:ext>
              </a:extLst>
            </p:cNvPr>
            <p:cNvPicPr/>
            <p:nvPr/>
          </p:nvPicPr>
          <p:blipFill>
            <a:blip r:embed="rId4" cstate="print"/>
            <a:stretch>
              <a:fillRect/>
            </a:stretch>
          </p:blipFill>
          <p:spPr>
            <a:xfrm>
              <a:off x="8659721" y="5263070"/>
              <a:ext cx="1011177" cy="1920559"/>
            </a:xfrm>
            <a:prstGeom prst="rect">
              <a:avLst/>
            </a:prstGeom>
          </p:spPr>
        </p:pic>
        <p:pic>
          <p:nvPicPr>
            <p:cNvPr id="15" name="object 14">
              <a:extLst>
                <a:ext uri="{FF2B5EF4-FFF2-40B4-BE49-F238E27FC236}">
                  <a16:creationId xmlns:a16="http://schemas.microsoft.com/office/drawing/2014/main" id="{570B2A07-5EF0-D692-D983-34F16576A58D}"/>
                </a:ext>
              </a:extLst>
            </p:cNvPr>
            <p:cNvPicPr/>
            <p:nvPr/>
          </p:nvPicPr>
          <p:blipFill>
            <a:blip r:embed="rId4" cstate="print"/>
            <a:stretch>
              <a:fillRect/>
            </a:stretch>
          </p:blipFill>
          <p:spPr>
            <a:xfrm>
              <a:off x="9963325" y="5263070"/>
              <a:ext cx="1011177" cy="1920559"/>
            </a:xfrm>
            <a:prstGeom prst="rect">
              <a:avLst/>
            </a:prstGeom>
          </p:spPr>
        </p:pic>
        <p:grpSp>
          <p:nvGrpSpPr>
            <p:cNvPr id="16" name="object 15">
              <a:extLst>
                <a:ext uri="{FF2B5EF4-FFF2-40B4-BE49-F238E27FC236}">
                  <a16:creationId xmlns:a16="http://schemas.microsoft.com/office/drawing/2014/main" id="{407F9748-BEE0-E2B9-4986-74FD8E36EFE4}"/>
                </a:ext>
              </a:extLst>
            </p:cNvPr>
            <p:cNvGrpSpPr/>
            <p:nvPr/>
          </p:nvGrpSpPr>
          <p:grpSpPr>
            <a:xfrm>
              <a:off x="1295767" y="2581707"/>
              <a:ext cx="551180" cy="2283460"/>
              <a:chOff x="2729581" y="5036569"/>
              <a:chExt cx="551180" cy="2283460"/>
            </a:xfrm>
          </p:grpSpPr>
          <p:sp>
            <p:nvSpPr>
              <p:cNvPr id="17" name="object 16">
                <a:extLst>
                  <a:ext uri="{FF2B5EF4-FFF2-40B4-BE49-F238E27FC236}">
                    <a16:creationId xmlns:a16="http://schemas.microsoft.com/office/drawing/2014/main" id="{3A487CDD-75B6-283D-4D7E-FC532C2BE8A0}"/>
                  </a:ext>
                </a:extLst>
              </p:cNvPr>
              <p:cNvSpPr/>
              <p:nvPr/>
            </p:nvSpPr>
            <p:spPr>
              <a:xfrm>
                <a:off x="2776296" y="5047040"/>
                <a:ext cx="494030" cy="2185035"/>
              </a:xfrm>
              <a:custGeom>
                <a:avLst/>
                <a:gdLst/>
                <a:ahLst/>
                <a:cxnLst/>
                <a:rect l="l" t="t" r="r" b="b"/>
                <a:pathLst>
                  <a:path w="494029" h="2185034">
                    <a:moveTo>
                      <a:pt x="493540" y="0"/>
                    </a:moveTo>
                    <a:lnTo>
                      <a:pt x="2307" y="2174444"/>
                    </a:lnTo>
                    <a:lnTo>
                      <a:pt x="0" y="2184657"/>
                    </a:lnTo>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09CC7B15-56C1-9430-708E-7CBE073CB618}"/>
                  </a:ext>
                </a:extLst>
              </p:cNvPr>
              <p:cNvSpPr/>
              <p:nvPr/>
            </p:nvSpPr>
            <p:spPr>
              <a:xfrm>
                <a:off x="2729581" y="7210419"/>
                <a:ext cx="98425" cy="109220"/>
              </a:xfrm>
              <a:custGeom>
                <a:avLst/>
                <a:gdLst/>
                <a:ahLst/>
                <a:cxnLst/>
                <a:rect l="l" t="t" r="r" b="b"/>
                <a:pathLst>
                  <a:path w="98425" h="109220">
                    <a:moveTo>
                      <a:pt x="0" y="0"/>
                    </a:moveTo>
                    <a:lnTo>
                      <a:pt x="26868" y="109117"/>
                    </a:lnTo>
                    <a:lnTo>
                      <a:pt x="98049" y="22145"/>
                    </a:lnTo>
                    <a:lnTo>
                      <a:pt x="0" y="0"/>
                    </a:lnTo>
                    <a:close/>
                  </a:path>
                </a:pathLst>
              </a:custGeom>
              <a:solidFill>
                <a:srgbClr val="222C4A"/>
              </a:solidFill>
            </p:spPr>
            <p:txBody>
              <a:bodyPr wrap="square" lIns="0" tIns="0" rIns="0" bIns="0" rtlCol="0"/>
              <a:lstStyle/>
              <a:p>
                <a:endParaRPr/>
              </a:p>
            </p:txBody>
          </p:sp>
        </p:grpSp>
        <p:grpSp>
          <p:nvGrpSpPr>
            <p:cNvPr id="19" name="object 18">
              <a:extLst>
                <a:ext uri="{FF2B5EF4-FFF2-40B4-BE49-F238E27FC236}">
                  <a16:creationId xmlns:a16="http://schemas.microsoft.com/office/drawing/2014/main" id="{982CE0AE-1548-C8A5-FBCA-EE20BDF6A3F7}"/>
                </a:ext>
              </a:extLst>
            </p:cNvPr>
            <p:cNvGrpSpPr/>
            <p:nvPr/>
          </p:nvGrpSpPr>
          <p:grpSpPr>
            <a:xfrm>
              <a:off x="2034970" y="2263905"/>
              <a:ext cx="8624570" cy="2872740"/>
              <a:chOff x="3468784" y="4718767"/>
              <a:chExt cx="8624570" cy="2872740"/>
            </a:xfrm>
          </p:grpSpPr>
          <p:sp>
            <p:nvSpPr>
              <p:cNvPr id="20" name="object 19">
                <a:extLst>
                  <a:ext uri="{FF2B5EF4-FFF2-40B4-BE49-F238E27FC236}">
                    <a16:creationId xmlns:a16="http://schemas.microsoft.com/office/drawing/2014/main" id="{4BB2EDFC-6C22-7FFF-7345-BB7BD06A1231}"/>
                  </a:ext>
                </a:extLst>
              </p:cNvPr>
              <p:cNvSpPr/>
              <p:nvPr/>
            </p:nvSpPr>
            <p:spPr>
              <a:xfrm>
                <a:off x="3597576" y="4904698"/>
                <a:ext cx="2782570" cy="2502535"/>
              </a:xfrm>
              <a:custGeom>
                <a:avLst/>
                <a:gdLst/>
                <a:ahLst/>
                <a:cxnLst/>
                <a:rect l="l" t="t" r="r" b="b"/>
                <a:pathLst>
                  <a:path w="2782570" h="2502534">
                    <a:moveTo>
                      <a:pt x="0" y="0"/>
                    </a:moveTo>
                    <a:lnTo>
                      <a:pt x="2774486" y="2495492"/>
                    </a:lnTo>
                    <a:lnTo>
                      <a:pt x="2782271" y="2502494"/>
                    </a:lnTo>
                  </a:path>
                </a:pathLst>
              </a:custGeom>
              <a:ln w="20941">
                <a:solidFill>
                  <a:srgbClr val="222C4A"/>
                </a:solidFill>
              </a:ln>
            </p:spPr>
            <p:txBody>
              <a:bodyPr wrap="square" lIns="0" tIns="0" rIns="0" bIns="0" rtlCol="0"/>
              <a:lstStyle/>
              <a:p>
                <a:endParaRPr/>
              </a:p>
            </p:txBody>
          </p:sp>
          <p:sp>
            <p:nvSpPr>
              <p:cNvPr id="21" name="object 20">
                <a:extLst>
                  <a:ext uri="{FF2B5EF4-FFF2-40B4-BE49-F238E27FC236}">
                    <a16:creationId xmlns:a16="http://schemas.microsoft.com/office/drawing/2014/main" id="{FF5BBBEA-1890-6199-DB62-8F14CFA53BE1}"/>
                  </a:ext>
                </a:extLst>
              </p:cNvPr>
              <p:cNvSpPr/>
              <p:nvPr/>
            </p:nvSpPr>
            <p:spPr>
              <a:xfrm>
                <a:off x="6338445" y="7362833"/>
                <a:ext cx="108585" cy="104775"/>
              </a:xfrm>
              <a:custGeom>
                <a:avLst/>
                <a:gdLst/>
                <a:ahLst/>
                <a:cxnLst/>
                <a:rect l="l" t="t" r="r" b="b"/>
                <a:pathLst>
                  <a:path w="108585" h="104775">
                    <a:moveTo>
                      <a:pt x="67223" y="0"/>
                    </a:moveTo>
                    <a:lnTo>
                      <a:pt x="0" y="74730"/>
                    </a:lnTo>
                    <a:lnTo>
                      <a:pt x="108352" y="104583"/>
                    </a:lnTo>
                    <a:lnTo>
                      <a:pt x="67223" y="0"/>
                    </a:lnTo>
                    <a:close/>
                  </a:path>
                </a:pathLst>
              </a:custGeom>
              <a:solidFill>
                <a:srgbClr val="222C4A"/>
              </a:solidFill>
            </p:spPr>
            <p:txBody>
              <a:bodyPr wrap="square" lIns="0" tIns="0" rIns="0" bIns="0" rtlCol="0"/>
              <a:lstStyle/>
              <a:p>
                <a:endParaRPr/>
              </a:p>
            </p:txBody>
          </p:sp>
          <p:sp>
            <p:nvSpPr>
              <p:cNvPr id="22" name="object 21">
                <a:extLst>
                  <a:ext uri="{FF2B5EF4-FFF2-40B4-BE49-F238E27FC236}">
                    <a16:creationId xmlns:a16="http://schemas.microsoft.com/office/drawing/2014/main" id="{5962EC71-5C93-76DF-2F38-DC1621878E9D}"/>
                  </a:ext>
                </a:extLst>
              </p:cNvPr>
              <p:cNvSpPr/>
              <p:nvPr/>
            </p:nvSpPr>
            <p:spPr>
              <a:xfrm>
                <a:off x="8601790" y="4904583"/>
                <a:ext cx="3162300" cy="2463165"/>
              </a:xfrm>
              <a:custGeom>
                <a:avLst/>
                <a:gdLst/>
                <a:ahLst/>
                <a:cxnLst/>
                <a:rect l="l" t="t" r="r" b="b"/>
                <a:pathLst>
                  <a:path w="3162300" h="2463165">
                    <a:moveTo>
                      <a:pt x="0" y="0"/>
                    </a:moveTo>
                    <a:lnTo>
                      <a:pt x="3153677" y="2456279"/>
                    </a:lnTo>
                    <a:lnTo>
                      <a:pt x="3161938" y="2462713"/>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2815727C-608A-0549-638D-10099A59125C}"/>
                  </a:ext>
                </a:extLst>
              </p:cNvPr>
              <p:cNvSpPr/>
              <p:nvPr/>
            </p:nvSpPr>
            <p:spPr>
              <a:xfrm>
                <a:off x="11724564" y="7321211"/>
                <a:ext cx="110489" cy="101600"/>
              </a:xfrm>
              <a:custGeom>
                <a:avLst/>
                <a:gdLst/>
                <a:ahLst/>
                <a:cxnLst/>
                <a:rect l="l" t="t" r="r" b="b"/>
                <a:pathLst>
                  <a:path w="110490" h="101600">
                    <a:moveTo>
                      <a:pt x="61778" y="0"/>
                    </a:moveTo>
                    <a:lnTo>
                      <a:pt x="0" y="79306"/>
                    </a:lnTo>
                    <a:lnTo>
                      <a:pt x="110258" y="101420"/>
                    </a:lnTo>
                    <a:lnTo>
                      <a:pt x="61778"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C855B784-A6EA-76E4-D9DD-D160CC1A8424}"/>
                  </a:ext>
                </a:extLst>
              </p:cNvPr>
              <p:cNvSpPr/>
              <p:nvPr/>
            </p:nvSpPr>
            <p:spPr>
              <a:xfrm>
                <a:off x="3479255" y="5256457"/>
                <a:ext cx="1777364" cy="2236470"/>
              </a:xfrm>
              <a:custGeom>
                <a:avLst/>
                <a:gdLst/>
                <a:ahLst/>
                <a:cxnLst/>
                <a:rect l="l" t="t" r="r" b="b"/>
                <a:pathLst>
                  <a:path w="1777364" h="2236470">
                    <a:moveTo>
                      <a:pt x="0" y="0"/>
                    </a:moveTo>
                    <a:lnTo>
                      <a:pt x="1770745" y="2227906"/>
                    </a:lnTo>
                    <a:lnTo>
                      <a:pt x="1777260" y="2236103"/>
                    </a:lnTo>
                  </a:path>
                </a:pathLst>
              </a:custGeom>
              <a:ln w="20941">
                <a:solidFill>
                  <a:srgbClr val="222C4A"/>
                </a:solidFill>
              </a:ln>
            </p:spPr>
            <p:txBody>
              <a:bodyPr wrap="square" lIns="0" tIns="0" rIns="0" bIns="0" rtlCol="0"/>
              <a:lstStyle/>
              <a:p>
                <a:endParaRPr/>
              </a:p>
            </p:txBody>
          </p:sp>
          <p:sp>
            <p:nvSpPr>
              <p:cNvPr id="25" name="object 24">
                <a:extLst>
                  <a:ext uri="{FF2B5EF4-FFF2-40B4-BE49-F238E27FC236}">
                    <a16:creationId xmlns:a16="http://schemas.microsoft.com/office/drawing/2014/main" id="{C797F35C-90CA-AA91-9C89-B32C150C3835}"/>
                  </a:ext>
                </a:extLst>
              </p:cNvPr>
              <p:cNvSpPr/>
              <p:nvPr/>
            </p:nvSpPr>
            <p:spPr>
              <a:xfrm>
                <a:off x="5210658" y="7453092"/>
                <a:ext cx="102235" cy="110489"/>
              </a:xfrm>
              <a:custGeom>
                <a:avLst/>
                <a:gdLst/>
                <a:ahLst/>
                <a:cxnLst/>
                <a:rect l="l" t="t" r="r" b="b"/>
                <a:pathLst>
                  <a:path w="102235" h="110490">
                    <a:moveTo>
                      <a:pt x="78688" y="0"/>
                    </a:moveTo>
                    <a:lnTo>
                      <a:pt x="0" y="62542"/>
                    </a:lnTo>
                    <a:lnTo>
                      <a:pt x="101892" y="109965"/>
                    </a:lnTo>
                    <a:lnTo>
                      <a:pt x="78688" y="0"/>
                    </a:lnTo>
                    <a:close/>
                  </a:path>
                </a:pathLst>
              </a:custGeom>
              <a:solidFill>
                <a:srgbClr val="222C4A"/>
              </a:solidFill>
            </p:spPr>
            <p:txBody>
              <a:bodyPr wrap="square" lIns="0" tIns="0" rIns="0" bIns="0" rtlCol="0"/>
              <a:lstStyle/>
              <a:p>
                <a:endParaRPr/>
              </a:p>
            </p:txBody>
          </p:sp>
          <p:sp>
            <p:nvSpPr>
              <p:cNvPr id="26" name="object 25">
                <a:extLst>
                  <a:ext uri="{FF2B5EF4-FFF2-40B4-BE49-F238E27FC236}">
                    <a16:creationId xmlns:a16="http://schemas.microsoft.com/office/drawing/2014/main" id="{4B257583-0E05-7F18-6DF3-095E8F2AD887}"/>
                  </a:ext>
                </a:extLst>
              </p:cNvPr>
              <p:cNvSpPr/>
              <p:nvPr/>
            </p:nvSpPr>
            <p:spPr>
              <a:xfrm>
                <a:off x="5225790" y="5132335"/>
                <a:ext cx="355600" cy="2012950"/>
              </a:xfrm>
              <a:custGeom>
                <a:avLst/>
                <a:gdLst/>
                <a:ahLst/>
                <a:cxnLst/>
                <a:rect l="l" t="t" r="r" b="b"/>
                <a:pathLst>
                  <a:path w="355600" h="2012950">
                    <a:moveTo>
                      <a:pt x="355264" y="0"/>
                    </a:moveTo>
                    <a:lnTo>
                      <a:pt x="1820" y="2002439"/>
                    </a:lnTo>
                    <a:lnTo>
                      <a:pt x="0" y="2012750"/>
                    </a:lnTo>
                  </a:path>
                </a:pathLst>
              </a:custGeom>
              <a:ln w="20941">
                <a:solidFill>
                  <a:srgbClr val="222C4A"/>
                </a:solidFill>
              </a:ln>
            </p:spPr>
            <p:txBody>
              <a:bodyPr wrap="square" lIns="0" tIns="0" rIns="0" bIns="0" rtlCol="0"/>
              <a:lstStyle/>
              <a:p>
                <a:endParaRPr/>
              </a:p>
            </p:txBody>
          </p:sp>
          <p:sp>
            <p:nvSpPr>
              <p:cNvPr id="27" name="object 26">
                <a:extLst>
                  <a:ext uri="{FF2B5EF4-FFF2-40B4-BE49-F238E27FC236}">
                    <a16:creationId xmlns:a16="http://schemas.microsoft.com/office/drawing/2014/main" id="{0E5617FF-8F24-A389-CFD9-0FF600A56ABA}"/>
                  </a:ext>
                </a:extLst>
              </p:cNvPr>
              <p:cNvSpPr/>
              <p:nvPr/>
            </p:nvSpPr>
            <p:spPr>
              <a:xfrm>
                <a:off x="5178114" y="7126034"/>
                <a:ext cx="99060" cy="107950"/>
              </a:xfrm>
              <a:custGeom>
                <a:avLst/>
                <a:gdLst/>
                <a:ahLst/>
                <a:cxnLst/>
                <a:rect l="l" t="t" r="r" b="b"/>
                <a:pathLst>
                  <a:path w="99060" h="107950">
                    <a:moveTo>
                      <a:pt x="0" y="0"/>
                    </a:moveTo>
                    <a:lnTo>
                      <a:pt x="32019" y="107724"/>
                    </a:lnTo>
                    <a:lnTo>
                      <a:pt x="98991" y="17475"/>
                    </a:lnTo>
                    <a:lnTo>
                      <a:pt x="0" y="0"/>
                    </a:lnTo>
                    <a:close/>
                  </a:path>
                </a:pathLst>
              </a:custGeom>
              <a:solidFill>
                <a:srgbClr val="222C4A"/>
              </a:solidFill>
            </p:spPr>
            <p:txBody>
              <a:bodyPr wrap="square" lIns="0" tIns="0" rIns="0" bIns="0" rtlCol="0"/>
              <a:lstStyle/>
              <a:p>
                <a:endParaRPr/>
              </a:p>
            </p:txBody>
          </p:sp>
          <p:sp>
            <p:nvSpPr>
              <p:cNvPr id="28" name="object 27">
                <a:extLst>
                  <a:ext uri="{FF2B5EF4-FFF2-40B4-BE49-F238E27FC236}">
                    <a16:creationId xmlns:a16="http://schemas.microsoft.com/office/drawing/2014/main" id="{9164E05E-445F-2AB1-8A40-9123E7CEED47}"/>
                  </a:ext>
                </a:extLst>
              </p:cNvPr>
              <p:cNvSpPr/>
              <p:nvPr/>
            </p:nvSpPr>
            <p:spPr>
              <a:xfrm>
                <a:off x="11289394" y="4930562"/>
                <a:ext cx="759460" cy="2221230"/>
              </a:xfrm>
              <a:custGeom>
                <a:avLst/>
                <a:gdLst/>
                <a:ahLst/>
                <a:cxnLst/>
                <a:rect l="l" t="t" r="r" b="b"/>
                <a:pathLst>
                  <a:path w="759459"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29" name="object 28">
                <a:extLst>
                  <a:ext uri="{FF2B5EF4-FFF2-40B4-BE49-F238E27FC236}">
                    <a16:creationId xmlns:a16="http://schemas.microsoft.com/office/drawing/2014/main" id="{7D9F10B6-ADE9-B413-0228-E8C9A51E4406}"/>
                  </a:ext>
                </a:extLst>
              </p:cNvPr>
              <p:cNvSpPr/>
              <p:nvPr/>
            </p:nvSpPr>
            <p:spPr>
              <a:xfrm>
                <a:off x="11997749" y="7125060"/>
                <a:ext cx="95250" cy="111760"/>
              </a:xfrm>
              <a:custGeom>
                <a:avLst/>
                <a:gdLst/>
                <a:ahLst/>
                <a:cxnLst/>
                <a:rect l="l" t="t" r="r" b="b"/>
                <a:pathLst>
                  <a:path w="95250" h="111759">
                    <a:moveTo>
                      <a:pt x="95075" y="0"/>
                    </a:moveTo>
                    <a:lnTo>
                      <a:pt x="0" y="32522"/>
                    </a:lnTo>
                    <a:lnTo>
                      <a:pt x="79997" y="111378"/>
                    </a:lnTo>
                    <a:lnTo>
                      <a:pt x="95075" y="0"/>
                    </a:lnTo>
                    <a:close/>
                  </a:path>
                </a:pathLst>
              </a:custGeom>
              <a:solidFill>
                <a:srgbClr val="222C4A"/>
              </a:solidFill>
            </p:spPr>
            <p:txBody>
              <a:bodyPr wrap="square" lIns="0" tIns="0" rIns="0" bIns="0" rtlCol="0"/>
              <a:lstStyle/>
              <a:p>
                <a:endParaRPr/>
              </a:p>
            </p:txBody>
          </p:sp>
          <p:sp>
            <p:nvSpPr>
              <p:cNvPr id="30" name="object 29">
                <a:extLst>
                  <a:ext uri="{FF2B5EF4-FFF2-40B4-BE49-F238E27FC236}">
                    <a16:creationId xmlns:a16="http://schemas.microsoft.com/office/drawing/2014/main" id="{163B4B47-50D4-5C0C-70F4-EBE69D032EA4}"/>
                  </a:ext>
                </a:extLst>
              </p:cNvPr>
              <p:cNvSpPr/>
              <p:nvPr/>
            </p:nvSpPr>
            <p:spPr>
              <a:xfrm>
                <a:off x="4394008" y="4969341"/>
                <a:ext cx="4673600" cy="2477135"/>
              </a:xfrm>
              <a:custGeom>
                <a:avLst/>
                <a:gdLst/>
                <a:ahLst/>
                <a:cxnLst/>
                <a:rect l="l" t="t" r="r" b="b"/>
                <a:pathLst>
                  <a:path w="4673600" h="2477134">
                    <a:moveTo>
                      <a:pt x="0" y="0"/>
                    </a:moveTo>
                    <a:lnTo>
                      <a:pt x="9251" y="4903"/>
                    </a:lnTo>
                    <a:lnTo>
                      <a:pt x="4673196" y="2476959"/>
                    </a:lnTo>
                  </a:path>
                </a:pathLst>
              </a:custGeom>
              <a:ln w="20941">
                <a:solidFill>
                  <a:srgbClr val="222C4A"/>
                </a:solidFill>
              </a:ln>
            </p:spPr>
            <p:txBody>
              <a:bodyPr wrap="square" lIns="0" tIns="0" rIns="0" bIns="0" rtlCol="0"/>
              <a:lstStyle/>
              <a:p>
                <a:endParaRPr/>
              </a:p>
            </p:txBody>
          </p:sp>
          <p:sp>
            <p:nvSpPr>
              <p:cNvPr id="31" name="object 30">
                <a:extLst>
                  <a:ext uri="{FF2B5EF4-FFF2-40B4-BE49-F238E27FC236}">
                    <a16:creationId xmlns:a16="http://schemas.microsoft.com/office/drawing/2014/main" id="{DF0D2854-E1C9-B36F-1406-D641A6A301C0}"/>
                  </a:ext>
                </a:extLst>
              </p:cNvPr>
              <p:cNvSpPr/>
              <p:nvPr/>
            </p:nvSpPr>
            <p:spPr>
              <a:xfrm>
                <a:off x="4314444" y="4927169"/>
                <a:ext cx="112395" cy="92075"/>
              </a:xfrm>
              <a:custGeom>
                <a:avLst/>
                <a:gdLst/>
                <a:ahLst/>
                <a:cxnLst/>
                <a:rect l="l" t="t" r="r" b="b"/>
                <a:pathLst>
                  <a:path w="112395" h="92075">
                    <a:moveTo>
                      <a:pt x="0" y="0"/>
                    </a:moveTo>
                    <a:lnTo>
                      <a:pt x="65275" y="91484"/>
                    </a:lnTo>
                    <a:lnTo>
                      <a:pt x="112352" y="2670"/>
                    </a:lnTo>
                    <a:lnTo>
                      <a:pt x="0" y="0"/>
                    </a:lnTo>
                    <a:close/>
                  </a:path>
                </a:pathLst>
              </a:custGeom>
              <a:solidFill>
                <a:srgbClr val="222C4A"/>
              </a:solidFill>
            </p:spPr>
            <p:txBody>
              <a:bodyPr wrap="square" lIns="0" tIns="0" rIns="0" bIns="0" rtlCol="0"/>
              <a:lstStyle/>
              <a:p>
                <a:endParaRPr/>
              </a:p>
            </p:txBody>
          </p:sp>
          <p:sp>
            <p:nvSpPr>
              <p:cNvPr id="32" name="object 31">
                <a:extLst>
                  <a:ext uri="{FF2B5EF4-FFF2-40B4-BE49-F238E27FC236}">
                    <a16:creationId xmlns:a16="http://schemas.microsoft.com/office/drawing/2014/main" id="{F6E536FC-F39F-621F-B0B0-4142232ECD96}"/>
                  </a:ext>
                </a:extLst>
              </p:cNvPr>
              <p:cNvSpPr/>
              <p:nvPr/>
            </p:nvSpPr>
            <p:spPr>
              <a:xfrm>
                <a:off x="6230951" y="5009365"/>
                <a:ext cx="3922395" cy="2264410"/>
              </a:xfrm>
              <a:custGeom>
                <a:avLst/>
                <a:gdLst/>
                <a:ahLst/>
                <a:cxnLst/>
                <a:rect l="l" t="t" r="r" b="b"/>
                <a:pathLst>
                  <a:path w="3922395" h="2264409">
                    <a:moveTo>
                      <a:pt x="0" y="0"/>
                    </a:moveTo>
                    <a:lnTo>
                      <a:pt x="3912763" y="2258993"/>
                    </a:lnTo>
                    <a:lnTo>
                      <a:pt x="3921831" y="2264229"/>
                    </a:lnTo>
                  </a:path>
                </a:pathLst>
              </a:custGeom>
              <a:ln w="20941">
                <a:solidFill>
                  <a:srgbClr val="222C4A"/>
                </a:solidFill>
              </a:ln>
            </p:spPr>
            <p:txBody>
              <a:bodyPr wrap="square" lIns="0" tIns="0" rIns="0" bIns="0" rtlCol="0"/>
              <a:lstStyle/>
              <a:p>
                <a:endParaRPr/>
              </a:p>
            </p:txBody>
          </p:sp>
          <p:sp>
            <p:nvSpPr>
              <p:cNvPr id="33" name="object 32">
                <a:extLst>
                  <a:ext uri="{FF2B5EF4-FFF2-40B4-BE49-F238E27FC236}">
                    <a16:creationId xmlns:a16="http://schemas.microsoft.com/office/drawing/2014/main" id="{7C17965E-EE18-01CB-909E-3DDD2DA6A86D}"/>
                  </a:ext>
                </a:extLst>
              </p:cNvPr>
              <p:cNvSpPr/>
              <p:nvPr/>
            </p:nvSpPr>
            <p:spPr>
              <a:xfrm>
                <a:off x="10118592" y="7224827"/>
                <a:ext cx="112395" cy="93980"/>
              </a:xfrm>
              <a:custGeom>
                <a:avLst/>
                <a:gdLst/>
                <a:ahLst/>
                <a:cxnLst/>
                <a:rect l="l" t="t" r="r" b="b"/>
                <a:pathLst>
                  <a:path w="112395" h="93979">
                    <a:moveTo>
                      <a:pt x="50260" y="0"/>
                    </a:moveTo>
                    <a:lnTo>
                      <a:pt x="0" y="87054"/>
                    </a:lnTo>
                    <a:lnTo>
                      <a:pt x="112185" y="93787"/>
                    </a:lnTo>
                    <a:lnTo>
                      <a:pt x="50260" y="0"/>
                    </a:lnTo>
                    <a:close/>
                  </a:path>
                </a:pathLst>
              </a:custGeom>
              <a:solidFill>
                <a:srgbClr val="222C4A"/>
              </a:solidFill>
            </p:spPr>
            <p:txBody>
              <a:bodyPr wrap="square" lIns="0" tIns="0" rIns="0" bIns="0" rtlCol="0"/>
              <a:lstStyle/>
              <a:p>
                <a:endParaRPr/>
              </a:p>
            </p:txBody>
          </p:sp>
          <p:sp>
            <p:nvSpPr>
              <p:cNvPr id="34" name="object 33">
                <a:extLst>
                  <a:ext uri="{FF2B5EF4-FFF2-40B4-BE49-F238E27FC236}">
                    <a16:creationId xmlns:a16="http://schemas.microsoft.com/office/drawing/2014/main" id="{13A17944-DDD2-6E24-0A96-F6742E028C75}"/>
                  </a:ext>
                </a:extLst>
              </p:cNvPr>
              <p:cNvSpPr/>
              <p:nvPr/>
            </p:nvSpPr>
            <p:spPr>
              <a:xfrm>
                <a:off x="8050286" y="4904583"/>
                <a:ext cx="3099435" cy="2524760"/>
              </a:xfrm>
              <a:custGeom>
                <a:avLst/>
                <a:gdLst/>
                <a:ahLst/>
                <a:cxnLst/>
                <a:rect l="l" t="t" r="r" b="b"/>
                <a:pathLst>
                  <a:path w="3099434" h="2524759">
                    <a:moveTo>
                      <a:pt x="3098903" y="0"/>
                    </a:moveTo>
                    <a:lnTo>
                      <a:pt x="8117" y="2518140"/>
                    </a:lnTo>
                    <a:lnTo>
                      <a:pt x="0" y="2524754"/>
                    </a:lnTo>
                  </a:path>
                </a:pathLst>
              </a:custGeom>
              <a:ln w="20941">
                <a:solidFill>
                  <a:srgbClr val="222C4A"/>
                </a:solidFill>
              </a:ln>
            </p:spPr>
            <p:txBody>
              <a:bodyPr wrap="square" lIns="0" tIns="0" rIns="0" bIns="0" rtlCol="0"/>
              <a:lstStyle/>
              <a:p>
                <a:endParaRPr/>
              </a:p>
            </p:txBody>
          </p:sp>
          <p:sp>
            <p:nvSpPr>
              <p:cNvPr id="35" name="object 34">
                <a:extLst>
                  <a:ext uri="{FF2B5EF4-FFF2-40B4-BE49-F238E27FC236}">
                    <a16:creationId xmlns:a16="http://schemas.microsoft.com/office/drawing/2014/main" id="{38109B22-D6E8-A30B-6917-F3F48D414AB8}"/>
                  </a:ext>
                </a:extLst>
              </p:cNvPr>
              <p:cNvSpPr/>
              <p:nvPr/>
            </p:nvSpPr>
            <p:spPr>
              <a:xfrm>
                <a:off x="7980458" y="7383754"/>
                <a:ext cx="109855" cy="102870"/>
              </a:xfrm>
              <a:custGeom>
                <a:avLst/>
                <a:gdLst/>
                <a:ahLst/>
                <a:cxnLst/>
                <a:rect l="l" t="t" r="r" b="b"/>
                <a:pathLst>
                  <a:path w="109854" h="102870">
                    <a:moveTo>
                      <a:pt x="46187" y="0"/>
                    </a:moveTo>
                    <a:lnTo>
                      <a:pt x="0" y="102457"/>
                    </a:lnTo>
                    <a:lnTo>
                      <a:pt x="109682" y="77934"/>
                    </a:lnTo>
                    <a:lnTo>
                      <a:pt x="46187" y="0"/>
                    </a:lnTo>
                    <a:close/>
                  </a:path>
                </a:pathLst>
              </a:custGeom>
              <a:solidFill>
                <a:srgbClr val="222C4A"/>
              </a:solidFill>
            </p:spPr>
            <p:txBody>
              <a:bodyPr wrap="square" lIns="0" tIns="0" rIns="0" bIns="0" rtlCol="0"/>
              <a:lstStyle/>
              <a:p>
                <a:endParaRPr/>
              </a:p>
            </p:txBody>
          </p:sp>
          <p:sp>
            <p:nvSpPr>
              <p:cNvPr id="36" name="object 35">
                <a:extLst>
                  <a:ext uri="{FF2B5EF4-FFF2-40B4-BE49-F238E27FC236}">
                    <a16:creationId xmlns:a16="http://schemas.microsoft.com/office/drawing/2014/main" id="{5A409ED8-3203-B3CF-8350-32D13E0ADE24}"/>
                  </a:ext>
                </a:extLst>
              </p:cNvPr>
              <p:cNvSpPr/>
              <p:nvPr/>
            </p:nvSpPr>
            <p:spPr>
              <a:xfrm>
                <a:off x="8094993" y="4729238"/>
                <a:ext cx="304800" cy="2772410"/>
              </a:xfrm>
              <a:custGeom>
                <a:avLst/>
                <a:gdLst/>
                <a:ahLst/>
                <a:cxnLst/>
                <a:rect l="l" t="t" r="r" b="b"/>
                <a:pathLst>
                  <a:path w="304800" h="2772409">
                    <a:moveTo>
                      <a:pt x="304311" y="0"/>
                    </a:moveTo>
                    <a:lnTo>
                      <a:pt x="1142" y="2761765"/>
                    </a:lnTo>
                    <a:lnTo>
                      <a:pt x="0" y="2772173"/>
                    </a:lnTo>
                  </a:path>
                </a:pathLst>
              </a:custGeom>
              <a:ln w="20941">
                <a:solidFill>
                  <a:srgbClr val="222C4A"/>
                </a:solidFill>
              </a:ln>
            </p:spPr>
            <p:txBody>
              <a:bodyPr wrap="square" lIns="0" tIns="0" rIns="0" bIns="0" rtlCol="0"/>
              <a:lstStyle/>
              <a:p>
                <a:endParaRPr/>
              </a:p>
            </p:txBody>
          </p:sp>
          <p:sp>
            <p:nvSpPr>
              <p:cNvPr id="37" name="object 36">
                <a:extLst>
                  <a:ext uri="{FF2B5EF4-FFF2-40B4-BE49-F238E27FC236}">
                    <a16:creationId xmlns:a16="http://schemas.microsoft.com/office/drawing/2014/main" id="{96B4602E-7883-69E3-6CB8-58AB2DD435DB}"/>
                  </a:ext>
                </a:extLst>
              </p:cNvPr>
              <p:cNvSpPr/>
              <p:nvPr/>
            </p:nvSpPr>
            <p:spPr>
              <a:xfrm>
                <a:off x="8046184" y="7485520"/>
                <a:ext cx="100330" cy="105410"/>
              </a:xfrm>
              <a:custGeom>
                <a:avLst/>
                <a:gdLst/>
                <a:ahLst/>
                <a:cxnLst/>
                <a:rect l="l" t="t" r="r" b="b"/>
                <a:pathLst>
                  <a:path w="100329" h="105409">
                    <a:moveTo>
                      <a:pt x="0" y="0"/>
                    </a:moveTo>
                    <a:lnTo>
                      <a:pt x="38983" y="105399"/>
                    </a:lnTo>
                    <a:lnTo>
                      <a:pt x="99913" y="10963"/>
                    </a:lnTo>
                    <a:lnTo>
                      <a:pt x="0" y="0"/>
                    </a:lnTo>
                    <a:close/>
                  </a:path>
                </a:pathLst>
              </a:custGeom>
              <a:solidFill>
                <a:srgbClr val="222C4A"/>
              </a:solidFill>
            </p:spPr>
            <p:txBody>
              <a:bodyPr wrap="square" lIns="0" tIns="0" rIns="0" bIns="0" rtlCol="0"/>
              <a:lstStyle/>
              <a:p>
                <a:endParaRPr/>
              </a:p>
            </p:txBody>
          </p:sp>
          <p:sp>
            <p:nvSpPr>
              <p:cNvPr id="38" name="object 37">
                <a:extLst>
                  <a:ext uri="{FF2B5EF4-FFF2-40B4-BE49-F238E27FC236}">
                    <a16:creationId xmlns:a16="http://schemas.microsoft.com/office/drawing/2014/main" id="{29F812BA-CF38-0F98-2ADF-B0AAC2C04311}"/>
                  </a:ext>
                </a:extLst>
              </p:cNvPr>
              <p:cNvSpPr/>
              <p:nvPr/>
            </p:nvSpPr>
            <p:spPr>
              <a:xfrm>
                <a:off x="6129943" y="4932090"/>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39" name="object 38">
                <a:extLst>
                  <a:ext uri="{FF2B5EF4-FFF2-40B4-BE49-F238E27FC236}">
                    <a16:creationId xmlns:a16="http://schemas.microsoft.com/office/drawing/2014/main" id="{EB55ACEB-88E3-35C5-9EC9-078E4FE29E48}"/>
                  </a:ext>
                </a:extLst>
              </p:cNvPr>
              <p:cNvSpPr/>
              <p:nvPr/>
            </p:nvSpPr>
            <p:spPr>
              <a:xfrm>
                <a:off x="6083647" y="4844658"/>
                <a:ext cx="97790" cy="109855"/>
              </a:xfrm>
              <a:custGeom>
                <a:avLst/>
                <a:gdLst/>
                <a:ahLst/>
                <a:cxnLst/>
                <a:rect l="l" t="t" r="r" b="b"/>
                <a:pathLst>
                  <a:path w="97789"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0" name="object 39">
                <a:extLst>
                  <a:ext uri="{FF2B5EF4-FFF2-40B4-BE49-F238E27FC236}">
                    <a16:creationId xmlns:a16="http://schemas.microsoft.com/office/drawing/2014/main" id="{1D4B686D-B7E3-EBE5-21C3-9450F6BDE937}"/>
                  </a:ext>
                </a:extLst>
              </p:cNvPr>
              <p:cNvSpPr/>
              <p:nvPr/>
            </p:nvSpPr>
            <p:spPr>
              <a:xfrm>
                <a:off x="6262686" y="5024534"/>
                <a:ext cx="1585595" cy="2403475"/>
              </a:xfrm>
              <a:custGeom>
                <a:avLst/>
                <a:gdLst/>
                <a:ahLst/>
                <a:cxnLst/>
                <a:rect l="l" t="t" r="r" b="b"/>
                <a:pathLst>
                  <a:path w="1585595" h="2403475">
                    <a:moveTo>
                      <a:pt x="0" y="0"/>
                    </a:moveTo>
                    <a:lnTo>
                      <a:pt x="5766" y="8740"/>
                    </a:lnTo>
                    <a:lnTo>
                      <a:pt x="1585388" y="2403174"/>
                    </a:lnTo>
                  </a:path>
                </a:pathLst>
              </a:custGeom>
              <a:ln w="20941">
                <a:solidFill>
                  <a:srgbClr val="222C4A"/>
                </a:solidFill>
              </a:ln>
            </p:spPr>
            <p:txBody>
              <a:bodyPr wrap="square" lIns="0" tIns="0" rIns="0" bIns="0" rtlCol="0"/>
              <a:lstStyle/>
              <a:p>
                <a:endParaRPr/>
              </a:p>
            </p:txBody>
          </p:sp>
          <p:sp>
            <p:nvSpPr>
              <p:cNvPr id="41" name="object 40">
                <a:extLst>
                  <a:ext uri="{FF2B5EF4-FFF2-40B4-BE49-F238E27FC236}">
                    <a16:creationId xmlns:a16="http://schemas.microsoft.com/office/drawing/2014/main" id="{434FAC37-491C-6A05-8097-0026B6E46178}"/>
                  </a:ext>
                </a:extLst>
              </p:cNvPr>
              <p:cNvSpPr/>
              <p:nvPr/>
            </p:nvSpPr>
            <p:spPr>
              <a:xfrm>
                <a:off x="6213098" y="4949367"/>
                <a:ext cx="97790" cy="111760"/>
              </a:xfrm>
              <a:custGeom>
                <a:avLst/>
                <a:gdLst/>
                <a:ahLst/>
                <a:cxnLst/>
                <a:rect l="l" t="t" r="r" b="b"/>
                <a:pathLst>
                  <a:path w="97789" h="111760">
                    <a:moveTo>
                      <a:pt x="0" y="0"/>
                    </a:moveTo>
                    <a:lnTo>
                      <a:pt x="13392" y="111577"/>
                    </a:lnTo>
                    <a:lnTo>
                      <a:pt x="97305" y="56228"/>
                    </a:lnTo>
                    <a:lnTo>
                      <a:pt x="0" y="0"/>
                    </a:lnTo>
                    <a:close/>
                  </a:path>
                </a:pathLst>
              </a:custGeom>
              <a:solidFill>
                <a:srgbClr val="222C4A"/>
              </a:solidFill>
            </p:spPr>
            <p:txBody>
              <a:bodyPr wrap="square" lIns="0" tIns="0" rIns="0" bIns="0" rtlCol="0"/>
              <a:lstStyle/>
              <a:p>
                <a:endParaRPr/>
              </a:p>
            </p:txBody>
          </p:sp>
          <p:sp>
            <p:nvSpPr>
              <p:cNvPr id="42" name="object 41">
                <a:extLst>
                  <a:ext uri="{FF2B5EF4-FFF2-40B4-BE49-F238E27FC236}">
                    <a16:creationId xmlns:a16="http://schemas.microsoft.com/office/drawing/2014/main" id="{BF89AE6F-999E-9F8F-0E41-1485253A2280}"/>
                  </a:ext>
                </a:extLst>
              </p:cNvPr>
              <p:cNvSpPr/>
              <p:nvPr/>
            </p:nvSpPr>
            <p:spPr>
              <a:xfrm>
                <a:off x="8614705" y="4952142"/>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43" name="object 42">
                <a:extLst>
                  <a:ext uri="{FF2B5EF4-FFF2-40B4-BE49-F238E27FC236}">
                    <a16:creationId xmlns:a16="http://schemas.microsoft.com/office/drawing/2014/main" id="{BA741C6A-C4DA-0BC3-5A32-D720E1567895}"/>
                  </a:ext>
                </a:extLst>
              </p:cNvPr>
              <p:cNvSpPr/>
              <p:nvPr/>
            </p:nvSpPr>
            <p:spPr>
              <a:xfrm>
                <a:off x="8568409" y="4864710"/>
                <a:ext cx="97790" cy="109855"/>
              </a:xfrm>
              <a:custGeom>
                <a:avLst/>
                <a:gdLst/>
                <a:ahLst/>
                <a:cxnLst/>
                <a:rect l="l" t="t" r="r" b="b"/>
                <a:pathLst>
                  <a:path w="97790"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4" name="object 43">
                <a:extLst>
                  <a:ext uri="{FF2B5EF4-FFF2-40B4-BE49-F238E27FC236}">
                    <a16:creationId xmlns:a16="http://schemas.microsoft.com/office/drawing/2014/main" id="{DF00236A-3795-47D7-F8EB-8CCB572603D4}"/>
                  </a:ext>
                </a:extLst>
              </p:cNvPr>
              <p:cNvSpPr/>
              <p:nvPr/>
            </p:nvSpPr>
            <p:spPr>
              <a:xfrm>
                <a:off x="3583964" y="5008140"/>
                <a:ext cx="759460" cy="2221230"/>
              </a:xfrm>
              <a:custGeom>
                <a:avLst/>
                <a:gdLst/>
                <a:ahLst/>
                <a:cxnLst/>
                <a:rect l="l" t="t" r="r" b="b"/>
                <a:pathLst>
                  <a:path w="759460"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45" name="object 44">
                <a:extLst>
                  <a:ext uri="{FF2B5EF4-FFF2-40B4-BE49-F238E27FC236}">
                    <a16:creationId xmlns:a16="http://schemas.microsoft.com/office/drawing/2014/main" id="{C89D064C-E7E5-AF52-D2DD-043FD848D60B}"/>
                  </a:ext>
                </a:extLst>
              </p:cNvPr>
              <p:cNvSpPr/>
              <p:nvPr/>
            </p:nvSpPr>
            <p:spPr>
              <a:xfrm>
                <a:off x="4292309" y="7202639"/>
                <a:ext cx="95250" cy="111760"/>
              </a:xfrm>
              <a:custGeom>
                <a:avLst/>
                <a:gdLst/>
                <a:ahLst/>
                <a:cxnLst/>
                <a:rect l="l" t="t" r="r" b="b"/>
                <a:pathLst>
                  <a:path w="95250" h="111759">
                    <a:moveTo>
                      <a:pt x="95117" y="0"/>
                    </a:moveTo>
                    <a:lnTo>
                      <a:pt x="0" y="32522"/>
                    </a:lnTo>
                    <a:lnTo>
                      <a:pt x="80081" y="111378"/>
                    </a:lnTo>
                    <a:lnTo>
                      <a:pt x="95117" y="0"/>
                    </a:lnTo>
                    <a:close/>
                  </a:path>
                </a:pathLst>
              </a:custGeom>
              <a:solidFill>
                <a:srgbClr val="222C4A"/>
              </a:solidFill>
            </p:spPr>
            <p:txBody>
              <a:bodyPr wrap="square" lIns="0" tIns="0" rIns="0" bIns="0" rtlCol="0"/>
              <a:lstStyle/>
              <a:p>
                <a:endParaRPr/>
              </a:p>
            </p:txBody>
          </p:sp>
        </p:grpSp>
      </p:grpSp>
      <p:sp>
        <p:nvSpPr>
          <p:cNvPr id="61" name="Tradeoff chain bullets">
            <a:extLst>
              <a:ext uri="{FF2B5EF4-FFF2-40B4-BE49-F238E27FC236}">
                <a16:creationId xmlns:a16="http://schemas.microsoft.com/office/drawing/2014/main" id="{349D2510-06A7-443F-BD28-77CA7DFA9405}"/>
              </a:ext>
            </a:extLst>
          </p:cNvPr>
          <p:cNvSpPr>
            <a:spLocks noGrp="1"/>
          </p:cNvSpPr>
          <p:nvPr/>
        </p:nvSpPr>
        <p:spPr>
          <a:xfrm>
            <a:off x="7325296" y="1373219"/>
            <a:ext cx="4706588" cy="4154996"/>
          </a:xfrm>
          <a:prstGeom prst="rect">
            <a:avLst/>
          </a:prstGeom>
          <a:noFill/>
          <a:ln w="0">
            <a:noFill/>
          </a:ln>
        </p:spPr>
        <p:txBody>
          <a:bodyPr>
            <a:normAutofit fontScale="100000"/>
          </a:bodyPr>
          <a:lstStyle/>
          <a:p>
            <a:pPr>
              <a:defRPr sz="2400">
                <a:solidFill>
                  <a:srgbClr val="000000"/>
                </a:solidFill>
                <a:latin typeface="Aptos"/>
                <a:ea typeface="Aptos"/>
                <a:cs typeface="Aptos"/>
              </a:defRPr>
            </a:pPr>
            <a:r>
              <a:rPr sz="2400">
                <a:solidFill>
                  <a:srgbClr val="000000"/>
                </a:solidFill>
                <a:latin typeface="Aptos"/>
                <a:ea typeface="Aptos"/>
                <a:cs typeface="Aptos"/>
              </a:rPr>
              <a:t>• Fault tolerance requires replication</a:t>
            </a:r>
          </a:p>
          <a:p>
            <a:r>
              <a:t/>
            </a:r>
          </a:p>
          <a:p>
            <a:pPr>
              <a:defRPr sz="2400">
                <a:solidFill>
                  <a:srgbClr val="000000"/>
                </a:solidFill>
                <a:latin typeface="Aptos"/>
                <a:ea typeface="Aptos"/>
                <a:cs typeface="Aptos"/>
              </a:defRPr>
            </a:pPr>
            <a:r>
              <a:rPr sz="2400">
                <a:solidFill>
                  <a:srgbClr val="000000"/>
                </a:solidFill>
                <a:latin typeface="Aptos"/>
                <a:ea typeface="Aptos"/>
                <a:cs typeface="Aptos"/>
              </a:rPr>
              <a:t>• Replication risks inconsistency</a:t>
            </a:r>
          </a:p>
          <a:p>
            <a:r>
              <a:t/>
            </a:r>
          </a:p>
          <a:p>
            <a:pPr>
              <a:defRPr sz="2400">
                <a:solidFill>
                  <a:srgbClr val="000000"/>
                </a:solidFill>
                <a:latin typeface="Aptos"/>
                <a:ea typeface="Aptos"/>
                <a:cs typeface="Aptos"/>
              </a:defRPr>
            </a:pPr>
            <a:r>
              <a:rPr sz="2400">
                <a:solidFill>
                  <a:srgbClr val="000000"/>
                </a:solidFill>
                <a:latin typeface="Aptos"/>
                <a:ea typeface="Aptos"/>
                <a:cs typeface="Aptos"/>
              </a:rPr>
              <a:t>• Consistency requires coordination</a:t>
            </a:r>
          </a:p>
          <a:p>
            <a:r>
              <a:t/>
            </a:r>
          </a:p>
          <a:p>
            <a:pPr>
              <a:defRPr sz="2400">
                <a:solidFill>
                  <a:srgbClr val="000000"/>
                </a:solidFill>
                <a:latin typeface="Aptos"/>
                <a:ea typeface="Aptos"/>
                <a:cs typeface="Aptos"/>
              </a:defRPr>
            </a:pPr>
            <a:r>
              <a:rPr sz="2400">
                <a:solidFill>
                  <a:srgbClr val="000000"/>
                </a:solidFill>
                <a:latin typeface="Aptos"/>
                <a:ea typeface="Aptos"/>
                <a:cs typeface="Aptos"/>
              </a:rPr>
              <a:t>• Coordination lowers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2" end="2"/>
                                            </p:txEl>
                                          </p:spTgt>
                                        </p:tgtEl>
                                        <p:attrNameLst>
                                          <p:attrName>style.visibility</p:attrName>
                                        </p:attrNameLst>
                                      </p:cBhvr>
                                      <p:to>
                                        <p:strVal val="visible"/>
                                      </p:to>
                                    </p:set>
                                    <p:animEffect transition="in" filter="dissolve">
                                      <p:cBhvr>
                                        <p:cTn id="7" dur="500"/>
                                        <p:tgtEl>
                                          <p:spTgt spid="4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8">
                                            <p:txEl>
                                              <p:pRg st="4" end="4"/>
                                            </p:txEl>
                                          </p:spTgt>
                                        </p:tgtEl>
                                        <p:attrNameLst>
                                          <p:attrName>style.visibility</p:attrName>
                                        </p:attrNameLst>
                                      </p:cBhvr>
                                      <p:to>
                                        <p:strVal val="visible"/>
                                      </p:to>
                                    </p:set>
                                    <p:animEffect transition="in" filter="dissolve">
                                      <p:cBhvr>
                                        <p:cTn id="12" dur="500"/>
                                        <p:tgtEl>
                                          <p:spTgt spid="48">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8">
                                            <p:txEl>
                                              <p:pRg st="6" end="6"/>
                                            </p:txEl>
                                          </p:spTgt>
                                        </p:tgtEl>
                                        <p:attrNameLst>
                                          <p:attrName>style.visibility</p:attrName>
                                        </p:attrNameLst>
                                      </p:cBhvr>
                                      <p:to>
                                        <p:strVal val="visible"/>
                                      </p:to>
                                    </p:set>
                                    <p:animEffect transition="in" filter="dissolve">
                                      <p:cBhvr>
                                        <p:cTn id="17" dur="500"/>
                                        <p:tgtEl>
                                          <p:spTgt spid="48">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8">
                                            <p:txEl>
                                              <p:pRg st="8" end="8"/>
                                            </p:txEl>
                                          </p:spTgt>
                                        </p:tgtEl>
                                        <p:attrNameLst>
                                          <p:attrName>style.visibility</p:attrName>
                                        </p:attrNameLst>
                                      </p:cBhvr>
                                      <p:to>
                                        <p:strVal val="visible"/>
                                      </p:to>
                                    </p:set>
                                    <p:animEffect transition="in" filter="dissolve">
                                      <p:cBhvr>
                                        <p:cTn id="22" dur="500"/>
                                        <p:tgtEl>
                                          <p:spTgt spid="4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endParaRPr lang="en-US" sz="2800" dirty="0">
              <a:effectLst/>
            </a:endParaRP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
        <p:nvSpPr>
          <p:cNvPr id="9" name="Interface question">
            <a:extLst>
              <a:ext uri="{FF2B5EF4-FFF2-40B4-BE49-F238E27FC236}">
                <a16:creationId xmlns:a16="http://schemas.microsoft.com/office/drawing/2014/main" id="{32AA9800-7FDB-4DEB-80B5-FE9FA5B76952}"/>
              </a:ext>
            </a:extLst>
          </p:cNvPr>
          <p:cNvSpPr>
            <a:spLocks noGrp="1"/>
          </p:cNvSpPr>
          <p:nvPr/>
        </p:nvSpPr>
        <p:spPr>
          <a:xfrm>
            <a:off x="164402" y="1600200"/>
            <a:ext cx="11191875" cy="419100"/>
          </a:xfrm>
          <a:prstGeom prst="rect">
            <a:avLst/>
          </a:prstGeom>
          <a:noFill/>
          <a:ln w="0">
            <a:noFill/>
          </a:ln>
        </p:spPr>
        <p:txBody>
          <a:bodyPr>
            <a:normAutofit fontScale="76786"/>
          </a:bodyPr>
          <a:lstStyle/>
          <a:p>
            <a:pPr>
              <a:defRPr sz="2800" b="1">
                <a:solidFill>
                  <a:srgbClr val="A02B93"/>
                </a:solidFill>
                <a:latin typeface="Aptos"/>
                <a:ea typeface="Aptos"/>
                <a:cs typeface="Aptos"/>
              </a:defRPr>
            </a:pPr>
            <a:r>
              <a:rPr sz="2800" b="1">
                <a:solidFill>
                  <a:srgbClr val="A02B93"/>
                </a:solidFill>
                <a:latin typeface="Aptos"/>
                <a:ea typeface="Aptos"/>
                <a:cs typeface="Aptos"/>
              </a:rPr>
              <a:t>What interface should GFS expose to applications?</a:t>
            </a: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1721</TotalTime>
  <Words>12936</Words>
  <Application>Microsoft Macintosh PowerPoint</Application>
  <PresentationFormat>Widescreen</PresentationFormat>
  <Paragraphs>1153</Paragraphs>
  <Slides>51</Slides>
  <Notes>51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Aptos</vt:lpstr>
      <vt:lpstr>Aptos Display</vt:lpstr>
      <vt:lpstr>Arial</vt:lpstr>
      <vt:lpstr>Helvetica</vt:lpstr>
      <vt:lpstr>Helvetica Neue</vt:lpstr>
      <vt:lpstr>Office Theme</vt:lpstr>
      <vt:lpstr>Lecture 4: Google File System        Fall 2026</vt:lpstr>
      <vt:lpstr>Demo 1: Design Proposal</vt:lpstr>
      <vt:lpstr>Presentation Grading</vt:lpstr>
      <vt:lpstr>AWS Credits: One Code per Account</vt:lpstr>
      <vt:lpstr>Why Storage?</vt:lpstr>
      <vt:lpstr>One Machine Is Not Enough</vt:lpstr>
      <vt:lpstr>Then Everything Fails</vt:lpstr>
      <vt:lpstr>Why Is Distributed Storage Hard?</vt:lpstr>
      <vt:lpstr>Two Questions for This Lecture</vt:lpstr>
      <vt:lpstr>What Would We Like for Consistency?</vt:lpstr>
      <vt:lpstr>Bad Replication Design</vt:lpstr>
      <vt:lpstr>What Can Go Wrong?</vt:lpstr>
      <vt:lpstr>The Google File System</vt:lpstr>
      <vt:lpstr>Why Are We Reading This Paper?</vt:lpstr>
      <vt:lpstr>Goal of GFS</vt:lpstr>
      <vt:lpstr>Demo 1: HDFS</vt:lpstr>
      <vt:lpstr>Assumptions of GFS</vt:lpstr>
      <vt:lpstr>What Are the Contribution of the Paper?</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40</cp:revision>
  <dcterms:created xsi:type="dcterms:W3CDTF">2026-02-04T02:27:39Z</dcterms:created>
  <dcterms:modified xsi:type="dcterms:W3CDTF">2026-09-16T19:19:31Z</dcterms:modified>
</cp:coreProperties>
</file>